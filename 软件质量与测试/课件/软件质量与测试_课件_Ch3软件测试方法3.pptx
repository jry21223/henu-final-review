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heme/theme3.xml" ContentType="application/vnd.openxmlformats-officedocument.them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1.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2.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notesSlides/notesSlide3.xml" ContentType="application/vnd.openxmlformats-officedocument.presentationml.notesSlide+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notesSlides/notesSlide7.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8.xml" ContentType="application/vnd.openxmlformats-officedocument.presentationml.notesSlide+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notesSlides/notesSlide9.xml" ContentType="application/vnd.openxmlformats-officedocument.presentationml.notesSlide+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notesSlides/notesSlide10.xml" ContentType="application/vnd.openxmlformats-officedocument.presentationml.notesSlide+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notesSlides/notesSlide14.xml" ContentType="application/vnd.openxmlformats-officedocument.presentationml.notesSlide+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6" r:id="rId2"/>
  </p:sldMasterIdLst>
  <p:notesMasterIdLst>
    <p:notesMasterId r:id="rId115"/>
  </p:notesMasterIdLst>
  <p:sldIdLst>
    <p:sldId id="9929" r:id="rId3"/>
    <p:sldId id="1541" r:id="rId4"/>
    <p:sldId id="1017" r:id="rId5"/>
    <p:sldId id="1018" r:id="rId6"/>
    <p:sldId id="1016" r:id="rId7"/>
    <p:sldId id="1021" r:id="rId8"/>
    <p:sldId id="1022" r:id="rId9"/>
    <p:sldId id="1187" r:id="rId10"/>
    <p:sldId id="1370" r:id="rId11"/>
    <p:sldId id="1270" r:id="rId12"/>
    <p:sldId id="1271" r:id="rId13"/>
    <p:sldId id="1024" r:id="rId14"/>
    <p:sldId id="1023" r:id="rId15"/>
    <p:sldId id="1027" r:id="rId16"/>
    <p:sldId id="1028" r:id="rId17"/>
    <p:sldId id="1029" r:id="rId18"/>
    <p:sldId id="1030" r:id="rId19"/>
    <p:sldId id="1032" r:id="rId20"/>
    <p:sldId id="1033" r:id="rId21"/>
    <p:sldId id="1193" r:id="rId22"/>
    <p:sldId id="1192" r:id="rId23"/>
    <p:sldId id="6090" r:id="rId24"/>
    <p:sldId id="6097" r:id="rId25"/>
    <p:sldId id="6091" r:id="rId26"/>
    <p:sldId id="6093" r:id="rId27"/>
    <p:sldId id="6094" r:id="rId28"/>
    <p:sldId id="6095" r:id="rId29"/>
    <p:sldId id="1452" r:id="rId30"/>
    <p:sldId id="1454" r:id="rId31"/>
    <p:sldId id="1521" r:id="rId32"/>
    <p:sldId id="1455" r:id="rId33"/>
    <p:sldId id="1456" r:id="rId34"/>
    <p:sldId id="1457" r:id="rId35"/>
    <p:sldId id="1458" r:id="rId36"/>
    <p:sldId id="1459" r:id="rId37"/>
    <p:sldId id="1460" r:id="rId38"/>
    <p:sldId id="1461" r:id="rId39"/>
    <p:sldId id="1462" r:id="rId40"/>
    <p:sldId id="1523" r:id="rId41"/>
    <p:sldId id="1524" r:id="rId42"/>
    <p:sldId id="1464" r:id="rId43"/>
    <p:sldId id="1465" r:id="rId44"/>
    <p:sldId id="1466" r:id="rId45"/>
    <p:sldId id="1467" r:id="rId46"/>
    <p:sldId id="1468" r:id="rId47"/>
    <p:sldId id="1469" r:id="rId48"/>
    <p:sldId id="1470" r:id="rId49"/>
    <p:sldId id="6096" r:id="rId50"/>
    <p:sldId id="945" r:id="rId51"/>
    <p:sldId id="9927" r:id="rId52"/>
    <p:sldId id="720" r:id="rId53"/>
    <p:sldId id="504" r:id="rId54"/>
    <p:sldId id="538" r:id="rId55"/>
    <p:sldId id="506" r:id="rId56"/>
    <p:sldId id="539" r:id="rId57"/>
    <p:sldId id="505" r:id="rId58"/>
    <p:sldId id="507" r:id="rId59"/>
    <p:sldId id="508" r:id="rId60"/>
    <p:sldId id="509" r:id="rId61"/>
    <p:sldId id="540" r:id="rId62"/>
    <p:sldId id="511" r:id="rId63"/>
    <p:sldId id="512" r:id="rId64"/>
    <p:sldId id="513" r:id="rId65"/>
    <p:sldId id="515" r:id="rId66"/>
    <p:sldId id="516" r:id="rId67"/>
    <p:sldId id="517" r:id="rId68"/>
    <p:sldId id="519" r:id="rId69"/>
    <p:sldId id="520" r:id="rId70"/>
    <p:sldId id="541" r:id="rId71"/>
    <p:sldId id="522" r:id="rId72"/>
    <p:sldId id="523" r:id="rId73"/>
    <p:sldId id="524" r:id="rId74"/>
    <p:sldId id="526" r:id="rId75"/>
    <p:sldId id="527" r:id="rId76"/>
    <p:sldId id="542" r:id="rId77"/>
    <p:sldId id="543" r:id="rId78"/>
    <p:sldId id="528" r:id="rId79"/>
    <p:sldId id="536" r:id="rId80"/>
    <p:sldId id="537" r:id="rId81"/>
    <p:sldId id="640" r:id="rId82"/>
    <p:sldId id="578" r:id="rId83"/>
    <p:sldId id="628" r:id="rId84"/>
    <p:sldId id="629" r:id="rId85"/>
    <p:sldId id="630" r:id="rId86"/>
    <p:sldId id="631" r:id="rId87"/>
    <p:sldId id="632" r:id="rId88"/>
    <p:sldId id="579" r:id="rId89"/>
    <p:sldId id="581" r:id="rId90"/>
    <p:sldId id="582" r:id="rId91"/>
    <p:sldId id="634" r:id="rId92"/>
    <p:sldId id="635" r:id="rId93"/>
    <p:sldId id="636" r:id="rId94"/>
    <p:sldId id="583" r:id="rId95"/>
    <p:sldId id="585" r:id="rId96"/>
    <p:sldId id="586" r:id="rId97"/>
    <p:sldId id="637" r:id="rId98"/>
    <p:sldId id="638" r:id="rId99"/>
    <p:sldId id="641" r:id="rId100"/>
    <p:sldId id="588" r:id="rId101"/>
    <p:sldId id="589" r:id="rId102"/>
    <p:sldId id="591" r:id="rId103"/>
    <p:sldId id="593" r:id="rId104"/>
    <p:sldId id="594" r:id="rId105"/>
    <p:sldId id="598" r:id="rId106"/>
    <p:sldId id="613" r:id="rId107"/>
    <p:sldId id="614" r:id="rId108"/>
    <p:sldId id="615" r:id="rId109"/>
    <p:sldId id="616" r:id="rId110"/>
    <p:sldId id="617" r:id="rId111"/>
    <p:sldId id="618" r:id="rId112"/>
    <p:sldId id="619" r:id="rId113"/>
    <p:sldId id="465" r:id="rId1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viewProps" Target="view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04ED7F-19B1-4335-8857-97766197A70A}" type="datetimeFigureOut">
              <a:rPr lang="zh-CN" altLang="en-US" smtClean="0"/>
              <a:t>2024/3/27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18323A-3D29-4CF3-A0AE-BF6DEDA85C82}" type="slidenum">
              <a:rPr lang="zh-CN" altLang="en-US" smtClean="0"/>
              <a:t>‹#›</a:t>
            </a:fld>
            <a:endParaRPr lang="zh-CN" altLang="en-US"/>
          </a:p>
        </p:txBody>
      </p:sp>
    </p:spTree>
    <p:extLst>
      <p:ext uri="{BB962C8B-B14F-4D97-AF65-F5344CB8AC3E}">
        <p14:creationId xmlns:p14="http://schemas.microsoft.com/office/powerpoint/2010/main" val="2017154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xfrm>
            <a:off x="382588"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89091" name="Rectangle 3"/>
          <p:cNvSpPr>
            <a:spLocks noGrp="1" noChangeArrowheads="1"/>
          </p:cNvSpPr>
          <p:nvPr>
            <p:ph type="body" idx="1"/>
          </p:nvPr>
        </p:nvSpPr>
        <p:spPr bwMode="auto">
          <a:xfrm>
            <a:off x="685800" y="4344988"/>
            <a:ext cx="5486400" cy="4113212"/>
          </a:xfrm>
          <a:solidFill>
            <a:srgbClr val="FFFFFF"/>
          </a:solidFill>
          <a:ln>
            <a:solidFill>
              <a:srgbClr val="000000"/>
            </a:solidFill>
            <a:miter lim="800000"/>
          </a:ln>
        </p:spPr>
        <p:txBody>
          <a:bodyPr wrap="square" numCol="1" anchor="t" anchorCtr="0" compatLnSpc="1"/>
          <a:lstStyle/>
          <a:p>
            <a:pPr eaLnBrk="1" hangingPunct="1">
              <a:spcBef>
                <a:spcPct val="0"/>
              </a:spcBef>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xfrm>
            <a:off x="382588"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0115" name="Rectangle 3"/>
          <p:cNvSpPr>
            <a:spLocks noGrp="1" noChangeArrowheads="1"/>
          </p:cNvSpPr>
          <p:nvPr>
            <p:ph type="body" idx="1"/>
          </p:nvPr>
        </p:nvSpPr>
        <p:spPr bwMode="auto">
          <a:xfrm>
            <a:off x="685800" y="4344988"/>
            <a:ext cx="5486400" cy="4113212"/>
          </a:xfrm>
          <a:solidFill>
            <a:srgbClr val="FFFFFF"/>
          </a:solidFill>
          <a:ln>
            <a:solidFill>
              <a:srgbClr val="000000"/>
            </a:solidFill>
            <a:miter lim="800000"/>
          </a:ln>
        </p:spPr>
        <p:txBody>
          <a:bodyPr wrap="square" numCol="1" anchor="t" anchorCtr="0" compatLnSpc="1"/>
          <a:lstStyle/>
          <a:p>
            <a:pPr eaLnBrk="1" hangingPunct="1">
              <a:spcBef>
                <a:spcPct val="0"/>
              </a:spcBef>
            </a:pP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Rot="1" noChangeAspect="1" noChangeArrowheads="1" noTextEdit="1"/>
          </p:cNvSpPr>
          <p:nvPr>
            <p:ph type="sldImg"/>
          </p:nvPr>
        </p:nvSpPr>
        <p:spPr bwMode="auto">
          <a:xfrm>
            <a:off x="382588"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91139" name="Rectangle 3"/>
          <p:cNvSpPr>
            <a:spLocks noGrp="1" noChangeArrowheads="1"/>
          </p:cNvSpPr>
          <p:nvPr>
            <p:ph type="body" idx="1"/>
          </p:nvPr>
        </p:nvSpPr>
        <p:spPr bwMode="auto">
          <a:xfrm>
            <a:off x="685800" y="4344988"/>
            <a:ext cx="5486400" cy="4113212"/>
          </a:xfrm>
          <a:solidFill>
            <a:srgbClr val="FFFFFF"/>
          </a:solidFill>
          <a:ln>
            <a:solidFill>
              <a:srgbClr val="000000"/>
            </a:solidFill>
            <a:miter lim="800000"/>
          </a:ln>
        </p:spPr>
        <p:txBody>
          <a:bodyPr wrap="square" numCol="1" anchor="t" anchorCtr="0" compatLnSpc="1"/>
          <a:lstStyle/>
          <a:p>
            <a:pPr eaLnBrk="1" hangingPunct="1">
              <a:spcBef>
                <a:spcPct val="0"/>
              </a:spcBef>
            </a:pP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en-US" altLang="zh-CN" dirty="0"/>
              <a:t>http://</a:t>
            </a:r>
            <a:r>
              <a:rPr kumimoji="1" lang="en-US" altLang="zh-CN" dirty="0" err="1"/>
              <a:t>msdn.microsoft.com</a:t>
            </a:r>
            <a:r>
              <a:rPr kumimoji="1" lang="en-US" altLang="zh-CN" dirty="0"/>
              <a:t>/en-us/library/cc150619.aspx</a:t>
            </a:r>
          </a:p>
          <a:p>
            <a:r>
              <a:rPr kumimoji="1" lang="en-US" altLang="zh-CN" dirty="0"/>
              <a:t>https://</a:t>
            </a:r>
            <a:r>
              <a:rPr kumimoji="1" lang="en-US" altLang="zh-CN" dirty="0" err="1"/>
              <a:t>hexawise.com</a:t>
            </a:r>
            <a:r>
              <a:rPr kumimoji="1" lang="en-US" altLang="zh-CN" dirty="0"/>
              <a:t>/case-studies/</a:t>
            </a:r>
            <a:r>
              <a:rPr kumimoji="1" lang="en-US" altLang="zh-CN" dirty="0" err="1"/>
              <a:t>bcbsnc</a:t>
            </a:r>
            <a:endParaRPr kumimoji="1" lang="en-US" altLang="zh-CN" dirty="0"/>
          </a:p>
          <a:p>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25</a:t>
            </a:fld>
            <a:endParaRPr lang="en-US" altLang="zh-CN"/>
          </a:p>
        </p:txBody>
      </p:sp>
    </p:spTree>
    <p:extLst>
      <p:ext uri="{BB962C8B-B14F-4D97-AF65-F5344CB8AC3E}">
        <p14:creationId xmlns:p14="http://schemas.microsoft.com/office/powerpoint/2010/main" val="3280802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en-US" altLang="zh-CN" dirty="0"/>
              <a:t>http://</a:t>
            </a:r>
            <a:r>
              <a:rPr kumimoji="1" lang="en-US" altLang="zh-CN" dirty="0" err="1"/>
              <a:t>msdn.microsoft.com</a:t>
            </a:r>
            <a:r>
              <a:rPr kumimoji="1" lang="en-US" altLang="zh-CN" dirty="0"/>
              <a:t>/en-us/library/cc150619.aspx</a:t>
            </a:r>
          </a:p>
          <a:p>
            <a:r>
              <a:rPr kumimoji="1" lang="en-US" altLang="zh-CN" dirty="0"/>
              <a:t>https://</a:t>
            </a:r>
            <a:r>
              <a:rPr kumimoji="1" lang="en-US" altLang="zh-CN" dirty="0" err="1"/>
              <a:t>hexawise.com</a:t>
            </a:r>
            <a:r>
              <a:rPr kumimoji="1" lang="en-US" altLang="zh-CN" dirty="0"/>
              <a:t>/case-studies/</a:t>
            </a:r>
            <a:r>
              <a:rPr kumimoji="1" lang="en-US" altLang="zh-CN" dirty="0" err="1"/>
              <a:t>bcbsnc</a:t>
            </a:r>
            <a:endParaRPr kumimoji="1" lang="en-US" altLang="zh-CN" dirty="0"/>
          </a:p>
          <a:p>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26</a:t>
            </a:fld>
            <a:endParaRPr lang="en-US" altLang="zh-CN"/>
          </a:p>
        </p:txBody>
      </p:sp>
    </p:spTree>
    <p:extLst>
      <p:ext uri="{BB962C8B-B14F-4D97-AF65-F5344CB8AC3E}">
        <p14:creationId xmlns:p14="http://schemas.microsoft.com/office/powerpoint/2010/main" val="362502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3264034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TextEdit="1"/>
          </p:cNvSpPr>
          <p:nvPr>
            <p:ph type="sldImg"/>
          </p:nvPr>
        </p:nvSpPr>
        <p:spPr>
          <a:xfrm>
            <a:off x="382588" y="685800"/>
            <a:ext cx="6094412" cy="3429000"/>
          </a:xfrm>
          <a:ln>
            <a:solidFill>
              <a:srgbClr val="000000">
                <a:alpha val="100000"/>
              </a:srgbClr>
            </a:solidFill>
            <a:miter lim="800000"/>
          </a:ln>
        </p:spPr>
      </p:sp>
      <p:sp>
        <p:nvSpPr>
          <p:cNvPr id="22531" name="Rectangle 3"/>
          <p:cNvSpPr>
            <a:spLocks noGrp="1"/>
          </p:cNvSpPr>
          <p:nvPr>
            <p:ph type="body" idx="1"/>
          </p:nvPr>
        </p:nvSpPr>
        <p:spPr>
          <a:xfrm>
            <a:off x="685800" y="4344988"/>
            <a:ext cx="5486400" cy="4113212"/>
          </a:xfrm>
          <a:solidFill>
            <a:srgbClr val="FFFFFF">
              <a:alpha val="100000"/>
            </a:srgbClr>
          </a:solidFill>
          <a:ln>
            <a:solidFill>
              <a:srgbClr val="000000">
                <a:alpha val="100000"/>
              </a:srgbClr>
            </a:solidFill>
          </a:ln>
        </p:spPr>
        <p:txBody>
          <a:bodyPr wrap="square" lIns="91440" tIns="45720" rIns="91440" bIns="45720" anchor="t" anchorCtr="0"/>
          <a:lstStyle/>
          <a:p>
            <a:pPr lvl="0" eaLnBrk="1" hangingPunct="1">
              <a:spcBef>
                <a:spcPct val="0"/>
              </a:spcBef>
            </a:pP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TextEdit="1"/>
          </p:cNvSpPr>
          <p:nvPr>
            <p:ph type="sldImg"/>
          </p:nvPr>
        </p:nvSpPr>
        <p:spPr>
          <a:xfrm>
            <a:off x="-274638" y="406400"/>
            <a:ext cx="7407276" cy="4167188"/>
          </a:xfrm>
          <a:ln>
            <a:solidFill>
              <a:srgbClr val="000000">
                <a:alpha val="100000"/>
              </a:srgbClr>
            </a:solidFill>
            <a:miter lim="800000"/>
          </a:ln>
        </p:spPr>
      </p:sp>
      <p:sp>
        <p:nvSpPr>
          <p:cNvPr id="25603" name="Rectangle 3"/>
          <p:cNvSpPr>
            <a:spLocks noGrp="1"/>
          </p:cNvSpPr>
          <p:nvPr>
            <p:ph type="body" idx="1"/>
          </p:nvPr>
        </p:nvSpPr>
        <p:spPr>
          <a:xfrm>
            <a:off x="685800" y="4344988"/>
            <a:ext cx="5486400" cy="4113212"/>
          </a:xfrm>
        </p:spPr>
        <p:txBody>
          <a:bodyPr wrap="square" lIns="91440" tIns="45720" rIns="91440" bIns="45720" anchor="t" anchorCtr="0"/>
          <a:lstStyle/>
          <a:p>
            <a:pPr lvl="0" eaLnBrk="1" hangingPunct="1">
              <a:spcBef>
                <a:spcPct val="0"/>
              </a:spcBef>
            </a:pPr>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整齐可比：每一个因子的每个水平与其它因子的每个水平参与实验的概率完全相同，保证在各水平中最大限度的排除了其他因子水平的干扰。</a:t>
            </a:r>
          </a:p>
          <a:p>
            <a:endParaRPr lang="zh-CN" altLang="en-US"/>
          </a:p>
          <a:p>
            <a:r>
              <a:rPr lang="zh-CN" altLang="en-US"/>
              <a:t>均匀分散：保证实验条件均衡地分散在因素水平的完全组合中，具有很强的代表性。</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当输入条件为连续变化量时，可确定连续变化范围的最小和最大边界点；</a:t>
            </a:r>
          </a:p>
          <a:p>
            <a:endParaRPr lang="zh-CN" altLang="en-US"/>
          </a:p>
          <a:p>
            <a:r>
              <a:rPr lang="zh-CN" altLang="en-US"/>
              <a:t>以最小、最大边界点为基准，按照等距或系统特性进行不等距采样，确定需要选取的值的个数。</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9378" name="Rectangle 2"/>
          <p:cNvSpPr>
            <a:spLocks noGrp="1" noRot="1" noChangeAspect="1" noChangeArrowheads="1" noTextEdit="1"/>
          </p:cNvSpPr>
          <p:nvPr>
            <p:ph type="sldImg"/>
          </p:nvPr>
        </p:nvSpPr>
        <p:spPr>
          <a:xfrm>
            <a:off x="-274638" y="406400"/>
            <a:ext cx="7407276" cy="4167188"/>
          </a:xfrm>
          <a:ln/>
        </p:spPr>
      </p:sp>
      <p:sp>
        <p:nvSpPr>
          <p:cNvPr id="2149379"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r>
              <a:rPr lang="en" altLang="zh-CN" dirty="0"/>
              <a:t>https://</a:t>
            </a:r>
            <a:r>
              <a:rPr lang="en" altLang="zh-CN" dirty="0" err="1"/>
              <a:t>support.minitab.com</a:t>
            </a:r>
            <a:r>
              <a:rPr lang="en" altLang="zh-CN" dirty="0"/>
              <a:t>/</a:t>
            </a:r>
            <a:r>
              <a:rPr lang="en" altLang="zh-CN" dirty="0" err="1"/>
              <a:t>en</a:t>
            </a:r>
            <a:r>
              <a:rPr lang="en" altLang="zh-CN" dirty="0"/>
              <a:t>-us/</a:t>
            </a:r>
            <a:r>
              <a:rPr lang="en" altLang="zh-CN" dirty="0" err="1"/>
              <a:t>minitab</a:t>
            </a:r>
            <a:r>
              <a:rPr lang="en" altLang="zh-CN" dirty="0"/>
              <a:t>/21/help-and-how-to/statistical-modeling/doe/supporting-topics/basics/orthogonal-designs/</a:t>
            </a:r>
          </a:p>
          <a:p>
            <a:endParaRPr lang="zh-CN" altLang="en-US" dirty="0"/>
          </a:p>
        </p:txBody>
      </p:sp>
    </p:spTree>
    <p:extLst>
      <p:ext uri="{BB962C8B-B14F-4D97-AF65-F5344CB8AC3E}">
        <p14:creationId xmlns:p14="http://schemas.microsoft.com/office/powerpoint/2010/main" val="5470179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xfrm>
            <a:off x="382588" y="685800"/>
            <a:ext cx="6094412" cy="3429000"/>
          </a:xfrm>
          <a:ln/>
        </p:spPr>
      </p:sp>
      <p:sp>
        <p:nvSpPr>
          <p:cNvPr id="157699"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endParaRPr lang="zh-CN" altLang="en-US"/>
          </a:p>
        </p:txBody>
      </p:sp>
    </p:spTree>
    <p:extLst>
      <p:ext uri="{BB962C8B-B14F-4D97-AF65-F5344CB8AC3E}">
        <p14:creationId xmlns:p14="http://schemas.microsoft.com/office/powerpoint/2010/main" val="372135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xfrm>
            <a:off x="-274638" y="406400"/>
            <a:ext cx="7407276" cy="4167188"/>
          </a:xfrm>
          <a:ln/>
        </p:spPr>
      </p:sp>
      <p:sp>
        <p:nvSpPr>
          <p:cNvPr id="6861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pPr eaLnBrk="1" hangingPunct="1"/>
            <a:endParaRPr lang="zh-CN" altLang="en-US">
              <a:ea typeface="宋体" charset="-122"/>
            </a:endParaRPr>
          </a:p>
        </p:txBody>
      </p:sp>
    </p:spTree>
    <p:extLst>
      <p:ext uri="{BB962C8B-B14F-4D97-AF65-F5344CB8AC3E}">
        <p14:creationId xmlns:p14="http://schemas.microsoft.com/office/powerpoint/2010/main" val="1905696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该程序不符合编程规范，</a:t>
            </a:r>
            <a:r>
              <a:rPr lang="en-US" altLang="zh-CN"/>
              <a:t>if</a:t>
            </a:r>
            <a:r>
              <a:rPr lang="zh-CN" altLang="en-US"/>
              <a:t>语句应该有对应的</a:t>
            </a:r>
            <a:r>
              <a:rPr lang="en-US" altLang="zh-CN"/>
              <a:t>else</a:t>
            </a:r>
            <a:r>
              <a:rPr lang="zh-CN" altLang="en-US"/>
              <a:t>分支，否则容易导致缺陷。</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3.xml"/><Relationship Id="rId7"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file:///C:\Users\1V994W2\PycharmProjects\PPT_Background_Generation/pic_temp/0_pic_quater_right_down.png" TargetMode="Externa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5.xml"/><Relationship Id="rId7"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9" Type="http://schemas.openxmlformats.org/officeDocument/2006/relationships/image" Target="file:///C:\Users\1V994W2\PycharmProjects\PPT_Background_Generation/pic_temp/pic_sup.png"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2.png"/><Relationship Id="rId5" Type="http://schemas.openxmlformats.org/officeDocument/2006/relationships/tags" Target="../tags/tag23.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22.xml"/><Relationship Id="rId9"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8.xml"/><Relationship Id="rId7" Type="http://schemas.openxmlformats.org/officeDocument/2006/relationships/tags" Target="../tags/tag32.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10" Type="http://schemas.openxmlformats.org/officeDocument/2006/relationships/image" Target="file:///C:\Users\1V994W2\PycharmProjects\PPT_Background_Generation/pic_temp/pic_half_top.png" TargetMode="External"/><Relationship Id="rId4" Type="http://schemas.openxmlformats.org/officeDocument/2006/relationships/tags" Target="../tags/tag29.xml"/><Relationship Id="rId9"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image" Target="../media/image2.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37.xml"/><Relationship Id="rId10" Type="http://schemas.openxmlformats.org/officeDocument/2006/relationships/image" Target="../media/image1.png"/><Relationship Id="rId4" Type="http://schemas.openxmlformats.org/officeDocument/2006/relationships/tags" Target="../tags/tag36.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43.xml"/><Relationship Id="rId7" Type="http://schemas.openxmlformats.org/officeDocument/2006/relationships/tags" Target="../tags/tag47.xml"/><Relationship Id="rId12" Type="http://schemas.openxmlformats.org/officeDocument/2006/relationships/image" Target="../media/image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slideMaster" Target="../slideMasters/slideMaster2.xml"/><Relationship Id="rId5" Type="http://schemas.openxmlformats.org/officeDocument/2006/relationships/tags" Target="../tags/tag45.xml"/><Relationship Id="rId15" Type="http://schemas.openxmlformats.org/officeDocument/2006/relationships/image" Target="file:///C:\Users\1V994W2\PycharmProjects\PPT_Background_Generation/pic_temp/1_pic_quater_left_down.png" TargetMode="External"/><Relationship Id="rId10" Type="http://schemas.openxmlformats.org/officeDocument/2006/relationships/tags" Target="../tags/tag50.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53.xml"/><Relationship Id="rId7" Type="http://schemas.openxmlformats.org/officeDocument/2006/relationships/tags" Target="../tags/tag57.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image" Target="../media/image1.png"/><Relationship Id="rId5" Type="http://schemas.openxmlformats.org/officeDocument/2006/relationships/tags" Target="../tags/tag55.xml"/><Relationship Id="rId10" Type="http://schemas.openxmlformats.org/officeDocument/2006/relationships/image" Target="file:///C:\Users\1V994W2\Documents\Tencent%20Files\574576071\FileRecv\&#25340;&#35013;&#32032;&#26448;\&#20845;&#21313;\\60\subject_holdright_10,123,200_0_staid_full_0.png" TargetMode="External"/><Relationship Id="rId4" Type="http://schemas.openxmlformats.org/officeDocument/2006/relationships/tags" Target="../tags/tag54.xml"/><Relationship Id="rId9"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image" Target="../media/image2.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65.xml"/><Relationship Id="rId10" Type="http://schemas.openxmlformats.org/officeDocument/2006/relationships/image" Target="../media/image1.png"/><Relationship Id="rId4" Type="http://schemas.openxmlformats.org/officeDocument/2006/relationships/tags" Target="../tags/tag64.xml"/><Relationship Id="rId9"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file:///C:\Users\1V994W2\PycharmProjects\PPT_Background_Generation/pic_temp/1_pic_quater_left_down.png" TargetMode="Externa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image" Target="../media/image2.png"/><Relationship Id="rId5" Type="http://schemas.openxmlformats.org/officeDocument/2006/relationships/tags" Target="../tags/tag73.xml"/><Relationship Id="rId10" Type="http://schemas.openxmlformats.org/officeDocument/2006/relationships/image" Target="file:///C:\Users\1V994W2\PycharmProjects\PPT_Background_Generation/pic_temp/0_pic_quater_right_down.png" TargetMode="External"/><Relationship Id="rId4" Type="http://schemas.openxmlformats.org/officeDocument/2006/relationships/tags" Target="../tags/tag72.xml"/><Relationship Id="rId9"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78.xml"/><Relationship Id="rId7"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80.xml"/><Relationship Id="rId10" Type="http://schemas.openxmlformats.org/officeDocument/2006/relationships/image" Target="../media/image2.png"/><Relationship Id="rId4" Type="http://schemas.openxmlformats.org/officeDocument/2006/relationships/tags" Target="../tags/tag79.xml"/><Relationship Id="rId9" Type="http://schemas.openxmlformats.org/officeDocument/2006/relationships/image" Target="file:///C:\Users\1V994W2\PycharmProjects\PPT_Background_Generation/pic_temp/0_pic_quater_right_down.png" TargetMode="Externa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84.xml"/><Relationship Id="rId7"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10" Type="http://schemas.openxmlformats.org/officeDocument/2006/relationships/image" Target="../media/image7.png"/><Relationship Id="rId4" Type="http://schemas.openxmlformats.org/officeDocument/2006/relationships/tags" Target="../tags/tag85.xml"/><Relationship Id="rId9" Type="http://schemas.openxmlformats.org/officeDocument/2006/relationships/image" Target="file:///C:\Users\1V994W2\PycharmProjects\PPT_Background_Generation/pic_temp/pic_sup.png" TargetMode="Externa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90.xml"/><Relationship Id="rId7"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92.xml"/><Relationship Id="rId10" Type="http://schemas.openxmlformats.org/officeDocument/2006/relationships/image" Target="../media/image2.png"/><Relationship Id="rId4" Type="http://schemas.openxmlformats.org/officeDocument/2006/relationships/tags" Target="../tags/tag91.xml"/><Relationship Id="rId9" Type="http://schemas.openxmlformats.org/officeDocument/2006/relationships/image" Target="file:///C:\Users\1V994W2\PycharmProjects\PPT_Background_Generation/pic_temp/0_pic_quater_right_down.png" TargetMode="Externa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image" Target="../media/image2.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98.xml"/><Relationship Id="rId10" Type="http://schemas.openxmlformats.org/officeDocument/2006/relationships/image" Target="../media/image1.png"/><Relationship Id="rId4" Type="http://schemas.openxmlformats.org/officeDocument/2006/relationships/tags" Target="../tags/tag97.xml"/><Relationship Id="rId9" Type="http://schemas.openxmlformats.org/officeDocument/2006/relationships/slideMaster" Target="../slideMasters/slideMaster2.xml"/><Relationship Id="rId1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109.xml"/><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media/image7.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06.xml"/><Relationship Id="rId10" Type="http://schemas.openxmlformats.org/officeDocument/2006/relationships/image" Target="../media/image1.png"/><Relationship Id="rId4" Type="http://schemas.openxmlformats.org/officeDocument/2006/relationships/tags" Target="../tags/tag105.xml"/><Relationship Id="rId9"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image" Target="../media/image2.png"/><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1.png"/><Relationship Id="rId5" Type="http://schemas.openxmlformats.org/officeDocument/2006/relationships/tags" Target="../tags/tag114.xml"/><Relationship Id="rId10" Type="http://schemas.openxmlformats.org/officeDocument/2006/relationships/slideMaster" Target="../slideMasters/slideMaster2.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image" Target="file:///C:\Users\1V994W2\PycharmProjects\PPT_Background_Generation/pic_temp/1_pic_quater_left_down.png" TargetMode="External"/></Relationships>
</file>

<file path=ppt/slideLayouts/_rels/slideLayout30.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image" Target="../media/image2.png"/><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file:///C:\Users\1V994W2\PycharmProjects\PPT_Background_Generation/pic_temp/0_pic_quater_right_down.png" TargetMode="Externa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image" Target="../media/image1.png"/><Relationship Id="rId5" Type="http://schemas.openxmlformats.org/officeDocument/2006/relationships/tags" Target="../tags/tag123.xml"/><Relationship Id="rId15" Type="http://schemas.openxmlformats.org/officeDocument/2006/relationships/image" Target="../media/image7.png"/><Relationship Id="rId10" Type="http://schemas.openxmlformats.org/officeDocument/2006/relationships/slideMaster" Target="../slideMasters/slideMaster2.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image" Target="file:///C:\Users\1V994W2\PycharmProjects\PPT_Background_Generation/pic_temp/1_pic_quater_left_down.png" TargetMode="External"/></Relationships>
</file>

<file path=ppt/slideLayouts/_rels/slideLayout31.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image" Target="../media/image1.png"/><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slideMaster" Target="../slideMasters/slideMaster2.xml"/><Relationship Id="rId17" Type="http://schemas.openxmlformats.org/officeDocument/2006/relationships/image" Target="../media/image7.png"/><Relationship Id="rId2" Type="http://schemas.openxmlformats.org/officeDocument/2006/relationships/tags" Target="../tags/tag129.xml"/><Relationship Id="rId16"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5" Type="http://schemas.openxmlformats.org/officeDocument/2006/relationships/image" Target="../media/image2.png"/><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image" Target="file:///C:\Users\1V994W2\PycharmProjects\PPT_Background_Generation/pic_temp/0_pic_quater_right_down.png" TargetMode="External"/></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file:///C:\Users\1V994W2\PycharmProjects\PPT_Background_Generation/pic_temp/1_pic_quater_left_down.png" TargetMode="External"/><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2.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file:///C:\Users\1V994W2\PycharmProjects\PPT_Background_Generation/pic_temp/0_pic_quater_right_down.png" TargetMode="External"/><Relationship Id="rId5" Type="http://schemas.openxmlformats.org/officeDocument/2006/relationships/tags" Target="../tags/tag143.xml"/><Relationship Id="rId10" Type="http://schemas.openxmlformats.org/officeDocument/2006/relationships/image" Target="../media/image1.png"/><Relationship Id="rId4" Type="http://schemas.openxmlformats.org/officeDocument/2006/relationships/tags" Target="../tags/tag142.xml"/><Relationship Id="rId9" Type="http://schemas.openxmlformats.org/officeDocument/2006/relationships/slideMaster" Target="../slideMasters/slideMaster2.xml"/><Relationship Id="rId14"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8651D4-E595-08F4-5B34-1E0C9B57708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E0B9FBA-C4B9-F391-127F-189A4596F1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D41346-7379-E5E7-EFEF-643E16F72DC0}"/>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5" name="页脚占位符 4">
            <a:extLst>
              <a:ext uri="{FF2B5EF4-FFF2-40B4-BE49-F238E27FC236}">
                <a16:creationId xmlns:a16="http://schemas.microsoft.com/office/drawing/2014/main" id="{C9FC4F84-12CB-3CD2-66F3-B3D1AA9938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C8DD94-259D-DDDA-393B-DC60B0FD478D}"/>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622927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CC328D-9176-E61A-EAFD-27AF2D0D3B7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B6AE8A0-1555-373A-B4C9-75FE0B4E3AD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600E3BF-1931-BC24-A280-2DA97921F362}"/>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5" name="页脚占位符 4">
            <a:extLst>
              <a:ext uri="{FF2B5EF4-FFF2-40B4-BE49-F238E27FC236}">
                <a16:creationId xmlns:a16="http://schemas.microsoft.com/office/drawing/2014/main" id="{00A7BD3C-4434-F8B0-DA1B-119343C461A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FEA335-4F4B-AA00-A556-2C2622794D68}"/>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3733511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0594E3-127C-0978-6C00-C0AFB9AF979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537885E-B5FB-74F8-672F-B39119DF34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0179F0F-EA39-A599-8EB8-FE6E05CB50E5}"/>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5" name="页脚占位符 4">
            <a:extLst>
              <a:ext uri="{FF2B5EF4-FFF2-40B4-BE49-F238E27FC236}">
                <a16:creationId xmlns:a16="http://schemas.microsoft.com/office/drawing/2014/main" id="{1BBA8D12-3E49-7756-4D1D-923940D4F7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BF0627-F0FF-B726-2306-D5B567D38E65}"/>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2894108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14B746-94BA-7F42-0B9A-359FA8104F8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FDC93A3-C651-29FA-B2FC-8B5FE12C77A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E935DC9-5FB4-C465-D008-BAD98111680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86FC24C-7BC5-AE54-35C7-6E4E15B214A1}"/>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6" name="页脚占位符 5">
            <a:extLst>
              <a:ext uri="{FF2B5EF4-FFF2-40B4-BE49-F238E27FC236}">
                <a16:creationId xmlns:a16="http://schemas.microsoft.com/office/drawing/2014/main" id="{71DF29A5-8A04-5A3E-022C-AFFB284E002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F218106-75F5-FE84-C737-E4625115EC7B}"/>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747800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8DE0A5-B34B-4B44-306B-65283FBE8759}"/>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4988045-96B0-08D6-B246-9B3682F496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ACEA119-0E36-87A5-7567-5961DA4BD2A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FAE96C4-E722-D0DA-7D6A-64B39B5CB1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06C45D-53B9-CA05-0C1B-8B8F3BC2913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940FFBA-7B4F-89CF-1AE7-FCB36285FD40}"/>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8" name="页脚占位符 7">
            <a:extLst>
              <a:ext uri="{FF2B5EF4-FFF2-40B4-BE49-F238E27FC236}">
                <a16:creationId xmlns:a16="http://schemas.microsoft.com/office/drawing/2014/main" id="{A3C1BE20-9B78-7AE9-90E5-024A8E6C1B7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A22C3DF-EF64-34A7-FC47-3139270DB73A}"/>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3775587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11F47C-9829-4E65-573F-F2B8280E85F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2B50824-5EF0-1821-E32D-85C17B02C624}"/>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4" name="页脚占位符 3">
            <a:extLst>
              <a:ext uri="{FF2B5EF4-FFF2-40B4-BE49-F238E27FC236}">
                <a16:creationId xmlns:a16="http://schemas.microsoft.com/office/drawing/2014/main" id="{2B4020DF-851C-8D1A-3F06-A07873962A7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1DC390B-9CC6-CA81-D895-C6A1D33FFA4B}"/>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3402009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6C4F361-4531-BE9C-6DD0-A1F991BD7061}"/>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3" name="页脚占位符 2">
            <a:extLst>
              <a:ext uri="{FF2B5EF4-FFF2-40B4-BE49-F238E27FC236}">
                <a16:creationId xmlns:a16="http://schemas.microsoft.com/office/drawing/2014/main" id="{46A69E1F-1E53-D6CF-35C4-A03389013EF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6A6AAB8-F8BF-C87E-AB71-D23871A5F7C6}"/>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3900709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BED0EC-9742-70B9-59BB-401672A89F2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4C6ACF3-C6C6-7D35-C23F-8AAAE3E47A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EF14221-11B6-1876-ACFA-ED59F8B726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83C7BDD-61E4-8CE7-D856-0E29760A9D9A}"/>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6" name="页脚占位符 5">
            <a:extLst>
              <a:ext uri="{FF2B5EF4-FFF2-40B4-BE49-F238E27FC236}">
                <a16:creationId xmlns:a16="http://schemas.microsoft.com/office/drawing/2014/main" id="{6E00DF5D-F55F-8607-7ACD-4D140C08E18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A8D9212-B137-4EEC-C831-42616B82966E}"/>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1041406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8D4403-7214-9B90-CEBD-87E3046CCB3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BE753E1-3E23-34B3-A40D-FEEB53B935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E84F592-155D-97AB-0AB0-D429FE71DA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4EDA1F3-CB61-E5D0-A256-45F58A9F9952}"/>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6" name="页脚占位符 5">
            <a:extLst>
              <a:ext uri="{FF2B5EF4-FFF2-40B4-BE49-F238E27FC236}">
                <a16:creationId xmlns:a16="http://schemas.microsoft.com/office/drawing/2014/main" id="{2A0E886A-5092-8735-4674-81711DE4F2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ED5DAEB-3717-5762-FB89-C5125A8B4636}"/>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31660626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D95169-E0C3-18C2-43CB-4A2A571D161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96A0CFF-50B9-A12E-4AB4-A9E07AD0F84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ED6B920-B96C-1981-6D62-5C5BF0CF00B6}"/>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5" name="页脚占位符 4">
            <a:extLst>
              <a:ext uri="{FF2B5EF4-FFF2-40B4-BE49-F238E27FC236}">
                <a16:creationId xmlns:a16="http://schemas.microsoft.com/office/drawing/2014/main" id="{9F30DF11-8601-0A6B-E82E-47084FD7D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8703179-74A2-ACAE-326F-023531BA18B0}"/>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2229628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392CB91-CAFF-E189-8E74-B9DF3CD466E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F0C7BD8-B262-B38D-77EA-B7728A01AE3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30A9058-C90D-42D7-D40E-9D78F78D4BB2}"/>
              </a:ext>
            </a:extLst>
          </p:cNvPr>
          <p:cNvSpPr>
            <a:spLocks noGrp="1"/>
          </p:cNvSpPr>
          <p:nvPr>
            <p:ph type="dt" sz="half" idx="10"/>
          </p:nvPr>
        </p:nvSpPr>
        <p:spPr/>
        <p:txBody>
          <a:bodyPr/>
          <a:lstStyle/>
          <a:p>
            <a:fld id="{D3D8772D-D9F4-40C6-8679-3FBD4F4A6D13}" type="datetimeFigureOut">
              <a:rPr lang="zh-CN" altLang="en-US" smtClean="0"/>
              <a:t>2024/3/27</a:t>
            </a:fld>
            <a:endParaRPr lang="zh-CN" altLang="en-US"/>
          </a:p>
        </p:txBody>
      </p:sp>
      <p:sp>
        <p:nvSpPr>
          <p:cNvPr id="5" name="页脚占位符 4">
            <a:extLst>
              <a:ext uri="{FF2B5EF4-FFF2-40B4-BE49-F238E27FC236}">
                <a16:creationId xmlns:a16="http://schemas.microsoft.com/office/drawing/2014/main" id="{9245374F-E91D-814E-1B65-40451A576C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6C049F-3A0C-36AA-0E46-9A386531D7D5}"/>
              </a:ext>
            </a:extLst>
          </p:cNvPr>
          <p:cNvSpPr>
            <a:spLocks noGrp="1"/>
          </p:cNvSpPr>
          <p:nvPr>
            <p:ph type="sldNum" sz="quarter" idx="12"/>
          </p:nvPr>
        </p:nvSpPr>
        <p:spPr/>
        <p:txBody>
          <a:body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1560248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通用">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email"/>
          <a:stretch>
            <a:fillRect/>
          </a:stretch>
        </p:blipFill>
        <p:spPr>
          <a:xfrm>
            <a:off x="0" y="0"/>
            <a:ext cx="720091"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11471909" y="1"/>
            <a:ext cx="720091" cy="629227"/>
          </a:xfrm>
          <a:prstGeom prst="rect">
            <a:avLst/>
          </a:prstGeom>
        </p:spPr>
      </p:pic>
      <p:sp>
        <p:nvSpPr>
          <p:cNvPr id="2" name="标题 1"/>
          <p:cNvSpPr>
            <a:spLocks noGrp="1"/>
          </p:cNvSpPr>
          <p:nvPr>
            <p:ph type="title"/>
            <p:custDataLst>
              <p:tags r:id="rId3"/>
            </p:custDataLst>
          </p:nvPr>
        </p:nvSpPr>
        <p:spPr>
          <a:xfrm>
            <a:off x="669882" y="498477"/>
            <a:ext cx="10852237"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5"/>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2588023759"/>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0_标题和内容">
    <p:spTree>
      <p:nvGrpSpPr>
        <p:cNvPr id="1" name=""/>
        <p:cNvGrpSpPr/>
        <p:nvPr/>
      </p:nvGrpSpPr>
      <p:grpSpPr>
        <a:xfrm>
          <a:off x="0" y="0"/>
          <a:ext cx="0" cy="0"/>
          <a:chOff x="0" y="0"/>
          <a:chExt cx="0" cy="0"/>
        </a:xfrm>
      </p:grpSpPr>
      <p:sp>
        <p:nvSpPr>
          <p:cNvPr id="4" name="灯片编号占位符 4"/>
          <p:cNvSpPr>
            <a:spLocks noGrp="1"/>
          </p:cNvSpPr>
          <p:nvPr>
            <p:ph type="sldNum" sz="quarter" idx="10"/>
          </p:nvPr>
        </p:nvSpPr>
        <p:spPr>
          <a:xfrm>
            <a:off x="0" y="6545264"/>
            <a:ext cx="12192000" cy="268288"/>
          </a:xfrm>
          <a:prstGeom prst="rect">
            <a:avLst/>
          </a:prstGeom>
        </p:spPr>
        <p:txBody>
          <a:bodyPr/>
          <a:lstStyle>
            <a:lvl1pPr>
              <a:defRPr/>
            </a:lvl1pPr>
          </a:lstStyle>
          <a:p>
            <a:fld id="{DBE2DA07-CE19-4C9B-A0EC-06D3955056CF}" type="slidenum">
              <a:rPr lang="en-US" altLang="zh-CN"/>
              <a:pPr/>
              <a:t>‹#›</a:t>
            </a:fld>
            <a:endParaRPr lang="en-US" altLang="zh-CN"/>
          </a:p>
        </p:txBody>
      </p:sp>
      <p:sp>
        <p:nvSpPr>
          <p:cNvPr id="15" name="标题 18">
            <a:extLst>
              <a:ext uri="{FF2B5EF4-FFF2-40B4-BE49-F238E27FC236}">
                <a16:creationId xmlns:a16="http://schemas.microsoft.com/office/drawing/2014/main" id="{BC653964-B27B-5D55-2888-123DCEF7E8C3}"/>
              </a:ext>
            </a:extLst>
          </p:cNvPr>
          <p:cNvSpPr>
            <a:spLocks noGrp="1"/>
          </p:cNvSpPr>
          <p:nvPr>
            <p:ph type="title"/>
          </p:nvPr>
        </p:nvSpPr>
        <p:spPr>
          <a:xfrm>
            <a:off x="776051" y="374390"/>
            <a:ext cx="9809340" cy="698500"/>
          </a:xfrm>
        </p:spPr>
        <p:txBody>
          <a:bodyPr>
            <a:noAutofit/>
          </a:bodyPr>
          <a:lstStyle>
            <a:lvl1pPr marL="0" indent="0" algn="l">
              <a:buClr>
                <a:schemeClr val="accent4"/>
              </a:buClr>
              <a:buFontTx/>
              <a:buNone/>
              <a:defRPr sz="3733"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6" name="组合 19">
            <a:extLst>
              <a:ext uri="{FF2B5EF4-FFF2-40B4-BE49-F238E27FC236}">
                <a16:creationId xmlns:a16="http://schemas.microsoft.com/office/drawing/2014/main" id="{06DEC1DD-71FA-0879-5B19-99757B7FAD42}"/>
              </a:ext>
            </a:extLst>
          </p:cNvPr>
          <p:cNvGrpSpPr/>
          <p:nvPr userDrawn="1"/>
        </p:nvGrpSpPr>
        <p:grpSpPr>
          <a:xfrm>
            <a:off x="-185975" y="496802"/>
            <a:ext cx="842200" cy="455604"/>
            <a:chOff x="883264" y="476230"/>
            <a:chExt cx="842200" cy="455604"/>
          </a:xfrm>
          <a:solidFill>
            <a:srgbClr val="FFC600"/>
          </a:solidFill>
        </p:grpSpPr>
        <p:sp>
          <p:nvSpPr>
            <p:cNvPr id="17" name="圆角矩形 16">
              <a:extLst>
                <a:ext uri="{FF2B5EF4-FFF2-40B4-BE49-F238E27FC236}">
                  <a16:creationId xmlns:a16="http://schemas.microsoft.com/office/drawing/2014/main" id="{629C1597-78DB-0C24-33AB-69FD1937B675}"/>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8" name="燕尾形 17">
              <a:extLst>
                <a:ext uri="{FF2B5EF4-FFF2-40B4-BE49-F238E27FC236}">
                  <a16:creationId xmlns:a16="http://schemas.microsoft.com/office/drawing/2014/main" id="{3404FDEA-1426-1669-D727-668FE30C1990}"/>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3">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9" name="燕尾形 18">
              <a:extLst>
                <a:ext uri="{FF2B5EF4-FFF2-40B4-BE49-F238E27FC236}">
                  <a16:creationId xmlns:a16="http://schemas.microsoft.com/office/drawing/2014/main" id="{E88921BB-B82E-E706-1419-9F0067267CC9}"/>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3">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20" name="文本占位符 26">
            <a:extLst>
              <a:ext uri="{FF2B5EF4-FFF2-40B4-BE49-F238E27FC236}">
                <a16:creationId xmlns:a16="http://schemas.microsoft.com/office/drawing/2014/main" id="{CE22F9DF-660D-F9A4-066E-E4F55186B56E}"/>
              </a:ext>
            </a:extLst>
          </p:cNvPr>
          <p:cNvSpPr>
            <a:spLocks noGrp="1"/>
          </p:cNvSpPr>
          <p:nvPr>
            <p:ph type="body" sz="quarter" idx="11" hasCustomPrompt="1"/>
          </p:nvPr>
        </p:nvSpPr>
        <p:spPr>
          <a:xfrm>
            <a:off x="776051" y="1704849"/>
            <a:ext cx="9504047" cy="2978487"/>
          </a:xfrm>
        </p:spPr>
        <p:txBody>
          <a:bodyPr/>
          <a:lstStyle>
            <a:lvl1pPr marL="228594" indent="-228594">
              <a:lnSpc>
                <a:spcPct val="150000"/>
              </a:lnSpc>
              <a:buClr>
                <a:srgbClr val="FFC600"/>
              </a:buClr>
              <a:buSzPct val="100000"/>
              <a:buFont typeface="Arial" panose="020B0604020202020204"/>
              <a:buChar char="•"/>
              <a:defRPr sz="32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685783" indent="-228594">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1142971" indent="-228594">
              <a:lnSpc>
                <a:spcPct val="150000"/>
              </a:lnSpc>
              <a:buClr>
                <a:srgbClr val="FFC600"/>
              </a:buClr>
              <a:buFont typeface="Arial" panose="020B0604020202020204"/>
              <a:buChar char="•"/>
              <a:defRPr sz="2133"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600160" indent="-228594">
              <a:lnSpc>
                <a:spcPct val="150000"/>
              </a:lnSpc>
              <a:buClr>
                <a:srgbClr val="FFC600"/>
              </a:buClr>
              <a:buFont typeface="Arial" panose="020B0604020202020204"/>
              <a:buChar char="•"/>
              <a:defRPr sz="1867"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828754" indent="0">
              <a:lnSpc>
                <a:spcPct val="150000"/>
              </a:lnSpc>
              <a:buClr>
                <a:srgbClr val="FFC600"/>
              </a:buClr>
              <a:buFont typeface="Arial" panose="020B0604020202020204"/>
              <a:buNone/>
              <a:defRPr sz="2133"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21" name="矩形 20">
            <a:extLst>
              <a:ext uri="{FF2B5EF4-FFF2-40B4-BE49-F238E27FC236}">
                <a16:creationId xmlns:a16="http://schemas.microsoft.com/office/drawing/2014/main" id="{793C7ADF-25D4-F38E-95CB-0A24DF6316FB}"/>
              </a:ext>
            </a:extLst>
          </p:cNvPr>
          <p:cNvSpPr/>
          <p:nvPr userDrawn="1"/>
        </p:nvSpPr>
        <p:spPr>
          <a:xfrm flipV="1">
            <a:off x="0" y="6761238"/>
            <a:ext cx="12192000" cy="157716"/>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2400"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22" name="图片 21">
            <a:extLst>
              <a:ext uri="{FF2B5EF4-FFF2-40B4-BE49-F238E27FC236}">
                <a16:creationId xmlns:a16="http://schemas.microsoft.com/office/drawing/2014/main" id="{144543A7-8EC1-BEBA-041D-80CEA1CB687F}"/>
              </a:ext>
            </a:extLst>
          </p:cNvPr>
          <p:cNvPicPr>
            <a:picLocks noChangeAspect="1"/>
          </p:cNvPicPr>
          <p:nvPr userDrawn="1"/>
        </p:nvPicPr>
        <p:blipFill>
          <a:blip r:embed="rId2"/>
          <a:stretch>
            <a:fillRect/>
          </a:stretch>
        </p:blipFill>
        <p:spPr>
          <a:xfrm>
            <a:off x="9718145" y="6181901"/>
            <a:ext cx="2026436" cy="515924"/>
          </a:xfrm>
          <a:prstGeom prst="rect">
            <a:avLst/>
          </a:prstGeom>
        </p:spPr>
      </p:pic>
    </p:spTree>
    <p:extLst>
      <p:ext uri="{BB962C8B-B14F-4D97-AF65-F5344CB8AC3E}">
        <p14:creationId xmlns:p14="http://schemas.microsoft.com/office/powerpoint/2010/main" val="3885626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cSld name="1_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0" y="2364614"/>
            <a:ext cx="12192000" cy="1562100"/>
          </a:xfrm>
          <a:prstGeom prst="rect">
            <a:avLst/>
          </a:prstGeom>
        </p:spPr>
      </p:pic>
      <p:sp>
        <p:nvSpPr>
          <p:cNvPr id="2" name="矩形 1">
            <a:extLst>
              <a:ext uri="{FF2B5EF4-FFF2-40B4-BE49-F238E27FC236}">
                <a16:creationId xmlns:a16="http://schemas.microsoft.com/office/drawing/2014/main" id="{4075B709-553C-2F31-0AC6-3CD7BEB5F72A}"/>
              </a:ext>
            </a:extLst>
          </p:cNvPr>
          <p:cNvSpPr/>
          <p:nvPr userDrawn="1"/>
        </p:nvSpPr>
        <p:spPr>
          <a:xfrm>
            <a:off x="0" y="6615485"/>
            <a:ext cx="12192000" cy="242515"/>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2400">
              <a:latin typeface="思源黑体" panose="020F0502020204030204" charset="-122"/>
              <a:ea typeface="思源黑体" panose="020F0502020204030204" charset="-122"/>
              <a:cs typeface="思源黑体" panose="020F0502020204030204" charset="-122"/>
            </a:endParaRPr>
          </a:p>
        </p:txBody>
      </p:sp>
      <p:pic>
        <p:nvPicPr>
          <p:cNvPr id="3" name="图片 2" descr="形状 3.png">
            <a:extLst>
              <a:ext uri="{FF2B5EF4-FFF2-40B4-BE49-F238E27FC236}">
                <a16:creationId xmlns:a16="http://schemas.microsoft.com/office/drawing/2014/main" id="{392AD8B5-C0BE-D767-84D9-E93FB6F13215}"/>
              </a:ext>
            </a:extLst>
          </p:cNvPr>
          <p:cNvPicPr>
            <a:picLocks noChangeAspect="1"/>
          </p:cNvPicPr>
          <p:nvPr userDrawn="1"/>
        </p:nvPicPr>
        <p:blipFill>
          <a:blip r:embed="rId3">
            <a:alphaModFix amt="64000"/>
            <a:extLst>
              <a:ext uri="{28A0092B-C50C-407E-A947-70E740481C1C}">
                <a14:useLocalDpi xmlns:a14="http://schemas.microsoft.com/office/drawing/2010/main" val="0"/>
              </a:ext>
            </a:extLst>
          </a:blip>
          <a:stretch>
            <a:fillRect/>
          </a:stretch>
        </p:blipFill>
        <p:spPr>
          <a:xfrm>
            <a:off x="0" y="2"/>
            <a:ext cx="12192000" cy="911749"/>
          </a:xfrm>
          <a:prstGeom prst="rect">
            <a:avLst/>
          </a:prstGeom>
        </p:spPr>
      </p:pic>
      <p:pic>
        <p:nvPicPr>
          <p:cNvPr id="4" name="图片 3">
            <a:extLst>
              <a:ext uri="{FF2B5EF4-FFF2-40B4-BE49-F238E27FC236}">
                <a16:creationId xmlns:a16="http://schemas.microsoft.com/office/drawing/2014/main" id="{A383A833-E148-B64F-D7B3-8453CEFD81CE}"/>
              </a:ext>
            </a:extLst>
          </p:cNvPr>
          <p:cNvPicPr>
            <a:picLocks noChangeAspect="1"/>
          </p:cNvPicPr>
          <p:nvPr userDrawn="1"/>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10002409" y="140924"/>
            <a:ext cx="1889712" cy="629904"/>
          </a:xfrm>
          <a:prstGeom prst="rect">
            <a:avLst/>
          </a:prstGeom>
        </p:spPr>
      </p:pic>
    </p:spTree>
    <p:extLst>
      <p:ext uri="{BB962C8B-B14F-4D97-AF65-F5344CB8AC3E}">
        <p14:creationId xmlns:p14="http://schemas.microsoft.com/office/powerpoint/2010/main" val="2184201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5"/>
          <p:cNvPicPr/>
          <p:nvPr userDrawn="1">
            <p:custDataLst>
              <p:tags r:id="rId1"/>
            </p:custDataLst>
          </p:nvPr>
        </p:nvPicPr>
        <p:blipFill>
          <a:blip r:embed="rId8" r:link="rId9" cstate="email"/>
          <a:stretch>
            <a:fillRect/>
          </a:stretch>
        </p:blipFill>
        <p:spPr>
          <a:xfrm>
            <a:off x="0" y="0"/>
            <a:ext cx="12192000" cy="6858000"/>
          </a:xfrm>
          <a:prstGeom prst="rect">
            <a:avLst/>
          </a:prstGeom>
        </p:spPr>
      </p:pic>
      <p:sp>
        <p:nvSpPr>
          <p:cNvPr id="16" name="日期占位符 15"/>
          <p:cNvSpPr>
            <a:spLocks noGrp="1"/>
          </p:cNvSpPr>
          <p:nvPr>
            <p:ph type="dt" sz="half" idx="10"/>
            <p:custDataLst>
              <p:tags r:id="rId2"/>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17" name="页脚占位符 16"/>
          <p:cNvSpPr>
            <a:spLocks noGrp="1"/>
          </p:cNvSpPr>
          <p:nvPr>
            <p:ph type="ftr" sz="quarter" idx="11"/>
            <p:custDataLst>
              <p:tags r:id="rId3"/>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2" name="Title 1"/>
          <p:cNvSpPr>
            <a:spLocks noGrp="1"/>
          </p:cNvSpPr>
          <p:nvPr>
            <p:ph type="ctrTitle" idx="13" hasCustomPrompt="1"/>
            <p:custDataLst>
              <p:tags r:id="rId5"/>
            </p:custDataLst>
          </p:nvPr>
        </p:nvSpPr>
        <p:spPr>
          <a:xfrm>
            <a:off x="2869009" y="2167733"/>
            <a:ext cx="6350000" cy="1006793"/>
          </a:xfrm>
        </p:spPr>
        <p:txBody>
          <a:bodyPr vert="horz" wrap="square" lIns="90170" tIns="46990" rIns="90170" bIns="46990" rtlCol="0" anchor="b" anchorCtr="0">
            <a:normAutofit/>
          </a:bodyPr>
          <a:lstStyle>
            <a:lvl1pPr>
              <a:defRPr lang="zh-CN" altLang="en-US" sz="54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p>
        </p:txBody>
      </p:sp>
      <p:sp>
        <p:nvSpPr>
          <p:cNvPr id="3" name="Subtitle 2"/>
          <p:cNvSpPr>
            <a:spLocks noGrp="1"/>
          </p:cNvSpPr>
          <p:nvPr>
            <p:ph type="subTitle" idx="14" hasCustomPrompt="1"/>
            <p:custDataLst>
              <p:tags r:id="rId6"/>
            </p:custDataLst>
          </p:nvPr>
        </p:nvSpPr>
        <p:spPr>
          <a:xfrm>
            <a:off x="2869566" y="3664585"/>
            <a:ext cx="6349365" cy="426720"/>
          </a:xfrm>
        </p:spPr>
        <p:txBody>
          <a:bodyPr vert="horz" wrap="square" lIns="90170" tIns="46990" rIns="90170" bIns="46990" rtlCol="0" anchor="t">
            <a:normAutofit/>
          </a:bodyPr>
          <a:lstStyle>
            <a:lvl1pPr>
              <a:defRPr lang="zh-CN" altLang="en-US">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Bef>
                <a:spcPts val="600"/>
              </a:spcBef>
              <a:spcAft>
                <a:spcPts val="0"/>
              </a:spcAft>
              <a:buClrTx/>
              <a:buSzTx/>
              <a:buNone/>
            </a:pPr>
            <a:r>
              <a:rPr lang="zh-CN" altLang="en-US" dirty="0"/>
              <a:t>单击此处编辑副标题</a:t>
            </a:r>
          </a:p>
        </p:txBody>
      </p:sp>
    </p:spTree>
    <p:extLst>
      <p:ext uri="{BB962C8B-B14F-4D97-AF65-F5344CB8AC3E}">
        <p14:creationId xmlns:p14="http://schemas.microsoft.com/office/powerpoint/2010/main" val="3135756310"/>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720091"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11471909" y="1"/>
            <a:ext cx="720091" cy="629227"/>
          </a:xfrm>
          <a:prstGeom prst="rect">
            <a:avLst/>
          </a:prstGeom>
        </p:spPr>
      </p:pic>
      <p:sp>
        <p:nvSpPr>
          <p:cNvPr id="2" name="标题 1"/>
          <p:cNvSpPr>
            <a:spLocks noGrp="1"/>
          </p:cNvSpPr>
          <p:nvPr>
            <p:ph type="title"/>
            <p:custDataLst>
              <p:tags r:id="rId3"/>
            </p:custDataLst>
          </p:nvPr>
        </p:nvSpPr>
        <p:spPr>
          <a:xfrm>
            <a:off x="669714" y="414655"/>
            <a:ext cx="10852573"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669714" y="1287780"/>
            <a:ext cx="10852573" cy="438023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8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5" name="页脚占位符 4"/>
          <p:cNvSpPr>
            <a:spLocks noGrp="1"/>
          </p:cNvSpPr>
          <p:nvPr>
            <p:ph type="ftr" sz="quarter" idx="11"/>
            <p:custDataLst>
              <p:tags r:id="rId6"/>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758061945"/>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9" r:link="rId10" cstate="email"/>
          <a:stretch>
            <a:fillRect/>
          </a:stretch>
        </p:blipFill>
        <p:spPr>
          <a:xfrm>
            <a:off x="4064000" y="5716016"/>
            <a:ext cx="4064000" cy="1141984"/>
          </a:xfrm>
          <a:prstGeom prst="rect">
            <a:avLst/>
          </a:prstGeom>
        </p:spPr>
      </p:pic>
      <p:sp>
        <p:nvSpPr>
          <p:cNvPr id="4" name="日期占位符 3"/>
          <p:cNvSpPr>
            <a:spLocks noGrp="1"/>
          </p:cNvSpPr>
          <p:nvPr>
            <p:ph type="dt" sz="half" idx="10"/>
            <p:custDataLst>
              <p:tags r:id="rId2"/>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5" name="页脚占位符 4"/>
          <p:cNvSpPr>
            <a:spLocks noGrp="1"/>
          </p:cNvSpPr>
          <p:nvPr>
            <p:ph type="ftr" sz="quarter" idx="11"/>
            <p:custDataLst>
              <p:tags r:id="rId3"/>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cxnSp>
        <p:nvCxnSpPr>
          <p:cNvPr id="8" name="直接连接符 1"/>
          <p:cNvCxnSpPr/>
          <p:nvPr userDrawn="1">
            <p:custDataLst>
              <p:tags r:id="rId5"/>
            </p:custDataLst>
          </p:nvPr>
        </p:nvCxnSpPr>
        <p:spPr>
          <a:xfrm>
            <a:off x="2116455" y="2807653"/>
            <a:ext cx="6435091"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 name="Subtitle 1"/>
          <p:cNvSpPr>
            <a:spLocks noGrp="1"/>
          </p:cNvSpPr>
          <p:nvPr>
            <p:ph type="subTitle" idx="13" hasCustomPrompt="1"/>
            <p:custDataLst>
              <p:tags r:id="rId6"/>
            </p:custDataLst>
          </p:nvPr>
        </p:nvSpPr>
        <p:spPr>
          <a:xfrm>
            <a:off x="2116456" y="3025219"/>
            <a:ext cx="5767705" cy="331946"/>
          </a:xfrm>
        </p:spPr>
        <p:txBody>
          <a:bodyPr vert="horz" wrap="square" lIns="90170" tIns="46990" rIns="90170" bIns="46990" rtlCol="0" anchor="t" anchorCtr="0">
            <a:normAutofit/>
          </a:bodyPr>
          <a:lstStyle>
            <a:lvl1pPr>
              <a:defRPr kumimoji="0" lang="zh-CN" altLang="en-US" sz="135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gn="dist">
              <a:lnSpc>
                <a:spcPct val="100000"/>
              </a:lnSpc>
              <a:spcAft>
                <a:spcPts val="0"/>
              </a:spcAft>
              <a:buClrTx/>
              <a:buSzTx/>
              <a:buNone/>
            </a:pPr>
            <a:r>
              <a:rPr lang="zh-CN" altLang="en-US"/>
              <a:t>单击此处编辑副标题</a:t>
            </a:r>
          </a:p>
        </p:txBody>
      </p:sp>
      <p:sp>
        <p:nvSpPr>
          <p:cNvPr id="3" name="Title 2"/>
          <p:cNvSpPr>
            <a:spLocks noGrp="1"/>
          </p:cNvSpPr>
          <p:nvPr>
            <p:ph type="ctrTitle" idx="14" hasCustomPrompt="1"/>
            <p:custDataLst>
              <p:tags r:id="rId7"/>
            </p:custDataLst>
          </p:nvPr>
        </p:nvSpPr>
        <p:spPr>
          <a:xfrm>
            <a:off x="2116456" y="1866979"/>
            <a:ext cx="5767705" cy="667226"/>
          </a:xfrm>
        </p:spPr>
        <p:txBody>
          <a:bodyPr vert="horz" wrap="square" lIns="90170" tIns="46990" rIns="90170" bIns="0" rtlCol="0" anchor="b" anchorCtr="0">
            <a:normAutofit/>
          </a:bodyPr>
          <a:lstStyle>
            <a:lvl1pPr>
              <a:defRPr kumimoji="0" lang="zh-CN" altLang="en-US" sz="3300" b="0" i="0" spc="5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lgn="dist">
              <a:spcAft>
                <a:spcPts val="0"/>
              </a:spcAft>
              <a:buClrTx/>
              <a:buSzTx/>
              <a:buFontTx/>
            </a:pPr>
            <a:r>
              <a:rPr lang="zh-CN" altLang="en-US" dirty="0"/>
              <a:t>编辑标题</a:t>
            </a:r>
          </a:p>
        </p:txBody>
      </p:sp>
    </p:spTree>
    <p:extLst>
      <p:ext uri="{BB962C8B-B14F-4D97-AF65-F5344CB8AC3E}">
        <p14:creationId xmlns:p14="http://schemas.microsoft.com/office/powerpoint/2010/main" val="121225364"/>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720091"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11471909" y="1"/>
            <a:ext cx="720091" cy="629227"/>
          </a:xfrm>
          <a:prstGeom prst="rect">
            <a:avLst/>
          </a:prstGeom>
        </p:spPr>
      </p:pic>
      <p:sp>
        <p:nvSpPr>
          <p:cNvPr id="3" name="内容占位符 2"/>
          <p:cNvSpPr>
            <a:spLocks noGrp="1"/>
          </p:cNvSpPr>
          <p:nvPr>
            <p:ph sz="half" idx="1"/>
            <p:custDataLst>
              <p:tags r:id="rId3"/>
            </p:custDataLst>
          </p:nvPr>
        </p:nvSpPr>
        <p:spPr>
          <a:xfrm>
            <a:off x="669929" y="1626121"/>
            <a:ext cx="5283243"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0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4"/>
            </p:custDataLst>
          </p:nvPr>
        </p:nvSpPr>
        <p:spPr>
          <a:xfrm>
            <a:off x="6238877" y="1626121"/>
            <a:ext cx="5283243" cy="4041680"/>
          </a:xfrm>
        </p:spPr>
        <p:txBody>
          <a:bodyPr wrap="square" lIns="90170" tIns="46990" rIns="90170" bIns="46990">
            <a:normAutofit/>
          </a:bodyPr>
          <a:lstStyle>
            <a:lvl1pPr eaLnBrk="1" fontAlgn="auto" latinLnBrk="0" hangingPunct="1">
              <a:defRPr sz="2000">
                <a:solidFill>
                  <a:schemeClr val="tx1"/>
                </a:solidFill>
                <a:latin typeface="Arial" panose="020B0604020202020204" pitchFamily="34" charset="0"/>
                <a:ea typeface="微软雅黑" panose="020B0503020204020204" charset="-122"/>
              </a:defRPr>
            </a:lvl1pPr>
            <a:lvl2pPr eaLnBrk="1" fontAlgn="auto" latinLnBrk="0" hangingPunct="1">
              <a:defRPr sz="2000">
                <a:solidFill>
                  <a:schemeClr val="tx1"/>
                </a:solidFill>
                <a:latin typeface="Arial" panose="020B0604020202020204" pitchFamily="34" charset="0"/>
                <a:ea typeface="微软雅黑" panose="020B0503020204020204" charset="-122"/>
              </a:defRPr>
            </a:lvl2pPr>
            <a:lvl3pPr eaLnBrk="1" fontAlgn="auto" latinLnBrk="0" hangingPunct="1">
              <a:defRPr sz="2000">
                <a:solidFill>
                  <a:schemeClr val="tx1"/>
                </a:solidFill>
                <a:latin typeface="Arial" panose="020B0604020202020204" pitchFamily="34" charset="0"/>
                <a:ea typeface="微软雅黑" panose="020B0503020204020204" charset="-122"/>
              </a:defRPr>
            </a:lvl3pPr>
            <a:lvl4pPr eaLnBrk="1" fontAlgn="auto" latinLnBrk="0" hangingPunct="1">
              <a:defRPr sz="20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5"/>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6" name="页脚占位符 5"/>
          <p:cNvSpPr>
            <a:spLocks noGrp="1"/>
          </p:cNvSpPr>
          <p:nvPr>
            <p:ph type="ftr" sz="quarter" idx="11"/>
            <p:custDataLst>
              <p:tags r:id="rId6"/>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7"/>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0" name="标题 9"/>
          <p:cNvSpPr>
            <a:spLocks noGrp="1"/>
          </p:cNvSpPr>
          <p:nvPr>
            <p:ph type="title"/>
            <p:custDataLst>
              <p:tags r:id="rId8"/>
            </p:custDataLst>
          </p:nvPr>
        </p:nvSpPr>
        <p:spPr>
          <a:xfrm>
            <a:off x="669714" y="414655"/>
            <a:ext cx="10852573"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extLst>
      <p:ext uri="{BB962C8B-B14F-4D97-AF65-F5344CB8AC3E}">
        <p14:creationId xmlns:p14="http://schemas.microsoft.com/office/powerpoint/2010/main" val="3704873729"/>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pic>
        <p:nvPicPr>
          <p:cNvPr id="11" name="图片 5"/>
          <p:cNvPicPr/>
          <p:nvPr userDrawn="1">
            <p:custDataLst>
              <p:tags r:id="rId1"/>
            </p:custDataLst>
          </p:nvPr>
        </p:nvPicPr>
        <p:blipFill>
          <a:blip r:embed="rId12" r:link="rId13" cstate="email"/>
          <a:stretch>
            <a:fillRect/>
          </a:stretch>
        </p:blipFill>
        <p:spPr>
          <a:xfrm>
            <a:off x="0" y="0"/>
            <a:ext cx="720091" cy="486377"/>
          </a:xfrm>
          <a:prstGeom prst="rect">
            <a:avLst/>
          </a:prstGeom>
        </p:spPr>
      </p:pic>
      <p:pic>
        <p:nvPicPr>
          <p:cNvPr id="10" name="图片 7"/>
          <p:cNvPicPr/>
          <p:nvPr userDrawn="1">
            <p:custDataLst>
              <p:tags r:id="rId2"/>
            </p:custDataLst>
          </p:nvPr>
        </p:nvPicPr>
        <p:blipFill>
          <a:blip r:embed="rId14" r:link="rId15" cstate="email"/>
          <a:stretch>
            <a:fillRect/>
          </a:stretch>
        </p:blipFill>
        <p:spPr>
          <a:xfrm>
            <a:off x="11471909" y="1"/>
            <a:ext cx="720091" cy="629227"/>
          </a:xfrm>
          <a:prstGeom prst="rect">
            <a:avLst/>
          </a:prstGeom>
        </p:spPr>
      </p:pic>
      <p:sp>
        <p:nvSpPr>
          <p:cNvPr id="3" name="文本占位符 2"/>
          <p:cNvSpPr>
            <a:spLocks noGrp="1"/>
          </p:cNvSpPr>
          <p:nvPr>
            <p:ph type="body" idx="1" hasCustomPrompt="1"/>
            <p:custDataLst>
              <p:tags r:id="rId3"/>
            </p:custDataLst>
          </p:nvPr>
        </p:nvSpPr>
        <p:spPr>
          <a:xfrm>
            <a:off x="669929" y="1386213"/>
            <a:ext cx="5283243" cy="285752"/>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4"/>
            </p:custDataLst>
          </p:nvPr>
        </p:nvSpPr>
        <p:spPr>
          <a:xfrm>
            <a:off x="669713" y="1797686"/>
            <a:ext cx="52832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5"/>
            </p:custDataLst>
          </p:nvPr>
        </p:nvSpPr>
        <p:spPr>
          <a:xfrm>
            <a:off x="6248449" y="1386213"/>
            <a:ext cx="5283243" cy="285752"/>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6"/>
            </p:custDataLst>
          </p:nvPr>
        </p:nvSpPr>
        <p:spPr>
          <a:xfrm>
            <a:off x="6235700" y="1797686"/>
            <a:ext cx="5283200" cy="3926205"/>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7"/>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8" name="页脚占位符 7"/>
          <p:cNvSpPr>
            <a:spLocks noGrp="1"/>
          </p:cNvSpPr>
          <p:nvPr>
            <p:ph type="ftr" sz="quarter" idx="11"/>
            <p:custDataLst>
              <p:tags r:id="rId8"/>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9"/>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12" name="标题 11"/>
          <p:cNvSpPr>
            <a:spLocks noGrp="1"/>
          </p:cNvSpPr>
          <p:nvPr>
            <p:ph type="title"/>
            <p:custDataLst>
              <p:tags r:id="rId10"/>
            </p:custDataLst>
          </p:nvPr>
        </p:nvSpPr>
        <p:spPr>
          <a:xfrm>
            <a:off x="682414" y="414655"/>
            <a:ext cx="10852573"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extLst>
      <p:ext uri="{BB962C8B-B14F-4D97-AF65-F5344CB8AC3E}">
        <p14:creationId xmlns:p14="http://schemas.microsoft.com/office/powerpoint/2010/main" val="1152024973"/>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304800" y="2503170"/>
            <a:ext cx="4389120" cy="1851660"/>
          </a:xfrm>
          <a:prstGeom prst="rect">
            <a:avLst/>
          </a:prstGeom>
        </p:spPr>
      </p:pic>
      <p:sp>
        <p:nvSpPr>
          <p:cNvPr id="7" name="任意多边形 6"/>
          <p:cNvSpPr/>
          <p:nvPr userDrawn="1">
            <p:custDataLst>
              <p:tags r:id="rId2"/>
            </p:custDataLst>
          </p:nvPr>
        </p:nvSpPr>
        <p:spPr>
          <a:xfrm>
            <a:off x="4878000" y="0"/>
            <a:ext cx="7314000"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50"/>
          </a:p>
        </p:txBody>
      </p:sp>
      <p:pic>
        <p:nvPicPr>
          <p:cNvPr id="6" name="图片 8"/>
          <p:cNvPicPr/>
          <p:nvPr userDrawn="1">
            <p:custDataLst>
              <p:tags r:id="rId3"/>
            </p:custDataLst>
          </p:nvPr>
        </p:nvPicPr>
        <p:blipFill>
          <a:blip r:embed="rId11" r:link="rId12" cstate="email"/>
          <a:stretch>
            <a:fillRect/>
          </a:stretch>
        </p:blipFill>
        <p:spPr>
          <a:xfrm>
            <a:off x="11471909" y="6371624"/>
            <a:ext cx="720091" cy="486377"/>
          </a:xfrm>
          <a:prstGeom prst="rect">
            <a:avLst/>
          </a:prstGeom>
        </p:spPr>
      </p:pic>
      <p:sp>
        <p:nvSpPr>
          <p:cNvPr id="3" name="日期占位符 2"/>
          <p:cNvSpPr>
            <a:spLocks noGrp="1"/>
          </p:cNvSpPr>
          <p:nvPr>
            <p:ph type="dt" sz="half" idx="10"/>
            <p:custDataLst>
              <p:tags r:id="rId4"/>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5"/>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9" name="标题 8"/>
          <p:cNvSpPr>
            <a:spLocks noGrp="1"/>
          </p:cNvSpPr>
          <p:nvPr>
            <p:ph type="title"/>
            <p:custDataLst>
              <p:tags r:id="rId7"/>
            </p:custDataLst>
          </p:nvPr>
        </p:nvSpPr>
        <p:spPr>
          <a:xfrm>
            <a:off x="669714" y="414655"/>
            <a:ext cx="10852573"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extLst>
      <p:ext uri="{BB962C8B-B14F-4D97-AF65-F5344CB8AC3E}">
        <p14:creationId xmlns:p14="http://schemas.microsoft.com/office/powerpoint/2010/main" val="2668804632"/>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3" name="页脚占位符 2"/>
          <p:cNvSpPr>
            <a:spLocks noGrp="1"/>
          </p:cNvSpPr>
          <p:nvPr>
            <p:ph type="ftr" sz="quarter" idx="11"/>
            <p:custDataLst>
              <p:tags r:id="rId2"/>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344458992"/>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pic>
        <p:nvPicPr>
          <p:cNvPr id="9" name="图片 5"/>
          <p:cNvPicPr/>
          <p:nvPr userDrawn="1">
            <p:custDataLst>
              <p:tags r:id="rId1"/>
            </p:custDataLst>
          </p:nvPr>
        </p:nvPicPr>
        <p:blipFill>
          <a:blip r:embed="rId10" r:link="rId11" cstate="email"/>
          <a:stretch>
            <a:fillRect/>
          </a:stretch>
        </p:blipFill>
        <p:spPr>
          <a:xfrm>
            <a:off x="0" y="0"/>
            <a:ext cx="720091" cy="486377"/>
          </a:xfrm>
          <a:prstGeom prst="rect">
            <a:avLst/>
          </a:prstGeom>
        </p:spPr>
      </p:pic>
      <p:pic>
        <p:nvPicPr>
          <p:cNvPr id="8" name="图片 7"/>
          <p:cNvPicPr/>
          <p:nvPr userDrawn="1">
            <p:custDataLst>
              <p:tags r:id="rId2"/>
            </p:custDataLst>
          </p:nvPr>
        </p:nvPicPr>
        <p:blipFill>
          <a:blip r:embed="rId12" r:link="rId13" cstate="email"/>
          <a:stretch>
            <a:fillRect/>
          </a:stretch>
        </p:blipFill>
        <p:spPr>
          <a:xfrm>
            <a:off x="11471909" y="1"/>
            <a:ext cx="720091" cy="629227"/>
          </a:xfrm>
          <a:prstGeom prst="rect">
            <a:avLst/>
          </a:prstGeom>
        </p:spPr>
      </p:pic>
      <p:sp>
        <p:nvSpPr>
          <p:cNvPr id="3" name="图片占位符 2"/>
          <p:cNvSpPr>
            <a:spLocks noGrp="1"/>
          </p:cNvSpPr>
          <p:nvPr>
            <p:ph type="pic" idx="1"/>
            <p:custDataLst>
              <p:tags r:id="rId3"/>
            </p:custDataLst>
          </p:nvPr>
        </p:nvSpPr>
        <p:spPr>
          <a:xfrm>
            <a:off x="669929" y="1626121"/>
            <a:ext cx="5283243" cy="4041680"/>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1626121"/>
            <a:ext cx="5283243" cy="4041680"/>
          </a:xfrm>
        </p:spPr>
        <p:txBody>
          <a:bodyPr vert="horz" wrap="square" lIns="90170" tIns="46990" rIns="90170" bIns="4699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1">
              <a:rPr lang="zh-CN" altLang="en-US" smtClean="0"/>
              <a:t>2024/3/27</a:t>
            </a:fld>
            <a:endParaRPr lang="zh-CN" altLang="en-US" dirty="0"/>
          </a:p>
        </p:txBody>
      </p:sp>
      <p:sp>
        <p:nvSpPr>
          <p:cNvPr id="6" name="页脚占位符 5"/>
          <p:cNvSpPr>
            <a:spLocks noGrp="1"/>
          </p:cNvSpPr>
          <p:nvPr>
            <p:ph type="ftr" sz="quarter" idx="11"/>
            <p:custDataLst>
              <p:tags r:id="rId6"/>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t>‹#›</a:t>
            </a:fld>
            <a:endParaRPr lang="zh-CN" altLang="en-US"/>
          </a:p>
        </p:txBody>
      </p:sp>
      <p:sp>
        <p:nvSpPr>
          <p:cNvPr id="10" name="标题 9"/>
          <p:cNvSpPr>
            <a:spLocks noGrp="1"/>
          </p:cNvSpPr>
          <p:nvPr>
            <p:ph type="title"/>
            <p:custDataLst>
              <p:tags r:id="rId8"/>
            </p:custDataLst>
          </p:nvPr>
        </p:nvSpPr>
        <p:spPr>
          <a:xfrm>
            <a:off x="669714" y="414655"/>
            <a:ext cx="10852573"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Tree>
    <p:extLst>
      <p:ext uri="{BB962C8B-B14F-4D97-AF65-F5344CB8AC3E}">
        <p14:creationId xmlns:p14="http://schemas.microsoft.com/office/powerpoint/2010/main" val="3135624039"/>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9" r:link="rId10" cstate="email"/>
          <a:stretch>
            <a:fillRect/>
          </a:stretch>
        </p:blipFill>
        <p:spPr>
          <a:xfrm>
            <a:off x="0" y="0"/>
            <a:ext cx="720091" cy="486377"/>
          </a:xfrm>
          <a:prstGeom prst="rect">
            <a:avLst/>
          </a:prstGeom>
        </p:spPr>
      </p:pic>
      <p:pic>
        <p:nvPicPr>
          <p:cNvPr id="7" name="图片 7"/>
          <p:cNvPicPr/>
          <p:nvPr userDrawn="1">
            <p:custDataLst>
              <p:tags r:id="rId2"/>
            </p:custDataLst>
          </p:nvPr>
        </p:nvPicPr>
        <p:blipFill>
          <a:blip r:embed="rId11" r:link="rId12" cstate="email"/>
          <a:stretch>
            <a:fillRect/>
          </a:stretch>
        </p:blipFill>
        <p:spPr>
          <a:xfrm>
            <a:off x="11471909" y="1"/>
            <a:ext cx="720091" cy="629227"/>
          </a:xfrm>
          <a:prstGeom prst="rect">
            <a:avLst/>
          </a:prstGeom>
        </p:spPr>
      </p:pic>
      <p:sp>
        <p:nvSpPr>
          <p:cNvPr id="2" name="竖排标题 1"/>
          <p:cNvSpPr>
            <a:spLocks noGrp="1"/>
          </p:cNvSpPr>
          <p:nvPr>
            <p:ph type="title" orient="vert"/>
            <p:custDataLst>
              <p:tags r:id="rId3"/>
            </p:custDataLst>
          </p:nvPr>
        </p:nvSpPr>
        <p:spPr>
          <a:xfrm>
            <a:off x="10571135" y="1626121"/>
            <a:ext cx="950984" cy="4041680"/>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669926" y="1626113"/>
            <a:ext cx="9828101" cy="4041680"/>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5" name="页脚占位符 4"/>
          <p:cNvSpPr>
            <a:spLocks noGrp="1"/>
          </p:cNvSpPr>
          <p:nvPr>
            <p:ph type="ftr" sz="quarter" idx="11"/>
            <p:custDataLst>
              <p:tags r:id="rId6"/>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1290807808"/>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pic>
        <p:nvPicPr>
          <p:cNvPr id="8" name="图片 5"/>
          <p:cNvPicPr/>
          <p:nvPr userDrawn="1">
            <p:custDataLst>
              <p:tags r:id="rId1"/>
            </p:custDataLst>
          </p:nvPr>
        </p:nvPicPr>
        <p:blipFill>
          <a:blip r:embed="rId8" r:link="rId9" cstate="email"/>
          <a:stretch>
            <a:fillRect/>
          </a:stretch>
        </p:blipFill>
        <p:spPr>
          <a:xfrm>
            <a:off x="0" y="0"/>
            <a:ext cx="720091"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11471909" y="1"/>
            <a:ext cx="720091" cy="629227"/>
          </a:xfrm>
          <a:prstGeom prst="rect">
            <a:avLst/>
          </a:prstGeom>
        </p:spPr>
      </p:pic>
      <p:sp>
        <p:nvSpPr>
          <p:cNvPr id="3" name="日期占位符 2"/>
          <p:cNvSpPr>
            <a:spLocks noGrp="1"/>
          </p:cNvSpPr>
          <p:nvPr>
            <p:ph type="dt" sz="half" idx="10"/>
            <p:custDataLst>
              <p:tags r:id="rId3"/>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4"/>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669930" y="1626121"/>
            <a:ext cx="10852237" cy="4041680"/>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236095347"/>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8" r:link="rId9" cstate="email"/>
          <a:stretch>
            <a:fillRect/>
          </a:stretch>
        </p:blipFill>
        <p:spPr>
          <a:xfrm>
            <a:off x="0" y="0"/>
            <a:ext cx="12192000" cy="6858000"/>
          </a:xfrm>
          <a:prstGeom prst="rect">
            <a:avLst/>
          </a:prstGeom>
        </p:spPr>
      </p:pic>
      <p:sp>
        <p:nvSpPr>
          <p:cNvPr id="3" name="日期占位符 2"/>
          <p:cNvSpPr>
            <a:spLocks noGrp="1"/>
          </p:cNvSpPr>
          <p:nvPr>
            <p:ph type="dt" sz="half" idx="10"/>
            <p:custDataLst>
              <p:tags r:id="rId2"/>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3"/>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a:p>
        </p:txBody>
      </p:sp>
      <p:sp>
        <p:nvSpPr>
          <p:cNvPr id="2" name="Title 1"/>
          <p:cNvSpPr>
            <a:spLocks noGrp="1"/>
          </p:cNvSpPr>
          <p:nvPr>
            <p:ph type="title" idx="13" hasCustomPrompt="1"/>
            <p:custDataLst>
              <p:tags r:id="rId5"/>
            </p:custDataLst>
          </p:nvPr>
        </p:nvSpPr>
        <p:spPr>
          <a:xfrm>
            <a:off x="3329239" y="2148127"/>
            <a:ext cx="5365751" cy="1049179"/>
          </a:xfrm>
        </p:spPr>
        <p:txBody>
          <a:bodyPr vert="horz" wrap="square" lIns="90170" tIns="46990" rIns="90170" bIns="46990" rtlCol="0" anchor="b" anchorCtr="0">
            <a:normAutofit/>
          </a:bodyPr>
          <a:lstStyle>
            <a:lvl1pPr>
              <a:defRPr lang="zh-CN" altLang="en-US" sz="6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p>
        </p:txBody>
      </p:sp>
      <p:sp>
        <p:nvSpPr>
          <p:cNvPr id="7" name="Text Placeholder 6"/>
          <p:cNvSpPr>
            <a:spLocks noGrp="1"/>
          </p:cNvSpPr>
          <p:nvPr>
            <p:ph type="body" idx="14" hasCustomPrompt="1"/>
            <p:custDataLst>
              <p:tags r:id="rId6"/>
            </p:custDataLst>
          </p:nvPr>
        </p:nvSpPr>
        <p:spPr>
          <a:xfrm>
            <a:off x="3329306" y="3710068"/>
            <a:ext cx="5365751" cy="379571"/>
          </a:xfrm>
        </p:spPr>
        <p:txBody>
          <a:bodyPr vert="horz" wrap="square" lIns="90170" tIns="0" rIns="90170" bIns="46990" rtlCol="0" anchor="t" anchorCtr="0">
            <a:normAutofit/>
          </a:bodyPr>
          <a:lstStyle>
            <a:lvl1pPr>
              <a:defRPr lang="zh-CN" altLang="en-US" sz="135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20000"/>
              </a:lnSpc>
              <a:spcAft>
                <a:spcPts val="0"/>
              </a:spcAft>
              <a:buClrTx/>
              <a:buSzTx/>
              <a:buNone/>
            </a:pPr>
            <a:r>
              <a:rPr lang="zh-CN" altLang="en-US" dirty="0"/>
              <a:t>单击此处编辑文本</a:t>
            </a:r>
          </a:p>
        </p:txBody>
      </p:sp>
      <p:pic>
        <p:nvPicPr>
          <p:cNvPr id="1033" name="图片 8"/>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51553" y="6012180"/>
            <a:ext cx="100584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0539354"/>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7" name="图片 5"/>
          <p:cNvPicPr/>
          <p:nvPr userDrawn="1">
            <p:custDataLst>
              <p:tags r:id="rId1"/>
            </p:custDataLst>
          </p:nvPr>
        </p:nvPicPr>
        <p:blipFill>
          <a:blip r:embed="rId8" r:link="rId9" cstate="email"/>
          <a:stretch>
            <a:fillRect/>
          </a:stretch>
        </p:blipFill>
        <p:spPr>
          <a:xfrm>
            <a:off x="0" y="0"/>
            <a:ext cx="720091" cy="486377"/>
          </a:xfrm>
          <a:prstGeom prst="rect">
            <a:avLst/>
          </a:prstGeom>
        </p:spPr>
      </p:pic>
      <p:pic>
        <p:nvPicPr>
          <p:cNvPr id="6" name="图片 7"/>
          <p:cNvPicPr/>
          <p:nvPr userDrawn="1">
            <p:custDataLst>
              <p:tags r:id="rId2"/>
            </p:custDataLst>
          </p:nvPr>
        </p:nvPicPr>
        <p:blipFill>
          <a:blip r:embed="rId10" r:link="rId11" cstate="email"/>
          <a:stretch>
            <a:fillRect/>
          </a:stretch>
        </p:blipFill>
        <p:spPr>
          <a:xfrm>
            <a:off x="11471909" y="1"/>
            <a:ext cx="720091" cy="629227"/>
          </a:xfrm>
          <a:prstGeom prst="rect">
            <a:avLst/>
          </a:prstGeom>
        </p:spPr>
      </p:pic>
      <p:sp>
        <p:nvSpPr>
          <p:cNvPr id="2" name="标题 1"/>
          <p:cNvSpPr>
            <a:spLocks noGrp="1"/>
          </p:cNvSpPr>
          <p:nvPr>
            <p:ph type="title"/>
            <p:custDataLst>
              <p:tags r:id="rId3"/>
            </p:custDataLst>
          </p:nvPr>
        </p:nvSpPr>
        <p:spPr>
          <a:xfrm>
            <a:off x="669882" y="498477"/>
            <a:ext cx="10852237"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5"/>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118086"/>
      </p:ext>
    </p:extLst>
  </p:cSld>
  <p:clrMapOvr>
    <a:masterClrMapping/>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292075" y="303809"/>
            <a:ext cx="11607851"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0" y="0"/>
            <a:ext cx="720091" cy="48637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11471909" y="1"/>
            <a:ext cx="720091" cy="629227"/>
          </a:xfrm>
          <a:prstGeom prst="rect">
            <a:avLst/>
          </a:prstGeom>
        </p:spPr>
      </p:pic>
      <p:sp>
        <p:nvSpPr>
          <p:cNvPr id="7" name="内容占位符 6"/>
          <p:cNvSpPr>
            <a:spLocks noGrp="1"/>
          </p:cNvSpPr>
          <p:nvPr>
            <p:ph sz="quarter" idx="13"/>
            <p:custDataLst>
              <p:tags r:id="rId4"/>
            </p:custDataLst>
          </p:nvPr>
        </p:nvSpPr>
        <p:spPr>
          <a:xfrm>
            <a:off x="879687" y="1378585"/>
            <a:ext cx="10591800" cy="475107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6"/>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6" name="标题 5"/>
          <p:cNvSpPr>
            <a:spLocks noGrp="1"/>
          </p:cNvSpPr>
          <p:nvPr>
            <p:ph type="title"/>
            <p:custDataLst>
              <p:tags r:id="rId8"/>
            </p:custDataLst>
          </p:nvPr>
        </p:nvSpPr>
        <p:spPr>
          <a:xfrm>
            <a:off x="669714" y="414655"/>
            <a:ext cx="10852573"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51553" y="6012180"/>
            <a:ext cx="100584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4936417"/>
      </p:ext>
    </p:extLst>
  </p:cSld>
  <p:clrMapOvr>
    <a:masterClrMapping/>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0"/>
            <a:ext cx="4824603"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8" name="图片 6"/>
          <p:cNvPicPr/>
          <p:nvPr userDrawn="1">
            <p:custDataLst>
              <p:tags r:id="rId2"/>
            </p:custDataLst>
          </p:nvPr>
        </p:nvPicPr>
        <p:blipFill>
          <a:blip r:embed="rId10" r:link="rId11" cstate="email"/>
          <a:stretch>
            <a:fillRect/>
          </a:stretch>
        </p:blipFill>
        <p:spPr>
          <a:xfrm>
            <a:off x="11471909" y="0"/>
            <a:ext cx="720091" cy="486377"/>
          </a:xfrm>
          <a:prstGeom prst="rect">
            <a:avLst/>
          </a:prstGeom>
        </p:spPr>
      </p:pic>
      <p:sp>
        <p:nvSpPr>
          <p:cNvPr id="2" name="标题 1"/>
          <p:cNvSpPr>
            <a:spLocks noGrp="1"/>
          </p:cNvSpPr>
          <p:nvPr>
            <p:ph type="title" hasCustomPrompt="1"/>
            <p:custDataLst>
              <p:tags r:id="rId3"/>
            </p:custDataLst>
          </p:nvPr>
        </p:nvSpPr>
        <p:spPr>
          <a:xfrm>
            <a:off x="583200" y="880650"/>
            <a:ext cx="3960000" cy="661500"/>
          </a:xfrm>
        </p:spPr>
        <p:txBody>
          <a:bodyPr wrap="square" anchor="ctr" anchorCtr="0">
            <a:normAutofit/>
          </a:bodyPr>
          <a:lstStyle>
            <a:lvl1pPr>
              <a:defRPr sz="27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5"/>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2275650"/>
            <a:ext cx="3956400" cy="3069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1405931"/>
            <a:ext cx="6480000" cy="381595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1033" name="图片 8"/>
          <p:cNvPicPr>
            <a:picLocks noChangeAspect="1"/>
          </p:cNvPicPr>
          <p:nvPr userDrawn="1"/>
        </p:nvPicPr>
        <p:blipFill>
          <a:blip r:embed="rId12" cstate="print">
            <a:extLst>
              <a:ext uri="{28A0092B-C50C-407E-A947-70E740481C1C}">
                <a14:useLocalDpi xmlns:a14="http://schemas.microsoft.com/office/drawing/2010/main" val="0"/>
              </a:ext>
            </a:extLst>
          </a:blip>
          <a:srcRect/>
          <a:stretch>
            <a:fillRect/>
          </a:stretch>
        </p:blipFill>
        <p:spPr bwMode="auto">
          <a:xfrm>
            <a:off x="151553" y="6012180"/>
            <a:ext cx="100584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8219871"/>
      </p:ext>
    </p:extLst>
  </p:cSld>
  <p:clrMapOvr>
    <a:masterClrMapping/>
  </p:clrMapOvr>
  <p:hf hdr="0" ftr="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1"/>
            <a:ext cx="12192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720091"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11471909" y="1"/>
            <a:ext cx="720091" cy="629227"/>
          </a:xfrm>
          <a:prstGeom prst="rect">
            <a:avLst/>
          </a:prstGeom>
        </p:spPr>
      </p:pic>
      <p:sp>
        <p:nvSpPr>
          <p:cNvPr id="2" name="标题 1"/>
          <p:cNvSpPr>
            <a:spLocks noGrp="1"/>
          </p:cNvSpPr>
          <p:nvPr>
            <p:ph type="title"/>
            <p:custDataLst>
              <p:tags r:id="rId4"/>
            </p:custDataLst>
          </p:nvPr>
        </p:nvSpPr>
        <p:spPr>
          <a:xfrm>
            <a:off x="612140" y="485776"/>
            <a:ext cx="10976187" cy="843915"/>
          </a:xfrm>
        </p:spPr>
        <p:txBody>
          <a:bodyPr wrap="square" anchor="ctr">
            <a:no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6"/>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763100"/>
            <a:ext cx="10975975" cy="621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987" y="2664461"/>
            <a:ext cx="10965180" cy="3145155"/>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19556453"/>
      </p:ext>
    </p:extLst>
  </p:cSld>
  <p:clrMapOvr>
    <a:masterClrMapping/>
  </p:clrMapOvr>
  <p:hf hdr="0" ft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1" name="矩形 4"/>
          <p:cNvSpPr/>
          <p:nvPr userDrawn="1">
            <p:custDataLst>
              <p:tags r:id="rId1"/>
            </p:custDataLst>
          </p:nvPr>
        </p:nvSpPr>
        <p:spPr>
          <a:xfrm>
            <a:off x="0" y="5038726"/>
            <a:ext cx="12192000" cy="1819275"/>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0" name="图片 6"/>
          <p:cNvPicPr/>
          <p:nvPr userDrawn="1">
            <p:custDataLst>
              <p:tags r:id="rId2"/>
            </p:custDataLst>
          </p:nvPr>
        </p:nvPicPr>
        <p:blipFill>
          <a:blip r:embed="rId11" r:link="rId12" cstate="email"/>
          <a:stretch>
            <a:fillRect/>
          </a:stretch>
        </p:blipFill>
        <p:spPr>
          <a:xfrm>
            <a:off x="0" y="0"/>
            <a:ext cx="720091" cy="486377"/>
          </a:xfrm>
          <a:prstGeom prst="rect">
            <a:avLst/>
          </a:prstGeom>
        </p:spPr>
      </p:pic>
      <p:pic>
        <p:nvPicPr>
          <p:cNvPr id="8" name="图片 8"/>
          <p:cNvPicPr/>
          <p:nvPr userDrawn="1">
            <p:custDataLst>
              <p:tags r:id="rId3"/>
            </p:custDataLst>
          </p:nvPr>
        </p:nvPicPr>
        <p:blipFill>
          <a:blip r:embed="rId13" r:link="rId14" cstate="email"/>
          <a:stretch>
            <a:fillRect/>
          </a:stretch>
        </p:blipFill>
        <p:spPr>
          <a:xfrm>
            <a:off x="11471909" y="1"/>
            <a:ext cx="720091" cy="629227"/>
          </a:xfrm>
          <a:prstGeom prst="rect">
            <a:avLst/>
          </a:prstGeom>
        </p:spPr>
      </p:pic>
      <p:sp>
        <p:nvSpPr>
          <p:cNvPr id="3" name="日期占位符 2"/>
          <p:cNvSpPr>
            <a:spLocks noGrp="1"/>
          </p:cNvSpPr>
          <p:nvPr>
            <p:ph type="dt" sz="half" idx="10"/>
            <p:custDataLst>
              <p:tags r:id="rId4"/>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5"/>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604521" y="1444625"/>
            <a:ext cx="10990580" cy="352679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594000" y="5306850"/>
            <a:ext cx="11001600" cy="7587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6" name="标题 5"/>
          <p:cNvSpPr>
            <a:spLocks noGrp="1"/>
          </p:cNvSpPr>
          <p:nvPr>
            <p:ph type="title"/>
            <p:custDataLst>
              <p:tags r:id="rId9"/>
            </p:custDataLst>
          </p:nvPr>
        </p:nvSpPr>
        <p:spPr>
          <a:xfrm>
            <a:off x="669714" y="414655"/>
            <a:ext cx="10852573" cy="782320"/>
          </a:xfrm>
        </p:spPr>
        <p:txBody>
          <a:bodyPr vert="horz" wrap="square" lIns="90170" tIns="46990" rIns="90170" bIns="46990" rtlCol="0" anchor="ctr" anchorCtr="0">
            <a:noAutofit/>
          </a:bodyPr>
          <a:lstStyle>
            <a:lvl1pPr marL="0" marR="0" algn="l" defTabSz="914400" rtl="0" eaLnBrk="1" fontAlgn="auto" latinLnBrk="0" hangingPunct="1">
              <a:lnSpc>
                <a:spcPct val="100000"/>
              </a:lnSpc>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pic>
        <p:nvPicPr>
          <p:cNvPr id="1033" name="图片 8"/>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51553" y="6012180"/>
            <a:ext cx="100584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2337398"/>
      </p:ext>
    </p:extLst>
  </p:cSld>
  <p:clrMapOvr>
    <a:masterClrMapping/>
  </p:clrMapOvr>
  <p:hf hdr="0" ft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4" name="矩形 4"/>
          <p:cNvSpPr/>
          <p:nvPr userDrawn="1">
            <p:custDataLst>
              <p:tags r:id="rId1"/>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12" name="图片 6"/>
          <p:cNvPicPr/>
          <p:nvPr userDrawn="1">
            <p:custDataLst>
              <p:tags r:id="rId2"/>
            </p:custDataLst>
          </p:nvPr>
        </p:nvPicPr>
        <p:blipFill>
          <a:blip r:embed="rId13" r:link="rId14" cstate="email"/>
          <a:stretch>
            <a:fillRect/>
          </a:stretch>
        </p:blipFill>
        <p:spPr>
          <a:xfrm>
            <a:off x="11471909" y="6371624"/>
            <a:ext cx="720091" cy="486377"/>
          </a:xfrm>
          <a:prstGeom prst="rect">
            <a:avLst/>
          </a:prstGeom>
        </p:spPr>
      </p:pic>
      <p:pic>
        <p:nvPicPr>
          <p:cNvPr id="10" name="图片 8"/>
          <p:cNvPicPr/>
          <p:nvPr userDrawn="1">
            <p:custDataLst>
              <p:tags r:id="rId3"/>
            </p:custDataLst>
          </p:nvPr>
        </p:nvPicPr>
        <p:blipFill>
          <a:blip r:embed="rId15" r:link="rId16" cstate="email"/>
          <a:stretch>
            <a:fillRect/>
          </a:stretch>
        </p:blipFill>
        <p:spPr>
          <a:xfrm>
            <a:off x="0" y="6228774"/>
            <a:ext cx="720091" cy="629227"/>
          </a:xfrm>
          <a:prstGeom prst="rect">
            <a:avLst/>
          </a:prstGeom>
        </p:spPr>
      </p:pic>
      <p:sp>
        <p:nvSpPr>
          <p:cNvPr id="2" name="标题 1"/>
          <p:cNvSpPr>
            <a:spLocks noGrp="1"/>
          </p:cNvSpPr>
          <p:nvPr>
            <p:ph type="title"/>
            <p:custDataLst>
              <p:tags r:id="rId4"/>
            </p:custDataLst>
          </p:nvPr>
        </p:nvSpPr>
        <p:spPr>
          <a:xfrm>
            <a:off x="579600" y="292847"/>
            <a:ext cx="11037600" cy="331473"/>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6"/>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967" y="980440"/>
            <a:ext cx="5342467"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73" y="980440"/>
            <a:ext cx="5367867" cy="321564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914450"/>
            <a:ext cx="53424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910850"/>
            <a:ext cx="5367600" cy="5859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151553" y="6012180"/>
            <a:ext cx="100584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2353812"/>
      </p:ext>
    </p:extLst>
  </p:cSld>
  <p:clrMapOvr>
    <a:masterClrMapping/>
  </p:clrMapOvr>
  <p:hf hdr="0" ft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4"/>
          <p:cNvSpPr/>
          <p:nvPr userDrawn="1">
            <p:custDataLst>
              <p:tags r:id="rId1"/>
            </p:custDataLst>
          </p:nvPr>
        </p:nvSpPr>
        <p:spPr>
          <a:xfrm>
            <a:off x="0" y="1572518"/>
            <a:ext cx="12192000" cy="3712964"/>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350"/>
          </a:p>
        </p:txBody>
      </p:sp>
      <p:pic>
        <p:nvPicPr>
          <p:cNvPr id="9" name="图片 6"/>
          <p:cNvPicPr/>
          <p:nvPr userDrawn="1">
            <p:custDataLst>
              <p:tags r:id="rId2"/>
            </p:custDataLst>
          </p:nvPr>
        </p:nvPicPr>
        <p:blipFill>
          <a:blip r:embed="rId10" r:link="rId11" cstate="email"/>
          <a:stretch>
            <a:fillRect/>
          </a:stretch>
        </p:blipFill>
        <p:spPr>
          <a:xfrm>
            <a:off x="10571797" y="5763654"/>
            <a:ext cx="1620203" cy="1094347"/>
          </a:xfrm>
          <a:prstGeom prst="rect">
            <a:avLst/>
          </a:prstGeom>
        </p:spPr>
      </p:pic>
      <p:pic>
        <p:nvPicPr>
          <p:cNvPr id="8" name="图片 8"/>
          <p:cNvPicPr/>
          <p:nvPr userDrawn="1">
            <p:custDataLst>
              <p:tags r:id="rId3"/>
            </p:custDataLst>
          </p:nvPr>
        </p:nvPicPr>
        <p:blipFill>
          <a:blip r:embed="rId12" r:link="rId13" cstate="email"/>
          <a:stretch>
            <a:fillRect/>
          </a:stretch>
        </p:blipFill>
        <p:spPr>
          <a:xfrm>
            <a:off x="0" y="5442241"/>
            <a:ext cx="1620203" cy="1415761"/>
          </a:xfrm>
          <a:prstGeom prst="rect">
            <a:avLst/>
          </a:prstGeom>
        </p:spPr>
      </p:pic>
      <p:sp>
        <p:nvSpPr>
          <p:cNvPr id="2" name="标题 1"/>
          <p:cNvSpPr>
            <a:spLocks noGrp="1"/>
          </p:cNvSpPr>
          <p:nvPr>
            <p:ph type="title" hasCustomPrompt="1"/>
            <p:custDataLst>
              <p:tags r:id="rId4"/>
            </p:custDataLst>
          </p:nvPr>
        </p:nvSpPr>
        <p:spPr>
          <a:xfrm>
            <a:off x="1522800" y="1637550"/>
            <a:ext cx="9144000" cy="1790100"/>
          </a:xfrm>
        </p:spPr>
        <p:txBody>
          <a:bodyPr wrap="square" anchor="b">
            <a:normAutofit/>
          </a:bodyPr>
          <a:lstStyle>
            <a:lvl1pPr algn="ctr">
              <a:defRPr sz="45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879743"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custDataLst>
              <p:tags r:id="rId6"/>
            </p:custDataLst>
          </p:nvPr>
        </p:nvSpPr>
        <p:spPr>
          <a:xfrm>
            <a:off x="4116000" y="6389433"/>
            <a:ext cx="3960000" cy="237600"/>
          </a:xfrm>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89433"/>
            <a:ext cx="2700000" cy="237600"/>
          </a:xfrm>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4069800"/>
            <a:ext cx="9144000" cy="1242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pic>
        <p:nvPicPr>
          <p:cNvPr id="1033" name="图片 8"/>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151553" y="6012180"/>
            <a:ext cx="100584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3740436"/>
      </p:ext>
    </p:extLst>
  </p:cSld>
  <p:clrMapOvr>
    <a:masterClrMapping/>
  </p:clrMapOvr>
  <p:hf hdr="0" ft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64988863"/>
      </p:ext>
    </p:extLst>
  </p:cSld>
  <p:clrMapOvr>
    <a:masterClrMapping/>
  </p:clrMapOvr>
  <p:hf hdr="0" ft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9" name="矩形 8"/>
          <p:cNvSpPr/>
          <p:nvPr userDrawn="1"/>
        </p:nvSpPr>
        <p:spPr>
          <a:xfrm>
            <a:off x="0" y="5620988"/>
            <a:ext cx="12192000" cy="1171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 name="Date Placeholder 2"/>
          <p:cNvSpPr>
            <a:spLocks noGrp="1"/>
          </p:cNvSpPr>
          <p:nvPr>
            <p:ph type="dt" sz="half" idx="10"/>
          </p:nvPr>
        </p:nvSpPr>
        <p:spPr/>
        <p:txBody>
          <a:bodyPr/>
          <a:lstStyle>
            <a:lvl1pPr algn="ctr">
              <a:defRPr sz="2135">
                <a:solidFill>
                  <a:schemeClr val="accent1">
                    <a:lumMod val="50000"/>
                  </a:schemeClr>
                </a:solidFill>
                <a:latin typeface="+mn-lt"/>
              </a:defRPr>
            </a:lvl1pPr>
          </a:lstStyle>
          <a:p>
            <a:fld id="{2FF0ACE2-4501-45AB-B004-C7F07999D2EC}" type="datetime1">
              <a:rPr lang="zh-CN" altLang="en-US" smtClean="0"/>
              <a:t>2024/3/27</a:t>
            </a:fld>
            <a:endParaRPr lang="zh-CN" altLang="en-US" dirty="0"/>
          </a:p>
        </p:txBody>
      </p:sp>
      <p:sp>
        <p:nvSpPr>
          <p:cNvPr id="4" name="Footer Placeholder 3"/>
          <p:cNvSpPr>
            <a:spLocks noGrp="1"/>
          </p:cNvSpPr>
          <p:nvPr>
            <p:ph type="ftr" sz="quarter" idx="11"/>
          </p:nvPr>
        </p:nvSpPr>
        <p:spPr>
          <a:xfrm>
            <a:off x="3178271" y="6470704"/>
            <a:ext cx="7566120" cy="274320"/>
          </a:xfrm>
        </p:spPr>
        <p:txBody>
          <a:bodyPr/>
          <a:lstStyle>
            <a:lvl1pPr algn="ctr">
              <a:defRPr sz="2135">
                <a:solidFill>
                  <a:schemeClr val="accent1">
                    <a:lumMod val="50000"/>
                  </a:schemeClr>
                </a:solidFill>
                <a:latin typeface="+mn-lt"/>
              </a:defRPr>
            </a:lvl1pPr>
          </a:lstStyle>
          <a:p>
            <a:r>
              <a:rPr lang="zh-CN" altLang="en-US" dirty="0"/>
              <a:t>软件质量与测试</a:t>
            </a:r>
          </a:p>
        </p:txBody>
      </p:sp>
      <p:sp>
        <p:nvSpPr>
          <p:cNvPr id="5" name="Slide Number Placeholder 4"/>
          <p:cNvSpPr>
            <a:spLocks noGrp="1"/>
          </p:cNvSpPr>
          <p:nvPr>
            <p:ph type="sldNum" sz="quarter" idx="12"/>
          </p:nvPr>
        </p:nvSpPr>
        <p:spPr/>
        <p:txBody>
          <a:bodyPr/>
          <a:lstStyle>
            <a:lvl1pPr algn="ctr">
              <a:defRPr sz="2135">
                <a:solidFill>
                  <a:schemeClr val="accent1">
                    <a:lumMod val="50000"/>
                  </a:schemeClr>
                </a:solidFill>
                <a:latin typeface="+mn-lt"/>
              </a:defRPr>
            </a:lvl1pPr>
          </a:lstStyle>
          <a:p>
            <a:fld id="{F528F39D-B5E5-4CA7-906C-979D5A62978D}" type="slidenum">
              <a:rPr lang="zh-CN" altLang="en-US" smtClean="0"/>
              <a:t>‹#›</a:t>
            </a:fld>
            <a:endParaRPr lang="zh-CN" altLang="en-US"/>
          </a:p>
        </p:txBody>
      </p:sp>
      <p:sp>
        <p:nvSpPr>
          <p:cNvPr id="6" name="矩形 5"/>
          <p:cNvSpPr/>
          <p:nvPr userDrawn="1"/>
        </p:nvSpPr>
        <p:spPr>
          <a:xfrm>
            <a:off x="0" y="15834"/>
            <a:ext cx="12192000" cy="18525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cxnSp>
        <p:nvCxnSpPr>
          <p:cNvPr id="8" name="Straight Connector 6"/>
          <p:cNvCxnSpPr/>
          <p:nvPr userDrawn="1"/>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46116"/>
      </p:ext>
    </p:extLst>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hf hdr="0" ftr="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2" name="组合 1"/>
          <p:cNvGrpSpPr/>
          <p:nvPr userDrawn="1"/>
        </p:nvGrpSpPr>
        <p:grpSpPr>
          <a:xfrm>
            <a:off x="8429626" y="247651"/>
            <a:ext cx="3457575" cy="809625"/>
            <a:chOff x="8429625" y="247650"/>
            <a:chExt cx="3457575" cy="809625"/>
          </a:xfrm>
        </p:grpSpPr>
        <p:sp>
          <p:nvSpPr>
            <p:cNvPr id="3" name="矩形 2"/>
            <p:cNvSpPr/>
            <p:nvPr userDrawn="1"/>
          </p:nvSpPr>
          <p:spPr>
            <a:xfrm>
              <a:off x="8429625" y="247650"/>
              <a:ext cx="3457575" cy="809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48674" y="477694"/>
              <a:ext cx="3091500" cy="482544"/>
            </a:xfrm>
            <a:prstGeom prst="rect">
              <a:avLst/>
            </a:prstGeom>
          </p:spPr>
        </p:pic>
      </p:grpSp>
      <p:pic>
        <p:nvPicPr>
          <p:cNvPr id="5" name="图片 4"/>
          <p:cNvPicPr>
            <a:picLocks noChangeAspect="1"/>
          </p:cNvPicPr>
          <p:nvPr userDrawn="1"/>
        </p:nvPicPr>
        <p:blipFill>
          <a:blip r:embed="rId3"/>
          <a:stretch>
            <a:fillRect/>
          </a:stretch>
        </p:blipFill>
        <p:spPr>
          <a:xfrm>
            <a:off x="138143" y="6517810"/>
            <a:ext cx="2423371" cy="266723"/>
          </a:xfrm>
          <a:prstGeom prst="rect">
            <a:avLst/>
          </a:prstGeom>
        </p:spPr>
      </p:pic>
      <p:sp>
        <p:nvSpPr>
          <p:cNvPr id="6" name="TextBox 4"/>
          <p:cNvSpPr txBox="1"/>
          <p:nvPr userDrawn="1"/>
        </p:nvSpPr>
        <p:spPr>
          <a:xfrm>
            <a:off x="409575" y="6526138"/>
            <a:ext cx="1515019" cy="229870"/>
          </a:xfrm>
          <a:prstGeom prst="rect">
            <a:avLst/>
          </a:prstGeom>
          <a:noFill/>
        </p:spPr>
        <p:txBody>
          <a:bodyPr wrap="square" rtlCol="0">
            <a:spAutoFit/>
          </a:bodyPr>
          <a:lstStyle/>
          <a:p>
            <a:r>
              <a:rPr lang="en-US" altLang="zh-CN" sz="900" b="1" dirty="0" err="1">
                <a:solidFill>
                  <a:schemeClr val="bg1"/>
                </a:solidFill>
                <a:latin typeface="微软雅黑" panose="020B0503020204020204" charset="-122"/>
                <a:ea typeface="微软雅黑" panose="020B0503020204020204" charset="-122"/>
              </a:rPr>
              <a:t>yx.ityxb.com</a:t>
            </a:r>
            <a:endParaRPr lang="zh-CN" altLang="en-US" sz="900" b="1" dirty="0">
              <a:solidFill>
                <a:schemeClr val="bg1"/>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89265780"/>
      </p:ext>
    </p:extLst>
  </p:cSld>
  <p:clrMapOvr>
    <a:masterClrMapping/>
  </p:clrMapOvr>
  <p:hf hdr="0" ftr="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slideLayout" Target="../slideLayouts/slideLayout32.xml"/><Relationship Id="rId26" Type="http://schemas.openxmlformats.org/officeDocument/2006/relationships/tags" Target="../tags/tag10.xml"/><Relationship Id="rId3" Type="http://schemas.openxmlformats.org/officeDocument/2006/relationships/slideLayout" Target="../slideLayouts/slideLayout17.xml"/><Relationship Id="rId21" Type="http://schemas.openxmlformats.org/officeDocument/2006/relationships/slideLayout" Target="../slideLayouts/slideLayout35.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9.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slideLayout" Target="../slideLayouts/slideLayout34.xml"/><Relationship Id="rId29"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8.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7.xml"/><Relationship Id="rId28" Type="http://schemas.openxmlformats.org/officeDocument/2006/relationships/tags" Target="../tags/tag12.xml"/><Relationship Id="rId10" Type="http://schemas.openxmlformats.org/officeDocument/2006/relationships/slideLayout" Target="../slideLayouts/slideLayout24.xml"/><Relationship Id="rId19" Type="http://schemas.openxmlformats.org/officeDocument/2006/relationships/slideLayout" Target="../slideLayouts/slideLayout33.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heme" Target="../theme/theme2.xml"/><Relationship Id="rId27" Type="http://schemas.openxmlformats.org/officeDocument/2006/relationships/tags" Target="../tags/tag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5E930CD-FC9C-7306-1C83-A5EBD8C9EB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28F23B3-F7C0-6D38-B136-B3DE4610A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F81591-B2B7-49AD-7B61-9C59901D5F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8772D-D9F4-40C6-8679-3FBD4F4A6D13}" type="datetimeFigureOut">
              <a:rPr lang="zh-CN" altLang="en-US" smtClean="0"/>
              <a:t>2024/3/27</a:t>
            </a:fld>
            <a:endParaRPr lang="zh-CN" altLang="en-US"/>
          </a:p>
        </p:txBody>
      </p:sp>
      <p:sp>
        <p:nvSpPr>
          <p:cNvPr id="5" name="页脚占位符 4">
            <a:extLst>
              <a:ext uri="{FF2B5EF4-FFF2-40B4-BE49-F238E27FC236}">
                <a16:creationId xmlns:a16="http://schemas.microsoft.com/office/drawing/2014/main" id="{18747D8E-064F-04A5-B9FF-C21F547528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9CC4D68E-7F7E-93AF-855D-C7904670EC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0097A5-9F19-4C63-AEA3-A9AF341E8A30}" type="slidenum">
              <a:rPr lang="zh-CN" altLang="en-US" smtClean="0"/>
              <a:t>‹#›</a:t>
            </a:fld>
            <a:endParaRPr lang="zh-CN" altLang="en-US"/>
          </a:p>
        </p:txBody>
      </p:sp>
    </p:spTree>
    <p:extLst>
      <p:ext uri="{BB962C8B-B14F-4D97-AF65-F5344CB8AC3E}">
        <p14:creationId xmlns:p14="http://schemas.microsoft.com/office/powerpoint/2010/main" val="3898663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3"/>
            </p:custDataLst>
          </p:nvPr>
        </p:nvSpPr>
        <p:spPr>
          <a:xfrm>
            <a:off x="669714" y="427990"/>
            <a:ext cx="10852573" cy="660400"/>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4"/>
            </p:custDataLst>
          </p:nvPr>
        </p:nvSpPr>
        <p:spPr>
          <a:xfrm>
            <a:off x="669714" y="1239521"/>
            <a:ext cx="10852573" cy="4380865"/>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5"/>
            </p:custDataLst>
          </p:nvPr>
        </p:nvSpPr>
        <p:spPr>
          <a:xfrm>
            <a:off x="904296" y="6270500"/>
            <a:ext cx="2700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1">
              <a:rPr lang="zh-CN" altLang="en-US" smtClean="0"/>
              <a:t>2024/3/27</a:t>
            </a:fld>
            <a:endParaRPr lang="zh-CN" altLang="en-US"/>
          </a:p>
        </p:txBody>
      </p:sp>
      <p:sp>
        <p:nvSpPr>
          <p:cNvPr id="5" name="页脚占位符 4"/>
          <p:cNvSpPr>
            <a:spLocks noGrp="1"/>
          </p:cNvSpPr>
          <p:nvPr>
            <p:ph type="ftr" sz="quarter" idx="3"/>
            <p:custDataLst>
              <p:tags r:id="rId26"/>
            </p:custDataLst>
          </p:nvPr>
        </p:nvSpPr>
        <p:spPr>
          <a:xfrm>
            <a:off x="4140553" y="6270500"/>
            <a:ext cx="3960000" cy="237600"/>
          </a:xfrm>
          <a:prstGeom prst="rect">
            <a:avLst/>
          </a:prstGeom>
        </p:spPr>
        <p:txBody>
          <a:bodyPr vert="horz" wrap="square" lIns="91440" tIns="45720" rIns="91440" bIns="45720" rtlCol="0" anchor="ctr">
            <a:normAutofit/>
          </a:bodyPr>
          <a:lstStyle>
            <a:lvl1pPr algn="ctr">
              <a:defRPr sz="9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7"/>
            </p:custDataLst>
          </p:nvPr>
        </p:nvSpPr>
        <p:spPr>
          <a:xfrm>
            <a:off x="8635153" y="6270500"/>
            <a:ext cx="2700000" cy="237600"/>
          </a:xfrm>
          <a:prstGeom prst="rect">
            <a:avLst/>
          </a:prstGeom>
        </p:spPr>
        <p:txBody>
          <a:bodyPr vert="horz" wrap="square" lIns="91440" tIns="45720" rIns="91440" bIns="45720" rtlCol="0" anchor="ctr">
            <a:normAutofit/>
          </a:bodyPr>
          <a:lstStyle>
            <a:lvl1pPr algn="r">
              <a:defRPr sz="9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8"/>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lt1"/>
              </a:solidFill>
            </a:endParaRPr>
          </a:p>
        </p:txBody>
      </p:sp>
      <p:pic>
        <p:nvPicPr>
          <p:cNvPr id="1033" name="图片 8"/>
          <p:cNvPicPr>
            <a:picLocks noChangeAspect="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151553" y="6012180"/>
            <a:ext cx="1005840" cy="75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811978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Lst>
  <p:hf hdr="0" ftr="0"/>
  <p:txStyles>
    <p:titleStyle>
      <a:lvl1pPr algn="l" defTabSz="685800" rtl="0" eaLnBrk="1" fontAlgn="auto" latinLnBrk="0" hangingPunct="1">
        <a:lnSpc>
          <a:spcPct val="100000"/>
        </a:lnSpc>
        <a:spcBef>
          <a:spcPct val="0"/>
        </a:spcBef>
        <a:buNone/>
        <a:defRPr sz="32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28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20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4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3.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50.xml"/><Relationship Id="rId7" Type="http://schemas.openxmlformats.org/officeDocument/2006/relationships/image" Target="../media/image1.png"/><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slideLayout" Target="../slideLayouts/slideLayout7.xml"/><Relationship Id="rId5" Type="http://schemas.openxmlformats.org/officeDocument/2006/relationships/tags" Target="../tags/tag152.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51.xml"/><Relationship Id="rId9"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55.xml"/><Relationship Id="rId7" Type="http://schemas.openxmlformats.org/officeDocument/2006/relationships/image" Target="../media/image1.png"/><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slideLayout" Target="../slideLayouts/slideLayout7.xml"/><Relationship Id="rId5" Type="http://schemas.openxmlformats.org/officeDocument/2006/relationships/tags" Target="../tags/tag157.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56.xml"/><Relationship Id="rId9"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60.xml"/><Relationship Id="rId7" Type="http://schemas.openxmlformats.org/officeDocument/2006/relationships/image" Target="../media/image1.png"/><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slideLayout" Target="../slideLayouts/slideLayout7.xml"/><Relationship Id="rId5" Type="http://schemas.openxmlformats.org/officeDocument/2006/relationships/tags" Target="../tags/tag162.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61.xml"/><Relationship Id="rId9" Type="http://schemas.openxmlformats.org/officeDocument/2006/relationships/image" Target="../media/image2.png"/></Relationships>
</file>

<file path=ppt/slides/_rels/slide6.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65.xml"/><Relationship Id="rId7" Type="http://schemas.openxmlformats.org/officeDocument/2006/relationships/image" Target="../media/image1.png"/><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slideLayout" Target="../slideLayouts/slideLayout7.xml"/><Relationship Id="rId11" Type="http://schemas.openxmlformats.org/officeDocument/2006/relationships/image" Target="../media/image13.emf"/><Relationship Id="rId5" Type="http://schemas.openxmlformats.org/officeDocument/2006/relationships/tags" Target="../tags/tag167.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66.xml"/><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70.xml"/><Relationship Id="rId7" Type="http://schemas.openxmlformats.org/officeDocument/2006/relationships/image" Target="../media/image1.png"/><Relationship Id="rId2" Type="http://schemas.openxmlformats.org/officeDocument/2006/relationships/tags" Target="../tags/tag169.xml"/><Relationship Id="rId1" Type="http://schemas.openxmlformats.org/officeDocument/2006/relationships/tags" Target="../tags/tag168.xml"/><Relationship Id="rId6" Type="http://schemas.openxmlformats.org/officeDocument/2006/relationships/slideLayout" Target="../slideLayouts/slideLayout7.xml"/><Relationship Id="rId11" Type="http://schemas.openxmlformats.org/officeDocument/2006/relationships/image" Target="../media/image14.emf"/><Relationship Id="rId5" Type="http://schemas.openxmlformats.org/officeDocument/2006/relationships/tags" Target="../tags/tag172.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71.xml"/><Relationship Id="rId9"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75.xml"/><Relationship Id="rId7" Type="http://schemas.openxmlformats.org/officeDocument/2006/relationships/image" Target="../media/image1.png"/><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slideLayout" Target="../slideLayouts/slideLayout7.xml"/><Relationship Id="rId11" Type="http://schemas.openxmlformats.org/officeDocument/2006/relationships/image" Target="../media/image14.emf"/><Relationship Id="rId5" Type="http://schemas.openxmlformats.org/officeDocument/2006/relationships/tags" Target="../tags/tag177.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76.xml"/><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12.xml"/><Relationship Id="rId1" Type="http://schemas.openxmlformats.org/officeDocument/2006/relationships/tags" Target="../tags/tag17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81.xml"/><Relationship Id="rId7" Type="http://schemas.openxmlformats.org/officeDocument/2006/relationships/image" Target="../media/image1.png"/><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slideLayout" Target="../slideLayouts/slideLayout7.xml"/><Relationship Id="rId5" Type="http://schemas.openxmlformats.org/officeDocument/2006/relationships/tags" Target="../tags/tag183.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82.xml"/><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86.xml"/><Relationship Id="rId7" Type="http://schemas.openxmlformats.org/officeDocument/2006/relationships/image" Target="../media/image1.png"/><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slideLayout" Target="../slideLayouts/slideLayout7.xml"/><Relationship Id="rId5" Type="http://schemas.openxmlformats.org/officeDocument/2006/relationships/tags" Target="../tags/tag188.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87.xml"/><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91.xml"/><Relationship Id="rId7" Type="http://schemas.openxmlformats.org/officeDocument/2006/relationships/image" Target="../media/image1.png"/><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slideLayout" Target="../slideLayouts/slideLayout7.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193.xml"/><Relationship Id="rId10" Type="http://schemas.openxmlformats.org/officeDocument/2006/relationships/image" Target="../media/image2.png"/><Relationship Id="rId4" Type="http://schemas.openxmlformats.org/officeDocument/2006/relationships/tags" Target="../tags/tag192.xml"/><Relationship Id="rId9" Type="http://schemas.openxmlformats.org/officeDocument/2006/relationships/image" Target="../media/image19.emf"/></Relationships>
</file>

<file path=ppt/slides/_rels/slide14.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196.xml"/><Relationship Id="rId7" Type="http://schemas.openxmlformats.org/officeDocument/2006/relationships/image" Target="../media/image1.png"/><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slideLayout" Target="../slideLayouts/slideLayout7.xml"/><Relationship Id="rId5" Type="http://schemas.openxmlformats.org/officeDocument/2006/relationships/tags" Target="../tags/tag198.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197.xml"/><Relationship Id="rId9"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201.xml"/><Relationship Id="rId7" Type="http://schemas.openxmlformats.org/officeDocument/2006/relationships/image" Target="../media/image1.png"/><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slideLayout" Target="../slideLayouts/slideLayout7.xml"/><Relationship Id="rId5" Type="http://schemas.openxmlformats.org/officeDocument/2006/relationships/tags" Target="../tags/tag203.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202.xml"/><Relationship Id="rId9"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206.xml"/><Relationship Id="rId7" Type="http://schemas.openxmlformats.org/officeDocument/2006/relationships/image" Target="../media/image1.png"/><Relationship Id="rId2" Type="http://schemas.openxmlformats.org/officeDocument/2006/relationships/tags" Target="../tags/tag205.xml"/><Relationship Id="rId1" Type="http://schemas.openxmlformats.org/officeDocument/2006/relationships/tags" Target="../tags/tag204.xml"/><Relationship Id="rId6" Type="http://schemas.openxmlformats.org/officeDocument/2006/relationships/notesSlide" Target="../notesSlides/notesSlide1.xml"/><Relationship Id="rId5" Type="http://schemas.openxmlformats.org/officeDocument/2006/relationships/slideLayout" Target="../slideLayouts/slideLayout7.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207.xm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tags" Target="../tags/tag215.xml"/><Relationship Id="rId13" Type="http://schemas.openxmlformats.org/officeDocument/2006/relationships/tags" Target="../tags/tag220.xml"/><Relationship Id="rId18" Type="http://schemas.openxmlformats.org/officeDocument/2006/relationships/tags" Target="../tags/tag225.xml"/><Relationship Id="rId26" Type="http://schemas.openxmlformats.org/officeDocument/2006/relationships/image" Target="../media/image1.png"/><Relationship Id="rId3" Type="http://schemas.openxmlformats.org/officeDocument/2006/relationships/tags" Target="../tags/tag210.xml"/><Relationship Id="rId21" Type="http://schemas.openxmlformats.org/officeDocument/2006/relationships/tags" Target="../tags/tag228.xml"/><Relationship Id="rId7" Type="http://schemas.openxmlformats.org/officeDocument/2006/relationships/tags" Target="../tags/tag214.xml"/><Relationship Id="rId12" Type="http://schemas.openxmlformats.org/officeDocument/2006/relationships/tags" Target="../tags/tag219.xml"/><Relationship Id="rId17" Type="http://schemas.openxmlformats.org/officeDocument/2006/relationships/tags" Target="../tags/tag224.xml"/><Relationship Id="rId25" Type="http://schemas.openxmlformats.org/officeDocument/2006/relationships/notesSlide" Target="../notesSlides/notesSlide2.xml"/><Relationship Id="rId2" Type="http://schemas.openxmlformats.org/officeDocument/2006/relationships/tags" Target="../tags/tag209.xml"/><Relationship Id="rId16" Type="http://schemas.openxmlformats.org/officeDocument/2006/relationships/tags" Target="../tags/tag223.xml"/><Relationship Id="rId20" Type="http://schemas.openxmlformats.org/officeDocument/2006/relationships/tags" Target="../tags/tag227.xml"/><Relationship Id="rId29" Type="http://schemas.openxmlformats.org/officeDocument/2006/relationships/image" Target="file:///C:\Users\1V994W2\PycharmProjects\PPT_Background_Generation/pic_temp/1_pic_quater_left_down.png" TargetMode="External"/><Relationship Id="rId1" Type="http://schemas.openxmlformats.org/officeDocument/2006/relationships/tags" Target="../tags/tag208.xml"/><Relationship Id="rId6" Type="http://schemas.openxmlformats.org/officeDocument/2006/relationships/tags" Target="../tags/tag213.xml"/><Relationship Id="rId11" Type="http://schemas.openxmlformats.org/officeDocument/2006/relationships/tags" Target="../tags/tag218.xml"/><Relationship Id="rId24" Type="http://schemas.openxmlformats.org/officeDocument/2006/relationships/slideLayout" Target="../slideLayouts/slideLayout7.xml"/><Relationship Id="rId5" Type="http://schemas.openxmlformats.org/officeDocument/2006/relationships/tags" Target="../tags/tag212.xml"/><Relationship Id="rId15" Type="http://schemas.openxmlformats.org/officeDocument/2006/relationships/tags" Target="../tags/tag222.xml"/><Relationship Id="rId23" Type="http://schemas.openxmlformats.org/officeDocument/2006/relationships/tags" Target="../tags/tag230.xml"/><Relationship Id="rId28" Type="http://schemas.openxmlformats.org/officeDocument/2006/relationships/image" Target="../media/image2.png"/><Relationship Id="rId10" Type="http://schemas.openxmlformats.org/officeDocument/2006/relationships/tags" Target="../tags/tag217.xml"/><Relationship Id="rId19" Type="http://schemas.openxmlformats.org/officeDocument/2006/relationships/tags" Target="../tags/tag226.xml"/><Relationship Id="rId4" Type="http://schemas.openxmlformats.org/officeDocument/2006/relationships/tags" Target="../tags/tag211.xml"/><Relationship Id="rId9" Type="http://schemas.openxmlformats.org/officeDocument/2006/relationships/tags" Target="../tags/tag216.xml"/><Relationship Id="rId14" Type="http://schemas.openxmlformats.org/officeDocument/2006/relationships/tags" Target="../tags/tag221.xml"/><Relationship Id="rId22" Type="http://schemas.openxmlformats.org/officeDocument/2006/relationships/tags" Target="../tags/tag229.xml"/><Relationship Id="rId27" Type="http://schemas.openxmlformats.org/officeDocument/2006/relationships/image" Target="file:///C:\Users\1V994W2\PycharmProjects\PPT_Background_Generation/pic_temp/0_pic_quater_right_down.png"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233.xml"/><Relationship Id="rId7" Type="http://schemas.openxmlformats.org/officeDocument/2006/relationships/notesSlide" Target="../notesSlides/notesSlide3.xml"/><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slideLayout" Target="../slideLayouts/slideLayout7.xml"/><Relationship Id="rId11" Type="http://schemas.openxmlformats.org/officeDocument/2006/relationships/image" Target="file:///C:\Users\1V994W2\PycharmProjects\PPT_Background_Generation/pic_temp/1_pic_quater_left_down.png" TargetMode="External"/><Relationship Id="rId5" Type="http://schemas.openxmlformats.org/officeDocument/2006/relationships/tags" Target="../tags/tag235.xml"/><Relationship Id="rId10" Type="http://schemas.openxmlformats.org/officeDocument/2006/relationships/image" Target="../media/image2.png"/><Relationship Id="rId4" Type="http://schemas.openxmlformats.org/officeDocument/2006/relationships/tags" Target="../tags/tag234.xml"/><Relationship Id="rId9" Type="http://schemas.openxmlformats.org/officeDocument/2006/relationships/image" Target="file:///C:\Users\1V994W2\PycharmProjects\PPT_Background_Generation/pic_temp/0_pic_quater_right_down.png"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file:///C:\Users\1V994W2\PycharmProjects\PPT_Background_Generation/pic_temp/0_pic_quater_right_down.png" TargetMode="External"/><Relationship Id="rId3" Type="http://schemas.openxmlformats.org/officeDocument/2006/relationships/tags" Target="../tags/tag238.xml"/><Relationship Id="rId7" Type="http://schemas.openxmlformats.org/officeDocument/2006/relationships/image" Target="../media/image1.png"/><Relationship Id="rId2" Type="http://schemas.openxmlformats.org/officeDocument/2006/relationships/tags" Target="../tags/tag237.xml"/><Relationship Id="rId1" Type="http://schemas.openxmlformats.org/officeDocument/2006/relationships/tags" Target="../tags/tag236.xml"/><Relationship Id="rId6" Type="http://schemas.openxmlformats.org/officeDocument/2006/relationships/slideLayout" Target="../slideLayouts/slideLayout7.xml"/><Relationship Id="rId5" Type="http://schemas.openxmlformats.org/officeDocument/2006/relationships/tags" Target="../tags/tag240.xml"/><Relationship Id="rId10" Type="http://schemas.openxmlformats.org/officeDocument/2006/relationships/image" Target="file:///C:\Users\1V994W2\PycharmProjects\PPT_Background_Generation/pic_temp/1_pic_quater_left_down.png" TargetMode="External"/><Relationship Id="rId4" Type="http://schemas.openxmlformats.org/officeDocument/2006/relationships/tags" Target="../tags/tag239.xml"/><Relationship Id="rId9"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www.pairwise.org/tools.asp"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hyperlink" Target="https://www.york.ac.uk/depts/maths/tables/orthogonal.htm" TargetMode="External"/></Relationships>
</file>

<file path=ppt/slides/_rels/slide28.xml.rels><?xml version="1.0" encoding="UTF-8" standalone="yes"?>
<Relationships xmlns="http://schemas.openxmlformats.org/package/2006/relationships"><Relationship Id="rId3" Type="http://schemas.openxmlformats.org/officeDocument/2006/relationships/tags" Target="../tags/tag243.xml"/><Relationship Id="rId2" Type="http://schemas.openxmlformats.org/officeDocument/2006/relationships/tags" Target="../tags/tag242.xml"/><Relationship Id="rId1" Type="http://schemas.openxmlformats.org/officeDocument/2006/relationships/tags" Target="../tags/tag241.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246.xml"/><Relationship Id="rId7" Type="http://schemas.openxmlformats.org/officeDocument/2006/relationships/notesSlide" Target="../notesSlides/notesSlide8.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slideLayout" Target="../slideLayouts/slideLayout2.xml"/><Relationship Id="rId5" Type="http://schemas.openxmlformats.org/officeDocument/2006/relationships/tags" Target="../tags/tag248.xml"/><Relationship Id="rId4" Type="http://schemas.openxmlformats.org/officeDocument/2006/relationships/tags" Target="../tags/tag247.xml"/></Relationships>
</file>

<file path=ppt/slides/_rels/slide30.xml.rels><?xml version="1.0" encoding="UTF-8" standalone="yes"?>
<Relationships xmlns="http://schemas.openxmlformats.org/package/2006/relationships"><Relationship Id="rId3" Type="http://schemas.openxmlformats.org/officeDocument/2006/relationships/tags" Target="../tags/tag251.xml"/><Relationship Id="rId2" Type="http://schemas.openxmlformats.org/officeDocument/2006/relationships/tags" Target="../tags/tag250.xml"/><Relationship Id="rId1" Type="http://schemas.openxmlformats.org/officeDocument/2006/relationships/tags" Target="../tags/tag249.xml"/><Relationship Id="rId6" Type="http://schemas.openxmlformats.org/officeDocument/2006/relationships/image" Target="../media/image25.png"/><Relationship Id="rId5" Type="http://schemas.openxmlformats.org/officeDocument/2006/relationships/slideLayout" Target="../slideLayouts/slideLayout2.xml"/><Relationship Id="rId4" Type="http://schemas.openxmlformats.org/officeDocument/2006/relationships/tags" Target="../tags/tag252.xml"/></Relationships>
</file>

<file path=ppt/slides/_rels/slide31.xml.rels><?xml version="1.0" encoding="UTF-8" standalone="yes"?>
<Relationships xmlns="http://schemas.openxmlformats.org/package/2006/relationships"><Relationship Id="rId3" Type="http://schemas.openxmlformats.org/officeDocument/2006/relationships/tags" Target="../tags/tag255.xml"/><Relationship Id="rId7" Type="http://schemas.openxmlformats.org/officeDocument/2006/relationships/notesSlide" Target="../notesSlides/notesSlide9.xml"/><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slideLayout" Target="../slideLayouts/slideLayout2.xml"/><Relationship Id="rId5" Type="http://schemas.openxmlformats.org/officeDocument/2006/relationships/tags" Target="../tags/tag257.xml"/><Relationship Id="rId4" Type="http://schemas.openxmlformats.org/officeDocument/2006/relationships/tags" Target="../tags/tag256.xml"/></Relationships>
</file>

<file path=ppt/slides/_rels/slide32.xml.rels><?xml version="1.0" encoding="UTF-8" standalone="yes"?>
<Relationships xmlns="http://schemas.openxmlformats.org/package/2006/relationships"><Relationship Id="rId3" Type="http://schemas.openxmlformats.org/officeDocument/2006/relationships/tags" Target="../tags/tag260.xml"/><Relationship Id="rId2" Type="http://schemas.openxmlformats.org/officeDocument/2006/relationships/tags" Target="../tags/tag259.xml"/><Relationship Id="rId1" Type="http://schemas.openxmlformats.org/officeDocument/2006/relationships/tags" Target="../tags/tag258.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263.xml"/><Relationship Id="rId2" Type="http://schemas.openxmlformats.org/officeDocument/2006/relationships/tags" Target="../tags/tag262.xml"/><Relationship Id="rId1" Type="http://schemas.openxmlformats.org/officeDocument/2006/relationships/tags" Target="../tags/tag261.xml"/><Relationship Id="rId6" Type="http://schemas.openxmlformats.org/officeDocument/2006/relationships/image" Target="../media/image26.wmf"/><Relationship Id="rId5" Type="http://schemas.openxmlformats.org/officeDocument/2006/relationships/oleObject" Target="../embeddings/oleObject1.bin"/><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269.xml"/><Relationship Id="rId7" Type="http://schemas.openxmlformats.org/officeDocument/2006/relationships/image" Target="../media/image30.emf"/><Relationship Id="rId2" Type="http://schemas.openxmlformats.org/officeDocument/2006/relationships/tags" Target="../tags/tag268.xml"/><Relationship Id="rId1" Type="http://schemas.openxmlformats.org/officeDocument/2006/relationships/tags" Target="../tags/tag267.xml"/><Relationship Id="rId6" Type="http://schemas.openxmlformats.org/officeDocument/2006/relationships/image" Target="../media/image29.emf"/><Relationship Id="rId5" Type="http://schemas.openxmlformats.org/officeDocument/2006/relationships/oleObject" Target="../embeddings/oleObject2.bin"/><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 Id="rId5" Type="http://schemas.openxmlformats.org/officeDocument/2006/relationships/slideLayout" Target="../slideLayouts/slideLayout2.xml"/><Relationship Id="rId4" Type="http://schemas.openxmlformats.org/officeDocument/2006/relationships/tags" Target="../tags/tag273.xml"/></Relationships>
</file>

<file path=ppt/slides/_rels/slide37.xml.rels><?xml version="1.0" encoding="UTF-8" standalone="yes"?>
<Relationships xmlns="http://schemas.openxmlformats.org/package/2006/relationships"><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 Id="rId4"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tags" Target="../tags/tag279.xml"/><Relationship Id="rId2" Type="http://schemas.openxmlformats.org/officeDocument/2006/relationships/tags" Target="../tags/tag278.xml"/><Relationship Id="rId1" Type="http://schemas.openxmlformats.org/officeDocument/2006/relationships/tags" Target="../tags/tag277.xml"/><Relationship Id="rId5" Type="http://schemas.openxmlformats.org/officeDocument/2006/relationships/image" Target="../media/image31.png"/><Relationship Id="rId4"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80.xml"/></Relationships>
</file>

<file path=ppt/slides/_rels/slide41.xml.rels><?xml version="1.0" encoding="UTF-8" standalone="yes"?>
<Relationships xmlns="http://schemas.openxmlformats.org/package/2006/relationships"><Relationship Id="rId3" Type="http://schemas.openxmlformats.org/officeDocument/2006/relationships/tags" Target="../tags/tag283.xml"/><Relationship Id="rId2" Type="http://schemas.openxmlformats.org/officeDocument/2006/relationships/tags" Target="../tags/tag282.xml"/><Relationship Id="rId1" Type="http://schemas.openxmlformats.org/officeDocument/2006/relationships/tags" Target="../tags/tag281.xml"/><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tags" Target="../tags/tag286.xml"/><Relationship Id="rId7" Type="http://schemas.openxmlformats.org/officeDocument/2006/relationships/oleObject" Target="../embeddings/oleObject3.bin"/><Relationship Id="rId2" Type="http://schemas.openxmlformats.org/officeDocument/2006/relationships/tags" Target="../tags/tag285.xml"/><Relationship Id="rId1" Type="http://schemas.openxmlformats.org/officeDocument/2006/relationships/tags" Target="../tags/tag284.xml"/><Relationship Id="rId6" Type="http://schemas.openxmlformats.org/officeDocument/2006/relationships/slideLayout" Target="../slideLayouts/slideLayout2.xml"/><Relationship Id="rId5" Type="http://schemas.openxmlformats.org/officeDocument/2006/relationships/tags" Target="../tags/tag288.xml"/><Relationship Id="rId4" Type="http://schemas.openxmlformats.org/officeDocument/2006/relationships/tags" Target="../tags/tag287.xml"/></Relationships>
</file>

<file path=ppt/slides/_rels/slide43.xml.rels><?xml version="1.0" encoding="UTF-8" standalone="yes"?>
<Relationships xmlns="http://schemas.openxmlformats.org/package/2006/relationships"><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tags" Target="../tags/tag289.xml"/><Relationship Id="rId5" Type="http://schemas.openxmlformats.org/officeDocument/2006/relationships/slideLayout" Target="../slideLayouts/slideLayout2.xml"/><Relationship Id="rId4" Type="http://schemas.openxmlformats.org/officeDocument/2006/relationships/tags" Target="../tags/tag292.xml"/></Relationships>
</file>

<file path=ppt/slides/_rels/slide44.xml.rels><?xml version="1.0" encoding="UTF-8" standalone="yes"?>
<Relationships xmlns="http://schemas.openxmlformats.org/package/2006/relationships"><Relationship Id="rId3" Type="http://schemas.openxmlformats.org/officeDocument/2006/relationships/tags" Target="../tags/tag295.xml"/><Relationship Id="rId2" Type="http://schemas.openxmlformats.org/officeDocument/2006/relationships/tags" Target="../tags/tag294.xml"/><Relationship Id="rId1" Type="http://schemas.openxmlformats.org/officeDocument/2006/relationships/tags" Target="../tags/tag293.xml"/><Relationship Id="rId5" Type="http://schemas.openxmlformats.org/officeDocument/2006/relationships/slideLayout" Target="../slideLayouts/slideLayout2.xml"/><Relationship Id="rId4" Type="http://schemas.openxmlformats.org/officeDocument/2006/relationships/tags" Target="../tags/tag296.xml"/></Relationships>
</file>

<file path=ppt/slides/_rels/slide45.xml.rels><?xml version="1.0" encoding="UTF-8" standalone="yes"?>
<Relationships xmlns="http://schemas.openxmlformats.org/package/2006/relationships"><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 Id="rId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 Id="rId5" Type="http://schemas.openxmlformats.org/officeDocument/2006/relationships/slideLayout" Target="../slideLayouts/slideLayout2.xml"/><Relationship Id="rId4" Type="http://schemas.openxmlformats.org/officeDocument/2006/relationships/tags" Target="../tags/tag303.xml"/></Relationships>
</file>

<file path=ppt/slides/_rels/slide47.xml.rels><?xml version="1.0" encoding="UTF-8" standalone="yes"?>
<Relationships xmlns="http://schemas.openxmlformats.org/package/2006/relationships"><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tags" Target="../tags/tag304.xml"/><Relationship Id="rId6" Type="http://schemas.openxmlformats.org/officeDocument/2006/relationships/slideLayout" Target="../slideLayouts/slideLayout2.xml"/><Relationship Id="rId5" Type="http://schemas.openxmlformats.org/officeDocument/2006/relationships/tags" Target="../tags/tag308.xml"/><Relationship Id="rId4" Type="http://schemas.openxmlformats.org/officeDocument/2006/relationships/tags" Target="../tags/tag307.xml"/></Relationships>
</file>

<file path=ppt/slides/_rels/slide48.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www.weibull.com/hotwire/issue131/hottopics131.htm" TargetMode="External"/><Relationship Id="rId5" Type="http://schemas.openxmlformats.org/officeDocument/2006/relationships/image" Target="../media/image35.gif"/><Relationship Id="rId4" Type="http://schemas.openxmlformats.org/officeDocument/2006/relationships/image" Target="../media/image34.gi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0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0.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1.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312.xml"/><Relationship Id="rId5" Type="http://schemas.openxmlformats.org/officeDocument/2006/relationships/image" Target="../media/image39.png"/><Relationship Id="rId4" Type="http://schemas.openxmlformats.org/officeDocument/2006/relationships/image" Target="../media/image38.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13.xml"/></Relationships>
</file>

<file path=ppt/slides/_rels/slide58.xml.rels><?xml version="1.0" encoding="UTF-8" standalone="yes"?>
<Relationships xmlns="http://schemas.openxmlformats.org/package/2006/relationships"><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 Id="rId6" Type="http://schemas.openxmlformats.org/officeDocument/2006/relationships/image" Target="../media/image39.png"/><Relationship Id="rId5" Type="http://schemas.openxmlformats.org/officeDocument/2006/relationships/image" Target="../media/image40.png"/><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 Id="rId5" Type="http://schemas.openxmlformats.org/officeDocument/2006/relationships/image" Target="../media/image39.png"/><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1.xml"/><Relationship Id="rId1" Type="http://schemas.openxmlformats.org/officeDocument/2006/relationships/tags" Target="../tags/tag32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3.xml"/><Relationship Id="rId1" Type="http://schemas.openxmlformats.org/officeDocument/2006/relationships/tags" Target="../tags/tag322.xml"/></Relationships>
</file>

<file path=ppt/slides/_rels/slide62.xml.rels><?xml version="1.0" encoding="UTF-8" standalone="yes"?>
<Relationships xmlns="http://schemas.openxmlformats.org/package/2006/relationships"><Relationship Id="rId3" Type="http://schemas.openxmlformats.org/officeDocument/2006/relationships/tags" Target="../tags/tag326.xml"/><Relationship Id="rId7" Type="http://schemas.openxmlformats.org/officeDocument/2006/relationships/image" Target="../media/image39.png"/><Relationship Id="rId2" Type="http://schemas.openxmlformats.org/officeDocument/2006/relationships/tags" Target="../tags/tag325.xml"/><Relationship Id="rId1" Type="http://schemas.openxmlformats.org/officeDocument/2006/relationships/tags" Target="../tags/tag324.xml"/><Relationship Id="rId6" Type="http://schemas.openxmlformats.org/officeDocument/2006/relationships/image" Target="../media/image41.png"/><Relationship Id="rId5" Type="http://schemas.openxmlformats.org/officeDocument/2006/relationships/slideLayout" Target="../slideLayouts/slideLayout2.xml"/><Relationship Id="rId4" Type="http://schemas.openxmlformats.org/officeDocument/2006/relationships/tags" Target="../tags/tag327.xml"/></Relationships>
</file>

<file path=ppt/slides/_rels/slide63.xml.rels><?xml version="1.0" encoding="UTF-8" standalone="yes"?>
<Relationships xmlns="http://schemas.openxmlformats.org/package/2006/relationships"><Relationship Id="rId3" Type="http://schemas.openxmlformats.org/officeDocument/2006/relationships/tags" Target="../tags/tag330.xml"/><Relationship Id="rId7" Type="http://schemas.openxmlformats.org/officeDocument/2006/relationships/image" Target="../media/image39.png"/><Relationship Id="rId2" Type="http://schemas.openxmlformats.org/officeDocument/2006/relationships/tags" Target="../tags/tag329.xml"/><Relationship Id="rId1" Type="http://schemas.openxmlformats.org/officeDocument/2006/relationships/tags" Target="../tags/tag328.xml"/><Relationship Id="rId6" Type="http://schemas.openxmlformats.org/officeDocument/2006/relationships/slideLayout" Target="../slideLayouts/slideLayout2.xml"/><Relationship Id="rId5" Type="http://schemas.openxmlformats.org/officeDocument/2006/relationships/tags" Target="../tags/tag332.xml"/><Relationship Id="rId4" Type="http://schemas.openxmlformats.org/officeDocument/2006/relationships/tags" Target="../tags/tag331.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34.xml"/><Relationship Id="rId1" Type="http://schemas.openxmlformats.org/officeDocument/2006/relationships/tags" Target="../tags/tag333.xml"/></Relationships>
</file>

<file path=ppt/slides/_rels/slide65.xml.rels><?xml version="1.0" encoding="UTF-8" standalone="yes"?>
<Relationships xmlns="http://schemas.openxmlformats.org/package/2006/relationships"><Relationship Id="rId3" Type="http://schemas.openxmlformats.org/officeDocument/2006/relationships/tags" Target="../tags/tag337.xml"/><Relationship Id="rId7" Type="http://schemas.openxmlformats.org/officeDocument/2006/relationships/image" Target="../media/image39.png"/><Relationship Id="rId2" Type="http://schemas.openxmlformats.org/officeDocument/2006/relationships/tags" Target="../tags/tag336.xml"/><Relationship Id="rId1" Type="http://schemas.openxmlformats.org/officeDocument/2006/relationships/tags" Target="../tags/tag335.xml"/><Relationship Id="rId6" Type="http://schemas.openxmlformats.org/officeDocument/2006/relationships/image" Target="../media/image42.png"/><Relationship Id="rId5" Type="http://schemas.openxmlformats.org/officeDocument/2006/relationships/slideLayout" Target="../slideLayouts/slideLayout2.xml"/><Relationship Id="rId4" Type="http://schemas.openxmlformats.org/officeDocument/2006/relationships/tags" Target="../tags/tag338.xml"/></Relationships>
</file>

<file path=ppt/slides/_rels/slide66.xml.rels><?xml version="1.0" encoding="UTF-8" standalone="yes"?>
<Relationships xmlns="http://schemas.openxmlformats.org/package/2006/relationships"><Relationship Id="rId3" Type="http://schemas.openxmlformats.org/officeDocument/2006/relationships/tags" Target="../tags/tag341.xml"/><Relationship Id="rId2" Type="http://schemas.openxmlformats.org/officeDocument/2006/relationships/tags" Target="../tags/tag340.xml"/><Relationship Id="rId1" Type="http://schemas.openxmlformats.org/officeDocument/2006/relationships/tags" Target="../tags/tag339.xml"/><Relationship Id="rId5" Type="http://schemas.openxmlformats.org/officeDocument/2006/relationships/image" Target="../media/image39.png"/><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3.xml"/><Relationship Id="rId1" Type="http://schemas.openxmlformats.org/officeDocument/2006/relationships/tags" Target="../tags/tag342.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5.xml"/><Relationship Id="rId1" Type="http://schemas.openxmlformats.org/officeDocument/2006/relationships/tags" Target="../tags/tag344.xml"/><Relationship Id="rId4" Type="http://schemas.openxmlformats.org/officeDocument/2006/relationships/image" Target="../media/image43.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7.xml"/><Relationship Id="rId1" Type="http://schemas.openxmlformats.org/officeDocument/2006/relationships/tags" Target="../tags/tag346.xml"/><Relationship Id="rId4" Type="http://schemas.openxmlformats.org/officeDocument/2006/relationships/image" Target="../media/image44.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9.xml"/><Relationship Id="rId1" Type="http://schemas.openxmlformats.org/officeDocument/2006/relationships/tags" Target="../tags/tag348.xml"/></Relationships>
</file>

<file path=ppt/slides/_rels/slide71.xml.rels><?xml version="1.0" encoding="UTF-8" standalone="yes"?>
<Relationships xmlns="http://schemas.openxmlformats.org/package/2006/relationships"><Relationship Id="rId3" Type="http://schemas.openxmlformats.org/officeDocument/2006/relationships/tags" Target="../tags/tag352.xml"/><Relationship Id="rId2" Type="http://schemas.openxmlformats.org/officeDocument/2006/relationships/tags" Target="../tags/tag351.xml"/><Relationship Id="rId1" Type="http://schemas.openxmlformats.org/officeDocument/2006/relationships/tags" Target="../tags/tag350.xml"/><Relationship Id="rId5" Type="http://schemas.openxmlformats.org/officeDocument/2006/relationships/image" Target="../media/image45.png"/><Relationship Id="rId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4.xml"/><Relationship Id="rId1" Type="http://schemas.openxmlformats.org/officeDocument/2006/relationships/tags" Target="../tags/tag353.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56.xml"/><Relationship Id="rId1" Type="http://schemas.openxmlformats.org/officeDocument/2006/relationships/tags" Target="../tags/tag355.xml"/></Relationships>
</file>

<file path=ppt/slides/_rels/slide74.xml.rels><?xml version="1.0" encoding="UTF-8" standalone="yes"?>
<Relationships xmlns="http://schemas.openxmlformats.org/package/2006/relationships"><Relationship Id="rId3" Type="http://schemas.openxmlformats.org/officeDocument/2006/relationships/tags" Target="../tags/tag359.xml"/><Relationship Id="rId2" Type="http://schemas.openxmlformats.org/officeDocument/2006/relationships/tags" Target="../tags/tag358.xml"/><Relationship Id="rId1" Type="http://schemas.openxmlformats.org/officeDocument/2006/relationships/tags" Target="../tags/tag357.xml"/><Relationship Id="rId5" Type="http://schemas.openxmlformats.org/officeDocument/2006/relationships/slideLayout" Target="../slideLayouts/slideLayout2.xml"/><Relationship Id="rId4" Type="http://schemas.openxmlformats.org/officeDocument/2006/relationships/tags" Target="../tags/tag360.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1.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62.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4.xml"/><Relationship Id="rId1" Type="http://schemas.openxmlformats.org/officeDocument/2006/relationships/tags" Target="../tags/tag363.xml"/></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6.xml"/><Relationship Id="rId1" Type="http://schemas.openxmlformats.org/officeDocument/2006/relationships/tags" Target="../tags/tag365.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8.xml"/><Relationship Id="rId1" Type="http://schemas.openxmlformats.org/officeDocument/2006/relationships/tags" Target="../tags/tag367.xml"/></Relationships>
</file>

<file path=ppt/slides/_rels/slide8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xml"/><Relationship Id="rId1" Type="http://schemas.openxmlformats.org/officeDocument/2006/relationships/tags" Target="../tags/tag36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slideLayout" Target="../slideLayouts/slideLayout2.xml"/><Relationship Id="rId1" Type="http://schemas.openxmlformats.org/officeDocument/2006/relationships/tags" Target="../tags/tag370.xml"/></Relationships>
</file>

<file path=ppt/slides/_rels/slide8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2.xml"/><Relationship Id="rId1" Type="http://schemas.openxmlformats.org/officeDocument/2006/relationships/tags" Target="../tags/tag371.xml"/></Relationships>
</file>

<file path=ppt/slides/_rels/slide8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slideLayout" Target="../slideLayouts/slideLayout2.xml"/><Relationship Id="rId1" Type="http://schemas.openxmlformats.org/officeDocument/2006/relationships/tags" Target="../tags/tag372.xml"/></Relationships>
</file>

<file path=ppt/slides/_rels/slide8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2.xml"/><Relationship Id="rId1" Type="http://schemas.openxmlformats.org/officeDocument/2006/relationships/tags" Target="../tags/tag373.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5.xml"/><Relationship Id="rId1" Type="http://schemas.openxmlformats.org/officeDocument/2006/relationships/tags" Target="../tags/tag37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8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tags" Target="../tags/tag376.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377.xml"/><Relationship Id="rId6" Type="http://schemas.openxmlformats.org/officeDocument/2006/relationships/image" Target="../media/image56.wmf"/><Relationship Id="rId5" Type="http://schemas.openxmlformats.org/officeDocument/2006/relationships/oleObject" Target="../embeddings/oleObject5.bin"/><Relationship Id="rId4" Type="http://schemas.openxmlformats.org/officeDocument/2006/relationships/image" Target="../media/image55.wmf"/></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79.xml"/><Relationship Id="rId1" Type="http://schemas.openxmlformats.org/officeDocument/2006/relationships/tags" Target="../tags/tag378.xml"/><Relationship Id="rId6" Type="http://schemas.openxmlformats.org/officeDocument/2006/relationships/image" Target="../media/image54.png"/><Relationship Id="rId5" Type="http://schemas.openxmlformats.org/officeDocument/2006/relationships/image" Target="../media/image55.wmf"/><Relationship Id="rId4" Type="http://schemas.openxmlformats.org/officeDocument/2006/relationships/oleObject" Target="../embeddings/oleObject6.bin"/></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1.xml"/><Relationship Id="rId1" Type="http://schemas.openxmlformats.org/officeDocument/2006/relationships/tags" Target="../tags/tag380.xml"/><Relationship Id="rId4" Type="http://schemas.openxmlformats.org/officeDocument/2006/relationships/image" Target="../media/image57.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3.xml"/><Relationship Id="rId1" Type="http://schemas.openxmlformats.org/officeDocument/2006/relationships/tags" Target="../tags/tag382.xml"/><Relationship Id="rId5" Type="http://schemas.openxmlformats.org/officeDocument/2006/relationships/image" Target="../media/image56.wmf"/><Relationship Id="rId4" Type="http://schemas.openxmlformats.org/officeDocument/2006/relationships/oleObject" Target="../embeddings/oleObject7.bin"/></Relationships>
</file>

<file path=ppt/slides/_rels/slide9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Layout" Target="../slideLayouts/slideLayout2.xml"/><Relationship Id="rId1" Type="http://schemas.openxmlformats.org/officeDocument/2006/relationships/tags" Target="../tags/tag384.xml"/><Relationship Id="rId4" Type="http://schemas.openxmlformats.org/officeDocument/2006/relationships/image" Target="../media/image59.png"/></Relationships>
</file>

<file path=ppt/slides/_rels/slide93.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2.xml"/><Relationship Id="rId1" Type="http://schemas.openxmlformats.org/officeDocument/2006/relationships/tags" Target="../tags/tag385.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6.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87.xml"/></Relationships>
</file>

<file path=ppt/slides/_rels/slide9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2.xml"/><Relationship Id="rId1" Type="http://schemas.openxmlformats.org/officeDocument/2006/relationships/tags" Target="../tags/tag388.xml"/></Relationships>
</file>

<file path=ppt/slides/_rels/slide9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2.xml"/><Relationship Id="rId1" Type="http://schemas.openxmlformats.org/officeDocument/2006/relationships/tags" Target="../tags/tag389.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0.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1.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2.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3.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4.xml"/></Relationships>
</file>

<file path=ppt/slides/_rels/slide10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2.xml"/><Relationship Id="rId1" Type="http://schemas.openxmlformats.org/officeDocument/2006/relationships/tags" Target="../tags/tag395.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6.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9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07.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slideLayout" Target="../slideLayouts/slideLayout21.xml"/><Relationship Id="rId1" Type="http://schemas.openxmlformats.org/officeDocument/2006/relationships/tags" Target="../tags/tag398.xml"/></Relationships>
</file>

<file path=ppt/slides/_rels/slide108.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slideLayout" Target="../slideLayouts/slideLayout26.xml"/><Relationship Id="rId1" Type="http://schemas.openxmlformats.org/officeDocument/2006/relationships/tags" Target="../tags/tag399.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400.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401.xml"/></Relationships>
</file>

<file path=ppt/slides/_rels/slide11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slideLayout" Target="../slideLayouts/slideLayout26.xml"/><Relationship Id="rId1" Type="http://schemas.openxmlformats.org/officeDocument/2006/relationships/tags" Target="../tags/tag402.xml"/><Relationship Id="rId4" Type="http://schemas.openxmlformats.org/officeDocument/2006/relationships/image" Target="../media/image66.jpe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tags" Target="../tags/tag404.xml"/><Relationship Id="rId1" Type="http://schemas.openxmlformats.org/officeDocument/2006/relationships/tags" Target="../tags/tag403.xml"/><Relationship Id="rId5" Type="http://schemas.openxmlformats.org/officeDocument/2006/relationships/image" Target="../media/image67.GIF"/><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矩形 12"/>
          <p:cNvSpPr/>
          <p:nvPr userDrawn="1"/>
        </p:nvSpPr>
        <p:spPr>
          <a:xfrm>
            <a:off x="1011107" y="2515512"/>
            <a:ext cx="10169787" cy="1015663"/>
          </a:xfrm>
          <a:prstGeom prst="rect">
            <a:avLst/>
          </a:prstGeom>
          <a:solidFill>
            <a:schemeClr val="accent1"/>
          </a:solidFill>
        </p:spPr>
        <p:txBody>
          <a:bodyPr wrap="square">
            <a:spAutoFit/>
          </a:bodyPr>
          <a:lstStyle/>
          <a:p>
            <a:pPr algn="ctr"/>
            <a:r>
              <a:rPr lang="en-US" altLang="zh-CN" sz="6000" b="1" dirty="0">
                <a:ln w="19050">
                  <a:noFill/>
                </a:ln>
                <a:solidFill>
                  <a:srgbClr val="FFFFFF"/>
                </a:solidFill>
                <a:latin typeface="微软雅黑" panose="020B0503020204020204" charset="-122"/>
                <a:ea typeface="微软雅黑" panose="020B0503020204020204" charset="-122"/>
              </a:rPr>
              <a:t>3.3 </a:t>
            </a:r>
            <a:r>
              <a:rPr lang="zh-CN" altLang="zh-CN" sz="6000" b="1" dirty="0">
                <a:ln w="19050">
                  <a:noFill/>
                </a:ln>
                <a:solidFill>
                  <a:srgbClr val="FFFFFF"/>
                </a:solidFill>
                <a:latin typeface="微软雅黑" panose="020B0503020204020204" charset="-122"/>
                <a:ea typeface="微软雅黑" panose="020B0503020204020204" charset="-122"/>
              </a:rPr>
              <a:t>基于组合及其优化的方法</a:t>
            </a:r>
            <a:endParaRPr lang="zh-CN" altLang="en-US" sz="6000" b="1" dirty="0">
              <a:ln w="19050">
                <a:noFill/>
              </a:ln>
              <a:solidFill>
                <a:srgbClr val="FFFFFF"/>
              </a:solidFill>
              <a:latin typeface="微软雅黑" panose="020B0503020204020204" charset="-122"/>
              <a:ea typeface="微软雅黑" panose="020B0503020204020204" charset="-122"/>
            </a:endParaRPr>
          </a:p>
        </p:txBody>
      </p:sp>
      <p:sp>
        <p:nvSpPr>
          <p:cNvPr id="3" name="文本框 2">
            <a:extLst>
              <a:ext uri="{FF2B5EF4-FFF2-40B4-BE49-F238E27FC236}">
                <a16:creationId xmlns:a16="http://schemas.microsoft.com/office/drawing/2014/main" id="{2A3AD164-FF24-0B79-2BD8-26ADD727DF46}"/>
              </a:ext>
            </a:extLst>
          </p:cNvPr>
          <p:cNvSpPr txBox="1"/>
          <p:nvPr/>
        </p:nvSpPr>
        <p:spPr>
          <a:xfrm>
            <a:off x="4412572" y="4037688"/>
            <a:ext cx="3870816" cy="1689052"/>
          </a:xfrm>
          <a:prstGeom prst="rect">
            <a:avLst/>
          </a:prstGeom>
          <a:solidFill>
            <a:schemeClr val="bg1"/>
          </a:solidFill>
        </p:spPr>
        <p:txBody>
          <a:bodyPr wrap="square">
            <a:spAutoFit/>
          </a:bodyPr>
          <a:lstStyle/>
          <a:p>
            <a:pPr>
              <a:lnSpc>
                <a:spcPct val="150000"/>
              </a:lnSpc>
            </a:pPr>
            <a:r>
              <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3.3.2 </a:t>
            </a:r>
            <a:r>
              <a:rPr lang="zh-CN"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因果图法</a:t>
            </a:r>
          </a:p>
          <a:p>
            <a:pPr>
              <a:lnSpc>
                <a:spcPct val="150000"/>
              </a:lnSpc>
            </a:pPr>
            <a:r>
              <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3.3.3 Pair-wise</a:t>
            </a:r>
            <a:r>
              <a:rPr lang="zh-CN"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方法</a:t>
            </a:r>
          </a:p>
          <a:p>
            <a:pPr>
              <a:lnSpc>
                <a:spcPct val="150000"/>
              </a:lnSpc>
            </a:pPr>
            <a:r>
              <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3.3.4 </a:t>
            </a:r>
            <a:r>
              <a:rPr lang="zh-CN"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正交试验法</a:t>
            </a:r>
          </a:p>
        </p:txBody>
      </p:sp>
    </p:spTree>
    <p:extLst>
      <p:ext uri="{BB962C8B-B14F-4D97-AF65-F5344CB8AC3E}">
        <p14:creationId xmlns:p14="http://schemas.microsoft.com/office/powerpoint/2010/main" val="1923209344"/>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内容占位符 7"/>
          <p:cNvSpPr>
            <a:spLocks noGrp="1"/>
          </p:cNvSpPr>
          <p:nvPr>
            <p:ph idx="1"/>
          </p:nvPr>
        </p:nvSpPr>
        <p:spPr>
          <a:xfrm>
            <a:off x="2413001" y="1718088"/>
            <a:ext cx="7593965" cy="4380230"/>
          </a:xfrm>
        </p:spPr>
        <p:txBody>
          <a:bodyPr/>
          <a:lstStyle/>
          <a:p>
            <a:pPr>
              <a:lnSpc>
                <a:spcPct val="140000"/>
              </a:lnSpc>
            </a:pPr>
            <a:r>
              <a:rPr lang="zh-CN" altLang="en-US" dirty="0"/>
              <a:t>因果图的作用</a:t>
            </a:r>
          </a:p>
          <a:p>
            <a:pPr>
              <a:lnSpc>
                <a:spcPct val="140000"/>
              </a:lnSpc>
            </a:pPr>
            <a:r>
              <a:rPr lang="zh-CN" altLang="en-US" dirty="0"/>
              <a:t>因果图的符号及含义</a:t>
            </a:r>
          </a:p>
          <a:p>
            <a:pPr lvl="1">
              <a:lnSpc>
                <a:spcPct val="140000"/>
              </a:lnSpc>
            </a:pPr>
            <a:r>
              <a:rPr lang="zh-CN" altLang="en-US" dirty="0"/>
              <a:t>输入与输出</a:t>
            </a:r>
          </a:p>
          <a:p>
            <a:pPr lvl="1">
              <a:lnSpc>
                <a:spcPct val="140000"/>
              </a:lnSpc>
            </a:pPr>
            <a:r>
              <a:rPr dirty="0" err="1">
                <a:sym typeface="+mn-ea"/>
              </a:rPr>
              <a:t>输入与输入、输出与输出</a:t>
            </a:r>
            <a:endParaRPr lang="zh-CN" altLang="en-US" dirty="0"/>
          </a:p>
          <a:p>
            <a:pPr lvl="0">
              <a:lnSpc>
                <a:spcPct val="140000"/>
              </a:lnSpc>
            </a:pPr>
            <a:r>
              <a:rPr lang="zh-CN" altLang="en-US" dirty="0"/>
              <a:t>因果图转换为决策表</a:t>
            </a:r>
          </a:p>
          <a:p>
            <a:pPr lvl="0">
              <a:lnSpc>
                <a:spcPct val="140000"/>
              </a:lnSpc>
            </a:pPr>
            <a:r>
              <a:rPr lang="zh-CN" altLang="en-US" dirty="0"/>
              <a:t>测试用例的设计</a:t>
            </a:r>
          </a:p>
        </p:txBody>
      </p:sp>
      <p:sp>
        <p:nvSpPr>
          <p:cNvPr id="5" name="日期占位符 4"/>
          <p:cNvSpPr>
            <a:spLocks noGrp="1"/>
          </p:cNvSpPr>
          <p:nvPr>
            <p:ph type="dt" sz="half" idx="10"/>
          </p:nvPr>
        </p:nvSpPr>
        <p:spPr/>
        <p:txBody>
          <a:bodyPr/>
          <a:lstStyle/>
          <a:p>
            <a:fld id="{9EFD9D74-47D9-4702-A33C-335B63B48DBF}" type="datetime1">
              <a:rPr lang="zh-CN" altLang="en-US" smtClean="0"/>
              <a:t>2024/3/27</a:t>
            </a:fld>
            <a:endParaRPr lang="zh-CN" altLang="en-US" dirty="0"/>
          </a:p>
        </p:txBody>
      </p:sp>
      <p:sp>
        <p:nvSpPr>
          <p:cNvPr id="6" name="灯片编号占位符 5"/>
          <p:cNvSpPr>
            <a:spLocks noGrp="1"/>
          </p:cNvSpPr>
          <p:nvPr>
            <p:ph type="sldNum" sz="quarter" idx="12"/>
          </p:nvPr>
        </p:nvSpPr>
        <p:spPr/>
        <p:txBody>
          <a:bodyPr/>
          <a:lstStyle/>
          <a:p>
            <a:fld id="{FABC47A4-756D-490B-A52F-7D9E2C9FC05F}" type="slidenum">
              <a:rPr lang="zh-CN" altLang="en-US" smtClean="0"/>
              <a:t>2</a:t>
            </a:fld>
            <a:endParaRPr lang="zh-CN" altLang="en-US"/>
          </a:p>
        </p:txBody>
      </p:sp>
      <p:sp>
        <p:nvSpPr>
          <p:cNvPr id="9" name="文本框 8">
            <a:extLst>
              <a:ext uri="{FF2B5EF4-FFF2-40B4-BE49-F238E27FC236}">
                <a16:creationId xmlns:a16="http://schemas.microsoft.com/office/drawing/2014/main" id="{2C3C18E1-9652-00CB-F5DA-9ABF019883D2}"/>
              </a:ext>
            </a:extLst>
          </p:cNvPr>
          <p:cNvSpPr txBox="1"/>
          <p:nvPr/>
        </p:nvSpPr>
        <p:spPr>
          <a:xfrm>
            <a:off x="1147482" y="599440"/>
            <a:ext cx="6096000" cy="906915"/>
          </a:xfrm>
          <a:prstGeom prst="rect">
            <a:avLst/>
          </a:prstGeom>
          <a:noFill/>
        </p:spPr>
        <p:txBody>
          <a:bodyPr wrap="square">
            <a:spAutoFit/>
          </a:bodyPr>
          <a:lstStyle/>
          <a:p>
            <a:pPr>
              <a:lnSpc>
                <a:spcPct val="150000"/>
              </a:lnSpc>
            </a:pPr>
            <a:r>
              <a:rPr lang="en-US" altLang="zh-CN" sz="40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3.3.2 </a:t>
            </a:r>
            <a:r>
              <a:rPr lang="zh-CN" altLang="zh-CN" sz="40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因果图法</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9"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5" name="标题 1"/>
          <p:cNvSpPr>
            <a:spLocks noGrp="1"/>
          </p:cNvSpPr>
          <p:nvPr>
            <p:custDataLst>
              <p:tags r:id="rId4"/>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4400" spc="200" dirty="0">
                <a:solidFill>
                  <a:schemeClr val="accent1"/>
                </a:solidFill>
                <a:latin typeface="Arial" panose="020B0604020202020204" pitchFamily="34" charset="0"/>
                <a:ea typeface="汉仪文黑-85W" panose="00020600040101010101" charset="-122"/>
              </a:rPr>
              <a:t>因果图法</a:t>
            </a:r>
          </a:p>
        </p:txBody>
      </p:sp>
      <p:sp>
        <p:nvSpPr>
          <p:cNvPr id="6" name="内容占位符 2"/>
          <p:cNvSpPr>
            <a:spLocks noGrp="1"/>
          </p:cNvSpPr>
          <p:nvPr>
            <p:custDataLst>
              <p:tags r:id="rId5"/>
            </p:custDataLst>
          </p:nvPr>
        </p:nvSpPr>
        <p:spPr>
          <a:xfrm>
            <a:off x="2091055" y="1349375"/>
            <a:ext cx="8001000" cy="494919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a:lnSpc>
                <a:spcPct val="130000"/>
              </a:lnSpc>
            </a:pPr>
            <a:r>
              <a:rPr lang="zh-CN" altLang="en-US" sz="2400" dirty="0">
                <a:solidFill>
                  <a:schemeClr val="dk1"/>
                </a:solidFill>
                <a:latin typeface="微软雅黑" panose="020B0503020204020204" charset="-122"/>
                <a:ea typeface="微软雅黑" panose="020B0503020204020204" charset="-122"/>
              </a:rPr>
              <a:t>等价类划分法和边界值分析法侧重于输入条件，却没有考虑这些输入之间的关系，如组合、约束等。</a:t>
            </a:r>
          </a:p>
          <a:p>
            <a:pPr algn="just">
              <a:lnSpc>
                <a:spcPct val="130000"/>
              </a:lnSpc>
            </a:pPr>
            <a:r>
              <a:rPr lang="zh-CN" altLang="en-US" sz="2400" dirty="0">
                <a:solidFill>
                  <a:schemeClr val="dk1"/>
                </a:solidFill>
                <a:latin typeface="微软雅黑" panose="020B0503020204020204" charset="-122"/>
                <a:ea typeface="微软雅黑" panose="020B0503020204020204" charset="-122"/>
              </a:rPr>
              <a:t>如果程序输入之间有作用关系，等价类划分法和边界值分析法很难描述这些输入之间的作用关系，无法保证测试效果。</a:t>
            </a:r>
          </a:p>
          <a:p>
            <a:pPr lvl="1" algn="just">
              <a:lnSpc>
                <a:spcPct val="130000"/>
              </a:lnSpc>
            </a:pPr>
            <a:r>
              <a:rPr lang="zh-CN" altLang="en-US" sz="2080" dirty="0">
                <a:solidFill>
                  <a:schemeClr val="dk1"/>
                </a:solidFill>
                <a:latin typeface="微软雅黑" panose="020B0503020204020204" charset="-122"/>
                <a:ea typeface="微软雅黑" panose="020B0503020204020204" charset="-122"/>
                <a:cs typeface="微软雅黑" panose="020B0503020204020204" charset="-122"/>
                <a:sym typeface="+mn-ea"/>
              </a:rPr>
              <a:t>例如：某一软件要求输入地址，具体到市区，如“北京</a:t>
            </a:r>
            <a:r>
              <a:rPr lang="en-US" altLang="zh-CN" sz="208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sym typeface="+mn-ea"/>
              </a:rPr>
              <a:t>昌平区”“天津</a:t>
            </a:r>
            <a:r>
              <a:rPr lang="en-US" altLang="zh-CN" sz="2080" dirty="0">
                <a:solidFill>
                  <a:schemeClr val="dk1"/>
                </a:solidFill>
                <a:latin typeface="微软雅黑" panose="020B0503020204020204" charset="-122"/>
                <a:ea typeface="微软雅黑" panose="020B0503020204020204" charset="-122"/>
                <a:cs typeface="微软雅黑" panose="020B0503020204020204" charset="-122"/>
                <a:sym typeface="+mn-ea"/>
              </a:rPr>
              <a:t>—</a:t>
            </a:r>
            <a:r>
              <a:rPr lang="zh-CN" altLang="en-US" sz="2080" dirty="0">
                <a:solidFill>
                  <a:schemeClr val="dk1"/>
                </a:solidFill>
                <a:latin typeface="微软雅黑" panose="020B0503020204020204" charset="-122"/>
                <a:ea typeface="微软雅黑" panose="020B0503020204020204" charset="-122"/>
                <a:cs typeface="微软雅黑" panose="020B0503020204020204" charset="-122"/>
                <a:sym typeface="+mn-ea"/>
              </a:rPr>
              <a:t>南开区”，其中第二个输入受到第一个输入的约束，输入的地区只能在输入的城市中选择，否则地址就是无效的。像这样多个输入之间有相互制约关系，就无法使用等价类划分法和边界值分析法设计测试用例。</a:t>
            </a:r>
            <a:endParaRPr lang="zh-CN" altLang="en-US" sz="2080" dirty="0">
              <a:solidFill>
                <a:schemeClr val="dk1"/>
              </a:solidFill>
              <a:latin typeface="微软雅黑" panose="020B0503020204020204" charset="-122"/>
              <a:ea typeface="微软雅黑" panose="020B0503020204020204" charset="-122"/>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3</a:t>
            </a:fld>
            <a:endParaRPr lang="zh-CN" altLang="en-US"/>
          </a:p>
        </p:txBody>
      </p:sp>
    </p:spTree>
    <p:custDataLst>
      <p:tags r:id="rId1"/>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9"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5" name="标题 1"/>
          <p:cNvSpPr>
            <a:spLocks noGrp="1"/>
          </p:cNvSpPr>
          <p:nvPr>
            <p:custDataLst>
              <p:tags r:id="rId4"/>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4400" spc="200" dirty="0">
                <a:solidFill>
                  <a:schemeClr val="accent1"/>
                </a:solidFill>
                <a:latin typeface="Arial" panose="020B0604020202020204" pitchFamily="34" charset="0"/>
                <a:ea typeface="汉仪文黑-85W" panose="00020600040101010101" charset="-122"/>
              </a:rPr>
              <a:t>因果图法</a:t>
            </a:r>
          </a:p>
        </p:txBody>
      </p:sp>
      <p:sp>
        <p:nvSpPr>
          <p:cNvPr id="6" name="内容占位符 2"/>
          <p:cNvSpPr>
            <a:spLocks noGrp="1"/>
          </p:cNvSpPr>
          <p:nvPr>
            <p:custDataLst>
              <p:tags r:id="rId5"/>
            </p:custDataLst>
          </p:nvPr>
        </p:nvSpPr>
        <p:spPr>
          <a:xfrm>
            <a:off x="2011046" y="1593851"/>
            <a:ext cx="8404225" cy="456374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a:lnSpc>
                <a:spcPct val="140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因果图法是一种</a:t>
            </a: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利用图解法分析输入的各种组合情况</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的测试方法，它考虑了输入条件的</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各种组合</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及输入条件之间的</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相互制约关系</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，并考虑</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输出情况</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a:t>
            </a:r>
          </a:p>
          <a:p>
            <a:pPr algn="just">
              <a:lnSpc>
                <a:spcPct val="140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因果图法就是为了</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解决多个输入之间的作用关系</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而产生的测试用例设计方法，</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sym typeface="+mn-ea"/>
              </a:rPr>
              <a:t>便于生成判定表。</a:t>
            </a:r>
            <a:endParaRPr lang="zh-CN" altLang="en-US" sz="2400" dirty="0">
              <a:solidFill>
                <a:schemeClr val="dk1"/>
              </a:solidFill>
              <a:latin typeface="微软雅黑" panose="020B0503020204020204" charset="-122"/>
              <a:ea typeface="微软雅黑" panose="020B0503020204020204" charset="-122"/>
              <a:cs typeface="微软雅黑" panose="020B0503020204020204" charset="-122"/>
            </a:endParaRPr>
          </a:p>
          <a:p>
            <a:pPr algn="just">
              <a:lnSpc>
                <a:spcPct val="140000"/>
              </a:lnSpc>
            </a:pPr>
            <a:r>
              <a:rPr lang="zh-CN" altLang="en-US" sz="2400" dirty="0">
                <a:solidFill>
                  <a:schemeClr val="dk1"/>
                </a:solidFill>
                <a:latin typeface="微软雅黑" panose="020B0503020204020204" charset="-122"/>
                <a:ea typeface="微软雅黑" panose="020B0503020204020204" charset="-122"/>
                <a:sym typeface="+mn-ea"/>
              </a:rPr>
              <a:t>因果图/判定表法比较适合测试组合数量少 (一般指 20 种以下)的情况(如果组合数量大可以选择使用正交排列法效率会更高)。</a:t>
            </a:r>
            <a:endParaRPr lang="zh-CN" altLang="en-US" sz="24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4</a:t>
            </a:fld>
            <a:endParaRPr lang="zh-CN" altLang="en-US"/>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9"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5" name="标题 1"/>
          <p:cNvSpPr>
            <a:spLocks noGrp="1"/>
          </p:cNvSpPr>
          <p:nvPr>
            <p:custDataLst>
              <p:tags r:id="rId4"/>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4400" spc="200" dirty="0">
                <a:solidFill>
                  <a:schemeClr val="accent1"/>
                </a:solidFill>
                <a:latin typeface="Arial" panose="020B0604020202020204" pitchFamily="34" charset="0"/>
                <a:ea typeface="汉仪文黑-85W" panose="00020600040101010101" charset="-122"/>
              </a:rPr>
              <a:t>因果图法</a:t>
            </a:r>
            <a:endParaRPr lang="zh-CN" altLang="en-US" b="1" dirty="0">
              <a:solidFill>
                <a:schemeClr val="dk2">
                  <a:lumMod val="25000"/>
                </a:schemeClr>
              </a:solidFill>
              <a:latin typeface="微软雅黑" panose="020B0503020204020204" charset="-122"/>
              <a:ea typeface="微软雅黑" panose="020B0503020204020204" charset="-122"/>
              <a:cs typeface="微软雅黑" panose="020B0503020204020204" charset="-122"/>
            </a:endParaRPr>
          </a:p>
        </p:txBody>
      </p:sp>
      <p:sp>
        <p:nvSpPr>
          <p:cNvPr id="6" name="内容占位符 2"/>
          <p:cNvSpPr>
            <a:spLocks noGrp="1"/>
          </p:cNvSpPr>
          <p:nvPr>
            <p:custDataLst>
              <p:tags r:id="rId5"/>
            </p:custDataLst>
          </p:nvPr>
        </p:nvSpPr>
        <p:spPr>
          <a:xfrm>
            <a:off x="2091055" y="1520190"/>
            <a:ext cx="8001000" cy="449961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nSpc>
                <a:spcPct val="150000"/>
              </a:lnSpc>
            </a:pP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因果图法（</a:t>
            </a:r>
            <a:r>
              <a:rPr lang="en-US" altLang="zh-CN" sz="2400" b="1" dirty="0">
                <a:solidFill>
                  <a:srgbClr val="FF0000"/>
                </a:solidFill>
                <a:latin typeface="微软雅黑" panose="020B0503020204020204" charset="-122"/>
                <a:ea typeface="微软雅黑" panose="020B0503020204020204" charset="-122"/>
                <a:cs typeface="微软雅黑" panose="020B0503020204020204" charset="-122"/>
              </a:rPr>
              <a:t>Cause-effect Diagram</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借助图形，着重分析输入条件的各种组合，每种组合条件就是“因”，它必然有一个输出的结果，这就是“果”。</a:t>
            </a:r>
          </a:p>
          <a:p>
            <a:pPr>
              <a:lnSpc>
                <a:spcPct val="150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因果图是一种</a:t>
            </a:r>
            <a:r>
              <a:rPr lang="zh-CN" altLang="en-US" sz="2400" b="1" dirty="0">
                <a:solidFill>
                  <a:srgbClr val="FF0000"/>
                </a:solidFill>
                <a:latin typeface="微软雅黑" panose="020B0503020204020204" charset="-122"/>
                <a:ea typeface="微软雅黑" panose="020B0503020204020204" charset="-122"/>
                <a:cs typeface="微软雅黑" panose="020B0503020204020204" charset="-122"/>
              </a:rPr>
              <a:t>形式化的图形语言</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，由自然语言写成规范转换而成，这种形式语言实际上是一种使用简化记号数字逻辑图，不仅能发现输入、输出中的错误，还能指出程序中规范中的不完全性和二义性。</a:t>
            </a:r>
          </a:p>
          <a:p>
            <a:pPr>
              <a:lnSpc>
                <a:spcPct val="130000"/>
              </a:lnSpc>
            </a:pPr>
            <a:endParaRPr lang="zh-CN" altLang="en-US" sz="2400" dirty="0">
              <a:solidFill>
                <a:schemeClr val="dk1"/>
              </a:solidFill>
              <a:latin typeface="微软雅黑" panose="020B0503020204020204" charset="-122"/>
              <a:ea typeface="微软雅黑" panose="020B0503020204020204" charset="-122"/>
              <a:cs typeface="微软雅黑" panose="020B0503020204020204" charset="-122"/>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5</a:t>
            </a:fld>
            <a:endParaRPr lang="zh-CN" altLang="en-US"/>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8"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3" name="Rectangle 2"/>
          <p:cNvSpPr>
            <a:spLocks noGrp="1" noChangeArrowheads="1"/>
          </p:cNvSpPr>
          <p:nvPr>
            <p:custDataLst>
              <p:tags r:id="rId4"/>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4400" spc="200" dirty="0">
                <a:solidFill>
                  <a:schemeClr val="accent1"/>
                </a:solidFill>
                <a:latin typeface="Arial" panose="020B0604020202020204" pitchFamily="34" charset="0"/>
                <a:ea typeface="汉仪文黑-85W" panose="00020600040101010101" charset="-122"/>
              </a:rPr>
              <a:t>因果图的基本图形符号 </a:t>
            </a:r>
          </a:p>
        </p:txBody>
      </p:sp>
      <p:sp>
        <p:nvSpPr>
          <p:cNvPr id="4" name="Rectangle 3"/>
          <p:cNvSpPr>
            <a:spLocks noGrp="1" noChangeArrowheads="1"/>
          </p:cNvSpPr>
          <p:nvPr>
            <p:custDataLst>
              <p:tags r:id="rId5"/>
            </p:custDataLst>
          </p:nvPr>
        </p:nvSpPr>
        <p:spPr>
          <a:xfrm>
            <a:off x="2098676" y="1632586"/>
            <a:ext cx="8096885" cy="475678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a:lnSpc>
                <a:spcPct val="130000"/>
              </a:lnSpc>
            </a:pPr>
            <a:r>
              <a:rPr lang="zh-CN" altLang="zh-CN" sz="2000" dirty="0">
                <a:latin typeface="+mn-ea"/>
                <a:sym typeface="+mn-ea"/>
              </a:rPr>
              <a:t>针对需求规格，将</a:t>
            </a:r>
            <a:r>
              <a:rPr lang="en-US" altLang="zh-CN" sz="2000" dirty="0">
                <a:latin typeface="+mn-ea"/>
                <a:sym typeface="+mn-ea"/>
              </a:rPr>
              <a:t>Cause</a:t>
            </a:r>
            <a:r>
              <a:rPr lang="zh-CN" altLang="zh-CN" sz="2000" dirty="0">
                <a:latin typeface="+mn-ea"/>
                <a:sym typeface="+mn-ea"/>
              </a:rPr>
              <a:t>（原因）及</a:t>
            </a:r>
            <a:r>
              <a:rPr lang="en-US" altLang="zh-CN" sz="2000" dirty="0">
                <a:latin typeface="+mn-ea"/>
                <a:sym typeface="+mn-ea"/>
              </a:rPr>
              <a:t>Effect</a:t>
            </a:r>
            <a:r>
              <a:rPr lang="zh-CN" altLang="zh-CN" sz="2000" dirty="0">
                <a:latin typeface="+mn-ea"/>
                <a:sym typeface="+mn-ea"/>
              </a:rPr>
              <a:t>（影响）对应关系共分为</a:t>
            </a:r>
            <a:r>
              <a:rPr lang="en-US" altLang="zh-CN" sz="2000" dirty="0">
                <a:latin typeface="+mn-ea"/>
                <a:sym typeface="+mn-ea"/>
              </a:rPr>
              <a:t>2</a:t>
            </a:r>
            <a:r>
              <a:rPr lang="zh-CN" altLang="zh-CN" sz="2000" dirty="0">
                <a:latin typeface="+mn-ea"/>
                <a:sym typeface="+mn-ea"/>
              </a:rPr>
              <a:t>组</a:t>
            </a:r>
            <a:r>
              <a:rPr lang="en-US" altLang="zh-CN" sz="2000" dirty="0">
                <a:latin typeface="+mn-ea"/>
                <a:sym typeface="+mn-ea"/>
              </a:rPr>
              <a:t>4</a:t>
            </a:r>
            <a:r>
              <a:rPr lang="zh-CN" altLang="zh-CN" sz="2000" dirty="0">
                <a:latin typeface="+mn-ea"/>
                <a:sym typeface="+mn-ea"/>
              </a:rPr>
              <a:t>类，分别为：输入与输出、输入与输入（输出与输出）。</a:t>
            </a:r>
            <a:endParaRPr lang="zh-CN" altLang="zh-CN" sz="2000" dirty="0">
              <a:latin typeface="+mn-ea"/>
            </a:endParaRPr>
          </a:p>
          <a:p>
            <a:pPr marL="0" indent="0" algn="just">
              <a:lnSpc>
                <a:spcPct val="130000"/>
              </a:lnSpc>
              <a:buNone/>
            </a:pPr>
            <a:r>
              <a:rPr lang="en-US" altLang="zh-CN" sz="1875" b="1" dirty="0">
                <a:latin typeface="+mn-ea"/>
                <a:sym typeface="+mn-ea"/>
              </a:rPr>
              <a:t>1. </a:t>
            </a:r>
            <a:r>
              <a:rPr lang="zh-CN" altLang="zh-CN" sz="1875" b="1" dirty="0">
                <a:latin typeface="+mn-ea"/>
                <a:sym typeface="+mn-ea"/>
              </a:rPr>
              <a:t>输入与输出</a:t>
            </a:r>
            <a:endParaRPr lang="zh-CN" altLang="zh-CN" sz="1875" dirty="0">
              <a:latin typeface="+mn-ea"/>
            </a:endParaRPr>
          </a:p>
          <a:p>
            <a:pPr marL="0" indent="0" algn="just">
              <a:lnSpc>
                <a:spcPct val="130000"/>
              </a:lnSpc>
              <a:buNone/>
            </a:pPr>
            <a:r>
              <a:rPr lang="zh-CN" altLang="zh-CN" sz="1875" dirty="0">
                <a:latin typeface="+mn-ea"/>
                <a:sym typeface="+mn-ea"/>
              </a:rPr>
              <a:t>输入与输出间的关系主要有恒等、非、与、或等</a:t>
            </a:r>
            <a:r>
              <a:rPr lang="en-US" altLang="zh-CN" sz="1875" dirty="0">
                <a:latin typeface="+mn-ea"/>
                <a:sym typeface="+mn-ea"/>
              </a:rPr>
              <a:t>4</a:t>
            </a:r>
            <a:r>
              <a:rPr lang="zh-CN" altLang="zh-CN" sz="1875" dirty="0">
                <a:latin typeface="+mn-ea"/>
                <a:sym typeface="+mn-ea"/>
              </a:rPr>
              <a:t>种。</a:t>
            </a:r>
            <a:endParaRPr lang="zh-CN" altLang="zh-CN" sz="1875" dirty="0">
              <a:latin typeface="+mn-ea"/>
            </a:endParaRPr>
          </a:p>
          <a:p>
            <a:pPr lvl="1" algn="just" eaLnBrk="1" hangingPunct="1">
              <a:lnSpc>
                <a:spcPct val="120000"/>
              </a:lnSpc>
            </a:pP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rPr>
              <a:t>恒等：</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要求程序有一个输入和一个输出，输出与输入保持一致。若c1为1，则e1也为1，若c1为0，则e1也为0。</a:t>
            </a:r>
          </a:p>
          <a:p>
            <a:pPr lvl="1" algn="just" eaLnBrk="1" hangingPunct="1">
              <a:lnSpc>
                <a:spcPct val="120000"/>
              </a:lnSpc>
              <a:buSzTx/>
            </a:pP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 非（～）：</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要求程序有一个输入和一个输出，输出是输入的取反。若c1为1，则e1为0，若c1为0，则e1为1。</a:t>
            </a:r>
            <a:endParaRPr lang="zh-CN" altLang="en-US" sz="1800" dirty="0">
              <a:solidFill>
                <a:schemeClr val="dk1"/>
              </a:solidFill>
              <a:latin typeface="微软雅黑" panose="020B0503020204020204" charset="-122"/>
              <a:ea typeface="微软雅黑" panose="020B0503020204020204" charset="-122"/>
              <a:cs typeface="微软雅黑" panose="020B0503020204020204" charset="-122"/>
            </a:endParaRPr>
          </a:p>
          <a:p>
            <a:pPr lvl="1" algn="just" eaLnBrk="1" hangingPunct="1">
              <a:lnSpc>
                <a:spcPct val="120000"/>
              </a:lnSpc>
            </a:pP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或（∨）：</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要求程序</a:t>
            </a:r>
            <a:r>
              <a:rPr sz="1800" dirty="0">
                <a:solidFill>
                  <a:schemeClr val="dk1"/>
                </a:solidFill>
                <a:latin typeface="微软雅黑" panose="020B0503020204020204" charset="-122"/>
                <a:ea typeface="微软雅黑" panose="020B0503020204020204" charset="-122"/>
                <a:cs typeface="微软雅黑" panose="020B0503020204020204" charset="-122"/>
              </a:rPr>
              <a:t>可以有任意个输入，只要这些输入中有一个为1，则输出为1，否则输出为0</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rPr>
              <a:t>。</a:t>
            </a:r>
          </a:p>
          <a:p>
            <a:pPr lvl="1" algn="just" eaLnBrk="1" hangingPunct="1">
              <a:lnSpc>
                <a:spcPct val="120000"/>
              </a:lnSpc>
              <a:buSzTx/>
            </a:pP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rPr>
              <a:t>与（∧）：</a:t>
            </a:r>
            <a:r>
              <a:rPr lang="zh-CN" altLang="en-US" sz="1800" dirty="0">
                <a:solidFill>
                  <a:schemeClr val="dk1"/>
                </a:solidFill>
                <a:latin typeface="微软雅黑" panose="020B0503020204020204" charset="-122"/>
                <a:ea typeface="微软雅黑" panose="020B0503020204020204" charset="-122"/>
                <a:cs typeface="微软雅黑" panose="020B0503020204020204" charset="-122"/>
                <a:sym typeface="+mn-ea"/>
              </a:rPr>
              <a:t>要求程序也可以有任意个输入，但只有这些输入全部为1，输出才能为1，否则输出为0。</a:t>
            </a:r>
          </a:p>
        </p:txBody>
      </p:sp>
      <p:pic>
        <p:nvPicPr>
          <p:cNvPr id="5" name="Picture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48841" y="1533973"/>
            <a:ext cx="7978775" cy="1876425"/>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pic>
      <p:sp>
        <p:nvSpPr>
          <p:cNvPr id="6" name="日期占位符 5"/>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6</a:t>
            </a:fld>
            <a:endParaRPr lang="zh-CN"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wipe(left)">
                                      <p:cBhvr>
                                        <p:cTn id="7" dur="500"/>
                                        <p:tgtEl>
                                          <p:spTgt spid="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Effect transition="in" filter="wipe(left)">
                                      <p:cBhvr>
                                        <p:cTn id="12" dur="500"/>
                                        <p:tgtEl>
                                          <p:spTgt spid="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wipe(left)">
                                      <p:cBhvr>
                                        <p:cTn id="17" dur="5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5" end="5"/>
                                            </p:txEl>
                                          </p:spTgt>
                                        </p:tgtEl>
                                        <p:attrNameLst>
                                          <p:attrName>style.visibility</p:attrName>
                                        </p:attrNameLst>
                                      </p:cBhvr>
                                      <p:to>
                                        <p:strVal val="visible"/>
                                      </p:to>
                                    </p:set>
                                    <p:animEffect transition="in" filter="wipe(left)">
                                      <p:cBhvr>
                                        <p:cTn id="22" dur="500"/>
                                        <p:tgtEl>
                                          <p:spTgt spid="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wipe(left)">
                                      <p:cBhvr>
                                        <p:cTn id="27" dur="500"/>
                                        <p:tgtEl>
                                          <p:spTgt spid="4">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8"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3" name="Rectangle 2"/>
          <p:cNvSpPr>
            <a:spLocks noGrp="1" noChangeArrowheads="1"/>
          </p:cNvSpPr>
          <p:nvPr>
            <p:custDataLst>
              <p:tags r:id="rId4"/>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4400" spc="200" dirty="0">
                <a:solidFill>
                  <a:schemeClr val="accent1"/>
                </a:solidFill>
                <a:latin typeface="Arial" panose="020B0604020202020204" pitchFamily="34" charset="0"/>
                <a:ea typeface="汉仪文黑-85W" panose="00020600040101010101" charset="-122"/>
              </a:rPr>
              <a:t>因果图</a:t>
            </a:r>
            <a:r>
              <a:rPr lang="zh-CN" altLang="en-US" b="1" dirty="0">
                <a:solidFill>
                  <a:schemeClr val="dk2">
                    <a:lumMod val="25000"/>
                  </a:schemeClr>
                </a:solidFill>
                <a:latin typeface="微软雅黑" panose="020B0503020204020204" charset="-122"/>
                <a:ea typeface="微软雅黑" panose="020B0503020204020204" charset="-122"/>
                <a:cs typeface="微软雅黑" panose="020B0503020204020204" charset="-122"/>
              </a:rPr>
              <a:t>的约束符号 </a:t>
            </a:r>
          </a:p>
        </p:txBody>
      </p:sp>
      <p:sp>
        <p:nvSpPr>
          <p:cNvPr id="4" name="Rectangle 3"/>
          <p:cNvSpPr>
            <a:spLocks noGrp="1" noChangeArrowheads="1"/>
          </p:cNvSpPr>
          <p:nvPr>
            <p:custDataLst>
              <p:tags r:id="rId5"/>
            </p:custDataLst>
          </p:nvPr>
        </p:nvSpPr>
        <p:spPr>
          <a:xfrm>
            <a:off x="1890395" y="1351915"/>
            <a:ext cx="8483600" cy="511048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0" indent="0" algn="just">
              <a:lnSpc>
                <a:spcPct val="140000"/>
              </a:lnSpc>
              <a:buNone/>
            </a:pPr>
            <a:r>
              <a:rPr lang="en-US" altLang="zh-CN" sz="2000" b="1" dirty="0">
                <a:latin typeface="+mn-ea"/>
                <a:sym typeface="+mn-ea"/>
              </a:rPr>
              <a:t>2. </a:t>
            </a:r>
            <a:r>
              <a:rPr lang="zh-CN" altLang="zh-CN" sz="2000" b="1" dirty="0">
                <a:latin typeface="+mn-ea"/>
                <a:sym typeface="+mn-ea"/>
              </a:rPr>
              <a:t>输入与输入</a:t>
            </a:r>
            <a:endParaRPr lang="zh-CN" altLang="zh-CN" sz="2000" dirty="0">
              <a:latin typeface="+mn-ea"/>
            </a:endParaRPr>
          </a:p>
          <a:p>
            <a:pPr marL="0" indent="0" algn="just">
              <a:lnSpc>
                <a:spcPct val="140000"/>
              </a:lnSpc>
              <a:buNone/>
            </a:pPr>
            <a:r>
              <a:rPr lang="zh-CN" altLang="zh-CN" sz="2000" dirty="0">
                <a:latin typeface="+mn-ea"/>
                <a:sym typeface="+mn-ea"/>
              </a:rPr>
              <a:t>输入与输入之间同样存在异、或、唯一、要求等</a:t>
            </a:r>
            <a:r>
              <a:rPr lang="en-US" altLang="zh-CN" sz="2000" dirty="0">
                <a:latin typeface="+mn-ea"/>
                <a:sym typeface="+mn-ea"/>
              </a:rPr>
              <a:t>4</a:t>
            </a:r>
            <a:r>
              <a:rPr lang="zh-CN" altLang="zh-CN" sz="2000" dirty="0">
                <a:latin typeface="+mn-ea"/>
                <a:sym typeface="+mn-ea"/>
              </a:rPr>
              <a:t>种关系。</a:t>
            </a:r>
            <a:r>
              <a:rPr lang="zh-CN" altLang="en-US" sz="2000" b="1" dirty="0">
                <a:solidFill>
                  <a:schemeClr val="dk1"/>
                </a:solidFill>
                <a:latin typeface="微软雅黑" panose="020B0503020204020204" charset="-122"/>
                <a:ea typeface="微软雅黑" panose="020B0503020204020204" charset="-122"/>
                <a:cs typeface="微软雅黑" panose="020B0503020204020204" charset="-122"/>
              </a:rPr>
              <a:t>多个输入之间的强制约束符号如下：</a:t>
            </a:r>
            <a:endParaRPr lang="en-US" altLang="zh-CN" sz="2000" b="1" dirty="0">
              <a:solidFill>
                <a:schemeClr val="dk1"/>
              </a:solidFill>
              <a:latin typeface="微软雅黑" panose="020B0503020204020204" charset="-122"/>
              <a:ea typeface="微软雅黑" panose="020B0503020204020204" charset="-122"/>
              <a:cs typeface="微软雅黑" panose="020B0503020204020204" charset="-122"/>
            </a:endParaRPr>
          </a:p>
          <a:p>
            <a:pPr lvl="1" algn="just" eaLnBrk="1" hangingPunct="1">
              <a:lnSpc>
                <a:spcPct val="140000"/>
              </a:lnSpc>
              <a:buSzTx/>
            </a:pP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rPr>
              <a:t>E（</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sym typeface="+mn-ea"/>
              </a:rPr>
              <a:t>Exclusive,</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rPr>
              <a:t>互斥）：</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rPr>
              <a:t>表示a、b两个原因不会同时成立，两个中最多有一个成立。 即</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a和b中最多只能有一个为1，a和b不能同时为1。</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sym typeface="+mn-ea"/>
              </a:rPr>
              <a:t>可以不选。</a:t>
            </a:r>
            <a:endParaRPr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lvl="1" algn="just" eaLnBrk="1" hangingPunct="1">
              <a:lnSpc>
                <a:spcPct val="140000"/>
              </a:lnSpc>
              <a:buSzTx/>
            </a:pP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rPr>
              <a:t>I（include，</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sym typeface="+mn-ea"/>
              </a:rPr>
              <a:t>at least one,</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rPr>
              <a:t>包含）：</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rPr>
              <a:t>表示a、b、c这3个原因中至少有一个必须成立。即</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a、b和c中</a:t>
            </a:r>
            <a:r>
              <a:rPr lang="en-US" altLang="zh-CN" sz="1800" b="1" dirty="0">
                <a:solidFill>
                  <a:srgbClr val="FF0000"/>
                </a:solidFill>
                <a:latin typeface="微软雅黑" panose="020B0503020204020204" charset="-122"/>
                <a:ea typeface="微软雅黑" panose="020B0503020204020204" charset="-122"/>
                <a:cs typeface="微软雅黑" panose="020B0503020204020204" charset="-122"/>
                <a:sym typeface="+mn-ea"/>
              </a:rPr>
              <a:t>至少有一个</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必须是1，即a、b、c不能同时为0。</a:t>
            </a:r>
            <a:endParaRPr lang="en-US" altLang="zh-CN" sz="1800" dirty="0">
              <a:solidFill>
                <a:schemeClr val="dk1"/>
              </a:solidFill>
              <a:latin typeface="微软雅黑" panose="020B0503020204020204" charset="-122"/>
              <a:ea typeface="微软雅黑" panose="020B0503020204020204" charset="-122"/>
              <a:cs typeface="微软雅黑" panose="020B0503020204020204" charset="-122"/>
            </a:endParaRPr>
          </a:p>
          <a:p>
            <a:pPr lvl="1" algn="just" eaLnBrk="1" hangingPunct="1">
              <a:lnSpc>
                <a:spcPct val="140000"/>
              </a:lnSpc>
              <a:buSzTx/>
            </a:pP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rPr>
              <a:t>O（</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sym typeface="+mn-ea"/>
              </a:rPr>
              <a:t>one and only one，</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rPr>
              <a:t>惟一）：</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rPr>
              <a:t>表示a和b当中必须有一个，且仅有一个成立。即</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a和b有且仅有一个为1。</a:t>
            </a:r>
            <a:r>
              <a:rPr lang="zh-CN" altLang="en-US" sz="1800" b="1" dirty="0">
                <a:solidFill>
                  <a:srgbClr val="FF0000"/>
                </a:solidFill>
                <a:latin typeface="微软雅黑" panose="020B0503020204020204" charset="-122"/>
                <a:ea typeface="微软雅黑" panose="020B0503020204020204" charset="-122"/>
                <a:cs typeface="微软雅黑" panose="020B0503020204020204" charset="-122"/>
                <a:sym typeface="+mn-ea"/>
              </a:rPr>
              <a:t>必须选一个。</a:t>
            </a:r>
            <a:endParaRPr lang="en-US" altLang="zh-CN" sz="1800" b="1" dirty="0">
              <a:solidFill>
                <a:schemeClr val="dk1"/>
              </a:solidFill>
              <a:latin typeface="微软雅黑" panose="020B0503020204020204" charset="-122"/>
              <a:ea typeface="微软雅黑" panose="020B0503020204020204" charset="-122"/>
              <a:cs typeface="微软雅黑" panose="020B0503020204020204" charset="-122"/>
            </a:endParaRPr>
          </a:p>
          <a:p>
            <a:pPr lvl="1" algn="just" eaLnBrk="1" hangingPunct="1">
              <a:lnSpc>
                <a:spcPct val="140000"/>
              </a:lnSpc>
              <a:buSzTx/>
            </a:pP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rPr>
              <a:t>R（</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sym typeface="+mn-ea"/>
              </a:rPr>
              <a:t>Requires，</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rPr>
              <a:t>要求）：</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rPr>
              <a:t>表示当a出现时，b必须也出现。a出现时不可能b不出现。即</a:t>
            </a:r>
            <a:r>
              <a:rPr lang="en-US" altLang="zh-CN" sz="1800" dirty="0">
                <a:solidFill>
                  <a:schemeClr val="dk1"/>
                </a:solidFill>
                <a:latin typeface="微软雅黑" panose="020B0503020204020204" charset="-122"/>
                <a:ea typeface="微软雅黑" panose="020B0503020204020204" charset="-122"/>
                <a:cs typeface="微软雅黑" panose="020B0503020204020204" charset="-122"/>
                <a:sym typeface="+mn-ea"/>
              </a:rPr>
              <a:t>a和b必须保持一致，即a=1时，b也必须为1，a=0时，b也必须为0。</a:t>
            </a:r>
            <a:endParaRPr lang="zh-CN" altLang="en-US" sz="1800" dirty="0">
              <a:solidFill>
                <a:schemeClr val="dk1"/>
              </a:solidFill>
              <a:latin typeface="微软雅黑" panose="020B0503020204020204" charset="-122"/>
              <a:ea typeface="微软雅黑" panose="020B0503020204020204" charset="-122"/>
              <a:cs typeface="微软雅黑" panose="020B0503020204020204" charset="-122"/>
            </a:endParaRPr>
          </a:p>
        </p:txBody>
      </p:sp>
      <p:pic>
        <p:nvPicPr>
          <p:cNvPr id="5" name="Picture 5"/>
          <p:cNvPicPr>
            <a:picLocks noChangeAspect="1" noChangeArrowheads="1"/>
          </p:cNvPicPr>
          <p:nvPr/>
        </p:nvPicPr>
        <p:blipFill>
          <a:blip r:embed="rId11">
            <a:extLst>
              <a:ext uri="{28A0092B-C50C-407E-A947-70E740481C1C}">
                <a14:useLocalDpi xmlns:a14="http://schemas.microsoft.com/office/drawing/2010/main" val="0"/>
              </a:ext>
            </a:extLst>
          </a:blip>
          <a:srcRect r="20991"/>
          <a:stretch>
            <a:fillRect/>
          </a:stretch>
        </p:blipFill>
        <p:spPr bwMode="auto">
          <a:xfrm>
            <a:off x="4984490" y="243189"/>
            <a:ext cx="6566535" cy="2246630"/>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pic>
      <p:sp>
        <p:nvSpPr>
          <p:cNvPr id="6" name="日期占位符 5"/>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7</a:t>
            </a:fld>
            <a:endParaRPr lang="zh-CN"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wipe(left)">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left)">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left)">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8"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3" name="Rectangle 2"/>
          <p:cNvSpPr>
            <a:spLocks noGrp="1" noChangeArrowheads="1"/>
          </p:cNvSpPr>
          <p:nvPr>
            <p:custDataLst>
              <p:tags r:id="rId4"/>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4400" spc="200" dirty="0">
                <a:solidFill>
                  <a:schemeClr val="accent1"/>
                </a:solidFill>
                <a:latin typeface="Arial" panose="020B0604020202020204" pitchFamily="34" charset="0"/>
                <a:ea typeface="汉仪文黑-85W" panose="00020600040101010101" charset="-122"/>
              </a:rPr>
              <a:t>因果图的约束符号</a:t>
            </a:r>
            <a:r>
              <a:rPr lang="zh-CN" altLang="en-US" b="1" dirty="0">
                <a:solidFill>
                  <a:schemeClr val="dk2">
                    <a:lumMod val="25000"/>
                  </a:schemeClr>
                </a:solidFill>
                <a:latin typeface="微软雅黑" panose="020B0503020204020204" charset="-122"/>
                <a:ea typeface="微软雅黑" panose="020B0503020204020204" charset="-122"/>
                <a:cs typeface="微软雅黑" panose="020B0503020204020204" charset="-122"/>
              </a:rPr>
              <a:t> </a:t>
            </a:r>
          </a:p>
        </p:txBody>
      </p:sp>
      <p:sp>
        <p:nvSpPr>
          <p:cNvPr id="4" name="Rectangle 3"/>
          <p:cNvSpPr>
            <a:spLocks noGrp="1" noChangeArrowheads="1"/>
          </p:cNvSpPr>
          <p:nvPr>
            <p:custDataLst>
              <p:tags r:id="rId5"/>
            </p:custDataLst>
          </p:nvPr>
        </p:nvSpPr>
        <p:spPr>
          <a:xfrm>
            <a:off x="2064385" y="1520191"/>
            <a:ext cx="5328920" cy="4942205"/>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marL="0" indent="0" algn="just" eaLnBrk="1" hangingPunct="1">
              <a:lnSpc>
                <a:spcPct val="150000"/>
              </a:lnSpc>
              <a:buNone/>
            </a:pPr>
            <a:r>
              <a:rPr lang="en-US" altLang="zh-CN" sz="2400" b="1" dirty="0">
                <a:solidFill>
                  <a:schemeClr val="dk1"/>
                </a:solidFill>
                <a:latin typeface="微软雅黑" panose="020B0503020204020204" charset="-122"/>
                <a:ea typeface="微软雅黑" panose="020B0503020204020204" charset="-122"/>
                <a:cs typeface="微软雅黑" panose="020B0503020204020204" charset="-122"/>
              </a:rPr>
              <a:t>3. </a:t>
            </a:r>
            <a:r>
              <a:rPr lang="zh-CN" altLang="en-US" sz="2400" b="1" dirty="0">
                <a:solidFill>
                  <a:schemeClr val="dk1"/>
                </a:solidFill>
                <a:latin typeface="微软雅黑" panose="020B0503020204020204" charset="-122"/>
                <a:ea typeface="微软雅黑" panose="020B0503020204020204" charset="-122"/>
                <a:cs typeface="微软雅黑" panose="020B0503020204020204" charset="-122"/>
              </a:rPr>
              <a:t>输出条件的强制约束关系</a:t>
            </a:r>
          </a:p>
          <a:p>
            <a:pPr lvl="1" algn="just" eaLnBrk="1" hangingPunct="1">
              <a:lnSpc>
                <a:spcPct val="150000"/>
              </a:lnSpc>
            </a:pPr>
            <a:r>
              <a:rPr lang="en-US" altLang="zh-CN" sz="2000" b="1" dirty="0">
                <a:solidFill>
                  <a:srgbClr val="FF0000"/>
                </a:solidFill>
                <a:latin typeface="微软雅黑" panose="020B0503020204020204" charset="-122"/>
                <a:ea typeface="微软雅黑" panose="020B0503020204020204" charset="-122"/>
                <a:cs typeface="微软雅黑" panose="020B0503020204020204" charset="-122"/>
              </a:rPr>
              <a:t>M（</a:t>
            </a:r>
            <a:r>
              <a:rPr lang="en-US" altLang="zh-CN" sz="2000" b="1" dirty="0">
                <a:solidFill>
                  <a:srgbClr val="FF0000"/>
                </a:solidFill>
                <a:latin typeface="微软雅黑" panose="020B0503020204020204" charset="-122"/>
                <a:ea typeface="微软雅黑" panose="020B0503020204020204" charset="-122"/>
                <a:cs typeface="微软雅黑" panose="020B0503020204020204" charset="-122"/>
                <a:sym typeface="+mn-ea"/>
              </a:rPr>
              <a:t>Mask，</a:t>
            </a:r>
            <a:r>
              <a:rPr lang="en-US" altLang="zh-CN" sz="2000" b="1" dirty="0">
                <a:solidFill>
                  <a:srgbClr val="FF0000"/>
                </a:solidFill>
                <a:latin typeface="微软雅黑" panose="020B0503020204020204" charset="-122"/>
                <a:ea typeface="微软雅黑" panose="020B0503020204020204" charset="-122"/>
                <a:cs typeface="微软雅黑" panose="020B0503020204020204" charset="-122"/>
              </a:rPr>
              <a:t>强制）：</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表示当</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a=1</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时，</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b</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强制为</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0</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。而当</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a=0</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时，</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b</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强制为</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a:t>
            </a:r>
          </a:p>
          <a:p>
            <a:pPr lvl="1" algn="just" eaLnBrk="1" hangingPunct="1">
              <a:lnSpc>
                <a:spcPct val="150000"/>
              </a:lnSpc>
            </a:pP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rPr>
              <a:t>又称为屏蔽</a:t>
            </a:r>
          </a:p>
          <a:p>
            <a:pPr lvl="0" algn="just" eaLnBrk="1" hangingPunct="1">
              <a:lnSpc>
                <a:spcPct val="150000"/>
              </a:lnSpc>
            </a:pPr>
            <a:r>
              <a:rPr lang="zh-CN" altLang="en-US" sz="2305" b="1" dirty="0">
                <a:solidFill>
                  <a:schemeClr val="dk1"/>
                </a:solidFill>
                <a:latin typeface="微软雅黑" panose="020B0503020204020204" charset="-122"/>
                <a:ea typeface="微软雅黑" panose="020B0503020204020204" charset="-122"/>
                <a:cs typeface="微软雅黑" panose="020B0503020204020204" charset="-122"/>
              </a:rPr>
              <a:t>注：</a:t>
            </a:r>
            <a:r>
              <a:rPr lang="zh-CN" altLang="en-US" sz="2305" dirty="0">
                <a:solidFill>
                  <a:schemeClr val="dk1"/>
                </a:solidFill>
                <a:latin typeface="微软雅黑" panose="020B0503020204020204" charset="-122"/>
                <a:ea typeface="微软雅黑" panose="020B0503020204020204" charset="-122"/>
                <a:cs typeface="微软雅黑" panose="020B0503020204020204" charset="-122"/>
              </a:rPr>
              <a:t>当原因或结果成立（或出现）时，相应的节点取值为</a:t>
            </a:r>
            <a:r>
              <a:rPr lang="en-US" altLang="zh-CN" sz="2305"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305" dirty="0">
                <a:solidFill>
                  <a:schemeClr val="dk1"/>
                </a:solidFill>
                <a:latin typeface="微软雅黑" panose="020B0503020204020204" charset="-122"/>
                <a:ea typeface="微软雅黑" panose="020B0503020204020204" charset="-122"/>
                <a:cs typeface="微软雅黑" panose="020B0503020204020204" charset="-122"/>
              </a:rPr>
              <a:t>，否则取值为</a:t>
            </a:r>
            <a:r>
              <a:rPr lang="en-US" altLang="zh-CN" sz="2305" dirty="0">
                <a:solidFill>
                  <a:schemeClr val="dk1"/>
                </a:solidFill>
                <a:latin typeface="微软雅黑" panose="020B0503020204020204" charset="-122"/>
                <a:ea typeface="微软雅黑" panose="020B0503020204020204" charset="-122"/>
                <a:cs typeface="微软雅黑" panose="020B0503020204020204" charset="-122"/>
              </a:rPr>
              <a:t>0</a:t>
            </a:r>
            <a:r>
              <a:rPr lang="zh-CN" altLang="en-US" sz="2305" dirty="0">
                <a:solidFill>
                  <a:schemeClr val="dk1"/>
                </a:solidFill>
                <a:latin typeface="微软雅黑" panose="020B0503020204020204" charset="-122"/>
                <a:ea typeface="微软雅黑" panose="020B0503020204020204" charset="-122"/>
                <a:cs typeface="微软雅黑" panose="020B0503020204020204" charset="-122"/>
              </a:rPr>
              <a:t>。</a:t>
            </a:r>
          </a:p>
        </p:txBody>
      </p:sp>
      <p:pic>
        <p:nvPicPr>
          <p:cNvPr id="5" name="Picture 5"/>
          <p:cNvPicPr>
            <a:picLocks noChangeAspect="1" noChangeArrowheads="1"/>
          </p:cNvPicPr>
          <p:nvPr/>
        </p:nvPicPr>
        <p:blipFill>
          <a:blip r:embed="rId11">
            <a:extLst>
              <a:ext uri="{28A0092B-C50C-407E-A947-70E740481C1C}">
                <a14:useLocalDpi xmlns:a14="http://schemas.microsoft.com/office/drawing/2010/main" val="0"/>
              </a:ext>
            </a:extLst>
          </a:blip>
          <a:srcRect l="81240"/>
          <a:stretch>
            <a:fillRect/>
          </a:stretch>
        </p:blipFill>
        <p:spPr bwMode="auto">
          <a:xfrm>
            <a:off x="7981950" y="2047240"/>
            <a:ext cx="1521460" cy="2246630"/>
          </a:xfrm>
          <a:prstGeom prst="rect">
            <a:avLst/>
          </a:prstGeom>
          <a:noFill/>
          <a:ln w="9525">
            <a:solidFill>
              <a:srgbClr val="0070C0"/>
            </a:solidFill>
            <a:miter lim="800000"/>
            <a:headEnd/>
            <a:tailEnd/>
          </a:ln>
          <a:extLst>
            <a:ext uri="{909E8E84-426E-40DD-AFC4-6F175D3DCCD1}">
              <a14:hiddenFill xmlns:a14="http://schemas.microsoft.com/office/drawing/2010/main">
                <a:solidFill>
                  <a:srgbClr val="FFFFFF"/>
                </a:solidFill>
              </a14:hiddenFill>
            </a:ext>
          </a:extLst>
        </p:spPr>
      </p:pic>
      <p:sp>
        <p:nvSpPr>
          <p:cNvPr id="6" name="日期占位符 5"/>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8</a:t>
            </a:fld>
            <a:endParaRPr lang="zh-CN"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标题 14"/>
          <p:cNvSpPr>
            <a:spLocks noGrp="1"/>
          </p:cNvSpPr>
          <p:nvPr>
            <p:ph type="title"/>
          </p:nvPr>
        </p:nvSpPr>
        <p:spPr>
          <a:xfrm>
            <a:off x="2026285" y="357505"/>
            <a:ext cx="8139430" cy="698500"/>
          </a:xfrm>
        </p:spPr>
        <p:txBody>
          <a:bodyPr>
            <a:normAutofit/>
          </a:bodyPr>
          <a:lstStyle/>
          <a:p>
            <a:r>
              <a:rPr lang="zh-CN" altLang="en-US"/>
              <a:t>因果图法案例</a:t>
            </a:r>
          </a:p>
        </p:txBody>
      </p:sp>
      <p:sp>
        <p:nvSpPr>
          <p:cNvPr id="2" name="日期占位符 1"/>
          <p:cNvSpPr>
            <a:spLocks noGrp="1"/>
          </p:cNvSpPr>
          <p:nvPr>
            <p:ph type="dt" sz="half" idx="10"/>
          </p:nvPr>
        </p:nvSpPr>
        <p:spPr/>
        <p:txBody>
          <a:bodyPr>
            <a:normAutofit fontScale="92500" lnSpcReduction="20000"/>
          </a:bodyPr>
          <a:lstStyle/>
          <a:p>
            <a:fld id="{760FBDFE-C587-4B4C-A407-44438C67B59E}" type="datetime1">
              <a:rPr lang="zh-CN" altLang="en-US" smtClean="0"/>
              <a:t>2024/3/27</a:t>
            </a:fld>
            <a:endParaRPr lang="zh-CN" altLang="en-US"/>
          </a:p>
        </p:txBody>
      </p:sp>
      <p:sp>
        <p:nvSpPr>
          <p:cNvPr id="3" name="灯片编号占位符 2"/>
          <p:cNvSpPr>
            <a:spLocks noGrp="1"/>
          </p:cNvSpPr>
          <p:nvPr>
            <p:ph type="sldNum" sz="quarter" idx="12"/>
          </p:nvPr>
        </p:nvSpPr>
        <p:spPr/>
        <p:txBody>
          <a:bodyPr>
            <a:normAutofit fontScale="92500" lnSpcReduction="20000"/>
          </a:bodyPr>
          <a:lstStyle/>
          <a:p>
            <a:fld id="{49AE70B2-8BF9-45C0-BB95-33D1B9D3A854}" type="slidenum">
              <a:rPr lang="zh-CN" altLang="en-US" smtClean="0"/>
              <a:t>9</a:t>
            </a:fld>
            <a:endParaRPr lang="zh-CN" altLang="en-US"/>
          </a:p>
        </p:txBody>
      </p:sp>
      <p:pic>
        <p:nvPicPr>
          <p:cNvPr id="4" name="图片 3"/>
          <p:cNvPicPr>
            <a:picLocks noChangeAspect="1"/>
          </p:cNvPicPr>
          <p:nvPr/>
        </p:nvPicPr>
        <p:blipFill>
          <a:blip r:embed="rId3"/>
          <a:stretch>
            <a:fillRect/>
          </a:stretch>
        </p:blipFill>
        <p:spPr>
          <a:xfrm>
            <a:off x="2447925" y="1196976"/>
            <a:ext cx="3401060" cy="1864995"/>
          </a:xfrm>
          <a:prstGeom prst="rect">
            <a:avLst/>
          </a:prstGeom>
        </p:spPr>
      </p:pic>
      <p:sp>
        <p:nvSpPr>
          <p:cNvPr id="5" name="文本框 4"/>
          <p:cNvSpPr txBox="1"/>
          <p:nvPr/>
        </p:nvSpPr>
        <p:spPr>
          <a:xfrm>
            <a:off x="3810001" y="2083436"/>
            <a:ext cx="2352675" cy="805815"/>
          </a:xfrm>
          <a:prstGeom prst="rect">
            <a:avLst/>
          </a:prstGeom>
          <a:noFill/>
        </p:spPr>
        <p:txBody>
          <a:bodyPr wrap="square" rtlCol="0" anchor="t">
            <a:noAutofit/>
          </a:bodyPr>
          <a:lstStyle/>
          <a:p>
            <a:pPr>
              <a:lnSpc>
                <a:spcPct val="120000"/>
              </a:lnSpc>
            </a:pP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sym typeface="+mn-ea"/>
              </a:rPr>
              <a:t>互斥</a:t>
            </a:r>
            <a:r>
              <a:rPr lang="zh-CN" altLang="en-US" sz="1875" b="1" dirty="0">
                <a:solidFill>
                  <a:srgbClr val="FF0000"/>
                </a:solidFill>
                <a:latin typeface="微软雅黑" panose="020B0503020204020204" charset="-122"/>
                <a:ea typeface="微软雅黑" panose="020B0503020204020204" charset="-122"/>
                <a:cs typeface="微软雅黑" panose="020B0503020204020204" charset="-122"/>
                <a:sym typeface="+mn-ea"/>
              </a:rPr>
              <a:t>：可不选</a:t>
            </a:r>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sym typeface="+mn-ea"/>
              </a:rPr>
              <a:t> </a:t>
            </a:r>
          </a:p>
          <a:p>
            <a:pPr>
              <a:lnSpc>
                <a:spcPct val="120000"/>
              </a:lnSpc>
            </a:pPr>
            <a:r>
              <a:rPr lang="zh-CN" altLang="en-US" sz="1875" b="1" dirty="0">
                <a:solidFill>
                  <a:srgbClr val="FF0000"/>
                </a:solidFill>
                <a:latin typeface="微软雅黑" panose="020B0503020204020204" charset="-122"/>
                <a:ea typeface="微软雅黑" panose="020B0503020204020204" charset="-122"/>
                <a:cs typeface="微软雅黑" panose="020B0503020204020204" charset="-122"/>
                <a:sym typeface="+mn-ea"/>
              </a:rPr>
              <a:t>唯一：必选一个</a:t>
            </a:r>
          </a:p>
        </p:txBody>
      </p:sp>
      <p:pic>
        <p:nvPicPr>
          <p:cNvPr id="6" name="图片 5"/>
          <p:cNvPicPr>
            <a:picLocks noChangeAspect="1"/>
          </p:cNvPicPr>
          <p:nvPr/>
        </p:nvPicPr>
        <p:blipFill>
          <a:blip r:embed="rId4"/>
          <a:stretch>
            <a:fillRect/>
          </a:stretch>
        </p:blipFill>
        <p:spPr>
          <a:xfrm>
            <a:off x="2526030" y="3427095"/>
            <a:ext cx="2524760" cy="2424430"/>
          </a:xfrm>
          <a:prstGeom prst="rect">
            <a:avLst/>
          </a:prstGeom>
        </p:spPr>
      </p:pic>
      <p:sp>
        <p:nvSpPr>
          <p:cNvPr id="7" name="文本框 6"/>
          <p:cNvSpPr txBox="1"/>
          <p:nvPr/>
        </p:nvSpPr>
        <p:spPr>
          <a:xfrm>
            <a:off x="3810001" y="4309746"/>
            <a:ext cx="1593215" cy="663575"/>
          </a:xfrm>
          <a:prstGeom prst="rect">
            <a:avLst/>
          </a:prstGeom>
          <a:noFill/>
        </p:spPr>
        <p:txBody>
          <a:bodyPr wrap="square" rtlCol="0" anchor="t">
            <a:noAutofit/>
          </a:bodyPr>
          <a:lstStyle/>
          <a:p>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sym typeface="+mn-ea"/>
              </a:rPr>
              <a:t>包含</a:t>
            </a:r>
          </a:p>
        </p:txBody>
      </p:sp>
      <p:pic>
        <p:nvPicPr>
          <p:cNvPr id="8" name="图片 7"/>
          <p:cNvPicPr>
            <a:picLocks noChangeAspect="1"/>
          </p:cNvPicPr>
          <p:nvPr/>
        </p:nvPicPr>
        <p:blipFill>
          <a:blip r:embed="rId5"/>
          <a:stretch>
            <a:fillRect/>
          </a:stretch>
        </p:blipFill>
        <p:spPr>
          <a:xfrm>
            <a:off x="6431280" y="933451"/>
            <a:ext cx="2753360" cy="1984375"/>
          </a:xfrm>
          <a:prstGeom prst="rect">
            <a:avLst/>
          </a:prstGeom>
        </p:spPr>
      </p:pic>
      <p:sp>
        <p:nvSpPr>
          <p:cNvPr id="9" name="文本框 8"/>
          <p:cNvSpPr txBox="1"/>
          <p:nvPr/>
        </p:nvSpPr>
        <p:spPr>
          <a:xfrm>
            <a:off x="9452611" y="1464946"/>
            <a:ext cx="1064895" cy="427355"/>
          </a:xfrm>
          <a:prstGeom prst="rect">
            <a:avLst/>
          </a:prstGeom>
          <a:noFill/>
        </p:spPr>
        <p:txBody>
          <a:bodyPr wrap="square" rtlCol="0" anchor="t">
            <a:noAutofit/>
          </a:bodyPr>
          <a:lstStyle/>
          <a:p>
            <a:r>
              <a:rPr lang="en-US" altLang="zh-CN" sz="1875" b="1" dirty="0">
                <a:solidFill>
                  <a:srgbClr val="FF0000"/>
                </a:solidFill>
                <a:latin typeface="微软雅黑" panose="020B0503020204020204" charset="-122"/>
                <a:ea typeface="微软雅黑" panose="020B0503020204020204" charset="-122"/>
                <a:cs typeface="微软雅黑" panose="020B0503020204020204" charset="-122"/>
                <a:sym typeface="+mn-ea"/>
              </a:rPr>
              <a:t>要求</a:t>
            </a:r>
          </a:p>
        </p:txBody>
      </p:sp>
      <p:pic>
        <p:nvPicPr>
          <p:cNvPr id="10" name="图片 9"/>
          <p:cNvPicPr>
            <a:picLocks noChangeAspect="1"/>
          </p:cNvPicPr>
          <p:nvPr>
            <p:custDataLst>
              <p:tags r:id="rId1"/>
            </p:custDataLst>
          </p:nvPr>
        </p:nvPicPr>
        <p:blipFill>
          <a:blip r:embed="rId6"/>
          <a:stretch>
            <a:fillRect/>
          </a:stretch>
        </p:blipFill>
        <p:spPr>
          <a:xfrm>
            <a:off x="6062346" y="3295015"/>
            <a:ext cx="3274695" cy="3237230"/>
          </a:xfrm>
          <a:prstGeom prst="rect">
            <a:avLst/>
          </a:prstGeom>
        </p:spPr>
      </p:pic>
      <p:sp>
        <p:nvSpPr>
          <p:cNvPr id="11" name="文本框 10"/>
          <p:cNvSpPr txBox="1"/>
          <p:nvPr/>
        </p:nvSpPr>
        <p:spPr>
          <a:xfrm>
            <a:off x="9452610" y="4436110"/>
            <a:ext cx="919480" cy="537210"/>
          </a:xfrm>
          <a:prstGeom prst="rect">
            <a:avLst/>
          </a:prstGeom>
          <a:noFill/>
        </p:spPr>
        <p:txBody>
          <a:bodyPr wrap="square" rtlCol="0" anchor="t">
            <a:noAutofit/>
          </a:bodyPr>
          <a:lstStyle/>
          <a:p>
            <a:pPr lvl="0" eaLnBrk="1" hangingPunct="1">
              <a:lnSpc>
                <a:spcPct val="150000"/>
              </a:lnSpc>
            </a:pP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ea"/>
              </a:rPr>
              <a:t>屏蔽</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3" name="Rectangle 2"/>
          <p:cNvSpPr>
            <a:spLocks noGrp="1" noChangeArrowheads="1"/>
          </p:cNvSpPr>
          <p:nvPr>
            <p:custDataLst>
              <p:tags r:id="rId4"/>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4400" spc="200" dirty="0">
                <a:solidFill>
                  <a:schemeClr val="accent1"/>
                </a:solidFill>
                <a:latin typeface="Arial" panose="020B0604020202020204" pitchFamily="34" charset="0"/>
                <a:ea typeface="汉仪文黑-85W" panose="00020600040101010101" charset="-122"/>
              </a:rPr>
              <a:t>因果图法</a:t>
            </a:r>
          </a:p>
        </p:txBody>
      </p:sp>
      <p:sp>
        <p:nvSpPr>
          <p:cNvPr id="4" name="Rectangle 3"/>
          <p:cNvSpPr>
            <a:spLocks noGrp="1" noChangeArrowheads="1"/>
          </p:cNvSpPr>
          <p:nvPr>
            <p:custDataLst>
              <p:tags r:id="rId5"/>
            </p:custDataLst>
          </p:nvPr>
        </p:nvSpPr>
        <p:spPr>
          <a:xfrm>
            <a:off x="1941830" y="1433830"/>
            <a:ext cx="8301990" cy="504190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lvl="0" algn="just" eaLnBrk="1" hangingPunct="1">
              <a:lnSpc>
                <a:spcPct val="120000"/>
              </a:lnSpc>
            </a:pPr>
            <a:r>
              <a:rPr lang="zh-CN" altLang="en-US" sz="2800" b="1" dirty="0">
                <a:solidFill>
                  <a:schemeClr val="dk1"/>
                </a:solidFill>
                <a:latin typeface="微软雅黑" panose="020B0503020204020204" charset="-122"/>
                <a:ea typeface="微软雅黑" panose="020B0503020204020204" charset="-122"/>
                <a:cs typeface="微软雅黑" panose="020B0503020204020204" charset="-122"/>
              </a:rPr>
              <a:t>利用因果图设计测试用例的步骤：</a:t>
            </a:r>
          </a:p>
          <a:p>
            <a:pPr marL="928370" lvl="1" indent="-457200" algn="just" eaLnBrk="1" hangingPunct="1">
              <a:lnSpc>
                <a:spcPct val="120000"/>
              </a:lnSpc>
              <a:buAutoNum type="arabicPeriod"/>
            </a:pPr>
            <a:r>
              <a:rPr altLang="zh-CN" sz="2000">
                <a:latin typeface="Lucida Sans Unicode" panose="020B0602030504020204"/>
                <a:cs typeface="Lucida Sans Unicode" panose="020B0602030504020204"/>
                <a:sym typeface="+mn-ea"/>
              </a:rPr>
              <a:t>分析程序规格说明书描述内容，确定程序的输入与输出，即确定“原因”和“结果”，可根据输入、输出条件的等价类来确定。</a:t>
            </a: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sym typeface="+mn-ea"/>
              </a:rPr>
              <a:t>原因是输入条件或输入条件的等价类，而结果是输出条件</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sym typeface="+mn-ea"/>
              </a:rPr>
              <a:t>。</a:t>
            </a:r>
            <a:endParaRPr lang="zh-CN" altLang="en-US" sz="2000" dirty="0">
              <a:solidFill>
                <a:schemeClr val="dk1"/>
              </a:solidFill>
              <a:latin typeface="微软雅黑" panose="020B0503020204020204" charset="-122"/>
              <a:ea typeface="微软雅黑" panose="020B0503020204020204" charset="-122"/>
              <a:cs typeface="微软雅黑" panose="020B0503020204020204" charset="-122"/>
            </a:endParaRPr>
          </a:p>
          <a:p>
            <a:pPr marL="928370" lvl="1" indent="-457200" algn="just" eaLnBrk="1" hangingPunct="1">
              <a:lnSpc>
                <a:spcPct val="120000"/>
              </a:lnSpc>
              <a:buAutoNum type="arabicPeriod"/>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分析程序规格说明的描述中语义的内容，</a:t>
            </a:r>
            <a:r>
              <a:rPr altLang="zh-CN" sz="2000">
                <a:latin typeface="Lucida Sans Unicode" panose="020B0602030504020204"/>
                <a:cs typeface="Lucida Sans Unicode" panose="020B0602030504020204"/>
                <a:sym typeface="+mn-ea"/>
              </a:rPr>
              <a:t>输入与输入之间、输入与输出之间的对应关系，</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并将其表示成连接各个原因与各个结果的“因果图”。</a:t>
            </a:r>
          </a:p>
          <a:p>
            <a:pPr marL="928370" lvl="1" indent="-457200" algn="just" eaLnBrk="1" hangingPunct="1">
              <a:lnSpc>
                <a:spcPct val="120000"/>
              </a:lnSpc>
              <a:buAutoNum type="arabicPeriod"/>
            </a:pP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rPr>
              <a:t>标明约束条件</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。由于语法或环境的限制，有些原因和结果的组合情况是不可能出现的。为表明这些特定的情况，在因果图上使用若干个标准的符号标明约束条件。</a:t>
            </a:r>
          </a:p>
          <a:p>
            <a:pPr marL="928370" lvl="1" indent="-457200" algn="just" eaLnBrk="1" hangingPunct="1">
              <a:lnSpc>
                <a:spcPct val="120000"/>
              </a:lnSpc>
              <a:buAutoNum type="arabicPeriod"/>
            </a:pPr>
            <a:r>
              <a:rPr lang="zh-CN" altLang="en-US" sz="2000" b="1" dirty="0">
                <a:solidFill>
                  <a:srgbClr val="FF0000"/>
                </a:solidFill>
                <a:latin typeface="微软雅黑" panose="020B0503020204020204" charset="-122"/>
                <a:ea typeface="微软雅黑" panose="020B0503020204020204" charset="-122"/>
                <a:cs typeface="微软雅黑" panose="020B0503020204020204" charset="-122"/>
              </a:rPr>
              <a:t>把因果图转换成决策表</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a:t>
            </a:r>
          </a:p>
          <a:p>
            <a:pPr marL="928370" lvl="1" indent="-457200" algn="just" eaLnBrk="1" hangingPunct="1">
              <a:lnSpc>
                <a:spcPct val="120000"/>
              </a:lnSpc>
              <a:buAutoNum type="arabicPeriod"/>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为决策表中每一列表示的情况设计一个测试用例。</a:t>
            </a:r>
          </a:p>
        </p:txBody>
      </p:sp>
      <p:sp>
        <p:nvSpPr>
          <p:cNvPr id="5" name="日期占位符 4"/>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10</a:t>
            </a:fld>
            <a:endParaRPr lang="zh-CN" altLang="en-US"/>
          </a:p>
        </p:txBody>
      </p:sp>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buClrTx/>
              <a:buSzTx/>
              <a:buFontTx/>
            </a:pPr>
            <a:r>
              <a:rPr>
                <a:solidFill>
                  <a:schemeClr val="accent1"/>
                </a:solidFill>
                <a:ea typeface="汉仪文黑-85W" panose="00020600040101010101" charset="-122"/>
                <a:sym typeface="+mn-ea"/>
              </a:rPr>
              <a:t>因果图法</a:t>
            </a:r>
          </a:p>
        </p:txBody>
      </p:sp>
      <p:sp>
        <p:nvSpPr>
          <p:cNvPr id="5" name="内容占位符 4"/>
          <p:cNvSpPr>
            <a:spLocks noGrp="1"/>
          </p:cNvSpPr>
          <p:nvPr>
            <p:ph idx="1"/>
          </p:nvPr>
        </p:nvSpPr>
        <p:spPr>
          <a:xfrm>
            <a:off x="2026285" y="1487171"/>
            <a:ext cx="8139430" cy="4901565"/>
          </a:xfrm>
        </p:spPr>
        <p:txBody>
          <a:bodyPr/>
          <a:lstStyle/>
          <a:p>
            <a:pPr marL="469900" indent="-469900" algn="just" fontAlgn="base">
              <a:lnSpc>
                <a:spcPct val="120000"/>
              </a:lnSpc>
              <a:spcBef>
                <a:spcPct val="20000"/>
              </a:spcBef>
              <a:buClr>
                <a:schemeClr val="accent2"/>
              </a:buClr>
              <a:buFont typeface="Wingdings" panose="05000000000000000000" pitchFamily="2" charset="2"/>
              <a:buChar char="o"/>
            </a:pPr>
            <a:r>
              <a:rPr b="1">
                <a:solidFill>
                  <a:schemeClr val="dk1"/>
                </a:solidFill>
                <a:latin typeface="微软雅黑" panose="020B0503020204020204" charset="-122"/>
                <a:cs typeface="微软雅黑" panose="020B0503020204020204" charset="-122"/>
                <a:sym typeface="+mn-ea"/>
              </a:rPr>
              <a:t>因果图转换为决策表的方法：</a:t>
            </a:r>
          </a:p>
          <a:p>
            <a:pPr marL="914400" lvl="1" indent="-457200" algn="just">
              <a:lnSpc>
                <a:spcPct val="150000"/>
              </a:lnSpc>
              <a:spcBef>
                <a:spcPct val="0"/>
              </a:spcBef>
              <a:buClr>
                <a:srgbClr val="2780B7"/>
              </a:buClr>
              <a:buFont typeface="Wingdings" panose="05000000000000000000" charset="0"/>
              <a:buAutoNum type="arabicPeriod"/>
              <a:defRPr/>
            </a:pPr>
            <a:r>
              <a:rPr altLang="zh-CN">
                <a:latin typeface="Lucida Sans Unicode" panose="020B0602030504020204"/>
                <a:cs typeface="Lucida Sans Unicode" panose="020B0602030504020204"/>
                <a:sym typeface="+mn-ea"/>
              </a:rPr>
              <a:t>将所有原因作为输入条件项，每一项原因设为一行，列出所有条件取值（真值为</a:t>
            </a:r>
            <a:r>
              <a:rPr lang="en-US" altLang="zh-CN">
                <a:latin typeface="Lucida Sans Unicode" panose="020B0602030504020204"/>
                <a:cs typeface="Lucida Sans Unicode" panose="020B0602030504020204"/>
                <a:sym typeface="+mn-ea"/>
              </a:rPr>
              <a:t>1</a:t>
            </a:r>
            <a:r>
              <a:rPr>
                <a:latin typeface="Lucida Sans Unicode" panose="020B0602030504020204"/>
                <a:cs typeface="Lucida Sans Unicode" panose="020B0602030504020204"/>
                <a:sym typeface="+mn-ea"/>
              </a:rPr>
              <a:t>，假值为</a:t>
            </a:r>
            <a:r>
              <a:rPr lang="en-US" altLang="zh-CN">
                <a:latin typeface="Lucida Sans Unicode" panose="020B0602030504020204"/>
                <a:cs typeface="Lucida Sans Unicode" panose="020B0602030504020204"/>
                <a:sym typeface="+mn-ea"/>
              </a:rPr>
              <a:t>0</a:t>
            </a:r>
            <a:r>
              <a:rPr>
                <a:latin typeface="Lucida Sans Unicode" panose="020B0602030504020204"/>
                <a:cs typeface="Lucida Sans Unicode" panose="020B0602030504020204"/>
                <a:sym typeface="+mn-ea"/>
              </a:rPr>
              <a:t>）。</a:t>
            </a:r>
          </a:p>
          <a:p>
            <a:pPr marL="914400" lvl="1" indent="-457200" algn="just">
              <a:lnSpc>
                <a:spcPct val="150000"/>
              </a:lnSpc>
              <a:spcBef>
                <a:spcPct val="0"/>
              </a:spcBef>
              <a:buClr>
                <a:srgbClr val="2780B7"/>
              </a:buClr>
              <a:buFont typeface="Wingdings" panose="05000000000000000000" charset="0"/>
              <a:buAutoNum type="arabicPeriod"/>
              <a:defRPr/>
            </a:pPr>
            <a:r>
              <a:rPr>
                <a:latin typeface="Lucida Sans Unicode" panose="020B0602030504020204"/>
                <a:cs typeface="Lucida Sans Unicode" panose="020B0602030504020204"/>
                <a:sym typeface="+mn-ea"/>
              </a:rPr>
              <a:t>将每种条件组合设为一列，并将各条件的取值情况分别添加到决策表对应的单元格中。</a:t>
            </a:r>
          </a:p>
          <a:p>
            <a:pPr marL="914400" lvl="1" indent="-457200" algn="just">
              <a:lnSpc>
                <a:spcPct val="150000"/>
              </a:lnSpc>
              <a:spcBef>
                <a:spcPct val="0"/>
              </a:spcBef>
              <a:buClr>
                <a:srgbClr val="2780B7"/>
              </a:buClr>
              <a:buFont typeface="Wingdings" panose="05000000000000000000" charset="0"/>
              <a:buAutoNum type="arabicPeriod"/>
              <a:defRPr/>
            </a:pPr>
            <a:r>
              <a:rPr>
                <a:latin typeface="Lucida Sans Unicode" panose="020B0602030504020204"/>
                <a:cs typeface="Lucida Sans Unicode" panose="020B0602030504020204"/>
                <a:sym typeface="+mn-ea"/>
              </a:rPr>
              <a:t>根据条件之间的约束关系，排除无效的条件组合。</a:t>
            </a:r>
            <a:endParaRPr lang="zh-CN" altLang="zh-CN">
              <a:latin typeface="Lucida Sans Unicode" panose="020B0602030504020204"/>
              <a:cs typeface="Lucida Sans Unicode" panose="020B0602030504020204"/>
              <a:sym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11</a:t>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2" name="Rectangle 2"/>
          <p:cNvSpPr>
            <a:spLocks noGrp="1" noChangeArrowheads="1"/>
          </p:cNvSpPr>
          <p:nvPr>
            <p:custDataLst>
              <p:tags r:id="rId4"/>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4400" spc="200" dirty="0">
                <a:solidFill>
                  <a:schemeClr val="accent1"/>
                </a:solidFill>
                <a:latin typeface="Arial" panose="020B0604020202020204" pitchFamily="34" charset="0"/>
                <a:ea typeface="汉仪文黑-85W" panose="00020600040101010101" charset="-122"/>
              </a:rPr>
              <a:t>实例1</a:t>
            </a:r>
          </a:p>
        </p:txBody>
      </p:sp>
      <p:sp>
        <p:nvSpPr>
          <p:cNvPr id="3" name="内容占位符 3"/>
          <p:cNvSpPr>
            <a:spLocks noGrp="1"/>
          </p:cNvSpPr>
          <p:nvPr>
            <p:custDataLst>
              <p:tags r:id="rId5"/>
            </p:custDataLst>
          </p:nvPr>
        </p:nvSpPr>
        <p:spPr>
          <a:xfrm>
            <a:off x="2091055" y="1622425"/>
            <a:ext cx="8001000" cy="422402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gn="just">
              <a:lnSpc>
                <a:spcPct val="120000"/>
              </a:lnSpc>
            </a:pPr>
            <a:r>
              <a:rPr lang="zh-CN" altLang="en-US" sz="2800" dirty="0">
                <a:solidFill>
                  <a:schemeClr val="dk1"/>
                </a:solidFill>
                <a:latin typeface="微软雅黑" panose="020B0503020204020204" charset="-122"/>
                <a:ea typeface="微软雅黑" panose="020B0503020204020204" charset="-122"/>
                <a:cs typeface="微软雅黑" panose="020B0503020204020204" charset="-122"/>
              </a:rPr>
              <a:t>有一个处理单价为</a:t>
            </a:r>
            <a:r>
              <a:rPr lang="en-US" altLang="zh-CN" sz="2800"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800" dirty="0">
                <a:solidFill>
                  <a:schemeClr val="dk1"/>
                </a:solidFill>
                <a:latin typeface="微软雅黑" panose="020B0503020204020204" charset="-122"/>
                <a:ea typeface="微软雅黑" panose="020B0503020204020204" charset="-122"/>
                <a:cs typeface="微软雅黑" panose="020B0503020204020204" charset="-122"/>
              </a:rPr>
              <a:t>元</a:t>
            </a:r>
            <a:r>
              <a:rPr lang="en-US" altLang="zh-CN" sz="2800" dirty="0">
                <a:solidFill>
                  <a:schemeClr val="dk1"/>
                </a:solidFill>
                <a:latin typeface="微软雅黑" panose="020B0503020204020204" charset="-122"/>
                <a:ea typeface="微软雅黑" panose="020B0503020204020204" charset="-122"/>
                <a:cs typeface="微软雅黑" panose="020B0503020204020204" charset="-122"/>
              </a:rPr>
              <a:t>5</a:t>
            </a:r>
            <a:r>
              <a:rPr lang="zh-CN" altLang="en-US" sz="2800" dirty="0">
                <a:solidFill>
                  <a:schemeClr val="dk1"/>
                </a:solidFill>
                <a:latin typeface="微软雅黑" panose="020B0503020204020204" charset="-122"/>
                <a:ea typeface="微软雅黑" panose="020B0503020204020204" charset="-122"/>
                <a:cs typeface="微软雅黑" panose="020B0503020204020204" charset="-122"/>
              </a:rPr>
              <a:t>角钱的盒装饮料的自动售货机软件，需求如下：</a:t>
            </a:r>
          </a:p>
          <a:p>
            <a:pPr lvl="1" algn="just">
              <a:lnSpc>
                <a:spcPct val="140000"/>
              </a:lnSpc>
            </a:pPr>
            <a:r>
              <a:rPr lang="zh-CN" altLang="en-US" sz="2425" dirty="0">
                <a:solidFill>
                  <a:schemeClr val="dk1"/>
                </a:solidFill>
                <a:latin typeface="微软雅黑" panose="020B0503020204020204" charset="-122"/>
                <a:ea typeface="微软雅黑" panose="020B0503020204020204" charset="-122"/>
                <a:cs typeface="微软雅黑" panose="020B0503020204020204" charset="-122"/>
              </a:rPr>
              <a:t>若投入</a:t>
            </a:r>
            <a:r>
              <a:rPr lang="en-US" altLang="zh-CN" sz="2425" dirty="0">
                <a:solidFill>
                  <a:schemeClr val="dk1"/>
                </a:solidFill>
                <a:latin typeface="微软雅黑" panose="020B0503020204020204" charset="-122"/>
                <a:ea typeface="微软雅黑" panose="020B0503020204020204" charset="-122"/>
                <a:cs typeface="微软雅黑" panose="020B0503020204020204" charset="-122"/>
              </a:rPr>
              <a:t>1</a:t>
            </a:r>
            <a:r>
              <a:rPr lang="zh-CN" altLang="en-US" sz="2425" dirty="0">
                <a:solidFill>
                  <a:schemeClr val="dk1"/>
                </a:solidFill>
                <a:latin typeface="微软雅黑" panose="020B0503020204020204" charset="-122"/>
                <a:ea typeface="微软雅黑" panose="020B0503020204020204" charset="-122"/>
                <a:cs typeface="微软雅黑" panose="020B0503020204020204" charset="-122"/>
              </a:rPr>
              <a:t>元</a:t>
            </a:r>
            <a:r>
              <a:rPr lang="en-US" altLang="zh-CN" sz="2425" dirty="0">
                <a:solidFill>
                  <a:schemeClr val="dk1"/>
                </a:solidFill>
                <a:latin typeface="微软雅黑" panose="020B0503020204020204" charset="-122"/>
                <a:ea typeface="微软雅黑" panose="020B0503020204020204" charset="-122"/>
                <a:cs typeface="微软雅黑" panose="020B0503020204020204" charset="-122"/>
              </a:rPr>
              <a:t>5</a:t>
            </a:r>
            <a:r>
              <a:rPr lang="zh-CN" altLang="en-US" sz="2425" dirty="0">
                <a:solidFill>
                  <a:schemeClr val="dk1"/>
                </a:solidFill>
                <a:latin typeface="微软雅黑" panose="020B0503020204020204" charset="-122"/>
                <a:ea typeface="微软雅黑" panose="020B0503020204020204" charset="-122"/>
                <a:cs typeface="微软雅黑" panose="020B0503020204020204" charset="-122"/>
              </a:rPr>
              <a:t>角硬币，按下“可乐”、“雪碧”或“红茶”按钮，相应的饮料就送出来。</a:t>
            </a:r>
          </a:p>
          <a:p>
            <a:pPr lvl="1" algn="just">
              <a:lnSpc>
                <a:spcPct val="140000"/>
              </a:lnSpc>
            </a:pPr>
            <a:r>
              <a:rPr lang="zh-CN" altLang="en-US" sz="2425" dirty="0">
                <a:solidFill>
                  <a:schemeClr val="dk1"/>
                </a:solidFill>
                <a:latin typeface="微软雅黑" panose="020B0503020204020204" charset="-122"/>
                <a:ea typeface="微软雅黑" panose="020B0503020204020204" charset="-122"/>
                <a:cs typeface="微软雅黑" panose="020B0503020204020204" charset="-122"/>
              </a:rPr>
              <a:t>若投入的是两元硬币，在送出饮料的同时退还</a:t>
            </a:r>
            <a:r>
              <a:rPr lang="en-US" altLang="zh-CN" sz="2425" dirty="0">
                <a:solidFill>
                  <a:schemeClr val="dk1"/>
                </a:solidFill>
                <a:latin typeface="微软雅黑" panose="020B0503020204020204" charset="-122"/>
                <a:ea typeface="微软雅黑" panose="020B0503020204020204" charset="-122"/>
                <a:cs typeface="微软雅黑" panose="020B0503020204020204" charset="-122"/>
              </a:rPr>
              <a:t>5</a:t>
            </a:r>
            <a:r>
              <a:rPr lang="zh-CN" altLang="en-US" sz="2425" dirty="0">
                <a:solidFill>
                  <a:schemeClr val="dk1"/>
                </a:solidFill>
                <a:latin typeface="微软雅黑" panose="020B0503020204020204" charset="-122"/>
                <a:ea typeface="微软雅黑" panose="020B0503020204020204" charset="-122"/>
                <a:cs typeface="微软雅黑" panose="020B0503020204020204" charset="-122"/>
              </a:rPr>
              <a:t>角硬币。</a:t>
            </a:r>
            <a:endParaRPr lang="en-US" altLang="zh-CN" sz="2425" dirty="0">
              <a:solidFill>
                <a:schemeClr val="dk1"/>
              </a:solidFill>
              <a:latin typeface="微软雅黑" panose="020B0503020204020204" charset="-122"/>
              <a:ea typeface="微软雅黑" panose="020B0503020204020204" charset="-122"/>
              <a:cs typeface="微软雅黑" panose="020B0503020204020204" charset="-122"/>
            </a:endParaRPr>
          </a:p>
          <a:p>
            <a:pPr algn="just">
              <a:lnSpc>
                <a:spcPct val="120000"/>
              </a:lnSpc>
            </a:pPr>
            <a:r>
              <a:rPr lang="zh-CN" altLang="en-US" sz="2800" dirty="0">
                <a:solidFill>
                  <a:schemeClr val="dk1"/>
                </a:solidFill>
                <a:latin typeface="微软雅黑" panose="020B0503020204020204" charset="-122"/>
                <a:ea typeface="微软雅黑" panose="020B0503020204020204" charset="-122"/>
                <a:cs typeface="微软雅黑" panose="020B0503020204020204" charset="-122"/>
              </a:rPr>
              <a:t>可以列出原因和结果，如下页表：</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12</a:t>
            </a:fld>
            <a:endParaRPr lang="zh-CN" altLang="en-US"/>
          </a:p>
        </p:txBody>
      </p:sp>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2"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07355" y="2101216"/>
            <a:ext cx="4991100" cy="3550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7"/>
          <p:cNvPicPr/>
          <p:nvPr userDrawn="1">
            <p:custDataLst>
              <p:tags r:id="rId3"/>
            </p:custDataLst>
          </p:nvPr>
        </p:nvPicPr>
        <p:blipFill>
          <a:blip r:embed="rId10" r:link="rId11" cstate="email"/>
          <a:stretch>
            <a:fillRect/>
          </a:stretch>
        </p:blipFill>
        <p:spPr>
          <a:xfrm>
            <a:off x="10127932" y="1"/>
            <a:ext cx="540068" cy="629227"/>
          </a:xfrm>
          <a:prstGeom prst="rect">
            <a:avLst/>
          </a:prstGeom>
        </p:spPr>
      </p:pic>
      <p:graphicFrame>
        <p:nvGraphicFramePr>
          <p:cNvPr id="4" name="Group 41"/>
          <p:cNvGraphicFramePr>
            <a:graphicFrameLocks noGrp="1"/>
          </p:cNvGraphicFramePr>
          <p:nvPr>
            <p:custDataLst>
              <p:tags r:id="rId4"/>
            </p:custDataLst>
          </p:nvPr>
        </p:nvGraphicFramePr>
        <p:xfrm>
          <a:off x="1793320" y="2101297"/>
          <a:ext cx="3709670" cy="3593465"/>
        </p:xfrm>
        <a:graphic>
          <a:graphicData uri="http://schemas.openxmlformats.org/drawingml/2006/table">
            <a:tbl>
              <a:tblPr/>
              <a:tblGrid>
                <a:gridCol w="873125">
                  <a:extLst>
                    <a:ext uri="{9D8B030D-6E8A-4147-A177-3AD203B41FA5}">
                      <a16:colId xmlns:a16="http://schemas.microsoft.com/office/drawing/2014/main" val="20000"/>
                    </a:ext>
                  </a:extLst>
                </a:gridCol>
                <a:gridCol w="2836545">
                  <a:extLst>
                    <a:ext uri="{9D8B030D-6E8A-4147-A177-3AD203B41FA5}">
                      <a16:colId xmlns:a16="http://schemas.microsoft.com/office/drawing/2014/main" val="20001"/>
                    </a:ext>
                  </a:extLst>
                </a:gridCol>
              </a:tblGrid>
              <a:tr h="159258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原因</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c1:</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1</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元</a:t>
                      </a: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角硬币；</a:t>
                      </a:r>
                      <a:endParaRPr kumimoji="0" lang="zh-CN" altLang="en-US" sz="2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c2:</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2</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元硬币；</a:t>
                      </a:r>
                      <a:endParaRPr kumimoji="0" lang="zh-CN" altLang="en-US" sz="2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c3:</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按“可乐”按钮；</a:t>
                      </a:r>
                      <a:endParaRPr kumimoji="0" lang="zh-CN" altLang="en-US" sz="2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c4:</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按“雪碧”按钮；</a:t>
                      </a:r>
                      <a:endParaRPr kumimoji="0" lang="zh-CN" altLang="en-US" sz="2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c5:</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按“红茶”按钮</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7818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中间</a:t>
                      </a:r>
                    </a:p>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状态</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11</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：已投币</a:t>
                      </a:r>
                      <a:endParaRPr kumimoji="0" lang="zh-CN" altLang="en-US" sz="2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12</a:t>
                      </a: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微软雅黑" panose="020B0503020204020204" charset="-122"/>
                        </a:rPr>
                        <a:t>：已按钮</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2270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结果</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E1:</a:t>
                      </a:r>
                      <a:r>
                        <a:rPr kumimoji="0" lang="zh-CN" altLang="en-US"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退还</a:t>
                      </a:r>
                      <a:r>
                        <a:rPr kumimoji="0" lang="en-US" altLang="zh-CN"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角硬币；</a:t>
                      </a:r>
                      <a:endParaRPr kumimoji="0" lang="zh-CN" altLang="en-US" sz="2800" b="0" i="0" u="none" strike="noStrike" cap="none" normalizeH="0" baseline="0" dirty="0">
                        <a:ln>
                          <a:noFill/>
                        </a:ln>
                        <a:solidFill>
                          <a:schemeClr val="tx1"/>
                        </a:solidFill>
                        <a:effectLst/>
                        <a:latin typeface="Arial" panose="020B0604020202020204" pitchFamily="34" charset="0"/>
                        <a:ea typeface="汉仪旗黑-55简" panose="00020600040101010101" charset="-122"/>
                        <a:cs typeface="微软雅黑" panose="020B0503020204020204" charset="-122"/>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E2:</a:t>
                      </a:r>
                      <a:r>
                        <a:rPr kumimoji="0" lang="zh-CN" altLang="en-US"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送出“可乐”饮料；</a:t>
                      </a:r>
                      <a:endParaRPr kumimoji="0" lang="zh-CN" altLang="en-US" sz="2800" b="0" i="0" u="none" strike="noStrike" cap="none" normalizeH="0" baseline="0" dirty="0">
                        <a:ln>
                          <a:noFill/>
                        </a:ln>
                        <a:solidFill>
                          <a:schemeClr val="tx1"/>
                        </a:solidFill>
                        <a:effectLst/>
                        <a:latin typeface="Arial" panose="020B0604020202020204" pitchFamily="34" charset="0"/>
                        <a:ea typeface="汉仪旗黑-55简" panose="00020600040101010101" charset="-122"/>
                        <a:cs typeface="微软雅黑" panose="020B0503020204020204" charset="-122"/>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E3:</a:t>
                      </a:r>
                      <a:r>
                        <a:rPr kumimoji="0" lang="zh-CN" altLang="en-US"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送出“雪碧”饮料；</a:t>
                      </a:r>
                      <a:endParaRPr kumimoji="0" lang="zh-CN" altLang="en-US" sz="2800" b="0" i="0" u="none" strike="noStrike" cap="none" normalizeH="0" baseline="0" dirty="0">
                        <a:ln>
                          <a:noFill/>
                        </a:ln>
                        <a:solidFill>
                          <a:schemeClr val="tx1"/>
                        </a:solidFill>
                        <a:effectLst/>
                        <a:latin typeface="Arial" panose="020B0604020202020204" pitchFamily="34" charset="0"/>
                        <a:ea typeface="汉仪旗黑-55简" panose="00020600040101010101" charset="-122"/>
                        <a:cs typeface="微软雅黑" panose="020B0503020204020204" charset="-122"/>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E4:</a:t>
                      </a:r>
                      <a:r>
                        <a:rPr kumimoji="0" lang="zh-CN" altLang="en-US" sz="20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送出“红茶”饮料</a:t>
                      </a:r>
                    </a:p>
                  </a:txBody>
                  <a:tcPr marL="68580" marR="68580" marT="34290" marB="3429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5" name="日期占位符 4"/>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13</a:t>
            </a:fld>
            <a:endParaRPr lang="zh-CN" altLang="en-US"/>
          </a:p>
        </p:txBody>
      </p:sp>
      <p:sp>
        <p:nvSpPr>
          <p:cNvPr id="9" name="标题 1"/>
          <p:cNvSpPr>
            <a:spLocks noGrp="1"/>
          </p:cNvSpPr>
          <p:nvPr>
            <p:custDataLst>
              <p:tags r:id="rId5"/>
            </p:custDataLst>
          </p:nvPr>
        </p:nvSpPr>
        <p:spPr>
          <a:xfrm>
            <a:off x="2098675" y="304802"/>
            <a:ext cx="8001000" cy="12160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4400" spc="200" dirty="0">
                <a:solidFill>
                  <a:schemeClr val="accent1"/>
                </a:solidFill>
                <a:latin typeface="Arial" panose="020B0604020202020204" pitchFamily="34" charset="0"/>
                <a:ea typeface="汉仪文黑-85W" panose="00020600040101010101" charset="-122"/>
              </a:rPr>
              <a:t>实例1的因果关系图</a:t>
            </a:r>
          </a:p>
        </p:txBody>
      </p:sp>
      <p:sp>
        <p:nvSpPr>
          <p:cNvPr id="3" name="文本框 2"/>
          <p:cNvSpPr txBox="1"/>
          <p:nvPr/>
        </p:nvSpPr>
        <p:spPr>
          <a:xfrm>
            <a:off x="6753225" y="1520825"/>
            <a:ext cx="3230880" cy="398780"/>
          </a:xfrm>
          <a:prstGeom prst="rect">
            <a:avLst/>
          </a:prstGeom>
          <a:noFill/>
        </p:spPr>
        <p:txBody>
          <a:bodyPr wrap="none" rtlCol="0" anchor="t">
            <a:spAutoFit/>
          </a:bodyPr>
          <a:lstStyle/>
          <a:p>
            <a:r>
              <a:rPr lang="zh-CN" altLang="en-US" sz="2000" b="1" dirty="0">
                <a:latin typeface="微软雅黑" panose="020B0503020204020204" charset="-122"/>
                <a:ea typeface="微软雅黑" panose="020B0503020204020204" charset="-122"/>
                <a:cs typeface="微软雅黑" panose="020B0503020204020204" charset="-122"/>
                <a:sym typeface="+mn-ea"/>
              </a:rPr>
              <a:t>根据原因和结果设计因果图</a:t>
            </a:r>
          </a:p>
        </p:txBody>
      </p:sp>
    </p:spTree>
    <p:custDataLst>
      <p:tags r:id="rId1"/>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3" name="Rectangle 2"/>
          <p:cNvSpPr>
            <a:spLocks noGrp="1" noChangeArrowheads="1"/>
          </p:cNvSpPr>
          <p:nvPr>
            <p:custDataLst>
              <p:tags r:id="rId4"/>
            </p:custDataLst>
          </p:nvPr>
        </p:nvSpPr>
        <p:spPr>
          <a:xfrm>
            <a:off x="2064385" y="728981"/>
            <a:ext cx="8169910" cy="94805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2800" b="1" dirty="0">
                <a:solidFill>
                  <a:schemeClr val="tx1"/>
                </a:solidFill>
                <a:latin typeface="微软雅黑" panose="020B0503020204020204" charset="-122"/>
                <a:ea typeface="微软雅黑" panose="020B0503020204020204" charset="-122"/>
                <a:cs typeface="微软雅黑" panose="020B0503020204020204" charset="-122"/>
              </a:rPr>
              <a:t>转换为决策表，每一列作为确定测试用例的依据</a:t>
            </a:r>
            <a:r>
              <a:rPr lang="zh-CN" altLang="en-US" sz="2800" dirty="0">
                <a:solidFill>
                  <a:schemeClr val="tx1"/>
                </a:solidFill>
                <a:latin typeface="微软雅黑" panose="020B0503020204020204" charset="-122"/>
                <a:ea typeface="微软雅黑" panose="020B0503020204020204" charset="-122"/>
                <a:cs typeface="微软雅黑" panose="020B0503020204020204" charset="-122"/>
              </a:rPr>
              <a:t> </a:t>
            </a:r>
          </a:p>
        </p:txBody>
      </p:sp>
      <p:graphicFrame>
        <p:nvGraphicFramePr>
          <p:cNvPr id="4" name="Group 1043"/>
          <p:cNvGraphicFramePr>
            <a:graphicFrameLocks noGrp="1"/>
          </p:cNvGraphicFramePr>
          <p:nvPr>
            <p:custDataLst>
              <p:tags r:id="rId5"/>
            </p:custDataLst>
          </p:nvPr>
        </p:nvGraphicFramePr>
        <p:xfrm>
          <a:off x="2676525" y="1739900"/>
          <a:ext cx="6791960" cy="4179570"/>
        </p:xfrm>
        <a:graphic>
          <a:graphicData uri="http://schemas.openxmlformats.org/drawingml/2006/table">
            <a:tbl>
              <a:tblPr/>
              <a:tblGrid>
                <a:gridCol w="564515">
                  <a:extLst>
                    <a:ext uri="{9D8B030D-6E8A-4147-A177-3AD203B41FA5}">
                      <a16:colId xmlns:a16="http://schemas.microsoft.com/office/drawing/2014/main" val="20000"/>
                    </a:ext>
                  </a:extLst>
                </a:gridCol>
                <a:gridCol w="1772920">
                  <a:extLst>
                    <a:ext uri="{9D8B030D-6E8A-4147-A177-3AD203B41FA5}">
                      <a16:colId xmlns:a16="http://schemas.microsoft.com/office/drawing/2014/main" val="20001"/>
                    </a:ext>
                  </a:extLst>
                </a:gridCol>
                <a:gridCol w="405130">
                  <a:extLst>
                    <a:ext uri="{9D8B030D-6E8A-4147-A177-3AD203B41FA5}">
                      <a16:colId xmlns:a16="http://schemas.microsoft.com/office/drawing/2014/main" val="20002"/>
                    </a:ext>
                  </a:extLst>
                </a:gridCol>
                <a:gridCol w="406400">
                  <a:extLst>
                    <a:ext uri="{9D8B030D-6E8A-4147-A177-3AD203B41FA5}">
                      <a16:colId xmlns:a16="http://schemas.microsoft.com/office/drawing/2014/main" val="20003"/>
                    </a:ext>
                  </a:extLst>
                </a:gridCol>
                <a:gridCol w="404495">
                  <a:extLst>
                    <a:ext uri="{9D8B030D-6E8A-4147-A177-3AD203B41FA5}">
                      <a16:colId xmlns:a16="http://schemas.microsoft.com/office/drawing/2014/main" val="20004"/>
                    </a:ext>
                  </a:extLst>
                </a:gridCol>
                <a:gridCol w="408305">
                  <a:extLst>
                    <a:ext uri="{9D8B030D-6E8A-4147-A177-3AD203B41FA5}">
                      <a16:colId xmlns:a16="http://schemas.microsoft.com/office/drawing/2014/main" val="20005"/>
                    </a:ext>
                  </a:extLst>
                </a:gridCol>
                <a:gridCol w="403225">
                  <a:extLst>
                    <a:ext uri="{9D8B030D-6E8A-4147-A177-3AD203B41FA5}">
                      <a16:colId xmlns:a16="http://schemas.microsoft.com/office/drawing/2014/main" val="20006"/>
                    </a:ext>
                  </a:extLst>
                </a:gridCol>
                <a:gridCol w="405765">
                  <a:extLst>
                    <a:ext uri="{9D8B030D-6E8A-4147-A177-3AD203B41FA5}">
                      <a16:colId xmlns:a16="http://schemas.microsoft.com/office/drawing/2014/main" val="20007"/>
                    </a:ext>
                  </a:extLst>
                </a:gridCol>
                <a:gridCol w="403860">
                  <a:extLst>
                    <a:ext uri="{9D8B030D-6E8A-4147-A177-3AD203B41FA5}">
                      <a16:colId xmlns:a16="http://schemas.microsoft.com/office/drawing/2014/main" val="20008"/>
                    </a:ext>
                  </a:extLst>
                </a:gridCol>
                <a:gridCol w="406400">
                  <a:extLst>
                    <a:ext uri="{9D8B030D-6E8A-4147-A177-3AD203B41FA5}">
                      <a16:colId xmlns:a16="http://schemas.microsoft.com/office/drawing/2014/main" val="20009"/>
                    </a:ext>
                  </a:extLst>
                </a:gridCol>
                <a:gridCol w="403225">
                  <a:extLst>
                    <a:ext uri="{9D8B030D-6E8A-4147-A177-3AD203B41FA5}">
                      <a16:colId xmlns:a16="http://schemas.microsoft.com/office/drawing/2014/main" val="20010"/>
                    </a:ext>
                  </a:extLst>
                </a:gridCol>
                <a:gridCol w="405130">
                  <a:extLst>
                    <a:ext uri="{9D8B030D-6E8A-4147-A177-3AD203B41FA5}">
                      <a16:colId xmlns:a16="http://schemas.microsoft.com/office/drawing/2014/main" val="20011"/>
                    </a:ext>
                  </a:extLst>
                </a:gridCol>
                <a:gridCol w="402590">
                  <a:extLst>
                    <a:ext uri="{9D8B030D-6E8A-4147-A177-3AD203B41FA5}">
                      <a16:colId xmlns:a16="http://schemas.microsoft.com/office/drawing/2014/main" val="20012"/>
                    </a:ext>
                  </a:extLst>
                </a:gridCol>
              </a:tblGrid>
              <a:tr h="617220">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3600" b="1" i="0" u="none" strike="noStrike" cap="none" normalizeH="0" baseline="0">
                        <a:ln>
                          <a:noFill/>
                        </a:ln>
                        <a:solidFill>
                          <a:schemeClr val="tx1"/>
                        </a:solidFill>
                        <a:effectLst/>
                        <a:latin typeface="Arial" panose="020B0604020202020204" pitchFamily="34" charset="0"/>
                        <a:ea typeface="汉仪旗黑-55简" panose="00020600040101010101" charset="-122"/>
                      </a:endParaRP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pitchFamily="2" charset="2"/>
                        <a:buNone/>
                      </a:pPr>
                      <a:endParaRPr kumimoji="0" lang="zh-CN" altLang="zh-CN" sz="3600" b="1" i="0" u="none" strike="noStrike" cap="none" normalizeH="0" baseline="0">
                        <a:ln>
                          <a:noFill/>
                        </a:ln>
                        <a:solidFill>
                          <a:schemeClr val="tx1"/>
                        </a:solidFill>
                        <a:effectLst/>
                        <a:latin typeface="微软雅黑" panose="020B0503020204020204" charset="-122"/>
                        <a:ea typeface="汉仪旗黑-55简" panose="00020600040101010101" charset="-122"/>
                      </a:endParaRP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2</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3</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4</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5</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6</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7</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8</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9</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extLst>
                  <a:ext uri="{0D108BD9-81ED-4DB2-BD59-A6C34878D82A}">
                    <a16:rowId xmlns:a16="http://schemas.microsoft.com/office/drawing/2014/main" val="10000"/>
                  </a:ext>
                </a:extLst>
              </a:tr>
              <a:tr h="312420">
                <a:tc rowSpan="5">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输</a:t>
                      </a:r>
                      <a:endParaRPr kumimoji="0" lang="zh-CN" altLang="en-US" sz="16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入</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1</a:t>
                      </a: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元</a:t>
                      </a:r>
                      <a:r>
                        <a:rPr kumimoji="0" lang="en-US" altLang="zh-CN"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角硬币</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2420">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2</a:t>
                      </a: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元硬币</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420">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按“可乐”按钮</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420">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按“雪碧”按钮</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420">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按“红茶”按钮</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420">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中间</a:t>
                      </a:r>
                      <a:endParaRPr kumimoji="0" lang="zh-CN" altLang="en-US" sz="16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结点</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已投币</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420">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已按钮</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420">
                <a:tc rowSpan="4">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输</a:t>
                      </a:r>
                      <a:endParaRPr kumimoji="0" lang="zh-CN" altLang="en-US" sz="16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出</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退还</a:t>
                      </a:r>
                      <a:r>
                        <a:rPr kumimoji="0" lang="en-US" altLang="zh-CN"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角硬币</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4330">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送出“可乐”饮料</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54330">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送出“雪碧”饮料</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54330">
                <a:tc vMerge="1">
                  <a:txBody>
                    <a:bodyPr/>
                    <a:lstStyle/>
                    <a:p>
                      <a:endParaRPr lang="zh-CN"/>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zh-CN" altLang="en-US"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微软雅黑" panose="020B0503020204020204" charset="-122"/>
                        </a:rPr>
                        <a:t>送出“红茶”饮料</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rgbClr val="000000"/>
                          </a:solidFill>
                          <a:effectLst/>
                          <a:latin typeface="Arial" panose="020B0604020202020204" pitchFamily="34" charset="0"/>
                          <a:ea typeface="汉仪旗黑-55简" panose="00020600040101010101" charset="-122"/>
                          <a:cs typeface="Times New Roman" panose="02020603050405020304" pitchFamily="18" charset="0"/>
                        </a:rPr>
                        <a:t>0</a:t>
                      </a:r>
                    </a:p>
                  </a:txBody>
                  <a:tcPr marL="68580" marR="68580" marT="34284" marB="34284"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5" name="日期占位符 4"/>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14</a:t>
            </a:fld>
            <a:endParaRPr lang="zh-CN" altLang="en-US"/>
          </a:p>
        </p:txBody>
      </p:sp>
    </p:spTree>
    <p:custDataLst>
      <p:tags r:id="rId1"/>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6"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3" name="Rectangle 2"/>
          <p:cNvSpPr>
            <a:spLocks noGrp="1" noChangeArrowheads="1"/>
          </p:cNvSpPr>
          <p:nvPr>
            <p:custDataLst>
              <p:tags r:id="rId4"/>
            </p:custDataLst>
          </p:nvPr>
        </p:nvSpPr>
        <p:spPr>
          <a:xfrm>
            <a:off x="2065655" y="872490"/>
            <a:ext cx="7773670" cy="756920"/>
          </a:xfrm>
          <a:prstGeom prst="rect">
            <a:avLst/>
          </a:prstGeom>
          <a:noFill/>
          <a:ln>
            <a:noFill/>
          </a:ln>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3000" b="1" dirty="0">
                <a:solidFill>
                  <a:schemeClr val="tx1"/>
                </a:solidFill>
                <a:latin typeface="微软雅黑" panose="020B0503020204020204" charset="-122"/>
                <a:ea typeface="微软雅黑" panose="020B0503020204020204" charset="-122"/>
              </a:rPr>
              <a:t>化简后的测试用例</a:t>
            </a:r>
          </a:p>
        </p:txBody>
      </p:sp>
      <p:graphicFrame>
        <p:nvGraphicFramePr>
          <p:cNvPr id="4" name="Group 136"/>
          <p:cNvGraphicFramePr>
            <a:graphicFrameLocks noGrp="1"/>
          </p:cNvGraphicFramePr>
          <p:nvPr>
            <p:custDataLst>
              <p:tags r:id="rId5"/>
            </p:custDataLst>
          </p:nvPr>
        </p:nvGraphicFramePr>
        <p:xfrm>
          <a:off x="2637156" y="2091056"/>
          <a:ext cx="6630035" cy="3836035"/>
        </p:xfrm>
        <a:graphic>
          <a:graphicData uri="http://schemas.openxmlformats.org/drawingml/2006/table">
            <a:tbl>
              <a:tblPr/>
              <a:tblGrid>
                <a:gridCol w="1201420">
                  <a:extLst>
                    <a:ext uri="{9D8B030D-6E8A-4147-A177-3AD203B41FA5}">
                      <a16:colId xmlns:a16="http://schemas.microsoft.com/office/drawing/2014/main" val="20000"/>
                    </a:ext>
                  </a:extLst>
                </a:gridCol>
                <a:gridCol w="2855595">
                  <a:extLst>
                    <a:ext uri="{9D8B030D-6E8A-4147-A177-3AD203B41FA5}">
                      <a16:colId xmlns:a16="http://schemas.microsoft.com/office/drawing/2014/main" val="20001"/>
                    </a:ext>
                  </a:extLst>
                </a:gridCol>
                <a:gridCol w="2573020">
                  <a:extLst>
                    <a:ext uri="{9D8B030D-6E8A-4147-A177-3AD203B41FA5}">
                      <a16:colId xmlns:a16="http://schemas.microsoft.com/office/drawing/2014/main" val="20002"/>
                    </a:ext>
                  </a:extLst>
                </a:gridCol>
              </a:tblGrid>
              <a:tr h="54800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rPr>
                        <a:t>用例编号</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测试用例 </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预期输出 </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extLst>
                  <a:ext uri="{0D108BD9-81ED-4DB2-BD59-A6C34878D82A}">
                    <a16:rowId xmlns:a16="http://schemas.microsoft.com/office/drawing/2014/main" val="10000"/>
                  </a:ext>
                </a:extLst>
              </a:tr>
              <a:tr h="54800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rPr>
                        <a:t>1</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1</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元</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角，按“可乐” </a:t>
                      </a:r>
                    </a:p>
                  </a:txBody>
                  <a:tcPr marL="68580" marR="68580" marT="34295" marB="34295" anchor="ctr" horzOverflow="overflow">
                    <a:lnL w="12700" cap="flat" cmpd="sng" algn="ctr">
                      <a:solidFill>
                        <a:srgbClr val="4BACC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送出“可乐”饮料 </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800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rPr>
                        <a:t>2</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1</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元</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角，按“雪碧” </a:t>
                      </a:r>
                    </a:p>
                  </a:txBody>
                  <a:tcPr marL="68580" marR="68580" marT="34295" marB="34295" anchor="ctr" horzOverflow="overflow">
                    <a:lnL w="12700" cap="flat" cmpd="sng" algn="ctr">
                      <a:solidFill>
                        <a:srgbClr val="4BACC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送出“雪碧”饮料 </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800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rPr>
                        <a:t>3</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1</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元</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角，按“红茶” </a:t>
                      </a:r>
                    </a:p>
                  </a:txBody>
                  <a:tcPr marL="68580" marR="68580" marT="34295" marB="34295" anchor="ctr" horzOverflow="overflow">
                    <a:lnL w="12700" cap="flat" cmpd="sng" algn="ctr">
                      <a:solidFill>
                        <a:srgbClr val="4BACC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Arial" panose="020B0604020202020204" pitchFamily="34" charset="0"/>
                          <a:ea typeface="汉仪旗黑-55简" panose="00020600040101010101" charset="-122"/>
                          <a:cs typeface="微软雅黑" panose="020B0503020204020204" charset="-122"/>
                        </a:rPr>
                        <a:t>送出“红茶”饮料 </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800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rPr>
                        <a:t>4</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2</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元，按“可乐”</a:t>
                      </a:r>
                    </a:p>
                  </a:txBody>
                  <a:tcPr marL="68580" marR="68580" marT="34295" marB="34295" anchor="ctr" horzOverflow="overflow">
                    <a:lnL w="12700" cap="flat" cmpd="sng" algn="ctr">
                      <a:solidFill>
                        <a:srgbClr val="4BACC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找</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角，送出“可乐” </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4800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rPr>
                        <a:t>5</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2</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元，按“雪碧”</a:t>
                      </a:r>
                    </a:p>
                  </a:txBody>
                  <a:tcPr marL="68580" marR="68580" marT="34295" marB="34295" anchor="ctr" horzOverflow="overflow">
                    <a:lnL w="12700" cap="flat" cmpd="sng" algn="ctr">
                      <a:solidFill>
                        <a:srgbClr val="4BACC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找</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角，送出“雪碧” </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8005">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Times New Roman" panose="02020603050405020304" pitchFamily="18" charset="0"/>
                        </a:rPr>
                        <a:t>6</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4BACC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tx2">
                        <a:lumMod val="90000"/>
                      </a:schemeClr>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投入</a:t>
                      </a:r>
                      <a:r>
                        <a:rPr kumimoji="0" lang="en-US" altLang="zh-CN"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2</a:t>
                      </a:r>
                      <a:r>
                        <a:rPr kumimoji="0" lang="zh-CN" altLang="en-US" sz="1800" b="0" i="0" u="none" strike="noStrike" cap="none" normalizeH="0" baseline="0">
                          <a:ln>
                            <a:noFill/>
                          </a:ln>
                          <a:solidFill>
                            <a:schemeClr val="tx1"/>
                          </a:solidFill>
                          <a:effectLst/>
                          <a:latin typeface="Arial" panose="020B0604020202020204" pitchFamily="34" charset="0"/>
                          <a:ea typeface="汉仪旗黑-55简" panose="00020600040101010101" charset="-122"/>
                          <a:cs typeface="微软雅黑" panose="020B0503020204020204" charset="-122"/>
                        </a:rPr>
                        <a:t>元，按“红茶”</a:t>
                      </a:r>
                    </a:p>
                  </a:txBody>
                  <a:tcPr marL="68580" marR="68580" marT="34295" marB="34295" anchor="ctr" horzOverflow="overflow">
                    <a:lnL w="12700" cap="flat" cmpd="sng" algn="ctr">
                      <a:solidFill>
                        <a:srgbClr val="4BACC6"/>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1"/>
                          </a:solidFill>
                          <a:effectLst/>
                          <a:latin typeface="Arial" panose="020B0604020202020204" pitchFamily="34" charset="0"/>
                          <a:ea typeface="汉仪旗黑-55简" panose="00020600040101010101" charset="-122"/>
                          <a:cs typeface="微软雅黑" panose="020B0503020204020204" charset="-122"/>
                        </a:rPr>
                        <a:t>找</a:t>
                      </a:r>
                      <a:r>
                        <a:rPr kumimoji="0" lang="en-US" altLang="zh-CN" sz="1800" b="0" i="0" u="none" strike="noStrike" cap="none" normalizeH="0" baseline="0" dirty="0">
                          <a:ln>
                            <a:noFill/>
                          </a:ln>
                          <a:solidFill>
                            <a:schemeClr val="tx1"/>
                          </a:solidFill>
                          <a:effectLst/>
                          <a:latin typeface="Arial" panose="020B0604020202020204" pitchFamily="34" charset="0"/>
                          <a:ea typeface="汉仪旗黑-55简" panose="00020600040101010101" charset="-122"/>
                          <a:cs typeface="微软雅黑" panose="020B0503020204020204" charset="-122"/>
                        </a:rPr>
                        <a:t>5</a:t>
                      </a:r>
                      <a:r>
                        <a:rPr kumimoji="0" lang="zh-CN" altLang="en-US" sz="1800" b="0" i="0" u="none" strike="noStrike" cap="none" normalizeH="0" baseline="0" dirty="0">
                          <a:ln>
                            <a:noFill/>
                          </a:ln>
                          <a:solidFill>
                            <a:schemeClr val="tx1"/>
                          </a:solidFill>
                          <a:effectLst/>
                          <a:latin typeface="Arial" panose="020B0604020202020204" pitchFamily="34" charset="0"/>
                          <a:ea typeface="汉仪旗黑-55简" panose="00020600040101010101" charset="-122"/>
                          <a:cs typeface="微软雅黑" panose="020B0503020204020204" charset="-122"/>
                        </a:rPr>
                        <a:t>角，送出“红茶” </a:t>
                      </a:r>
                    </a:p>
                  </a:txBody>
                  <a:tcPr marL="68580" marR="68580" marT="34295" marB="34295"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5" name="日期占位符 4"/>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15</a:t>
            </a:fld>
            <a:endParaRPr lang="zh-CN" altLang="en-US"/>
          </a:p>
        </p:txBody>
      </p:sp>
    </p:spTree>
    <p:custDataLst>
      <p:tags r:id="rId1"/>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5"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2" name="Rectangle 3"/>
          <p:cNvSpPr>
            <a:spLocks noGrp="1" noChangeArrowheads="1"/>
          </p:cNvSpPr>
          <p:nvPr/>
        </p:nvSpPr>
        <p:spPr>
          <a:xfrm>
            <a:off x="2413000" y="1471295"/>
            <a:ext cx="7366000" cy="4704080"/>
          </a:xfrm>
          <a:prstGeom prst="rect">
            <a:avLst/>
          </a:prstGeom>
          <a:noFill/>
          <a:ln>
            <a:noFill/>
          </a:ln>
        </p:spPr>
        <p:txBody>
          <a:bodyPr vert="horz" wrap="square" lIns="91440" tIns="45720" rIns="91440" bIns="45720" numCol="1" anchor="t" anchorCtr="0" compatLnSpc="1"/>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vl6pPr marL="25514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6pPr>
            <a:lvl7pPr marL="30086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7pPr>
            <a:lvl8pPr marL="34658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8pPr>
            <a:lvl9pPr marL="3923030" indent="-398780" algn="l" rtl="0" fontAlgn="base">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9pPr>
          </a:lstStyle>
          <a:p>
            <a:pPr>
              <a:lnSpc>
                <a:spcPct val="144000"/>
              </a:lnSpc>
            </a:pPr>
            <a:r>
              <a:rPr lang="zh-CN" altLang="en-US" sz="2800" b="1" dirty="0">
                <a:solidFill>
                  <a:schemeClr val="dk1"/>
                </a:solidFill>
                <a:latin typeface="微软雅黑" panose="020B0503020204020204" charset="-122"/>
                <a:ea typeface="微软雅黑" panose="020B0503020204020204" charset="-122"/>
                <a:cs typeface="微软雅黑" panose="020B0503020204020204" charset="-122"/>
              </a:rPr>
              <a:t>某个软件规格说明书中包含以下的要求：</a:t>
            </a:r>
          </a:p>
          <a:p>
            <a:pPr lvl="1">
              <a:lnSpc>
                <a:spcPct val="144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第一个字符必须是</a:t>
            </a: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A</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或</a:t>
            </a: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B</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，第二个字符必须是一个数字，在此情况下进行文件的修改；</a:t>
            </a:r>
          </a:p>
          <a:p>
            <a:pPr lvl="1">
              <a:lnSpc>
                <a:spcPct val="144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但如果第一列字符不正确，则输出信息</a:t>
            </a: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L</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a:t>
            </a:r>
          </a:p>
          <a:p>
            <a:pPr lvl="1">
              <a:lnSpc>
                <a:spcPct val="144000"/>
              </a:lnSpc>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如果第二列字符不是数字，则给出信息</a:t>
            </a: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M</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a:t>
            </a:r>
            <a:endParaRPr lang="zh-CN" altLang="en-US" sz="2000" dirty="0">
              <a:solidFill>
                <a:schemeClr val="dk1"/>
              </a:solidFill>
              <a:latin typeface="微软雅黑" panose="020B0503020204020204" charset="-122"/>
              <a:ea typeface="微软雅黑" panose="020B0503020204020204" charset="-122"/>
              <a:cs typeface="微软雅黑" panose="020B0503020204020204" charset="-122"/>
            </a:endParaRPr>
          </a:p>
          <a:p>
            <a:pPr lvl="0">
              <a:lnSpc>
                <a:spcPct val="144000"/>
              </a:lnSpc>
            </a:pPr>
            <a:r>
              <a:rPr lang="zh-CN" altLang="en-US" sz="2305" dirty="0">
                <a:solidFill>
                  <a:schemeClr val="dk1"/>
                </a:solidFill>
                <a:latin typeface="微软雅黑" panose="020B0503020204020204" charset="-122"/>
                <a:ea typeface="微软雅黑" panose="020B0503020204020204" charset="-122"/>
                <a:cs typeface="微软雅黑" panose="020B0503020204020204" charset="-122"/>
              </a:rPr>
              <a:t>采用因果图方法进行分析，可根据下表获得图的各种组合，其中</a:t>
            </a:r>
            <a:r>
              <a:rPr lang="de-DE" altLang="zh-CN" sz="2305" dirty="0">
                <a:solidFill>
                  <a:schemeClr val="dk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zh-CN" altLang="en-US" sz="2305" dirty="0">
                <a:solidFill>
                  <a:schemeClr val="dk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表示“或”、</a:t>
            </a:r>
            <a:r>
              <a:rPr lang="de-DE" altLang="zh-CN" sz="2305" dirty="0">
                <a:solidFill>
                  <a:schemeClr val="dk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zh-CN" altLang="en-US" sz="2305" dirty="0">
                <a:solidFill>
                  <a:schemeClr val="dk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表示“与”、</a:t>
            </a:r>
            <a:r>
              <a:rPr lang="en-US" altLang="zh-CN" sz="2305" dirty="0">
                <a:solidFill>
                  <a:schemeClr val="dk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a:t>
            </a:r>
            <a:r>
              <a:rPr lang="zh-CN" altLang="en-US" sz="2305" dirty="0">
                <a:solidFill>
                  <a:schemeClr val="dk1"/>
                </a:solidFill>
                <a:latin typeface="微软雅黑" panose="020B0503020204020204" charset="-122"/>
                <a:ea typeface="微软雅黑" panose="020B0503020204020204" charset="-122"/>
                <a:cs typeface="微软雅黑" panose="020B0503020204020204" charset="-122"/>
                <a:sym typeface="Symbol" panose="05050102010706020507" pitchFamily="18" charset="2"/>
              </a:rPr>
              <a:t>表示“非”的关系。</a:t>
            </a:r>
            <a:endParaRPr lang="zh-CN" altLang="en-US" sz="2305" baseline="30000" dirty="0">
              <a:solidFill>
                <a:schemeClr val="dk1"/>
              </a:solidFill>
              <a:latin typeface="微软雅黑" panose="020B0503020204020204" charset="-122"/>
              <a:ea typeface="微软雅黑" panose="020B0503020204020204" charset="-122"/>
              <a:cs typeface="微软雅黑" panose="020B0503020204020204" charset="-122"/>
              <a:sym typeface="Symbol" panose="05050102010706020507" pitchFamily="18" charset="2"/>
            </a:endParaRPr>
          </a:p>
        </p:txBody>
      </p:sp>
      <p:sp>
        <p:nvSpPr>
          <p:cNvPr id="4" name="Rectangle 2"/>
          <p:cNvSpPr>
            <a:spLocks noGrp="1" noChangeArrowheads="1"/>
          </p:cNvSpPr>
          <p:nvPr>
            <p:custDataLst>
              <p:tags r:id="rId4"/>
            </p:custDataLst>
          </p:nvPr>
        </p:nvSpPr>
        <p:spPr>
          <a:xfrm>
            <a:off x="2080240" y="399207"/>
            <a:ext cx="7773987" cy="857250"/>
          </a:xfrm>
          <a:prstGeom prst="rect">
            <a:avLst/>
          </a:prstGeom>
          <a:noFill/>
          <a:ln>
            <a:noFill/>
          </a:ln>
        </p:spPr>
        <p:txBody>
          <a:bodyPr vert="horz" wrap="square" lIns="91440" tIns="45720" rIns="91440" bIns="45720" numCol="1" anchor="b"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4400" spc="200" dirty="0">
                <a:solidFill>
                  <a:schemeClr val="accent1"/>
                </a:solidFill>
                <a:latin typeface="Arial" panose="020B0604020202020204" pitchFamily="34" charset="0"/>
                <a:ea typeface="汉仪文黑-85W" panose="00020600040101010101" charset="-122"/>
              </a:rPr>
              <a:t>实例2</a:t>
            </a:r>
          </a:p>
        </p:txBody>
      </p:sp>
      <p:sp>
        <p:nvSpPr>
          <p:cNvPr id="6" name="日期占位符 5"/>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8" name="灯片编号占位符 7"/>
          <p:cNvSpPr>
            <a:spLocks noGrp="1"/>
          </p:cNvSpPr>
          <p:nvPr>
            <p:ph type="sldNum" sz="quarter" idx="12"/>
          </p:nvPr>
        </p:nvSpPr>
        <p:spPr/>
        <p:txBody>
          <a:bodyPr/>
          <a:lstStyle/>
          <a:p>
            <a:fld id="{49AE70B2-8BF9-45C0-BB95-33D1B9D3A854}" type="slidenum">
              <a:rPr lang="zh-CN" altLang="en-US" smtClean="0"/>
              <a:t>16</a:t>
            </a:fld>
            <a:endParaRPr lang="zh-CN" altLang="en-US"/>
          </a:p>
        </p:txBody>
      </p:sp>
    </p:spTree>
    <p:custDataLst>
      <p:tags r:id="rId1"/>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26" r:link="rId27" cstate="email"/>
          <a:stretch>
            <a:fillRect/>
          </a:stretch>
        </p:blipFill>
        <p:spPr>
          <a:xfrm>
            <a:off x="1524000" y="1"/>
            <a:ext cx="540068" cy="486377"/>
          </a:xfrm>
          <a:prstGeom prst="rect">
            <a:avLst/>
          </a:prstGeom>
        </p:spPr>
      </p:pic>
      <p:pic>
        <p:nvPicPr>
          <p:cNvPr id="6" name="图片 7"/>
          <p:cNvPicPr/>
          <p:nvPr userDrawn="1">
            <p:custDataLst>
              <p:tags r:id="rId3"/>
            </p:custDataLst>
          </p:nvPr>
        </p:nvPicPr>
        <p:blipFill>
          <a:blip r:embed="rId28" r:link="rId29" cstate="email"/>
          <a:stretch>
            <a:fillRect/>
          </a:stretch>
        </p:blipFill>
        <p:spPr>
          <a:xfrm>
            <a:off x="10127932" y="1"/>
            <a:ext cx="540068" cy="629227"/>
          </a:xfrm>
          <a:prstGeom prst="rect">
            <a:avLst/>
          </a:prstGeom>
        </p:spPr>
      </p:pic>
      <p:graphicFrame>
        <p:nvGraphicFramePr>
          <p:cNvPr id="3" name="表格 2"/>
          <p:cNvGraphicFramePr>
            <a:graphicFrameLocks noGrp="1"/>
          </p:cNvGraphicFramePr>
          <p:nvPr>
            <p:custDataLst>
              <p:tags r:id="rId4"/>
            </p:custDataLst>
          </p:nvPr>
        </p:nvGraphicFramePr>
        <p:xfrm>
          <a:off x="2800985" y="1800860"/>
          <a:ext cx="6656070" cy="1885950"/>
        </p:xfrm>
        <a:graphic>
          <a:graphicData uri="http://schemas.openxmlformats.org/drawingml/2006/table">
            <a:tbl>
              <a:tblPr firstRow="1" bandRow="1">
                <a:tableStyleId>{C4B1156A-380E-4F78-BDF5-A606A8083BF9}</a:tableStyleId>
              </a:tblPr>
              <a:tblGrid>
                <a:gridCol w="769620">
                  <a:extLst>
                    <a:ext uri="{9D8B030D-6E8A-4147-A177-3AD203B41FA5}">
                      <a16:colId xmlns:a16="http://schemas.microsoft.com/office/drawing/2014/main" val="20000"/>
                    </a:ext>
                  </a:extLst>
                </a:gridCol>
                <a:gridCol w="2983865">
                  <a:extLst>
                    <a:ext uri="{9D8B030D-6E8A-4147-A177-3AD203B41FA5}">
                      <a16:colId xmlns:a16="http://schemas.microsoft.com/office/drawing/2014/main" val="20001"/>
                    </a:ext>
                  </a:extLst>
                </a:gridCol>
                <a:gridCol w="800100">
                  <a:extLst>
                    <a:ext uri="{9D8B030D-6E8A-4147-A177-3AD203B41FA5}">
                      <a16:colId xmlns:a16="http://schemas.microsoft.com/office/drawing/2014/main" val="20002"/>
                    </a:ext>
                  </a:extLst>
                </a:gridCol>
                <a:gridCol w="2102485">
                  <a:extLst>
                    <a:ext uri="{9D8B030D-6E8A-4147-A177-3AD203B41FA5}">
                      <a16:colId xmlns:a16="http://schemas.microsoft.com/office/drawing/2014/main" val="20003"/>
                    </a:ext>
                  </a:extLst>
                </a:gridCol>
              </a:tblGrid>
              <a:tr h="373380">
                <a:tc>
                  <a:txBody>
                    <a:bodyPr/>
                    <a:lstStyle/>
                    <a:p>
                      <a:pPr algn="ctr"/>
                      <a:r>
                        <a:rPr lang="zh-CN" altLang="en-US" sz="2000" dirty="0">
                          <a:latin typeface="Arial" panose="020B0604020202020204" pitchFamily="34" charset="0"/>
                          <a:ea typeface="汉仪旗黑-55简" panose="00020600040101010101" charset="-122"/>
                        </a:rPr>
                        <a:t>编号</a:t>
                      </a:r>
                    </a:p>
                  </a:txBody>
                  <a:tcPr marL="68583" marR="68583" marT="34279" marB="34279" anchor="ctr">
                    <a:solidFill>
                      <a:schemeClr val="accent2">
                        <a:lumMod val="20000"/>
                        <a:lumOff val="80000"/>
                      </a:schemeClr>
                    </a:solidFill>
                  </a:tcPr>
                </a:tc>
                <a:tc>
                  <a:txBody>
                    <a:bodyPr/>
                    <a:lstStyle/>
                    <a:p>
                      <a:pPr algn="ctr"/>
                      <a:r>
                        <a:rPr lang="zh-CN" altLang="en-US" sz="2000" dirty="0">
                          <a:latin typeface="Arial" panose="020B0604020202020204" pitchFamily="34" charset="0"/>
                          <a:ea typeface="汉仪旗黑-55简" panose="00020600040101010101" charset="-122"/>
                          <a:cs typeface="微软雅黑" panose="020B0503020204020204" charset="-122"/>
                        </a:rPr>
                        <a:t>原因（</a:t>
                      </a:r>
                      <a:r>
                        <a:rPr lang="en-US" altLang="zh-CN" sz="2000" dirty="0">
                          <a:latin typeface="Arial" panose="020B0604020202020204" pitchFamily="34" charset="0"/>
                          <a:ea typeface="汉仪旗黑-55简" panose="00020600040101010101" charset="-122"/>
                          <a:cs typeface="微软雅黑" panose="020B0503020204020204" charset="-122"/>
                        </a:rPr>
                        <a:t>Cause</a:t>
                      </a:r>
                      <a:r>
                        <a:rPr lang="zh-CN" altLang="en-US" sz="2000" dirty="0">
                          <a:latin typeface="Arial" panose="020B0604020202020204" pitchFamily="34" charset="0"/>
                          <a:ea typeface="汉仪旗黑-55简" panose="00020600040101010101" charset="-122"/>
                          <a:cs typeface="微软雅黑" panose="020B0503020204020204" charset="-122"/>
                        </a:rPr>
                        <a:t>）</a:t>
                      </a:r>
                    </a:p>
                  </a:txBody>
                  <a:tcPr marL="68583" marR="68583" marT="34279" marB="34279" anchor="ctr">
                    <a:solidFill>
                      <a:schemeClr val="accent2">
                        <a:lumMod val="20000"/>
                        <a:lumOff val="80000"/>
                      </a:schemeClr>
                    </a:solidFill>
                  </a:tcPr>
                </a:tc>
                <a:tc>
                  <a:txBody>
                    <a:bodyPr/>
                    <a:lstStyle/>
                    <a:p>
                      <a:pPr algn="ctr"/>
                      <a:r>
                        <a:rPr lang="zh-CN" altLang="en-US" sz="2000" dirty="0">
                          <a:latin typeface="Arial" panose="020B0604020202020204" pitchFamily="34" charset="0"/>
                          <a:ea typeface="汉仪旗黑-55简" panose="00020600040101010101" charset="-122"/>
                        </a:rPr>
                        <a:t>编号</a:t>
                      </a:r>
                    </a:p>
                  </a:txBody>
                  <a:tcPr marL="68583" marR="68583" marT="34279" marB="34279" anchor="ctr">
                    <a:solidFill>
                      <a:schemeClr val="accent2">
                        <a:lumMod val="20000"/>
                        <a:lumOff val="80000"/>
                      </a:schemeClr>
                    </a:solidFill>
                  </a:tcPr>
                </a:tc>
                <a:tc>
                  <a:txBody>
                    <a:bodyPr/>
                    <a:lstStyle/>
                    <a:p>
                      <a:pPr algn="ctr"/>
                      <a:r>
                        <a:rPr lang="zh-CN" altLang="en-US" sz="2000" dirty="0">
                          <a:latin typeface="Arial" panose="020B0604020202020204" pitchFamily="34" charset="0"/>
                          <a:ea typeface="汉仪旗黑-55简" panose="00020600040101010101" charset="-122"/>
                          <a:cs typeface="微软雅黑" panose="020B0503020204020204" charset="-122"/>
                        </a:rPr>
                        <a:t>结果（</a:t>
                      </a:r>
                      <a:r>
                        <a:rPr lang="en-US" altLang="zh-CN" sz="2000" dirty="0">
                          <a:latin typeface="Arial" panose="020B0604020202020204" pitchFamily="34" charset="0"/>
                          <a:ea typeface="汉仪旗黑-55简" panose="00020600040101010101" charset="-122"/>
                          <a:cs typeface="微软雅黑" panose="020B0503020204020204" charset="-122"/>
                        </a:rPr>
                        <a:t>Effect</a:t>
                      </a:r>
                      <a:r>
                        <a:rPr lang="zh-CN" altLang="en-US" sz="2000" dirty="0">
                          <a:latin typeface="Arial" panose="020B0604020202020204" pitchFamily="34" charset="0"/>
                          <a:ea typeface="汉仪旗黑-55简" panose="00020600040101010101" charset="-122"/>
                          <a:cs typeface="微软雅黑" panose="020B0503020204020204" charset="-122"/>
                        </a:rPr>
                        <a:t>）</a:t>
                      </a:r>
                    </a:p>
                  </a:txBody>
                  <a:tcPr marL="68583" marR="68583" marT="34279" marB="34279" anchor="ctr">
                    <a:solidFill>
                      <a:schemeClr val="accent2">
                        <a:lumMod val="20000"/>
                        <a:lumOff val="80000"/>
                      </a:schemeClr>
                    </a:solidFill>
                  </a:tcPr>
                </a:tc>
                <a:extLst>
                  <a:ext uri="{0D108BD9-81ED-4DB2-BD59-A6C34878D82A}">
                    <a16:rowId xmlns:a16="http://schemas.microsoft.com/office/drawing/2014/main" val="10000"/>
                  </a:ext>
                </a:extLst>
              </a:tr>
              <a:tr h="373380">
                <a:tc>
                  <a:txBody>
                    <a:bodyPr/>
                    <a:lstStyle/>
                    <a:p>
                      <a:pPr algn="ctr"/>
                      <a:r>
                        <a:rPr lang="en-US" altLang="zh-CN" sz="2000" dirty="0">
                          <a:latin typeface="Arial" panose="020B0604020202020204" pitchFamily="34" charset="0"/>
                          <a:ea typeface="汉仪旗黑-55简" panose="00020600040101010101" charset="-122"/>
                        </a:rPr>
                        <a:t>C1</a:t>
                      </a:r>
                    </a:p>
                  </a:txBody>
                  <a:tcPr marL="68583" marR="68583" marT="34279" marB="34279" anchor="ctr">
                    <a:solidFill>
                      <a:schemeClr val="accent2">
                        <a:lumMod val="20000"/>
                        <a:lumOff val="80000"/>
                      </a:schemeClr>
                    </a:solidFill>
                  </a:tcPr>
                </a:tc>
                <a:tc>
                  <a:txBody>
                    <a:bodyPr/>
                    <a:lstStyle/>
                    <a:p>
                      <a:r>
                        <a:rPr lang="zh-CN" altLang="en-US" sz="2000" dirty="0">
                          <a:latin typeface="Arial" panose="020B0604020202020204" pitchFamily="34" charset="0"/>
                          <a:ea typeface="汉仪旗黑-55简" panose="00020600040101010101" charset="-122"/>
                          <a:cs typeface="微软雅黑" panose="020B0503020204020204" charset="-122"/>
                        </a:rPr>
                        <a:t>第一个字符是</a:t>
                      </a:r>
                      <a:r>
                        <a:rPr lang="en-US" altLang="zh-CN" sz="2000" dirty="0">
                          <a:latin typeface="Arial" panose="020B0604020202020204" pitchFamily="34" charset="0"/>
                          <a:ea typeface="汉仪旗黑-55简" panose="00020600040101010101" charset="-122"/>
                          <a:cs typeface="微软雅黑" panose="020B0503020204020204" charset="-122"/>
                        </a:rPr>
                        <a:t>A</a:t>
                      </a:r>
                    </a:p>
                  </a:txBody>
                  <a:tcPr marL="68583" marR="68583" marT="34279" marB="34279" anchor="ctr">
                    <a:solidFill>
                      <a:schemeClr val="bg2"/>
                    </a:solidFill>
                  </a:tcPr>
                </a:tc>
                <a:tc>
                  <a:txBody>
                    <a:bodyPr/>
                    <a:lstStyle/>
                    <a:p>
                      <a:pPr algn="ctr"/>
                      <a:r>
                        <a:rPr lang="en-US" altLang="zh-CN" sz="2000" dirty="0">
                          <a:latin typeface="Arial" panose="020B0604020202020204" pitchFamily="34" charset="0"/>
                          <a:ea typeface="汉仪旗黑-55简" panose="00020600040101010101" charset="-122"/>
                        </a:rPr>
                        <a:t>E1</a:t>
                      </a:r>
                    </a:p>
                  </a:txBody>
                  <a:tcPr marL="68583" marR="68583" marT="34279" marB="34279" anchor="ctr">
                    <a:solidFill>
                      <a:schemeClr val="accent2">
                        <a:lumMod val="20000"/>
                        <a:lumOff val="80000"/>
                      </a:schemeClr>
                    </a:solidFill>
                  </a:tcPr>
                </a:tc>
                <a:tc>
                  <a:txBody>
                    <a:bodyPr/>
                    <a:lstStyle/>
                    <a:p>
                      <a:pPr algn="ctr"/>
                      <a:r>
                        <a:rPr lang="zh-CN" altLang="en-US" sz="2000" dirty="0">
                          <a:latin typeface="Arial" panose="020B0604020202020204" pitchFamily="34" charset="0"/>
                          <a:ea typeface="汉仪旗黑-55简" panose="00020600040101010101" charset="-122"/>
                        </a:rPr>
                        <a:t>修改文件</a:t>
                      </a:r>
                    </a:p>
                  </a:txBody>
                  <a:tcPr marL="68583" marR="68583" marT="34279" marB="34279" anchor="ctr">
                    <a:solidFill>
                      <a:schemeClr val="bg2"/>
                    </a:solidFill>
                  </a:tcPr>
                </a:tc>
                <a:extLst>
                  <a:ext uri="{0D108BD9-81ED-4DB2-BD59-A6C34878D82A}">
                    <a16:rowId xmlns:a16="http://schemas.microsoft.com/office/drawing/2014/main" val="10001"/>
                  </a:ext>
                </a:extLst>
              </a:tr>
              <a:tr h="373380">
                <a:tc>
                  <a:txBody>
                    <a:bodyPr/>
                    <a:lstStyle/>
                    <a:p>
                      <a:pPr algn="ctr"/>
                      <a:r>
                        <a:rPr lang="en-US" altLang="zh-CN" sz="2000" dirty="0">
                          <a:latin typeface="Arial" panose="020B0604020202020204" pitchFamily="34" charset="0"/>
                          <a:ea typeface="汉仪旗黑-55简" panose="00020600040101010101" charset="-122"/>
                        </a:rPr>
                        <a:t>C2</a:t>
                      </a:r>
                    </a:p>
                  </a:txBody>
                  <a:tcPr marL="68583" marR="68583" marT="34279" marB="34279" anchor="ctr">
                    <a:solidFill>
                      <a:schemeClr val="accent2">
                        <a:lumMod val="20000"/>
                        <a:lumOff val="80000"/>
                      </a:schemeClr>
                    </a:solidFill>
                  </a:tcPr>
                </a:tc>
                <a:tc>
                  <a:txBody>
                    <a:bodyPr/>
                    <a:lstStyle/>
                    <a:p>
                      <a:r>
                        <a:rPr lang="zh-CN" altLang="en-US" sz="2000" dirty="0">
                          <a:latin typeface="Arial" panose="020B0604020202020204" pitchFamily="34" charset="0"/>
                          <a:ea typeface="汉仪旗黑-55简" panose="00020600040101010101" charset="-122"/>
                          <a:cs typeface="微软雅黑" panose="020B0503020204020204" charset="-122"/>
                        </a:rPr>
                        <a:t>第一个字符是</a:t>
                      </a:r>
                      <a:r>
                        <a:rPr lang="en-US" altLang="zh-CN" sz="2000" dirty="0">
                          <a:latin typeface="Arial" panose="020B0604020202020204" pitchFamily="34" charset="0"/>
                          <a:ea typeface="汉仪旗黑-55简" panose="00020600040101010101" charset="-122"/>
                          <a:cs typeface="微软雅黑" panose="020B0503020204020204" charset="-122"/>
                        </a:rPr>
                        <a:t>B</a:t>
                      </a:r>
                    </a:p>
                  </a:txBody>
                  <a:tcPr marL="68583" marR="68583" marT="34279" marB="34279" anchor="ctr">
                    <a:solidFill>
                      <a:schemeClr val="bg2"/>
                    </a:solidFill>
                  </a:tcPr>
                </a:tc>
                <a:tc>
                  <a:txBody>
                    <a:bodyPr/>
                    <a:lstStyle/>
                    <a:p>
                      <a:pPr algn="ctr"/>
                      <a:r>
                        <a:rPr lang="en-US" altLang="zh-CN" sz="2000" dirty="0">
                          <a:latin typeface="Arial" panose="020B0604020202020204" pitchFamily="34" charset="0"/>
                          <a:ea typeface="汉仪旗黑-55简" panose="00020600040101010101" charset="-122"/>
                        </a:rPr>
                        <a:t>E2</a:t>
                      </a:r>
                    </a:p>
                  </a:txBody>
                  <a:tcPr marL="68583" marR="68583" marT="34279" marB="34279" anchor="ctr">
                    <a:solidFill>
                      <a:schemeClr val="accent2">
                        <a:lumMod val="20000"/>
                        <a:lumOff val="80000"/>
                      </a:schemeClr>
                    </a:solidFill>
                  </a:tcPr>
                </a:tc>
                <a:tc>
                  <a:txBody>
                    <a:bodyPr/>
                    <a:lstStyle/>
                    <a:p>
                      <a:pPr algn="ctr"/>
                      <a:r>
                        <a:rPr lang="zh-CN" altLang="en-US" sz="2000" dirty="0">
                          <a:latin typeface="Arial" panose="020B0604020202020204" pitchFamily="34" charset="0"/>
                          <a:ea typeface="汉仪旗黑-55简" panose="00020600040101010101" charset="-122"/>
                          <a:cs typeface="微软雅黑" panose="020B0503020204020204" charset="-122"/>
                        </a:rPr>
                        <a:t>给出信息</a:t>
                      </a:r>
                      <a:r>
                        <a:rPr lang="en-US" altLang="zh-CN" sz="2000" dirty="0">
                          <a:latin typeface="Arial" panose="020B0604020202020204" pitchFamily="34" charset="0"/>
                          <a:ea typeface="汉仪旗黑-55简" panose="00020600040101010101" charset="-122"/>
                          <a:cs typeface="微软雅黑" panose="020B0503020204020204" charset="-122"/>
                        </a:rPr>
                        <a:t>L</a:t>
                      </a:r>
                    </a:p>
                  </a:txBody>
                  <a:tcPr marL="68583" marR="68583" marT="34279" marB="34279" anchor="ctr">
                    <a:solidFill>
                      <a:schemeClr val="bg2"/>
                    </a:solidFill>
                  </a:tcPr>
                </a:tc>
                <a:extLst>
                  <a:ext uri="{0D108BD9-81ED-4DB2-BD59-A6C34878D82A}">
                    <a16:rowId xmlns:a16="http://schemas.microsoft.com/office/drawing/2014/main" val="10002"/>
                  </a:ext>
                </a:extLst>
              </a:tr>
              <a:tr h="392430">
                <a:tc>
                  <a:txBody>
                    <a:bodyPr/>
                    <a:lstStyle/>
                    <a:p>
                      <a:pPr algn="ctr"/>
                      <a:r>
                        <a:rPr lang="en-US" altLang="zh-CN" sz="2000" dirty="0">
                          <a:latin typeface="Arial" panose="020B0604020202020204" pitchFamily="34" charset="0"/>
                          <a:ea typeface="汉仪旗黑-55简" panose="00020600040101010101" charset="-122"/>
                        </a:rPr>
                        <a:t>C3</a:t>
                      </a:r>
                    </a:p>
                  </a:txBody>
                  <a:tcPr marL="68583" marR="68583" marT="34279" marB="34279" anchor="ctr">
                    <a:solidFill>
                      <a:schemeClr val="accent2">
                        <a:lumMod val="20000"/>
                        <a:lumOff val="80000"/>
                      </a:schemeClr>
                    </a:solidFill>
                  </a:tcPr>
                </a:tc>
                <a:tc>
                  <a:txBody>
                    <a:bodyPr/>
                    <a:lstStyle/>
                    <a:p>
                      <a:r>
                        <a:rPr lang="zh-CN" altLang="en-US" sz="2000" dirty="0">
                          <a:latin typeface="Arial" panose="020B0604020202020204" pitchFamily="34" charset="0"/>
                          <a:ea typeface="汉仪旗黑-55简" panose="00020600040101010101" charset="-122"/>
                        </a:rPr>
                        <a:t>第二列字符是一个数字</a:t>
                      </a:r>
                    </a:p>
                  </a:txBody>
                  <a:tcPr marL="68583" marR="68583" marT="34279" marB="34279" anchor="ctr">
                    <a:solidFill>
                      <a:schemeClr val="bg2"/>
                    </a:solidFill>
                  </a:tcPr>
                </a:tc>
                <a:tc>
                  <a:txBody>
                    <a:bodyPr/>
                    <a:lstStyle/>
                    <a:p>
                      <a:pPr algn="ctr"/>
                      <a:r>
                        <a:rPr lang="en-US" altLang="zh-CN" sz="2000" dirty="0">
                          <a:latin typeface="Arial" panose="020B0604020202020204" pitchFamily="34" charset="0"/>
                          <a:ea typeface="汉仪旗黑-55简" panose="00020600040101010101" charset="-122"/>
                        </a:rPr>
                        <a:t>E3</a:t>
                      </a:r>
                    </a:p>
                  </a:txBody>
                  <a:tcPr marL="68583" marR="68583" marT="34279" marB="34279" anchor="ctr">
                    <a:solidFill>
                      <a:schemeClr val="accent2">
                        <a:lumMod val="20000"/>
                        <a:lumOff val="80000"/>
                      </a:schemeClr>
                    </a:solidFill>
                  </a:tcPr>
                </a:tc>
                <a:tc>
                  <a:txBody>
                    <a:bodyPr/>
                    <a:lstStyle/>
                    <a:p>
                      <a:pPr algn="ctr"/>
                      <a:r>
                        <a:rPr lang="zh-CN" altLang="en-US" sz="2000" dirty="0">
                          <a:latin typeface="Arial" panose="020B0604020202020204" pitchFamily="34" charset="0"/>
                          <a:ea typeface="汉仪旗黑-55简" panose="00020600040101010101" charset="-122"/>
                          <a:cs typeface="微软雅黑" panose="020B0503020204020204" charset="-122"/>
                        </a:rPr>
                        <a:t>给出信息</a:t>
                      </a:r>
                      <a:r>
                        <a:rPr lang="en-US" altLang="zh-CN" sz="2000" dirty="0">
                          <a:latin typeface="Arial" panose="020B0604020202020204" pitchFamily="34" charset="0"/>
                          <a:ea typeface="汉仪旗黑-55简" panose="00020600040101010101" charset="-122"/>
                          <a:cs typeface="微软雅黑" panose="020B0503020204020204" charset="-122"/>
                        </a:rPr>
                        <a:t>M</a:t>
                      </a:r>
                    </a:p>
                  </a:txBody>
                  <a:tcPr marL="68583" marR="68583" marT="34279" marB="34279" anchor="ctr">
                    <a:solidFill>
                      <a:schemeClr val="bg2"/>
                    </a:solidFill>
                  </a:tcPr>
                </a:tc>
                <a:extLst>
                  <a:ext uri="{0D108BD9-81ED-4DB2-BD59-A6C34878D82A}">
                    <a16:rowId xmlns:a16="http://schemas.microsoft.com/office/drawing/2014/main" val="10003"/>
                  </a:ext>
                </a:extLst>
              </a:tr>
              <a:tr h="373380">
                <a:tc>
                  <a:txBody>
                    <a:bodyPr/>
                    <a:lstStyle/>
                    <a:p>
                      <a:pPr algn="ctr"/>
                      <a:r>
                        <a:rPr lang="en-US" altLang="zh-CN" sz="2000" dirty="0">
                          <a:latin typeface="Arial" panose="020B0604020202020204" pitchFamily="34" charset="0"/>
                          <a:ea typeface="汉仪旗黑-55简" panose="00020600040101010101" charset="-122"/>
                        </a:rPr>
                        <a:t>11</a:t>
                      </a:r>
                    </a:p>
                  </a:txBody>
                  <a:tcPr marL="68583" marR="68583" marT="34279" marB="34279" anchor="ctr">
                    <a:solidFill>
                      <a:schemeClr val="accent2">
                        <a:lumMod val="20000"/>
                        <a:lumOff val="80000"/>
                      </a:schemeClr>
                    </a:solidFill>
                  </a:tcPr>
                </a:tc>
                <a:tc>
                  <a:txBody>
                    <a:bodyPr/>
                    <a:lstStyle/>
                    <a:p>
                      <a:r>
                        <a:rPr lang="zh-CN" altLang="en-US" sz="2000" dirty="0">
                          <a:latin typeface="Arial" panose="020B0604020202020204" pitchFamily="34" charset="0"/>
                          <a:ea typeface="汉仪旗黑-55简" panose="00020600040101010101" charset="-122"/>
                        </a:rPr>
                        <a:t>中间原因</a:t>
                      </a:r>
                    </a:p>
                  </a:txBody>
                  <a:tcPr marL="68583" marR="68583" marT="34279" marB="34279" anchor="ctr">
                    <a:solidFill>
                      <a:schemeClr val="bg2"/>
                    </a:solidFill>
                  </a:tcPr>
                </a:tc>
                <a:tc>
                  <a:txBody>
                    <a:bodyPr/>
                    <a:lstStyle/>
                    <a:p>
                      <a:endParaRPr lang="zh-CN" altLang="en-US" sz="2000">
                        <a:latin typeface="微软雅黑" panose="020B0503020204020204" charset="-122"/>
                        <a:ea typeface="汉仪旗黑-55简" panose="00020600040101010101" charset="-122"/>
                      </a:endParaRPr>
                    </a:p>
                  </a:txBody>
                  <a:tcPr marL="68583" marR="68583" marT="34279" marB="34279" anchor="ctr">
                    <a:solidFill>
                      <a:schemeClr val="bg2"/>
                    </a:solidFill>
                  </a:tcPr>
                </a:tc>
                <a:tc>
                  <a:txBody>
                    <a:bodyPr/>
                    <a:lstStyle/>
                    <a:p>
                      <a:endParaRPr lang="zh-CN" altLang="en-US" sz="2000" dirty="0">
                        <a:latin typeface="微软雅黑" panose="020B0503020204020204" charset="-122"/>
                        <a:ea typeface="汉仪旗黑-55简" panose="00020600040101010101" charset="-122"/>
                      </a:endParaRPr>
                    </a:p>
                  </a:txBody>
                  <a:tcPr marL="68583" marR="68583" marT="34279" marB="34279" anchor="ctr">
                    <a:solidFill>
                      <a:schemeClr val="bg2"/>
                    </a:solidFill>
                  </a:tcPr>
                </a:tc>
                <a:extLst>
                  <a:ext uri="{0D108BD9-81ED-4DB2-BD59-A6C34878D82A}">
                    <a16:rowId xmlns:a16="http://schemas.microsoft.com/office/drawing/2014/main" val="10004"/>
                  </a:ext>
                </a:extLst>
              </a:tr>
            </a:tbl>
          </a:graphicData>
        </a:graphic>
      </p:graphicFrame>
      <p:sp>
        <p:nvSpPr>
          <p:cNvPr id="4" name="Rectangle 2"/>
          <p:cNvSpPr>
            <a:spLocks noGrp="1" noChangeArrowheads="1"/>
          </p:cNvSpPr>
          <p:nvPr>
            <p:custDataLst>
              <p:tags r:id="rId5"/>
            </p:custDataLst>
          </p:nvPr>
        </p:nvSpPr>
        <p:spPr>
          <a:xfrm>
            <a:off x="2018030" y="629286"/>
            <a:ext cx="7773670" cy="771525"/>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algn="l" eaLnBrk="1" fontAlgn="auto" hangingPunct="1">
              <a:buClrTx/>
              <a:buSzTx/>
              <a:buFontTx/>
            </a:pPr>
            <a:r>
              <a:rPr lang="zh-CN" altLang="en-US" sz="4400" spc="200" dirty="0">
                <a:solidFill>
                  <a:schemeClr val="accent1"/>
                </a:solidFill>
                <a:latin typeface="Arial" panose="020B0604020202020204" pitchFamily="34" charset="0"/>
                <a:ea typeface="汉仪文黑-85W" panose="00020600040101010101" charset="-122"/>
              </a:rPr>
              <a:t>实例2的因果关系图</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17</a:t>
            </a:fld>
            <a:endParaRPr lang="zh-CN" altLang="en-US"/>
          </a:p>
        </p:txBody>
      </p:sp>
      <p:sp>
        <p:nvSpPr>
          <p:cNvPr id="26" name="椭圆 2"/>
          <p:cNvSpPr>
            <a:spLocks noChangeArrowheads="1"/>
          </p:cNvSpPr>
          <p:nvPr>
            <p:custDataLst>
              <p:tags r:id="rId6"/>
            </p:custDataLst>
          </p:nvPr>
        </p:nvSpPr>
        <p:spPr bwMode="auto">
          <a:xfrm>
            <a:off x="3902076" y="4511041"/>
            <a:ext cx="659765" cy="594995"/>
          </a:xfrm>
          <a:prstGeom prst="ellipse">
            <a:avLst/>
          </a:prstGeom>
          <a:noFill/>
          <a:ln w="9525" algn="ctr">
            <a:solidFill>
              <a:schemeClr val="dk1"/>
            </a:solidFill>
            <a:round/>
          </a:ln>
          <a:extLst>
            <a:ext uri="{909E8E84-426E-40DD-AFC4-6F175D3DCCD1}">
              <a14:hiddenFill xmlns:a14="http://schemas.microsoft.com/office/drawing/2010/main">
                <a:solidFill>
                  <a:srgbClr val="FFFFFF"/>
                </a:solidFill>
              </a14:hiddenFill>
            </a:ext>
          </a:extLst>
        </p:spPr>
        <p:txBody>
          <a:bodyPr anchor="b"/>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en-US" altLang="zh-CN" sz="1800">
                <a:solidFill>
                  <a:schemeClr val="dk1"/>
                </a:solidFill>
                <a:latin typeface="微软雅黑" panose="020B0503020204020204" charset="-122"/>
                <a:ea typeface="微软雅黑" panose="020B0503020204020204" charset="-122"/>
              </a:rPr>
              <a:t>E</a:t>
            </a:r>
            <a:endParaRPr lang="en-US" altLang="zh-CN" sz="1800" dirty="0">
              <a:solidFill>
                <a:schemeClr val="dk1"/>
              </a:solidFill>
              <a:latin typeface="微软雅黑" panose="020B0503020204020204" charset="-122"/>
              <a:ea typeface="微软雅黑" panose="020B0503020204020204" charset="-122"/>
            </a:endParaRPr>
          </a:p>
        </p:txBody>
      </p:sp>
      <p:sp>
        <p:nvSpPr>
          <p:cNvPr id="27" name="椭圆 26"/>
          <p:cNvSpPr>
            <a:spLocks noChangeArrowheads="1"/>
          </p:cNvSpPr>
          <p:nvPr>
            <p:custDataLst>
              <p:tags r:id="rId7"/>
            </p:custDataLst>
          </p:nvPr>
        </p:nvSpPr>
        <p:spPr bwMode="auto">
          <a:xfrm>
            <a:off x="5060950" y="4046855"/>
            <a:ext cx="679450" cy="659130"/>
          </a:xfrm>
          <a:prstGeom prst="ellipse">
            <a:avLst/>
          </a:prstGeom>
          <a:noFill/>
          <a:ln w="9525" algn="ctr">
            <a:solidFill>
              <a:schemeClr val="dk1"/>
            </a:solidFill>
            <a:round/>
          </a:ln>
          <a:extLst>
            <a:ext uri="{909E8E84-426E-40DD-AFC4-6F175D3DCCD1}">
              <a14:hiddenFill xmlns:a14="http://schemas.microsoft.com/office/drawing/2010/main">
                <a:solidFill>
                  <a:srgbClr val="FFFFFF"/>
                </a:solidFill>
              </a14:hiddenFill>
            </a:ext>
          </a:extLst>
        </p:spPr>
        <p:txBody>
          <a:bodyPr anchor="b"/>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en-US" altLang="zh-CN" sz="1800">
                <a:solidFill>
                  <a:schemeClr val="dk1"/>
                </a:solidFill>
                <a:latin typeface="微软雅黑" panose="020B0503020204020204" charset="-122"/>
                <a:ea typeface="微软雅黑" panose="020B0503020204020204" charset="-122"/>
              </a:rPr>
              <a:t>C1</a:t>
            </a:r>
          </a:p>
        </p:txBody>
      </p:sp>
      <p:sp>
        <p:nvSpPr>
          <p:cNvPr id="28" name="椭圆 27"/>
          <p:cNvSpPr>
            <a:spLocks noChangeArrowheads="1"/>
          </p:cNvSpPr>
          <p:nvPr>
            <p:custDataLst>
              <p:tags r:id="rId8"/>
            </p:custDataLst>
          </p:nvPr>
        </p:nvSpPr>
        <p:spPr bwMode="auto">
          <a:xfrm>
            <a:off x="5060950" y="4926330"/>
            <a:ext cx="679450" cy="650240"/>
          </a:xfrm>
          <a:prstGeom prst="ellipse">
            <a:avLst/>
          </a:prstGeom>
          <a:noFill/>
          <a:ln w="9525" algn="ctr">
            <a:solidFill>
              <a:schemeClr val="dk1"/>
            </a:solidFill>
            <a:round/>
          </a:ln>
          <a:extLst>
            <a:ext uri="{909E8E84-426E-40DD-AFC4-6F175D3DCCD1}">
              <a14:hiddenFill xmlns:a14="http://schemas.microsoft.com/office/drawing/2010/main">
                <a:solidFill>
                  <a:srgbClr val="FFFFFF"/>
                </a:solidFill>
              </a14:hiddenFill>
            </a:ext>
          </a:extLst>
        </p:spPr>
        <p:txBody>
          <a:bodyPr anchor="b"/>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en-US" altLang="zh-CN" sz="1800">
                <a:solidFill>
                  <a:schemeClr val="dk1"/>
                </a:solidFill>
                <a:latin typeface="微软雅黑" panose="020B0503020204020204" charset="-122"/>
                <a:ea typeface="微软雅黑" panose="020B0503020204020204" charset="-122"/>
              </a:rPr>
              <a:t>C2</a:t>
            </a:r>
          </a:p>
        </p:txBody>
      </p:sp>
      <p:sp>
        <p:nvSpPr>
          <p:cNvPr id="29" name="椭圆 28"/>
          <p:cNvSpPr>
            <a:spLocks noChangeArrowheads="1"/>
          </p:cNvSpPr>
          <p:nvPr>
            <p:custDataLst>
              <p:tags r:id="rId9"/>
            </p:custDataLst>
          </p:nvPr>
        </p:nvSpPr>
        <p:spPr bwMode="auto">
          <a:xfrm>
            <a:off x="6639560" y="4614545"/>
            <a:ext cx="693420" cy="623570"/>
          </a:xfrm>
          <a:prstGeom prst="ellipse">
            <a:avLst/>
          </a:prstGeom>
          <a:noFill/>
          <a:ln w="9525" algn="ctr">
            <a:solidFill>
              <a:schemeClr val="dk1"/>
            </a:solidFill>
            <a:round/>
          </a:ln>
          <a:extLst>
            <a:ext uri="{909E8E84-426E-40DD-AFC4-6F175D3DCCD1}">
              <a14:hiddenFill xmlns:a14="http://schemas.microsoft.com/office/drawing/2010/main">
                <a:solidFill>
                  <a:srgbClr val="FFFFFF"/>
                </a:solidFill>
              </a14:hiddenFill>
            </a:ext>
          </a:extLst>
        </p:spPr>
        <p:txBody>
          <a:bodyPr anchor="b"/>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en-US" altLang="zh-CN" sz="1800">
                <a:solidFill>
                  <a:schemeClr val="dk1"/>
                </a:solidFill>
                <a:latin typeface="微软雅黑" panose="020B0503020204020204" charset="-122"/>
                <a:ea typeface="微软雅黑" panose="020B0503020204020204" charset="-122"/>
              </a:rPr>
              <a:t>11</a:t>
            </a:r>
          </a:p>
        </p:txBody>
      </p:sp>
      <p:sp>
        <p:nvSpPr>
          <p:cNvPr id="30" name="椭圆 29"/>
          <p:cNvSpPr>
            <a:spLocks noChangeArrowheads="1"/>
          </p:cNvSpPr>
          <p:nvPr>
            <p:custDataLst>
              <p:tags r:id="rId10"/>
            </p:custDataLst>
          </p:nvPr>
        </p:nvSpPr>
        <p:spPr bwMode="auto">
          <a:xfrm>
            <a:off x="6630036" y="5422901"/>
            <a:ext cx="702945" cy="663575"/>
          </a:xfrm>
          <a:prstGeom prst="ellipse">
            <a:avLst/>
          </a:prstGeom>
          <a:noFill/>
          <a:ln w="9525" algn="ctr">
            <a:solidFill>
              <a:schemeClr val="dk1"/>
            </a:solidFill>
            <a:round/>
          </a:ln>
          <a:extLst>
            <a:ext uri="{909E8E84-426E-40DD-AFC4-6F175D3DCCD1}">
              <a14:hiddenFill xmlns:a14="http://schemas.microsoft.com/office/drawing/2010/main">
                <a:solidFill>
                  <a:srgbClr val="FFFFFF"/>
                </a:solidFill>
              </a14:hiddenFill>
            </a:ext>
          </a:extLst>
        </p:spPr>
        <p:txBody>
          <a:bodyPr anchor="b"/>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en-US" altLang="zh-CN" sz="1800">
                <a:solidFill>
                  <a:schemeClr val="dk1"/>
                </a:solidFill>
                <a:latin typeface="微软雅黑" panose="020B0503020204020204" charset="-122"/>
                <a:ea typeface="微软雅黑" panose="020B0503020204020204" charset="-122"/>
              </a:rPr>
              <a:t>C3</a:t>
            </a:r>
          </a:p>
        </p:txBody>
      </p:sp>
      <p:sp>
        <p:nvSpPr>
          <p:cNvPr id="31" name="椭圆 30"/>
          <p:cNvSpPr>
            <a:spLocks noChangeArrowheads="1"/>
          </p:cNvSpPr>
          <p:nvPr>
            <p:custDataLst>
              <p:tags r:id="rId11"/>
            </p:custDataLst>
          </p:nvPr>
        </p:nvSpPr>
        <p:spPr bwMode="auto">
          <a:xfrm>
            <a:off x="8125460" y="5989321"/>
            <a:ext cx="673100" cy="605155"/>
          </a:xfrm>
          <a:prstGeom prst="ellipse">
            <a:avLst/>
          </a:prstGeom>
          <a:noFill/>
          <a:ln w="9525" algn="ctr">
            <a:solidFill>
              <a:schemeClr val="dk1"/>
            </a:solidFill>
            <a:round/>
          </a:ln>
          <a:extLst>
            <a:ext uri="{909E8E84-426E-40DD-AFC4-6F175D3DCCD1}">
              <a14:hiddenFill xmlns:a14="http://schemas.microsoft.com/office/drawing/2010/main">
                <a:solidFill>
                  <a:srgbClr val="FFFFFF"/>
                </a:solidFill>
              </a14:hiddenFill>
            </a:ext>
          </a:extLst>
        </p:spPr>
        <p:txBody>
          <a:bodyPr anchor="b"/>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en-US" altLang="zh-CN" sz="1800">
                <a:solidFill>
                  <a:schemeClr val="dk1"/>
                </a:solidFill>
                <a:latin typeface="微软雅黑" panose="020B0503020204020204" charset="-122"/>
                <a:ea typeface="微软雅黑" panose="020B0503020204020204" charset="-122"/>
              </a:rPr>
              <a:t>E3</a:t>
            </a:r>
          </a:p>
        </p:txBody>
      </p:sp>
      <p:sp>
        <p:nvSpPr>
          <p:cNvPr id="32" name="椭圆 31"/>
          <p:cNvSpPr>
            <a:spLocks noChangeArrowheads="1"/>
          </p:cNvSpPr>
          <p:nvPr>
            <p:custDataLst>
              <p:tags r:id="rId12"/>
            </p:custDataLst>
          </p:nvPr>
        </p:nvSpPr>
        <p:spPr bwMode="auto">
          <a:xfrm>
            <a:off x="8092441" y="3930651"/>
            <a:ext cx="690245" cy="667385"/>
          </a:xfrm>
          <a:prstGeom prst="ellipse">
            <a:avLst/>
          </a:prstGeom>
          <a:noFill/>
          <a:ln w="9525" algn="ctr">
            <a:solidFill>
              <a:schemeClr val="dk1"/>
            </a:solidFill>
            <a:round/>
          </a:ln>
          <a:extLst>
            <a:ext uri="{909E8E84-426E-40DD-AFC4-6F175D3DCCD1}">
              <a14:hiddenFill xmlns:a14="http://schemas.microsoft.com/office/drawing/2010/main">
                <a:solidFill>
                  <a:srgbClr val="FFFFFF"/>
                </a:solidFill>
              </a14:hiddenFill>
            </a:ext>
          </a:extLst>
        </p:spPr>
        <p:txBody>
          <a:bodyPr anchor="b"/>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en-US" altLang="zh-CN" sz="1800">
                <a:solidFill>
                  <a:schemeClr val="dk1"/>
                </a:solidFill>
                <a:latin typeface="微软雅黑" panose="020B0503020204020204" charset="-122"/>
                <a:ea typeface="微软雅黑" panose="020B0503020204020204" charset="-122"/>
              </a:rPr>
              <a:t>E2</a:t>
            </a:r>
          </a:p>
        </p:txBody>
      </p:sp>
      <p:sp>
        <p:nvSpPr>
          <p:cNvPr id="33" name="椭圆 32"/>
          <p:cNvSpPr>
            <a:spLocks noChangeArrowheads="1"/>
          </p:cNvSpPr>
          <p:nvPr>
            <p:custDataLst>
              <p:tags r:id="rId13"/>
            </p:custDataLst>
          </p:nvPr>
        </p:nvSpPr>
        <p:spPr bwMode="auto">
          <a:xfrm>
            <a:off x="8091805" y="5019041"/>
            <a:ext cx="690880" cy="620395"/>
          </a:xfrm>
          <a:prstGeom prst="ellipse">
            <a:avLst/>
          </a:prstGeom>
          <a:noFill/>
          <a:ln w="9525" algn="ctr">
            <a:solidFill>
              <a:schemeClr val="dk1"/>
            </a:solidFill>
            <a:round/>
          </a:ln>
          <a:extLst>
            <a:ext uri="{909E8E84-426E-40DD-AFC4-6F175D3DCCD1}">
              <a14:hiddenFill xmlns:a14="http://schemas.microsoft.com/office/drawing/2010/main">
                <a:solidFill>
                  <a:srgbClr val="FFFFFF"/>
                </a:solidFill>
              </a14:hiddenFill>
            </a:ext>
          </a:extLst>
        </p:spPr>
        <p:txBody>
          <a:bodyPr anchor="b"/>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en-US" altLang="zh-CN" sz="1800">
                <a:solidFill>
                  <a:schemeClr val="dk1"/>
                </a:solidFill>
                <a:latin typeface="微软雅黑" panose="020B0503020204020204" charset="-122"/>
                <a:ea typeface="微软雅黑" panose="020B0503020204020204" charset="-122"/>
              </a:rPr>
              <a:t>E1</a:t>
            </a:r>
          </a:p>
        </p:txBody>
      </p:sp>
      <p:cxnSp>
        <p:nvCxnSpPr>
          <p:cNvPr id="34" name="直接连接符 4"/>
          <p:cNvCxnSpPr>
            <a:cxnSpLocks noChangeShapeType="1"/>
            <a:stCxn id="26" idx="7"/>
            <a:endCxn id="27" idx="2"/>
          </p:cNvCxnSpPr>
          <p:nvPr/>
        </p:nvCxnSpPr>
        <p:spPr bwMode="auto">
          <a:xfrm flipV="1">
            <a:off x="4465477" y="4376379"/>
            <a:ext cx="595630" cy="221615"/>
          </a:xfrm>
          <a:prstGeom prst="line">
            <a:avLst/>
          </a:prstGeom>
          <a:noFill/>
          <a:ln w="9525" cap="flat" cmpd="sng" algn="ctr">
            <a:solidFill>
              <a:srgbClr val="000000"/>
            </a:solidFill>
            <a:prstDash val="dash"/>
            <a:round/>
            <a:headEnd type="none" w="med" len="med"/>
            <a:tailEnd type="none" w="med" len="med"/>
          </a:ln>
          <a:effectLst/>
        </p:spPr>
        <p:style>
          <a:lnRef idx="0">
            <a:scrgbClr r="0" g="0" b="0"/>
          </a:lnRef>
          <a:fillRef idx="0">
            <a:scrgbClr r="0" g="0" b="0"/>
          </a:fillRef>
          <a:effectRef idx="0">
            <a:scrgbClr r="0" g="0" b="0"/>
          </a:effectRef>
          <a:fontRef idx="minor">
            <a:schemeClr val="tx1"/>
          </a:fontRef>
        </p:style>
      </p:cxnSp>
      <p:cxnSp>
        <p:nvCxnSpPr>
          <p:cNvPr id="35" name="直接连接符 6"/>
          <p:cNvCxnSpPr>
            <a:cxnSpLocks noChangeShapeType="1"/>
            <a:stCxn id="26" idx="5"/>
            <a:endCxn id="28" idx="2"/>
          </p:cNvCxnSpPr>
          <p:nvPr/>
        </p:nvCxnSpPr>
        <p:spPr bwMode="auto">
          <a:xfrm>
            <a:off x="4465477" y="5018918"/>
            <a:ext cx="595630" cy="232410"/>
          </a:xfrm>
          <a:prstGeom prst="line">
            <a:avLst/>
          </a:prstGeom>
          <a:noFill/>
          <a:ln w="9525" cap="flat" cmpd="sng" algn="ctr">
            <a:solidFill>
              <a:srgbClr val="000000"/>
            </a:solidFill>
            <a:prstDash val="dash"/>
            <a:round/>
            <a:headEnd type="none" w="med" len="med"/>
            <a:tailEnd type="none" w="med" len="med"/>
          </a:ln>
          <a:effectLst/>
        </p:spPr>
        <p:style>
          <a:lnRef idx="0">
            <a:scrgbClr r="0" g="0" b="0"/>
          </a:lnRef>
          <a:fillRef idx="0">
            <a:scrgbClr r="0" g="0" b="0"/>
          </a:fillRef>
          <a:effectRef idx="0">
            <a:scrgbClr r="0" g="0" b="0"/>
          </a:effectRef>
          <a:fontRef idx="minor">
            <a:schemeClr val="tx1"/>
          </a:fontRef>
        </p:style>
      </p:cxnSp>
      <p:cxnSp>
        <p:nvCxnSpPr>
          <p:cNvPr id="36" name="直接连接符 8"/>
          <p:cNvCxnSpPr>
            <a:cxnSpLocks noChangeShapeType="1"/>
            <a:stCxn id="27" idx="6"/>
            <a:endCxn id="29" idx="1"/>
          </p:cNvCxnSpPr>
          <p:nvPr>
            <p:custDataLst>
              <p:tags r:id="rId14"/>
            </p:custDataLst>
          </p:nvPr>
        </p:nvCxnSpPr>
        <p:spPr bwMode="auto">
          <a:xfrm>
            <a:off x="5740715" y="4376140"/>
            <a:ext cx="1000760" cy="329565"/>
          </a:xfrm>
          <a:prstGeom prst="line">
            <a:avLst/>
          </a:prstGeom>
          <a:noFill/>
          <a:ln w="9525" algn="ctr">
            <a:solidFill>
              <a:schemeClr val="dk1"/>
            </a:solidFill>
            <a:round/>
          </a:ln>
          <a:extLst>
            <a:ext uri="{909E8E84-426E-40DD-AFC4-6F175D3DCCD1}">
              <a14:hiddenFill xmlns:a14="http://schemas.microsoft.com/office/drawing/2010/main">
                <a:noFill/>
              </a14:hiddenFill>
            </a:ext>
          </a:extLst>
        </p:spPr>
      </p:cxnSp>
      <p:cxnSp>
        <p:nvCxnSpPr>
          <p:cNvPr id="37" name="直接连接符 10"/>
          <p:cNvCxnSpPr>
            <a:cxnSpLocks noChangeShapeType="1"/>
            <a:stCxn id="28" idx="5"/>
            <a:endCxn id="29" idx="2"/>
          </p:cNvCxnSpPr>
          <p:nvPr>
            <p:custDataLst>
              <p:tags r:id="rId15"/>
            </p:custDataLst>
          </p:nvPr>
        </p:nvCxnSpPr>
        <p:spPr bwMode="auto">
          <a:xfrm flipV="1">
            <a:off x="5640625" y="4926605"/>
            <a:ext cx="998855" cy="554990"/>
          </a:xfrm>
          <a:prstGeom prst="line">
            <a:avLst/>
          </a:prstGeom>
          <a:noFill/>
          <a:ln w="9525" algn="ctr">
            <a:solidFill>
              <a:schemeClr val="dk1"/>
            </a:solidFill>
            <a:round/>
          </a:ln>
          <a:extLst>
            <a:ext uri="{909E8E84-426E-40DD-AFC4-6F175D3DCCD1}">
              <a14:hiddenFill xmlns:a14="http://schemas.microsoft.com/office/drawing/2010/main">
                <a:noFill/>
              </a14:hiddenFill>
            </a:ext>
          </a:extLst>
        </p:spPr>
      </p:cxnSp>
      <p:cxnSp>
        <p:nvCxnSpPr>
          <p:cNvPr id="38" name="直接连接符 12"/>
          <p:cNvCxnSpPr>
            <a:cxnSpLocks noChangeShapeType="1"/>
            <a:stCxn id="29" idx="7"/>
            <a:endCxn id="32" idx="2"/>
          </p:cNvCxnSpPr>
          <p:nvPr>
            <p:custDataLst>
              <p:tags r:id="rId16"/>
            </p:custDataLst>
          </p:nvPr>
        </p:nvCxnSpPr>
        <p:spPr bwMode="auto">
          <a:xfrm flipV="1">
            <a:off x="7231378" y="4264380"/>
            <a:ext cx="861060" cy="441325"/>
          </a:xfrm>
          <a:prstGeom prst="line">
            <a:avLst/>
          </a:prstGeom>
          <a:noFill/>
          <a:ln w="9525" algn="ctr">
            <a:solidFill>
              <a:schemeClr val="dk1"/>
            </a:solidFill>
            <a:round/>
          </a:ln>
          <a:extLst>
            <a:ext uri="{909E8E84-426E-40DD-AFC4-6F175D3DCCD1}">
              <a14:hiddenFill xmlns:a14="http://schemas.microsoft.com/office/drawing/2010/main">
                <a:noFill/>
              </a14:hiddenFill>
            </a:ext>
          </a:extLst>
        </p:spPr>
      </p:cxnSp>
      <p:cxnSp>
        <p:nvCxnSpPr>
          <p:cNvPr id="39" name="直接连接符 14"/>
          <p:cNvCxnSpPr>
            <a:cxnSpLocks noChangeShapeType="1"/>
            <a:stCxn id="29" idx="6"/>
            <a:endCxn id="33" idx="1"/>
          </p:cNvCxnSpPr>
          <p:nvPr>
            <p:custDataLst>
              <p:tags r:id="rId17"/>
            </p:custDataLst>
          </p:nvPr>
        </p:nvCxnSpPr>
        <p:spPr bwMode="auto">
          <a:xfrm>
            <a:off x="7332819" y="4926051"/>
            <a:ext cx="859790" cy="183515"/>
          </a:xfrm>
          <a:prstGeom prst="line">
            <a:avLst/>
          </a:prstGeom>
          <a:noFill/>
          <a:ln w="9525" algn="ctr">
            <a:solidFill>
              <a:schemeClr val="dk1"/>
            </a:solidFill>
            <a:round/>
          </a:ln>
          <a:extLst>
            <a:ext uri="{909E8E84-426E-40DD-AFC4-6F175D3DCCD1}">
              <a14:hiddenFill xmlns:a14="http://schemas.microsoft.com/office/drawing/2010/main">
                <a:noFill/>
              </a14:hiddenFill>
            </a:ext>
          </a:extLst>
        </p:spPr>
      </p:cxnSp>
      <p:cxnSp>
        <p:nvCxnSpPr>
          <p:cNvPr id="40" name="直接连接符 16"/>
          <p:cNvCxnSpPr>
            <a:cxnSpLocks noChangeShapeType="1"/>
            <a:stCxn id="30" idx="6"/>
            <a:endCxn id="33" idx="2"/>
          </p:cNvCxnSpPr>
          <p:nvPr>
            <p:custDataLst>
              <p:tags r:id="rId18"/>
            </p:custDataLst>
          </p:nvPr>
        </p:nvCxnSpPr>
        <p:spPr bwMode="auto">
          <a:xfrm flipV="1">
            <a:off x="7333059" y="5329433"/>
            <a:ext cx="758825" cy="425450"/>
          </a:xfrm>
          <a:prstGeom prst="line">
            <a:avLst/>
          </a:prstGeom>
          <a:noFill/>
          <a:ln w="9525" algn="ctr">
            <a:solidFill>
              <a:schemeClr val="dk1"/>
            </a:solidFill>
            <a:round/>
          </a:ln>
          <a:extLst>
            <a:ext uri="{909E8E84-426E-40DD-AFC4-6F175D3DCCD1}">
              <a14:hiddenFill xmlns:a14="http://schemas.microsoft.com/office/drawing/2010/main">
                <a:noFill/>
              </a14:hiddenFill>
            </a:ext>
          </a:extLst>
        </p:spPr>
      </p:cxnSp>
      <p:cxnSp>
        <p:nvCxnSpPr>
          <p:cNvPr id="41" name="直接连接符 20"/>
          <p:cNvCxnSpPr>
            <a:cxnSpLocks noChangeShapeType="1"/>
            <a:stCxn id="30" idx="5"/>
            <a:endCxn id="31" idx="2"/>
          </p:cNvCxnSpPr>
          <p:nvPr>
            <p:custDataLst>
              <p:tags r:id="rId19"/>
            </p:custDataLst>
          </p:nvPr>
        </p:nvCxnSpPr>
        <p:spPr bwMode="auto">
          <a:xfrm>
            <a:off x="7230346" y="5989120"/>
            <a:ext cx="895350" cy="302895"/>
          </a:xfrm>
          <a:prstGeom prst="line">
            <a:avLst/>
          </a:prstGeom>
          <a:noFill/>
          <a:ln w="9525" algn="ctr">
            <a:solidFill>
              <a:schemeClr val="dk1"/>
            </a:solidFill>
            <a:round/>
          </a:ln>
          <a:extLst>
            <a:ext uri="{909E8E84-426E-40DD-AFC4-6F175D3DCCD1}">
              <a14:hiddenFill xmlns:a14="http://schemas.microsoft.com/office/drawing/2010/main">
                <a:noFill/>
              </a14:hiddenFill>
            </a:ext>
          </a:extLst>
        </p:spPr>
      </p:cxnSp>
      <p:sp>
        <p:nvSpPr>
          <p:cNvPr id="42" name="矩形 21"/>
          <p:cNvSpPr>
            <a:spLocks noChangeArrowheads="1"/>
          </p:cNvSpPr>
          <p:nvPr>
            <p:custDataLst>
              <p:tags r:id="rId20"/>
            </p:custDataLst>
          </p:nvPr>
        </p:nvSpPr>
        <p:spPr bwMode="auto">
          <a:xfrm>
            <a:off x="6383415" y="4389476"/>
            <a:ext cx="11311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de-DE" altLang="zh-CN" sz="4050" b="1">
                <a:solidFill>
                  <a:schemeClr val="dk1"/>
                </a:solidFill>
                <a:cs typeface="微软雅黑" panose="020B0503020204020204" charset="-122"/>
                <a:sym typeface="Symbol" panose="05050102010706020507" pitchFamily="18" charset="2"/>
              </a:rPr>
              <a:t></a:t>
            </a:r>
            <a:endParaRPr lang="de-DE" altLang="zh-CN" sz="4050" b="1">
              <a:solidFill>
                <a:schemeClr val="dk1"/>
              </a:solidFill>
              <a:ea typeface="隶书" panose="02010509060101010101" pitchFamily="49" charset="-122"/>
              <a:cs typeface="微软雅黑" panose="020B0503020204020204" charset="-122"/>
              <a:sym typeface="Symbol" panose="05050102010706020507" pitchFamily="18" charset="2"/>
            </a:endParaRPr>
          </a:p>
        </p:txBody>
      </p:sp>
      <p:sp>
        <p:nvSpPr>
          <p:cNvPr id="43" name="矩形 22"/>
          <p:cNvSpPr>
            <a:spLocks noChangeArrowheads="1"/>
          </p:cNvSpPr>
          <p:nvPr>
            <p:custDataLst>
              <p:tags r:id="rId21"/>
            </p:custDataLst>
          </p:nvPr>
        </p:nvSpPr>
        <p:spPr bwMode="auto">
          <a:xfrm>
            <a:off x="7561150" y="4779048"/>
            <a:ext cx="498855" cy="715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32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buChar char="–"/>
              <a:defRPr sz="28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buChar char="•"/>
              <a:defRPr sz="24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buChar char="»"/>
              <a:defRPr sz="2000">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ea typeface="宋体" panose="02010600030101010101" pitchFamily="2" charset="-122"/>
              </a:defRPr>
            </a:lvl9pPr>
          </a:lstStyle>
          <a:p>
            <a:pPr algn="ctr" eaLnBrk="1" hangingPunct="1">
              <a:spcBef>
                <a:spcPct val="0"/>
              </a:spcBef>
              <a:buFontTx/>
              <a:buNone/>
            </a:pPr>
            <a:r>
              <a:rPr lang="de-DE" altLang="zh-CN" sz="4050" b="1">
                <a:solidFill>
                  <a:schemeClr val="dk1"/>
                </a:solidFill>
                <a:cs typeface="微软雅黑" panose="020B0503020204020204" charset="-122"/>
                <a:sym typeface="Symbol" panose="05050102010706020507" pitchFamily="18" charset="2"/>
              </a:rPr>
              <a:t></a:t>
            </a:r>
            <a:endParaRPr lang="de-DE" altLang="zh-CN" sz="4050" b="1">
              <a:solidFill>
                <a:schemeClr val="dk1"/>
              </a:solidFill>
              <a:ea typeface="隶书" panose="02010509060101010101" pitchFamily="49" charset="-122"/>
              <a:cs typeface="微软雅黑" panose="020B0503020204020204" charset="-122"/>
              <a:sym typeface="Symbol" panose="05050102010706020507" pitchFamily="18" charset="2"/>
            </a:endParaRPr>
          </a:p>
        </p:txBody>
      </p:sp>
      <p:sp>
        <p:nvSpPr>
          <p:cNvPr id="44" name="Freeform 10"/>
          <p:cNvSpPr/>
          <p:nvPr>
            <p:custDataLst>
              <p:tags r:id="rId22"/>
            </p:custDataLst>
          </p:nvPr>
        </p:nvSpPr>
        <p:spPr bwMode="auto">
          <a:xfrm rot="17996111">
            <a:off x="7490219" y="4190799"/>
            <a:ext cx="342900" cy="228600"/>
          </a:xfrm>
          <a:custGeom>
            <a:avLst/>
            <a:gdLst>
              <a:gd name="T0" fmla="*/ 0 w 288"/>
              <a:gd name="T1" fmla="*/ 2147483647 h 192"/>
              <a:gd name="T2" fmla="*/ 2147483647 w 288"/>
              <a:gd name="T3" fmla="*/ 0 h 192"/>
              <a:gd name="T4" fmla="*/ 2147483647 w 288"/>
              <a:gd name="T5" fmla="*/ 2147483647 h 192"/>
              <a:gd name="T6" fmla="*/ 2147483647 w 288"/>
              <a:gd name="T7" fmla="*/ 2147483647 h 192"/>
              <a:gd name="T8" fmla="*/ 2147483647 w 288"/>
              <a:gd name="T9" fmla="*/ 2147483647 h 192"/>
              <a:gd name="T10" fmla="*/ 0 60000 65536"/>
              <a:gd name="T11" fmla="*/ 0 60000 65536"/>
              <a:gd name="T12" fmla="*/ 0 60000 65536"/>
              <a:gd name="T13" fmla="*/ 0 60000 65536"/>
              <a:gd name="T14" fmla="*/ 0 60000 65536"/>
              <a:gd name="T15" fmla="*/ 0 w 288"/>
              <a:gd name="T16" fmla="*/ 0 h 192"/>
              <a:gd name="T17" fmla="*/ 288 w 288"/>
              <a:gd name="T18" fmla="*/ 192 h 192"/>
            </a:gdLst>
            <a:ahLst/>
            <a:cxnLst>
              <a:cxn ang="T10">
                <a:pos x="T0" y="T1"/>
              </a:cxn>
              <a:cxn ang="T11">
                <a:pos x="T2" y="T3"/>
              </a:cxn>
              <a:cxn ang="T12">
                <a:pos x="T4" y="T5"/>
              </a:cxn>
              <a:cxn ang="T13">
                <a:pos x="T6" y="T7"/>
              </a:cxn>
              <a:cxn ang="T14">
                <a:pos x="T8" y="T9"/>
              </a:cxn>
            </a:cxnLst>
            <a:rect l="T15" t="T16" r="T17" b="T18"/>
            <a:pathLst>
              <a:path w="288" h="192">
                <a:moveTo>
                  <a:pt x="0" y="96"/>
                </a:moveTo>
                <a:cubicBezTo>
                  <a:pt x="36" y="48"/>
                  <a:pt x="72" y="0"/>
                  <a:pt x="96" y="0"/>
                </a:cubicBezTo>
                <a:cubicBezTo>
                  <a:pt x="120" y="0"/>
                  <a:pt x="128" y="64"/>
                  <a:pt x="144" y="96"/>
                </a:cubicBezTo>
                <a:cubicBezTo>
                  <a:pt x="160" y="128"/>
                  <a:pt x="168" y="192"/>
                  <a:pt x="192" y="192"/>
                </a:cubicBezTo>
                <a:cubicBezTo>
                  <a:pt x="216" y="192"/>
                  <a:pt x="272" y="112"/>
                  <a:pt x="288" y="96"/>
                </a:cubicBezTo>
              </a:path>
            </a:pathLst>
          </a:custGeom>
          <a:noFill/>
          <a:ln w="19050">
            <a:solidFill>
              <a:schemeClr val="dk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solidFill>
                <a:schemeClr val="dk1"/>
              </a:solidFill>
              <a:latin typeface="微软雅黑" panose="020B0503020204020204" charset="-122"/>
              <a:ea typeface="微软雅黑" panose="020B0503020204020204" charset="-122"/>
            </a:endParaRPr>
          </a:p>
        </p:txBody>
      </p:sp>
      <p:sp>
        <p:nvSpPr>
          <p:cNvPr id="45" name="Freeform 10"/>
          <p:cNvSpPr/>
          <p:nvPr>
            <p:custDataLst>
              <p:tags r:id="rId23"/>
            </p:custDataLst>
          </p:nvPr>
        </p:nvSpPr>
        <p:spPr bwMode="auto">
          <a:xfrm>
            <a:off x="7638809" y="5989515"/>
            <a:ext cx="342900" cy="228600"/>
          </a:xfrm>
          <a:custGeom>
            <a:avLst/>
            <a:gdLst>
              <a:gd name="T0" fmla="*/ 0 w 288"/>
              <a:gd name="T1" fmla="*/ 2147483647 h 192"/>
              <a:gd name="T2" fmla="*/ 2147483647 w 288"/>
              <a:gd name="T3" fmla="*/ 0 h 192"/>
              <a:gd name="T4" fmla="*/ 2147483647 w 288"/>
              <a:gd name="T5" fmla="*/ 2147483647 h 192"/>
              <a:gd name="T6" fmla="*/ 2147483647 w 288"/>
              <a:gd name="T7" fmla="*/ 2147483647 h 192"/>
              <a:gd name="T8" fmla="*/ 2147483647 w 288"/>
              <a:gd name="T9" fmla="*/ 2147483647 h 192"/>
              <a:gd name="T10" fmla="*/ 0 60000 65536"/>
              <a:gd name="T11" fmla="*/ 0 60000 65536"/>
              <a:gd name="T12" fmla="*/ 0 60000 65536"/>
              <a:gd name="T13" fmla="*/ 0 60000 65536"/>
              <a:gd name="T14" fmla="*/ 0 60000 65536"/>
              <a:gd name="T15" fmla="*/ 0 w 288"/>
              <a:gd name="T16" fmla="*/ 0 h 192"/>
              <a:gd name="T17" fmla="*/ 288 w 288"/>
              <a:gd name="T18" fmla="*/ 192 h 192"/>
            </a:gdLst>
            <a:ahLst/>
            <a:cxnLst>
              <a:cxn ang="T10">
                <a:pos x="T0" y="T1"/>
              </a:cxn>
              <a:cxn ang="T11">
                <a:pos x="T2" y="T3"/>
              </a:cxn>
              <a:cxn ang="T12">
                <a:pos x="T4" y="T5"/>
              </a:cxn>
              <a:cxn ang="T13">
                <a:pos x="T6" y="T7"/>
              </a:cxn>
              <a:cxn ang="T14">
                <a:pos x="T8" y="T9"/>
              </a:cxn>
            </a:cxnLst>
            <a:rect l="T15" t="T16" r="T17" b="T18"/>
            <a:pathLst>
              <a:path w="288" h="192">
                <a:moveTo>
                  <a:pt x="0" y="96"/>
                </a:moveTo>
                <a:cubicBezTo>
                  <a:pt x="36" y="48"/>
                  <a:pt x="72" y="0"/>
                  <a:pt x="96" y="0"/>
                </a:cubicBezTo>
                <a:cubicBezTo>
                  <a:pt x="120" y="0"/>
                  <a:pt x="128" y="64"/>
                  <a:pt x="144" y="96"/>
                </a:cubicBezTo>
                <a:cubicBezTo>
                  <a:pt x="160" y="128"/>
                  <a:pt x="168" y="192"/>
                  <a:pt x="192" y="192"/>
                </a:cubicBezTo>
                <a:cubicBezTo>
                  <a:pt x="216" y="192"/>
                  <a:pt x="272" y="112"/>
                  <a:pt x="288" y="96"/>
                </a:cubicBezTo>
              </a:path>
            </a:pathLst>
          </a:custGeom>
          <a:noFill/>
          <a:ln w="19050">
            <a:solidFill>
              <a:schemeClr val="dk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sz="1350">
              <a:solidFill>
                <a:schemeClr val="dk1"/>
              </a:solidFill>
              <a:latin typeface="微软雅黑" panose="020B0503020204020204" charset="-122"/>
              <a:ea typeface="微软雅黑" panose="020B0503020204020204" charset="-122"/>
            </a:endParaRPr>
          </a:p>
        </p:txBody>
      </p:sp>
      <p:sp>
        <p:nvSpPr>
          <p:cNvPr id="8" name="文本框 7"/>
          <p:cNvSpPr txBox="1"/>
          <p:nvPr/>
        </p:nvSpPr>
        <p:spPr>
          <a:xfrm>
            <a:off x="2953783" y="4218306"/>
            <a:ext cx="615553" cy="1276953"/>
          </a:xfrm>
          <a:prstGeom prst="rect">
            <a:avLst/>
          </a:prstGeom>
          <a:noFill/>
        </p:spPr>
        <p:txBody>
          <a:bodyPr vert="eaVert" wrap="none" rtlCol="0" anchor="t">
            <a:spAutoFit/>
          </a:bodyPr>
          <a:lstStyle/>
          <a:p>
            <a:r>
              <a:rPr lang="zh-CN" altLang="en-US" sz="2800" b="1" dirty="0">
                <a:latin typeface="微软雅黑" panose="020B0503020204020204" charset="-122"/>
                <a:ea typeface="微软雅黑" panose="020B0503020204020204" charset="-122"/>
                <a:cs typeface="微软雅黑" panose="020B0503020204020204" charset="-122"/>
                <a:sym typeface="+mn-ea"/>
              </a:rPr>
              <a:t>因果图 </a:t>
            </a:r>
          </a:p>
        </p:txBody>
      </p:sp>
    </p:spTree>
    <p:custDataLst>
      <p:tags r:id="rId1"/>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5"/>
          <p:cNvPicPr/>
          <p:nvPr userDrawn="1">
            <p:custDataLst>
              <p:tags r:id="rId2"/>
            </p:custDataLst>
          </p:nvPr>
        </p:nvPicPr>
        <p:blipFill>
          <a:blip r:embed="rId8" r:link="rId9" cstate="email"/>
          <a:stretch>
            <a:fillRect/>
          </a:stretch>
        </p:blipFill>
        <p:spPr>
          <a:xfrm>
            <a:off x="1524000" y="1"/>
            <a:ext cx="540068" cy="486377"/>
          </a:xfrm>
          <a:prstGeom prst="rect">
            <a:avLst/>
          </a:prstGeom>
        </p:spPr>
      </p:pic>
      <p:pic>
        <p:nvPicPr>
          <p:cNvPr id="5" name="图片 7"/>
          <p:cNvPicPr/>
          <p:nvPr userDrawn="1">
            <p:custDataLst>
              <p:tags r:id="rId3"/>
            </p:custDataLst>
          </p:nvPr>
        </p:nvPicPr>
        <p:blipFill>
          <a:blip r:embed="rId10" r:link="rId11" cstate="email"/>
          <a:stretch>
            <a:fillRect/>
          </a:stretch>
        </p:blipFill>
        <p:spPr>
          <a:xfrm>
            <a:off x="10127932" y="1"/>
            <a:ext cx="540068" cy="629227"/>
          </a:xfrm>
          <a:prstGeom prst="rect">
            <a:avLst/>
          </a:prstGeom>
        </p:spPr>
      </p:pic>
      <p:graphicFrame>
        <p:nvGraphicFramePr>
          <p:cNvPr id="3" name="表格 2"/>
          <p:cNvGraphicFramePr>
            <a:graphicFrameLocks noGrp="1"/>
          </p:cNvGraphicFramePr>
          <p:nvPr>
            <p:custDataLst>
              <p:tags r:id="rId4"/>
            </p:custDataLst>
          </p:nvPr>
        </p:nvGraphicFramePr>
        <p:xfrm>
          <a:off x="2685415" y="2270760"/>
          <a:ext cx="6741160" cy="3243520"/>
        </p:xfrm>
        <a:graphic>
          <a:graphicData uri="http://schemas.openxmlformats.org/drawingml/2006/table">
            <a:tbl>
              <a:tblPr firstRow="1" bandRow="1">
                <a:tableStyleId>{5940675A-B579-460E-94D1-54222C63F5DA}</a:tableStyleId>
              </a:tblPr>
              <a:tblGrid>
                <a:gridCol w="882650">
                  <a:extLst>
                    <a:ext uri="{9D8B030D-6E8A-4147-A177-3AD203B41FA5}">
                      <a16:colId xmlns:a16="http://schemas.microsoft.com/office/drawing/2014/main" val="20000"/>
                    </a:ext>
                  </a:extLst>
                </a:gridCol>
                <a:gridCol w="802640">
                  <a:extLst>
                    <a:ext uri="{9D8B030D-6E8A-4147-A177-3AD203B41FA5}">
                      <a16:colId xmlns:a16="http://schemas.microsoft.com/office/drawing/2014/main" val="20001"/>
                    </a:ext>
                  </a:extLst>
                </a:gridCol>
                <a:gridCol w="842645">
                  <a:extLst>
                    <a:ext uri="{9D8B030D-6E8A-4147-A177-3AD203B41FA5}">
                      <a16:colId xmlns:a16="http://schemas.microsoft.com/office/drawing/2014/main" val="20002"/>
                    </a:ext>
                  </a:extLst>
                </a:gridCol>
                <a:gridCol w="842645">
                  <a:extLst>
                    <a:ext uri="{9D8B030D-6E8A-4147-A177-3AD203B41FA5}">
                      <a16:colId xmlns:a16="http://schemas.microsoft.com/office/drawing/2014/main" val="20003"/>
                    </a:ext>
                  </a:extLst>
                </a:gridCol>
                <a:gridCol w="842645">
                  <a:extLst>
                    <a:ext uri="{9D8B030D-6E8A-4147-A177-3AD203B41FA5}">
                      <a16:colId xmlns:a16="http://schemas.microsoft.com/office/drawing/2014/main" val="20004"/>
                    </a:ext>
                  </a:extLst>
                </a:gridCol>
                <a:gridCol w="842645">
                  <a:extLst>
                    <a:ext uri="{9D8B030D-6E8A-4147-A177-3AD203B41FA5}">
                      <a16:colId xmlns:a16="http://schemas.microsoft.com/office/drawing/2014/main" val="20005"/>
                    </a:ext>
                  </a:extLst>
                </a:gridCol>
                <a:gridCol w="842645">
                  <a:extLst>
                    <a:ext uri="{9D8B030D-6E8A-4147-A177-3AD203B41FA5}">
                      <a16:colId xmlns:a16="http://schemas.microsoft.com/office/drawing/2014/main" val="20006"/>
                    </a:ext>
                  </a:extLst>
                </a:gridCol>
                <a:gridCol w="842645">
                  <a:extLst>
                    <a:ext uri="{9D8B030D-6E8A-4147-A177-3AD203B41FA5}">
                      <a16:colId xmlns:a16="http://schemas.microsoft.com/office/drawing/2014/main" val="20007"/>
                    </a:ext>
                  </a:extLst>
                </a:gridCol>
              </a:tblGrid>
              <a:tr h="637540">
                <a:tc>
                  <a:txBody>
                    <a:bodyPr/>
                    <a:lstStyle/>
                    <a:p>
                      <a:pPr algn="ctr"/>
                      <a:r>
                        <a:rPr lang="zh-CN" altLang="en-US" sz="2400" dirty="0">
                          <a:latin typeface="Arial" panose="020B0604020202020204" pitchFamily="34" charset="0"/>
                          <a:ea typeface="汉仪旗黑-55简" panose="00020600040101010101" charset="-122"/>
                        </a:rPr>
                        <a:t>序号</a:t>
                      </a:r>
                    </a:p>
                  </a:txBody>
                  <a:tcPr marL="68580" marR="68580" marT="34285" marB="34285" anchor="ctr">
                    <a:solidFill>
                      <a:schemeClr val="tx2">
                        <a:lumMod val="90000"/>
                      </a:schemeClr>
                    </a:solidFill>
                  </a:tcPr>
                </a:tc>
                <a:tc>
                  <a:txBody>
                    <a:bodyPr/>
                    <a:lstStyle/>
                    <a:p>
                      <a:pPr algn="ctr"/>
                      <a:endParaRPr lang="zh-CN" altLang="en-US" sz="2400">
                        <a:latin typeface="微软雅黑" panose="020B0503020204020204" charset="-122"/>
                        <a:ea typeface="汉仪旗黑-55简" panose="00020600040101010101" charset="-122"/>
                      </a:endParaRPr>
                    </a:p>
                  </a:txBody>
                  <a:tcPr marL="68580" marR="68580" marT="34285" marB="34285">
                    <a:solidFill>
                      <a:schemeClr val="tx2">
                        <a:lumMod val="90000"/>
                      </a:schemeClr>
                    </a:solidFill>
                  </a:tcPr>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nchor="ctr">
                    <a:solidFill>
                      <a:schemeClr val="tx2">
                        <a:lumMod val="90000"/>
                      </a:schemeClr>
                    </a:solidFill>
                  </a:tcPr>
                </a:tc>
                <a:tc>
                  <a:txBody>
                    <a:bodyPr/>
                    <a:lstStyle/>
                    <a:p>
                      <a:pPr algn="ctr"/>
                      <a:r>
                        <a:rPr lang="en-US" altLang="zh-CN" sz="2400" dirty="0">
                          <a:latin typeface="Arial" panose="020B0604020202020204" pitchFamily="34" charset="0"/>
                          <a:ea typeface="汉仪旗黑-55简" panose="00020600040101010101" charset="-122"/>
                        </a:rPr>
                        <a:t>2</a:t>
                      </a:r>
                    </a:p>
                  </a:txBody>
                  <a:tcPr marL="68580" marR="68580" marT="34285" marB="34285" anchor="ctr">
                    <a:solidFill>
                      <a:schemeClr val="tx2">
                        <a:lumMod val="90000"/>
                      </a:schemeClr>
                    </a:solidFill>
                  </a:tcPr>
                </a:tc>
                <a:tc>
                  <a:txBody>
                    <a:bodyPr/>
                    <a:lstStyle/>
                    <a:p>
                      <a:pPr algn="ctr"/>
                      <a:r>
                        <a:rPr lang="en-US" altLang="zh-CN" sz="2400" dirty="0">
                          <a:latin typeface="Arial" panose="020B0604020202020204" pitchFamily="34" charset="0"/>
                          <a:ea typeface="汉仪旗黑-55简" panose="00020600040101010101" charset="-122"/>
                        </a:rPr>
                        <a:t>3</a:t>
                      </a:r>
                    </a:p>
                  </a:txBody>
                  <a:tcPr marL="68580" marR="68580" marT="34285" marB="34285" anchor="ctr">
                    <a:solidFill>
                      <a:schemeClr val="tx2">
                        <a:lumMod val="90000"/>
                      </a:schemeClr>
                    </a:solidFill>
                  </a:tcPr>
                </a:tc>
                <a:tc>
                  <a:txBody>
                    <a:bodyPr/>
                    <a:lstStyle/>
                    <a:p>
                      <a:pPr algn="ctr"/>
                      <a:r>
                        <a:rPr lang="en-US" altLang="zh-CN" sz="2400" dirty="0">
                          <a:latin typeface="Arial" panose="020B0604020202020204" pitchFamily="34" charset="0"/>
                          <a:ea typeface="汉仪旗黑-55简" panose="00020600040101010101" charset="-122"/>
                        </a:rPr>
                        <a:t>4</a:t>
                      </a:r>
                    </a:p>
                  </a:txBody>
                  <a:tcPr marL="68580" marR="68580" marT="34285" marB="34285" anchor="ctr">
                    <a:solidFill>
                      <a:schemeClr val="tx2">
                        <a:lumMod val="90000"/>
                      </a:schemeClr>
                    </a:solidFill>
                  </a:tcPr>
                </a:tc>
                <a:tc>
                  <a:txBody>
                    <a:bodyPr/>
                    <a:lstStyle/>
                    <a:p>
                      <a:pPr algn="ctr"/>
                      <a:r>
                        <a:rPr lang="en-US" altLang="zh-CN" sz="2400" dirty="0">
                          <a:latin typeface="Arial" panose="020B0604020202020204" pitchFamily="34" charset="0"/>
                          <a:ea typeface="汉仪旗黑-55简" panose="00020600040101010101" charset="-122"/>
                        </a:rPr>
                        <a:t>5</a:t>
                      </a:r>
                    </a:p>
                  </a:txBody>
                  <a:tcPr marL="68580" marR="68580" marT="34285" marB="34285" anchor="ctr">
                    <a:solidFill>
                      <a:schemeClr val="tx2">
                        <a:lumMod val="90000"/>
                      </a:schemeClr>
                    </a:solidFill>
                  </a:tcPr>
                </a:tc>
                <a:tc>
                  <a:txBody>
                    <a:bodyPr/>
                    <a:lstStyle/>
                    <a:p>
                      <a:pPr algn="ctr"/>
                      <a:r>
                        <a:rPr lang="en-US" altLang="zh-CN" sz="2400" dirty="0">
                          <a:latin typeface="Arial" panose="020B0604020202020204" pitchFamily="34" charset="0"/>
                          <a:ea typeface="汉仪旗黑-55简" panose="00020600040101010101" charset="-122"/>
                        </a:rPr>
                        <a:t>6</a:t>
                      </a:r>
                    </a:p>
                  </a:txBody>
                  <a:tcPr marL="68580" marR="68580" marT="34285" marB="34285" anchor="ctr">
                    <a:solidFill>
                      <a:schemeClr val="tx2">
                        <a:lumMod val="90000"/>
                      </a:schemeClr>
                    </a:solidFill>
                  </a:tcPr>
                </a:tc>
                <a:extLst>
                  <a:ext uri="{0D108BD9-81ED-4DB2-BD59-A6C34878D82A}">
                    <a16:rowId xmlns:a16="http://schemas.microsoft.com/office/drawing/2014/main" val="10000"/>
                  </a:ext>
                </a:extLst>
              </a:tr>
              <a:tr h="354330">
                <a:tc rowSpan="3">
                  <a:txBody>
                    <a:bodyPr/>
                    <a:lstStyle/>
                    <a:p>
                      <a:pPr algn="ctr"/>
                      <a:r>
                        <a:rPr lang="zh-CN" altLang="en-US" sz="2400" dirty="0">
                          <a:latin typeface="Arial" panose="020B0604020202020204" pitchFamily="34" charset="0"/>
                          <a:ea typeface="汉仪旗黑-55简" panose="00020600040101010101" charset="-122"/>
                        </a:rPr>
                        <a:t>输入</a:t>
                      </a:r>
                    </a:p>
                  </a:txBody>
                  <a:tcPr marL="68580" marR="68580" marT="34285" marB="34285" anchor="ctr">
                    <a:solidFill>
                      <a:schemeClr val="tx2">
                        <a:lumMod val="90000"/>
                      </a:schemeClr>
                    </a:solidFill>
                  </a:tcPr>
                </a:tc>
                <a:tc>
                  <a:txBody>
                    <a:bodyPr/>
                    <a:lstStyle/>
                    <a:p>
                      <a:pPr algn="ctr"/>
                      <a:r>
                        <a:rPr lang="en-US" altLang="zh-CN" sz="2400" dirty="0">
                          <a:latin typeface="Arial" panose="020B0604020202020204" pitchFamily="34" charset="0"/>
                          <a:ea typeface="汉仪旗黑-55简" panose="00020600040101010101" charset="-122"/>
                        </a:rPr>
                        <a:t>C1</a:t>
                      </a:r>
                    </a:p>
                  </a:txBody>
                  <a:tcPr marL="68580" marR="68580" marT="34285" marB="34285">
                    <a:solidFill>
                      <a:schemeClr val="accent2">
                        <a:lumMod val="20000"/>
                        <a:lumOff val="80000"/>
                      </a:schemeClr>
                    </a:solidFill>
                  </a:tcPr>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extLst>
                  <a:ext uri="{0D108BD9-81ED-4DB2-BD59-A6C34878D82A}">
                    <a16:rowId xmlns:a16="http://schemas.microsoft.com/office/drawing/2014/main" val="10001"/>
                  </a:ext>
                </a:extLst>
              </a:tr>
              <a:tr h="354330">
                <a:tc vMerge="1">
                  <a:txBody>
                    <a:bodyPr/>
                    <a:lstStyle/>
                    <a:p>
                      <a:endParaRPr lang="zh-CN"/>
                    </a:p>
                  </a:txBody>
                  <a:tcPr/>
                </a:tc>
                <a:tc>
                  <a:txBody>
                    <a:bodyPr/>
                    <a:lstStyle/>
                    <a:p>
                      <a:pPr algn="ctr"/>
                      <a:r>
                        <a:rPr lang="en-US" altLang="zh-CN" sz="2400" dirty="0">
                          <a:latin typeface="Arial" panose="020B0604020202020204" pitchFamily="34" charset="0"/>
                          <a:ea typeface="汉仪旗黑-55简" panose="00020600040101010101" charset="-122"/>
                        </a:rPr>
                        <a:t>C2</a:t>
                      </a:r>
                    </a:p>
                  </a:txBody>
                  <a:tcPr marL="68580" marR="68580" marT="34285" marB="34285">
                    <a:solidFill>
                      <a:schemeClr val="accent2">
                        <a:lumMod val="20000"/>
                        <a:lumOff val="80000"/>
                      </a:schemeClr>
                    </a:solidFill>
                  </a:tcPr>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extLst>
                  <a:ext uri="{0D108BD9-81ED-4DB2-BD59-A6C34878D82A}">
                    <a16:rowId xmlns:a16="http://schemas.microsoft.com/office/drawing/2014/main" val="10002"/>
                  </a:ext>
                </a:extLst>
              </a:tr>
              <a:tr h="353695">
                <a:tc vMerge="1">
                  <a:txBody>
                    <a:bodyPr/>
                    <a:lstStyle/>
                    <a:p>
                      <a:endParaRPr lang="zh-CN"/>
                    </a:p>
                  </a:txBody>
                  <a:tcPr/>
                </a:tc>
                <a:tc>
                  <a:txBody>
                    <a:bodyPr/>
                    <a:lstStyle/>
                    <a:p>
                      <a:pPr algn="ctr"/>
                      <a:r>
                        <a:rPr lang="en-US" altLang="zh-CN" sz="2400" dirty="0">
                          <a:latin typeface="Arial" panose="020B0604020202020204" pitchFamily="34" charset="0"/>
                          <a:ea typeface="汉仪旗黑-55简" panose="00020600040101010101" charset="-122"/>
                        </a:rPr>
                        <a:t>C3</a:t>
                      </a:r>
                    </a:p>
                  </a:txBody>
                  <a:tcPr marL="68580" marR="68580" marT="34285" marB="34285">
                    <a:solidFill>
                      <a:schemeClr val="accent2">
                        <a:lumMod val="20000"/>
                        <a:lumOff val="80000"/>
                      </a:schemeClr>
                    </a:solidFill>
                  </a:tcPr>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extLst>
                  <a:ext uri="{0D108BD9-81ED-4DB2-BD59-A6C34878D82A}">
                    <a16:rowId xmlns:a16="http://schemas.microsoft.com/office/drawing/2014/main" val="10003"/>
                  </a:ext>
                </a:extLst>
              </a:tr>
              <a:tr h="354330">
                <a:tc rowSpan="3">
                  <a:txBody>
                    <a:bodyPr/>
                    <a:lstStyle/>
                    <a:p>
                      <a:pPr algn="ctr"/>
                      <a:r>
                        <a:rPr lang="zh-CN" altLang="en-US" sz="2400" dirty="0">
                          <a:latin typeface="Arial" panose="020B0604020202020204" pitchFamily="34" charset="0"/>
                          <a:ea typeface="汉仪旗黑-55简" panose="00020600040101010101" charset="-122"/>
                        </a:rPr>
                        <a:t>输出</a:t>
                      </a:r>
                    </a:p>
                  </a:txBody>
                  <a:tcPr marL="68580" marR="68580" marT="34285" marB="34285" anchor="ctr">
                    <a:solidFill>
                      <a:schemeClr val="tx2">
                        <a:lumMod val="90000"/>
                      </a:schemeClr>
                    </a:solidFill>
                  </a:tcPr>
                </a:tc>
                <a:tc>
                  <a:txBody>
                    <a:bodyPr/>
                    <a:lstStyle/>
                    <a:p>
                      <a:pPr algn="ctr"/>
                      <a:r>
                        <a:rPr lang="en-US" altLang="zh-CN" sz="2400" dirty="0">
                          <a:latin typeface="Arial" panose="020B0604020202020204" pitchFamily="34" charset="0"/>
                          <a:ea typeface="汉仪旗黑-55简" panose="00020600040101010101" charset="-122"/>
                        </a:rPr>
                        <a:t>E1</a:t>
                      </a:r>
                    </a:p>
                  </a:txBody>
                  <a:tcPr marL="68580" marR="68580" marT="34285" marB="34285">
                    <a:solidFill>
                      <a:schemeClr val="accent2">
                        <a:lumMod val="20000"/>
                        <a:lumOff val="80000"/>
                      </a:schemeClr>
                    </a:solidFill>
                  </a:tcPr>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extLst>
                  <a:ext uri="{0D108BD9-81ED-4DB2-BD59-A6C34878D82A}">
                    <a16:rowId xmlns:a16="http://schemas.microsoft.com/office/drawing/2014/main" val="10004"/>
                  </a:ext>
                </a:extLst>
              </a:tr>
              <a:tr h="354330">
                <a:tc vMerge="1">
                  <a:txBody>
                    <a:bodyPr/>
                    <a:lstStyle/>
                    <a:p>
                      <a:endParaRPr lang="zh-CN"/>
                    </a:p>
                  </a:txBody>
                  <a:tcPr/>
                </a:tc>
                <a:tc>
                  <a:txBody>
                    <a:bodyPr/>
                    <a:lstStyle/>
                    <a:p>
                      <a:pPr algn="ctr"/>
                      <a:r>
                        <a:rPr lang="en-US" altLang="zh-CN" sz="2400" dirty="0">
                          <a:latin typeface="Arial" panose="020B0604020202020204" pitchFamily="34" charset="0"/>
                          <a:ea typeface="汉仪旗黑-55简" panose="00020600040101010101" charset="-122"/>
                        </a:rPr>
                        <a:t>E2</a:t>
                      </a:r>
                    </a:p>
                  </a:txBody>
                  <a:tcPr marL="68580" marR="68580" marT="34285" marB="34285">
                    <a:solidFill>
                      <a:schemeClr val="accent2">
                        <a:lumMod val="20000"/>
                        <a:lumOff val="80000"/>
                      </a:schemeClr>
                    </a:solidFill>
                  </a:tcPr>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extLst>
                  <a:ext uri="{0D108BD9-81ED-4DB2-BD59-A6C34878D82A}">
                    <a16:rowId xmlns:a16="http://schemas.microsoft.com/office/drawing/2014/main" val="10005"/>
                  </a:ext>
                </a:extLst>
              </a:tr>
              <a:tr h="354330">
                <a:tc vMerge="1">
                  <a:txBody>
                    <a:bodyPr/>
                    <a:lstStyle/>
                    <a:p>
                      <a:endParaRPr lang="zh-CN"/>
                    </a:p>
                  </a:txBody>
                  <a:tcPr/>
                </a:tc>
                <a:tc>
                  <a:txBody>
                    <a:bodyPr/>
                    <a:lstStyle/>
                    <a:p>
                      <a:pPr algn="ctr"/>
                      <a:r>
                        <a:rPr lang="en-US" altLang="zh-CN" sz="2400" dirty="0">
                          <a:latin typeface="Arial" panose="020B0604020202020204" pitchFamily="34" charset="0"/>
                          <a:ea typeface="汉仪旗黑-55简" panose="00020600040101010101" charset="-122"/>
                        </a:rPr>
                        <a:t>E3</a:t>
                      </a:r>
                    </a:p>
                  </a:txBody>
                  <a:tcPr marL="68580" marR="68580" marT="34285" marB="34285">
                    <a:solidFill>
                      <a:schemeClr val="accent2">
                        <a:lumMod val="20000"/>
                        <a:lumOff val="80000"/>
                      </a:schemeClr>
                    </a:solidFill>
                  </a:tcPr>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0</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tc>
                  <a:txBody>
                    <a:bodyPr/>
                    <a:lstStyle/>
                    <a:p>
                      <a:pPr algn="ctr"/>
                      <a:r>
                        <a:rPr lang="en-US" altLang="zh-CN" sz="2400" dirty="0">
                          <a:latin typeface="Arial" panose="020B0604020202020204" pitchFamily="34" charset="0"/>
                          <a:ea typeface="汉仪旗黑-55简" panose="00020600040101010101" charset="-122"/>
                        </a:rPr>
                        <a:t>1</a:t>
                      </a:r>
                    </a:p>
                  </a:txBody>
                  <a:tcPr marL="68580" marR="68580" marT="34285" marB="34285"/>
                </a:tc>
                <a:extLst>
                  <a:ext uri="{0D108BD9-81ED-4DB2-BD59-A6C34878D82A}">
                    <a16:rowId xmlns:a16="http://schemas.microsoft.com/office/drawing/2014/main" val="10006"/>
                  </a:ext>
                </a:extLst>
              </a:tr>
            </a:tbl>
          </a:graphicData>
        </a:graphic>
      </p:graphicFrame>
      <p:sp>
        <p:nvSpPr>
          <p:cNvPr id="4" name="Rectangle 2"/>
          <p:cNvSpPr>
            <a:spLocks noGrp="1" noChangeArrowheads="1"/>
          </p:cNvSpPr>
          <p:nvPr>
            <p:custDataLst>
              <p:tags r:id="rId5"/>
            </p:custDataLst>
          </p:nvPr>
        </p:nvSpPr>
        <p:spPr>
          <a:xfrm>
            <a:off x="2209165" y="712470"/>
            <a:ext cx="7773670" cy="1304290"/>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pPr eaLnBrk="1" hangingPunct="1"/>
            <a:r>
              <a:rPr lang="zh-CN" altLang="en-US" sz="2800" b="1" dirty="0">
                <a:solidFill>
                  <a:schemeClr val="tx1"/>
                </a:solidFill>
                <a:latin typeface="微软雅黑" panose="020B0503020204020204" charset="-122"/>
                <a:ea typeface="微软雅黑" panose="020B0503020204020204" charset="-122"/>
                <a:cs typeface="微软雅黑" panose="020B0503020204020204" charset="-122"/>
              </a:rPr>
              <a:t>转换为决策表，每一列作为确定测试用例的依据</a:t>
            </a:r>
            <a:r>
              <a:rPr lang="zh-CN" altLang="en-US" sz="2800" dirty="0">
                <a:solidFill>
                  <a:schemeClr val="tx1"/>
                </a:solidFill>
                <a:latin typeface="微软雅黑" panose="020B0503020204020204" charset="-122"/>
                <a:ea typeface="微软雅黑" panose="020B0503020204020204" charset="-122"/>
                <a:cs typeface="微软雅黑" panose="020B0503020204020204" charset="-122"/>
              </a:rPr>
              <a:t> </a:t>
            </a:r>
            <a:endParaRPr lang="zh-CN" altLang="en-US" sz="2800" b="1"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18</a:t>
            </a:fld>
            <a:endParaRPr lang="zh-CN" altLang="en-US"/>
          </a:p>
        </p:txBody>
      </p:sp>
    </p:spTree>
    <p:custDataLst>
      <p:tags r:id="rId1"/>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图片 5"/>
          <p:cNvPicPr/>
          <p:nvPr userDrawn="1">
            <p:custDataLst>
              <p:tags r:id="rId2"/>
            </p:custDataLst>
          </p:nvPr>
        </p:nvPicPr>
        <p:blipFill>
          <a:blip r:embed="rId7" r:link="rId8" cstate="email"/>
          <a:stretch>
            <a:fillRect/>
          </a:stretch>
        </p:blipFill>
        <p:spPr>
          <a:xfrm>
            <a:off x="1524000" y="1"/>
            <a:ext cx="540068" cy="486377"/>
          </a:xfrm>
          <a:prstGeom prst="rect">
            <a:avLst/>
          </a:prstGeom>
        </p:spPr>
      </p:pic>
      <p:pic>
        <p:nvPicPr>
          <p:cNvPr id="9" name="图片 7"/>
          <p:cNvPicPr/>
          <p:nvPr userDrawn="1">
            <p:custDataLst>
              <p:tags r:id="rId3"/>
            </p:custDataLst>
          </p:nvPr>
        </p:nvPicPr>
        <p:blipFill>
          <a:blip r:embed="rId9" r:link="rId10" cstate="email"/>
          <a:stretch>
            <a:fillRect/>
          </a:stretch>
        </p:blipFill>
        <p:spPr>
          <a:xfrm>
            <a:off x="10127932" y="1"/>
            <a:ext cx="540068" cy="629227"/>
          </a:xfrm>
          <a:prstGeom prst="rect">
            <a:avLst/>
          </a:prstGeom>
        </p:spPr>
      </p:pic>
      <p:sp>
        <p:nvSpPr>
          <p:cNvPr id="5" name="标题 1"/>
          <p:cNvSpPr>
            <a:spLocks noGrp="1"/>
          </p:cNvSpPr>
          <p:nvPr>
            <p:custDataLst>
              <p:tags r:id="rId4"/>
            </p:custDataLst>
          </p:nvPr>
        </p:nvSpPr>
        <p:spPr>
          <a:xfrm>
            <a:off x="2098675" y="629285"/>
            <a:ext cx="8001000" cy="891540"/>
          </a:xfrm>
          <a:prstGeom prst="rect">
            <a:avLst/>
          </a:prstGeom>
          <a:noFill/>
          <a:ln>
            <a:noFill/>
          </a:ln>
        </p:spPr>
        <p:txBody>
          <a:bodyPr vert="horz" wrap="square" lIns="91440" tIns="45720" rIns="91440" bIns="45720" numCol="1" anchor="ctr" anchorCtr="0" compatLnSpc="1"/>
          <a:lst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2pPr>
            <a:lvl3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3pPr>
            <a:lvl4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4pPr>
            <a:lvl5pPr algn="l" rtl="0" eaLnBrk="0" fontAlgn="base" hangingPunct="0">
              <a:spcBef>
                <a:spcPct val="0"/>
              </a:spcBef>
              <a:spcAft>
                <a:spcPct val="0"/>
              </a:spcAft>
              <a:defRPr sz="3800">
                <a:solidFill>
                  <a:schemeClr val="tx2"/>
                </a:solidFill>
                <a:latin typeface="Verdana" panose="020B0604030504040204" pitchFamily="34" charset="0"/>
                <a:ea typeface="宋体" panose="02010600030101010101" pitchFamily="2" charset="-122"/>
              </a:defRPr>
            </a:lvl5pPr>
            <a:lvl6pPr marL="4572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6pPr>
            <a:lvl7pPr marL="9144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7pPr>
            <a:lvl8pPr marL="13716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8pPr>
            <a:lvl9pPr marL="1828800" algn="l" rtl="0" fontAlgn="base">
              <a:spcBef>
                <a:spcPct val="0"/>
              </a:spcBef>
              <a:spcAft>
                <a:spcPct val="0"/>
              </a:spcAft>
              <a:defRPr sz="3800">
                <a:solidFill>
                  <a:schemeClr val="tx2"/>
                </a:solidFill>
                <a:latin typeface="Verdana" panose="020B0604030504040204" pitchFamily="34" charset="0"/>
                <a:ea typeface="宋体" panose="02010600030101010101" pitchFamily="2" charset="-122"/>
              </a:defRPr>
            </a:lvl9pPr>
          </a:lstStyle>
          <a:p>
            <a:r>
              <a:rPr lang="zh-CN" altLang="en-US" sz="3200" b="1" dirty="0">
                <a:solidFill>
                  <a:schemeClr val="tx1"/>
                </a:solidFill>
                <a:latin typeface="微软雅黑" panose="020B0503020204020204" charset="-122"/>
                <a:ea typeface="微软雅黑" panose="020B0503020204020204" charset="-122"/>
              </a:rPr>
              <a:t>化简后的测试用例</a:t>
            </a:r>
          </a:p>
        </p:txBody>
      </p:sp>
      <p:graphicFrame>
        <p:nvGraphicFramePr>
          <p:cNvPr id="7" name="表格 6"/>
          <p:cNvGraphicFramePr>
            <a:graphicFrameLocks noGrp="1"/>
          </p:cNvGraphicFramePr>
          <p:nvPr>
            <p:custDataLst>
              <p:tags r:id="rId5"/>
            </p:custDataLst>
          </p:nvPr>
        </p:nvGraphicFramePr>
        <p:xfrm>
          <a:off x="2350623" y="1758910"/>
          <a:ext cx="7264400" cy="3944620"/>
        </p:xfrm>
        <a:graphic>
          <a:graphicData uri="http://schemas.openxmlformats.org/drawingml/2006/table">
            <a:tbl>
              <a:tblPr firstRow="1" bandRow="1">
                <a:tableStyleId>{5940675A-B579-460E-94D1-54222C63F5DA}</a:tableStyleId>
              </a:tblPr>
              <a:tblGrid>
                <a:gridCol w="768350">
                  <a:extLst>
                    <a:ext uri="{9D8B030D-6E8A-4147-A177-3AD203B41FA5}">
                      <a16:colId xmlns:a16="http://schemas.microsoft.com/office/drawing/2014/main" val="20000"/>
                    </a:ext>
                  </a:extLst>
                </a:gridCol>
                <a:gridCol w="641985">
                  <a:extLst>
                    <a:ext uri="{9D8B030D-6E8A-4147-A177-3AD203B41FA5}">
                      <a16:colId xmlns:a16="http://schemas.microsoft.com/office/drawing/2014/main" val="20001"/>
                    </a:ext>
                  </a:extLst>
                </a:gridCol>
                <a:gridCol w="1313815">
                  <a:extLst>
                    <a:ext uri="{9D8B030D-6E8A-4147-A177-3AD203B41FA5}">
                      <a16:colId xmlns:a16="http://schemas.microsoft.com/office/drawing/2014/main" val="20002"/>
                    </a:ext>
                  </a:extLst>
                </a:gridCol>
                <a:gridCol w="1507490">
                  <a:extLst>
                    <a:ext uri="{9D8B030D-6E8A-4147-A177-3AD203B41FA5}">
                      <a16:colId xmlns:a16="http://schemas.microsoft.com/office/drawing/2014/main" val="20003"/>
                    </a:ext>
                  </a:extLst>
                </a:gridCol>
                <a:gridCol w="1269365">
                  <a:extLst>
                    <a:ext uri="{9D8B030D-6E8A-4147-A177-3AD203B41FA5}">
                      <a16:colId xmlns:a16="http://schemas.microsoft.com/office/drawing/2014/main" val="20004"/>
                    </a:ext>
                  </a:extLst>
                </a:gridCol>
                <a:gridCol w="1763395">
                  <a:extLst>
                    <a:ext uri="{9D8B030D-6E8A-4147-A177-3AD203B41FA5}">
                      <a16:colId xmlns:a16="http://schemas.microsoft.com/office/drawing/2014/main" val="20005"/>
                    </a:ext>
                  </a:extLst>
                </a:gridCol>
              </a:tblGrid>
              <a:tr h="416560">
                <a:tc>
                  <a:txBody>
                    <a:bodyPr/>
                    <a:lstStyle/>
                    <a:p>
                      <a:pPr algn="ctr"/>
                      <a:r>
                        <a:rPr lang="zh-CN" altLang="en-US" sz="1800" dirty="0">
                          <a:latin typeface="Arial" panose="020B0604020202020204" pitchFamily="34" charset="0"/>
                          <a:ea typeface="汉仪旗黑-55简" panose="00020600040101010101" charset="-122"/>
                        </a:rPr>
                        <a:t>序号</a:t>
                      </a:r>
                    </a:p>
                  </a:txBody>
                  <a:tcPr marL="68580" marR="68580" marT="34286" marB="34286" anchor="ctr">
                    <a:solidFill>
                      <a:schemeClr val="tx2">
                        <a:lumMod val="90000"/>
                      </a:schemeClr>
                    </a:solidFill>
                  </a:tcPr>
                </a:tc>
                <a:tc>
                  <a:txBody>
                    <a:bodyPr/>
                    <a:lstStyle/>
                    <a:p>
                      <a:pPr algn="ctr"/>
                      <a:endParaRPr lang="zh-CN" altLang="en-US" sz="1800">
                        <a:latin typeface="微软雅黑" panose="020B0503020204020204" charset="-122"/>
                        <a:ea typeface="汉仪旗黑-55简" panose="00020600040101010101" charset="-122"/>
                      </a:endParaRP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2</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3</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4/5/6</a:t>
                      </a:r>
                    </a:p>
                  </a:txBody>
                  <a:tcPr marL="68580" marR="68580" marT="34286" marB="34286" anchor="ctr">
                    <a:solidFill>
                      <a:schemeClr val="tx2">
                        <a:lumMod val="90000"/>
                      </a:schemeClr>
                    </a:solidFill>
                  </a:tcPr>
                </a:tc>
                <a:extLst>
                  <a:ext uri="{0D108BD9-81ED-4DB2-BD59-A6C34878D82A}">
                    <a16:rowId xmlns:a16="http://schemas.microsoft.com/office/drawing/2014/main" val="10000"/>
                  </a:ext>
                </a:extLst>
              </a:tr>
              <a:tr h="417195">
                <a:tc rowSpan="3">
                  <a:txBody>
                    <a:bodyPr/>
                    <a:lstStyle/>
                    <a:p>
                      <a:pPr algn="ctr"/>
                      <a:r>
                        <a:rPr lang="zh-CN" altLang="en-US" sz="1800" dirty="0">
                          <a:latin typeface="Arial" panose="020B0604020202020204" pitchFamily="34" charset="0"/>
                          <a:ea typeface="汉仪旗黑-55简" panose="00020600040101010101" charset="-122"/>
                        </a:rPr>
                        <a:t>原因</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C1</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a:t>
                      </a:r>
                    </a:p>
                  </a:txBody>
                  <a:tcPr marL="68580" marR="68580" marT="34286" marB="34286" anchor="ctr"/>
                </a:tc>
                <a:extLst>
                  <a:ext uri="{0D108BD9-81ED-4DB2-BD59-A6C34878D82A}">
                    <a16:rowId xmlns:a16="http://schemas.microsoft.com/office/drawing/2014/main" val="10001"/>
                  </a:ext>
                </a:extLst>
              </a:tr>
              <a:tr h="416560">
                <a:tc vMerge="1">
                  <a:txBody>
                    <a:bodyPr/>
                    <a:lstStyle/>
                    <a:p>
                      <a:endParaRPr lang="zh-CN"/>
                    </a:p>
                  </a:txBody>
                  <a:tcPr/>
                </a:tc>
                <a:tc>
                  <a:txBody>
                    <a:bodyPr/>
                    <a:lstStyle/>
                    <a:p>
                      <a:pPr algn="ctr"/>
                      <a:r>
                        <a:rPr lang="en-US" altLang="zh-CN" sz="1800" dirty="0">
                          <a:latin typeface="Arial" panose="020B0604020202020204" pitchFamily="34" charset="0"/>
                          <a:ea typeface="汉仪旗黑-55简" panose="00020600040101010101" charset="-122"/>
                        </a:rPr>
                        <a:t>C2</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a:t>
                      </a:r>
                    </a:p>
                  </a:txBody>
                  <a:tcPr marL="68580" marR="68580" marT="34286" marB="34286" anchor="ctr"/>
                </a:tc>
                <a:extLst>
                  <a:ext uri="{0D108BD9-81ED-4DB2-BD59-A6C34878D82A}">
                    <a16:rowId xmlns:a16="http://schemas.microsoft.com/office/drawing/2014/main" val="10002"/>
                  </a:ext>
                </a:extLst>
              </a:tr>
              <a:tr h="417195">
                <a:tc vMerge="1">
                  <a:txBody>
                    <a:bodyPr/>
                    <a:lstStyle/>
                    <a:p>
                      <a:endParaRPr lang="zh-CN"/>
                    </a:p>
                  </a:txBody>
                  <a:tcPr/>
                </a:tc>
                <a:tc>
                  <a:txBody>
                    <a:bodyPr/>
                    <a:lstStyle/>
                    <a:p>
                      <a:pPr algn="ctr"/>
                      <a:r>
                        <a:rPr lang="en-US" altLang="zh-CN" sz="1800" dirty="0">
                          <a:latin typeface="Arial" panose="020B0604020202020204" pitchFamily="34" charset="0"/>
                          <a:ea typeface="汉仪旗黑-55简" panose="00020600040101010101" charset="-122"/>
                        </a:rPr>
                        <a:t>C3</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extLst>
                  <a:ext uri="{0D108BD9-81ED-4DB2-BD59-A6C34878D82A}">
                    <a16:rowId xmlns:a16="http://schemas.microsoft.com/office/drawing/2014/main" val="10003"/>
                  </a:ext>
                </a:extLst>
              </a:tr>
              <a:tr h="415290">
                <a:tc rowSpan="3">
                  <a:txBody>
                    <a:bodyPr/>
                    <a:lstStyle/>
                    <a:p>
                      <a:pPr algn="ctr"/>
                      <a:r>
                        <a:rPr lang="zh-CN" altLang="en-US" sz="1800" dirty="0">
                          <a:latin typeface="Arial" panose="020B0604020202020204" pitchFamily="34" charset="0"/>
                          <a:ea typeface="汉仪旗黑-55简" panose="00020600040101010101" charset="-122"/>
                        </a:rPr>
                        <a:t>结果</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E1</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extLst>
                  <a:ext uri="{0D108BD9-81ED-4DB2-BD59-A6C34878D82A}">
                    <a16:rowId xmlns:a16="http://schemas.microsoft.com/office/drawing/2014/main" val="10004"/>
                  </a:ext>
                </a:extLst>
              </a:tr>
              <a:tr h="417195">
                <a:tc vMerge="1">
                  <a:txBody>
                    <a:bodyPr/>
                    <a:lstStyle/>
                    <a:p>
                      <a:endParaRPr lang="zh-CN"/>
                    </a:p>
                  </a:txBody>
                  <a:tcPr/>
                </a:tc>
                <a:tc>
                  <a:txBody>
                    <a:bodyPr/>
                    <a:lstStyle/>
                    <a:p>
                      <a:pPr algn="ctr"/>
                      <a:r>
                        <a:rPr lang="en-US" altLang="zh-CN" sz="1800" dirty="0">
                          <a:latin typeface="Arial" panose="020B0604020202020204" pitchFamily="34" charset="0"/>
                          <a:ea typeface="汉仪旗黑-55简" panose="00020600040101010101" charset="-122"/>
                        </a:rPr>
                        <a:t>E2</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extLst>
                  <a:ext uri="{0D108BD9-81ED-4DB2-BD59-A6C34878D82A}">
                    <a16:rowId xmlns:a16="http://schemas.microsoft.com/office/drawing/2014/main" val="10005"/>
                  </a:ext>
                </a:extLst>
              </a:tr>
              <a:tr h="416560">
                <a:tc vMerge="1">
                  <a:txBody>
                    <a:bodyPr/>
                    <a:lstStyle/>
                    <a:p>
                      <a:endParaRPr lang="zh-CN"/>
                    </a:p>
                  </a:txBody>
                  <a:tcPr/>
                </a:tc>
                <a:tc>
                  <a:txBody>
                    <a:bodyPr/>
                    <a:lstStyle/>
                    <a:p>
                      <a:pPr algn="ctr"/>
                      <a:r>
                        <a:rPr lang="en-US" altLang="zh-CN" sz="1800" dirty="0">
                          <a:latin typeface="Arial" panose="020B0604020202020204" pitchFamily="34" charset="0"/>
                          <a:ea typeface="汉仪旗黑-55简" panose="00020600040101010101" charset="-122"/>
                        </a:rPr>
                        <a:t>E3</a:t>
                      </a:r>
                    </a:p>
                  </a:txBody>
                  <a:tcPr marL="68580" marR="68580" marT="34286" marB="34286" anchor="ctr">
                    <a:solidFill>
                      <a:schemeClr val="tx2">
                        <a:lumMod val="90000"/>
                      </a:schemeClr>
                    </a:solidFill>
                  </a:tcP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0</a:t>
                      </a:r>
                    </a:p>
                  </a:txBody>
                  <a:tcPr marL="68580" marR="68580" marT="34286" marB="34286" anchor="ctr"/>
                </a:tc>
                <a:tc>
                  <a:txBody>
                    <a:bodyPr/>
                    <a:lstStyle/>
                    <a:p>
                      <a:pPr algn="ctr"/>
                      <a:r>
                        <a:rPr lang="en-US" altLang="zh-CN" sz="1800" dirty="0">
                          <a:latin typeface="Arial" panose="020B0604020202020204" pitchFamily="34" charset="0"/>
                          <a:ea typeface="汉仪旗黑-55简" panose="00020600040101010101" charset="-122"/>
                        </a:rPr>
                        <a:t>1</a:t>
                      </a:r>
                    </a:p>
                  </a:txBody>
                  <a:tcPr marL="68580" marR="68580" marT="34286" marB="34286" anchor="ctr"/>
                </a:tc>
                <a:extLst>
                  <a:ext uri="{0D108BD9-81ED-4DB2-BD59-A6C34878D82A}">
                    <a16:rowId xmlns:a16="http://schemas.microsoft.com/office/drawing/2014/main" val="10006"/>
                  </a:ext>
                </a:extLst>
              </a:tr>
              <a:tr h="1028065">
                <a:tc gridSpan="2">
                  <a:txBody>
                    <a:bodyPr/>
                    <a:lstStyle/>
                    <a:p>
                      <a:pPr algn="ctr"/>
                      <a:r>
                        <a:rPr lang="zh-CN" altLang="en-US" sz="1800" dirty="0">
                          <a:latin typeface="Arial" panose="020B0604020202020204" pitchFamily="34" charset="0"/>
                          <a:ea typeface="汉仪旗黑-55简" panose="00020600040101010101" charset="-122"/>
                        </a:rPr>
                        <a:t>用例</a:t>
                      </a:r>
                    </a:p>
                  </a:txBody>
                  <a:tcPr marL="68580" marR="68580" marT="34286" marB="34286" anchor="ctr">
                    <a:solidFill>
                      <a:schemeClr val="tx2">
                        <a:lumMod val="90000"/>
                      </a:schemeClr>
                    </a:solidFill>
                  </a:tcPr>
                </a:tc>
                <a:tc hMerge="1">
                  <a:txBody>
                    <a:bodyPr/>
                    <a:lstStyle/>
                    <a:p>
                      <a:endParaRPr lang="zh-CN"/>
                    </a:p>
                  </a:txBody>
                  <a:tcPr/>
                </a:tc>
                <a:tc>
                  <a:txBody>
                    <a:bodyPr/>
                    <a:lstStyle/>
                    <a:p>
                      <a:pPr algn="l"/>
                      <a:r>
                        <a:rPr lang="zh-CN" altLang="en-US" sz="1800" dirty="0">
                          <a:latin typeface="Arial" panose="020B0604020202020204" pitchFamily="34" charset="0"/>
                          <a:ea typeface="汉仪旗黑-55简" panose="00020600040101010101" charset="-122"/>
                          <a:cs typeface="微软雅黑" panose="020B0503020204020204" charset="-122"/>
                        </a:rPr>
                        <a:t>首字符为</a:t>
                      </a:r>
                      <a:r>
                        <a:rPr lang="en-US" altLang="zh-CN" sz="1800" dirty="0">
                          <a:latin typeface="Arial" panose="020B0604020202020204" pitchFamily="34" charset="0"/>
                          <a:ea typeface="汉仪旗黑-55简" panose="00020600040101010101" charset="-122"/>
                          <a:cs typeface="微软雅黑" panose="020B0503020204020204" charset="-122"/>
                        </a:rPr>
                        <a:t>A</a:t>
                      </a:r>
                      <a:r>
                        <a:rPr lang="zh-CN" altLang="en-US" sz="1800" dirty="0">
                          <a:latin typeface="Arial" panose="020B0604020202020204" pitchFamily="34" charset="0"/>
                          <a:ea typeface="汉仪旗黑-55简" panose="00020600040101010101" charset="-122"/>
                          <a:cs typeface="微软雅黑" panose="020B0503020204020204" charset="-122"/>
                        </a:rPr>
                        <a:t>，第</a:t>
                      </a:r>
                      <a:r>
                        <a:rPr lang="en-US" altLang="zh-CN" sz="1800" dirty="0">
                          <a:latin typeface="Arial" panose="020B0604020202020204" pitchFamily="34" charset="0"/>
                          <a:ea typeface="汉仪旗黑-55简" panose="00020600040101010101" charset="-122"/>
                          <a:cs typeface="微软雅黑" panose="020B0503020204020204" charset="-122"/>
                        </a:rPr>
                        <a:t>2</a:t>
                      </a:r>
                      <a:r>
                        <a:rPr lang="zh-CN" altLang="en-US" sz="1800" dirty="0">
                          <a:latin typeface="Arial" panose="020B0604020202020204" pitchFamily="34" charset="0"/>
                          <a:ea typeface="汉仪旗黑-55简" panose="00020600040101010101" charset="-122"/>
                          <a:cs typeface="微软雅黑" panose="020B0503020204020204" charset="-122"/>
                        </a:rPr>
                        <a:t>个字符为数字</a:t>
                      </a:r>
                    </a:p>
                  </a:txBody>
                  <a:tcPr marL="68580" marR="68580" marT="34286" marB="34286" anchor="ctr"/>
                </a:tc>
                <a:tc>
                  <a:txBody>
                    <a:bodyPr/>
                    <a:lstStyle/>
                    <a:p>
                      <a:pPr algn="l"/>
                      <a:r>
                        <a:rPr lang="zh-CN" altLang="en-US" sz="1800" dirty="0">
                          <a:latin typeface="Arial" panose="020B0604020202020204" pitchFamily="34" charset="0"/>
                          <a:ea typeface="汉仪旗黑-55简" panose="00020600040101010101" charset="-122"/>
                          <a:cs typeface="微软雅黑" panose="020B0503020204020204" charset="-122"/>
                        </a:rPr>
                        <a:t>首字符为</a:t>
                      </a:r>
                      <a:r>
                        <a:rPr lang="en-US" altLang="zh-CN" sz="1800" dirty="0">
                          <a:latin typeface="Arial" panose="020B0604020202020204" pitchFamily="34" charset="0"/>
                          <a:ea typeface="汉仪旗黑-55简" panose="00020600040101010101" charset="-122"/>
                          <a:cs typeface="微软雅黑" panose="020B0503020204020204" charset="-122"/>
                        </a:rPr>
                        <a:t>B</a:t>
                      </a:r>
                      <a:r>
                        <a:rPr lang="zh-CN" altLang="en-US" sz="1800" dirty="0">
                          <a:latin typeface="Arial" panose="020B0604020202020204" pitchFamily="34" charset="0"/>
                          <a:ea typeface="汉仪旗黑-55简" panose="00020600040101010101" charset="-122"/>
                          <a:cs typeface="微软雅黑" panose="020B0503020204020204" charset="-122"/>
                        </a:rPr>
                        <a:t>，第</a:t>
                      </a:r>
                      <a:r>
                        <a:rPr lang="en-US" altLang="zh-CN" sz="1800" dirty="0">
                          <a:latin typeface="Arial" panose="020B0604020202020204" pitchFamily="34" charset="0"/>
                          <a:ea typeface="汉仪旗黑-55简" panose="00020600040101010101" charset="-122"/>
                          <a:cs typeface="微软雅黑" panose="020B0503020204020204" charset="-122"/>
                        </a:rPr>
                        <a:t>2</a:t>
                      </a:r>
                      <a:r>
                        <a:rPr lang="zh-CN" altLang="en-US" sz="1800" dirty="0">
                          <a:latin typeface="Arial" panose="020B0604020202020204" pitchFamily="34" charset="0"/>
                          <a:ea typeface="汉仪旗黑-55简" panose="00020600040101010101" charset="-122"/>
                          <a:cs typeface="微软雅黑" panose="020B0503020204020204" charset="-122"/>
                        </a:rPr>
                        <a:t>个字符为数字</a:t>
                      </a:r>
                    </a:p>
                  </a:txBody>
                  <a:tcPr marL="68580" marR="68580" marT="34286" marB="34286" anchor="ctr"/>
                </a:tc>
                <a:tc>
                  <a:txBody>
                    <a:bodyPr/>
                    <a:lstStyle/>
                    <a:p>
                      <a:pPr algn="l"/>
                      <a:r>
                        <a:rPr lang="zh-CN" altLang="en-US" sz="1800" dirty="0">
                          <a:latin typeface="Arial" panose="020B0604020202020204" pitchFamily="34" charset="0"/>
                          <a:ea typeface="汉仪旗黑-55简" panose="00020600040101010101" charset="-122"/>
                          <a:cs typeface="微软雅黑" panose="020B0503020204020204" charset="-122"/>
                        </a:rPr>
                        <a:t>首字符为</a:t>
                      </a:r>
                      <a:r>
                        <a:rPr lang="en-US" altLang="zh-CN" sz="1800" dirty="0">
                          <a:latin typeface="Arial" panose="020B0604020202020204" pitchFamily="34" charset="0"/>
                          <a:ea typeface="汉仪旗黑-55简" panose="00020600040101010101" charset="-122"/>
                          <a:cs typeface="微软雅黑" panose="020B0503020204020204" charset="-122"/>
                        </a:rPr>
                        <a:t>x</a:t>
                      </a:r>
                      <a:r>
                        <a:rPr lang="zh-CN" altLang="en-US" sz="1800" dirty="0">
                          <a:latin typeface="Arial" panose="020B0604020202020204" pitchFamily="34" charset="0"/>
                          <a:ea typeface="汉仪旗黑-55简" panose="00020600040101010101" charset="-122"/>
                          <a:cs typeface="微软雅黑" panose="020B0503020204020204" charset="-122"/>
                        </a:rPr>
                        <a:t>，第</a:t>
                      </a:r>
                      <a:r>
                        <a:rPr lang="en-US" altLang="zh-CN" sz="1800" dirty="0">
                          <a:latin typeface="Arial" panose="020B0604020202020204" pitchFamily="34" charset="0"/>
                          <a:ea typeface="汉仪旗黑-55简" panose="00020600040101010101" charset="-122"/>
                          <a:cs typeface="微软雅黑" panose="020B0503020204020204" charset="-122"/>
                        </a:rPr>
                        <a:t>2</a:t>
                      </a:r>
                      <a:r>
                        <a:rPr lang="zh-CN" altLang="en-US" sz="1800" dirty="0">
                          <a:latin typeface="Arial" panose="020B0604020202020204" pitchFamily="34" charset="0"/>
                          <a:ea typeface="汉仪旗黑-55简" panose="00020600040101010101" charset="-122"/>
                          <a:cs typeface="微软雅黑" panose="020B0503020204020204" charset="-122"/>
                        </a:rPr>
                        <a:t>个字符为数字</a:t>
                      </a:r>
                    </a:p>
                  </a:txBody>
                  <a:tcPr marL="68580" marR="68580" marT="34286" marB="34286" anchor="ctr"/>
                </a:tc>
                <a:tc>
                  <a:txBody>
                    <a:bodyPr/>
                    <a:lstStyle/>
                    <a:p>
                      <a:pPr algn="l"/>
                      <a:r>
                        <a:rPr lang="zh-CN" altLang="en-US" sz="1800" dirty="0">
                          <a:latin typeface="Arial" panose="020B0604020202020204" pitchFamily="34" charset="0"/>
                          <a:ea typeface="汉仪旗黑-55简" panose="00020600040101010101" charset="-122"/>
                          <a:cs typeface="微软雅黑" panose="020B0503020204020204" charset="-122"/>
                        </a:rPr>
                        <a:t>首字符为</a:t>
                      </a:r>
                      <a:r>
                        <a:rPr lang="en-US" altLang="zh-CN" sz="1800" dirty="0">
                          <a:latin typeface="Arial" panose="020B0604020202020204" pitchFamily="34" charset="0"/>
                          <a:ea typeface="汉仪旗黑-55简" panose="00020600040101010101" charset="-122"/>
                          <a:cs typeface="微软雅黑" panose="020B0503020204020204" charset="-122"/>
                        </a:rPr>
                        <a:t>A</a:t>
                      </a:r>
                      <a:r>
                        <a:rPr lang="zh-CN" altLang="en-US" sz="1800" dirty="0">
                          <a:latin typeface="Arial" panose="020B0604020202020204" pitchFamily="34" charset="0"/>
                          <a:ea typeface="汉仪旗黑-55简" panose="00020600040101010101" charset="-122"/>
                          <a:cs typeface="微软雅黑" panose="020B0503020204020204" charset="-122"/>
                        </a:rPr>
                        <a:t>或</a:t>
                      </a:r>
                      <a:r>
                        <a:rPr lang="en-US" altLang="zh-CN" sz="1800" dirty="0">
                          <a:latin typeface="Arial" panose="020B0604020202020204" pitchFamily="34" charset="0"/>
                          <a:ea typeface="汉仪旗黑-55简" panose="00020600040101010101" charset="-122"/>
                          <a:cs typeface="微软雅黑" panose="020B0503020204020204" charset="-122"/>
                        </a:rPr>
                        <a:t>B</a:t>
                      </a:r>
                      <a:r>
                        <a:rPr lang="zh-CN" altLang="en-US" sz="1800" dirty="0">
                          <a:latin typeface="Arial" panose="020B0604020202020204" pitchFamily="34" charset="0"/>
                          <a:ea typeface="汉仪旗黑-55简" panose="00020600040101010101" charset="-122"/>
                          <a:cs typeface="微软雅黑" panose="020B0503020204020204" charset="-122"/>
                        </a:rPr>
                        <a:t>或</a:t>
                      </a:r>
                      <a:r>
                        <a:rPr lang="en-US" altLang="zh-CN" sz="1800" dirty="0">
                          <a:latin typeface="Arial" panose="020B0604020202020204" pitchFamily="34" charset="0"/>
                          <a:ea typeface="汉仪旗黑-55简" panose="00020600040101010101" charset="-122"/>
                          <a:cs typeface="微软雅黑" panose="020B0503020204020204" charset="-122"/>
                        </a:rPr>
                        <a:t>x</a:t>
                      </a:r>
                      <a:r>
                        <a:rPr lang="zh-CN" altLang="en-US" sz="1800" dirty="0">
                          <a:latin typeface="Arial" panose="020B0604020202020204" pitchFamily="34" charset="0"/>
                          <a:ea typeface="汉仪旗黑-55简" panose="00020600040101010101" charset="-122"/>
                          <a:cs typeface="微软雅黑" panose="020B0503020204020204" charset="-122"/>
                        </a:rPr>
                        <a:t>，第</a:t>
                      </a:r>
                      <a:r>
                        <a:rPr lang="en-US" altLang="zh-CN" sz="1800" dirty="0">
                          <a:latin typeface="Arial" panose="020B0604020202020204" pitchFamily="34" charset="0"/>
                          <a:ea typeface="汉仪旗黑-55简" panose="00020600040101010101" charset="-122"/>
                          <a:cs typeface="微软雅黑" panose="020B0503020204020204" charset="-122"/>
                        </a:rPr>
                        <a:t>2</a:t>
                      </a:r>
                      <a:r>
                        <a:rPr lang="zh-CN" altLang="en-US" sz="1800" dirty="0">
                          <a:latin typeface="Arial" panose="020B0604020202020204" pitchFamily="34" charset="0"/>
                          <a:ea typeface="汉仪旗黑-55简" panose="00020600040101010101" charset="-122"/>
                          <a:cs typeface="微软雅黑" panose="020B0503020204020204" charset="-122"/>
                        </a:rPr>
                        <a:t>个字符不是数字</a:t>
                      </a:r>
                    </a:p>
                  </a:txBody>
                  <a:tcPr marL="68580" marR="68580" marT="34286" marB="34286" anchor="ctr"/>
                </a:tc>
                <a:extLst>
                  <a:ext uri="{0D108BD9-81ED-4DB2-BD59-A6C34878D82A}">
                    <a16:rowId xmlns:a16="http://schemas.microsoft.com/office/drawing/2014/main" val="10007"/>
                  </a:ext>
                </a:extLst>
              </a:tr>
            </a:tbl>
          </a:graphicData>
        </a:graphic>
      </p:graphicFrame>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19</a:t>
            </a:fld>
            <a:endParaRPr lang="zh-CN" altLang="en-US"/>
          </a:p>
        </p:txBody>
      </p:sp>
    </p:spTree>
    <p:custDataLst>
      <p:tags r:id="rId1"/>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buClrTx/>
              <a:buSzTx/>
              <a:buFontTx/>
            </a:pPr>
            <a:r>
              <a:rPr>
                <a:solidFill>
                  <a:schemeClr val="accent1"/>
                </a:solidFill>
                <a:ea typeface="汉仪文黑-85W" panose="00020600040101010101" charset="-122"/>
                <a:sym typeface="+mn-ea"/>
              </a:rPr>
              <a:t>因果图法</a:t>
            </a:r>
            <a:endParaRPr lang="zh-CN" altLang="en-US">
              <a:solidFill>
                <a:schemeClr val="accent1"/>
              </a:solidFill>
              <a:ea typeface="汉仪文黑-85W" panose="00020600040101010101" charset="-122"/>
            </a:endParaRPr>
          </a:p>
        </p:txBody>
      </p:sp>
      <p:sp>
        <p:nvSpPr>
          <p:cNvPr id="5" name="内容占位符 4"/>
          <p:cNvSpPr>
            <a:spLocks noGrp="1"/>
          </p:cNvSpPr>
          <p:nvPr>
            <p:ph idx="1"/>
          </p:nvPr>
        </p:nvSpPr>
        <p:spPr>
          <a:xfrm>
            <a:off x="2015490" y="1510666"/>
            <a:ext cx="8247380" cy="4157345"/>
          </a:xfrm>
        </p:spPr>
        <p:txBody>
          <a:bodyPr>
            <a:normAutofit lnSpcReduction="10000"/>
          </a:bodyPr>
          <a:lstStyle/>
          <a:p>
            <a:pPr fontAlgn="base">
              <a:lnSpc>
                <a:spcPct val="160000"/>
              </a:lnSpc>
              <a:spcBef>
                <a:spcPts val="500"/>
              </a:spcBef>
              <a:spcAft>
                <a:spcPct val="0"/>
              </a:spcAft>
            </a:pPr>
            <a:r>
              <a:rPr sz="3200" b="1">
                <a:latin typeface="微软雅黑" panose="020B0503020204020204" charset="-122"/>
                <a:sym typeface="+mn-ea"/>
              </a:rPr>
              <a:t>因果图法的特点：</a:t>
            </a:r>
          </a:p>
          <a:p>
            <a:pPr marL="914400" lvl="1" indent="-457200" fontAlgn="base">
              <a:lnSpc>
                <a:spcPct val="200000"/>
              </a:lnSpc>
              <a:spcAft>
                <a:spcPct val="0"/>
              </a:spcAft>
              <a:buAutoNum type="arabicPeriod"/>
            </a:pPr>
            <a:r>
              <a:rPr>
                <a:latin typeface="微软雅黑" panose="020B0503020204020204" charset="-122"/>
                <a:sym typeface="+mn-ea"/>
              </a:rPr>
              <a:t>考虑输入条件的组合关系。</a:t>
            </a:r>
            <a:endParaRPr lang="zh-CN" altLang="en-US">
              <a:latin typeface="微软雅黑" panose="020B0503020204020204" charset="-122"/>
              <a:ea typeface="微软雅黑" panose="020B0503020204020204" charset="-122"/>
            </a:endParaRPr>
          </a:p>
          <a:p>
            <a:pPr marL="914400" lvl="1" indent="-457200" fontAlgn="base">
              <a:lnSpc>
                <a:spcPct val="160000"/>
              </a:lnSpc>
              <a:spcAft>
                <a:spcPct val="0"/>
              </a:spcAft>
              <a:buAutoNum type="arabicPeriod"/>
            </a:pPr>
            <a:r>
              <a:rPr>
                <a:latin typeface="微软雅黑" panose="020B0503020204020204" charset="-122"/>
                <a:sym typeface="+mn-ea"/>
              </a:rPr>
              <a:t>考虑输出条件对输入条件的信赖关系，即因果关系。</a:t>
            </a:r>
            <a:endParaRPr lang="zh-CN" altLang="en-US">
              <a:latin typeface="微软雅黑" panose="020B0503020204020204" charset="-122"/>
              <a:ea typeface="微软雅黑" panose="020B0503020204020204" charset="-122"/>
            </a:endParaRPr>
          </a:p>
          <a:p>
            <a:pPr marL="914400" lvl="1" indent="-457200" fontAlgn="base">
              <a:lnSpc>
                <a:spcPct val="160000"/>
              </a:lnSpc>
              <a:spcAft>
                <a:spcPct val="0"/>
              </a:spcAft>
              <a:buAutoNum type="arabicPeriod"/>
            </a:pPr>
            <a:r>
              <a:rPr>
                <a:latin typeface="微软雅黑" panose="020B0503020204020204" charset="-122"/>
                <a:sym typeface="+mn-ea"/>
              </a:rPr>
              <a:t>测试用例发现错误的效率高。</a:t>
            </a:r>
            <a:endParaRPr lang="zh-CN" altLang="en-US">
              <a:latin typeface="微软雅黑" panose="020B0503020204020204" charset="-122"/>
              <a:ea typeface="微软雅黑" panose="020B0503020204020204" charset="-122"/>
            </a:endParaRPr>
          </a:p>
          <a:p>
            <a:pPr marL="914400" lvl="1" indent="-457200" fontAlgn="base">
              <a:lnSpc>
                <a:spcPct val="160000"/>
              </a:lnSpc>
              <a:spcAft>
                <a:spcPct val="0"/>
              </a:spcAft>
              <a:buAutoNum type="arabicPeriod"/>
            </a:pPr>
            <a:r>
              <a:rPr>
                <a:latin typeface="微软雅黑" panose="020B0503020204020204" charset="-122"/>
                <a:sym typeface="+mn-ea"/>
              </a:rPr>
              <a:t>可检查出功能说明书中的某些不一致或遗漏。</a:t>
            </a:r>
            <a:endParaRPr lang="zh-CN" altLang="en-US">
              <a:latin typeface="微软雅黑" panose="020B0503020204020204" charset="-122"/>
              <a:ea typeface="微软雅黑" panose="020B0503020204020204" charset="-122"/>
            </a:endParaRPr>
          </a:p>
          <a:p>
            <a:pPr marL="914400" lvl="1" indent="-457200" fontAlgn="base">
              <a:lnSpc>
                <a:spcPct val="160000"/>
              </a:lnSpc>
              <a:spcAft>
                <a:spcPct val="0"/>
              </a:spcAft>
              <a:buAutoNum type="arabicPeriod"/>
            </a:pPr>
            <a:r>
              <a:rPr>
                <a:latin typeface="微软雅黑" panose="020B0503020204020204" charset="-122"/>
                <a:sym typeface="+mn-ea"/>
              </a:rPr>
              <a:t>适合于检查程序输入条件和各种组合情况。</a:t>
            </a:r>
            <a:endParaRPr>
              <a:latin typeface="微软雅黑" panose="020B0503020204020204" charset="-122"/>
              <a:ea typeface="微软雅黑" panose="020B0503020204020204" charset="-122"/>
            </a:endParaRPr>
          </a:p>
          <a:p>
            <a:pPr marL="0" indent="0">
              <a:buNone/>
            </a:pPr>
            <a:endParaRPr lang="zh-CN" altLang="en-US" sz="2400">
              <a:latin typeface="微软雅黑" panose="020B0503020204020204" charset="-122"/>
              <a:ea typeface="微软雅黑" panose="020B0503020204020204" charset="-122"/>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l">
              <a:buClrTx/>
              <a:buSzTx/>
              <a:buFontTx/>
            </a:pPr>
            <a:r>
              <a:rPr lang="zh-CN" altLang="en-US">
                <a:solidFill>
                  <a:schemeClr val="accent1"/>
                </a:solidFill>
                <a:ea typeface="汉仪文黑-85W" panose="00020600040101010101" charset="-122"/>
              </a:rPr>
              <a:t>因果图法</a:t>
            </a:r>
          </a:p>
        </p:txBody>
      </p:sp>
      <p:sp>
        <p:nvSpPr>
          <p:cNvPr id="5" name="内容占位符 4"/>
          <p:cNvSpPr>
            <a:spLocks noGrp="1"/>
          </p:cNvSpPr>
          <p:nvPr>
            <p:ph idx="1"/>
          </p:nvPr>
        </p:nvSpPr>
        <p:spPr>
          <a:xfrm>
            <a:off x="2026285" y="1329690"/>
            <a:ext cx="8139430" cy="4544060"/>
          </a:xfrm>
        </p:spPr>
        <p:txBody>
          <a:bodyPr anchor="t" anchorCtr="0">
            <a:normAutofit fontScale="97500"/>
          </a:bodyPr>
          <a:lstStyle/>
          <a:p>
            <a:pPr algn="just">
              <a:lnSpc>
                <a:spcPct val="160000"/>
              </a:lnSpc>
            </a:pPr>
            <a:r>
              <a:rPr altLang="zh-CN" sz="4000" b="1">
                <a:sym typeface="+mn-ea"/>
              </a:rPr>
              <a:t>小结</a:t>
            </a:r>
          </a:p>
          <a:p>
            <a:pPr lvl="1" algn="just">
              <a:lnSpc>
                <a:spcPct val="160000"/>
              </a:lnSpc>
            </a:pPr>
            <a:r>
              <a:rPr altLang="zh-CN">
                <a:sym typeface="+mn-ea"/>
              </a:rPr>
              <a:t>因果图在实际使用过程中，能够帮助测试用例设计者快速了解需求，理解业务逻辑，然后快速设决策表，从而得到所需的测试用例。</a:t>
            </a:r>
          </a:p>
          <a:p>
            <a:pPr lvl="1" algn="just">
              <a:lnSpc>
                <a:spcPct val="160000"/>
              </a:lnSpc>
            </a:pPr>
            <a:r>
              <a:rPr altLang="zh-CN">
                <a:sym typeface="+mn-ea"/>
              </a:rPr>
              <a:t>在因果关系复杂的系统中，可采用该方法，该方法的优缺点类似于决策表法，在使用过程中需注意规则的规模。</a:t>
            </a:r>
            <a:endParaRPr lang="zh-CN" altLang="zh-CN">
              <a:sym typeface="+mn-ea"/>
            </a:endParaRP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3" name="灯片编号占位符 2"/>
          <p:cNvSpPr>
            <a:spLocks noGrp="1"/>
          </p:cNvSpPr>
          <p:nvPr>
            <p:ph type="sldNum" sz="quarter" idx="12"/>
          </p:nvPr>
        </p:nvSpPr>
        <p:spPr/>
        <p:txBody>
          <a:bodyPr/>
          <a:lstStyle/>
          <a:p>
            <a:fld id="{49AE70B2-8BF9-45C0-BB95-33D1B9D3A854}" type="slidenum">
              <a:rPr lang="zh-CN" altLang="en-US" smtClean="0"/>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en-US" altLang="zh-CN" dirty="0"/>
              <a:t>3.3.3</a:t>
            </a:r>
            <a:r>
              <a:rPr lang="zh-CN" altLang="en-US" dirty="0"/>
              <a:t> </a:t>
            </a:r>
            <a:r>
              <a:rPr lang="en-US" altLang="zh-CN" dirty="0"/>
              <a:t>Pairwise</a:t>
            </a:r>
            <a:r>
              <a:rPr lang="zh-CN" altLang="en-US" dirty="0"/>
              <a:t>方法</a:t>
            </a:r>
            <a:endParaRPr kumimoji="1" lang="zh-CN" altLang="en-US" dirty="0"/>
          </a:p>
        </p:txBody>
      </p:sp>
      <p:sp>
        <p:nvSpPr>
          <p:cNvPr id="4" name="Rectangle 3">
            <a:extLst>
              <a:ext uri="{FF2B5EF4-FFF2-40B4-BE49-F238E27FC236}">
                <a16:creationId xmlns:a16="http://schemas.microsoft.com/office/drawing/2014/main" id="{79E8AD96-08BB-01CC-C9B6-2B823A4DEAF9}"/>
              </a:ext>
            </a:extLst>
          </p:cNvPr>
          <p:cNvSpPr txBox="1">
            <a:spLocks noChangeArrowheads="1"/>
          </p:cNvSpPr>
          <p:nvPr/>
        </p:nvSpPr>
        <p:spPr>
          <a:xfrm>
            <a:off x="224628" y="1381797"/>
            <a:ext cx="11742745" cy="2401495"/>
          </a:xfrm>
          <a:prstGeom prst="rect">
            <a:avLst/>
          </a:prstGeom>
        </p:spPr>
        <p:txBody>
          <a:bodyP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591" indent="-355591" eaLnBrk="0" hangingPunct="0">
              <a:lnSpc>
                <a:spcPct val="150000"/>
              </a:lnSpc>
              <a:spcBef>
                <a:spcPct val="0"/>
              </a:spcBef>
              <a:buClr>
                <a:srgbClr val="91AC4E"/>
              </a:buClr>
              <a:buSzPct val="80000"/>
              <a:buFont typeface="Wingdings" pitchFamily="2" charset="2"/>
              <a:buChar char="p"/>
              <a:defRPr/>
            </a:pPr>
            <a:r>
              <a:rPr lang="zh-CN" altLang="en-US" sz="2133" b="1" dirty="0">
                <a:effectLst>
                  <a:outerShdw blurRad="38100" dist="38100" dir="2700000" algn="tl">
                    <a:srgbClr val="FFFFFF"/>
                  </a:outerShdw>
                </a:effectLst>
                <a:latin typeface="宋体"/>
                <a:ea typeface="宋体"/>
              </a:rPr>
              <a:t>背景：</a:t>
            </a:r>
            <a:r>
              <a:rPr lang="zh-CN" altLang="en-US" sz="2133" dirty="0">
                <a:effectLst>
                  <a:outerShdw blurRad="38100" dist="38100" dir="2700000" algn="tl">
                    <a:srgbClr val="FFFFFF"/>
                  </a:outerShdw>
                </a:effectLst>
                <a:latin typeface="宋体"/>
                <a:ea typeface="宋体"/>
              </a:rPr>
              <a:t>大部分缺陷是在两个变量取值冲突的测试时被发现的 </a:t>
            </a:r>
            <a:endParaRPr lang="en-US" altLang="zh-CN" sz="2133" dirty="0">
              <a:effectLst>
                <a:outerShdw blurRad="38100" dist="38100" dir="2700000" algn="tl">
                  <a:srgbClr val="FFFFFF"/>
                </a:outerShdw>
              </a:effectLst>
              <a:latin typeface="宋体"/>
              <a:ea typeface="宋体"/>
            </a:endParaRPr>
          </a:p>
          <a:p>
            <a:pPr marL="355591" indent="-355591" eaLnBrk="0" hangingPunct="0">
              <a:lnSpc>
                <a:spcPct val="150000"/>
              </a:lnSpc>
              <a:spcBef>
                <a:spcPct val="0"/>
              </a:spcBef>
              <a:buClr>
                <a:srgbClr val="91AC4E"/>
              </a:buClr>
              <a:buSzPct val="80000"/>
              <a:buFont typeface="Wingdings" pitchFamily="2" charset="2"/>
              <a:buChar char="p"/>
              <a:defRPr/>
            </a:pPr>
            <a:r>
              <a:rPr lang="zh-CN" altLang="en-US" sz="2133" b="1" dirty="0">
                <a:effectLst>
                  <a:outerShdw blurRad="38100" dist="38100" dir="2700000" algn="tl">
                    <a:srgbClr val="FFFFFF"/>
                  </a:outerShdw>
                </a:effectLst>
                <a:latin typeface="宋体"/>
                <a:ea typeface="宋体"/>
              </a:rPr>
              <a:t>处理的问题</a:t>
            </a:r>
            <a:r>
              <a:rPr lang="zh-CN" altLang="en-US" sz="2133" dirty="0">
                <a:effectLst>
                  <a:outerShdw blurRad="38100" dist="38100" dir="2700000" algn="tl">
                    <a:srgbClr val="FFFFFF"/>
                  </a:outerShdw>
                </a:effectLst>
                <a:latin typeface="宋体"/>
                <a:ea typeface="宋体"/>
              </a:rPr>
              <a:t>：多个变量、每个变量有多个取值的组合</a:t>
            </a:r>
            <a:r>
              <a:rPr lang="zh-CN" altLang="en-US" sz="2133" dirty="0">
                <a:effectLst>
                  <a:outerShdw blurRad="38100" dist="38100" dir="2700000" algn="tl">
                    <a:srgbClr val="FFFFFF"/>
                  </a:outerShdw>
                </a:effectLst>
                <a:latin typeface="宋体"/>
                <a:ea typeface="宋体"/>
                <a:cs typeface="宋体"/>
              </a:rPr>
              <a:t>数太大</a:t>
            </a:r>
            <a:r>
              <a:rPr lang="zh-CN" altLang="en-US" sz="1867" dirty="0">
                <a:solidFill>
                  <a:schemeClr val="tx1">
                    <a:lumMod val="50000"/>
                    <a:lumOff val="50000"/>
                  </a:schemeClr>
                </a:solidFill>
                <a:effectLst>
                  <a:outerShdw blurRad="38100" dist="38100" dir="2700000" algn="tl">
                    <a:srgbClr val="FFFFFF"/>
                  </a:outerShdw>
                </a:effectLst>
                <a:latin typeface="宋体"/>
                <a:ea typeface="宋体"/>
                <a:cs typeface="宋体"/>
              </a:rPr>
              <a:t>（不再是条件成立、不成立两种情况）</a:t>
            </a:r>
            <a:endParaRPr lang="en-US" altLang="zh-CN" sz="1867" dirty="0">
              <a:solidFill>
                <a:schemeClr val="tx1">
                  <a:lumMod val="50000"/>
                  <a:lumOff val="50000"/>
                </a:schemeClr>
              </a:solidFill>
              <a:effectLst>
                <a:outerShdw blurRad="38100" dist="38100" dir="2700000" algn="tl">
                  <a:srgbClr val="FFFFFF"/>
                </a:outerShdw>
              </a:effectLst>
              <a:latin typeface="宋体"/>
              <a:ea typeface="宋体"/>
              <a:cs typeface="宋体"/>
            </a:endParaRPr>
          </a:p>
          <a:p>
            <a:pPr marL="355591" indent="-355591" eaLnBrk="0" hangingPunct="0">
              <a:lnSpc>
                <a:spcPct val="150000"/>
              </a:lnSpc>
              <a:spcBef>
                <a:spcPct val="0"/>
              </a:spcBef>
              <a:buClr>
                <a:srgbClr val="91AC4E"/>
              </a:buClr>
              <a:buSzPct val="80000"/>
              <a:buFont typeface="Wingdings" pitchFamily="2" charset="2"/>
              <a:buChar char="p"/>
              <a:defRPr/>
            </a:pPr>
            <a:r>
              <a:rPr lang="zh-CN" altLang="en-US" sz="2400" b="1" dirty="0">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定义</a:t>
            </a:r>
            <a:r>
              <a:rPr lang="zh-CN" altLang="en-US" sz="2133" dirty="0">
                <a:effectLst>
                  <a:outerShdw blurRad="38100" dist="38100" dir="2700000" algn="tl">
                    <a:srgbClr val="FFFFFF"/>
                  </a:outerShdw>
                </a:effectLst>
                <a:latin typeface="宋体"/>
                <a:ea typeface="宋体"/>
                <a:cs typeface="宋体"/>
              </a:rPr>
              <a:t>：确保某个变量取值和另一个变量取值</a:t>
            </a:r>
            <a:r>
              <a:rPr lang="zh-CN" altLang="en-US" sz="2133" b="1" dirty="0">
                <a:effectLst>
                  <a:outerShdw blurRad="38100" dist="38100" dir="2700000" algn="tl">
                    <a:srgbClr val="FFFFFF"/>
                  </a:outerShdw>
                </a:effectLst>
                <a:latin typeface="宋体"/>
                <a:ea typeface="宋体"/>
                <a:cs typeface="宋体"/>
              </a:rPr>
              <a:t>成对出现</a:t>
            </a:r>
            <a:r>
              <a:rPr lang="zh-CN" altLang="en-US" sz="2133" dirty="0">
                <a:effectLst>
                  <a:outerShdw blurRad="38100" dist="38100" dir="2700000" algn="tl">
                    <a:srgbClr val="FFFFFF"/>
                  </a:outerShdw>
                </a:effectLst>
                <a:latin typeface="宋体"/>
                <a:ea typeface="宋体"/>
                <a:cs typeface="宋体"/>
              </a:rPr>
              <a:t>都会被覆盖</a:t>
            </a:r>
            <a:endParaRPr lang="en-US" altLang="zh-CN" sz="2133" dirty="0">
              <a:effectLst>
                <a:outerShdw blurRad="38100" dist="38100" dir="2700000" algn="tl">
                  <a:srgbClr val="FFFFFF"/>
                </a:outerShdw>
              </a:effectLst>
              <a:latin typeface="宋体"/>
              <a:ea typeface="宋体"/>
              <a:cs typeface="宋体"/>
            </a:endParaRPr>
          </a:p>
          <a:p>
            <a:pPr marL="355591" indent="-355591" eaLnBrk="0" hangingPunct="0">
              <a:lnSpc>
                <a:spcPct val="150000"/>
              </a:lnSpc>
              <a:spcBef>
                <a:spcPct val="0"/>
              </a:spcBef>
              <a:buClr>
                <a:srgbClr val="91AC4E"/>
              </a:buClr>
              <a:buSzPct val="80000"/>
              <a:buFont typeface="Wingdings" pitchFamily="2" charset="2"/>
              <a:buChar char="p"/>
              <a:defRPr/>
            </a:pPr>
            <a:r>
              <a:rPr lang="zh-CN" altLang="en-US" sz="2133" b="1" dirty="0">
                <a:effectLst>
                  <a:outerShdw blurRad="38100" dist="38100" dir="2700000" algn="tl">
                    <a:srgbClr val="FFFFFF"/>
                  </a:outerShdw>
                </a:effectLst>
                <a:latin typeface="宋体"/>
                <a:ea typeface="宋体"/>
                <a:cs typeface="宋体"/>
              </a:rPr>
              <a:t>效果：可大幅度降低组合的数量</a:t>
            </a:r>
          </a:p>
        </p:txBody>
      </p:sp>
      <p:pic>
        <p:nvPicPr>
          <p:cNvPr id="6" name="图片 5">
            <a:extLst>
              <a:ext uri="{FF2B5EF4-FFF2-40B4-BE49-F238E27FC236}">
                <a16:creationId xmlns:a16="http://schemas.microsoft.com/office/drawing/2014/main" id="{B84A9C74-BB27-2F4F-FB9C-3793C166A7D5}"/>
              </a:ext>
            </a:extLst>
          </p:cNvPr>
          <p:cNvPicPr>
            <a:picLocks noChangeAspect="1"/>
          </p:cNvPicPr>
          <p:nvPr/>
        </p:nvPicPr>
        <p:blipFill>
          <a:blip r:embed="rId2"/>
          <a:stretch>
            <a:fillRect/>
          </a:stretch>
        </p:blipFill>
        <p:spPr>
          <a:xfrm>
            <a:off x="4687980" y="3013908"/>
            <a:ext cx="5724128" cy="3132369"/>
          </a:xfrm>
          <a:prstGeom prst="rect">
            <a:avLst/>
          </a:prstGeom>
        </p:spPr>
      </p:pic>
      <p:sp>
        <p:nvSpPr>
          <p:cNvPr id="8" name="文本框 7">
            <a:extLst>
              <a:ext uri="{FF2B5EF4-FFF2-40B4-BE49-F238E27FC236}">
                <a16:creationId xmlns:a16="http://schemas.microsoft.com/office/drawing/2014/main" id="{F7343B7C-22A8-62D9-73F1-FADB6D1EDB7E}"/>
              </a:ext>
            </a:extLst>
          </p:cNvPr>
          <p:cNvSpPr txBox="1"/>
          <p:nvPr/>
        </p:nvSpPr>
        <p:spPr>
          <a:xfrm>
            <a:off x="1348035" y="901121"/>
            <a:ext cx="2108461" cy="461665"/>
          </a:xfrm>
          <a:prstGeom prst="rect">
            <a:avLst/>
          </a:prstGeom>
          <a:noFill/>
        </p:spPr>
        <p:txBody>
          <a:bodyPr wrap="square">
            <a:spAutoFit/>
          </a:bodyPr>
          <a:lstStyle/>
          <a:p>
            <a:r>
              <a:rPr lang="zh-CN" altLang="en-US" sz="2400" dirty="0">
                <a:solidFill>
                  <a:srgbClr val="435CC8"/>
                </a:solidFill>
                <a:latin typeface="Microsoft YaHei" panose="020B0503020204020204" pitchFamily="34" charset="-122"/>
                <a:ea typeface="Microsoft YaHei" panose="020B0503020204020204" pitchFamily="34" charset="-122"/>
              </a:rPr>
              <a:t>（两两组合）</a:t>
            </a:r>
          </a:p>
        </p:txBody>
      </p:sp>
    </p:spTree>
    <p:extLst>
      <p:ext uri="{BB962C8B-B14F-4D97-AF65-F5344CB8AC3E}">
        <p14:creationId xmlns:p14="http://schemas.microsoft.com/office/powerpoint/2010/main" val="1631374373"/>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en-US" altLang="zh-CN" dirty="0"/>
              <a:t>Pairwise</a:t>
            </a:r>
            <a:r>
              <a:rPr lang="zh-CN" altLang="en-US" dirty="0"/>
              <a:t>具体示例</a:t>
            </a:r>
            <a:endParaRPr kumimoji="1" lang="zh-CN" altLang="en-US" dirty="0"/>
          </a:p>
        </p:txBody>
      </p:sp>
      <p:sp>
        <p:nvSpPr>
          <p:cNvPr id="4" name="Rectangle 3">
            <a:extLst>
              <a:ext uri="{FF2B5EF4-FFF2-40B4-BE49-F238E27FC236}">
                <a16:creationId xmlns:a16="http://schemas.microsoft.com/office/drawing/2014/main" id="{79E8AD96-08BB-01CC-C9B6-2B823A4DEAF9}"/>
              </a:ext>
            </a:extLst>
          </p:cNvPr>
          <p:cNvSpPr txBox="1">
            <a:spLocks noChangeArrowheads="1"/>
          </p:cNvSpPr>
          <p:nvPr/>
        </p:nvSpPr>
        <p:spPr>
          <a:xfrm>
            <a:off x="590705" y="2078817"/>
            <a:ext cx="3104603" cy="1647351"/>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A3</a:t>
            </a:r>
          </a:p>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B</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B1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B2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B3</a:t>
            </a:r>
          </a:p>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C3</a:t>
            </a:r>
            <a:endPar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endParaRPr>
          </a:p>
        </p:txBody>
      </p:sp>
      <p:sp>
        <p:nvSpPr>
          <p:cNvPr id="8" name="文本框 7">
            <a:extLst>
              <a:ext uri="{FF2B5EF4-FFF2-40B4-BE49-F238E27FC236}">
                <a16:creationId xmlns:a16="http://schemas.microsoft.com/office/drawing/2014/main" id="{F7343B7C-22A8-62D9-73F1-FADB6D1EDB7E}"/>
              </a:ext>
            </a:extLst>
          </p:cNvPr>
          <p:cNvSpPr txBox="1"/>
          <p:nvPr/>
        </p:nvSpPr>
        <p:spPr>
          <a:xfrm>
            <a:off x="1348035" y="901121"/>
            <a:ext cx="2108461" cy="461665"/>
          </a:xfrm>
          <a:prstGeom prst="rect">
            <a:avLst/>
          </a:prstGeom>
          <a:noFill/>
        </p:spPr>
        <p:txBody>
          <a:bodyPr wrap="square">
            <a:spAutoFit/>
          </a:bodyPr>
          <a:lstStyle/>
          <a:p>
            <a:r>
              <a:rPr lang="zh-CN" altLang="en-US" sz="2400" dirty="0">
                <a:solidFill>
                  <a:srgbClr val="435CC8"/>
                </a:solidFill>
                <a:latin typeface="Microsoft YaHei" panose="020B0503020204020204" pitchFamily="34" charset="-122"/>
                <a:ea typeface="Microsoft YaHei" panose="020B0503020204020204" pitchFamily="34" charset="-122"/>
              </a:rPr>
              <a:t>（两两组合）</a:t>
            </a:r>
          </a:p>
        </p:txBody>
      </p:sp>
      <p:sp>
        <p:nvSpPr>
          <p:cNvPr id="5" name="文本框 4">
            <a:extLst>
              <a:ext uri="{FF2B5EF4-FFF2-40B4-BE49-F238E27FC236}">
                <a16:creationId xmlns:a16="http://schemas.microsoft.com/office/drawing/2014/main" id="{2FEA8781-510A-0015-0DFE-B1605BA37020}"/>
              </a:ext>
            </a:extLst>
          </p:cNvPr>
          <p:cNvSpPr txBox="1"/>
          <p:nvPr/>
        </p:nvSpPr>
        <p:spPr>
          <a:xfrm>
            <a:off x="590706" y="4239652"/>
            <a:ext cx="3570208" cy="461665"/>
          </a:xfrm>
          <a:prstGeom prst="rect">
            <a:avLst/>
          </a:prstGeom>
          <a:noFill/>
        </p:spPr>
        <p:txBody>
          <a:bodyPr wrap="none" rtlCol="0">
            <a:spAutoFit/>
          </a:bodyPr>
          <a:lstStyle/>
          <a:p>
            <a:r>
              <a:rPr kumimoji="1" lang="zh-CN" altLang="en-US" sz="2400" dirty="0">
                <a:solidFill>
                  <a:srgbClr val="C00000"/>
                </a:solidFill>
                <a:latin typeface="Microsoft YaHei" panose="020B0503020204020204" pitchFamily="34" charset="-122"/>
                <a:ea typeface="Microsoft YaHei" panose="020B0503020204020204" pitchFamily="34" charset="-122"/>
              </a:rPr>
              <a:t>完全组合测试数是多少？</a:t>
            </a:r>
          </a:p>
        </p:txBody>
      </p:sp>
      <p:sp>
        <p:nvSpPr>
          <p:cNvPr id="7" name="文本框 6">
            <a:extLst>
              <a:ext uri="{FF2B5EF4-FFF2-40B4-BE49-F238E27FC236}">
                <a16:creationId xmlns:a16="http://schemas.microsoft.com/office/drawing/2014/main" id="{AA42724A-ABB0-B057-8E7A-EBE4B6600AE2}"/>
              </a:ext>
            </a:extLst>
          </p:cNvPr>
          <p:cNvSpPr txBox="1"/>
          <p:nvPr/>
        </p:nvSpPr>
        <p:spPr>
          <a:xfrm>
            <a:off x="6382200" y="864540"/>
            <a:ext cx="2646878" cy="461665"/>
          </a:xfrm>
          <a:prstGeom prst="rect">
            <a:avLst/>
          </a:prstGeom>
          <a:noFill/>
        </p:spPr>
        <p:txBody>
          <a:bodyPr wrap="none" rtlCol="0">
            <a:spAutoFit/>
          </a:bodyPr>
          <a:lstStyle/>
          <a:p>
            <a:r>
              <a:rPr kumimoji="1" lang="zh-CN" altLang="en-US" sz="2400" dirty="0">
                <a:solidFill>
                  <a:srgbClr val="C00000"/>
                </a:solidFill>
                <a:latin typeface="Microsoft YaHei" panose="020B0503020204020204" pitchFamily="34" charset="-122"/>
                <a:ea typeface="Microsoft YaHei" panose="020B0503020204020204" pitchFamily="34" charset="-122"/>
              </a:rPr>
              <a:t>开始两两组合设计</a:t>
            </a:r>
          </a:p>
        </p:txBody>
      </p:sp>
      <p:sp>
        <p:nvSpPr>
          <p:cNvPr id="9" name="Rectangle 3">
            <a:extLst>
              <a:ext uri="{FF2B5EF4-FFF2-40B4-BE49-F238E27FC236}">
                <a16:creationId xmlns:a16="http://schemas.microsoft.com/office/drawing/2014/main" id="{C77DFC94-521A-122C-9A8A-FA5B0FAB7E66}"/>
              </a:ext>
            </a:extLst>
          </p:cNvPr>
          <p:cNvSpPr txBox="1">
            <a:spLocks noChangeArrowheads="1"/>
          </p:cNvSpPr>
          <p:nvPr/>
        </p:nvSpPr>
        <p:spPr>
          <a:xfrm>
            <a:off x="6470184" y="1272629"/>
            <a:ext cx="3104603" cy="1647351"/>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C1</a:t>
            </a:r>
          </a:p>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C2</a:t>
            </a:r>
          </a:p>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B3</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C3</a:t>
            </a:r>
          </a:p>
        </p:txBody>
      </p:sp>
      <p:sp>
        <p:nvSpPr>
          <p:cNvPr id="10" name="Rectangle 3">
            <a:extLst>
              <a:ext uri="{FF2B5EF4-FFF2-40B4-BE49-F238E27FC236}">
                <a16:creationId xmlns:a16="http://schemas.microsoft.com/office/drawing/2014/main" id="{24B7653E-54D5-10B1-C06F-8635287E9456}"/>
              </a:ext>
            </a:extLst>
          </p:cNvPr>
          <p:cNvSpPr txBox="1">
            <a:spLocks noChangeArrowheads="1"/>
          </p:cNvSpPr>
          <p:nvPr/>
        </p:nvSpPr>
        <p:spPr>
          <a:xfrm>
            <a:off x="6470184" y="2919979"/>
            <a:ext cx="3104603" cy="1647351"/>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C2</a:t>
            </a:r>
          </a:p>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C3</a:t>
            </a:r>
          </a:p>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B3</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C1</a:t>
            </a:r>
          </a:p>
        </p:txBody>
      </p:sp>
      <p:sp>
        <p:nvSpPr>
          <p:cNvPr id="11" name="Rectangle 3">
            <a:extLst>
              <a:ext uri="{FF2B5EF4-FFF2-40B4-BE49-F238E27FC236}">
                <a16:creationId xmlns:a16="http://schemas.microsoft.com/office/drawing/2014/main" id="{EF66F406-A4FF-D1B4-35D2-D1EAA68544F9}"/>
              </a:ext>
            </a:extLst>
          </p:cNvPr>
          <p:cNvSpPr txBox="1">
            <a:spLocks noChangeArrowheads="1"/>
          </p:cNvSpPr>
          <p:nvPr/>
        </p:nvSpPr>
        <p:spPr>
          <a:xfrm>
            <a:off x="6470184" y="4567330"/>
            <a:ext cx="3104603" cy="1647351"/>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A3</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B1</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C3</a:t>
            </a:r>
          </a:p>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A3</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B2</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C1</a:t>
            </a:r>
          </a:p>
          <a:p>
            <a:pPr marL="355591" indent="-355591" eaLnBrk="0" hangingPunct="0">
              <a:lnSpc>
                <a:spcPct val="150000"/>
              </a:lnSpc>
              <a:spcBef>
                <a:spcPct val="0"/>
              </a:spcBef>
              <a:buClr>
                <a:srgbClr val="91AC4E"/>
              </a:buClr>
              <a:buSzPct val="80000"/>
              <a:buFont typeface="Wingdings" pitchFamily="2" charset="2"/>
              <a:buChar char="p"/>
              <a:defRPr/>
            </a:pPr>
            <a:r>
              <a:rPr lang="en-US" altLang="zh-CN" sz="2400" dirty="0">
                <a:solidFill>
                  <a:srgbClr val="0070C0"/>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A3</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solidFill>
                  <a:schemeClr val="accent2">
                    <a:lumMod val="75000"/>
                  </a:schemeClr>
                </a:solidFill>
                <a:effectLst>
                  <a:outerShdw blurRad="38100" dist="38100" dir="2700000" algn="tl">
                    <a:srgbClr val="FFFFFF"/>
                  </a:outerShdw>
                </a:effectLst>
                <a:latin typeface="Arial" panose="020B0604020202020204" pitchFamily="34" charset="0"/>
                <a:ea typeface="宋体"/>
                <a:cs typeface="Arial" panose="020B0604020202020204" pitchFamily="34" charset="0"/>
              </a:rPr>
              <a:t>B3</a:t>
            </a:r>
            <a:r>
              <a:rPr lang="zh-CN" altLang="en-US"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a:t>
            </a:r>
            <a:r>
              <a:rPr lang="en-US" altLang="zh-CN" sz="2400" dirty="0">
                <a:effectLst>
                  <a:outerShdw blurRad="38100" dist="38100" dir="2700000" algn="tl">
                    <a:srgbClr val="FFFFFF"/>
                  </a:outerShdw>
                </a:effectLst>
                <a:latin typeface="Arial" panose="020B0604020202020204" pitchFamily="34" charset="0"/>
                <a:ea typeface="宋体"/>
                <a:cs typeface="Arial" panose="020B0604020202020204" pitchFamily="34" charset="0"/>
              </a:rPr>
              <a:t>C2</a:t>
            </a:r>
          </a:p>
        </p:txBody>
      </p:sp>
    </p:spTree>
    <p:extLst>
      <p:ext uri="{BB962C8B-B14F-4D97-AF65-F5344CB8AC3E}">
        <p14:creationId xmlns:p14="http://schemas.microsoft.com/office/powerpoint/2010/main" val="27289398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p:tgtEl>
                                          <p:spTgt spid="9"/>
                                        </p:tgtEl>
                                        <p:attrNameLst>
                                          <p:attrName>ppt_y</p:attrName>
                                        </p:attrNameLst>
                                      </p:cBhvr>
                                      <p:tavLst>
                                        <p:tav tm="0">
                                          <p:val>
                                            <p:strVal val="#ppt_y+#ppt_h*1.125000"/>
                                          </p:val>
                                        </p:tav>
                                        <p:tav tm="100000">
                                          <p:val>
                                            <p:strVal val="#ppt_y"/>
                                          </p:val>
                                        </p:tav>
                                      </p:tavLst>
                                    </p:anim>
                                    <p:animEffect transition="in" filter="wipe(up)">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p:tgtEl>
                                          <p:spTgt spid="10"/>
                                        </p:tgtEl>
                                        <p:attrNameLst>
                                          <p:attrName>ppt_y</p:attrName>
                                        </p:attrNameLst>
                                      </p:cBhvr>
                                      <p:tavLst>
                                        <p:tav tm="0">
                                          <p:val>
                                            <p:strVal val="#ppt_y+#ppt_h*1.125000"/>
                                          </p:val>
                                        </p:tav>
                                        <p:tav tm="100000">
                                          <p:val>
                                            <p:strVal val="#ppt_y"/>
                                          </p:val>
                                        </p:tav>
                                      </p:tavLst>
                                    </p:anim>
                                    <p:animEffect transition="in" filter="wipe(up)">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p:tgtEl>
                                          <p:spTgt spid="11"/>
                                        </p:tgtEl>
                                        <p:attrNameLst>
                                          <p:attrName>ppt_y</p:attrName>
                                        </p:attrNameLst>
                                      </p:cBhvr>
                                      <p:tavLst>
                                        <p:tav tm="0">
                                          <p:val>
                                            <p:strVal val="#ppt_y+#ppt_h*1.125000"/>
                                          </p:val>
                                        </p:tav>
                                        <p:tav tm="100000">
                                          <p:val>
                                            <p:strVal val="#ppt_y"/>
                                          </p:val>
                                        </p:tav>
                                      </p:tavLst>
                                    </p:anim>
                                    <p:animEffect transition="in" filter="wipe(up)">
                                      <p:cBhvr>
                                        <p:cTn id="3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en-US" altLang="zh-CN" dirty="0"/>
              <a:t>Pairwise</a:t>
            </a:r>
            <a:r>
              <a:rPr lang="zh-CN" altLang="en-US" dirty="0"/>
              <a:t>处理更复杂的情况</a:t>
            </a:r>
            <a:endParaRPr kumimoji="1" lang="zh-CN" altLang="en-US" dirty="0"/>
          </a:p>
        </p:txBody>
      </p:sp>
      <p:sp>
        <p:nvSpPr>
          <p:cNvPr id="3" name="矩形 2">
            <a:extLst>
              <a:ext uri="{FF2B5EF4-FFF2-40B4-BE49-F238E27FC236}">
                <a16:creationId xmlns:a16="http://schemas.microsoft.com/office/drawing/2014/main" id="{2078A2DA-C5F6-1905-73CC-5690D2192E16}"/>
              </a:ext>
            </a:extLst>
          </p:cNvPr>
          <p:cNvSpPr/>
          <p:nvPr/>
        </p:nvSpPr>
        <p:spPr>
          <a:xfrm>
            <a:off x="233058" y="1697543"/>
            <a:ext cx="5862943" cy="3431773"/>
          </a:xfrm>
          <a:prstGeom prst="rect">
            <a:avLst/>
          </a:prstGeom>
          <a:noFill/>
        </p:spPr>
        <p:txBody>
          <a:bodyPr wrap="square">
            <a:spAutoFit/>
          </a:bodyPr>
          <a:lstStyle/>
          <a:p>
            <a:pPr marL="421207" indent="-421207" eaLnBrk="0" hangingPunct="0">
              <a:lnSpc>
                <a:spcPct val="130000"/>
              </a:lnSpc>
              <a:spcBef>
                <a:spcPct val="30000"/>
              </a:spcBef>
              <a:buClr>
                <a:srgbClr val="91AC4E"/>
              </a:buClr>
              <a:buSzPct val="80000"/>
              <a:buFont typeface="Wingdings" pitchFamily="2" charset="2"/>
              <a:buChar char="p"/>
              <a:defRPr/>
            </a:pPr>
            <a:r>
              <a:rPr lang="zh-CN" altLang="zh-CN" sz="2133" dirty="0">
                <a:solidFill>
                  <a:srgbClr val="000090"/>
                </a:solidFill>
                <a:latin typeface="Microsoft YaHei" panose="020B0503020204020204" pitchFamily="34" charset="-122"/>
                <a:ea typeface="Microsoft YaHei" panose="020B0503020204020204" pitchFamily="34" charset="-122"/>
                <a:cs typeface="宋体"/>
              </a:rPr>
              <a:t>曝光值</a:t>
            </a:r>
            <a:r>
              <a:rPr lang="zh-CN"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TW" sz="2133" dirty="0">
                <a:solidFill>
                  <a:srgbClr val="000090"/>
                </a:solidFill>
                <a:latin typeface="Microsoft YaHei" panose="020B0503020204020204" pitchFamily="34" charset="-122"/>
                <a:ea typeface="Microsoft YaHei" panose="020B0503020204020204" pitchFamily="34" charset="-122"/>
                <a:cs typeface="宋体"/>
              </a:rPr>
              <a:t>-2.0</a:t>
            </a:r>
            <a:r>
              <a:rPr lang="zh-TW"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TW" sz="2133" dirty="0">
                <a:solidFill>
                  <a:srgbClr val="000090"/>
                </a:solidFill>
                <a:latin typeface="Microsoft YaHei" panose="020B0503020204020204" pitchFamily="34" charset="-122"/>
                <a:ea typeface="Microsoft YaHei" panose="020B0503020204020204" pitchFamily="34" charset="-122"/>
                <a:cs typeface="宋体"/>
              </a:rPr>
              <a:t>-1.5</a:t>
            </a:r>
            <a:r>
              <a:rPr lang="zh-TW"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TW" sz="2133" dirty="0">
                <a:solidFill>
                  <a:srgbClr val="000090"/>
                </a:solidFill>
                <a:latin typeface="Microsoft YaHei" panose="020B0503020204020204" pitchFamily="34" charset="-122"/>
                <a:ea typeface="Microsoft YaHei" panose="020B0503020204020204" pitchFamily="34" charset="-122"/>
                <a:cs typeface="宋体"/>
              </a:rPr>
              <a:t>-1</a:t>
            </a:r>
            <a:r>
              <a:rPr lang="zh-TW"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TW" sz="2133" dirty="0">
                <a:solidFill>
                  <a:srgbClr val="000090"/>
                </a:solidFill>
                <a:latin typeface="Microsoft YaHei" panose="020B0503020204020204" pitchFamily="34" charset="-122"/>
                <a:ea typeface="Microsoft YaHei" panose="020B0503020204020204" pitchFamily="34" charset="-122"/>
                <a:cs typeface="宋体"/>
              </a:rPr>
              <a:t>-0.5</a:t>
            </a:r>
            <a:r>
              <a:rPr lang="zh-CN" altLang="en-US" sz="2133" dirty="0">
                <a:solidFill>
                  <a:srgbClr val="000090"/>
                </a:solidFill>
                <a:latin typeface="Microsoft YaHei" panose="020B0503020204020204" pitchFamily="34" charset="-122"/>
                <a:ea typeface="Microsoft YaHei" panose="020B0503020204020204" pitchFamily="34" charset="-122"/>
                <a:cs typeface="宋体"/>
              </a:rPr>
              <a:t> </a:t>
            </a:r>
            <a:r>
              <a:rPr lang="zh-TW" altLang="en-US" sz="2133" dirty="0">
                <a:solidFill>
                  <a:srgbClr val="000090"/>
                </a:solidFill>
                <a:latin typeface="Microsoft YaHei" panose="020B0503020204020204" pitchFamily="34" charset="-122"/>
                <a:ea typeface="Microsoft YaHei" panose="020B0503020204020204" pitchFamily="34" charset="-122"/>
                <a:cs typeface="宋体"/>
              </a:rPr>
              <a:t>和 </a:t>
            </a:r>
            <a:r>
              <a:rPr lang="en-US" altLang="zh-TW" sz="2133" dirty="0">
                <a:solidFill>
                  <a:srgbClr val="000090"/>
                </a:solidFill>
                <a:latin typeface="Microsoft YaHei" panose="020B0503020204020204" pitchFamily="34" charset="-122"/>
                <a:ea typeface="Microsoft YaHei" panose="020B0503020204020204" pitchFamily="34" charset="-122"/>
                <a:cs typeface="宋体"/>
              </a:rPr>
              <a:t>+0.5</a:t>
            </a:r>
            <a:r>
              <a:rPr lang="zh-TW"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TW" sz="2133" dirty="0">
                <a:solidFill>
                  <a:srgbClr val="000090"/>
                </a:solidFill>
                <a:latin typeface="Microsoft YaHei" panose="020B0503020204020204" pitchFamily="34" charset="-122"/>
                <a:ea typeface="Microsoft YaHei" panose="020B0503020204020204" pitchFamily="34" charset="-122"/>
                <a:cs typeface="宋体"/>
              </a:rPr>
              <a:t>+1</a:t>
            </a:r>
            <a:r>
              <a:rPr lang="zh-TW"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TW" sz="2133" dirty="0">
                <a:solidFill>
                  <a:srgbClr val="000090"/>
                </a:solidFill>
                <a:latin typeface="Microsoft YaHei" panose="020B0503020204020204" pitchFamily="34" charset="-122"/>
                <a:ea typeface="Microsoft YaHei" panose="020B0503020204020204" pitchFamily="34" charset="-122"/>
                <a:cs typeface="宋体"/>
              </a:rPr>
              <a:t>+1.5</a:t>
            </a:r>
            <a:r>
              <a:rPr lang="zh-TW"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TW" sz="2133" dirty="0">
                <a:solidFill>
                  <a:srgbClr val="000090"/>
                </a:solidFill>
                <a:latin typeface="Microsoft YaHei" panose="020B0503020204020204" pitchFamily="34" charset="-122"/>
                <a:ea typeface="Microsoft YaHei" panose="020B0503020204020204" pitchFamily="34" charset="-122"/>
                <a:cs typeface="宋体"/>
              </a:rPr>
              <a:t>+2</a:t>
            </a:r>
            <a:r>
              <a:rPr lang="zh-CN" altLang="en-US" sz="2133" dirty="0">
                <a:solidFill>
                  <a:srgbClr val="000090"/>
                </a:solidFill>
                <a:latin typeface="Microsoft YaHei" panose="020B0503020204020204" pitchFamily="34" charset="-122"/>
                <a:ea typeface="Microsoft YaHei" panose="020B0503020204020204" pitchFamily="34" charset="-122"/>
                <a:cs typeface="宋体"/>
              </a:rPr>
              <a:t> </a:t>
            </a:r>
            <a:endParaRPr lang="en-US" altLang="zh-CN" sz="2133" dirty="0">
              <a:solidFill>
                <a:srgbClr val="000090"/>
              </a:solidFill>
              <a:latin typeface="Microsoft YaHei" panose="020B0503020204020204" pitchFamily="34" charset="-122"/>
              <a:ea typeface="Microsoft YaHei" panose="020B0503020204020204" pitchFamily="34" charset="-122"/>
              <a:cs typeface="宋体"/>
            </a:endParaRPr>
          </a:p>
          <a:p>
            <a:pPr marL="421207" indent="-421207" eaLnBrk="0" hangingPunct="0">
              <a:lnSpc>
                <a:spcPct val="130000"/>
              </a:lnSpc>
              <a:spcBef>
                <a:spcPct val="30000"/>
              </a:spcBef>
              <a:buClr>
                <a:srgbClr val="91AC4E"/>
              </a:buClr>
              <a:buSzPct val="80000"/>
              <a:buFont typeface="Wingdings" pitchFamily="2" charset="2"/>
              <a:buChar char="p"/>
              <a:defRPr/>
            </a:pPr>
            <a:r>
              <a:rPr lang="zh-CN" altLang="zh-CN" sz="2133" dirty="0">
                <a:solidFill>
                  <a:srgbClr val="000090"/>
                </a:solidFill>
                <a:latin typeface="Microsoft YaHei" panose="020B0503020204020204" pitchFamily="34" charset="-122"/>
                <a:ea typeface="Microsoft YaHei" panose="020B0503020204020204" pitchFamily="34" charset="-122"/>
                <a:cs typeface="宋体"/>
              </a:rPr>
              <a:t>白平衡</a:t>
            </a:r>
            <a:r>
              <a:rPr lang="zh-CN" altLang="en-US" sz="2133" dirty="0">
                <a:solidFill>
                  <a:srgbClr val="000090"/>
                </a:solidFill>
                <a:latin typeface="Microsoft YaHei" panose="020B0503020204020204" pitchFamily="34" charset="-122"/>
                <a:ea typeface="Microsoft YaHei" panose="020B0503020204020204" pitchFamily="34" charset="-122"/>
                <a:cs typeface="宋体"/>
              </a:rPr>
              <a:t>：白炽灯、荧光灯、闪光灯、阴天等</a:t>
            </a:r>
            <a:endParaRPr lang="en-US" altLang="zh-CN" sz="2133" dirty="0">
              <a:solidFill>
                <a:srgbClr val="000090"/>
              </a:solidFill>
              <a:latin typeface="Microsoft YaHei" panose="020B0503020204020204" pitchFamily="34" charset="-122"/>
              <a:ea typeface="Microsoft YaHei" panose="020B0503020204020204" pitchFamily="34" charset="-122"/>
              <a:cs typeface="宋体"/>
            </a:endParaRPr>
          </a:p>
          <a:p>
            <a:pPr marL="421207" indent="-421207" eaLnBrk="0" hangingPunct="0">
              <a:lnSpc>
                <a:spcPct val="130000"/>
              </a:lnSpc>
              <a:spcBef>
                <a:spcPct val="30000"/>
              </a:spcBef>
              <a:buClr>
                <a:srgbClr val="91AC4E"/>
              </a:buClr>
              <a:buSzPct val="80000"/>
              <a:buFont typeface="Wingdings" pitchFamily="2" charset="2"/>
              <a:buChar char="p"/>
              <a:defRPr/>
            </a:pPr>
            <a:r>
              <a:rPr lang="zh-CN" altLang="zh-CN" sz="2133" dirty="0">
                <a:solidFill>
                  <a:srgbClr val="000090"/>
                </a:solidFill>
                <a:latin typeface="Microsoft YaHei" panose="020B0503020204020204" pitchFamily="34" charset="-122"/>
                <a:ea typeface="Microsoft YaHei" panose="020B0503020204020204" pitchFamily="34" charset="-122"/>
                <a:cs typeface="宋体"/>
              </a:rPr>
              <a:t>感光度</a:t>
            </a:r>
            <a:r>
              <a:rPr lang="zh-CN" altLang="en-US" sz="2133" dirty="0">
                <a:solidFill>
                  <a:srgbClr val="000090"/>
                </a:solidFill>
                <a:latin typeface="Microsoft YaHei" panose="020B0503020204020204" pitchFamily="34" charset="-122"/>
                <a:ea typeface="Microsoft YaHei" panose="020B0503020204020204" pitchFamily="34" charset="-122"/>
                <a:cs typeface="宋体"/>
              </a:rPr>
              <a:t>：自动，</a:t>
            </a:r>
            <a:r>
              <a:rPr lang="en-US" altLang="zh-CN" sz="2133" dirty="0">
                <a:solidFill>
                  <a:srgbClr val="000090"/>
                </a:solidFill>
                <a:latin typeface="Microsoft YaHei" panose="020B0503020204020204" pitchFamily="34" charset="-122"/>
                <a:ea typeface="Microsoft YaHei" panose="020B0503020204020204" pitchFamily="34" charset="-122"/>
                <a:cs typeface="宋体"/>
              </a:rPr>
              <a:t>100</a:t>
            </a:r>
            <a:r>
              <a:rPr lang="zh-CN"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CN" sz="2133" dirty="0">
                <a:solidFill>
                  <a:srgbClr val="000090"/>
                </a:solidFill>
                <a:latin typeface="Microsoft YaHei" panose="020B0503020204020204" pitchFamily="34" charset="-122"/>
                <a:ea typeface="Microsoft YaHei" panose="020B0503020204020204" pitchFamily="34" charset="-122"/>
                <a:cs typeface="宋体"/>
              </a:rPr>
              <a:t>200</a:t>
            </a:r>
            <a:r>
              <a:rPr lang="zh-CN"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CN" sz="2133" dirty="0">
                <a:solidFill>
                  <a:srgbClr val="000090"/>
                </a:solidFill>
                <a:latin typeface="Microsoft YaHei" panose="020B0503020204020204" pitchFamily="34" charset="-122"/>
                <a:ea typeface="Microsoft YaHei" panose="020B0503020204020204" pitchFamily="34" charset="-122"/>
                <a:cs typeface="宋体"/>
              </a:rPr>
              <a:t>400</a:t>
            </a:r>
            <a:r>
              <a:rPr lang="zh-CN"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CN" sz="2133" dirty="0">
                <a:solidFill>
                  <a:srgbClr val="000090"/>
                </a:solidFill>
                <a:latin typeface="Microsoft YaHei" panose="020B0503020204020204" pitchFamily="34" charset="-122"/>
                <a:ea typeface="Microsoft YaHei" panose="020B0503020204020204" pitchFamily="34" charset="-122"/>
                <a:cs typeface="宋体"/>
              </a:rPr>
              <a:t>800</a:t>
            </a:r>
            <a:r>
              <a:rPr lang="zh-CN"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CN" sz="2133" dirty="0">
                <a:solidFill>
                  <a:srgbClr val="000090"/>
                </a:solidFill>
                <a:latin typeface="Microsoft YaHei" panose="020B0503020204020204" pitchFamily="34" charset="-122"/>
                <a:ea typeface="Microsoft YaHei" panose="020B0503020204020204" pitchFamily="34" charset="-122"/>
                <a:cs typeface="宋体"/>
              </a:rPr>
              <a:t>1600</a:t>
            </a:r>
            <a:r>
              <a:rPr lang="zh-CN" altLang="en-US" sz="2133" dirty="0">
                <a:solidFill>
                  <a:srgbClr val="000090"/>
                </a:solidFill>
                <a:latin typeface="Microsoft YaHei" panose="020B0503020204020204" pitchFamily="34" charset="-122"/>
                <a:ea typeface="Microsoft YaHei" panose="020B0503020204020204" pitchFamily="34" charset="-122"/>
                <a:cs typeface="宋体"/>
              </a:rPr>
              <a:t>，</a:t>
            </a:r>
            <a:r>
              <a:rPr lang="en-US" altLang="zh-CN" sz="2133" dirty="0">
                <a:solidFill>
                  <a:srgbClr val="000090"/>
                </a:solidFill>
                <a:latin typeface="Microsoft YaHei" panose="020B0503020204020204" pitchFamily="34" charset="-122"/>
                <a:ea typeface="Microsoft YaHei" panose="020B0503020204020204" pitchFamily="34" charset="-122"/>
                <a:cs typeface="宋体"/>
              </a:rPr>
              <a:t>3200</a:t>
            </a:r>
          </a:p>
          <a:p>
            <a:pPr marL="421207" indent="-421207" eaLnBrk="0" hangingPunct="0">
              <a:lnSpc>
                <a:spcPct val="130000"/>
              </a:lnSpc>
              <a:spcBef>
                <a:spcPct val="30000"/>
              </a:spcBef>
              <a:buClr>
                <a:srgbClr val="91AC4E"/>
              </a:buClr>
              <a:buSzPct val="80000"/>
              <a:buFont typeface="Wingdings" pitchFamily="2" charset="2"/>
              <a:buChar char="p"/>
              <a:defRPr/>
            </a:pPr>
            <a:r>
              <a:rPr lang="en-US" altLang="zh-CN" sz="2133" dirty="0">
                <a:solidFill>
                  <a:srgbClr val="000090"/>
                </a:solidFill>
                <a:latin typeface="Microsoft YaHei" panose="020B0503020204020204" pitchFamily="34" charset="-122"/>
                <a:ea typeface="Microsoft YaHei" panose="020B0503020204020204" pitchFamily="34" charset="-122"/>
                <a:cs typeface="宋体"/>
              </a:rPr>
              <a:t> </a:t>
            </a:r>
            <a:r>
              <a:rPr lang="zh-CN" altLang="en-US" sz="2133" dirty="0">
                <a:solidFill>
                  <a:srgbClr val="000090"/>
                </a:solidFill>
                <a:latin typeface="Microsoft YaHei" panose="020B0503020204020204" pitchFamily="34" charset="-122"/>
                <a:ea typeface="Microsoft YaHei" panose="020B0503020204020204" pitchFamily="34" charset="-122"/>
                <a:cs typeface="宋体"/>
              </a:rPr>
              <a:t>分辨率：低，中，高，超高</a:t>
            </a:r>
            <a:endParaRPr lang="en-US" altLang="zh-CN" sz="2133" dirty="0">
              <a:solidFill>
                <a:srgbClr val="000090"/>
              </a:solidFill>
              <a:latin typeface="Microsoft YaHei" panose="020B0503020204020204" pitchFamily="34" charset="-122"/>
              <a:ea typeface="Microsoft YaHei" panose="020B0503020204020204" pitchFamily="34" charset="-122"/>
              <a:cs typeface="宋体"/>
            </a:endParaRPr>
          </a:p>
          <a:p>
            <a:pPr marL="421207" indent="-421207" eaLnBrk="0" hangingPunct="0">
              <a:lnSpc>
                <a:spcPct val="130000"/>
              </a:lnSpc>
              <a:spcBef>
                <a:spcPct val="30000"/>
              </a:spcBef>
              <a:buClr>
                <a:srgbClr val="91AC4E"/>
              </a:buClr>
              <a:buSzPct val="80000"/>
              <a:buFont typeface="Wingdings" pitchFamily="2" charset="2"/>
              <a:buChar char="p"/>
              <a:defRPr/>
            </a:pPr>
            <a:r>
              <a:rPr lang="zh-CN" altLang="en-US" sz="2133" dirty="0">
                <a:solidFill>
                  <a:srgbClr val="000090"/>
                </a:solidFill>
                <a:latin typeface="Microsoft YaHei" panose="020B0503020204020204" pitchFamily="34" charset="-122"/>
                <a:ea typeface="Microsoft YaHei" panose="020B0503020204020204" pitchFamily="34" charset="-122"/>
                <a:cs typeface="宋体"/>
              </a:rPr>
              <a:t>效果：无，负片，灰度，深褐色</a:t>
            </a:r>
            <a:r>
              <a:rPr lang="zh-CN" altLang="zh-CN" sz="2133" dirty="0">
                <a:solidFill>
                  <a:srgbClr val="000090"/>
                </a:solidFill>
                <a:latin typeface="Microsoft YaHei" panose="020B0503020204020204" pitchFamily="34" charset="-122"/>
                <a:ea typeface="Microsoft YaHei" panose="020B0503020204020204" pitchFamily="34" charset="-122"/>
                <a:cs typeface="宋体"/>
              </a:rPr>
              <a:t> </a:t>
            </a:r>
            <a:endParaRPr lang="zh-CN" altLang="en-US" sz="2133" dirty="0">
              <a:solidFill>
                <a:srgbClr val="000090"/>
              </a:solidFill>
              <a:latin typeface="Microsoft YaHei" panose="020B0503020204020204" pitchFamily="34" charset="-122"/>
              <a:ea typeface="Microsoft YaHei" panose="020B0503020204020204" pitchFamily="34" charset="-122"/>
              <a:cs typeface="宋体"/>
            </a:endParaRPr>
          </a:p>
        </p:txBody>
      </p:sp>
      <p:pic>
        <p:nvPicPr>
          <p:cNvPr id="5" name="图片 4" descr="屏幕快照 2014-09-07 下午3.55.38.png">
            <a:extLst>
              <a:ext uri="{FF2B5EF4-FFF2-40B4-BE49-F238E27FC236}">
                <a16:creationId xmlns:a16="http://schemas.microsoft.com/office/drawing/2014/main" id="{C3C93CBC-D641-88BF-C8DC-099E0E6F367A}"/>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3829" y="1697543"/>
            <a:ext cx="5533852" cy="3024336"/>
          </a:xfrm>
          <a:prstGeom prst="rect">
            <a:avLst/>
          </a:prstGeom>
        </p:spPr>
      </p:pic>
      <p:sp>
        <p:nvSpPr>
          <p:cNvPr id="6" name="文本框 5">
            <a:extLst>
              <a:ext uri="{FF2B5EF4-FFF2-40B4-BE49-F238E27FC236}">
                <a16:creationId xmlns:a16="http://schemas.microsoft.com/office/drawing/2014/main" id="{F74D0565-A401-C295-5700-17E8363B9167}"/>
              </a:ext>
            </a:extLst>
          </p:cNvPr>
          <p:cNvSpPr txBox="1"/>
          <p:nvPr/>
        </p:nvSpPr>
        <p:spPr>
          <a:xfrm>
            <a:off x="507605" y="5436785"/>
            <a:ext cx="5250155" cy="535531"/>
          </a:xfrm>
          <a:prstGeom prst="rect">
            <a:avLst/>
          </a:prstGeom>
          <a:noFill/>
        </p:spPr>
        <p:txBody>
          <a:bodyPr wrap="none" rtlCol="0">
            <a:spAutoFit/>
          </a:bodyPr>
          <a:lstStyle/>
          <a:p>
            <a:r>
              <a:rPr kumimoji="1" lang="zh-CN" altLang="en-US" sz="2880" dirty="0">
                <a:solidFill>
                  <a:srgbClr val="FF6600"/>
                </a:solidFill>
                <a:latin typeface="Microsoft YaHei" panose="020B0503020204020204" pitchFamily="34" charset="-122"/>
                <a:ea typeface="Microsoft YaHei" panose="020B0503020204020204" pitchFamily="34" charset="-122"/>
              </a:rPr>
              <a:t>完整组合：</a:t>
            </a:r>
            <a:r>
              <a:rPr kumimoji="1" lang="en-US" altLang="zh-CN" sz="2880" dirty="0">
                <a:solidFill>
                  <a:srgbClr val="FF6600"/>
                </a:solidFill>
                <a:latin typeface="Microsoft YaHei" panose="020B0503020204020204" pitchFamily="34" charset="-122"/>
                <a:ea typeface="Microsoft YaHei" panose="020B0503020204020204" pitchFamily="34" charset="-122"/>
              </a:rPr>
              <a:t>8</a:t>
            </a:r>
            <a:r>
              <a:rPr kumimoji="1" lang="zh-CN" altLang="en-US" sz="2880" dirty="0">
                <a:solidFill>
                  <a:srgbClr val="FF6600"/>
                </a:solidFill>
                <a:latin typeface="Microsoft YaHei" panose="020B0503020204020204" pitchFamily="34" charset="-122"/>
                <a:ea typeface="Microsoft YaHei" panose="020B0503020204020204" pitchFamily="34" charset="-122"/>
              </a:rPr>
              <a:t>*</a:t>
            </a:r>
            <a:r>
              <a:rPr kumimoji="1" lang="en-US" altLang="zh-CN" sz="2880" dirty="0">
                <a:solidFill>
                  <a:srgbClr val="FF6600"/>
                </a:solidFill>
                <a:latin typeface="Microsoft YaHei" panose="020B0503020204020204" pitchFamily="34" charset="-122"/>
                <a:ea typeface="Microsoft YaHei" panose="020B0503020204020204" pitchFamily="34" charset="-122"/>
              </a:rPr>
              <a:t>4</a:t>
            </a:r>
            <a:r>
              <a:rPr kumimoji="1" lang="zh-CN" altLang="en-US" sz="2880" dirty="0">
                <a:solidFill>
                  <a:srgbClr val="FF6600"/>
                </a:solidFill>
                <a:latin typeface="Microsoft YaHei" panose="020B0503020204020204" pitchFamily="34" charset="-122"/>
                <a:ea typeface="Microsoft YaHei" panose="020B0503020204020204" pitchFamily="34" charset="-122"/>
              </a:rPr>
              <a:t>*</a:t>
            </a:r>
            <a:r>
              <a:rPr kumimoji="1" lang="en-US" altLang="zh-CN" sz="2880" dirty="0">
                <a:solidFill>
                  <a:srgbClr val="FF6600"/>
                </a:solidFill>
                <a:latin typeface="Microsoft YaHei" panose="020B0503020204020204" pitchFamily="34" charset="-122"/>
                <a:ea typeface="Microsoft YaHei" panose="020B0503020204020204" pitchFamily="34" charset="-122"/>
              </a:rPr>
              <a:t>7</a:t>
            </a:r>
            <a:r>
              <a:rPr kumimoji="1" lang="zh-CN" altLang="en-US" sz="2880" dirty="0">
                <a:solidFill>
                  <a:srgbClr val="FF6600"/>
                </a:solidFill>
                <a:latin typeface="Microsoft YaHei" panose="020B0503020204020204" pitchFamily="34" charset="-122"/>
                <a:ea typeface="Microsoft YaHei" panose="020B0503020204020204" pitchFamily="34" charset="-122"/>
              </a:rPr>
              <a:t>*</a:t>
            </a:r>
            <a:r>
              <a:rPr kumimoji="1" lang="en-US" altLang="zh-CN" sz="2880" dirty="0">
                <a:solidFill>
                  <a:srgbClr val="FF6600"/>
                </a:solidFill>
                <a:latin typeface="Microsoft YaHei" panose="020B0503020204020204" pitchFamily="34" charset="-122"/>
                <a:ea typeface="Microsoft YaHei" panose="020B0503020204020204" pitchFamily="34" charset="-122"/>
              </a:rPr>
              <a:t>4</a:t>
            </a:r>
            <a:r>
              <a:rPr kumimoji="1" lang="zh-CN" altLang="en-US" sz="2880" dirty="0">
                <a:solidFill>
                  <a:srgbClr val="FF6600"/>
                </a:solidFill>
                <a:latin typeface="Microsoft YaHei" panose="020B0503020204020204" pitchFamily="34" charset="-122"/>
                <a:ea typeface="Microsoft YaHei" panose="020B0503020204020204" pitchFamily="34" charset="-122"/>
              </a:rPr>
              <a:t>*</a:t>
            </a:r>
            <a:r>
              <a:rPr kumimoji="1" lang="en-US" altLang="zh-CN" sz="2880" dirty="0">
                <a:solidFill>
                  <a:srgbClr val="FF6600"/>
                </a:solidFill>
                <a:latin typeface="Microsoft YaHei" panose="020B0503020204020204" pitchFamily="34" charset="-122"/>
                <a:ea typeface="Microsoft YaHei" panose="020B0503020204020204" pitchFamily="34" charset="-122"/>
              </a:rPr>
              <a:t>4</a:t>
            </a:r>
            <a:r>
              <a:rPr kumimoji="1" lang="zh-CN" altLang="en-US" sz="2880" dirty="0">
                <a:solidFill>
                  <a:srgbClr val="FF6600"/>
                </a:solidFill>
                <a:latin typeface="Microsoft YaHei" panose="020B0503020204020204" pitchFamily="34" charset="-122"/>
                <a:ea typeface="Microsoft YaHei" panose="020B0503020204020204" pitchFamily="34" charset="-122"/>
              </a:rPr>
              <a:t> </a:t>
            </a:r>
            <a:r>
              <a:rPr kumimoji="1" lang="en-US" altLang="zh-CN" sz="2880" dirty="0">
                <a:solidFill>
                  <a:srgbClr val="FF6600"/>
                </a:solidFill>
                <a:latin typeface="Microsoft YaHei" panose="020B0503020204020204" pitchFamily="34" charset="-122"/>
                <a:ea typeface="Microsoft YaHei" panose="020B0503020204020204" pitchFamily="34" charset="-122"/>
              </a:rPr>
              <a:t>=</a:t>
            </a:r>
            <a:r>
              <a:rPr kumimoji="1" lang="zh-CN" altLang="en-US" sz="2880" dirty="0">
                <a:solidFill>
                  <a:srgbClr val="FF6600"/>
                </a:solidFill>
                <a:latin typeface="Microsoft YaHei" panose="020B0503020204020204" pitchFamily="34" charset="-122"/>
                <a:ea typeface="Microsoft YaHei" panose="020B0503020204020204" pitchFamily="34" charset="-122"/>
              </a:rPr>
              <a:t> </a:t>
            </a:r>
            <a:r>
              <a:rPr kumimoji="1" lang="en-US" altLang="zh-CN" sz="2880" dirty="0">
                <a:solidFill>
                  <a:srgbClr val="FF6600"/>
                </a:solidFill>
                <a:latin typeface="Microsoft YaHei" panose="020B0503020204020204" pitchFamily="34" charset="-122"/>
                <a:ea typeface="Microsoft YaHei" panose="020B0503020204020204" pitchFamily="34" charset="-122"/>
              </a:rPr>
              <a:t>3584</a:t>
            </a:r>
            <a:r>
              <a:rPr kumimoji="1" lang="zh-CN" altLang="en-US" sz="2880" dirty="0">
                <a:solidFill>
                  <a:srgbClr val="FF6600"/>
                </a:solidFill>
                <a:latin typeface="Microsoft YaHei" panose="020B0503020204020204" pitchFamily="34" charset="-122"/>
                <a:ea typeface="Microsoft YaHei" panose="020B0503020204020204" pitchFamily="34" charset="-122"/>
              </a:rPr>
              <a:t> </a:t>
            </a:r>
          </a:p>
        </p:txBody>
      </p:sp>
      <p:sp>
        <p:nvSpPr>
          <p:cNvPr id="4" name="文本框 3">
            <a:extLst>
              <a:ext uri="{FF2B5EF4-FFF2-40B4-BE49-F238E27FC236}">
                <a16:creationId xmlns:a16="http://schemas.microsoft.com/office/drawing/2014/main" id="{306C23EA-5B90-07BB-4FF2-84AED30B4673}"/>
              </a:ext>
            </a:extLst>
          </p:cNvPr>
          <p:cNvSpPr txBox="1"/>
          <p:nvPr/>
        </p:nvSpPr>
        <p:spPr>
          <a:xfrm>
            <a:off x="6576950" y="5063378"/>
            <a:ext cx="3522118" cy="978729"/>
          </a:xfrm>
          <a:prstGeom prst="rect">
            <a:avLst/>
          </a:prstGeom>
          <a:noFill/>
        </p:spPr>
        <p:txBody>
          <a:bodyPr wrap="none" rtlCol="0">
            <a:spAutoFit/>
          </a:bodyPr>
          <a:lstStyle/>
          <a:p>
            <a:r>
              <a:rPr kumimoji="1" lang="en-US" altLang="zh-CN" sz="2880" dirty="0">
                <a:solidFill>
                  <a:srgbClr val="FF6600"/>
                </a:solidFill>
                <a:latin typeface="Microsoft YaHei" panose="020B0503020204020204" pitchFamily="34" charset="-122"/>
                <a:ea typeface="Microsoft YaHei" panose="020B0503020204020204" pitchFamily="34" charset="-122"/>
              </a:rPr>
              <a:t>Pairwise</a:t>
            </a:r>
            <a:r>
              <a:rPr kumimoji="1" lang="zh-CN" altLang="en-US" sz="2880" dirty="0">
                <a:solidFill>
                  <a:srgbClr val="FF6600"/>
                </a:solidFill>
                <a:latin typeface="Microsoft YaHei" panose="020B0503020204020204" pitchFamily="34" charset="-122"/>
                <a:ea typeface="Microsoft YaHei" panose="020B0503020204020204" pitchFamily="34" charset="-122"/>
              </a:rPr>
              <a:t>：</a:t>
            </a:r>
            <a:r>
              <a:rPr kumimoji="1" lang="en-US" altLang="zh-CN" sz="2880" dirty="0">
                <a:solidFill>
                  <a:srgbClr val="FF6600"/>
                </a:solidFill>
                <a:latin typeface="Microsoft YaHei" panose="020B0503020204020204" pitchFamily="34" charset="-122"/>
                <a:ea typeface="Microsoft YaHei" panose="020B0503020204020204" pitchFamily="34" charset="-122"/>
              </a:rPr>
              <a:t>8</a:t>
            </a:r>
            <a:r>
              <a:rPr kumimoji="1" lang="zh-CN" altLang="en-US" sz="2880" dirty="0">
                <a:solidFill>
                  <a:srgbClr val="FF6600"/>
                </a:solidFill>
                <a:latin typeface="Microsoft YaHei" panose="020B0503020204020204" pitchFamily="34" charset="-122"/>
                <a:ea typeface="Microsoft YaHei" panose="020B0503020204020204" pitchFamily="34" charset="-122"/>
              </a:rPr>
              <a:t>*</a:t>
            </a:r>
            <a:r>
              <a:rPr kumimoji="1" lang="en-US" altLang="zh-CN" sz="2880" dirty="0">
                <a:solidFill>
                  <a:srgbClr val="FF6600"/>
                </a:solidFill>
                <a:latin typeface="Microsoft YaHei" panose="020B0503020204020204" pitchFamily="34" charset="-122"/>
                <a:ea typeface="Microsoft YaHei" panose="020B0503020204020204" pitchFamily="34" charset="-122"/>
              </a:rPr>
              <a:t>7</a:t>
            </a:r>
            <a:r>
              <a:rPr kumimoji="1" lang="zh-CN" altLang="en-US" sz="2880" dirty="0">
                <a:solidFill>
                  <a:srgbClr val="FF6600"/>
                </a:solidFill>
                <a:latin typeface="Microsoft YaHei" panose="020B0503020204020204" pitchFamily="34" charset="-122"/>
                <a:ea typeface="Microsoft YaHei" panose="020B0503020204020204" pitchFamily="34" charset="-122"/>
              </a:rPr>
              <a:t> </a:t>
            </a:r>
            <a:r>
              <a:rPr kumimoji="1" lang="en-US" altLang="zh-CN" sz="2880" dirty="0">
                <a:solidFill>
                  <a:srgbClr val="FF6600"/>
                </a:solidFill>
                <a:latin typeface="Microsoft YaHei" panose="020B0503020204020204" pitchFamily="34" charset="-122"/>
                <a:ea typeface="Microsoft YaHei" panose="020B0503020204020204" pitchFamily="34" charset="-122"/>
              </a:rPr>
              <a:t>=</a:t>
            </a:r>
            <a:r>
              <a:rPr kumimoji="1" lang="zh-CN" altLang="en-US" sz="2880" dirty="0">
                <a:solidFill>
                  <a:srgbClr val="FF6600"/>
                </a:solidFill>
                <a:latin typeface="Microsoft YaHei" panose="020B0503020204020204" pitchFamily="34" charset="-122"/>
                <a:ea typeface="Microsoft YaHei" panose="020B0503020204020204" pitchFamily="34" charset="-122"/>
              </a:rPr>
              <a:t> </a:t>
            </a:r>
            <a:r>
              <a:rPr kumimoji="1" lang="en-US" altLang="zh-CN" sz="2880" dirty="0">
                <a:solidFill>
                  <a:srgbClr val="FF6600"/>
                </a:solidFill>
                <a:latin typeface="Microsoft YaHei" panose="020B0503020204020204" pitchFamily="34" charset="-122"/>
                <a:ea typeface="Microsoft YaHei" panose="020B0503020204020204" pitchFamily="34" charset="-122"/>
              </a:rPr>
              <a:t>56</a:t>
            </a:r>
          </a:p>
          <a:p>
            <a:r>
              <a:rPr kumimoji="1" lang="en-US" altLang="zh-CN" sz="2880" b="1" dirty="0">
                <a:solidFill>
                  <a:srgbClr val="FF6600"/>
                </a:solidFill>
                <a:latin typeface="Microsoft YaHei" panose="020B0503020204020204" pitchFamily="34" charset="-122"/>
                <a:ea typeface="Microsoft YaHei" panose="020B0503020204020204" pitchFamily="34" charset="-122"/>
              </a:rPr>
              <a:t>56/3584</a:t>
            </a:r>
            <a:r>
              <a:rPr kumimoji="1" lang="zh-CN" altLang="en-US" sz="2880" b="1" dirty="0">
                <a:solidFill>
                  <a:srgbClr val="FF6600"/>
                </a:solidFill>
                <a:latin typeface="Microsoft YaHei" panose="020B0503020204020204" pitchFamily="34" charset="-122"/>
                <a:ea typeface="Microsoft YaHei" panose="020B0503020204020204" pitchFamily="34" charset="-122"/>
              </a:rPr>
              <a:t> </a:t>
            </a:r>
            <a:r>
              <a:rPr kumimoji="1" lang="en-US" altLang="zh-CN" sz="2880" b="1" dirty="0">
                <a:solidFill>
                  <a:srgbClr val="FF6600"/>
                </a:solidFill>
                <a:latin typeface="Microsoft YaHei" panose="020B0503020204020204" pitchFamily="34" charset="-122"/>
                <a:ea typeface="Microsoft YaHei" panose="020B0503020204020204" pitchFamily="34" charset="-122"/>
              </a:rPr>
              <a:t>=</a:t>
            </a:r>
            <a:r>
              <a:rPr kumimoji="1" lang="zh-CN" altLang="en-US" sz="2880" b="1" dirty="0">
                <a:solidFill>
                  <a:srgbClr val="FF6600"/>
                </a:solidFill>
                <a:latin typeface="Microsoft YaHei" panose="020B0503020204020204" pitchFamily="34" charset="-122"/>
                <a:ea typeface="Microsoft YaHei" panose="020B0503020204020204" pitchFamily="34" charset="-122"/>
              </a:rPr>
              <a:t> </a:t>
            </a:r>
            <a:r>
              <a:rPr kumimoji="1" lang="en-US" altLang="zh-CN" sz="2880" b="1" dirty="0">
                <a:solidFill>
                  <a:srgbClr val="FF6600"/>
                </a:solidFill>
                <a:latin typeface="Microsoft YaHei" panose="020B0503020204020204" pitchFamily="34" charset="-122"/>
                <a:ea typeface="Microsoft YaHei" panose="020B0503020204020204" pitchFamily="34" charset="-122"/>
              </a:rPr>
              <a:t>1.56%</a:t>
            </a:r>
            <a:r>
              <a:rPr kumimoji="1" lang="zh-CN" altLang="en-US" sz="2880" b="1" dirty="0">
                <a:solidFill>
                  <a:srgbClr val="FF6600"/>
                </a:solidFill>
                <a:latin typeface="Microsoft YaHei" panose="020B0503020204020204" pitchFamily="34" charset="-122"/>
                <a:ea typeface="Microsoft YaHei" panose="020B0503020204020204" pitchFamily="34" charset="-122"/>
              </a:rPr>
              <a:t> </a:t>
            </a:r>
          </a:p>
        </p:txBody>
      </p:sp>
    </p:spTree>
    <p:extLst>
      <p:ext uri="{BB962C8B-B14F-4D97-AF65-F5344CB8AC3E}">
        <p14:creationId xmlns:p14="http://schemas.microsoft.com/office/powerpoint/2010/main" val="405112846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AF0BDC6-4EAE-2F32-E571-E584F332517E}"/>
              </a:ext>
            </a:extLst>
          </p:cNvPr>
          <p:cNvSpPr>
            <a:spLocks noGrp="1"/>
          </p:cNvSpPr>
          <p:nvPr>
            <p:ph type="title"/>
          </p:nvPr>
        </p:nvSpPr>
        <p:spPr/>
        <p:txBody>
          <a:bodyPr>
            <a:normAutofit/>
          </a:bodyPr>
          <a:lstStyle/>
          <a:p>
            <a:r>
              <a:rPr lang="en-US" altLang="zh-CN" b="1" dirty="0"/>
              <a:t>Pairwise</a:t>
            </a:r>
            <a:r>
              <a:rPr lang="zh-CN" altLang="en-US" b="1" dirty="0"/>
              <a:t>方法工具</a:t>
            </a:r>
            <a:endParaRPr lang="zh-CN" altLang="en-US" sz="3200" b="1" dirty="0"/>
          </a:p>
        </p:txBody>
      </p:sp>
      <p:pic>
        <p:nvPicPr>
          <p:cNvPr id="2" name="图片 3" descr="temp.png">
            <a:extLst>
              <a:ext uri="{FF2B5EF4-FFF2-40B4-BE49-F238E27FC236}">
                <a16:creationId xmlns:a16="http://schemas.microsoft.com/office/drawing/2014/main" id="{7AA3F10E-2480-A9C7-7A18-457622945351}"/>
              </a:ext>
            </a:extLst>
          </p:cNvPr>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972626" y="685800"/>
            <a:ext cx="8246748" cy="5486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4" name="矩形 4">
            <a:extLst>
              <a:ext uri="{FF2B5EF4-FFF2-40B4-BE49-F238E27FC236}">
                <a16:creationId xmlns:a16="http://schemas.microsoft.com/office/drawing/2014/main" id="{2B3B32EE-3DC3-26D0-35FA-BE9065A4323D}"/>
              </a:ext>
            </a:extLst>
          </p:cNvPr>
          <p:cNvSpPr>
            <a:spLocks noChangeArrowheads="1"/>
          </p:cNvSpPr>
          <p:nvPr/>
        </p:nvSpPr>
        <p:spPr bwMode="auto">
          <a:xfrm>
            <a:off x="3663944" y="6402491"/>
            <a:ext cx="4179349" cy="4247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zh-CN" sz="2160" dirty="0">
                <a:hlinkClick r:id="rId4"/>
              </a:rPr>
              <a:t>http://www.pairwise.org/tools.asp</a:t>
            </a:r>
            <a:endParaRPr lang="zh-CN" altLang="en-US" sz="2160" dirty="0"/>
          </a:p>
        </p:txBody>
      </p:sp>
    </p:spTree>
    <p:extLst>
      <p:ext uri="{BB962C8B-B14F-4D97-AF65-F5344CB8AC3E}">
        <p14:creationId xmlns:p14="http://schemas.microsoft.com/office/powerpoint/2010/main" val="2979516401"/>
      </p:ext>
    </p:extLst>
  </p:cSld>
  <p:clrMapOvr>
    <a:masterClrMapping/>
  </p:clrMapOvr>
  <p:transition spd="slow">
    <p:wipe dir="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AF0BDC6-4EAE-2F32-E571-E584F332517E}"/>
              </a:ext>
            </a:extLst>
          </p:cNvPr>
          <p:cNvSpPr>
            <a:spLocks noGrp="1"/>
          </p:cNvSpPr>
          <p:nvPr>
            <p:ph type="title"/>
          </p:nvPr>
        </p:nvSpPr>
        <p:spPr/>
        <p:txBody>
          <a:bodyPr>
            <a:normAutofit/>
          </a:bodyPr>
          <a:lstStyle/>
          <a:p>
            <a:r>
              <a:rPr lang="en-US" altLang="zh-CN" b="1" dirty="0"/>
              <a:t>Pairwise</a:t>
            </a:r>
            <a:r>
              <a:rPr lang="zh-CN" altLang="en-US" b="1" dirty="0"/>
              <a:t>工具推荐</a:t>
            </a:r>
            <a:r>
              <a:rPr lang="en-US" altLang="zh-CN" b="1" dirty="0"/>
              <a:t>:ACTS</a:t>
            </a:r>
            <a:endParaRPr lang="zh-CN" altLang="en-US" sz="3200" b="1" dirty="0"/>
          </a:p>
        </p:txBody>
      </p:sp>
      <p:pic>
        <p:nvPicPr>
          <p:cNvPr id="6" name="图片 5">
            <a:extLst>
              <a:ext uri="{FF2B5EF4-FFF2-40B4-BE49-F238E27FC236}">
                <a16:creationId xmlns:a16="http://schemas.microsoft.com/office/drawing/2014/main" id="{72C1EC89-8B0B-521C-388C-6F7138B890C3}"/>
              </a:ext>
            </a:extLst>
          </p:cNvPr>
          <p:cNvPicPr>
            <a:picLocks noChangeAspect="1"/>
          </p:cNvPicPr>
          <p:nvPr/>
        </p:nvPicPr>
        <p:blipFill>
          <a:blip r:embed="rId3"/>
          <a:stretch>
            <a:fillRect/>
          </a:stretch>
        </p:blipFill>
        <p:spPr>
          <a:xfrm>
            <a:off x="1923913" y="1133264"/>
            <a:ext cx="8093639" cy="5100205"/>
          </a:xfrm>
          <a:prstGeom prst="rect">
            <a:avLst/>
          </a:prstGeom>
        </p:spPr>
      </p:pic>
    </p:spTree>
    <p:extLst>
      <p:ext uri="{BB962C8B-B14F-4D97-AF65-F5344CB8AC3E}">
        <p14:creationId xmlns:p14="http://schemas.microsoft.com/office/powerpoint/2010/main" val="1048904906"/>
      </p:ext>
    </p:extLst>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244D40-1D69-FE20-78A8-FB817A38C9B7}"/>
              </a:ext>
            </a:extLst>
          </p:cNvPr>
          <p:cNvSpPr>
            <a:spLocks noGrp="1"/>
          </p:cNvSpPr>
          <p:nvPr>
            <p:ph type="title"/>
          </p:nvPr>
        </p:nvSpPr>
        <p:spPr/>
        <p:txBody>
          <a:bodyPr/>
          <a:lstStyle/>
          <a:p>
            <a:r>
              <a:rPr lang="en-US" altLang="zh-CN" dirty="0"/>
              <a:t>3.3.4</a:t>
            </a:r>
            <a:r>
              <a:rPr lang="zh-CN" altLang="en-US" dirty="0"/>
              <a:t> 正交实验法</a:t>
            </a:r>
            <a:endParaRPr kumimoji="1" lang="zh-CN" altLang="en-US" dirty="0"/>
          </a:p>
        </p:txBody>
      </p:sp>
      <p:sp>
        <p:nvSpPr>
          <p:cNvPr id="4" name="Rectangle 3">
            <a:extLst>
              <a:ext uri="{FF2B5EF4-FFF2-40B4-BE49-F238E27FC236}">
                <a16:creationId xmlns:a16="http://schemas.microsoft.com/office/drawing/2014/main" id="{79E8AD96-08BB-01CC-C9B6-2B823A4DEAF9}"/>
              </a:ext>
            </a:extLst>
          </p:cNvPr>
          <p:cNvSpPr txBox="1">
            <a:spLocks noChangeArrowheads="1"/>
          </p:cNvSpPr>
          <p:nvPr/>
        </p:nvSpPr>
        <p:spPr>
          <a:xfrm>
            <a:off x="1065138" y="1762207"/>
            <a:ext cx="6312905" cy="3997768"/>
          </a:xfrm>
          <a:prstGeom prst="rect">
            <a:avLst/>
          </a:prstGeom>
        </p:spPr>
        <p:txBody>
          <a:bodyPr>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思源黑体" panose="020F0502020204030204" charset="-122"/>
                <a:ea typeface="思源黑体" panose="020F0502020204030204" charset="-122"/>
                <a:cs typeface="思源黑体" panose="020F0502020204030204"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思源黑体" panose="020F0502020204030204" charset="-122"/>
                <a:ea typeface="思源黑体" panose="020F0502020204030204" charset="-122"/>
                <a:cs typeface="思源黑体" panose="020F0502020204030204" charset="-122"/>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思源黑体" panose="020F0502020204030204" charset="-122"/>
                <a:ea typeface="思源黑体" panose="020F0502020204030204" charset="-122"/>
                <a:cs typeface="思源黑体" panose="020F0502020204030204" charset="-122"/>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思源黑体" panose="020F0502020204030204" charset="-122"/>
                <a:ea typeface="思源黑体" panose="020F0502020204030204" charset="-122"/>
                <a:cs typeface="思源黑体" panose="020F050202020403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55591" indent="-355591" eaLnBrk="0" hangingPunct="0">
              <a:lnSpc>
                <a:spcPct val="150000"/>
              </a:lnSpc>
              <a:spcBef>
                <a:spcPct val="0"/>
              </a:spcBef>
              <a:buClr>
                <a:srgbClr val="91AC4E"/>
              </a:buClr>
              <a:buSzPct val="80000"/>
              <a:buFont typeface="Wingdings" pitchFamily="2" charset="2"/>
              <a:buChar char="p"/>
              <a:defRPr/>
            </a:pPr>
            <a:r>
              <a:rPr lang="zh-CN" altLang="en-US" sz="2400" b="1" dirty="0">
                <a:effectLst>
                  <a:outerShdw blurRad="38100" dist="38100" dir="2700000" algn="tl">
                    <a:srgbClr val="FFFFFF"/>
                  </a:outerShdw>
                </a:effectLst>
                <a:latin typeface="宋体"/>
                <a:ea typeface="宋体"/>
                <a:cs typeface="宋体"/>
              </a:rPr>
              <a:t>处理的问题</a:t>
            </a:r>
            <a:r>
              <a:rPr lang="zh-CN" altLang="en-US" sz="2400" dirty="0">
                <a:effectLst>
                  <a:outerShdw blurRad="38100" dist="38100" dir="2700000" algn="tl">
                    <a:srgbClr val="FFFFFF"/>
                  </a:outerShdw>
                </a:effectLst>
                <a:latin typeface="宋体"/>
                <a:ea typeface="宋体"/>
                <a:cs typeface="宋体"/>
              </a:rPr>
              <a:t>：和</a:t>
            </a:r>
            <a:r>
              <a:rPr lang="en-US" altLang="zh-CN" sz="2400" dirty="0">
                <a:effectLst>
                  <a:outerShdw blurRad="38100" dist="38100" dir="2700000" algn="tl">
                    <a:srgbClr val="FFFFFF"/>
                  </a:outerShdw>
                </a:effectLst>
                <a:latin typeface="宋体"/>
                <a:ea typeface="宋体"/>
                <a:cs typeface="宋体"/>
              </a:rPr>
              <a:t>Pairwise</a:t>
            </a:r>
            <a:r>
              <a:rPr lang="zh-CN" altLang="en-US" sz="2400" dirty="0">
                <a:effectLst>
                  <a:outerShdw blurRad="38100" dist="38100" dir="2700000" algn="tl">
                    <a:srgbClr val="FFFFFF"/>
                  </a:outerShdw>
                </a:effectLst>
                <a:latin typeface="宋体"/>
                <a:ea typeface="宋体"/>
                <a:cs typeface="宋体"/>
              </a:rPr>
              <a:t>类似</a:t>
            </a:r>
            <a:endParaRPr lang="en-US" altLang="zh-CN" sz="2400" dirty="0">
              <a:effectLst>
                <a:outerShdw blurRad="38100" dist="38100" dir="2700000" algn="tl">
                  <a:srgbClr val="FFFFFF"/>
                </a:outerShdw>
              </a:effectLst>
              <a:latin typeface="宋体"/>
              <a:ea typeface="宋体"/>
              <a:cs typeface="宋体"/>
            </a:endParaRPr>
          </a:p>
          <a:p>
            <a:pPr marL="355591" indent="-355591" eaLnBrk="0" hangingPunct="0">
              <a:lnSpc>
                <a:spcPct val="150000"/>
              </a:lnSpc>
              <a:spcBef>
                <a:spcPct val="0"/>
              </a:spcBef>
              <a:buClr>
                <a:srgbClr val="91AC4E"/>
              </a:buClr>
              <a:buSzPct val="80000"/>
              <a:buFont typeface="Wingdings" pitchFamily="2" charset="2"/>
              <a:buChar char="p"/>
              <a:defRPr/>
            </a:pPr>
            <a:r>
              <a:rPr lang="zh-CN" altLang="en-US" sz="2267" b="1" dirty="0">
                <a:solidFill>
                  <a:srgbClr val="3C8C93"/>
                </a:solidFill>
                <a:latin typeface="Arial" panose="020B0604020202020204" pitchFamily="34" charset="0"/>
                <a:ea typeface="KaiTi" panose="02010609060101010101" pitchFamily="49" charset="-122"/>
                <a:cs typeface="Arial" panose="020B0604020202020204" pitchFamily="34" charset="0"/>
              </a:rPr>
              <a:t>依据与思想</a:t>
            </a:r>
            <a:r>
              <a:rPr lang="zh-CN" altLang="en-US" sz="2267" dirty="0">
                <a:solidFill>
                  <a:srgbClr val="3C8C93"/>
                </a:solidFill>
                <a:latin typeface="Arial" panose="020B0604020202020204" pitchFamily="34" charset="0"/>
                <a:ea typeface="KaiTi" panose="02010609060101010101" pitchFamily="49" charset="-122"/>
                <a:cs typeface="Arial" panose="020B0604020202020204" pitchFamily="34" charset="0"/>
              </a:rPr>
              <a:t>：依据</a:t>
            </a:r>
            <a:r>
              <a:rPr lang="en-US" altLang="zh-CN" sz="2267" dirty="0">
                <a:solidFill>
                  <a:srgbClr val="3C8C93"/>
                </a:solidFill>
                <a:latin typeface="Arial" panose="020B0604020202020204" pitchFamily="34" charset="0"/>
                <a:ea typeface="KaiTi" panose="02010609060101010101" pitchFamily="49" charset="-122"/>
                <a:cs typeface="Arial" panose="020B0604020202020204" pitchFamily="34" charset="0"/>
              </a:rPr>
              <a:t>Galois</a:t>
            </a:r>
            <a:r>
              <a:rPr lang="zh-CN" altLang="en-US" sz="2267" dirty="0">
                <a:solidFill>
                  <a:srgbClr val="3C8C93"/>
                </a:solidFill>
                <a:latin typeface="Arial" panose="020B0604020202020204" pitchFamily="34" charset="0"/>
                <a:ea typeface="KaiTi" panose="02010609060101010101" pitchFamily="49" charset="-122"/>
                <a:cs typeface="Arial" panose="020B0604020202020204" pitchFamily="34" charset="0"/>
              </a:rPr>
              <a:t>理论，从大量的（实验）数据（测试例）中挑选适量的、有代表性的点（条件组合），从而合理地安排实验（测试）的一种科学实验设计方法 </a:t>
            </a:r>
            <a:endParaRPr lang="en-US" altLang="zh-CN" sz="2267" dirty="0">
              <a:solidFill>
                <a:schemeClr val="tx1">
                  <a:lumMod val="50000"/>
                  <a:lumOff val="50000"/>
                </a:schemeClr>
              </a:solidFill>
              <a:effectLst>
                <a:outerShdw blurRad="38100" dist="38100" dir="2700000" algn="tl">
                  <a:srgbClr val="FFFFFF"/>
                </a:outerShdw>
              </a:effectLst>
              <a:latin typeface="Arial" panose="020B0604020202020204" pitchFamily="34" charset="0"/>
              <a:ea typeface="KaiTi" panose="02010609060101010101" pitchFamily="49" charset="-122"/>
              <a:cs typeface="Arial" panose="020B0604020202020204" pitchFamily="34" charset="0"/>
            </a:endParaRPr>
          </a:p>
          <a:p>
            <a:pPr marL="355591" indent="-355591" eaLnBrk="0" hangingPunct="0">
              <a:lnSpc>
                <a:spcPct val="150000"/>
              </a:lnSpc>
              <a:spcBef>
                <a:spcPct val="0"/>
              </a:spcBef>
              <a:buClr>
                <a:srgbClr val="91AC4E"/>
              </a:buClr>
              <a:buSzPct val="80000"/>
              <a:buFont typeface="Wingdings" pitchFamily="2" charset="2"/>
              <a:buChar char="p"/>
              <a:defRPr/>
            </a:pPr>
            <a:r>
              <a:rPr lang="zh-CN" altLang="en-US" sz="2400" dirty="0">
                <a:effectLst>
                  <a:outerShdw blurRad="38100" dist="38100" dir="2700000" algn="tl">
                    <a:srgbClr val="FFFFFF"/>
                  </a:outerShdw>
                </a:effectLst>
                <a:latin typeface="宋体"/>
                <a:ea typeface="宋体"/>
                <a:cs typeface="宋体"/>
              </a:rPr>
              <a:t>确定影响功能的因子与状态</a:t>
            </a:r>
            <a:endParaRPr lang="en-US" altLang="zh-CN" sz="2400" dirty="0">
              <a:effectLst>
                <a:outerShdw blurRad="38100" dist="38100" dir="2700000" algn="tl">
                  <a:srgbClr val="FFFFFF"/>
                </a:outerShdw>
              </a:effectLst>
              <a:latin typeface="宋体"/>
              <a:ea typeface="宋体"/>
              <a:cs typeface="宋体"/>
            </a:endParaRPr>
          </a:p>
          <a:p>
            <a:pPr marL="355591" indent="-355591" eaLnBrk="0" hangingPunct="0">
              <a:lnSpc>
                <a:spcPct val="150000"/>
              </a:lnSpc>
              <a:spcBef>
                <a:spcPct val="0"/>
              </a:spcBef>
              <a:buClr>
                <a:srgbClr val="91AC4E"/>
              </a:buClr>
              <a:buSzPct val="80000"/>
              <a:buFont typeface="Wingdings" pitchFamily="2" charset="2"/>
              <a:buChar char="p"/>
              <a:defRPr/>
            </a:pPr>
            <a:r>
              <a:rPr lang="zh-CN" altLang="en-US" sz="2400" dirty="0">
                <a:effectLst>
                  <a:outerShdw blurRad="38100" dist="38100" dir="2700000" algn="tl">
                    <a:srgbClr val="FFFFFF"/>
                  </a:outerShdw>
                </a:effectLst>
                <a:latin typeface="宋体"/>
                <a:ea typeface="宋体"/>
                <a:cs typeface="宋体"/>
              </a:rPr>
              <a:t>选择一个合适的正交表</a:t>
            </a:r>
            <a:endParaRPr lang="en-US" altLang="zh-CN" sz="2400" dirty="0">
              <a:effectLst>
                <a:outerShdw blurRad="38100" dist="38100" dir="2700000" algn="tl">
                  <a:srgbClr val="FFFFFF"/>
                </a:outerShdw>
              </a:effectLst>
              <a:latin typeface="宋体"/>
              <a:ea typeface="宋体"/>
              <a:cs typeface="宋体"/>
            </a:endParaRPr>
          </a:p>
          <a:p>
            <a:pPr marL="355591" indent="-355591" eaLnBrk="0" hangingPunct="0">
              <a:lnSpc>
                <a:spcPct val="150000"/>
              </a:lnSpc>
              <a:spcBef>
                <a:spcPct val="0"/>
              </a:spcBef>
              <a:buClr>
                <a:srgbClr val="91AC4E"/>
              </a:buClr>
              <a:buSzPct val="80000"/>
              <a:buFont typeface="Wingdings" pitchFamily="2" charset="2"/>
              <a:buChar char="p"/>
              <a:defRPr/>
            </a:pPr>
            <a:r>
              <a:rPr lang="zh-CN" altLang="en-US" sz="2400" dirty="0">
                <a:effectLst>
                  <a:outerShdw blurRad="38100" dist="38100" dir="2700000" algn="tl">
                    <a:srgbClr val="FFFFFF"/>
                  </a:outerShdw>
                </a:effectLst>
                <a:latin typeface="宋体"/>
                <a:ea typeface="宋体"/>
                <a:cs typeface="宋体"/>
              </a:rPr>
              <a:t>利用正交表构造测试数据集</a:t>
            </a:r>
            <a:endParaRPr lang="zh-CN" altLang="en-US" sz="2400" b="1" dirty="0">
              <a:effectLst>
                <a:outerShdw blurRad="38100" dist="38100" dir="2700000" algn="tl">
                  <a:srgbClr val="FFFFFF"/>
                </a:outerShdw>
              </a:effectLst>
              <a:latin typeface="宋体"/>
              <a:ea typeface="宋体"/>
              <a:cs typeface="宋体"/>
            </a:endParaRPr>
          </a:p>
        </p:txBody>
      </p:sp>
      <p:sp>
        <p:nvSpPr>
          <p:cNvPr id="3" name="矩形 2">
            <a:extLst>
              <a:ext uri="{FF2B5EF4-FFF2-40B4-BE49-F238E27FC236}">
                <a16:creationId xmlns:a16="http://schemas.microsoft.com/office/drawing/2014/main" id="{D04B0235-6A24-FDFF-D18E-3B5C50434ED9}"/>
              </a:ext>
            </a:extLst>
          </p:cNvPr>
          <p:cNvSpPr/>
          <p:nvPr/>
        </p:nvSpPr>
        <p:spPr>
          <a:xfrm>
            <a:off x="7527516" y="4972067"/>
            <a:ext cx="4147661" cy="757130"/>
          </a:xfrm>
          <a:prstGeom prst="rect">
            <a:avLst/>
          </a:prstGeom>
        </p:spPr>
        <p:txBody>
          <a:bodyPr wrap="square">
            <a:spAutoFit/>
          </a:bodyPr>
          <a:lstStyle/>
          <a:p>
            <a:pPr algn="ctr"/>
            <a:r>
              <a:rPr lang="zh-TW" altLang="en-US" sz="2400" dirty="0">
                <a:solidFill>
                  <a:schemeClr val="accent5">
                    <a:lumMod val="25000"/>
                  </a:schemeClr>
                </a:solidFill>
                <a:ea typeface="宋体"/>
                <a:cs typeface="宋体"/>
              </a:rPr>
              <a:t>正交实验法</a:t>
            </a:r>
            <a:endParaRPr lang="en-US" altLang="zh-TW" sz="2400" dirty="0">
              <a:solidFill>
                <a:schemeClr val="accent5">
                  <a:lumMod val="25000"/>
                </a:schemeClr>
              </a:solidFill>
              <a:ea typeface="宋体"/>
              <a:cs typeface="宋体"/>
            </a:endParaRPr>
          </a:p>
          <a:p>
            <a:pPr algn="ctr"/>
            <a:r>
              <a:rPr lang="en-US" altLang="zh-TW" sz="1920" b="1" dirty="0"/>
              <a:t>Orthogonal experimental</a:t>
            </a:r>
            <a:r>
              <a:rPr lang="zh-CN" altLang="en-US" sz="1920" b="1" dirty="0"/>
              <a:t> </a:t>
            </a:r>
            <a:r>
              <a:rPr lang="en-US" altLang="zh-TW" sz="1920" b="1" dirty="0"/>
              <a:t>design</a:t>
            </a:r>
            <a:r>
              <a:rPr lang="en-US" altLang="zh-TW" sz="1920" dirty="0"/>
              <a:t> </a:t>
            </a:r>
            <a:endParaRPr lang="zh-CN" altLang="en-US" sz="1920" dirty="0"/>
          </a:p>
        </p:txBody>
      </p:sp>
      <p:pic>
        <p:nvPicPr>
          <p:cNvPr id="5" name="图片 4">
            <a:extLst>
              <a:ext uri="{FF2B5EF4-FFF2-40B4-BE49-F238E27FC236}">
                <a16:creationId xmlns:a16="http://schemas.microsoft.com/office/drawing/2014/main" id="{088AEB22-763A-FD57-4963-D4FF5880A0BE}"/>
              </a:ext>
            </a:extLst>
          </p:cNvPr>
          <p:cNvPicPr>
            <a:picLocks noChangeAspect="1"/>
          </p:cNvPicPr>
          <p:nvPr/>
        </p:nvPicPr>
        <p:blipFill>
          <a:blip r:embed="rId3"/>
          <a:stretch>
            <a:fillRect/>
          </a:stretch>
        </p:blipFill>
        <p:spPr>
          <a:xfrm>
            <a:off x="7700336" y="1731703"/>
            <a:ext cx="3715613" cy="3096344"/>
          </a:xfrm>
          <a:prstGeom prst="rect">
            <a:avLst/>
          </a:prstGeom>
        </p:spPr>
      </p:pic>
      <p:sp>
        <p:nvSpPr>
          <p:cNvPr id="8" name="文本框 7">
            <a:extLst>
              <a:ext uri="{FF2B5EF4-FFF2-40B4-BE49-F238E27FC236}">
                <a16:creationId xmlns:a16="http://schemas.microsoft.com/office/drawing/2014/main" id="{A619ADC9-8EB4-8C7A-1423-B8D72FDF6C58}"/>
              </a:ext>
            </a:extLst>
          </p:cNvPr>
          <p:cNvSpPr txBox="1"/>
          <p:nvPr/>
        </p:nvSpPr>
        <p:spPr>
          <a:xfrm>
            <a:off x="2207568" y="6028734"/>
            <a:ext cx="6312905" cy="379656"/>
          </a:xfrm>
          <a:prstGeom prst="rect">
            <a:avLst/>
          </a:prstGeom>
          <a:noFill/>
        </p:spPr>
        <p:txBody>
          <a:bodyPr wrap="square">
            <a:spAutoFit/>
          </a:bodyPr>
          <a:lstStyle/>
          <a:p>
            <a:r>
              <a:rPr lang="zh-CN" altLang="en-US" sz="1867" dirty="0">
                <a:hlinkClick r:id="rId4"/>
              </a:rPr>
              <a:t>https://www.york.ac.uk/depts/maths/tables/orthogonal.htm</a:t>
            </a:r>
            <a:r>
              <a:rPr lang="zh-CN" altLang="en-US" sz="1867" dirty="0"/>
              <a:t> </a:t>
            </a:r>
          </a:p>
        </p:txBody>
      </p:sp>
      <p:sp>
        <p:nvSpPr>
          <p:cNvPr id="10" name="文本框 9">
            <a:extLst>
              <a:ext uri="{FF2B5EF4-FFF2-40B4-BE49-F238E27FC236}">
                <a16:creationId xmlns:a16="http://schemas.microsoft.com/office/drawing/2014/main" id="{D1B23D7E-CCD7-8E6F-5D72-7515E0493717}"/>
              </a:ext>
            </a:extLst>
          </p:cNvPr>
          <p:cNvSpPr txBox="1"/>
          <p:nvPr/>
        </p:nvSpPr>
        <p:spPr>
          <a:xfrm>
            <a:off x="1065138" y="5991169"/>
            <a:ext cx="1190919" cy="461665"/>
          </a:xfrm>
          <a:prstGeom prst="rect">
            <a:avLst/>
          </a:prstGeom>
          <a:noFill/>
        </p:spPr>
        <p:txBody>
          <a:bodyPr wrap="square">
            <a:spAutoFit/>
          </a:bodyPr>
          <a:lstStyle/>
          <a:p>
            <a:r>
              <a:rPr lang="zh-CN" altLang="en-US" sz="2400" dirty="0">
                <a:solidFill>
                  <a:srgbClr val="435CC8"/>
                </a:solidFill>
                <a:effectLst>
                  <a:outerShdw blurRad="38100" dist="38100" dir="2700000" algn="tl">
                    <a:srgbClr val="FFFFFF"/>
                  </a:outerShdw>
                </a:effectLst>
                <a:latin typeface="Microsoft YaHei" panose="020B0503020204020204" pitchFamily="34" charset="-122"/>
                <a:ea typeface="Microsoft YaHei" panose="020B0503020204020204" pitchFamily="34" charset="-122"/>
                <a:cs typeface="宋体"/>
              </a:rPr>
              <a:t>正交表</a:t>
            </a:r>
            <a:endParaRPr lang="zh-CN" altLang="en-US" sz="2400" dirty="0">
              <a:solidFill>
                <a:srgbClr val="435CC8"/>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35140766"/>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135188" y="692150"/>
            <a:ext cx="5761038" cy="762000"/>
          </a:xfrm>
        </p:spPr>
        <p:txBody>
          <a:bodyPr vert="horz" wrap="square" lIns="91440" tIns="45720" rIns="91440" bIns="45720" numCol="1" rtlCol="0" anchor="b" anchorCtr="0" compatLnSpc="1">
            <a:normAutofit/>
          </a:bodyPr>
          <a:lstStyle/>
          <a:p>
            <a:pPr>
              <a:lnSpc>
                <a:spcPct val="100000"/>
              </a:lnSpc>
            </a:pPr>
            <a:r>
              <a:rPr lang="en-US" altLang="zh-CN" dirty="0"/>
              <a:t>3.3.4</a:t>
            </a:r>
            <a:r>
              <a:rPr lang="zh-CN" altLang="en-US" dirty="0"/>
              <a:t> 正交实验法</a:t>
            </a:r>
            <a:endParaRPr lang="zh-CN" altLang="en-US" dirty="0">
              <a:solidFill>
                <a:schemeClr val="accent1"/>
              </a:solidFill>
              <a:ea typeface="汉仪文黑-85W" panose="00020600040101010101" charset="-122"/>
            </a:endParaRPr>
          </a:p>
        </p:txBody>
      </p:sp>
      <p:sp>
        <p:nvSpPr>
          <p:cNvPr id="63491" name="Rectangle 3"/>
          <p:cNvSpPr>
            <a:spLocks noGrp="1" noChangeArrowheads="1"/>
          </p:cNvSpPr>
          <p:nvPr>
            <p:ph idx="1"/>
            <p:custDataLst>
              <p:tags r:id="rId1"/>
            </p:custDataLst>
          </p:nvPr>
        </p:nvSpPr>
        <p:spPr>
          <a:xfrm>
            <a:off x="2856231" y="1917066"/>
            <a:ext cx="6480175" cy="3278505"/>
          </a:xfrm>
        </p:spPr>
        <p:txBody>
          <a:bodyPr vert="horz" wrap="square" lIns="91440" tIns="45720" rIns="91440" bIns="45720" numCol="1" rtlCol="0" anchor="t" anchorCtr="0" compatLnSpc="1">
            <a:normAutofit/>
          </a:bodyPr>
          <a:lstStyle/>
          <a:p>
            <a:pPr marL="355600" indent="-355600" eaLnBrk="0" fontAlgn="base" hangingPunct="0">
              <a:lnSpc>
                <a:spcPct val="150000"/>
              </a:lnSpc>
              <a:spcBef>
                <a:spcPct val="0"/>
              </a:spcBef>
              <a:spcAft>
                <a:spcPct val="0"/>
              </a:spcAft>
              <a:buClr>
                <a:srgbClr val="91AC4E"/>
              </a:buClr>
              <a:buSzPct val="80000"/>
              <a:buFont typeface="Wingdings" panose="05000000000000000000" pitchFamily="2" charset="2"/>
              <a:buChar char="p"/>
              <a:defRPr/>
            </a:pPr>
            <a:r>
              <a:rPr lang="zh-CN" altLang="en-US" b="1" dirty="0">
                <a:solidFill>
                  <a:schemeClr val="dk1"/>
                </a:solidFill>
                <a:effectLst>
                  <a:outerShdw blurRad="38100" dist="38100" dir="2700000" algn="tl">
                    <a:srgbClr val="FFFFFF"/>
                  </a:outerShdw>
                </a:effectLst>
                <a:latin typeface="宋体" panose="02010600030101010101" pitchFamily="2" charset="-122"/>
                <a:cs typeface="宋体" panose="02010600030101010101" pitchFamily="2" charset="-122"/>
              </a:rPr>
              <a:t>使用原因</a:t>
            </a:r>
          </a:p>
          <a:p>
            <a:pPr marL="355600" indent="-355600" eaLnBrk="0" fontAlgn="base" hangingPunct="0">
              <a:lnSpc>
                <a:spcPct val="150000"/>
              </a:lnSpc>
              <a:spcBef>
                <a:spcPct val="0"/>
              </a:spcBef>
              <a:spcAft>
                <a:spcPct val="0"/>
              </a:spcAft>
              <a:buClr>
                <a:srgbClr val="91AC4E"/>
              </a:buClr>
              <a:buSzPct val="80000"/>
              <a:buFont typeface="Wingdings" panose="05000000000000000000" pitchFamily="2" charset="2"/>
              <a:buChar char="p"/>
              <a:defRPr/>
            </a:pPr>
            <a:r>
              <a:rPr lang="zh-CN" altLang="en-US" b="1" dirty="0">
                <a:solidFill>
                  <a:schemeClr val="dk1"/>
                </a:solidFill>
                <a:effectLst>
                  <a:outerShdw blurRad="38100" dist="38100" dir="2700000" algn="tl">
                    <a:srgbClr val="FFFFFF"/>
                  </a:outerShdw>
                </a:effectLst>
                <a:latin typeface="宋体" panose="02010600030101010101" pitchFamily="2" charset="-122"/>
                <a:cs typeface="宋体" panose="02010600030101010101" pitchFamily="2" charset="-122"/>
              </a:rPr>
              <a:t>确定影响功能的因子与状态</a:t>
            </a:r>
            <a:endParaRPr lang="en-US" altLang="zh-CN" b="1" dirty="0">
              <a:solidFill>
                <a:schemeClr val="dk1"/>
              </a:solidFill>
              <a:effectLst>
                <a:outerShdw blurRad="38100" dist="38100" dir="2700000" algn="tl">
                  <a:srgbClr val="FFFFFF"/>
                </a:outerShdw>
              </a:effectLst>
              <a:latin typeface="宋体" panose="02010600030101010101" pitchFamily="2" charset="-122"/>
              <a:cs typeface="宋体" panose="02010600030101010101" pitchFamily="2" charset="-122"/>
            </a:endParaRPr>
          </a:p>
          <a:p>
            <a:pPr marL="355600" indent="-355600" eaLnBrk="0" fontAlgn="base" hangingPunct="0">
              <a:lnSpc>
                <a:spcPct val="150000"/>
              </a:lnSpc>
              <a:spcBef>
                <a:spcPct val="0"/>
              </a:spcBef>
              <a:spcAft>
                <a:spcPct val="0"/>
              </a:spcAft>
              <a:buClr>
                <a:srgbClr val="91AC4E"/>
              </a:buClr>
              <a:buSzPct val="80000"/>
              <a:buFont typeface="Wingdings" panose="05000000000000000000" pitchFamily="2" charset="2"/>
              <a:buChar char="p"/>
              <a:defRPr/>
            </a:pPr>
            <a:r>
              <a:rPr lang="zh-CN" altLang="en-US" b="1" dirty="0">
                <a:solidFill>
                  <a:schemeClr val="dk1"/>
                </a:solidFill>
                <a:effectLst>
                  <a:outerShdw blurRad="38100" dist="38100" dir="2700000" algn="tl">
                    <a:srgbClr val="FFFFFF"/>
                  </a:outerShdw>
                </a:effectLst>
                <a:latin typeface="宋体" panose="02010600030101010101" pitchFamily="2" charset="-122"/>
                <a:cs typeface="宋体" panose="02010600030101010101" pitchFamily="2" charset="-122"/>
              </a:rPr>
              <a:t>选择一个合适的正交表</a:t>
            </a:r>
            <a:endParaRPr lang="en-US" altLang="zh-CN" b="1" dirty="0">
              <a:solidFill>
                <a:schemeClr val="dk1"/>
              </a:solidFill>
              <a:effectLst>
                <a:outerShdw blurRad="38100" dist="38100" dir="2700000" algn="tl">
                  <a:srgbClr val="FFFFFF"/>
                </a:outerShdw>
              </a:effectLst>
              <a:latin typeface="宋体" panose="02010600030101010101" pitchFamily="2" charset="-122"/>
              <a:cs typeface="宋体" panose="02010600030101010101" pitchFamily="2" charset="-122"/>
            </a:endParaRPr>
          </a:p>
          <a:p>
            <a:pPr marL="355600" indent="-355600" eaLnBrk="0" fontAlgn="base" hangingPunct="0">
              <a:lnSpc>
                <a:spcPct val="150000"/>
              </a:lnSpc>
              <a:spcBef>
                <a:spcPct val="0"/>
              </a:spcBef>
              <a:spcAft>
                <a:spcPct val="0"/>
              </a:spcAft>
              <a:buClr>
                <a:srgbClr val="91AC4E"/>
              </a:buClr>
              <a:buSzPct val="80000"/>
              <a:buFont typeface="Wingdings" panose="05000000000000000000" pitchFamily="2" charset="2"/>
              <a:buChar char="p"/>
              <a:defRPr/>
            </a:pPr>
            <a:r>
              <a:rPr lang="zh-CN" altLang="en-US" b="1" dirty="0">
                <a:solidFill>
                  <a:schemeClr val="dk1"/>
                </a:solidFill>
                <a:effectLst>
                  <a:outerShdw blurRad="38100" dist="38100" dir="2700000" algn="tl">
                    <a:srgbClr val="FFFFFF"/>
                  </a:outerShdw>
                </a:effectLst>
                <a:latin typeface="宋体" panose="02010600030101010101" pitchFamily="2" charset="-122"/>
                <a:cs typeface="宋体" panose="02010600030101010101" pitchFamily="2" charset="-122"/>
              </a:rPr>
              <a:t>利用正交表构造测试数据集</a:t>
            </a:r>
          </a:p>
        </p:txBody>
      </p:sp>
      <p:sp>
        <p:nvSpPr>
          <p:cNvPr id="2" name="日期占位符 1"/>
          <p:cNvSpPr>
            <a:spLocks noGrp="1"/>
          </p:cNvSpPr>
          <p:nvPr>
            <p:ph type="dt" sz="half" idx="10"/>
            <p:custDataLst>
              <p:tags r:id="rId2"/>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3" name="灯片编号占位符 2"/>
          <p:cNvSpPr>
            <a:spLocks noGrp="1"/>
          </p:cNvSpPr>
          <p:nvPr>
            <p:ph type="sldNum" sz="quarter" idx="12"/>
            <p:custDataLst>
              <p:tags r:id="rId3"/>
            </p:custDataLst>
          </p:nvPr>
        </p:nvSpPr>
        <p:spPr/>
        <p:txBody>
          <a:bodyPr/>
          <a:lstStyle/>
          <a:p>
            <a:fld id="{49AE70B2-8BF9-45C0-BB95-33D1B9D3A854}" type="slidenum">
              <a:rPr lang="zh-CN" altLang="en-US" smtClean="0">
                <a:solidFill>
                  <a:schemeClr val="dk1">
                    <a:tint val="75000"/>
                  </a:schemeClr>
                </a:solidFill>
              </a:rPr>
              <a:t>28</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423795" y="621030"/>
            <a:ext cx="6516370" cy="850900"/>
          </a:xfrm>
        </p:spPr>
        <p:txBody>
          <a:bodyPr vert="horz" wrap="square" lIns="91440" tIns="45720" rIns="91440" bIns="45720" numCol="1" rtlCol="0" anchor="b" anchorCtr="0" compatLnSpc="1">
            <a:normAutofit/>
          </a:bodyPr>
          <a:lstStyle/>
          <a:p>
            <a:pPr eaLnBrk="0" fontAlgn="base" hangingPunct="0">
              <a:lnSpc>
                <a:spcPct val="100000"/>
              </a:lnSpc>
              <a:spcAft>
                <a:spcPct val="0"/>
              </a:spcAft>
              <a:defRPr/>
            </a:pPr>
            <a:r>
              <a:rPr lang="en-US" altLang="zh-CN" dirty="0">
                <a:solidFill>
                  <a:schemeClr val="accent1"/>
                </a:solidFill>
                <a:ea typeface="汉仪文黑-85W" panose="00020600040101010101" charset="-122"/>
              </a:rPr>
              <a:t>为什么使用正交</a:t>
            </a:r>
            <a:r>
              <a:rPr dirty="0">
                <a:solidFill>
                  <a:schemeClr val="accent1"/>
                </a:solidFill>
                <a:ea typeface="汉仪文黑-85W" panose="00020600040101010101" charset="-122"/>
              </a:rPr>
              <a:t>测试</a:t>
            </a:r>
            <a:r>
              <a:rPr lang="en-US" altLang="zh-CN" dirty="0">
                <a:solidFill>
                  <a:schemeClr val="accent1"/>
                </a:solidFill>
                <a:ea typeface="汉仪文黑-85W" panose="00020600040101010101" charset="-122"/>
              </a:rPr>
              <a:t>法</a:t>
            </a:r>
            <a:endParaRPr lang="en-US" altLang="zh-CN" kern="0" dirty="0">
              <a:solidFill>
                <a:schemeClr val="accent1"/>
              </a:solidFill>
              <a:latin typeface="+mj-ea"/>
              <a:ea typeface="汉仪文黑-85W" panose="00020600040101010101" charset="-122"/>
            </a:endParaRPr>
          </a:p>
        </p:txBody>
      </p:sp>
      <p:sp>
        <p:nvSpPr>
          <p:cNvPr id="24579" name="Rectangle 3"/>
          <p:cNvSpPr>
            <a:spLocks noGrp="1"/>
          </p:cNvSpPr>
          <p:nvPr>
            <p:ph idx="1"/>
            <p:custDataLst>
              <p:tags r:id="rId1"/>
            </p:custDataLst>
          </p:nvPr>
        </p:nvSpPr>
        <p:spPr>
          <a:xfrm>
            <a:off x="2567305" y="3500755"/>
            <a:ext cx="7632700" cy="1781810"/>
          </a:xfrm>
        </p:spPr>
        <p:txBody>
          <a:bodyPr vert="horz" wrap="square" lIns="91440" tIns="45720" rIns="91440" bIns="45720" rtlCol="0" anchor="t" anchorCtr="0">
            <a:normAutofit/>
          </a:bodyPr>
          <a:lstStyle/>
          <a:p>
            <a:pPr>
              <a:lnSpc>
                <a:spcPct val="90000"/>
              </a:lnSpc>
            </a:pPr>
            <a:r>
              <a:rPr lang="zh-CN" altLang="en-US" sz="2000" dirty="0">
                <a:solidFill>
                  <a:schemeClr val="dk1"/>
                </a:solidFill>
                <a:latin typeface="宋体" panose="02010600030101010101" pitchFamily="2" charset="-122"/>
              </a:rPr>
              <a:t>打印范围分：全部、当前幻灯片、给定范围</a:t>
            </a:r>
          </a:p>
          <a:p>
            <a:pPr>
              <a:lnSpc>
                <a:spcPct val="90000"/>
              </a:lnSpc>
            </a:pPr>
            <a:r>
              <a:rPr lang="zh-CN" altLang="en-US" sz="2000" dirty="0">
                <a:solidFill>
                  <a:schemeClr val="dk1"/>
                </a:solidFill>
                <a:latin typeface="宋体" panose="02010600030101010101" pitchFamily="2" charset="-122"/>
              </a:rPr>
              <a:t>打印内容分：幻灯片、讲义、备注页、大纲视图</a:t>
            </a:r>
          </a:p>
          <a:p>
            <a:pPr>
              <a:lnSpc>
                <a:spcPct val="90000"/>
              </a:lnSpc>
            </a:pPr>
            <a:r>
              <a:rPr lang="zh-CN" altLang="en-US" sz="2000" dirty="0">
                <a:solidFill>
                  <a:schemeClr val="dk1"/>
                </a:solidFill>
                <a:latin typeface="宋体" panose="02010600030101010101" pitchFamily="2" charset="-122"/>
              </a:rPr>
              <a:t>打印颜色</a:t>
            </a:r>
            <a:r>
              <a:rPr lang="en-US" altLang="zh-CN" sz="2000" dirty="0">
                <a:solidFill>
                  <a:schemeClr val="dk1"/>
                </a:solidFill>
                <a:latin typeface="宋体" panose="02010600030101010101" pitchFamily="2" charset="-122"/>
              </a:rPr>
              <a:t>/</a:t>
            </a:r>
            <a:r>
              <a:rPr lang="zh-CN" altLang="en-US" sz="2000" dirty="0">
                <a:solidFill>
                  <a:schemeClr val="dk1"/>
                </a:solidFill>
                <a:latin typeface="宋体" panose="02010600030101010101" pitchFamily="2" charset="-122"/>
              </a:rPr>
              <a:t>灰度分</a:t>
            </a:r>
            <a:r>
              <a:rPr lang="en-US" altLang="zh-CN" sz="2000" dirty="0">
                <a:solidFill>
                  <a:schemeClr val="dk1"/>
                </a:solidFill>
                <a:latin typeface="宋体" panose="02010600030101010101" pitchFamily="2" charset="-122"/>
              </a:rPr>
              <a:t>: </a:t>
            </a:r>
            <a:r>
              <a:rPr lang="zh-CN" altLang="en-US" sz="2000" dirty="0">
                <a:solidFill>
                  <a:schemeClr val="dk1"/>
                </a:solidFill>
                <a:latin typeface="宋体" panose="02010600030101010101" pitchFamily="2" charset="-122"/>
              </a:rPr>
              <a:t>彩色、灰度、黑白</a:t>
            </a:r>
          </a:p>
          <a:p>
            <a:pPr>
              <a:lnSpc>
                <a:spcPct val="90000"/>
              </a:lnSpc>
            </a:pPr>
            <a:r>
              <a:rPr lang="zh-CN" altLang="en-US" sz="2000" dirty="0">
                <a:solidFill>
                  <a:schemeClr val="dk1"/>
                </a:solidFill>
                <a:latin typeface="宋体" panose="02010600030101010101" pitchFamily="2" charset="-122"/>
              </a:rPr>
              <a:t>打印效果分：幻灯片加框和幻灯片不加框。</a:t>
            </a:r>
          </a:p>
        </p:txBody>
      </p:sp>
      <p:sp>
        <p:nvSpPr>
          <p:cNvPr id="24580" name="Rectangle 5"/>
          <p:cNvSpPr/>
          <p:nvPr>
            <p:custDataLst>
              <p:tags r:id="rId2"/>
            </p:custDataLst>
          </p:nvPr>
        </p:nvSpPr>
        <p:spPr>
          <a:xfrm>
            <a:off x="2423795" y="1700530"/>
            <a:ext cx="7745730" cy="1600200"/>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lnSpc>
                <a:spcPct val="130000"/>
              </a:lnSpc>
              <a:spcBef>
                <a:spcPct val="0"/>
              </a:spcBef>
              <a:buClrTx/>
              <a:buNone/>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在许多应用系统的测试工作中，不会象判断三角形那样简单，输入条件的因素很多，而且每个因素也不能简单用“是”和“否”来回答。比如，微软</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Powerpoint</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程序的打印测试，也需要考虑</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rPr>
              <a:t>4</a:t>
            </a: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个因素，每个因素也有多个选项。</a:t>
            </a:r>
          </a:p>
        </p:txBody>
      </p:sp>
      <p:sp>
        <p:nvSpPr>
          <p:cNvPr id="24581" name="Rectangle 6"/>
          <p:cNvSpPr/>
          <p:nvPr>
            <p:custDataLst>
              <p:tags r:id="rId3"/>
            </p:custDataLst>
          </p:nvPr>
        </p:nvSpPr>
        <p:spPr>
          <a:xfrm>
            <a:off x="2446655" y="5108381"/>
            <a:ext cx="7753350" cy="815095"/>
          </a:xfrm>
          <a:prstGeom prst="rect">
            <a:avLst/>
          </a:prstGeom>
          <a:noFill/>
          <a:ln w="9525">
            <a:noFill/>
          </a:ln>
        </p:spPr>
        <p:txBody>
          <a:bodyPr wrap="square" lIns="0" tIns="0" rIns="0" bIns="0"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lnSpc>
                <a:spcPct val="140000"/>
              </a:lnSpc>
              <a:spcBef>
                <a:spcPct val="0"/>
              </a:spcBef>
              <a:buClrTx/>
              <a:buNone/>
            </a:pPr>
            <a:r>
              <a:rPr lang="zh-CN" altLang="en-US" sz="2000" dirty="0">
                <a:solidFill>
                  <a:schemeClr val="dk1"/>
                </a:solidFill>
                <a:latin typeface="微软雅黑" panose="020B0503020204020204" charset="-122"/>
                <a:ea typeface="微软雅黑" panose="020B0503020204020204" charset="-122"/>
                <a:cs typeface="微软雅黑" panose="020B0503020204020204" charset="-122"/>
              </a:rPr>
              <a:t>测试组合会变得很多，如果按照传统的测试方法，会导致很大的测试工作量。 </a:t>
            </a:r>
          </a:p>
        </p:txBody>
      </p:sp>
      <p:sp>
        <p:nvSpPr>
          <p:cNvPr id="2" name="日期占位符 1"/>
          <p:cNvSpPr>
            <a:spLocks noGrp="1"/>
          </p:cNvSpPr>
          <p:nvPr>
            <p:ph type="dt" sz="half" idx="10"/>
            <p:custDataLst>
              <p:tags r:id="rId4"/>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3" name="灯片编号占位符 2"/>
          <p:cNvSpPr>
            <a:spLocks noGrp="1"/>
          </p:cNvSpPr>
          <p:nvPr>
            <p:ph type="sldNum" sz="quarter" idx="12"/>
            <p:custDataLst>
              <p:tags r:id="rId5"/>
            </p:custDataLst>
          </p:nvPr>
        </p:nvSpPr>
        <p:spPr/>
        <p:txBody>
          <a:bodyPr/>
          <a:lstStyle/>
          <a:p>
            <a:fld id="{49AE70B2-8BF9-45C0-BB95-33D1B9D3A854}" type="slidenum">
              <a:rPr lang="zh-CN" altLang="en-US" smtClean="0">
                <a:solidFill>
                  <a:schemeClr val="dk1">
                    <a:tint val="75000"/>
                  </a:schemeClr>
                </a:solidFill>
              </a:rPr>
              <a:t>29</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2026285" y="498476"/>
            <a:ext cx="8139430" cy="889635"/>
          </a:xfrm>
        </p:spPr>
        <p:txBody>
          <a:bodyPr vert="horz" wrap="square" lIns="91440" tIns="45720" rIns="91440" bIns="45720" rtlCol="0" anchor="b" anchorCtr="0">
            <a:noAutofit/>
          </a:bodyPr>
          <a:lstStyle/>
          <a:p>
            <a:pPr algn="l">
              <a:buClrTx/>
              <a:buSzTx/>
              <a:buFontTx/>
              <a:buNone/>
            </a:pPr>
            <a:r>
              <a:rPr sz="3600" dirty="0">
                <a:solidFill>
                  <a:schemeClr val="accent1"/>
                </a:solidFill>
                <a:ea typeface="汉仪文黑-85W" panose="00020600040101010101" charset="-122"/>
              </a:rPr>
              <a:t>正交</a:t>
            </a:r>
            <a:r>
              <a:rPr lang="en-US" altLang="zh-CN" sz="3600" dirty="0">
                <a:solidFill>
                  <a:schemeClr val="accent1"/>
                </a:solidFill>
                <a:ea typeface="汉仪文黑-85W" panose="00020600040101010101" charset="-122"/>
              </a:rPr>
              <a:t>表</a:t>
            </a:r>
            <a:r>
              <a:rPr sz="3600" dirty="0">
                <a:solidFill>
                  <a:schemeClr val="accent1"/>
                </a:solidFill>
                <a:ea typeface="汉仪文黑-85W" panose="00020600040101010101" charset="-122"/>
              </a:rPr>
              <a:t>的结构</a:t>
            </a:r>
          </a:p>
        </p:txBody>
      </p:sp>
      <p:graphicFrame>
        <p:nvGraphicFramePr>
          <p:cNvPr id="5" name="表格 5"/>
          <p:cNvGraphicFramePr>
            <a:graphicFrameLocks noGrp="1"/>
          </p:cNvGraphicFramePr>
          <p:nvPr>
            <p:ph idx="1"/>
            <p:custDataLst>
              <p:tags r:id="rId1"/>
            </p:custDataLst>
          </p:nvPr>
        </p:nvGraphicFramePr>
        <p:xfrm>
          <a:off x="3575686" y="4653280"/>
          <a:ext cx="4989195" cy="1304290"/>
        </p:xfrm>
        <a:graphic>
          <a:graphicData uri="http://schemas.openxmlformats.org/drawingml/2006/table">
            <a:tbl>
              <a:tblPr firstRow="1" bandRow="1">
                <a:tableStyleId>{5C22544A-7EE6-4342-B048-85BDC9FD1C3A}</a:tableStyleId>
              </a:tblPr>
              <a:tblGrid>
                <a:gridCol w="1269365">
                  <a:extLst>
                    <a:ext uri="{9D8B030D-6E8A-4147-A177-3AD203B41FA5}">
                      <a16:colId xmlns:a16="http://schemas.microsoft.com/office/drawing/2014/main" val="20000"/>
                    </a:ext>
                  </a:extLst>
                </a:gridCol>
                <a:gridCol w="1350645">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89025">
                  <a:extLst>
                    <a:ext uri="{9D8B030D-6E8A-4147-A177-3AD203B41FA5}">
                      <a16:colId xmlns:a16="http://schemas.microsoft.com/office/drawing/2014/main" val="20003"/>
                    </a:ext>
                  </a:extLst>
                </a:gridCol>
              </a:tblGrid>
              <a:tr h="521970">
                <a:tc>
                  <a:txBody>
                    <a:bodyPr/>
                    <a:lstStyle/>
                    <a:p>
                      <a:pPr algn="ctr"/>
                      <a:r>
                        <a:rPr lang="zh-CN" altLang="en-US" sz="1800" dirty="0"/>
                        <a:t>因子</a:t>
                      </a:r>
                    </a:p>
                  </a:txBody>
                  <a:tcPr anchor="ctr"/>
                </a:tc>
                <a:tc gridSpan="3">
                  <a:txBody>
                    <a:bodyPr/>
                    <a:lstStyle/>
                    <a:p>
                      <a:pPr algn="ctr"/>
                      <a:r>
                        <a:rPr lang="zh-CN" altLang="en-US" sz="1800" dirty="0"/>
                        <a:t>因子的状态</a:t>
                      </a:r>
                    </a:p>
                  </a:txBody>
                  <a:tcPr anchor="ct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65760">
                <a:tc>
                  <a:txBody>
                    <a:bodyPr/>
                    <a:lstStyle/>
                    <a:p>
                      <a:pPr algn="ctr"/>
                      <a:r>
                        <a:rPr lang="zh-CN" altLang="en-US" sz="1800" dirty="0"/>
                        <a:t>操作系统</a:t>
                      </a:r>
                    </a:p>
                  </a:txBody>
                  <a:tcPr anchor="ctr"/>
                </a:tc>
                <a:tc>
                  <a:txBody>
                    <a:bodyPr/>
                    <a:lstStyle/>
                    <a:p>
                      <a:pPr algn="ctr"/>
                      <a:r>
                        <a:rPr lang="en-US" altLang="zh-CN" sz="1800" dirty="0"/>
                        <a:t>Windows</a:t>
                      </a:r>
                    </a:p>
                  </a:txBody>
                  <a:tcPr anchor="ctr"/>
                </a:tc>
                <a:tc>
                  <a:txBody>
                    <a:bodyPr/>
                    <a:lstStyle/>
                    <a:p>
                      <a:pPr algn="ctr"/>
                      <a:r>
                        <a:rPr lang="en-US" altLang="zh-CN" sz="1800" dirty="0" err="1"/>
                        <a:t>linux</a:t>
                      </a:r>
                    </a:p>
                  </a:txBody>
                  <a:tcPr anchor="ctr"/>
                </a:tc>
                <a:tc>
                  <a:txBody>
                    <a:bodyPr/>
                    <a:lstStyle/>
                    <a:p>
                      <a:pPr algn="ctr"/>
                      <a:r>
                        <a:rPr lang="en-US" altLang="zh-CN" sz="1800" dirty="0"/>
                        <a:t>Mac</a:t>
                      </a:r>
                    </a:p>
                  </a:txBody>
                  <a:tcPr anchor="ctr"/>
                </a:tc>
                <a:extLst>
                  <a:ext uri="{0D108BD9-81ED-4DB2-BD59-A6C34878D82A}">
                    <a16:rowId xmlns:a16="http://schemas.microsoft.com/office/drawing/2014/main" val="10001"/>
                  </a:ext>
                </a:extLst>
              </a:tr>
              <a:tr h="416560">
                <a:tc>
                  <a:txBody>
                    <a:bodyPr/>
                    <a:lstStyle/>
                    <a:p>
                      <a:pPr algn="ctr"/>
                      <a:r>
                        <a:rPr lang="zh-CN" altLang="en-US" sz="1800" dirty="0"/>
                        <a:t>数据库</a:t>
                      </a:r>
                    </a:p>
                  </a:txBody>
                  <a:tcPr anchor="ctr"/>
                </a:tc>
                <a:tc>
                  <a:txBody>
                    <a:bodyPr/>
                    <a:lstStyle/>
                    <a:p>
                      <a:pPr algn="ctr"/>
                      <a:r>
                        <a:rPr lang="en-US" altLang="zh-CN" sz="1800" dirty="0"/>
                        <a:t>MySQL</a:t>
                      </a:r>
                    </a:p>
                  </a:txBody>
                  <a:tcPr anchor="ctr"/>
                </a:tc>
                <a:tc>
                  <a:txBody>
                    <a:bodyPr/>
                    <a:lstStyle/>
                    <a:p>
                      <a:pPr algn="ctr"/>
                      <a:r>
                        <a:rPr lang="en-US" altLang="zh-CN" sz="1800" dirty="0"/>
                        <a:t>MongoDB</a:t>
                      </a:r>
                    </a:p>
                  </a:txBody>
                  <a:tcPr anchor="ctr"/>
                </a:tc>
                <a:tc>
                  <a:txBody>
                    <a:bodyPr/>
                    <a:lstStyle/>
                    <a:p>
                      <a:pPr algn="ctr"/>
                      <a:r>
                        <a:rPr lang="en-US" altLang="zh-CN" sz="1800" dirty="0"/>
                        <a:t>Oracle</a:t>
                      </a:r>
                    </a:p>
                  </a:txBody>
                  <a:tcPr anchor="ctr"/>
                </a:tc>
                <a:extLst>
                  <a:ext uri="{0D108BD9-81ED-4DB2-BD59-A6C34878D82A}">
                    <a16:rowId xmlns:a16="http://schemas.microsoft.com/office/drawing/2014/main" val="10002"/>
                  </a:ext>
                </a:extLst>
              </a:tr>
            </a:tbl>
          </a:graphicData>
        </a:graphic>
      </p:graphicFrame>
      <p:sp>
        <p:nvSpPr>
          <p:cNvPr id="23575" name="灯片编号占位符 3"/>
          <p:cNvSpPr txBox="1">
            <a:spLocks noGrp="1"/>
          </p:cNvSpPr>
          <p:nvPr>
            <p:ph type="sldNum" sz="quarter" idx="12"/>
            <p:custDataLst>
              <p:tags r:id="rId2"/>
            </p:custDataLst>
          </p:nvPr>
        </p:nvSpPr>
        <p:spPr/>
        <p:txBody>
          <a:bodyPr>
            <a:norm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lvl="0" algn="r" eaLnBrk="1" hangingPunct="1"/>
            <a:fld id="{9A0DB2DC-4C9A-4742-B13C-FB6460FD3503}" type="slidenum">
              <a:rPr lang="en-US" altLang="zh-CN" sz="1200" dirty="0">
                <a:solidFill>
                  <a:schemeClr val="dk1"/>
                </a:solidFill>
              </a:rPr>
              <a:t>30</a:t>
            </a:fld>
            <a:endParaRPr lang="en-US" altLang="zh-CN" sz="1200" dirty="0">
              <a:solidFill>
                <a:schemeClr val="dk1"/>
              </a:solidFill>
            </a:endParaRPr>
          </a:p>
        </p:txBody>
      </p:sp>
      <p:sp>
        <p:nvSpPr>
          <p:cNvPr id="2" name="日期占位符 1"/>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3" name="文本框 2"/>
          <p:cNvSpPr txBox="1"/>
          <p:nvPr>
            <p:custDataLst>
              <p:tags r:id="rId4"/>
            </p:custDataLst>
          </p:nvPr>
        </p:nvSpPr>
        <p:spPr>
          <a:xfrm>
            <a:off x="2026285" y="1988820"/>
            <a:ext cx="3470910" cy="1050290"/>
          </a:xfrm>
          <a:prstGeom prst="rect">
            <a:avLst/>
          </a:prstGeom>
          <a:noFill/>
        </p:spPr>
        <p:txBody>
          <a:bodyPr wrap="square" rtlCol="0">
            <a:spAutoFit/>
          </a:bodyPr>
          <a:lstStyle/>
          <a:p>
            <a:pPr>
              <a:lnSpc>
                <a:spcPct val="130000"/>
              </a:lnSpc>
            </a:pPr>
            <a:r>
              <a:rPr lang="en-US" altLang="zh-CN" sz="2400" dirty="0">
                <a:solidFill>
                  <a:schemeClr val="accent1"/>
                </a:solidFill>
                <a:ea typeface="汉仪文黑-85W" panose="00020600040101010101" charset="-122"/>
                <a:sym typeface="+mn-ea"/>
              </a:rPr>
              <a:t>       因子-状态</a:t>
            </a:r>
          </a:p>
          <a:p>
            <a:pPr>
              <a:lnSpc>
                <a:spcPct val="130000"/>
              </a:lnSpc>
              <a:buClrTx/>
              <a:buSzTx/>
              <a:buFontTx/>
            </a:pPr>
            <a:r>
              <a:rPr lang="en-US" altLang="zh-CN" sz="2400" dirty="0">
                <a:solidFill>
                  <a:schemeClr val="accent1"/>
                </a:solidFill>
                <a:ea typeface="汉仪文黑-85W" panose="00020600040101010101" charset="-122"/>
              </a:rPr>
              <a:t>又称因素-水平</a:t>
            </a:r>
          </a:p>
        </p:txBody>
      </p:sp>
      <p:pic>
        <p:nvPicPr>
          <p:cNvPr id="100" name="图片 99"/>
          <p:cNvPicPr/>
          <p:nvPr/>
        </p:nvPicPr>
        <p:blipFill>
          <a:blip r:embed="rId6"/>
          <a:stretch>
            <a:fillRect/>
          </a:stretch>
        </p:blipFill>
        <p:spPr>
          <a:xfrm>
            <a:off x="5215574" y="260034"/>
            <a:ext cx="4791075" cy="4200525"/>
          </a:xfrm>
          <a:prstGeom prst="rect">
            <a:avLst/>
          </a:prstGeom>
          <a:noFill/>
          <a:ln w="9525">
            <a:noFill/>
          </a:ln>
        </p:spPr>
      </p:pic>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2026285" y="498476"/>
            <a:ext cx="8139430" cy="784225"/>
          </a:xfrm>
        </p:spPr>
        <p:txBody>
          <a:bodyPr vert="horz" wrap="square" lIns="91440" tIns="45720" rIns="91440" bIns="45720" rtlCol="0" anchor="b" anchorCtr="0">
            <a:normAutofit/>
          </a:bodyPr>
          <a:lstStyle/>
          <a:p>
            <a:pPr algn="l" eaLnBrk="1" hangingPunct="1">
              <a:buClrTx/>
              <a:buSzTx/>
              <a:buFontTx/>
            </a:pPr>
            <a:r>
              <a:rPr lang="en-US" altLang="zh-CN" dirty="0">
                <a:solidFill>
                  <a:schemeClr val="accent1"/>
                </a:solidFill>
                <a:ea typeface="汉仪文黑-85W" panose="00020600040101010101" charset="-122"/>
              </a:rPr>
              <a:t>基于正交表的测试</a:t>
            </a:r>
          </a:p>
        </p:txBody>
      </p:sp>
      <p:sp>
        <p:nvSpPr>
          <p:cNvPr id="26627" name="Rectangle 3"/>
          <p:cNvSpPr>
            <a:spLocks noGrp="1"/>
          </p:cNvSpPr>
          <p:nvPr>
            <p:ph idx="1"/>
            <p:custDataLst>
              <p:tags r:id="rId1"/>
            </p:custDataLst>
          </p:nvPr>
        </p:nvSpPr>
        <p:spPr>
          <a:xfrm>
            <a:off x="2098040" y="1551940"/>
            <a:ext cx="8081010" cy="4959350"/>
          </a:xfrm>
        </p:spPr>
        <p:txBody>
          <a:bodyPr vert="horz" wrap="square" lIns="91440" tIns="45720" rIns="91440" bIns="45720" rtlCol="0" anchor="t" anchorCtr="0">
            <a:normAutofit lnSpcReduction="10000"/>
          </a:bodyPr>
          <a:lstStyle/>
          <a:p>
            <a:pPr eaLnBrk="1" hangingPunct="1"/>
            <a:r>
              <a:rPr lang="zh-CN" altLang="en-US" sz="3400" dirty="0">
                <a:solidFill>
                  <a:schemeClr val="dk1"/>
                </a:solidFill>
              </a:rPr>
              <a:t>根据正交性原理，从全面试验中挑选部分有代表性的试验点，并能求出最佳工艺参数和工艺条件，这些代表性试验点的特性为：</a:t>
            </a:r>
            <a:endParaRPr lang="en-US" altLang="zh-CN" sz="3400" dirty="0">
              <a:solidFill>
                <a:schemeClr val="dk1"/>
              </a:solidFill>
            </a:endParaRPr>
          </a:p>
          <a:p>
            <a:pPr lvl="1" eaLnBrk="1" hangingPunct="1"/>
            <a:r>
              <a:rPr sz="3500" b="1" dirty="0" err="1">
                <a:solidFill>
                  <a:schemeClr val="dk1"/>
                </a:solidFill>
                <a:sym typeface="+mn-ea"/>
              </a:rPr>
              <a:t>整齐可比</a:t>
            </a:r>
            <a:endParaRPr lang="en-US" altLang="zh-CN" sz="3500" b="1" dirty="0">
              <a:solidFill>
                <a:schemeClr val="dk1"/>
              </a:solidFill>
            </a:endParaRPr>
          </a:p>
          <a:p>
            <a:pPr lvl="1" eaLnBrk="1" hangingPunct="1"/>
            <a:r>
              <a:rPr sz="3500" b="1" dirty="0" err="1">
                <a:solidFill>
                  <a:schemeClr val="dk1"/>
                </a:solidFill>
                <a:sym typeface="+mn-ea"/>
              </a:rPr>
              <a:t>均匀分散</a:t>
            </a:r>
            <a:endParaRPr sz="3500" b="1" dirty="0">
              <a:solidFill>
                <a:schemeClr val="dk1"/>
              </a:solidFill>
              <a:sym typeface="+mn-ea"/>
            </a:endParaRPr>
          </a:p>
          <a:p>
            <a:pPr lvl="1" eaLnBrk="1" hangingPunct="1"/>
            <a:endParaRPr lang="zh-CN" altLang="en-US" sz="2800" b="1" dirty="0">
              <a:solidFill>
                <a:schemeClr val="dk1"/>
              </a:solidFill>
            </a:endParaRPr>
          </a:p>
          <a:p>
            <a:pPr lvl="1" eaLnBrk="1" hangingPunct="1"/>
            <a:endParaRPr lang="zh-CN" altLang="en-US" sz="2800" b="1" dirty="0">
              <a:solidFill>
                <a:schemeClr val="dk1"/>
              </a:solidFill>
            </a:endParaRPr>
          </a:p>
          <a:p>
            <a:pPr lvl="1" eaLnBrk="1" hangingPunct="1"/>
            <a:r>
              <a:rPr lang="zh-CN" altLang="en-US" sz="2800" b="1" dirty="0">
                <a:solidFill>
                  <a:schemeClr val="dk1"/>
                </a:solidFill>
              </a:rPr>
              <a:t>保证每个实验因子及其取值都能参与实验，减少了人为测试习惯导致覆盖率低及冗余测试用例的风险。</a:t>
            </a:r>
          </a:p>
        </p:txBody>
      </p:sp>
      <p:sp>
        <p:nvSpPr>
          <p:cNvPr id="26628" name="灯片编号占位符 5"/>
          <p:cNvSpPr txBox="1">
            <a:spLocks noGrp="1"/>
          </p:cNvSpPr>
          <p:nvPr>
            <p:ph type="sldNum" sz="quarter" idx="12"/>
            <p:custDataLst>
              <p:tags r:id="rId2"/>
            </p:custDataLst>
          </p:nvPr>
        </p:nvSpPr>
        <p:spPr/>
        <p:txBody>
          <a:bodyPr>
            <a:normAutofit/>
          </a:bodyPr>
          <a:lstStyle/>
          <a:p>
            <a:pPr>
              <a:spcBef>
                <a:spcPct val="0"/>
              </a:spcBef>
            </a:pPr>
            <a:fld id="{9A0DB2DC-4C9A-4742-B13C-FB6460FD3503}" type="slidenum">
              <a:rPr lang="en-US" altLang="zh-CN" sz="1400" dirty="0">
                <a:solidFill>
                  <a:schemeClr val="dk1">
                    <a:tint val="75000"/>
                  </a:schemeClr>
                </a:solidFill>
                <a:latin typeface="Comic Sans MS" panose="030F0702030302020204" pitchFamily="66" charset="0"/>
              </a:rPr>
              <a:pPr>
                <a:spcBef>
                  <a:spcPct val="0"/>
                </a:spcBef>
              </a:pPr>
              <a:t>31</a:t>
            </a:fld>
            <a:endParaRPr lang="en-US" altLang="zh-CN" sz="1400" dirty="0">
              <a:solidFill>
                <a:schemeClr val="dk1">
                  <a:tint val="75000"/>
                </a:schemeClr>
              </a:solidFill>
              <a:latin typeface="Comic Sans MS" panose="030F0702030302020204" pitchFamily="66" charset="0"/>
            </a:endParaRPr>
          </a:p>
        </p:txBody>
      </p:sp>
      <p:sp>
        <p:nvSpPr>
          <p:cNvPr id="2" name="日期占位符 1"/>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3" name="线形标注 1 2"/>
          <p:cNvSpPr/>
          <p:nvPr>
            <p:custDataLst>
              <p:tags r:id="rId4"/>
            </p:custDataLst>
          </p:nvPr>
        </p:nvSpPr>
        <p:spPr>
          <a:xfrm>
            <a:off x="6095365" y="2935081"/>
            <a:ext cx="3765550" cy="798195"/>
          </a:xfrm>
          <a:prstGeom prst="borderCallout1">
            <a:avLst>
              <a:gd name="adj1" fmla="val 18750"/>
              <a:gd name="adj2" fmla="val -8333"/>
              <a:gd name="adj3" fmla="val 72647"/>
              <a:gd name="adj4" fmla="val -49861"/>
            </a:avLst>
          </a:prstGeom>
          <a:solidFill>
            <a:schemeClr val="lt1"/>
          </a:solid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just">
              <a:lnSpc>
                <a:spcPct val="110000"/>
              </a:lnSpc>
            </a:pPr>
            <a:r>
              <a:rPr lang="zh-CN" altLang="en-US" sz="2000"/>
              <a:t>同一正交表中，每个因子的每个水平出现的次数完全相同。</a:t>
            </a:r>
          </a:p>
        </p:txBody>
      </p:sp>
      <p:sp>
        <p:nvSpPr>
          <p:cNvPr id="4" name="线形标注 1 3"/>
          <p:cNvSpPr/>
          <p:nvPr>
            <p:custDataLst>
              <p:tags r:id="rId5"/>
            </p:custDataLst>
          </p:nvPr>
        </p:nvSpPr>
        <p:spPr>
          <a:xfrm>
            <a:off x="6095365" y="3844175"/>
            <a:ext cx="3736340" cy="1206500"/>
          </a:xfrm>
          <a:prstGeom prst="borderCallout1">
            <a:avLst>
              <a:gd name="adj1" fmla="val 18750"/>
              <a:gd name="adj2" fmla="val -8333"/>
              <a:gd name="adj3" fmla="val 23614"/>
              <a:gd name="adj4" fmla="val -49870"/>
            </a:avLst>
          </a:prstGeom>
          <a:solidFill>
            <a:schemeClr val="lt1"/>
          </a:solidFill>
          <a:ln>
            <a:solidFill>
              <a:schemeClr val="accent5"/>
            </a:solidFill>
          </a:ln>
        </p:spPr>
        <p:style>
          <a:lnRef idx="2">
            <a:schemeClr val="accent5"/>
          </a:lnRef>
          <a:fillRef idx="1">
            <a:schemeClr val="lt1"/>
          </a:fillRef>
          <a:effectRef idx="0">
            <a:schemeClr val="accent5"/>
          </a:effectRef>
          <a:fontRef idx="minor">
            <a:schemeClr val="dk1"/>
          </a:fontRef>
        </p:style>
        <p:txBody>
          <a:bodyPr rtlCol="0" anchor="ctr"/>
          <a:lstStyle/>
          <a:p>
            <a:pPr algn="just">
              <a:lnSpc>
                <a:spcPct val="110000"/>
              </a:lnSpc>
            </a:pPr>
            <a:r>
              <a:rPr lang="zh-CN" altLang="en-US" sz="2000"/>
              <a:t>同一正交表中，任意两列（两个因子）的水平搭配（横向形成的数字对）完全相同。</a:t>
            </a: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0" bldLvl="0" animBg="1"/>
      <p:bldP spid="4"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custDataLst>
              <p:tags r:id="rId1"/>
            </p:custDataLst>
          </p:nvPr>
        </p:nvSpPr>
        <p:spPr>
          <a:xfrm>
            <a:off x="2439671" y="1943100"/>
            <a:ext cx="7726045" cy="3724910"/>
          </a:xfrm>
        </p:spPr>
        <p:txBody>
          <a:bodyPr vert="horz" wrap="square" lIns="91440" tIns="45720" rIns="91440" bIns="45720" rtlCol="0" anchor="t" anchorCtr="0">
            <a:normAutofit/>
          </a:bodyPr>
          <a:lstStyle/>
          <a:p>
            <a:pPr lvl="0" eaLnBrk="1" hangingPunct="1"/>
            <a:r>
              <a:rPr lang="zh-CN" altLang="en-US" sz="3100" dirty="0">
                <a:solidFill>
                  <a:schemeClr val="dk1"/>
                </a:solidFill>
              </a:rPr>
              <a:t>正交表的结构</a:t>
            </a:r>
            <a:endParaRPr lang="en-US" altLang="zh-CN" sz="3100" dirty="0">
              <a:solidFill>
                <a:schemeClr val="dk1"/>
              </a:solidFill>
            </a:endParaRPr>
          </a:p>
          <a:p>
            <a:pPr lvl="0" eaLnBrk="1" hangingPunct="1"/>
            <a:r>
              <a:rPr lang="zh-CN" altLang="en-US" sz="3100" dirty="0">
                <a:solidFill>
                  <a:schemeClr val="dk1"/>
                </a:solidFill>
              </a:rPr>
              <a:t>正交表的性质和特点</a:t>
            </a:r>
            <a:endParaRPr lang="en-US" altLang="zh-CN" sz="3100" dirty="0">
              <a:solidFill>
                <a:schemeClr val="dk1"/>
              </a:solidFill>
            </a:endParaRPr>
          </a:p>
          <a:p>
            <a:pPr lvl="0" eaLnBrk="1" hangingPunct="1"/>
            <a:r>
              <a:rPr lang="zh-CN" altLang="en-US" sz="3100" dirty="0">
                <a:solidFill>
                  <a:schemeClr val="dk1"/>
                </a:solidFill>
              </a:rPr>
              <a:t>结果的分析</a:t>
            </a:r>
            <a:endParaRPr lang="en-US" altLang="zh-CN" sz="3100" dirty="0">
              <a:solidFill>
                <a:schemeClr val="dk1"/>
              </a:solidFill>
            </a:endParaRPr>
          </a:p>
          <a:p>
            <a:pPr lvl="0" eaLnBrk="1" hangingPunct="1"/>
            <a:r>
              <a:rPr lang="zh-CN" altLang="en-US" sz="3100" dirty="0">
                <a:solidFill>
                  <a:schemeClr val="dk1"/>
                </a:solidFill>
              </a:rPr>
              <a:t>测试用例的设计</a:t>
            </a:r>
          </a:p>
        </p:txBody>
      </p:sp>
      <p:sp>
        <p:nvSpPr>
          <p:cNvPr id="27652" name="灯片编号占位符 5"/>
          <p:cNvSpPr txBox="1">
            <a:spLocks noGrp="1"/>
          </p:cNvSpPr>
          <p:nvPr>
            <p:ph type="sldNum" sz="quarter" idx="12"/>
            <p:custDataLst>
              <p:tags r:id="rId2"/>
            </p:custDataLst>
          </p:nvPr>
        </p:nvSpPr>
        <p:spPr/>
        <p:txBody>
          <a:bodyPr>
            <a:normAutofit fontScale="97500"/>
          </a:bodyPr>
          <a:lstStyle/>
          <a:p>
            <a:pPr>
              <a:spcBef>
                <a:spcPct val="0"/>
              </a:spcBef>
            </a:pPr>
            <a:fld id="{9A0DB2DC-4C9A-4742-B13C-FB6460FD3503}" type="slidenum">
              <a:rPr lang="en-US" altLang="zh-CN" sz="1400" dirty="0">
                <a:solidFill>
                  <a:schemeClr val="dk1">
                    <a:tint val="75000"/>
                  </a:schemeClr>
                </a:solidFill>
                <a:latin typeface="Comic Sans MS" panose="030F0702030302020204" pitchFamily="66" charset="0"/>
              </a:rPr>
              <a:pPr>
                <a:spcBef>
                  <a:spcPct val="0"/>
                </a:spcBef>
              </a:pPr>
              <a:t>32</a:t>
            </a:fld>
            <a:endParaRPr lang="en-US" altLang="zh-CN" sz="1400" dirty="0">
              <a:solidFill>
                <a:schemeClr val="dk1">
                  <a:tint val="75000"/>
                </a:schemeClr>
              </a:solidFill>
              <a:latin typeface="Comic Sans MS" panose="030F0702030302020204" pitchFamily="66" charset="0"/>
            </a:endParaRPr>
          </a:p>
        </p:txBody>
      </p:sp>
      <p:sp>
        <p:nvSpPr>
          <p:cNvPr id="26626" name="Rectangle 2"/>
          <p:cNvSpPr>
            <a:spLocks noGrp="1"/>
          </p:cNvSpPr>
          <p:nvPr>
            <p:ph type="title"/>
          </p:nvPr>
        </p:nvSpPr>
        <p:spPr>
          <a:xfrm>
            <a:off x="2026285" y="498476"/>
            <a:ext cx="8139430" cy="784225"/>
          </a:xfrm>
        </p:spPr>
        <p:txBody>
          <a:bodyPr vert="horz" wrap="square" lIns="91440" tIns="45720" rIns="91440" bIns="45720" rtlCol="0" anchor="b" anchorCtr="0">
            <a:normAutofit/>
          </a:bodyPr>
          <a:lstStyle/>
          <a:p>
            <a:pPr algn="l" eaLnBrk="1" hangingPunct="1">
              <a:buClrTx/>
              <a:buSzTx/>
              <a:buFontTx/>
            </a:pPr>
            <a:r>
              <a:rPr lang="en-US" altLang="zh-CN" dirty="0">
                <a:solidFill>
                  <a:schemeClr val="accent1"/>
                </a:solidFill>
                <a:ea typeface="汉仪文黑-85W" panose="00020600040101010101" charset="-122"/>
              </a:rPr>
              <a:t>基于正交表的测试</a:t>
            </a:r>
          </a:p>
        </p:txBody>
      </p:sp>
      <p:sp>
        <p:nvSpPr>
          <p:cNvPr id="3" name="日期占位符 2"/>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3"/>
          <p:cNvSpPr>
            <a:spLocks noGrp="1" noChangeArrowheads="1"/>
          </p:cNvSpPr>
          <p:nvPr>
            <p:ph idx="1"/>
            <p:custDataLst>
              <p:tags r:id="rId1"/>
            </p:custDataLst>
          </p:nvPr>
        </p:nvSpPr>
        <p:spPr>
          <a:xfrm>
            <a:off x="2026285" y="1763396"/>
            <a:ext cx="8139430" cy="4561205"/>
          </a:xfrm>
        </p:spPr>
        <p:txBody>
          <a:bodyPr vert="horz" wrap="square" lIns="91440" tIns="45720" rIns="91440" bIns="45720" numCol="1" rtlCol="0" anchor="t" anchorCtr="0" compatLnSpc="1">
            <a:normAutofit fontScale="97500" lnSpcReduction="10000"/>
          </a:bodyPr>
          <a:lstStyle/>
          <a:p>
            <a:pPr marL="469900" indent="-469900" fontAlgn="base">
              <a:lnSpc>
                <a:spcPct val="100000"/>
              </a:lnSpc>
              <a:spcBef>
                <a:spcPct val="20000"/>
              </a:spcBef>
              <a:spcAft>
                <a:spcPct val="0"/>
              </a:spcAft>
              <a:buClr>
                <a:schemeClr val="accent2"/>
              </a:buClr>
              <a:buFont typeface="Wingdings" panose="05000000000000000000" pitchFamily="2" charset="2"/>
              <a:buChar char="o"/>
              <a:defRPr/>
            </a:pPr>
            <a:r>
              <a:rPr lang="zh-CN" altLang="en-US" sz="3400" b="1" kern="0" dirty="0">
                <a:solidFill>
                  <a:schemeClr val="dk1"/>
                </a:solidFill>
              </a:rPr>
              <a:t>正交表的公式</a:t>
            </a:r>
          </a:p>
          <a:p>
            <a:pPr marL="469900" indent="-469900" fontAlgn="base">
              <a:lnSpc>
                <a:spcPct val="100000"/>
              </a:lnSpc>
              <a:spcBef>
                <a:spcPct val="20000"/>
              </a:spcBef>
              <a:spcAft>
                <a:spcPct val="0"/>
              </a:spcAft>
              <a:buClr>
                <a:schemeClr val="accent2"/>
              </a:buClr>
              <a:buFont typeface="Wingdings" panose="05000000000000000000" pitchFamily="2" charset="2"/>
              <a:buChar char="o"/>
              <a:defRPr/>
            </a:pPr>
            <a:endParaRPr lang="en-US" altLang="zh-CN" sz="3400" kern="0" dirty="0">
              <a:solidFill>
                <a:schemeClr val="dk1"/>
              </a:solidFill>
            </a:endParaRPr>
          </a:p>
          <a:p>
            <a:pPr marL="908050" lvl="1" indent="-436880" fontAlgn="base">
              <a:lnSpc>
                <a:spcPct val="140000"/>
              </a:lnSpc>
              <a:spcBef>
                <a:spcPct val="20000"/>
              </a:spcBef>
              <a:spcAft>
                <a:spcPct val="0"/>
              </a:spcAft>
              <a:buClr>
                <a:schemeClr val="accent2"/>
              </a:buClr>
              <a:buFont typeface="Wingdings" panose="05000000000000000000" pitchFamily="2" charset="2"/>
              <a:buChar char="n"/>
              <a:defRPr/>
            </a:pPr>
            <a:r>
              <a:rPr lang="en-US" sz="2600" i="1" kern="0" dirty="0">
                <a:solidFill>
                  <a:schemeClr val="dk1"/>
                </a:solidFill>
              </a:rPr>
              <a:t>n</a:t>
            </a:r>
            <a:r>
              <a:rPr lang="zh-CN" altLang="en-US" sz="2600" kern="0" dirty="0">
                <a:solidFill>
                  <a:schemeClr val="dk1"/>
                </a:solidFill>
              </a:rPr>
              <a:t>：实际测试用例的个数，对应正交表的行数；</a:t>
            </a:r>
          </a:p>
          <a:p>
            <a:pPr marL="908050" lvl="1" indent="-436880" fontAlgn="base">
              <a:lnSpc>
                <a:spcPct val="140000"/>
              </a:lnSpc>
              <a:spcBef>
                <a:spcPct val="20000"/>
              </a:spcBef>
              <a:spcAft>
                <a:spcPct val="0"/>
              </a:spcAft>
              <a:buClr>
                <a:schemeClr val="accent2"/>
              </a:buClr>
              <a:buFont typeface="Wingdings" panose="05000000000000000000" pitchFamily="2" charset="2"/>
              <a:buChar char="n"/>
              <a:defRPr/>
            </a:pPr>
            <a:r>
              <a:rPr lang="en-US" sz="2600" i="1" kern="0" dirty="0">
                <a:solidFill>
                  <a:schemeClr val="dk1"/>
                </a:solidFill>
              </a:rPr>
              <a:t>q</a:t>
            </a:r>
            <a:r>
              <a:rPr lang="zh-CN" altLang="en-US" sz="2600" kern="0" dirty="0">
                <a:solidFill>
                  <a:schemeClr val="dk1"/>
                </a:solidFill>
              </a:rPr>
              <a:t>：每个输入条件所取测试数据的个数，对应正交表中每个输入条件的取值个数；</a:t>
            </a:r>
          </a:p>
          <a:p>
            <a:pPr marL="908050" lvl="1" indent="-436880" fontAlgn="base">
              <a:lnSpc>
                <a:spcPct val="140000"/>
              </a:lnSpc>
              <a:spcBef>
                <a:spcPct val="20000"/>
              </a:spcBef>
              <a:spcAft>
                <a:spcPct val="0"/>
              </a:spcAft>
              <a:buClr>
                <a:schemeClr val="accent2"/>
              </a:buClr>
              <a:buFont typeface="Wingdings" panose="05000000000000000000" pitchFamily="2" charset="2"/>
              <a:buChar char="n"/>
              <a:defRPr/>
            </a:pPr>
            <a:r>
              <a:rPr lang="en-US" sz="2600" i="1" kern="0" dirty="0">
                <a:solidFill>
                  <a:schemeClr val="dk1"/>
                </a:solidFill>
              </a:rPr>
              <a:t>s</a:t>
            </a:r>
            <a:r>
              <a:rPr lang="zh-CN" altLang="en-US" sz="2600" kern="0" dirty="0">
                <a:solidFill>
                  <a:schemeClr val="dk1"/>
                </a:solidFill>
              </a:rPr>
              <a:t>：输入条件的总数，对应正交表的列数；</a:t>
            </a:r>
          </a:p>
          <a:p>
            <a:pPr marL="908050" lvl="1" indent="-436880" fontAlgn="base">
              <a:lnSpc>
                <a:spcPct val="140000"/>
              </a:lnSpc>
              <a:spcBef>
                <a:spcPct val="20000"/>
              </a:spcBef>
              <a:spcAft>
                <a:spcPct val="0"/>
              </a:spcAft>
              <a:buClr>
                <a:schemeClr val="accent2"/>
              </a:buClr>
              <a:buFont typeface="Wingdings" panose="05000000000000000000" pitchFamily="2" charset="2"/>
              <a:buChar char="n"/>
              <a:defRPr/>
            </a:pPr>
            <a:r>
              <a:rPr lang="en-US" sz="2600" i="1" kern="0" dirty="0" err="1">
                <a:solidFill>
                  <a:schemeClr val="dk1"/>
                </a:solidFill>
              </a:rPr>
              <a:t>q</a:t>
            </a:r>
            <a:r>
              <a:rPr lang="en-US" sz="2600" i="1" kern="0" baseline="30000" dirty="0" err="1">
                <a:solidFill>
                  <a:schemeClr val="dk1"/>
                </a:solidFill>
              </a:rPr>
              <a:t>s</a:t>
            </a:r>
            <a:r>
              <a:rPr lang="zh-CN" altLang="en-US" sz="2600" kern="0" dirty="0">
                <a:solidFill>
                  <a:schemeClr val="dk1"/>
                </a:solidFill>
              </a:rPr>
              <a:t>：理论上全组合方式的测试用例个数，基于正交表的测试效率为</a:t>
            </a:r>
            <a:r>
              <a:rPr lang="en-US" sz="2600" i="1" kern="0" dirty="0">
                <a:solidFill>
                  <a:schemeClr val="dk1"/>
                </a:solidFill>
              </a:rPr>
              <a:t>n</a:t>
            </a:r>
            <a:r>
              <a:rPr lang="zh-CN" altLang="en-US" sz="2600" kern="0" dirty="0">
                <a:solidFill>
                  <a:schemeClr val="dk1"/>
                </a:solidFill>
              </a:rPr>
              <a:t>与</a:t>
            </a:r>
            <a:r>
              <a:rPr lang="en-US" sz="2600" i="1" kern="0" dirty="0" err="1">
                <a:solidFill>
                  <a:schemeClr val="dk1"/>
                </a:solidFill>
              </a:rPr>
              <a:t>q</a:t>
            </a:r>
            <a:r>
              <a:rPr lang="en-US" sz="2600" i="1" kern="0" baseline="30000" dirty="0" err="1">
                <a:solidFill>
                  <a:schemeClr val="dk1"/>
                </a:solidFill>
              </a:rPr>
              <a:t>s</a:t>
            </a:r>
            <a:r>
              <a:rPr lang="zh-CN" altLang="en-US" sz="2600" kern="0" dirty="0">
                <a:solidFill>
                  <a:schemeClr val="dk1"/>
                </a:solidFill>
              </a:rPr>
              <a:t>的比值</a:t>
            </a:r>
          </a:p>
        </p:txBody>
      </p:sp>
      <p:sp>
        <p:nvSpPr>
          <p:cNvPr id="28676" name="灯片编号占位符 5"/>
          <p:cNvSpPr txBox="1">
            <a:spLocks noGrp="1"/>
          </p:cNvSpPr>
          <p:nvPr>
            <p:ph type="sldNum" sz="quarter" idx="12"/>
            <p:custDataLst>
              <p:tags r:id="rId2"/>
            </p:custDataLst>
          </p:nvPr>
        </p:nvSpPr>
        <p:spPr/>
        <p:txBody>
          <a:bodyPr>
            <a:normAutofit fontScale="97500"/>
          </a:bodyPr>
          <a:lstStyle/>
          <a:p>
            <a:pPr>
              <a:spcBef>
                <a:spcPct val="0"/>
              </a:spcBef>
            </a:pPr>
            <a:fld id="{9A0DB2DC-4C9A-4742-B13C-FB6460FD3503}" type="slidenum">
              <a:rPr lang="en-US" altLang="zh-CN" sz="1400" dirty="0">
                <a:solidFill>
                  <a:schemeClr val="dk1">
                    <a:tint val="75000"/>
                  </a:schemeClr>
                </a:solidFill>
                <a:latin typeface="Comic Sans MS" panose="030F0702030302020204" pitchFamily="66" charset="0"/>
              </a:rPr>
              <a:pPr>
                <a:spcBef>
                  <a:spcPct val="0"/>
                </a:spcBef>
              </a:pPr>
              <a:t>33</a:t>
            </a:fld>
            <a:endParaRPr lang="en-US" altLang="zh-CN" sz="1400" dirty="0">
              <a:solidFill>
                <a:schemeClr val="dk1">
                  <a:tint val="75000"/>
                </a:schemeClr>
              </a:solidFill>
              <a:latin typeface="Comic Sans MS" panose="030F0702030302020204" pitchFamily="66" charset="0"/>
            </a:endParaRPr>
          </a:p>
        </p:txBody>
      </p:sp>
      <p:graphicFrame>
        <p:nvGraphicFramePr>
          <p:cNvPr id="28677" name="Object 4"/>
          <p:cNvGraphicFramePr>
            <a:graphicFrameLocks noChangeAspect="1"/>
          </p:cNvGraphicFramePr>
          <p:nvPr/>
        </p:nvGraphicFramePr>
        <p:xfrm>
          <a:off x="6599556" y="1282384"/>
          <a:ext cx="2663825" cy="1398587"/>
        </p:xfrm>
        <a:graphic>
          <a:graphicData uri="http://schemas.openxmlformats.org/presentationml/2006/ole">
            <mc:AlternateContent xmlns:mc="http://schemas.openxmlformats.org/markup-compatibility/2006">
              <mc:Choice xmlns:v="urn:schemas-microsoft-com:vml" Requires="v">
                <p:oleObj r:id="rId5" imgW="381000" imgH="203200" progId="">
                  <p:embed/>
                </p:oleObj>
              </mc:Choice>
              <mc:Fallback>
                <p:oleObj r:id="rId5" imgW="381000" imgH="203200" progId="">
                  <p:embed/>
                  <p:pic>
                    <p:nvPicPr>
                      <p:cNvPr id="28677" name="Object 4"/>
                      <p:cNvPicPr/>
                      <p:nvPr/>
                    </p:nvPicPr>
                    <p:blipFill>
                      <a:blip r:embed="rId6"/>
                      <a:stretch>
                        <a:fillRect/>
                      </a:stretch>
                    </p:blipFill>
                    <p:spPr>
                      <a:xfrm>
                        <a:off x="6599556" y="1282384"/>
                        <a:ext cx="2663825" cy="1398587"/>
                      </a:xfrm>
                      <a:prstGeom prst="rect">
                        <a:avLst/>
                      </a:prstGeom>
                      <a:noFill/>
                      <a:ln w="38100">
                        <a:noFill/>
                        <a:miter/>
                      </a:ln>
                    </p:spPr>
                  </p:pic>
                </p:oleObj>
              </mc:Fallback>
            </mc:AlternateContent>
          </a:graphicData>
        </a:graphic>
      </p:graphicFrame>
      <p:sp>
        <p:nvSpPr>
          <p:cNvPr id="26626" name="Rectangle 2"/>
          <p:cNvSpPr>
            <a:spLocks noGrp="1"/>
          </p:cNvSpPr>
          <p:nvPr>
            <p:ph type="title"/>
          </p:nvPr>
        </p:nvSpPr>
        <p:spPr>
          <a:xfrm>
            <a:off x="2026285" y="498476"/>
            <a:ext cx="8139430" cy="784225"/>
          </a:xfrm>
        </p:spPr>
        <p:txBody>
          <a:bodyPr vert="horz" wrap="square" lIns="91440" tIns="45720" rIns="91440" bIns="45720" rtlCol="0" anchor="b" anchorCtr="0">
            <a:normAutofit/>
          </a:bodyPr>
          <a:lstStyle/>
          <a:p>
            <a:pPr algn="l" eaLnBrk="1" hangingPunct="1">
              <a:buClrTx/>
              <a:buSzTx/>
              <a:buFontTx/>
            </a:pPr>
            <a:r>
              <a:rPr lang="en-US" altLang="zh-CN" dirty="0">
                <a:solidFill>
                  <a:schemeClr val="accent1"/>
                </a:solidFill>
                <a:ea typeface="汉仪文黑-85W" panose="00020600040101010101" charset="-122"/>
              </a:rPr>
              <a:t>基于正交表的测试</a:t>
            </a:r>
          </a:p>
        </p:txBody>
      </p:sp>
      <p:sp>
        <p:nvSpPr>
          <p:cNvPr id="3" name="日期占位符 2"/>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2026285" y="498476"/>
            <a:ext cx="8139430" cy="1137285"/>
          </a:xfrm>
        </p:spPr>
        <p:txBody>
          <a:bodyPr>
            <a:noAutofit/>
          </a:bodyPr>
          <a:lstStyle/>
          <a:p>
            <a:pPr algn="l">
              <a:buClrTx/>
              <a:buSzTx/>
              <a:buFontTx/>
            </a:pPr>
            <a:r>
              <a:rPr lang="en-US" altLang="zh-CN">
                <a:solidFill>
                  <a:schemeClr val="accent1"/>
                </a:solidFill>
                <a:ea typeface="汉仪文黑-85W" panose="00020600040101010101" charset="-122"/>
              </a:rPr>
              <a:t>正交表的类型</a:t>
            </a:r>
          </a:p>
        </p:txBody>
      </p:sp>
      <p:pic>
        <p:nvPicPr>
          <p:cNvPr id="9" name="图片 8"/>
          <p:cNvPicPr>
            <a:picLocks noChangeAspect="1"/>
          </p:cNvPicPr>
          <p:nvPr/>
        </p:nvPicPr>
        <p:blipFill>
          <a:blip r:embed="rId5"/>
          <a:srcRect l="10613" t="13739" r="10466" b="17567"/>
          <a:stretch>
            <a:fillRect/>
          </a:stretch>
        </p:blipFill>
        <p:spPr>
          <a:xfrm>
            <a:off x="6536691" y="1412876"/>
            <a:ext cx="3744595" cy="1800225"/>
          </a:xfrm>
          <a:prstGeom prst="rect">
            <a:avLst/>
          </a:prstGeom>
        </p:spPr>
      </p:pic>
      <p:sp>
        <p:nvSpPr>
          <p:cNvPr id="8" name="内容占位符 7"/>
          <p:cNvSpPr>
            <a:spLocks noGrp="1"/>
          </p:cNvSpPr>
          <p:nvPr>
            <p:ph idx="1"/>
            <p:custDataLst>
              <p:tags r:id="rId1"/>
            </p:custDataLst>
          </p:nvPr>
        </p:nvSpPr>
        <p:spPr>
          <a:xfrm>
            <a:off x="2026286" y="1700530"/>
            <a:ext cx="4510405" cy="4418330"/>
          </a:xfrm>
        </p:spPr>
        <p:txBody>
          <a:bodyPr>
            <a:normAutofit/>
          </a:bodyPr>
          <a:lstStyle/>
          <a:p>
            <a:pPr marL="457200" lvl="1" indent="0" fontAlgn="base">
              <a:lnSpc>
                <a:spcPct val="150000"/>
              </a:lnSpc>
              <a:spcAft>
                <a:spcPct val="0"/>
              </a:spcAft>
              <a:buNone/>
            </a:pPr>
            <a:r>
              <a:rPr b="1">
                <a:solidFill>
                  <a:schemeClr val="dk1"/>
                </a:solidFill>
                <a:latin typeface="微软雅黑" panose="020B0503020204020204" charset="-122"/>
                <a:sym typeface="+mn-ea"/>
              </a:rPr>
              <a:t>1.等水平正交表</a:t>
            </a:r>
            <a:endParaRPr lang="zh-CN" altLang="en-US" b="1">
              <a:solidFill>
                <a:schemeClr val="dk1"/>
              </a:solidFill>
              <a:latin typeface="微软雅黑" panose="020B0503020204020204" charset="-122"/>
              <a:ea typeface="微软雅黑" panose="020B0503020204020204" charset="-122"/>
            </a:endParaRPr>
          </a:p>
          <a:p>
            <a:pPr marL="457200" lvl="1" indent="0" fontAlgn="base">
              <a:lnSpc>
                <a:spcPct val="150000"/>
              </a:lnSpc>
              <a:spcAft>
                <a:spcPct val="0"/>
              </a:spcAft>
              <a:buNone/>
            </a:pPr>
            <a:r>
              <a:rPr>
                <a:solidFill>
                  <a:schemeClr val="dk1"/>
                </a:solidFill>
                <a:latin typeface="微软雅黑" panose="020B0503020204020204" charset="-122"/>
                <a:sym typeface="+mn-ea"/>
              </a:rPr>
              <a:t>等水平正交表即各列水平数均相同的正交表，又称单一水平正交表。</a:t>
            </a:r>
          </a:p>
          <a:p>
            <a:pPr marL="457200" lvl="1" indent="0" fontAlgn="base">
              <a:lnSpc>
                <a:spcPct val="230000"/>
              </a:lnSpc>
              <a:spcAft>
                <a:spcPct val="0"/>
              </a:spcAft>
              <a:buNone/>
            </a:pPr>
            <a:r>
              <a:rPr b="1">
                <a:solidFill>
                  <a:schemeClr val="dk1"/>
                </a:solidFill>
                <a:latin typeface="微软雅黑" panose="020B0503020204020204" charset="-122"/>
                <a:sym typeface="+mn-ea"/>
              </a:rPr>
              <a:t>2.混合水平正交表</a:t>
            </a:r>
            <a:endParaRPr lang="zh-CN" altLang="en-US" b="1">
              <a:solidFill>
                <a:schemeClr val="dk1"/>
              </a:solidFill>
              <a:latin typeface="微软雅黑" panose="020B0503020204020204" charset="-122"/>
              <a:ea typeface="微软雅黑" panose="020B0503020204020204" charset="-122"/>
            </a:endParaRPr>
          </a:p>
          <a:p>
            <a:pPr marL="457200" lvl="1" indent="0" fontAlgn="base">
              <a:lnSpc>
                <a:spcPct val="150000"/>
              </a:lnSpc>
              <a:spcAft>
                <a:spcPct val="0"/>
              </a:spcAft>
              <a:buNone/>
            </a:pPr>
            <a:r>
              <a:rPr>
                <a:solidFill>
                  <a:schemeClr val="dk1"/>
                </a:solidFill>
                <a:latin typeface="微软雅黑" panose="020B0503020204020204" charset="-122"/>
                <a:sym typeface="+mn-ea"/>
              </a:rPr>
              <a:t>各列水平数不相同的正交表，又称混合水平正交表。</a:t>
            </a:r>
            <a:endParaRPr lang="zh-CN" altLang="en-US">
              <a:solidFill>
                <a:schemeClr val="dk1"/>
              </a:solidFill>
              <a:latin typeface="微软雅黑" panose="020B0503020204020204" charset="-122"/>
              <a:ea typeface="微软雅黑" panose="020B0503020204020204" charset="-122"/>
              <a:sym typeface="+mn-ea"/>
            </a:endParaRPr>
          </a:p>
        </p:txBody>
      </p:sp>
      <p:sp>
        <p:nvSpPr>
          <p:cNvPr id="4" name="日期占位符 3"/>
          <p:cNvSpPr>
            <a:spLocks noGrp="1"/>
          </p:cNvSpPr>
          <p:nvPr>
            <p:ph type="dt" sz="half" idx="10"/>
            <p:custDataLst>
              <p:tags r:id="rId2"/>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solidFill>
                  <a:schemeClr val="dk1">
                    <a:tint val="75000"/>
                  </a:schemeClr>
                </a:solidFill>
              </a:rPr>
              <a:t>34</a:t>
            </a:fld>
            <a:endParaRPr lang="zh-CN" altLang="en-US">
              <a:solidFill>
                <a:schemeClr val="dk1">
                  <a:tint val="75000"/>
                </a:schemeClr>
              </a:solidFill>
            </a:endParaRPr>
          </a:p>
        </p:txBody>
      </p:sp>
      <p:pic>
        <p:nvPicPr>
          <p:cNvPr id="10" name="图片 9"/>
          <p:cNvPicPr>
            <a:picLocks noChangeAspect="1"/>
          </p:cNvPicPr>
          <p:nvPr/>
        </p:nvPicPr>
        <p:blipFill>
          <a:blip r:embed="rId6"/>
          <a:srcRect l="13217" t="16579" r="15420" b="7135"/>
          <a:stretch>
            <a:fillRect/>
          </a:stretch>
        </p:blipFill>
        <p:spPr>
          <a:xfrm>
            <a:off x="6456046" y="3644901"/>
            <a:ext cx="3888105" cy="165671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p:cNvSpPr>
          <p:nvPr>
            <p:ph idx="1"/>
            <p:custDataLst>
              <p:tags r:id="rId1"/>
            </p:custDataLst>
          </p:nvPr>
        </p:nvSpPr>
        <p:spPr/>
        <p:txBody>
          <a:bodyPr vert="horz" wrap="square" lIns="91440" tIns="45720" rIns="91440" bIns="45720" rtlCol="0" anchor="t" anchorCtr="0">
            <a:normAutofit/>
          </a:bodyPr>
          <a:lstStyle/>
          <a:p>
            <a:pPr eaLnBrk="1" hangingPunct="1"/>
            <a:r>
              <a:rPr lang="en-US" altLang="zh-CN" sz="3200" b="1">
                <a:solidFill>
                  <a:schemeClr val="dk1"/>
                </a:solidFill>
                <a:sym typeface="+mn-ea"/>
              </a:rPr>
              <a:t>3因子2状态</a:t>
            </a:r>
            <a:r>
              <a:rPr lang="en-US" altLang="zh-CN" sz="3200" b="1" i="1" dirty="0">
                <a:solidFill>
                  <a:schemeClr val="dk1"/>
                </a:solidFill>
              </a:rPr>
              <a:t>L</a:t>
            </a:r>
            <a:r>
              <a:rPr lang="en-US" altLang="zh-CN" sz="3200" b="1" baseline="-25000" dirty="0">
                <a:solidFill>
                  <a:schemeClr val="dk1"/>
                </a:solidFill>
              </a:rPr>
              <a:t>4</a:t>
            </a:r>
            <a:r>
              <a:rPr lang="en-US" altLang="zh-CN" sz="3200" b="1" dirty="0">
                <a:solidFill>
                  <a:schemeClr val="dk1"/>
                </a:solidFill>
              </a:rPr>
              <a:t>(2</a:t>
            </a:r>
            <a:r>
              <a:rPr lang="en-US" altLang="zh-CN" sz="3200" b="1" baseline="30000" dirty="0">
                <a:solidFill>
                  <a:schemeClr val="dk1"/>
                </a:solidFill>
              </a:rPr>
              <a:t>3</a:t>
            </a:r>
            <a:r>
              <a:rPr lang="en-US" altLang="zh-CN" sz="3200" b="1" dirty="0">
                <a:solidFill>
                  <a:schemeClr val="dk1"/>
                </a:solidFill>
              </a:rPr>
              <a:t>)</a:t>
            </a:r>
          </a:p>
          <a:p>
            <a:pPr eaLnBrk="1" hangingPunct="1"/>
            <a:endParaRPr lang="en-US" altLang="zh-CN" sz="3200" b="1" dirty="0">
              <a:solidFill>
                <a:schemeClr val="dk1"/>
              </a:solidFill>
            </a:endParaRPr>
          </a:p>
          <a:p>
            <a:pPr eaLnBrk="1" hangingPunct="1"/>
            <a:endParaRPr lang="en-US" altLang="zh-CN" sz="3200" b="1" dirty="0">
              <a:solidFill>
                <a:schemeClr val="dk1"/>
              </a:solidFill>
            </a:endParaRPr>
          </a:p>
          <a:p>
            <a:pPr eaLnBrk="1" hangingPunct="1"/>
            <a:r>
              <a:rPr lang="en-US" altLang="zh-CN" sz="3200" b="1" dirty="0">
                <a:solidFill>
                  <a:schemeClr val="dk1"/>
                </a:solidFill>
              </a:rPr>
              <a:t>7因子2状态</a:t>
            </a:r>
            <a:r>
              <a:rPr lang="en-US" altLang="zh-CN" sz="3200" b="1" i="1">
                <a:solidFill>
                  <a:schemeClr val="dk1"/>
                </a:solidFill>
                <a:sym typeface="+mn-ea"/>
              </a:rPr>
              <a:t>L</a:t>
            </a:r>
            <a:r>
              <a:rPr lang="en-US" altLang="zh-CN" sz="3200" b="1" baseline="-25000">
                <a:solidFill>
                  <a:schemeClr val="dk1"/>
                </a:solidFill>
                <a:sym typeface="+mn-ea"/>
              </a:rPr>
              <a:t>8</a:t>
            </a:r>
            <a:r>
              <a:rPr lang="en-US" altLang="zh-CN" sz="3200" b="1">
                <a:solidFill>
                  <a:schemeClr val="dk1"/>
                </a:solidFill>
                <a:sym typeface="+mn-ea"/>
              </a:rPr>
              <a:t>(2</a:t>
            </a:r>
            <a:r>
              <a:rPr lang="en-US" altLang="zh-CN" sz="3200" b="1" baseline="30000">
                <a:solidFill>
                  <a:schemeClr val="dk1"/>
                </a:solidFill>
                <a:sym typeface="+mn-ea"/>
              </a:rPr>
              <a:t>7</a:t>
            </a:r>
            <a:r>
              <a:rPr lang="en-US" altLang="zh-CN" sz="3200" b="1">
                <a:solidFill>
                  <a:schemeClr val="dk1"/>
                </a:solidFill>
                <a:sym typeface="+mn-ea"/>
              </a:rPr>
              <a:t>)</a:t>
            </a:r>
            <a:endParaRPr lang="en-US" altLang="zh-CN" sz="3200" b="1" dirty="0">
              <a:solidFill>
                <a:schemeClr val="dk1"/>
              </a:solidFill>
              <a:sym typeface="+mn-ea"/>
            </a:endParaRPr>
          </a:p>
        </p:txBody>
      </p:sp>
      <p:sp>
        <p:nvSpPr>
          <p:cNvPr id="29700" name="灯片编号占位符 5"/>
          <p:cNvSpPr txBox="1">
            <a:spLocks noGrp="1"/>
          </p:cNvSpPr>
          <p:nvPr>
            <p:ph type="sldNum" sz="quarter" idx="12"/>
            <p:custDataLst>
              <p:tags r:id="rId2"/>
            </p:custDataLst>
          </p:nvPr>
        </p:nvSpPr>
        <p:spPr/>
        <p:txBody>
          <a:bodyPr>
            <a:normAutofit fontScale="97500"/>
          </a:bodyPr>
          <a:lstStyle/>
          <a:p>
            <a:pPr>
              <a:spcBef>
                <a:spcPct val="0"/>
              </a:spcBef>
            </a:pPr>
            <a:fld id="{9A0DB2DC-4C9A-4742-B13C-FB6460FD3503}" type="slidenum">
              <a:rPr lang="en-US" altLang="zh-CN" sz="1400" dirty="0">
                <a:solidFill>
                  <a:schemeClr val="dk1">
                    <a:tint val="75000"/>
                    <a:lumMod val="85000"/>
                    <a:lumOff val="15000"/>
                  </a:schemeClr>
                </a:solidFill>
                <a:latin typeface="Comic Sans MS" panose="030F0702030302020204" pitchFamily="66" charset="0"/>
              </a:rPr>
              <a:pPr>
                <a:spcBef>
                  <a:spcPct val="0"/>
                </a:spcBef>
              </a:pPr>
              <a:t>35</a:t>
            </a:fld>
            <a:endParaRPr lang="en-US" altLang="zh-CN" sz="1400" dirty="0">
              <a:solidFill>
                <a:schemeClr val="dk1">
                  <a:tint val="75000"/>
                  <a:lumMod val="85000"/>
                  <a:lumOff val="15000"/>
                </a:schemeClr>
              </a:solidFill>
              <a:latin typeface="Comic Sans MS" panose="030F0702030302020204" pitchFamily="66" charset="0"/>
            </a:endParaRPr>
          </a:p>
        </p:txBody>
      </p:sp>
      <p:sp>
        <p:nvSpPr>
          <p:cNvPr id="26626" name="Rectangle 2"/>
          <p:cNvSpPr>
            <a:spLocks noGrp="1"/>
          </p:cNvSpPr>
          <p:nvPr>
            <p:ph type="title"/>
          </p:nvPr>
        </p:nvSpPr>
        <p:spPr>
          <a:xfrm>
            <a:off x="2026285" y="498476"/>
            <a:ext cx="8139430" cy="784225"/>
          </a:xfrm>
        </p:spPr>
        <p:txBody>
          <a:bodyPr vert="horz" wrap="square" lIns="91440" tIns="45720" rIns="91440" bIns="45720" rtlCol="0" anchor="b" anchorCtr="0">
            <a:normAutofit/>
          </a:bodyPr>
          <a:lstStyle/>
          <a:p>
            <a:pPr algn="l" eaLnBrk="1" hangingPunct="1">
              <a:buClrTx/>
              <a:buSzTx/>
              <a:buFontTx/>
            </a:pPr>
            <a:r>
              <a:rPr lang="en-US" altLang="zh-CN" dirty="0">
                <a:solidFill>
                  <a:schemeClr val="accent1"/>
                </a:solidFill>
                <a:ea typeface="汉仪文黑-85W" panose="00020600040101010101" charset="-122"/>
              </a:rPr>
              <a:t>基于正交表的测试</a:t>
            </a:r>
          </a:p>
        </p:txBody>
      </p:sp>
      <p:sp>
        <p:nvSpPr>
          <p:cNvPr id="3" name="日期占位符 2"/>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graphicFrame>
        <p:nvGraphicFramePr>
          <p:cNvPr id="8" name="对象 7"/>
          <p:cNvGraphicFramePr/>
          <p:nvPr/>
        </p:nvGraphicFramePr>
        <p:xfrm>
          <a:off x="6437631" y="1340486"/>
          <a:ext cx="3899535" cy="2153285"/>
        </p:xfrm>
        <a:graphic>
          <a:graphicData uri="http://schemas.openxmlformats.org/presentationml/2006/ole">
            <mc:AlternateContent xmlns:mc="http://schemas.openxmlformats.org/markup-compatibility/2006">
              <mc:Choice xmlns:v="urn:schemas-microsoft-com:vml" Requires="v">
                <p:oleObj r:id="rId5" imgW="3625850" imgH="1390650" progId="Word.Document.8">
                  <p:embed/>
                </p:oleObj>
              </mc:Choice>
              <mc:Fallback>
                <p:oleObj r:id="rId5" imgW="3625850" imgH="1390650" progId="Word.Document.8">
                  <p:embed/>
                  <p:pic>
                    <p:nvPicPr>
                      <p:cNvPr id="8" name="对象 7"/>
                      <p:cNvPicPr/>
                      <p:nvPr/>
                    </p:nvPicPr>
                    <p:blipFill>
                      <a:blip r:embed="rId6"/>
                      <a:srcRect r="29885"/>
                      <a:stretch>
                        <a:fillRect/>
                      </a:stretch>
                    </p:blipFill>
                    <p:spPr>
                      <a:xfrm>
                        <a:off x="6437631" y="1340486"/>
                        <a:ext cx="3899535" cy="2153285"/>
                      </a:xfrm>
                      <a:prstGeom prst="rect">
                        <a:avLst/>
                      </a:prstGeom>
                    </p:spPr>
                  </p:pic>
                </p:oleObj>
              </mc:Fallback>
            </mc:AlternateContent>
          </a:graphicData>
        </a:graphic>
      </p:graphicFrame>
      <p:pic>
        <p:nvPicPr>
          <p:cNvPr id="10" name="图片 9"/>
          <p:cNvPicPr>
            <a:picLocks noChangeAspect="1"/>
          </p:cNvPicPr>
          <p:nvPr/>
        </p:nvPicPr>
        <p:blipFill>
          <a:blip r:embed="rId7"/>
          <a:stretch>
            <a:fillRect/>
          </a:stretch>
        </p:blipFill>
        <p:spPr>
          <a:xfrm>
            <a:off x="5663565" y="3716656"/>
            <a:ext cx="4601210" cy="287972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p:cNvSpPr>
          <p:nvPr>
            <p:ph idx="1"/>
            <p:custDataLst>
              <p:tags r:id="rId1"/>
            </p:custDataLst>
          </p:nvPr>
        </p:nvSpPr>
        <p:spPr>
          <a:xfrm>
            <a:off x="2026285" y="1497966"/>
            <a:ext cx="8139430" cy="4170045"/>
          </a:xfrm>
        </p:spPr>
        <p:txBody>
          <a:bodyPr vert="horz" wrap="square" lIns="91440" tIns="45720" rIns="91440" bIns="45720" rtlCol="0" anchor="t" anchorCtr="0">
            <a:normAutofit/>
          </a:bodyPr>
          <a:lstStyle/>
          <a:p>
            <a:pPr eaLnBrk="1" hangingPunct="1"/>
            <a:r>
              <a:rPr lang="en-US" altLang="zh-CN" sz="3200" b="1" dirty="0">
                <a:solidFill>
                  <a:schemeClr val="dk1"/>
                </a:solidFill>
              </a:rPr>
              <a:t>4</a:t>
            </a:r>
            <a:r>
              <a:rPr sz="3200" b="1" dirty="0">
                <a:solidFill>
                  <a:schemeClr val="dk1"/>
                </a:solidFill>
              </a:rPr>
              <a:t>因子</a:t>
            </a:r>
            <a:r>
              <a:rPr lang="en-US" altLang="zh-CN" sz="3200" b="1" dirty="0">
                <a:solidFill>
                  <a:schemeClr val="dk1"/>
                </a:solidFill>
              </a:rPr>
              <a:t>3</a:t>
            </a:r>
            <a:r>
              <a:rPr sz="3200" b="1" dirty="0">
                <a:solidFill>
                  <a:schemeClr val="dk1"/>
                </a:solidFill>
              </a:rPr>
              <a:t>状态</a:t>
            </a:r>
            <a:r>
              <a:rPr lang="en-US" altLang="zh-CN" sz="3200" b="1" i="1" dirty="0">
                <a:solidFill>
                  <a:schemeClr val="dk1"/>
                </a:solidFill>
              </a:rPr>
              <a:t>L</a:t>
            </a:r>
            <a:r>
              <a:rPr lang="en-US" altLang="zh-CN" sz="3200" b="1" baseline="-25000" dirty="0">
                <a:solidFill>
                  <a:schemeClr val="dk1"/>
                </a:solidFill>
              </a:rPr>
              <a:t>9</a:t>
            </a:r>
            <a:r>
              <a:rPr lang="en-US" altLang="zh-CN" sz="3200" b="1" dirty="0">
                <a:solidFill>
                  <a:schemeClr val="dk1"/>
                </a:solidFill>
              </a:rPr>
              <a:t>(3</a:t>
            </a:r>
            <a:r>
              <a:rPr lang="en-US" altLang="zh-CN" sz="3200" b="1" baseline="30000" dirty="0">
                <a:solidFill>
                  <a:schemeClr val="dk1"/>
                </a:solidFill>
              </a:rPr>
              <a:t>4</a:t>
            </a:r>
            <a:r>
              <a:rPr lang="en-US" altLang="zh-CN" sz="3200" b="1" dirty="0">
                <a:solidFill>
                  <a:schemeClr val="dk1"/>
                </a:solidFill>
              </a:rPr>
              <a:t>)</a:t>
            </a:r>
          </a:p>
        </p:txBody>
      </p:sp>
      <p:sp>
        <p:nvSpPr>
          <p:cNvPr id="29700" name="灯片编号占位符 5"/>
          <p:cNvSpPr txBox="1">
            <a:spLocks noGrp="1"/>
          </p:cNvSpPr>
          <p:nvPr>
            <p:ph type="sldNum" sz="quarter" idx="12"/>
            <p:custDataLst>
              <p:tags r:id="rId2"/>
            </p:custDataLst>
          </p:nvPr>
        </p:nvSpPr>
        <p:spPr/>
        <p:txBody>
          <a:bodyPr>
            <a:normAutofit fontScale="97500"/>
          </a:bodyPr>
          <a:lstStyle/>
          <a:p>
            <a:pPr>
              <a:spcBef>
                <a:spcPct val="0"/>
              </a:spcBef>
            </a:pPr>
            <a:fld id="{9A0DB2DC-4C9A-4742-B13C-FB6460FD3503}" type="slidenum">
              <a:rPr lang="en-US" altLang="zh-CN" sz="1400" dirty="0">
                <a:solidFill>
                  <a:schemeClr val="dk1">
                    <a:tint val="75000"/>
                  </a:schemeClr>
                </a:solidFill>
                <a:latin typeface="Comic Sans MS" panose="030F0702030302020204" pitchFamily="66" charset="0"/>
              </a:rPr>
              <a:pPr>
                <a:spcBef>
                  <a:spcPct val="0"/>
                </a:spcBef>
              </a:pPr>
              <a:t>36</a:t>
            </a:fld>
            <a:endParaRPr lang="en-US" altLang="zh-CN" sz="1400" dirty="0">
              <a:solidFill>
                <a:schemeClr val="dk1">
                  <a:tint val="75000"/>
                </a:schemeClr>
              </a:solidFill>
              <a:latin typeface="Comic Sans MS" panose="030F0702030302020204" pitchFamily="66" charset="0"/>
            </a:endParaRPr>
          </a:p>
        </p:txBody>
      </p:sp>
      <p:graphicFrame>
        <p:nvGraphicFramePr>
          <p:cNvPr id="7" name="Group 4"/>
          <p:cNvGraphicFramePr>
            <a:graphicFrameLocks noGrp="1"/>
          </p:cNvGraphicFramePr>
          <p:nvPr>
            <p:custDataLst>
              <p:tags r:id="rId3"/>
            </p:custDataLst>
          </p:nvPr>
        </p:nvGraphicFramePr>
        <p:xfrm>
          <a:off x="2788603" y="2382203"/>
          <a:ext cx="6451600" cy="3873500"/>
        </p:xfrm>
        <a:graphic>
          <a:graphicData uri="http://schemas.openxmlformats.org/drawingml/2006/table">
            <a:tbl>
              <a:tblPr/>
              <a:tblGrid>
                <a:gridCol w="1752600">
                  <a:extLst>
                    <a:ext uri="{9D8B030D-6E8A-4147-A177-3AD203B41FA5}">
                      <a16:colId xmlns:a16="http://schemas.microsoft.com/office/drawing/2014/main" val="20000"/>
                    </a:ext>
                  </a:extLst>
                </a:gridCol>
                <a:gridCol w="939800">
                  <a:extLst>
                    <a:ext uri="{9D8B030D-6E8A-4147-A177-3AD203B41FA5}">
                      <a16:colId xmlns:a16="http://schemas.microsoft.com/office/drawing/2014/main" val="20001"/>
                    </a:ext>
                  </a:extLst>
                </a:gridCol>
                <a:gridCol w="939800">
                  <a:extLst>
                    <a:ext uri="{9D8B030D-6E8A-4147-A177-3AD203B41FA5}">
                      <a16:colId xmlns:a16="http://schemas.microsoft.com/office/drawing/2014/main" val="20002"/>
                    </a:ext>
                  </a:extLst>
                </a:gridCol>
                <a:gridCol w="939800">
                  <a:extLst>
                    <a:ext uri="{9D8B030D-6E8A-4147-A177-3AD203B41FA5}">
                      <a16:colId xmlns:a16="http://schemas.microsoft.com/office/drawing/2014/main" val="20003"/>
                    </a:ext>
                  </a:extLst>
                </a:gridCol>
                <a:gridCol w="939800">
                  <a:extLst>
                    <a:ext uri="{9D8B030D-6E8A-4147-A177-3AD203B41FA5}">
                      <a16:colId xmlns:a16="http://schemas.microsoft.com/office/drawing/2014/main" val="20004"/>
                    </a:ext>
                  </a:extLst>
                </a:gridCol>
                <a:gridCol w="939800">
                  <a:extLst>
                    <a:ext uri="{9D8B030D-6E8A-4147-A177-3AD203B41FA5}">
                      <a16:colId xmlns:a16="http://schemas.microsoft.com/office/drawing/2014/main" val="20005"/>
                    </a:ext>
                  </a:extLst>
                </a:gridCol>
              </a:tblGrid>
              <a:tr h="387350">
                <a:tc>
                  <a:txBody>
                    <a:bodyPr/>
                    <a:lstStyle>
                      <a:lvl1pPr indent="266700"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266700" algn="l" defTabSz="914400" rtl="0" eaLnBrk="1" fontAlgn="base" latinLnBrk="0" hangingPunct="1">
                        <a:lnSpc>
                          <a:spcPct val="100000"/>
                        </a:lnSpc>
                        <a:spcBef>
                          <a:spcPct val="0"/>
                        </a:spcBef>
                        <a:spcAft>
                          <a:spcPct val="0"/>
                        </a:spcAft>
                        <a:buClrTx/>
                        <a:buSzTx/>
                        <a:buFontTx/>
                        <a:buNone/>
                      </a:pPr>
                      <a:endParaRPr kumimoji="1" lang="zh-CN"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y7</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7350">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eaLnBrk="0" hangingPunct="0">
                        <a:spcBef>
                          <a:spcPct val="20000"/>
                        </a:spcBef>
                        <a:defRPr sz="2800">
                          <a:solidFill>
                            <a:schemeClr val="tx1"/>
                          </a:solidFill>
                          <a:latin typeface="Comic Sans MS" panose="030F0702030302020204" pitchFamily="66" charset="0"/>
                          <a:ea typeface="宋体" panose="02010600030101010101" pitchFamily="2" charset="-122"/>
                        </a:defRPr>
                      </a:lvl1pPr>
                      <a:lvl2pPr marL="742950" indent="-285750" algn="l" eaLnBrk="0" hangingPunct="0">
                        <a:spcBef>
                          <a:spcPct val="20000"/>
                        </a:spcBef>
                        <a:defRPr sz="2400">
                          <a:solidFill>
                            <a:schemeClr val="tx1"/>
                          </a:solidFill>
                          <a:latin typeface="Comic Sans MS" panose="030F0702030302020204" pitchFamily="66" charset="0"/>
                          <a:ea typeface="宋体" panose="02010600030101010101" pitchFamily="2" charset="-122"/>
                        </a:defRPr>
                      </a:lvl2pPr>
                      <a:lvl3pPr marL="1143000" indent="-228600" algn="l" eaLnBrk="0" hangingPunct="0">
                        <a:spcBef>
                          <a:spcPct val="20000"/>
                        </a:spcBef>
                        <a:defRPr sz="2000">
                          <a:solidFill>
                            <a:schemeClr val="tx1"/>
                          </a:solidFill>
                          <a:latin typeface="Comic Sans MS" panose="030F0702030302020204" pitchFamily="66" charset="0"/>
                          <a:ea typeface="宋体" panose="02010600030101010101" pitchFamily="2" charset="-122"/>
                        </a:defRPr>
                      </a:lvl3pPr>
                      <a:lvl4pPr marL="16002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4pPr>
                      <a:lvl5pPr marL="2057400" indent="-228600" algn="l" eaLnBrk="0" hangingPunct="0">
                        <a:spcBef>
                          <a:spcPct val="20000"/>
                        </a:spcBef>
                        <a:defRPr>
                          <a:solidFill>
                            <a:schemeClr val="tx1"/>
                          </a:solidFill>
                          <a:latin typeface="Comic Sans MS" panose="030F0702030302020204" pitchFamily="66"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Comic Sans MS" panose="030F0702030302020204" pitchFamily="66"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1800" b="0" i="0" u="none" strike="noStrike" cap="none" normalizeH="0" baseline="0">
                          <a:ln>
                            <a:noFill/>
                          </a:ln>
                          <a:solidFill>
                            <a:schemeClr val="tx1"/>
                          </a:solidFill>
                          <a:effectLst/>
                          <a:latin typeface="Tahoma" panose="020B0604030504040204" pitchFamily="34" charset="0"/>
                          <a:ea typeface="宋体" panose="02010600030101010101" pitchFamily="2" charset="-122"/>
                        </a:rPr>
                        <a:t>y9</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26626" name="Rectangle 2"/>
          <p:cNvSpPr>
            <a:spLocks noGrp="1"/>
          </p:cNvSpPr>
          <p:nvPr>
            <p:ph type="title"/>
          </p:nvPr>
        </p:nvSpPr>
        <p:spPr>
          <a:xfrm>
            <a:off x="2026285" y="498476"/>
            <a:ext cx="8139430" cy="784225"/>
          </a:xfrm>
        </p:spPr>
        <p:txBody>
          <a:bodyPr vert="horz" wrap="square" lIns="91440" tIns="45720" rIns="91440" bIns="45720" rtlCol="0" anchor="b" anchorCtr="0">
            <a:normAutofit/>
          </a:bodyPr>
          <a:lstStyle/>
          <a:p>
            <a:pPr algn="l" eaLnBrk="1" hangingPunct="1">
              <a:buClrTx/>
              <a:buSzTx/>
              <a:buFontTx/>
            </a:pPr>
            <a:r>
              <a:rPr lang="en-US" altLang="zh-CN" dirty="0">
                <a:solidFill>
                  <a:schemeClr val="accent1"/>
                </a:solidFill>
                <a:ea typeface="汉仪文黑-85W" panose="00020600040101010101" charset="-122"/>
              </a:rPr>
              <a:t>基于正交表的测试</a:t>
            </a:r>
          </a:p>
        </p:txBody>
      </p:sp>
      <p:sp>
        <p:nvSpPr>
          <p:cNvPr id="3" name="日期占位符 2"/>
          <p:cNvSpPr>
            <a:spLocks noGrp="1"/>
          </p:cNvSpPr>
          <p:nvPr>
            <p:ph type="dt" sz="half" idx="10"/>
            <p:custDataLst>
              <p:tags r:id="rId4"/>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p:cNvSpPr>
          <p:nvPr>
            <p:ph idx="1"/>
            <p:custDataLst>
              <p:tags r:id="rId1"/>
            </p:custDataLst>
          </p:nvPr>
        </p:nvSpPr>
        <p:spPr>
          <a:xfrm>
            <a:off x="2026285" y="1287780"/>
            <a:ext cx="8139430" cy="5016500"/>
          </a:xfrm>
        </p:spPr>
        <p:txBody>
          <a:bodyPr vert="horz" wrap="square" lIns="91440" tIns="45720" rIns="91440" bIns="45720" rtlCol="0" anchor="t" anchorCtr="0">
            <a:normAutofit fontScale="95000"/>
          </a:bodyPr>
          <a:lstStyle/>
          <a:p>
            <a:pPr eaLnBrk="1" hangingPunct="1"/>
            <a:r>
              <a:rPr lang="en-US" altLang="zh-CN" sz="3400" b="1" dirty="0">
                <a:solidFill>
                  <a:schemeClr val="dk1"/>
                </a:solidFill>
              </a:rPr>
              <a:t>  </a:t>
            </a:r>
            <a:r>
              <a:rPr lang="zh-CN" altLang="en-US" sz="3400" b="1" dirty="0">
                <a:solidFill>
                  <a:schemeClr val="dk1"/>
                </a:solidFill>
              </a:rPr>
              <a:t>正交表的性质：</a:t>
            </a:r>
            <a:endParaRPr lang="en-US" altLang="zh-CN" sz="3400" b="1" dirty="0">
              <a:solidFill>
                <a:schemeClr val="dk1"/>
              </a:solidFill>
            </a:endParaRPr>
          </a:p>
          <a:p>
            <a:pPr marL="800100" lvl="1" indent="-457200">
              <a:buAutoNum type="arabicPeriod"/>
            </a:pPr>
            <a:r>
              <a:rPr lang="zh-CN" altLang="en-US" dirty="0">
                <a:solidFill>
                  <a:schemeClr val="dk1"/>
                </a:solidFill>
              </a:rPr>
              <a:t>每一列中每个输入条件的各个测试数据（取值）出现的次数相同。（整齐可比）</a:t>
            </a:r>
            <a:endParaRPr lang="en-US" altLang="zh-CN" dirty="0">
              <a:solidFill>
                <a:schemeClr val="dk1"/>
              </a:solidFill>
            </a:endParaRPr>
          </a:p>
          <a:p>
            <a:pPr marL="800100" lvl="1" indent="-457200">
              <a:buAutoNum type="arabicPeriod"/>
            </a:pPr>
            <a:r>
              <a:rPr lang="zh-CN" altLang="en-US" dirty="0">
                <a:solidFill>
                  <a:schemeClr val="dk1"/>
                </a:solidFill>
              </a:rPr>
              <a:t>任意两列所构成的各有序数对出现的次数相同。（均匀分散）</a:t>
            </a:r>
          </a:p>
          <a:p>
            <a:pPr marL="342900" indent="-457200"/>
            <a:r>
              <a:rPr sz="3360" b="1">
                <a:solidFill>
                  <a:schemeClr val="dk1"/>
                </a:solidFill>
                <a:sym typeface="+mn-ea"/>
              </a:rPr>
              <a:t>正交表测试法的特点：</a:t>
            </a:r>
            <a:endParaRPr lang="en-US" altLang="zh-CN" sz="3360" b="1" dirty="0">
              <a:solidFill>
                <a:schemeClr val="dk1"/>
              </a:solidFill>
            </a:endParaRPr>
          </a:p>
          <a:p>
            <a:pPr marL="800100" lvl="1" indent="-457200">
              <a:buAutoNum type="arabicPeriod"/>
            </a:pPr>
            <a:r>
              <a:rPr lang="zh-CN" altLang="en-US" dirty="0">
                <a:solidFill>
                  <a:schemeClr val="dk1"/>
                </a:solidFill>
              </a:rPr>
              <a:t>无需穷举所有组合情况，只需少量抽样组合数据构成测试用例，明显提高效率。</a:t>
            </a:r>
          </a:p>
          <a:p>
            <a:pPr marL="800100" lvl="1" indent="-457200">
              <a:buAutoNum type="arabicPeriod"/>
            </a:pPr>
            <a:r>
              <a:rPr lang="zh-CN" altLang="en-US" dirty="0">
                <a:solidFill>
                  <a:schemeClr val="dk1"/>
                </a:solidFill>
              </a:rPr>
              <a:t>抽样出的组合数据分布均匀，具有最佳覆盖性。</a:t>
            </a:r>
          </a:p>
          <a:p>
            <a:pPr marL="800100" lvl="1" indent="-457200">
              <a:buAutoNum type="arabicPeriod"/>
            </a:pPr>
            <a:r>
              <a:rPr lang="zh-CN" altLang="en-US" dirty="0">
                <a:solidFill>
                  <a:schemeClr val="dk1"/>
                </a:solidFill>
              </a:rPr>
              <a:t>能减少手动对组合数据抽样导致的大量测试遗漏。</a:t>
            </a:r>
          </a:p>
        </p:txBody>
      </p:sp>
      <p:sp>
        <p:nvSpPr>
          <p:cNvPr id="31748" name="灯片编号占位符 5"/>
          <p:cNvSpPr txBox="1">
            <a:spLocks noGrp="1"/>
          </p:cNvSpPr>
          <p:nvPr>
            <p:ph type="sldNum" sz="quarter" idx="12"/>
            <p:custDataLst>
              <p:tags r:id="rId2"/>
            </p:custDataLst>
          </p:nvPr>
        </p:nvSpPr>
        <p:spPr/>
        <p:txBody>
          <a:bodyPr>
            <a:normAutofit fontScale="97500"/>
          </a:bodyPr>
          <a:lstStyle/>
          <a:p>
            <a:pPr>
              <a:spcBef>
                <a:spcPct val="0"/>
              </a:spcBef>
            </a:pPr>
            <a:fld id="{9A0DB2DC-4C9A-4742-B13C-FB6460FD3503}" type="slidenum">
              <a:rPr lang="en-US" altLang="zh-CN" sz="1400" dirty="0">
                <a:solidFill>
                  <a:schemeClr val="dk1">
                    <a:tint val="75000"/>
                  </a:schemeClr>
                </a:solidFill>
                <a:latin typeface="Comic Sans MS" panose="030F0702030302020204" pitchFamily="66" charset="0"/>
              </a:rPr>
              <a:pPr>
                <a:spcBef>
                  <a:spcPct val="0"/>
                </a:spcBef>
              </a:pPr>
              <a:t>37</a:t>
            </a:fld>
            <a:endParaRPr lang="en-US" altLang="zh-CN" sz="1400" dirty="0">
              <a:solidFill>
                <a:schemeClr val="dk1">
                  <a:tint val="75000"/>
                </a:schemeClr>
              </a:solidFill>
              <a:latin typeface="Comic Sans MS" panose="030F0702030302020204" pitchFamily="66" charset="0"/>
            </a:endParaRPr>
          </a:p>
        </p:txBody>
      </p:sp>
      <p:sp>
        <p:nvSpPr>
          <p:cNvPr id="26626" name="Rectangle 2"/>
          <p:cNvSpPr>
            <a:spLocks noGrp="1"/>
          </p:cNvSpPr>
          <p:nvPr>
            <p:ph type="title"/>
          </p:nvPr>
        </p:nvSpPr>
        <p:spPr>
          <a:xfrm>
            <a:off x="2026285" y="498476"/>
            <a:ext cx="8139430" cy="784225"/>
          </a:xfrm>
        </p:spPr>
        <p:txBody>
          <a:bodyPr vert="horz" wrap="square" lIns="91440" tIns="45720" rIns="91440" bIns="45720" rtlCol="0" anchor="b" anchorCtr="0">
            <a:normAutofit/>
          </a:bodyPr>
          <a:lstStyle/>
          <a:p>
            <a:pPr algn="l" eaLnBrk="1" hangingPunct="1">
              <a:buClrTx/>
              <a:buSzTx/>
              <a:buFontTx/>
            </a:pPr>
            <a:r>
              <a:rPr lang="en-US" altLang="zh-CN" dirty="0">
                <a:solidFill>
                  <a:schemeClr val="accent1"/>
                </a:solidFill>
                <a:ea typeface="汉仪文黑-85W" panose="00020600040101010101" charset="-122"/>
              </a:rPr>
              <a:t>基于正交表的测试</a:t>
            </a:r>
          </a:p>
        </p:txBody>
      </p:sp>
      <p:sp>
        <p:nvSpPr>
          <p:cNvPr id="3" name="日期占位符 2"/>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p:cNvSpPr>
          <p:nvPr>
            <p:ph idx="1"/>
            <p:custDataLst>
              <p:tags r:id="rId1"/>
            </p:custDataLst>
          </p:nvPr>
        </p:nvSpPr>
        <p:spPr/>
        <p:txBody>
          <a:bodyPr vert="horz" wrap="square" lIns="91440" tIns="45720" rIns="91440" bIns="45720" rtlCol="0" anchor="t" anchorCtr="0">
            <a:normAutofit/>
          </a:bodyPr>
          <a:lstStyle/>
          <a:p>
            <a:pPr eaLnBrk="1" hangingPunct="1"/>
            <a:r>
              <a:rPr lang="zh-CN" altLang="en-US" b="1" dirty="0">
                <a:solidFill>
                  <a:schemeClr val="dk1"/>
                </a:solidFill>
              </a:rPr>
              <a:t>正交表与其他组合方式的对比</a:t>
            </a:r>
          </a:p>
        </p:txBody>
      </p:sp>
      <p:sp>
        <p:nvSpPr>
          <p:cNvPr id="32772" name="灯片编号占位符 5"/>
          <p:cNvSpPr txBox="1">
            <a:spLocks noGrp="1"/>
          </p:cNvSpPr>
          <p:nvPr>
            <p:ph type="sldNum" sz="quarter" idx="12"/>
            <p:custDataLst>
              <p:tags r:id="rId2"/>
            </p:custDataLst>
          </p:nvPr>
        </p:nvSpPr>
        <p:spPr/>
        <p:txBody>
          <a:bodyPr>
            <a:normAutofit fontScale="97500"/>
          </a:bodyPr>
          <a:lstStyle/>
          <a:p>
            <a:pPr>
              <a:spcBef>
                <a:spcPct val="0"/>
              </a:spcBef>
            </a:pPr>
            <a:fld id="{9A0DB2DC-4C9A-4742-B13C-FB6460FD3503}" type="slidenum">
              <a:rPr lang="en-US" altLang="zh-CN" sz="1400" dirty="0">
                <a:solidFill>
                  <a:schemeClr val="dk1">
                    <a:tint val="75000"/>
                  </a:schemeClr>
                </a:solidFill>
                <a:latin typeface="Comic Sans MS" panose="030F0702030302020204" pitchFamily="66" charset="0"/>
              </a:rPr>
              <a:pPr>
                <a:spcBef>
                  <a:spcPct val="0"/>
                </a:spcBef>
              </a:pPr>
              <a:t>38</a:t>
            </a:fld>
            <a:endParaRPr lang="en-US" altLang="zh-CN" sz="1400" dirty="0">
              <a:solidFill>
                <a:schemeClr val="dk1">
                  <a:tint val="75000"/>
                </a:schemeClr>
              </a:solidFill>
              <a:latin typeface="Comic Sans MS" panose="030F0702030302020204" pitchFamily="66" charset="0"/>
            </a:endParaRPr>
          </a:p>
        </p:txBody>
      </p:sp>
      <p:pic>
        <p:nvPicPr>
          <p:cNvPr id="32773" name="Picture 2" descr="3t10"/>
          <p:cNvPicPr>
            <a:picLocks noChangeAspect="1"/>
          </p:cNvPicPr>
          <p:nvPr/>
        </p:nvPicPr>
        <p:blipFill>
          <a:blip r:embed="rId5"/>
          <a:stretch>
            <a:fillRect/>
          </a:stretch>
        </p:blipFill>
        <p:spPr>
          <a:xfrm>
            <a:off x="1524000" y="2428875"/>
            <a:ext cx="9061450" cy="3429000"/>
          </a:xfrm>
          <a:prstGeom prst="rect">
            <a:avLst/>
          </a:prstGeom>
          <a:noFill/>
          <a:ln w="9525">
            <a:noFill/>
          </a:ln>
        </p:spPr>
      </p:pic>
      <p:sp>
        <p:nvSpPr>
          <p:cNvPr id="26626" name="Rectangle 2"/>
          <p:cNvSpPr>
            <a:spLocks noGrp="1"/>
          </p:cNvSpPr>
          <p:nvPr>
            <p:ph type="title"/>
          </p:nvPr>
        </p:nvSpPr>
        <p:spPr>
          <a:xfrm>
            <a:off x="2026285" y="498476"/>
            <a:ext cx="8139430" cy="784225"/>
          </a:xfrm>
        </p:spPr>
        <p:txBody>
          <a:bodyPr vert="horz" wrap="square" lIns="91440" tIns="45720" rIns="91440" bIns="45720" rtlCol="0" anchor="b" anchorCtr="0">
            <a:normAutofit/>
          </a:bodyPr>
          <a:lstStyle/>
          <a:p>
            <a:pPr algn="l" eaLnBrk="1" hangingPunct="1">
              <a:buClrTx/>
              <a:buSzTx/>
              <a:buFontTx/>
            </a:pPr>
            <a:r>
              <a:rPr lang="en-US" altLang="zh-CN" dirty="0">
                <a:solidFill>
                  <a:schemeClr val="accent1"/>
                </a:solidFill>
                <a:ea typeface="汉仪文黑-85W" panose="00020600040101010101" charset="-122"/>
              </a:rPr>
              <a:t>基于正交表的测试</a:t>
            </a:r>
          </a:p>
        </p:txBody>
      </p:sp>
      <p:sp>
        <p:nvSpPr>
          <p:cNvPr id="3" name="日期占位符 2"/>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ltLang="zh-CN">
                <a:solidFill>
                  <a:schemeClr val="accent1"/>
                </a:solidFill>
                <a:ea typeface="汉仪文黑-85W" panose="00020600040101010101" charset="-122"/>
                <a:sym typeface="+mn-ea"/>
              </a:rPr>
              <a:t>基于正交表的测试</a:t>
            </a:r>
            <a:endParaRPr lang="en-US" altLang="zh-CN">
              <a:solidFill>
                <a:schemeClr val="accent1"/>
              </a:solidFill>
              <a:ea typeface="汉仪文黑-85W" panose="00020600040101010101" charset="-122"/>
            </a:endParaRPr>
          </a:p>
        </p:txBody>
      </p:sp>
      <p:sp>
        <p:nvSpPr>
          <p:cNvPr id="3" name="内容占位符 2"/>
          <p:cNvSpPr>
            <a:spLocks noGrp="1"/>
          </p:cNvSpPr>
          <p:nvPr>
            <p:ph idx="1"/>
          </p:nvPr>
        </p:nvSpPr>
        <p:spPr>
          <a:xfrm>
            <a:off x="2026285" y="1527810"/>
            <a:ext cx="8139430" cy="4140200"/>
          </a:xfrm>
        </p:spPr>
        <p:txBody>
          <a:bodyPr>
            <a:normAutofit/>
          </a:bodyPr>
          <a:lstStyle/>
          <a:p>
            <a:r>
              <a:rPr lang="zh-CN" altLang="en-US" b="1"/>
              <a:t>应用场合：</a:t>
            </a:r>
          </a:p>
          <a:p>
            <a:pPr lvl="1">
              <a:lnSpc>
                <a:spcPct val="160000"/>
              </a:lnSpc>
            </a:pPr>
            <a:r>
              <a:rPr lang="zh-CN" altLang="en-US"/>
              <a:t>在一个界面中有多个控件，每个控件有多个取值，测试时要考虑不同控件不同取值之间的组合，但是组合数量很大(一般超过 20 种)，没有必要测试全部组合，可以使用正交排列法挑选最优、最少的组合。</a:t>
            </a:r>
          </a:p>
          <a:p>
            <a:pPr lvl="1">
              <a:lnSpc>
                <a:spcPct val="160000"/>
              </a:lnSpc>
            </a:pPr>
            <a:r>
              <a:rPr lang="zh-CN" altLang="en-US"/>
              <a:t>但是毕竟没有测试所有的组合，会有遗漏缺陷的风险，如果时间允许可以适当补充测试。</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Autofit/>
          </a:bodyPr>
          <a:lstStyle/>
          <a:p>
            <a:r>
              <a:rPr lang="zh-CN" altLang="en-US" b="1"/>
              <a:t>正交表与决策表的区别：</a:t>
            </a:r>
          </a:p>
          <a:p>
            <a:pPr lvl="1"/>
            <a:r>
              <a:rPr lang="zh-CN" altLang="en-US"/>
              <a:t>决策表法适合测试组合数量比较少的情况(一般少于 20 种)；</a:t>
            </a:r>
          </a:p>
          <a:p>
            <a:pPr lvl="1"/>
            <a:r>
              <a:rPr lang="zh-CN" altLang="en-US"/>
              <a:t>正交表法适合测试组合数量较多的情况(一般超过 20种)；</a:t>
            </a:r>
          </a:p>
          <a:p>
            <a:pPr lvl="1"/>
            <a:r>
              <a:rPr lang="zh-CN" altLang="en-US"/>
              <a:t>决策表法除了考虑控件之间的组合以外还要考虑控件之间的限制关系，而正交表法不需要考虑控件之间的关系。</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40</a:t>
            </a:fld>
            <a:endParaRPr lang="zh-CN" altLang="en-US"/>
          </a:p>
        </p:txBody>
      </p:sp>
      <p:sp>
        <p:nvSpPr>
          <p:cNvPr id="6" name="标题 5"/>
          <p:cNvSpPr>
            <a:spLocks noGrp="1"/>
          </p:cNvSpPr>
          <p:nvPr>
            <p:ph type="title"/>
            <p:custDataLst>
              <p:tags r:id="rId1"/>
            </p:custDataLst>
          </p:nvPr>
        </p:nvSpPr>
        <p:spPr/>
        <p:txBody>
          <a:bodyPr/>
          <a:lstStyle/>
          <a:p>
            <a:pPr algn="l">
              <a:buClrTx/>
              <a:buSzTx/>
              <a:buFontTx/>
            </a:pPr>
            <a:r>
              <a:rPr lang="en-US" altLang="zh-CN">
                <a:solidFill>
                  <a:schemeClr val="accent1"/>
                </a:solidFill>
                <a:ea typeface="汉仪文黑-85W" panose="00020600040101010101" charset="-122"/>
                <a:sym typeface="+mn-ea"/>
              </a:rPr>
              <a:t>基于正交表的测试</a:t>
            </a:r>
            <a:endParaRPr lang="en-US" altLang="zh-CN">
              <a:solidFill>
                <a:schemeClr val="accent1"/>
              </a:solidFill>
              <a:ea typeface="汉仪文黑-85W" panose="00020600040101010101"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p:cNvSpPr>
          <p:nvPr>
            <p:ph idx="1"/>
            <p:custDataLst>
              <p:tags r:id="rId1"/>
            </p:custDataLst>
          </p:nvPr>
        </p:nvSpPr>
        <p:spPr>
          <a:xfrm>
            <a:off x="2026285" y="1456055"/>
            <a:ext cx="8139430" cy="4912360"/>
          </a:xfrm>
        </p:spPr>
        <p:txBody>
          <a:bodyPr vert="horz" wrap="square" lIns="91440" tIns="45720" rIns="91440" bIns="45720" rtlCol="0" anchor="t" anchorCtr="0">
            <a:normAutofit fontScale="95000"/>
          </a:bodyPr>
          <a:lstStyle/>
          <a:p>
            <a:pPr algn="just" eaLnBrk="1" hangingPunct="1"/>
            <a:r>
              <a:rPr lang="zh-CN" altLang="en-US" sz="3200" b="1" dirty="0">
                <a:solidFill>
                  <a:schemeClr val="dk1"/>
                </a:solidFill>
              </a:rPr>
              <a:t>测试用例的设计</a:t>
            </a:r>
            <a:endParaRPr lang="en-US" altLang="zh-CN" sz="3200" b="1" dirty="0">
              <a:solidFill>
                <a:schemeClr val="dk1"/>
              </a:solidFill>
            </a:endParaRPr>
          </a:p>
          <a:p>
            <a:pPr lvl="1" algn="just" eaLnBrk="1" hangingPunct="1">
              <a:lnSpc>
                <a:spcPct val="140000"/>
              </a:lnSpc>
            </a:pPr>
            <a:r>
              <a:rPr lang="zh-CN" altLang="en-US" dirty="0">
                <a:solidFill>
                  <a:schemeClr val="dk1"/>
                </a:solidFill>
              </a:rPr>
              <a:t>将整体输入域拆分为个体输入域，确定所有输入条件及其最大取值范围；</a:t>
            </a:r>
            <a:endParaRPr lang="en-US" altLang="zh-CN" dirty="0">
              <a:solidFill>
                <a:schemeClr val="dk1"/>
              </a:solidFill>
            </a:endParaRPr>
          </a:p>
          <a:p>
            <a:pPr lvl="1" algn="just" eaLnBrk="1" hangingPunct="1">
              <a:lnSpc>
                <a:spcPct val="140000"/>
              </a:lnSpc>
            </a:pPr>
            <a:r>
              <a:rPr lang="zh-CN" altLang="en-US" dirty="0">
                <a:solidFill>
                  <a:schemeClr val="dk1"/>
                </a:solidFill>
              </a:rPr>
              <a:t>确定每个输入条件的取值个数；</a:t>
            </a:r>
            <a:endParaRPr lang="en-US" altLang="zh-CN" dirty="0">
              <a:solidFill>
                <a:schemeClr val="dk1"/>
              </a:solidFill>
            </a:endParaRPr>
          </a:p>
          <a:p>
            <a:pPr lvl="1" algn="just" eaLnBrk="1" hangingPunct="1">
              <a:lnSpc>
                <a:spcPct val="140000"/>
              </a:lnSpc>
            </a:pPr>
            <a:r>
              <a:rPr lang="zh-CN" altLang="en-US" dirty="0">
                <a:solidFill>
                  <a:schemeClr val="dk1"/>
                </a:solidFill>
              </a:rPr>
              <a:t>根据输入条件个数和取值个数选择合适的正交表；</a:t>
            </a:r>
            <a:endParaRPr lang="en-US" altLang="zh-CN" dirty="0">
              <a:solidFill>
                <a:schemeClr val="dk1"/>
              </a:solidFill>
            </a:endParaRPr>
          </a:p>
          <a:p>
            <a:pPr lvl="1" algn="just" eaLnBrk="1" hangingPunct="1">
              <a:lnSpc>
                <a:spcPct val="140000"/>
              </a:lnSpc>
            </a:pPr>
            <a:r>
              <a:rPr lang="zh-CN" altLang="en-US" dirty="0">
                <a:solidFill>
                  <a:schemeClr val="dk1"/>
                </a:solidFill>
              </a:rPr>
              <a:t>建立正交表，并将控件和控件取值映射到正交表中，遵循独立性假设；</a:t>
            </a:r>
          </a:p>
          <a:p>
            <a:pPr lvl="1" algn="just" eaLnBrk="1" hangingPunct="1">
              <a:lnSpc>
                <a:spcPct val="140000"/>
              </a:lnSpc>
            </a:pPr>
            <a:r>
              <a:rPr lang="zh-CN" altLang="en-US" dirty="0">
                <a:solidFill>
                  <a:schemeClr val="dk1"/>
                </a:solidFill>
              </a:rPr>
              <a:t>每一行是一种组合，编写一条用例；</a:t>
            </a:r>
          </a:p>
          <a:p>
            <a:pPr lvl="1" algn="just" eaLnBrk="1" hangingPunct="1">
              <a:lnSpc>
                <a:spcPct val="140000"/>
              </a:lnSpc>
            </a:pPr>
            <a:r>
              <a:rPr lang="zh-CN" altLang="en-US" dirty="0">
                <a:solidFill>
                  <a:schemeClr val="dk1"/>
                </a:solidFill>
              </a:rPr>
              <a:t>测试结果分析。</a:t>
            </a:r>
          </a:p>
        </p:txBody>
      </p:sp>
      <p:sp>
        <p:nvSpPr>
          <p:cNvPr id="36868" name="灯片编号占位符 5"/>
          <p:cNvSpPr txBox="1">
            <a:spLocks noGrp="1"/>
          </p:cNvSpPr>
          <p:nvPr>
            <p:ph type="sldNum" sz="quarter" idx="12"/>
            <p:custDataLst>
              <p:tags r:id="rId2"/>
            </p:custDataLst>
          </p:nvPr>
        </p:nvSpPr>
        <p:spPr/>
        <p:txBody>
          <a:bodyPr>
            <a:normAutofit fontScale="97500"/>
          </a:bodyPr>
          <a:lstStyle/>
          <a:p>
            <a:pPr>
              <a:spcBef>
                <a:spcPct val="0"/>
              </a:spcBef>
            </a:pPr>
            <a:fld id="{9A0DB2DC-4C9A-4742-B13C-FB6460FD3503}" type="slidenum">
              <a:rPr lang="en-US" altLang="zh-CN" sz="1400" dirty="0">
                <a:solidFill>
                  <a:schemeClr val="dk1">
                    <a:tint val="75000"/>
                  </a:schemeClr>
                </a:solidFill>
                <a:latin typeface="Comic Sans MS" panose="030F0702030302020204" pitchFamily="66" charset="0"/>
              </a:rPr>
              <a:pPr>
                <a:spcBef>
                  <a:spcPct val="0"/>
                </a:spcBef>
              </a:pPr>
              <a:t>41</a:t>
            </a:fld>
            <a:endParaRPr lang="en-US" altLang="zh-CN" sz="1400" dirty="0">
              <a:solidFill>
                <a:schemeClr val="dk1">
                  <a:tint val="75000"/>
                </a:schemeClr>
              </a:solidFill>
              <a:latin typeface="Comic Sans MS" panose="030F0702030302020204" pitchFamily="66" charset="0"/>
            </a:endParaRPr>
          </a:p>
        </p:txBody>
      </p:sp>
      <p:sp>
        <p:nvSpPr>
          <p:cNvPr id="26626" name="Rectangle 2"/>
          <p:cNvSpPr>
            <a:spLocks noGrp="1"/>
          </p:cNvSpPr>
          <p:nvPr>
            <p:ph type="title"/>
          </p:nvPr>
        </p:nvSpPr>
        <p:spPr>
          <a:xfrm>
            <a:off x="2026285" y="498476"/>
            <a:ext cx="8139430" cy="784225"/>
          </a:xfrm>
        </p:spPr>
        <p:txBody>
          <a:bodyPr vert="horz" wrap="square" lIns="91440" tIns="45720" rIns="91440" bIns="45720" rtlCol="0" anchor="b" anchorCtr="0">
            <a:normAutofit/>
          </a:bodyPr>
          <a:lstStyle/>
          <a:p>
            <a:pPr algn="l" eaLnBrk="1" hangingPunct="1">
              <a:buClrTx/>
              <a:buSzTx/>
              <a:buFontTx/>
            </a:pPr>
            <a:r>
              <a:rPr lang="en-US" altLang="zh-CN" dirty="0">
                <a:solidFill>
                  <a:schemeClr val="accent1"/>
                </a:solidFill>
                <a:ea typeface="汉仪文黑-85W" panose="00020600040101010101" charset="-122"/>
              </a:rPr>
              <a:t>基于正交表的测试</a:t>
            </a:r>
          </a:p>
        </p:txBody>
      </p:sp>
      <p:sp>
        <p:nvSpPr>
          <p:cNvPr id="3" name="日期占位符 2"/>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026285" y="498475"/>
            <a:ext cx="8139430" cy="1021080"/>
          </a:xfrm>
        </p:spPr>
        <p:txBody>
          <a:bodyPr>
            <a:noAutofit/>
          </a:bodyPr>
          <a:lstStyle/>
          <a:p>
            <a:pPr algn="l">
              <a:buClrTx/>
              <a:buSzTx/>
              <a:buFontTx/>
            </a:pPr>
            <a:r>
              <a:rPr lang="zh-CN" altLang="en-US" sz="3200"/>
              <a:t>案例</a:t>
            </a:r>
            <a:r>
              <a:rPr lang="en-US" altLang="zh-CN" sz="3200"/>
              <a:t>1</a:t>
            </a:r>
            <a:r>
              <a:rPr sz="3200"/>
              <a:t>：客户</a:t>
            </a:r>
            <a:r>
              <a:rPr lang="zh-CN" altLang="en-US" sz="3200"/>
              <a:t>查询功能</a:t>
            </a:r>
          </a:p>
        </p:txBody>
      </p:sp>
      <p:sp>
        <p:nvSpPr>
          <p:cNvPr id="3" name="内容占位符 2"/>
          <p:cNvSpPr>
            <a:spLocks noGrp="1"/>
          </p:cNvSpPr>
          <p:nvPr>
            <p:ph idx="1"/>
            <p:custDataLst>
              <p:tags r:id="rId1"/>
            </p:custDataLst>
          </p:nvPr>
        </p:nvSpPr>
        <p:spPr>
          <a:xfrm>
            <a:off x="2152650" y="1633221"/>
            <a:ext cx="7886700" cy="2475865"/>
          </a:xfrm>
        </p:spPr>
        <p:txBody>
          <a:bodyPr>
            <a:noAutofit/>
          </a:bodyPr>
          <a:lstStyle/>
          <a:p>
            <a:pPr marL="0" indent="0" algn="just">
              <a:lnSpc>
                <a:spcPct val="150000"/>
              </a:lnSpc>
              <a:buNone/>
            </a:pPr>
            <a:r>
              <a:rPr lang="zh-CN" altLang="zh-CN" sz="2000" dirty="0">
                <a:solidFill>
                  <a:schemeClr val="dk1"/>
                </a:solidFill>
              </a:rPr>
              <a:t>对于软件测试而言，因子即被测对象所需的测试输入条件，水平即每个输入的取值。</a:t>
            </a:r>
          </a:p>
          <a:p>
            <a:pPr marL="0" indent="0" algn="just">
              <a:lnSpc>
                <a:spcPct val="150000"/>
              </a:lnSpc>
              <a:buNone/>
            </a:pPr>
            <a:r>
              <a:rPr lang="zh-CN" altLang="en-US" sz="2000" dirty="0">
                <a:solidFill>
                  <a:schemeClr val="dk1"/>
                </a:solidFill>
              </a:rPr>
              <a:t>下</a:t>
            </a:r>
            <a:r>
              <a:rPr lang="zh-CN" altLang="zh-CN" sz="2000" dirty="0">
                <a:solidFill>
                  <a:schemeClr val="dk1"/>
                </a:solidFill>
              </a:rPr>
              <a:t>图查询功能示例图所示的功能界面包含功能客户姓名、联系电话、通信地址等</a:t>
            </a:r>
            <a:r>
              <a:rPr lang="en-US" altLang="zh-CN" sz="2000" dirty="0">
                <a:solidFill>
                  <a:schemeClr val="dk1"/>
                </a:solidFill>
              </a:rPr>
              <a:t>3</a:t>
            </a:r>
            <a:r>
              <a:rPr lang="zh-CN" altLang="zh-CN" sz="2000" dirty="0">
                <a:solidFill>
                  <a:schemeClr val="dk1"/>
                </a:solidFill>
              </a:rPr>
              <a:t>个查询字段，每个查询条件有输入数据和不输入两种情况，可称之为</a:t>
            </a:r>
            <a:r>
              <a:rPr lang="en-US" altLang="zh-CN" sz="2000" dirty="0">
                <a:solidFill>
                  <a:schemeClr val="dk1"/>
                </a:solidFill>
              </a:rPr>
              <a:t>3</a:t>
            </a:r>
            <a:r>
              <a:rPr lang="zh-CN" altLang="zh-CN" sz="2000" dirty="0">
                <a:solidFill>
                  <a:schemeClr val="dk1"/>
                </a:solidFill>
              </a:rPr>
              <a:t>因子</a:t>
            </a:r>
            <a:r>
              <a:rPr lang="en-US" altLang="zh-CN" sz="2000" dirty="0">
                <a:solidFill>
                  <a:schemeClr val="dk1"/>
                </a:solidFill>
              </a:rPr>
              <a:t>2</a:t>
            </a:r>
            <a:r>
              <a:rPr lang="zh-CN" altLang="zh-CN" sz="2000" dirty="0">
                <a:solidFill>
                  <a:schemeClr val="dk1"/>
                </a:solidFill>
              </a:rPr>
              <a:t>水平。</a:t>
            </a:r>
          </a:p>
        </p:txBody>
      </p:sp>
      <p:sp>
        <p:nvSpPr>
          <p:cNvPr id="4" name="Rectangle 2"/>
          <p:cNvSpPr>
            <a:spLocks noChangeArrowheads="1"/>
          </p:cNvSpPr>
          <p:nvPr>
            <p:custDataLst>
              <p:tags r:id="rId2"/>
            </p:custDataLst>
          </p:nvPr>
        </p:nvSpPr>
        <p:spPr bwMode="auto">
          <a:xfrm>
            <a:off x="1524000" y="814932"/>
            <a:ext cx="138564" cy="84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spAutoFit/>
          </a:bodyPr>
          <a:lstStyle/>
          <a:p>
            <a:endParaRPr lang="zh-CN" altLang="en-US" sz="100">
              <a:solidFill>
                <a:schemeClr val="dk1"/>
              </a:solidFill>
            </a:endParaRPr>
          </a:p>
        </p:txBody>
      </p:sp>
      <p:graphicFrame>
        <p:nvGraphicFramePr>
          <p:cNvPr id="5" name="对象 4"/>
          <p:cNvGraphicFramePr>
            <a:graphicFrameLocks noChangeAspect="1"/>
          </p:cNvGraphicFramePr>
          <p:nvPr>
            <p:custDataLst>
              <p:tags r:id="rId3"/>
            </p:custDataLst>
          </p:nvPr>
        </p:nvGraphicFramePr>
        <p:xfrm>
          <a:off x="2381886" y="4437380"/>
          <a:ext cx="7425055" cy="707390"/>
        </p:xfrm>
        <a:graphic>
          <a:graphicData uri="http://schemas.openxmlformats.org/presentationml/2006/ole">
            <mc:AlternateContent xmlns:mc="http://schemas.openxmlformats.org/markup-compatibility/2006">
              <mc:Choice xmlns:v="urn:schemas-microsoft-com:vml" Requires="v">
                <p:oleObj name="Visio" r:id="rId7" imgW="8839200" imgH="736600" progId="Visio.Drawing.11">
                  <p:embed/>
                </p:oleObj>
              </mc:Choice>
              <mc:Fallback>
                <p:oleObj name="Visio" r:id="rId7" imgW="8839200" imgH="736600" progId="Visio.Drawing.11">
                  <p:embed/>
                  <p:pic>
                    <p:nvPicPr>
                      <p:cNvPr id="5" name="对象 4"/>
                      <p:cNvPicPr>
                        <a:picLocks noChangeAspect="1" noChangeArrowheads="1"/>
                      </p:cNvPicPr>
                      <p:nvPr/>
                    </p:nvPicPr>
                    <p:blipFill>
                      <a:blip r:embed="rId8"/>
                      <a:srcRect/>
                      <a:stretch>
                        <a:fillRect/>
                      </a:stretch>
                    </p:blipFill>
                    <p:spPr bwMode="auto">
                      <a:xfrm>
                        <a:off x="2381886" y="4437380"/>
                        <a:ext cx="7425055" cy="707390"/>
                      </a:xfrm>
                      <a:prstGeom prst="rect">
                        <a:avLst/>
                      </a:prstGeom>
                      <a:solidFill>
                        <a:schemeClr val="accent6">
                          <a:lumMod val="50000"/>
                        </a:schemeClr>
                      </a:solidFill>
                    </p:spPr>
                  </p:pic>
                </p:oleObj>
              </mc:Fallback>
            </mc:AlternateContent>
          </a:graphicData>
        </a:graphic>
      </p:graphicFrame>
      <p:sp>
        <p:nvSpPr>
          <p:cNvPr id="6" name="日期占位符 5"/>
          <p:cNvSpPr>
            <a:spLocks noGrp="1"/>
          </p:cNvSpPr>
          <p:nvPr>
            <p:ph type="dt" sz="half" idx="10"/>
            <p:custDataLst>
              <p:tags r:id="rId4"/>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7" name="灯片编号占位符 6"/>
          <p:cNvSpPr>
            <a:spLocks noGrp="1"/>
          </p:cNvSpPr>
          <p:nvPr>
            <p:ph type="sldNum" sz="quarter" idx="12"/>
            <p:custDataLst>
              <p:tags r:id="rId5"/>
            </p:custDataLst>
          </p:nvPr>
        </p:nvSpPr>
        <p:spPr/>
        <p:txBody>
          <a:bodyPr/>
          <a:lstStyle/>
          <a:p>
            <a:fld id="{49AE70B2-8BF9-45C0-BB95-33D1B9D3A854}" type="slidenum">
              <a:rPr lang="zh-CN" altLang="en-US" smtClean="0">
                <a:solidFill>
                  <a:schemeClr val="dk1">
                    <a:tint val="75000"/>
                  </a:schemeClr>
                </a:solidFill>
              </a:rPr>
              <a:t>42</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2120265" y="1808480"/>
            <a:ext cx="7886700" cy="3741420"/>
          </a:xfrm>
        </p:spPr>
        <p:txBody>
          <a:bodyPr>
            <a:noAutofit/>
          </a:bodyPr>
          <a:lstStyle/>
          <a:p>
            <a:pPr marL="0" indent="0" algn="just">
              <a:lnSpc>
                <a:spcPct val="150000"/>
              </a:lnSpc>
              <a:buNone/>
            </a:pPr>
            <a:r>
              <a:rPr lang="zh-CN" altLang="zh-CN" sz="2400" dirty="0">
                <a:solidFill>
                  <a:schemeClr val="dk1"/>
                </a:solidFill>
                <a:latin typeface="+mn-ea"/>
              </a:rPr>
              <a:t>上述案例中共有</a:t>
            </a:r>
            <a:r>
              <a:rPr lang="en-US" altLang="zh-CN" sz="2400" dirty="0">
                <a:solidFill>
                  <a:schemeClr val="dk1"/>
                </a:solidFill>
                <a:latin typeface="+mn-ea"/>
              </a:rPr>
              <a:t>3</a:t>
            </a:r>
            <a:r>
              <a:rPr lang="zh-CN" altLang="zh-CN" sz="2400" dirty="0">
                <a:solidFill>
                  <a:schemeClr val="dk1"/>
                </a:solidFill>
                <a:latin typeface="+mn-ea"/>
              </a:rPr>
              <a:t>个查询字段，如果从经验测试角度来看，可测试两种情况，即</a:t>
            </a:r>
            <a:r>
              <a:rPr lang="en-US" altLang="zh-CN" sz="2400" dirty="0">
                <a:solidFill>
                  <a:schemeClr val="dk1"/>
                </a:solidFill>
                <a:latin typeface="+mn-ea"/>
              </a:rPr>
              <a:t>3</a:t>
            </a:r>
            <a:r>
              <a:rPr lang="zh-CN" altLang="zh-CN" sz="2400" dirty="0">
                <a:solidFill>
                  <a:schemeClr val="dk1"/>
                </a:solidFill>
                <a:latin typeface="+mn-ea"/>
              </a:rPr>
              <a:t>个查询字段都不输入和都输入的情况，如果从全排列角度考虑，可设计</a:t>
            </a:r>
            <a:r>
              <a:rPr lang="en-US" altLang="zh-CN" sz="2400" dirty="0">
                <a:solidFill>
                  <a:schemeClr val="dk1"/>
                </a:solidFill>
                <a:latin typeface="+mn-ea"/>
              </a:rPr>
              <a:t>2</a:t>
            </a:r>
            <a:r>
              <a:rPr lang="en-US" altLang="zh-CN" sz="2400" baseline="30000" dirty="0">
                <a:solidFill>
                  <a:schemeClr val="dk1"/>
                </a:solidFill>
                <a:latin typeface="+mn-ea"/>
              </a:rPr>
              <a:t>3</a:t>
            </a:r>
            <a:r>
              <a:rPr lang="zh-CN" altLang="zh-CN" sz="2400" dirty="0">
                <a:solidFill>
                  <a:schemeClr val="dk1"/>
                </a:solidFill>
                <a:latin typeface="+mn-ea"/>
              </a:rPr>
              <a:t>，即</a:t>
            </a:r>
            <a:r>
              <a:rPr lang="en-US" altLang="zh-CN" sz="2400" dirty="0">
                <a:solidFill>
                  <a:schemeClr val="dk1"/>
                </a:solidFill>
                <a:latin typeface="+mn-ea"/>
              </a:rPr>
              <a:t>8</a:t>
            </a:r>
            <a:r>
              <a:rPr lang="zh-CN" altLang="zh-CN" sz="2400" dirty="0">
                <a:solidFill>
                  <a:schemeClr val="dk1"/>
                </a:solidFill>
                <a:latin typeface="+mn-ea"/>
              </a:rPr>
              <a:t>条用例进行覆盖，但如果测试条件增加，用例数将会无比庞大，测试效率无法保证，造成测试遗漏。</a:t>
            </a:r>
          </a:p>
          <a:p>
            <a:pPr marL="0" indent="0" algn="just">
              <a:lnSpc>
                <a:spcPct val="150000"/>
              </a:lnSpc>
              <a:buNone/>
            </a:pPr>
            <a:r>
              <a:rPr lang="zh-CN" altLang="zh-CN" sz="2400" dirty="0">
                <a:solidFill>
                  <a:schemeClr val="dk1"/>
                </a:solidFill>
                <a:latin typeface="+mn-ea"/>
              </a:rPr>
              <a:t>如果采用正交实验方法，则可降低此类风险。</a:t>
            </a:r>
          </a:p>
        </p:txBody>
      </p:sp>
      <p:sp>
        <p:nvSpPr>
          <p:cNvPr id="2" name="日期占位符 1"/>
          <p:cNvSpPr>
            <a:spLocks noGrp="1"/>
          </p:cNvSpPr>
          <p:nvPr>
            <p:ph type="dt" sz="half" idx="10"/>
            <p:custDataLst>
              <p:tags r:id="rId2"/>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solidFill>
                  <a:schemeClr val="dk1">
                    <a:tint val="75000"/>
                  </a:schemeClr>
                </a:solidFill>
              </a:rPr>
              <a:t>43</a:t>
            </a:fld>
            <a:endParaRPr lang="zh-CN" altLang="en-US">
              <a:solidFill>
                <a:schemeClr val="dk1">
                  <a:tint val="75000"/>
                </a:schemeClr>
              </a:solidFill>
            </a:endParaRPr>
          </a:p>
        </p:txBody>
      </p:sp>
      <p:sp>
        <p:nvSpPr>
          <p:cNvPr id="5" name="标题 4"/>
          <p:cNvSpPr>
            <a:spLocks noGrp="1"/>
          </p:cNvSpPr>
          <p:nvPr>
            <p:ph type="title"/>
            <p:custDataLst>
              <p:tags r:id="rId4"/>
            </p:custDataLst>
          </p:nvPr>
        </p:nvSpPr>
        <p:spPr>
          <a:xfrm>
            <a:off x="2026285" y="498475"/>
            <a:ext cx="8139430" cy="1021080"/>
          </a:xfrm>
        </p:spPr>
        <p:txBody>
          <a:bodyPr>
            <a:noAutofit/>
          </a:bodyPr>
          <a:lstStyle/>
          <a:p>
            <a:pPr algn="l">
              <a:buClrTx/>
              <a:buSzTx/>
              <a:buFontTx/>
            </a:pPr>
            <a:r>
              <a:rPr lang="zh-CN" altLang="en-US" sz="3200"/>
              <a:t>案例</a:t>
            </a:r>
            <a:r>
              <a:rPr lang="en-US" altLang="zh-CN" sz="3200"/>
              <a:t>1</a:t>
            </a:r>
            <a:r>
              <a:rPr sz="3200"/>
              <a:t>：客户</a:t>
            </a:r>
            <a:r>
              <a:rPr lang="zh-CN" altLang="en-US" sz="3200"/>
              <a:t>查询功能</a:t>
            </a: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2120265" y="1744345"/>
            <a:ext cx="7886700" cy="4476750"/>
          </a:xfrm>
        </p:spPr>
        <p:txBody>
          <a:bodyPr>
            <a:noAutofit/>
          </a:bodyPr>
          <a:lstStyle/>
          <a:p>
            <a:pPr marL="0" indent="0" algn="just">
              <a:lnSpc>
                <a:spcPct val="120000"/>
              </a:lnSpc>
              <a:buNone/>
            </a:pPr>
            <a:r>
              <a:rPr lang="zh-CN" altLang="zh-CN" b="1" dirty="0">
                <a:solidFill>
                  <a:schemeClr val="dk1"/>
                </a:solidFill>
                <a:latin typeface="+mn-ea"/>
              </a:rPr>
              <a:t>使用正交实验方法如下：</a:t>
            </a:r>
          </a:p>
          <a:p>
            <a:pPr marL="0" indent="0" algn="just">
              <a:lnSpc>
                <a:spcPct val="120000"/>
              </a:lnSpc>
              <a:buNone/>
            </a:pPr>
            <a:r>
              <a:rPr lang="zh-CN" altLang="zh-CN" sz="2400" dirty="0">
                <a:solidFill>
                  <a:schemeClr val="dk1"/>
                </a:solidFill>
                <a:latin typeface="+mn-ea"/>
              </a:rPr>
              <a:t>（</a:t>
            </a:r>
            <a:r>
              <a:rPr lang="en-US" altLang="zh-CN" sz="2400" dirty="0">
                <a:solidFill>
                  <a:schemeClr val="dk1"/>
                </a:solidFill>
                <a:latin typeface="+mn-ea"/>
              </a:rPr>
              <a:t>1</a:t>
            </a:r>
            <a:r>
              <a:rPr lang="zh-CN" altLang="zh-CN" sz="2400" dirty="0">
                <a:solidFill>
                  <a:schemeClr val="dk1"/>
                </a:solidFill>
                <a:latin typeface="+mn-ea"/>
              </a:rPr>
              <a:t>）分析需求获取因子及水平</a:t>
            </a:r>
          </a:p>
          <a:p>
            <a:pPr marL="0" indent="0" algn="just">
              <a:lnSpc>
                <a:spcPct val="160000"/>
              </a:lnSpc>
              <a:buNone/>
            </a:pPr>
            <a:r>
              <a:rPr lang="zh-CN" altLang="zh-CN" sz="2400" dirty="0">
                <a:solidFill>
                  <a:schemeClr val="dk1"/>
                </a:solidFill>
                <a:latin typeface="+mn-ea"/>
              </a:rPr>
              <a:t>根据被测对象的需求描述，获取输入条件及每个条件可能的取值，如果取值较多，可使用等价类及边界值方法先优化。根据用户需求可以确定的因子数为</a:t>
            </a:r>
            <a:r>
              <a:rPr lang="en-US" altLang="zh-CN" sz="2400" dirty="0">
                <a:solidFill>
                  <a:schemeClr val="dk1"/>
                </a:solidFill>
                <a:latin typeface="+mn-ea"/>
              </a:rPr>
              <a:t>3</a:t>
            </a:r>
            <a:r>
              <a:rPr lang="zh-CN" altLang="zh-CN" sz="2400" dirty="0">
                <a:solidFill>
                  <a:schemeClr val="dk1"/>
                </a:solidFill>
                <a:latin typeface="+mn-ea"/>
              </a:rPr>
              <a:t>，每个因子从输入和不输入两种情况考虑，则水平为</a:t>
            </a:r>
            <a:r>
              <a:rPr lang="en-US" altLang="zh-CN" sz="2400" dirty="0">
                <a:solidFill>
                  <a:schemeClr val="dk1"/>
                </a:solidFill>
                <a:latin typeface="+mn-ea"/>
              </a:rPr>
              <a:t>2</a:t>
            </a:r>
            <a:r>
              <a:rPr lang="zh-CN" altLang="zh-CN" sz="2400" dirty="0">
                <a:solidFill>
                  <a:schemeClr val="dk1"/>
                </a:solidFill>
                <a:latin typeface="+mn-ea"/>
              </a:rPr>
              <a:t>。</a:t>
            </a:r>
          </a:p>
        </p:txBody>
      </p:sp>
      <p:sp>
        <p:nvSpPr>
          <p:cNvPr id="2" name="日期占位符 1"/>
          <p:cNvSpPr>
            <a:spLocks noGrp="1"/>
          </p:cNvSpPr>
          <p:nvPr>
            <p:ph type="dt" sz="half" idx="10"/>
            <p:custDataLst>
              <p:tags r:id="rId2"/>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solidFill>
                  <a:schemeClr val="dk1">
                    <a:tint val="75000"/>
                  </a:schemeClr>
                </a:solidFill>
              </a:rPr>
              <a:t>44</a:t>
            </a:fld>
            <a:endParaRPr lang="zh-CN" altLang="en-US">
              <a:solidFill>
                <a:schemeClr val="dk1">
                  <a:tint val="75000"/>
                </a:schemeClr>
              </a:solidFill>
            </a:endParaRPr>
          </a:p>
        </p:txBody>
      </p:sp>
      <p:sp>
        <p:nvSpPr>
          <p:cNvPr id="5" name="标题 4"/>
          <p:cNvSpPr>
            <a:spLocks noGrp="1"/>
          </p:cNvSpPr>
          <p:nvPr>
            <p:ph type="title"/>
            <p:custDataLst>
              <p:tags r:id="rId4"/>
            </p:custDataLst>
          </p:nvPr>
        </p:nvSpPr>
        <p:spPr>
          <a:xfrm>
            <a:off x="2026285" y="498475"/>
            <a:ext cx="8139430" cy="1021080"/>
          </a:xfrm>
        </p:spPr>
        <p:txBody>
          <a:bodyPr>
            <a:noAutofit/>
          </a:bodyPr>
          <a:lstStyle/>
          <a:p>
            <a:pPr algn="l">
              <a:buClrTx/>
              <a:buSzTx/>
              <a:buFontTx/>
            </a:pPr>
            <a:r>
              <a:rPr lang="zh-CN" altLang="en-US" sz="3200"/>
              <a:t>案例</a:t>
            </a:r>
            <a:r>
              <a:rPr lang="en-US" altLang="zh-CN" sz="3200"/>
              <a:t>1</a:t>
            </a:r>
            <a:r>
              <a:rPr sz="3200"/>
              <a:t>：客户</a:t>
            </a:r>
            <a:r>
              <a:rPr lang="zh-CN" altLang="en-US" sz="3200"/>
              <a:t>查询功能</a:t>
            </a: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20265" y="933451"/>
            <a:ext cx="4789170" cy="5287645"/>
          </a:xfrm>
        </p:spPr>
        <p:txBody>
          <a:bodyPr>
            <a:noAutofit/>
          </a:bodyPr>
          <a:lstStyle/>
          <a:p>
            <a:pPr marL="0" indent="0" algn="just">
              <a:lnSpc>
                <a:spcPct val="120000"/>
              </a:lnSpc>
              <a:buNone/>
            </a:pPr>
            <a:r>
              <a:rPr lang="zh-CN" altLang="zh-CN" sz="2400" dirty="0">
                <a:solidFill>
                  <a:srgbClr val="000000"/>
                </a:solidFill>
                <a:latin typeface="+mn-ea"/>
              </a:rPr>
              <a:t>（</a:t>
            </a:r>
            <a:r>
              <a:rPr lang="en-US" altLang="zh-CN" sz="2400" dirty="0">
                <a:solidFill>
                  <a:srgbClr val="000000"/>
                </a:solidFill>
                <a:latin typeface="+mn-ea"/>
              </a:rPr>
              <a:t>2</a:t>
            </a:r>
            <a:r>
              <a:rPr lang="zh-CN" altLang="zh-CN" sz="2400" dirty="0">
                <a:solidFill>
                  <a:srgbClr val="000000"/>
                </a:solidFill>
                <a:latin typeface="+mn-ea"/>
              </a:rPr>
              <a:t>）根据因子及水平数选择正交表</a:t>
            </a:r>
          </a:p>
          <a:p>
            <a:pPr marL="0" indent="0" algn="just">
              <a:lnSpc>
                <a:spcPct val="120000"/>
              </a:lnSpc>
              <a:buNone/>
            </a:pPr>
            <a:r>
              <a:rPr lang="zh-CN" altLang="zh-CN" sz="2400" dirty="0">
                <a:solidFill>
                  <a:srgbClr val="000000"/>
                </a:solidFill>
                <a:latin typeface="+mn-ea"/>
              </a:rPr>
              <a:t>由步骤（</a:t>
            </a:r>
            <a:r>
              <a:rPr lang="en-US" altLang="zh-CN" sz="2400" dirty="0">
                <a:solidFill>
                  <a:srgbClr val="000000"/>
                </a:solidFill>
                <a:latin typeface="+mn-ea"/>
              </a:rPr>
              <a:t>1</a:t>
            </a:r>
            <a:r>
              <a:rPr lang="zh-CN" altLang="zh-CN" sz="2400" dirty="0">
                <a:solidFill>
                  <a:srgbClr val="000000"/>
                </a:solidFill>
                <a:latin typeface="+mn-ea"/>
              </a:rPr>
              <a:t>）分析得知，被测对象可能所需的正交表为</a:t>
            </a:r>
            <a:r>
              <a:rPr lang="en-US" altLang="zh-CN" sz="2400" dirty="0">
                <a:solidFill>
                  <a:srgbClr val="000000"/>
                </a:solidFill>
                <a:latin typeface="+mn-ea"/>
              </a:rPr>
              <a:t>3</a:t>
            </a:r>
            <a:r>
              <a:rPr lang="zh-CN" altLang="zh-CN" sz="2400" dirty="0">
                <a:solidFill>
                  <a:srgbClr val="000000"/>
                </a:solidFill>
                <a:latin typeface="+mn-ea"/>
              </a:rPr>
              <a:t>因子</a:t>
            </a:r>
            <a:r>
              <a:rPr lang="en-US" altLang="zh-CN" sz="2400" dirty="0">
                <a:solidFill>
                  <a:srgbClr val="000000"/>
                </a:solidFill>
                <a:latin typeface="+mn-ea"/>
              </a:rPr>
              <a:t>2</a:t>
            </a:r>
            <a:r>
              <a:rPr lang="zh-CN" altLang="zh-CN" sz="2400" dirty="0">
                <a:solidFill>
                  <a:srgbClr val="000000"/>
                </a:solidFill>
                <a:latin typeface="+mn-ea"/>
              </a:rPr>
              <a:t>水平，从正交实验网站查找得知有恰好符合</a:t>
            </a:r>
            <a:r>
              <a:rPr lang="en-US" altLang="zh-CN" sz="2400" dirty="0">
                <a:solidFill>
                  <a:srgbClr val="000000"/>
                </a:solidFill>
                <a:latin typeface="+mn-ea"/>
              </a:rPr>
              <a:t>3</a:t>
            </a:r>
            <a:r>
              <a:rPr lang="zh-CN" altLang="zh-CN" sz="2400" dirty="0">
                <a:solidFill>
                  <a:srgbClr val="000000"/>
                </a:solidFill>
                <a:latin typeface="+mn-ea"/>
              </a:rPr>
              <a:t>因子</a:t>
            </a:r>
            <a:r>
              <a:rPr lang="en-US" altLang="zh-CN" sz="2400" dirty="0">
                <a:solidFill>
                  <a:srgbClr val="000000"/>
                </a:solidFill>
                <a:latin typeface="+mn-ea"/>
              </a:rPr>
              <a:t>2</a:t>
            </a:r>
            <a:r>
              <a:rPr lang="zh-CN" altLang="zh-CN" sz="2400" dirty="0">
                <a:solidFill>
                  <a:srgbClr val="000000"/>
                </a:solidFill>
                <a:latin typeface="+mn-ea"/>
              </a:rPr>
              <a:t>水平的正交表。</a:t>
            </a:r>
          </a:p>
          <a:p>
            <a:pPr algn="just">
              <a:lnSpc>
                <a:spcPct val="120000"/>
              </a:lnSpc>
            </a:pPr>
            <a:r>
              <a:rPr lang="zh-CN" altLang="zh-CN" sz="2400" dirty="0">
                <a:solidFill>
                  <a:srgbClr val="000000"/>
                </a:solidFill>
                <a:latin typeface="+mn-ea"/>
              </a:rPr>
              <a:t>如果预估正交表与实际正交表不相符，可选择</a:t>
            </a:r>
            <a:r>
              <a:rPr lang="zh-CN" altLang="zh-CN" sz="2400" b="1" dirty="0">
                <a:solidFill>
                  <a:srgbClr val="FF0000"/>
                </a:solidFill>
                <a:latin typeface="+mn-ea"/>
              </a:rPr>
              <a:t>因子及水平大于预估正交表</a:t>
            </a:r>
            <a:r>
              <a:rPr lang="zh-CN" altLang="zh-CN" sz="2400" dirty="0">
                <a:solidFill>
                  <a:srgbClr val="000000"/>
                </a:solidFill>
                <a:latin typeface="+mn-ea"/>
              </a:rPr>
              <a:t>，且实验次数最少的正交表。</a:t>
            </a:r>
          </a:p>
        </p:txBody>
      </p:sp>
      <p:sp>
        <p:nvSpPr>
          <p:cNvPr id="2" name="日期占位符 1"/>
          <p:cNvSpPr>
            <a:spLocks noGrp="1"/>
          </p:cNvSpPr>
          <p:nvPr>
            <p:ph type="dt" sz="half" idx="10"/>
            <p:custDataLst>
              <p:tags r:id="rId1"/>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4" name="灯片编号占位符 3"/>
          <p:cNvSpPr>
            <a:spLocks noGrp="1"/>
          </p:cNvSpPr>
          <p:nvPr>
            <p:ph type="sldNum" sz="quarter" idx="12"/>
            <p:custDataLst>
              <p:tags r:id="rId2"/>
            </p:custDataLst>
          </p:nvPr>
        </p:nvSpPr>
        <p:spPr/>
        <p:txBody>
          <a:bodyPr/>
          <a:lstStyle/>
          <a:p>
            <a:fld id="{49AE70B2-8BF9-45C0-BB95-33D1B9D3A854}" type="slidenum">
              <a:rPr lang="zh-CN" altLang="en-US" smtClean="0">
                <a:solidFill>
                  <a:schemeClr val="dk1">
                    <a:tint val="75000"/>
                  </a:schemeClr>
                </a:solidFill>
              </a:rPr>
              <a:t>45</a:t>
            </a:fld>
            <a:endParaRPr lang="zh-CN" altLang="en-US">
              <a:solidFill>
                <a:schemeClr val="dk1">
                  <a:tint val="75000"/>
                </a:schemeClr>
              </a:solidFill>
            </a:endParaRPr>
          </a:p>
        </p:txBody>
      </p:sp>
      <p:graphicFrame>
        <p:nvGraphicFramePr>
          <p:cNvPr id="5" name="表格 4"/>
          <p:cNvGraphicFramePr>
            <a:graphicFrameLocks noGrp="1"/>
          </p:cNvGraphicFramePr>
          <p:nvPr>
            <p:custDataLst>
              <p:tags r:id="rId3"/>
            </p:custDataLst>
          </p:nvPr>
        </p:nvGraphicFramePr>
        <p:xfrm>
          <a:off x="7114660" y="2401752"/>
          <a:ext cx="2997835" cy="2865120"/>
        </p:xfrm>
        <a:graphic>
          <a:graphicData uri="http://schemas.openxmlformats.org/drawingml/2006/table">
            <a:tbl>
              <a:tblPr firstRow="1" firstCol="1" bandRow="1">
                <a:tableStyleId>{5FD0F851-EC5A-4D38-B0AD-8093EC10F338}</a:tableStyleId>
              </a:tblPr>
              <a:tblGrid>
                <a:gridCol w="1416685">
                  <a:extLst>
                    <a:ext uri="{9D8B030D-6E8A-4147-A177-3AD203B41FA5}">
                      <a16:colId xmlns:a16="http://schemas.microsoft.com/office/drawing/2014/main" val="20000"/>
                    </a:ext>
                  </a:extLst>
                </a:gridCol>
                <a:gridCol w="556895">
                  <a:extLst>
                    <a:ext uri="{9D8B030D-6E8A-4147-A177-3AD203B41FA5}">
                      <a16:colId xmlns:a16="http://schemas.microsoft.com/office/drawing/2014/main" val="20001"/>
                    </a:ext>
                  </a:extLst>
                </a:gridCol>
                <a:gridCol w="546735">
                  <a:extLst>
                    <a:ext uri="{9D8B030D-6E8A-4147-A177-3AD203B41FA5}">
                      <a16:colId xmlns:a16="http://schemas.microsoft.com/office/drawing/2014/main" val="20002"/>
                    </a:ext>
                  </a:extLst>
                </a:gridCol>
                <a:gridCol w="477520">
                  <a:extLst>
                    <a:ext uri="{9D8B030D-6E8A-4147-A177-3AD203B41FA5}">
                      <a16:colId xmlns:a16="http://schemas.microsoft.com/office/drawing/2014/main" val="20003"/>
                    </a:ext>
                  </a:extLst>
                </a:gridCol>
              </a:tblGrid>
              <a:tr h="477520">
                <a:tc rowSpan="2">
                  <a:txBody>
                    <a:bodyPr/>
                    <a:lstStyle/>
                    <a:p>
                      <a:pPr algn="ctr">
                        <a:spcBef>
                          <a:spcPts val="300"/>
                        </a:spcBef>
                        <a:spcAft>
                          <a:spcPts val="300"/>
                        </a:spcAft>
                      </a:pPr>
                      <a:r>
                        <a:rPr lang="en-US" sz="1800" dirty="0">
                          <a:effectLst/>
                        </a:rPr>
                        <a:t>Experiment Number</a:t>
                      </a:r>
                      <a:endParaRPr lang="zh-CN" sz="1800" dirty="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spcBef>
                          <a:spcPts val="300"/>
                        </a:spcBef>
                        <a:spcAft>
                          <a:spcPts val="300"/>
                        </a:spcAft>
                      </a:pPr>
                      <a:r>
                        <a:rPr lang="en-US" sz="1800">
                          <a:effectLst/>
                        </a:rPr>
                        <a:t>Column</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477520">
                <a:tc vMerge="1">
                  <a:txBody>
                    <a:bodyPr/>
                    <a:lstStyle/>
                    <a:p>
                      <a:endParaRPr lang="zh-CN"/>
                    </a:p>
                  </a:txBody>
                  <a:tcPr/>
                </a:tc>
                <a:tc>
                  <a:txBody>
                    <a:bodyPr/>
                    <a:lstStyle/>
                    <a:p>
                      <a:pPr algn="ctr">
                        <a:spcBef>
                          <a:spcPts val="300"/>
                        </a:spcBef>
                        <a:spcAft>
                          <a:spcPts val="300"/>
                        </a:spcAft>
                      </a:pPr>
                      <a:r>
                        <a:rPr lang="en-US" sz="1800">
                          <a:effectLst/>
                        </a:rPr>
                        <a:t>1</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2</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3</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77520">
                <a:tc>
                  <a:txBody>
                    <a:bodyPr/>
                    <a:lstStyle/>
                    <a:p>
                      <a:pPr algn="ctr">
                        <a:spcBef>
                          <a:spcPts val="300"/>
                        </a:spcBef>
                        <a:spcAft>
                          <a:spcPts val="300"/>
                        </a:spcAft>
                      </a:pPr>
                      <a:r>
                        <a:rPr lang="en-US" sz="1800">
                          <a:effectLst/>
                        </a:rPr>
                        <a:t>1</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1</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1</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1</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7520">
                <a:tc>
                  <a:txBody>
                    <a:bodyPr/>
                    <a:lstStyle/>
                    <a:p>
                      <a:pPr algn="ctr">
                        <a:spcBef>
                          <a:spcPts val="300"/>
                        </a:spcBef>
                        <a:spcAft>
                          <a:spcPts val="300"/>
                        </a:spcAft>
                      </a:pPr>
                      <a:r>
                        <a:rPr lang="en-US" sz="1800">
                          <a:effectLst/>
                        </a:rPr>
                        <a:t>2</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1</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2</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2</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77520">
                <a:tc>
                  <a:txBody>
                    <a:bodyPr/>
                    <a:lstStyle/>
                    <a:p>
                      <a:pPr algn="ctr">
                        <a:spcBef>
                          <a:spcPts val="300"/>
                        </a:spcBef>
                        <a:spcAft>
                          <a:spcPts val="300"/>
                        </a:spcAft>
                      </a:pPr>
                      <a:r>
                        <a:rPr lang="en-US" sz="1800">
                          <a:effectLst/>
                        </a:rPr>
                        <a:t>3</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2</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1</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2</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77520">
                <a:tc>
                  <a:txBody>
                    <a:bodyPr/>
                    <a:lstStyle/>
                    <a:p>
                      <a:pPr algn="ctr">
                        <a:spcBef>
                          <a:spcPts val="300"/>
                        </a:spcBef>
                        <a:spcAft>
                          <a:spcPts val="300"/>
                        </a:spcAft>
                      </a:pPr>
                      <a:r>
                        <a:rPr lang="en-US" sz="1800">
                          <a:effectLst/>
                        </a:rPr>
                        <a:t>4</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2</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a:effectLst/>
                        </a:rPr>
                        <a:t>2</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en-US" sz="1800" dirty="0">
                          <a:effectLst/>
                        </a:rPr>
                        <a:t>1</a:t>
                      </a:r>
                      <a:endParaRPr lang="zh-CN" sz="1800" dirty="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custDataLst>
              <p:tags r:id="rId1"/>
            </p:custDataLst>
          </p:nvPr>
        </p:nvSpPr>
        <p:spPr bwMode="auto">
          <a:xfrm>
            <a:off x="1991360" y="767399"/>
            <a:ext cx="7887970" cy="173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spAutoFit/>
          </a:bodyPr>
          <a:lstStyle/>
          <a:p>
            <a:pPr indent="266700" fontAlgn="base">
              <a:lnSpc>
                <a:spcPct val="150000"/>
              </a:lnSpc>
              <a:spcBef>
                <a:spcPct val="0"/>
              </a:spcBef>
              <a:spcAft>
                <a:spcPct val="0"/>
              </a:spcAft>
              <a:tabLst>
                <a:tab pos="133350" algn="l"/>
              </a:tabLst>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a:t>
            </a:r>
            <a:r>
              <a:rPr lang="en-US" altLang="zh-CN" sz="2400" dirty="0">
                <a:solidFill>
                  <a:schemeClr val="dk1"/>
                </a:solidFill>
                <a:latin typeface="微软雅黑" panose="020B0503020204020204" charset="-122"/>
                <a:ea typeface="微软雅黑" panose="020B0503020204020204" charset="-122"/>
                <a:cs typeface="微软雅黑" panose="020B0503020204020204" charset="-122"/>
              </a:rPr>
              <a:t>3</a:t>
            </a: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）替换因子水平，获取实验次数</a:t>
            </a:r>
          </a:p>
          <a:p>
            <a:pPr indent="266700" eaLnBrk="0" fontAlgn="base" hangingPunct="0">
              <a:lnSpc>
                <a:spcPct val="150000"/>
              </a:lnSpc>
              <a:spcBef>
                <a:spcPct val="0"/>
              </a:spcBef>
              <a:spcAft>
                <a:spcPct val="0"/>
              </a:spcAft>
              <a:tabLst>
                <a:tab pos="133350" algn="l"/>
              </a:tabLst>
            </a:pPr>
            <a:r>
              <a:rPr lang="zh-CN" altLang="en-US" sz="2400" dirty="0">
                <a:solidFill>
                  <a:schemeClr val="dk1"/>
                </a:solidFill>
                <a:latin typeface="微软雅黑" panose="020B0503020204020204" charset="-122"/>
                <a:ea typeface="微软雅黑" panose="020B0503020204020204" charset="-122"/>
                <a:cs typeface="微软雅黑" panose="020B0503020204020204" charset="-122"/>
              </a:rPr>
              <a:t>将输入项及取值替换正交表，获取实验次数，替换后的表格如下表所示。 </a:t>
            </a:r>
          </a:p>
        </p:txBody>
      </p:sp>
      <p:graphicFrame>
        <p:nvGraphicFramePr>
          <p:cNvPr id="6" name="表格 5"/>
          <p:cNvGraphicFramePr>
            <a:graphicFrameLocks noGrp="1"/>
          </p:cNvGraphicFramePr>
          <p:nvPr>
            <p:custDataLst>
              <p:tags r:id="rId2"/>
            </p:custDataLst>
          </p:nvPr>
        </p:nvGraphicFramePr>
        <p:xfrm>
          <a:off x="3619071" y="2881695"/>
          <a:ext cx="4476750" cy="2876550"/>
        </p:xfrm>
        <a:graphic>
          <a:graphicData uri="http://schemas.openxmlformats.org/drawingml/2006/table">
            <a:tbl>
              <a:tblPr firstRow="1" firstCol="1" bandRow="1">
                <a:tableStyleId>{5FD0F851-EC5A-4D38-B0AD-8093EC10F338}</a:tableStyleId>
              </a:tblPr>
              <a:tblGrid>
                <a:gridCol w="710565">
                  <a:extLst>
                    <a:ext uri="{9D8B030D-6E8A-4147-A177-3AD203B41FA5}">
                      <a16:colId xmlns:a16="http://schemas.microsoft.com/office/drawing/2014/main" val="20000"/>
                    </a:ext>
                  </a:extLst>
                </a:gridCol>
                <a:gridCol w="1229995">
                  <a:extLst>
                    <a:ext uri="{9D8B030D-6E8A-4147-A177-3AD203B41FA5}">
                      <a16:colId xmlns:a16="http://schemas.microsoft.com/office/drawing/2014/main" val="20001"/>
                    </a:ext>
                  </a:extLst>
                </a:gridCol>
                <a:gridCol w="1296035">
                  <a:extLst>
                    <a:ext uri="{9D8B030D-6E8A-4147-A177-3AD203B41FA5}">
                      <a16:colId xmlns:a16="http://schemas.microsoft.com/office/drawing/2014/main" val="20002"/>
                    </a:ext>
                  </a:extLst>
                </a:gridCol>
                <a:gridCol w="1240155">
                  <a:extLst>
                    <a:ext uri="{9D8B030D-6E8A-4147-A177-3AD203B41FA5}">
                      <a16:colId xmlns:a16="http://schemas.microsoft.com/office/drawing/2014/main" val="20003"/>
                    </a:ext>
                  </a:extLst>
                </a:gridCol>
              </a:tblGrid>
              <a:tr h="479425">
                <a:tc rowSpan="2">
                  <a:txBody>
                    <a:bodyPr/>
                    <a:lstStyle/>
                    <a:p>
                      <a:pPr algn="ctr">
                        <a:spcBef>
                          <a:spcPts val="300"/>
                        </a:spcBef>
                        <a:spcAft>
                          <a:spcPts val="300"/>
                        </a:spcAft>
                      </a:pPr>
                      <a:r>
                        <a:rPr lang="zh-CN" sz="1800">
                          <a:effectLst/>
                        </a:rPr>
                        <a:t>实验次数</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spcBef>
                          <a:spcPts val="300"/>
                        </a:spcBef>
                        <a:spcAft>
                          <a:spcPts val="300"/>
                        </a:spcAft>
                      </a:pPr>
                      <a:r>
                        <a:rPr lang="zh-CN" sz="1800">
                          <a:effectLst/>
                        </a:rPr>
                        <a:t>输入条件</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479425">
                <a:tc vMerge="1">
                  <a:txBody>
                    <a:bodyPr/>
                    <a:lstStyle/>
                    <a:p>
                      <a:endParaRPr lang="zh-CN"/>
                    </a:p>
                  </a:txBody>
                  <a:tcPr/>
                </a:tc>
                <a:tc>
                  <a:txBody>
                    <a:bodyPr/>
                    <a:lstStyle/>
                    <a:p>
                      <a:pPr algn="ctr">
                        <a:spcBef>
                          <a:spcPts val="300"/>
                        </a:spcBef>
                        <a:spcAft>
                          <a:spcPts val="300"/>
                        </a:spcAft>
                      </a:pPr>
                      <a:r>
                        <a:rPr lang="zh-CN" sz="1800">
                          <a:effectLst/>
                        </a:rPr>
                        <a:t>客户姓名</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联系电话</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通信地址</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79425">
                <a:tc>
                  <a:txBody>
                    <a:bodyPr/>
                    <a:lstStyle/>
                    <a:p>
                      <a:pPr algn="ctr">
                        <a:spcBef>
                          <a:spcPts val="300"/>
                        </a:spcBef>
                        <a:spcAft>
                          <a:spcPts val="300"/>
                        </a:spcAft>
                      </a:pPr>
                      <a:r>
                        <a:rPr lang="en-US" sz="1800">
                          <a:effectLst/>
                        </a:rPr>
                        <a:t>1</a:t>
                      </a:r>
                      <a:endParaRPr lang="en-US"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9425">
                <a:tc>
                  <a:txBody>
                    <a:bodyPr/>
                    <a:lstStyle/>
                    <a:p>
                      <a:pPr algn="ctr">
                        <a:spcBef>
                          <a:spcPts val="300"/>
                        </a:spcBef>
                        <a:spcAft>
                          <a:spcPts val="300"/>
                        </a:spcAft>
                      </a:pPr>
                      <a:r>
                        <a:rPr lang="en-US" sz="1800">
                          <a:effectLst/>
                        </a:rPr>
                        <a:t>2</a:t>
                      </a:r>
                      <a:endParaRPr lang="en-US"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79425">
                <a:tc>
                  <a:txBody>
                    <a:bodyPr/>
                    <a:lstStyle/>
                    <a:p>
                      <a:pPr algn="ctr">
                        <a:spcBef>
                          <a:spcPts val="300"/>
                        </a:spcBef>
                        <a:spcAft>
                          <a:spcPts val="300"/>
                        </a:spcAft>
                      </a:pPr>
                      <a:r>
                        <a:rPr lang="en-US" sz="1800">
                          <a:effectLst/>
                        </a:rPr>
                        <a:t>3</a:t>
                      </a:r>
                      <a:endParaRPr lang="en-US"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79425">
                <a:tc>
                  <a:txBody>
                    <a:bodyPr/>
                    <a:lstStyle/>
                    <a:p>
                      <a:pPr algn="ctr">
                        <a:spcBef>
                          <a:spcPts val="300"/>
                        </a:spcBef>
                        <a:spcAft>
                          <a:spcPts val="300"/>
                        </a:spcAft>
                      </a:pPr>
                      <a:r>
                        <a:rPr lang="en-US" sz="1800">
                          <a:effectLst/>
                        </a:rPr>
                        <a:t>4</a:t>
                      </a:r>
                      <a:endParaRPr lang="en-US"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dirty="0">
                          <a:effectLst/>
                        </a:rPr>
                        <a:t>输入</a:t>
                      </a:r>
                      <a:endParaRPr lang="zh-CN" sz="1800" dirty="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日期占位符 1"/>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3" name="灯片编号占位符 2"/>
          <p:cNvSpPr>
            <a:spLocks noGrp="1"/>
          </p:cNvSpPr>
          <p:nvPr>
            <p:ph type="sldNum" sz="quarter" idx="12"/>
            <p:custDataLst>
              <p:tags r:id="rId4"/>
            </p:custDataLst>
          </p:nvPr>
        </p:nvSpPr>
        <p:spPr/>
        <p:txBody>
          <a:bodyPr/>
          <a:lstStyle/>
          <a:p>
            <a:fld id="{49AE70B2-8BF9-45C0-BB95-33D1B9D3A854}" type="slidenum">
              <a:rPr lang="zh-CN" altLang="en-US" smtClean="0">
                <a:solidFill>
                  <a:schemeClr val="dk1">
                    <a:tint val="75000"/>
                  </a:schemeClr>
                </a:solidFill>
              </a:rPr>
              <a:t>46</a:t>
            </a:fld>
            <a:endParaRPr lang="zh-CN" altLang="en-US">
              <a:solidFill>
                <a:schemeClr val="dk1">
                  <a:tint val="75000"/>
                </a:schemeClr>
              </a:solidFill>
            </a:endParaRP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1913255" y="524510"/>
            <a:ext cx="4799330" cy="4837430"/>
          </a:xfrm>
        </p:spPr>
        <p:txBody>
          <a:bodyPr>
            <a:noAutofit/>
          </a:bodyPr>
          <a:lstStyle/>
          <a:p>
            <a:pPr marL="0" indent="0" algn="just">
              <a:lnSpc>
                <a:spcPct val="150000"/>
              </a:lnSpc>
              <a:buNone/>
            </a:pPr>
            <a:r>
              <a:rPr lang="zh-CN" altLang="zh-CN" sz="2000" dirty="0">
                <a:solidFill>
                  <a:schemeClr val="dk1"/>
                </a:solidFill>
                <a:latin typeface="+mn-ea"/>
              </a:rPr>
              <a:t>（</a:t>
            </a:r>
            <a:r>
              <a:rPr lang="en-US" altLang="zh-CN" sz="2000" dirty="0">
                <a:solidFill>
                  <a:schemeClr val="dk1"/>
                </a:solidFill>
                <a:latin typeface="+mn-ea"/>
              </a:rPr>
              <a:t>4</a:t>
            </a:r>
            <a:r>
              <a:rPr lang="zh-CN" altLang="zh-CN" sz="2000" dirty="0">
                <a:solidFill>
                  <a:schemeClr val="dk1"/>
                </a:solidFill>
                <a:latin typeface="+mn-ea"/>
              </a:rPr>
              <a:t>）根据经验补充实验次数</a:t>
            </a:r>
          </a:p>
          <a:p>
            <a:pPr marL="0" indent="0" algn="just">
              <a:lnSpc>
                <a:spcPct val="140000"/>
              </a:lnSpc>
              <a:buNone/>
            </a:pPr>
            <a:r>
              <a:rPr lang="zh-CN" altLang="zh-CN" sz="2000" dirty="0">
                <a:solidFill>
                  <a:schemeClr val="dk1"/>
                </a:solidFill>
                <a:latin typeface="+mn-ea"/>
              </a:rPr>
              <a:t>正交实验毕竟是通过数学方法推导出来的实验次数，保证了每个参与实验因子的水平取值均匀分布在实验数据中，并不能全部代表业务的实际情况，所以一般仍需要根据测试经验补充一些用例，针对上述案例，发现</a:t>
            </a:r>
            <a:r>
              <a:rPr lang="en-US" altLang="zh-CN" sz="2000" dirty="0">
                <a:solidFill>
                  <a:schemeClr val="dk1"/>
                </a:solidFill>
                <a:latin typeface="+mn-ea"/>
              </a:rPr>
              <a:t>3</a:t>
            </a:r>
            <a:r>
              <a:rPr lang="zh-CN" altLang="zh-CN" sz="2000" dirty="0">
                <a:solidFill>
                  <a:schemeClr val="dk1"/>
                </a:solidFill>
                <a:latin typeface="+mn-ea"/>
              </a:rPr>
              <a:t>因子</a:t>
            </a:r>
            <a:r>
              <a:rPr lang="en-US" altLang="zh-CN" sz="2000" dirty="0">
                <a:solidFill>
                  <a:schemeClr val="dk1"/>
                </a:solidFill>
                <a:latin typeface="+mn-ea"/>
              </a:rPr>
              <a:t>2</a:t>
            </a:r>
            <a:r>
              <a:rPr lang="zh-CN" altLang="zh-CN" sz="2000" dirty="0">
                <a:solidFill>
                  <a:schemeClr val="dk1"/>
                </a:solidFill>
                <a:latin typeface="+mn-ea"/>
              </a:rPr>
              <a:t>水平正交表并不包含</a:t>
            </a:r>
            <a:r>
              <a:rPr lang="zh-CN" altLang="zh-CN" sz="2000" b="1" dirty="0">
                <a:solidFill>
                  <a:srgbClr val="FF0000"/>
                </a:solidFill>
                <a:latin typeface="+mn-ea"/>
              </a:rPr>
              <a:t>每个因子取</a:t>
            </a:r>
            <a:r>
              <a:rPr lang="en-US" altLang="zh-CN" sz="2000" b="1" dirty="0">
                <a:solidFill>
                  <a:srgbClr val="FF0000"/>
                </a:solidFill>
                <a:latin typeface="+mn-ea"/>
              </a:rPr>
              <a:t>2</a:t>
            </a:r>
            <a:r>
              <a:rPr lang="zh-CN" altLang="zh-CN" sz="2000" b="1" dirty="0">
                <a:solidFill>
                  <a:srgbClr val="FF0000"/>
                </a:solidFill>
                <a:latin typeface="+mn-ea"/>
              </a:rPr>
              <a:t>值</a:t>
            </a:r>
            <a:r>
              <a:rPr lang="zh-CN" altLang="zh-CN" sz="2000" dirty="0">
                <a:solidFill>
                  <a:schemeClr val="dk1"/>
                </a:solidFill>
                <a:latin typeface="+mn-ea"/>
              </a:rPr>
              <a:t>的实验，故需补充该用例，调整后的表格如</a:t>
            </a:r>
            <a:r>
              <a:rPr lang="zh-CN" altLang="en-US" sz="2000" dirty="0">
                <a:solidFill>
                  <a:schemeClr val="dk1"/>
                </a:solidFill>
                <a:latin typeface="+mn-ea"/>
              </a:rPr>
              <a:t>右</a:t>
            </a:r>
            <a:r>
              <a:rPr lang="zh-CN" altLang="zh-CN" sz="2000" dirty="0">
                <a:solidFill>
                  <a:schemeClr val="dk1"/>
                </a:solidFill>
                <a:latin typeface="+mn-ea"/>
              </a:rPr>
              <a:t>表所示。</a:t>
            </a:r>
          </a:p>
        </p:txBody>
      </p:sp>
      <p:graphicFrame>
        <p:nvGraphicFramePr>
          <p:cNvPr id="4" name="表格 3"/>
          <p:cNvGraphicFramePr>
            <a:graphicFrameLocks noGrp="1"/>
          </p:cNvGraphicFramePr>
          <p:nvPr>
            <p:custDataLst>
              <p:tags r:id="rId2"/>
            </p:custDataLst>
          </p:nvPr>
        </p:nvGraphicFramePr>
        <p:xfrm>
          <a:off x="6776086" y="1607820"/>
          <a:ext cx="3832225" cy="3044190"/>
        </p:xfrm>
        <a:graphic>
          <a:graphicData uri="http://schemas.openxmlformats.org/drawingml/2006/table">
            <a:tbl>
              <a:tblPr firstRow="1" firstCol="1" bandRow="1">
                <a:tableStyleId>{5FD0F851-EC5A-4D38-B0AD-8093EC10F338}</a:tableStyleId>
              </a:tblPr>
              <a:tblGrid>
                <a:gridCol w="666115">
                  <a:extLst>
                    <a:ext uri="{9D8B030D-6E8A-4147-A177-3AD203B41FA5}">
                      <a16:colId xmlns:a16="http://schemas.microsoft.com/office/drawing/2014/main" val="20000"/>
                    </a:ext>
                  </a:extLst>
                </a:gridCol>
                <a:gridCol w="1087755">
                  <a:extLst>
                    <a:ext uri="{9D8B030D-6E8A-4147-A177-3AD203B41FA5}">
                      <a16:colId xmlns:a16="http://schemas.microsoft.com/office/drawing/2014/main" val="20001"/>
                    </a:ext>
                  </a:extLst>
                </a:gridCol>
                <a:gridCol w="1045845">
                  <a:extLst>
                    <a:ext uri="{9D8B030D-6E8A-4147-A177-3AD203B41FA5}">
                      <a16:colId xmlns:a16="http://schemas.microsoft.com/office/drawing/2014/main" val="20002"/>
                    </a:ext>
                  </a:extLst>
                </a:gridCol>
                <a:gridCol w="1032510">
                  <a:extLst>
                    <a:ext uri="{9D8B030D-6E8A-4147-A177-3AD203B41FA5}">
                      <a16:colId xmlns:a16="http://schemas.microsoft.com/office/drawing/2014/main" val="20003"/>
                    </a:ext>
                  </a:extLst>
                </a:gridCol>
              </a:tblGrid>
              <a:tr h="508000">
                <a:tc rowSpan="2">
                  <a:txBody>
                    <a:bodyPr/>
                    <a:lstStyle/>
                    <a:p>
                      <a:pPr algn="ctr">
                        <a:spcBef>
                          <a:spcPts val="300"/>
                        </a:spcBef>
                        <a:spcAft>
                          <a:spcPts val="300"/>
                        </a:spcAft>
                      </a:pPr>
                      <a:r>
                        <a:rPr lang="zh-CN" sz="1800" dirty="0">
                          <a:effectLst/>
                        </a:rPr>
                        <a:t>实验次数</a:t>
                      </a:r>
                      <a:endParaRPr lang="zh-CN" sz="1800" dirty="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spcBef>
                          <a:spcPts val="300"/>
                        </a:spcBef>
                        <a:spcAft>
                          <a:spcPts val="300"/>
                        </a:spcAft>
                      </a:pPr>
                      <a:r>
                        <a:rPr lang="zh-CN" sz="1800">
                          <a:effectLst/>
                        </a:rPr>
                        <a:t>输入条件</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537210">
                <a:tc vMerge="1">
                  <a:txBody>
                    <a:bodyPr/>
                    <a:lstStyle/>
                    <a:p>
                      <a:endParaRPr lang="zh-CN"/>
                    </a:p>
                  </a:txBody>
                  <a:tcPr/>
                </a:tc>
                <a:tc>
                  <a:txBody>
                    <a:bodyPr/>
                    <a:lstStyle/>
                    <a:p>
                      <a:pPr algn="ctr">
                        <a:spcBef>
                          <a:spcPts val="300"/>
                        </a:spcBef>
                        <a:spcAft>
                          <a:spcPts val="300"/>
                        </a:spcAft>
                      </a:pPr>
                      <a:r>
                        <a:rPr lang="zh-CN" sz="1800">
                          <a:effectLst/>
                        </a:rPr>
                        <a:t>客户姓名</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联系电话</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通信地址</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32105">
                <a:tc>
                  <a:txBody>
                    <a:bodyPr/>
                    <a:lstStyle/>
                    <a:p>
                      <a:pPr algn="ctr">
                        <a:spcBef>
                          <a:spcPts val="300"/>
                        </a:spcBef>
                        <a:spcAft>
                          <a:spcPts val="300"/>
                        </a:spcAft>
                      </a:pPr>
                      <a:r>
                        <a:rPr lang="en-US" sz="1800">
                          <a:effectLst/>
                        </a:rPr>
                        <a:t>1</a:t>
                      </a:r>
                      <a:endParaRPr lang="en-US"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34010">
                <a:tc>
                  <a:txBody>
                    <a:bodyPr/>
                    <a:lstStyle/>
                    <a:p>
                      <a:pPr algn="ctr">
                        <a:spcBef>
                          <a:spcPts val="300"/>
                        </a:spcBef>
                        <a:spcAft>
                          <a:spcPts val="300"/>
                        </a:spcAft>
                      </a:pPr>
                      <a:r>
                        <a:rPr lang="en-US" sz="1800">
                          <a:effectLst/>
                        </a:rPr>
                        <a:t>2</a:t>
                      </a:r>
                      <a:endParaRPr lang="en-US"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45135">
                <a:tc>
                  <a:txBody>
                    <a:bodyPr/>
                    <a:lstStyle/>
                    <a:p>
                      <a:pPr algn="ctr">
                        <a:spcBef>
                          <a:spcPts val="300"/>
                        </a:spcBef>
                        <a:spcAft>
                          <a:spcPts val="300"/>
                        </a:spcAft>
                      </a:pPr>
                      <a:r>
                        <a:rPr lang="en-US" sz="1800" dirty="0">
                          <a:effectLst/>
                        </a:rPr>
                        <a:t>3</a:t>
                      </a:r>
                      <a:endParaRPr lang="en-US" sz="1800" dirty="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43230">
                <a:tc>
                  <a:txBody>
                    <a:bodyPr/>
                    <a:lstStyle/>
                    <a:p>
                      <a:pPr algn="ctr">
                        <a:spcBef>
                          <a:spcPts val="300"/>
                        </a:spcBef>
                        <a:spcAft>
                          <a:spcPts val="300"/>
                        </a:spcAft>
                      </a:pPr>
                      <a:r>
                        <a:rPr lang="en-US" sz="1800">
                          <a:effectLst/>
                        </a:rPr>
                        <a:t>4</a:t>
                      </a:r>
                      <a:endParaRPr lang="en-US"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不输入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a:effectLst/>
                        </a:rPr>
                        <a:t>输入</a:t>
                      </a:r>
                      <a:endParaRPr lang="zh-CN"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44500">
                <a:tc>
                  <a:txBody>
                    <a:bodyPr/>
                    <a:lstStyle/>
                    <a:p>
                      <a:pPr algn="ctr">
                        <a:spcBef>
                          <a:spcPts val="300"/>
                        </a:spcBef>
                        <a:spcAft>
                          <a:spcPts val="300"/>
                        </a:spcAft>
                      </a:pPr>
                      <a:r>
                        <a:rPr lang="en-US" sz="1800">
                          <a:effectLst/>
                        </a:rPr>
                        <a:t>5</a:t>
                      </a:r>
                      <a:endParaRPr lang="en-US" sz="1800">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b="1">
                          <a:solidFill>
                            <a:srgbClr val="FF0000"/>
                          </a:solidFill>
                          <a:effectLst/>
                        </a:rPr>
                        <a:t>不输入</a:t>
                      </a:r>
                      <a:endParaRPr lang="zh-CN" sz="1800" b="1">
                        <a:solidFill>
                          <a:srgbClr val="FF0000"/>
                        </a:solidFill>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b="1">
                          <a:solidFill>
                            <a:srgbClr val="FF0000"/>
                          </a:solidFill>
                          <a:effectLst/>
                        </a:rPr>
                        <a:t>不输入</a:t>
                      </a:r>
                      <a:endParaRPr lang="zh-CN" sz="1800" b="1">
                        <a:solidFill>
                          <a:srgbClr val="FF0000"/>
                        </a:solidFill>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ts val="300"/>
                        </a:spcBef>
                        <a:spcAft>
                          <a:spcPts val="300"/>
                        </a:spcAft>
                      </a:pPr>
                      <a:r>
                        <a:rPr lang="zh-CN" sz="1800" b="1" dirty="0">
                          <a:solidFill>
                            <a:srgbClr val="FF0000"/>
                          </a:solidFill>
                          <a:effectLst/>
                        </a:rPr>
                        <a:t>不输入</a:t>
                      </a:r>
                      <a:endParaRPr lang="zh-CN" sz="1800" b="1" dirty="0">
                        <a:solidFill>
                          <a:srgbClr val="FF0000"/>
                        </a:solidFill>
                        <a:effectLst/>
                        <a:latin typeface="Times New Roman" panose="02020603050405020304"/>
                        <a:ea typeface="宋体" panose="02010600030101010101" pitchFamily="2" charset="-122"/>
                      </a:endParaRPr>
                    </a:p>
                  </a:txBody>
                  <a:tcPr marL="51435" marR="5143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 name="日期占位符 1"/>
          <p:cNvSpPr>
            <a:spLocks noGrp="1"/>
          </p:cNvSpPr>
          <p:nvPr>
            <p:ph type="dt" sz="half" idx="10"/>
            <p:custDataLst>
              <p:tags r:id="rId3"/>
            </p:custDataLst>
          </p:nvPr>
        </p:nvSpPr>
        <p:spPr/>
        <p:txBody>
          <a:bodyPr/>
          <a:lstStyle/>
          <a:p>
            <a:fld id="{760FBDFE-C587-4B4C-A407-44438C67B59E}" type="datetime1">
              <a:rPr lang="zh-CN" altLang="en-US" smtClean="0">
                <a:solidFill>
                  <a:schemeClr val="dk1">
                    <a:tint val="75000"/>
                  </a:schemeClr>
                </a:solidFill>
              </a:rPr>
              <a:t>2024/3/27</a:t>
            </a:fld>
            <a:endParaRPr lang="zh-CN" altLang="en-US">
              <a:solidFill>
                <a:schemeClr val="dk1">
                  <a:tint val="75000"/>
                </a:schemeClr>
              </a:solidFill>
            </a:endParaRPr>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solidFill>
                  <a:schemeClr val="dk1">
                    <a:tint val="75000"/>
                  </a:schemeClr>
                </a:solidFill>
              </a:rPr>
              <a:t>47</a:t>
            </a:fld>
            <a:endParaRPr lang="zh-CN" altLang="en-US">
              <a:solidFill>
                <a:schemeClr val="dk1">
                  <a:tint val="75000"/>
                </a:schemeClr>
              </a:solidFill>
            </a:endParaRPr>
          </a:p>
        </p:txBody>
      </p:sp>
      <p:sp>
        <p:nvSpPr>
          <p:cNvPr id="6" name="文本框 5"/>
          <p:cNvSpPr txBox="1"/>
          <p:nvPr>
            <p:custDataLst>
              <p:tags r:id="rId5"/>
            </p:custDataLst>
          </p:nvPr>
        </p:nvSpPr>
        <p:spPr>
          <a:xfrm>
            <a:off x="2495551" y="5013325"/>
            <a:ext cx="7767955" cy="1291590"/>
          </a:xfrm>
          <a:prstGeom prst="rect">
            <a:avLst/>
          </a:prstGeom>
          <a:noFill/>
        </p:spPr>
        <p:txBody>
          <a:bodyPr wrap="square" rtlCol="0" anchor="t">
            <a:spAutoFit/>
          </a:bodyPr>
          <a:lstStyle/>
          <a:p>
            <a:pPr algn="just">
              <a:lnSpc>
                <a:spcPct val="130000"/>
              </a:lnSpc>
            </a:pPr>
            <a:r>
              <a:rPr lang="zh-CN"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这样，如果使用全排列测试方法得到的用例将是</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2</a:t>
            </a:r>
            <a:r>
              <a:rPr lang="en-US" altLang="zh-CN" sz="2000" baseline="30000" dirty="0">
                <a:solidFill>
                  <a:schemeClr val="dk1"/>
                </a:solidFill>
                <a:latin typeface="微软雅黑" panose="020B0503020204020204" charset="-122"/>
                <a:ea typeface="微软雅黑" panose="020B0503020204020204" charset="-122"/>
                <a:cs typeface="微软雅黑" panose="020B0503020204020204" charset="-122"/>
                <a:sym typeface="+mn-ea"/>
              </a:rPr>
              <a:t>3</a:t>
            </a:r>
            <a:r>
              <a:rPr lang="zh-CN"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共</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8</a:t>
            </a:r>
            <a:r>
              <a:rPr lang="zh-CN"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条用例，如果使用正交实验方法，</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8</a:t>
            </a:r>
            <a:r>
              <a:rPr lang="zh-CN"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条用例减少至</a:t>
            </a:r>
            <a:r>
              <a:rPr lang="en-US"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5</a:t>
            </a:r>
            <a:r>
              <a:rPr lang="zh-CN" altLang="zh-CN" sz="2000" dirty="0">
                <a:solidFill>
                  <a:schemeClr val="dk1"/>
                </a:solidFill>
                <a:latin typeface="微软雅黑" panose="020B0503020204020204" charset="-122"/>
                <a:ea typeface="微软雅黑" panose="020B0503020204020204" charset="-122"/>
                <a:cs typeface="微软雅黑" panose="020B0503020204020204" charset="-122"/>
                <a:sym typeface="+mn-ea"/>
              </a:rPr>
              <a:t>条，同样能保证测试效果，但测试用例数量大大减少。</a:t>
            </a:r>
          </a:p>
        </p:txBody>
      </p:sp>
    </p:spTree>
  </p:cSld>
  <p:clrMapOvr>
    <a:masterClrMapping/>
  </p:clrMapOvr>
  <mc:AlternateContent xmlns:mc="http://schemas.openxmlformats.org/markup-compatibility/2006" xmlns:p14="http://schemas.microsoft.com/office/powerpoint/2010/main">
    <mc:Choice Requires="p14">
      <p:transition p14:dur="10">
        <p14:vortex dir="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48354" name="Rectangle 2"/>
          <p:cNvSpPr>
            <a:spLocks noGrp="1" noChangeArrowheads="1"/>
          </p:cNvSpPr>
          <p:nvPr>
            <p:ph type="title"/>
          </p:nvPr>
        </p:nvSpPr>
        <p:spPr>
          <a:xfrm>
            <a:off x="756606" y="328990"/>
            <a:ext cx="6240756" cy="561975"/>
          </a:xfrm>
        </p:spPr>
        <p:txBody>
          <a:bodyPr>
            <a:noAutofit/>
          </a:bodyPr>
          <a:lstStyle/>
          <a:p>
            <a:r>
              <a:rPr lang="zh-CN" altLang="en-US" dirty="0"/>
              <a:t>正交表生成工具</a:t>
            </a:r>
          </a:p>
        </p:txBody>
      </p:sp>
      <p:pic>
        <p:nvPicPr>
          <p:cNvPr id="1026" name="Picture 2" descr="Design Wizard">
            <a:extLst>
              <a:ext uri="{FF2B5EF4-FFF2-40B4-BE49-F238E27FC236}">
                <a16:creationId xmlns:a16="http://schemas.microsoft.com/office/drawing/2014/main" id="{5F9AFC76-0F90-E62C-AD02-1CE6C7F4E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015081"/>
            <a:ext cx="6550364" cy="48278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esign Wizard">
            <a:extLst>
              <a:ext uri="{FF2B5EF4-FFF2-40B4-BE49-F238E27FC236}">
                <a16:creationId xmlns:a16="http://schemas.microsoft.com/office/drawing/2014/main" id="{E259375E-F25B-593D-F095-EFC95CA151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99370" y="1701173"/>
            <a:ext cx="6550364" cy="482783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8 Array">
            <a:extLst>
              <a:ext uri="{FF2B5EF4-FFF2-40B4-BE49-F238E27FC236}">
                <a16:creationId xmlns:a16="http://schemas.microsoft.com/office/drawing/2014/main" id="{6506C314-4C91-50C0-4E83-A826941B76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2009" y="2147227"/>
            <a:ext cx="7954303" cy="369569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3ECDB5A2-2B65-BC1D-E504-E47DCDE94AAB}"/>
              </a:ext>
            </a:extLst>
          </p:cNvPr>
          <p:cNvSpPr txBox="1"/>
          <p:nvPr/>
        </p:nvSpPr>
        <p:spPr>
          <a:xfrm>
            <a:off x="3654715" y="6488669"/>
            <a:ext cx="5796220" cy="338554"/>
          </a:xfrm>
          <a:prstGeom prst="rect">
            <a:avLst/>
          </a:prstGeom>
          <a:noFill/>
        </p:spPr>
        <p:txBody>
          <a:bodyPr wrap="square">
            <a:spAutoFit/>
          </a:bodyPr>
          <a:lstStyle/>
          <a:p>
            <a:r>
              <a:rPr lang="zh-CN" altLang="en-US" sz="1600" dirty="0">
                <a:latin typeface="Arial" panose="020B0604020202020204" pitchFamily="34" charset="0"/>
                <a:cs typeface="Arial" panose="020B0604020202020204" pitchFamily="34" charset="0"/>
                <a:hlinkClick r:id="rId6"/>
              </a:rPr>
              <a:t>https://www.weibull.com/hotwire/issue131/hottopics131.htm</a:t>
            </a:r>
            <a:r>
              <a:rPr lang="zh-CN" altLang="en-US" sz="16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17626278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dissolve">
                                      <p:cBhvr>
                                        <p:cTn id="7" dur="500"/>
                                        <p:tgtEl>
                                          <p:spTgt spid="10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30"/>
                                        </p:tgtEl>
                                        <p:attrNameLst>
                                          <p:attrName>style.visibility</p:attrName>
                                        </p:attrNameLst>
                                      </p:cBhvr>
                                      <p:to>
                                        <p:strVal val="visible"/>
                                      </p:to>
                                    </p:set>
                                    <p:animEffect transition="in" filter="blinds(horizontal)">
                                      <p:cBhvr>
                                        <p:cTn id="12"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795237" y="318570"/>
            <a:ext cx="4644951" cy="503461"/>
          </a:xfrm>
        </p:spPr>
        <p:txBody>
          <a:bodyPr>
            <a:noAutofit/>
          </a:bodyPr>
          <a:lstStyle/>
          <a:p>
            <a:r>
              <a:rPr lang="zh-CN" altLang="en-US" dirty="0"/>
              <a:t>小结</a:t>
            </a:r>
          </a:p>
        </p:txBody>
      </p:sp>
      <p:sp>
        <p:nvSpPr>
          <p:cNvPr id="6" name="TextBox 5"/>
          <p:cNvSpPr txBox="1"/>
          <p:nvPr/>
        </p:nvSpPr>
        <p:spPr>
          <a:xfrm>
            <a:off x="2307840" y="3101371"/>
            <a:ext cx="1836203" cy="1569660"/>
          </a:xfrm>
          <a:prstGeom prst="rect">
            <a:avLst/>
          </a:prstGeom>
          <a:noFill/>
        </p:spPr>
        <p:txBody>
          <a:bodyPr wrap="square" rtlCol="0">
            <a:spAutoFit/>
          </a:bodyPr>
          <a:lstStyle/>
          <a:p>
            <a:r>
              <a:rPr lang="zh-CN" altLang="en-US" sz="3200" b="1" dirty="0">
                <a:solidFill>
                  <a:srgbClr val="C00000"/>
                </a:solidFill>
              </a:rPr>
              <a:t>基于需求的测试方法</a:t>
            </a:r>
          </a:p>
        </p:txBody>
      </p:sp>
      <p:sp>
        <p:nvSpPr>
          <p:cNvPr id="7" name="左大括号 6"/>
          <p:cNvSpPr/>
          <p:nvPr/>
        </p:nvSpPr>
        <p:spPr bwMode="auto">
          <a:xfrm>
            <a:off x="3784003" y="2464872"/>
            <a:ext cx="612068" cy="3060352"/>
          </a:xfrm>
          <a:prstGeom prst="leftBrace">
            <a:avLst>
              <a:gd name="adj1" fmla="val 24868"/>
              <a:gd name="adj2" fmla="val 50000"/>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defTabSz="914377" fontAlgn="base">
              <a:spcBef>
                <a:spcPct val="0"/>
              </a:spcBef>
              <a:spcAft>
                <a:spcPct val="0"/>
              </a:spcAft>
            </a:pPr>
            <a:endParaRPr lang="zh-CN" altLang="en-US">
              <a:latin typeface="Arial" pitchFamily="34" charset="0"/>
              <a:ea typeface="宋体" pitchFamily="2" charset="-122"/>
            </a:endParaRPr>
          </a:p>
        </p:txBody>
      </p:sp>
      <p:sp>
        <p:nvSpPr>
          <p:cNvPr id="12" name="TextBox 11"/>
          <p:cNvSpPr txBox="1"/>
          <p:nvPr/>
        </p:nvSpPr>
        <p:spPr>
          <a:xfrm>
            <a:off x="4432075" y="2248849"/>
            <a:ext cx="1008112" cy="523220"/>
          </a:xfrm>
          <a:prstGeom prst="rect">
            <a:avLst/>
          </a:prstGeom>
          <a:noFill/>
          <a:ln w="15875">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txBody>
          <a:bodyPr wrap="square" rtlCol="0">
            <a:spAutoFit/>
          </a:bodyPr>
          <a:lstStyle/>
          <a:p>
            <a:pPr algn="ctr"/>
            <a:r>
              <a:rPr lang="zh-CN" altLang="en-US" sz="2800" b="1" dirty="0">
                <a:solidFill>
                  <a:schemeClr val="accent5">
                    <a:lumMod val="25000"/>
                  </a:schemeClr>
                </a:solidFill>
              </a:rPr>
              <a:t>静态</a:t>
            </a:r>
          </a:p>
        </p:txBody>
      </p:sp>
      <p:sp>
        <p:nvSpPr>
          <p:cNvPr id="13" name="TextBox 12"/>
          <p:cNvSpPr txBox="1"/>
          <p:nvPr/>
        </p:nvSpPr>
        <p:spPr>
          <a:xfrm>
            <a:off x="4540087" y="4193065"/>
            <a:ext cx="1008112" cy="523220"/>
          </a:xfrm>
          <a:prstGeom prst="rect">
            <a:avLst/>
          </a:prstGeom>
          <a:noFill/>
          <a:ln w="15875">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txBody>
          <a:bodyPr wrap="square" rtlCol="0">
            <a:spAutoFit/>
          </a:bodyPr>
          <a:lstStyle/>
          <a:p>
            <a:pPr algn="ctr"/>
            <a:r>
              <a:rPr lang="zh-CN" altLang="en-US" sz="2800" b="1" dirty="0">
                <a:solidFill>
                  <a:schemeClr val="accent5">
                    <a:lumMod val="25000"/>
                  </a:schemeClr>
                </a:solidFill>
              </a:rPr>
              <a:t>动态</a:t>
            </a:r>
          </a:p>
        </p:txBody>
      </p:sp>
      <p:sp>
        <p:nvSpPr>
          <p:cNvPr id="14" name="TextBox 13"/>
          <p:cNvSpPr txBox="1"/>
          <p:nvPr/>
        </p:nvSpPr>
        <p:spPr>
          <a:xfrm>
            <a:off x="4504083" y="5309189"/>
            <a:ext cx="1008112" cy="523220"/>
          </a:xfrm>
          <a:prstGeom prst="rect">
            <a:avLst/>
          </a:prstGeom>
          <a:noFill/>
          <a:ln w="15875">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txBody>
          <a:bodyPr wrap="square" rtlCol="0">
            <a:spAutoFit/>
          </a:bodyPr>
          <a:lstStyle/>
          <a:p>
            <a:pPr algn="ctr"/>
            <a:r>
              <a:rPr lang="zh-CN" altLang="en-US" sz="2800" b="1" dirty="0">
                <a:solidFill>
                  <a:schemeClr val="accent5">
                    <a:lumMod val="25000"/>
                  </a:schemeClr>
                </a:solidFill>
              </a:rPr>
              <a:t>其它</a:t>
            </a:r>
          </a:p>
        </p:txBody>
      </p:sp>
      <p:grpSp>
        <p:nvGrpSpPr>
          <p:cNvPr id="29" name="组合 28"/>
          <p:cNvGrpSpPr/>
          <p:nvPr/>
        </p:nvGrpSpPr>
        <p:grpSpPr>
          <a:xfrm>
            <a:off x="5404183" y="1600776"/>
            <a:ext cx="2016224" cy="1855368"/>
            <a:chOff x="3707904" y="2024844"/>
            <a:chExt cx="2016224" cy="1855367"/>
          </a:xfrm>
        </p:grpSpPr>
        <p:sp>
          <p:nvSpPr>
            <p:cNvPr id="9" name="TextBox 8"/>
            <p:cNvSpPr txBox="1"/>
            <p:nvPr/>
          </p:nvSpPr>
          <p:spPr>
            <a:xfrm>
              <a:off x="4391980" y="3356991"/>
              <a:ext cx="1332148" cy="523220"/>
            </a:xfrm>
            <a:prstGeom prst="rect">
              <a:avLst/>
            </a:prstGeom>
            <a:noFill/>
          </p:spPr>
          <p:txBody>
            <a:bodyPr wrap="square" rtlCol="0">
              <a:spAutoFit/>
            </a:bodyPr>
            <a:lstStyle/>
            <a:p>
              <a:pPr algn="ctr"/>
              <a:r>
                <a:rPr lang="zh-CN" altLang="en-US" sz="2800" b="1" dirty="0">
                  <a:solidFill>
                    <a:srgbClr val="0070C0"/>
                  </a:solidFill>
                </a:rPr>
                <a:t>多因素</a:t>
              </a:r>
            </a:p>
          </p:txBody>
        </p:sp>
        <p:sp>
          <p:nvSpPr>
            <p:cNvPr id="11" name="TextBox 10"/>
            <p:cNvSpPr txBox="1"/>
            <p:nvPr/>
          </p:nvSpPr>
          <p:spPr>
            <a:xfrm>
              <a:off x="4355976" y="2024844"/>
              <a:ext cx="1332148" cy="523220"/>
            </a:xfrm>
            <a:prstGeom prst="rect">
              <a:avLst/>
            </a:prstGeom>
            <a:noFill/>
          </p:spPr>
          <p:txBody>
            <a:bodyPr wrap="square" rtlCol="0">
              <a:spAutoFit/>
            </a:bodyPr>
            <a:lstStyle/>
            <a:p>
              <a:pPr algn="ctr"/>
              <a:r>
                <a:rPr lang="zh-CN" altLang="en-US" sz="2800" b="1" dirty="0">
                  <a:solidFill>
                    <a:srgbClr val="0070C0"/>
                  </a:solidFill>
                </a:rPr>
                <a:t>单因素</a:t>
              </a:r>
            </a:p>
          </p:txBody>
        </p:sp>
        <p:sp>
          <p:nvSpPr>
            <p:cNvPr id="15" name="左大括号 14"/>
            <p:cNvSpPr/>
            <p:nvPr/>
          </p:nvSpPr>
          <p:spPr bwMode="auto">
            <a:xfrm>
              <a:off x="3707904" y="2132856"/>
              <a:ext cx="612068" cy="1620180"/>
            </a:xfrm>
            <a:prstGeom prst="leftBrace">
              <a:avLst>
                <a:gd name="adj1" fmla="val 24868"/>
                <a:gd name="adj2" fmla="val 50000"/>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defTabSz="914377" fontAlgn="base">
                <a:spcBef>
                  <a:spcPct val="0"/>
                </a:spcBef>
                <a:spcAft>
                  <a:spcPct val="0"/>
                </a:spcAft>
              </a:pPr>
              <a:endParaRPr lang="zh-CN" altLang="en-US">
                <a:latin typeface="Arial" pitchFamily="34" charset="0"/>
                <a:ea typeface="宋体" pitchFamily="2" charset="-122"/>
              </a:endParaRPr>
            </a:p>
          </p:txBody>
        </p:sp>
      </p:grpSp>
      <p:grpSp>
        <p:nvGrpSpPr>
          <p:cNvPr id="28" name="组合 27"/>
          <p:cNvGrpSpPr/>
          <p:nvPr/>
        </p:nvGrpSpPr>
        <p:grpSpPr>
          <a:xfrm>
            <a:off x="7240387" y="1276740"/>
            <a:ext cx="2952328" cy="1008112"/>
            <a:chOff x="5544108" y="1700808"/>
            <a:chExt cx="2952328" cy="1008112"/>
          </a:xfrm>
        </p:grpSpPr>
        <p:sp>
          <p:nvSpPr>
            <p:cNvPr id="16" name="左大括号 15"/>
            <p:cNvSpPr/>
            <p:nvPr/>
          </p:nvSpPr>
          <p:spPr bwMode="auto">
            <a:xfrm>
              <a:off x="5544108" y="1736812"/>
              <a:ext cx="612068" cy="972108"/>
            </a:xfrm>
            <a:prstGeom prst="leftBrace">
              <a:avLst>
                <a:gd name="adj1" fmla="val 24868"/>
                <a:gd name="adj2" fmla="val 50000"/>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defTabSz="914377" fontAlgn="base">
                <a:spcBef>
                  <a:spcPct val="0"/>
                </a:spcBef>
                <a:spcAft>
                  <a:spcPct val="0"/>
                </a:spcAft>
              </a:pPr>
              <a:endParaRPr lang="zh-CN" altLang="en-US">
                <a:latin typeface="Arial" pitchFamily="34" charset="0"/>
                <a:ea typeface="宋体" pitchFamily="2" charset="-122"/>
              </a:endParaRPr>
            </a:p>
          </p:txBody>
        </p:sp>
        <p:sp>
          <p:nvSpPr>
            <p:cNvPr id="18" name="TextBox 17"/>
            <p:cNvSpPr txBox="1"/>
            <p:nvPr/>
          </p:nvSpPr>
          <p:spPr>
            <a:xfrm>
              <a:off x="6192180" y="1700808"/>
              <a:ext cx="1800200" cy="461665"/>
            </a:xfrm>
            <a:prstGeom prst="rect">
              <a:avLst/>
            </a:prstGeom>
            <a:noFill/>
          </p:spPr>
          <p:txBody>
            <a:bodyPr wrap="square" rtlCol="0">
              <a:spAutoFit/>
            </a:bodyPr>
            <a:lstStyle/>
            <a:p>
              <a:r>
                <a:rPr lang="zh-CN" altLang="en-US" sz="2400" dirty="0"/>
                <a:t>等价类划分</a:t>
              </a:r>
            </a:p>
          </p:txBody>
        </p:sp>
        <p:sp>
          <p:nvSpPr>
            <p:cNvPr id="19" name="TextBox 18"/>
            <p:cNvSpPr txBox="1"/>
            <p:nvPr/>
          </p:nvSpPr>
          <p:spPr>
            <a:xfrm>
              <a:off x="6120172" y="2240868"/>
              <a:ext cx="2376264" cy="461665"/>
            </a:xfrm>
            <a:prstGeom prst="rect">
              <a:avLst/>
            </a:prstGeom>
            <a:noFill/>
          </p:spPr>
          <p:txBody>
            <a:bodyPr wrap="square" rtlCol="0">
              <a:spAutoFit/>
            </a:bodyPr>
            <a:lstStyle/>
            <a:p>
              <a:r>
                <a:rPr lang="zh-CN" altLang="en-US" sz="2400" dirty="0"/>
                <a:t>边界值分析</a:t>
              </a:r>
            </a:p>
          </p:txBody>
        </p:sp>
      </p:grpSp>
      <p:grpSp>
        <p:nvGrpSpPr>
          <p:cNvPr id="27" name="组合 26"/>
          <p:cNvGrpSpPr/>
          <p:nvPr/>
        </p:nvGrpSpPr>
        <p:grpSpPr>
          <a:xfrm>
            <a:off x="7276391" y="2464869"/>
            <a:ext cx="2952328" cy="1397768"/>
            <a:chOff x="5580112" y="2888940"/>
            <a:chExt cx="2952328" cy="1397769"/>
          </a:xfrm>
        </p:grpSpPr>
        <p:sp>
          <p:nvSpPr>
            <p:cNvPr id="17" name="左大括号 16"/>
            <p:cNvSpPr/>
            <p:nvPr/>
          </p:nvSpPr>
          <p:spPr bwMode="auto">
            <a:xfrm>
              <a:off x="5580112" y="3032956"/>
              <a:ext cx="612068" cy="1224136"/>
            </a:xfrm>
            <a:prstGeom prst="leftBrace">
              <a:avLst>
                <a:gd name="adj1" fmla="val 24868"/>
                <a:gd name="adj2" fmla="val 50000"/>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defTabSz="914377" fontAlgn="base">
                <a:spcBef>
                  <a:spcPct val="0"/>
                </a:spcBef>
                <a:spcAft>
                  <a:spcPct val="0"/>
                </a:spcAft>
              </a:pPr>
              <a:endParaRPr lang="zh-CN" altLang="en-US">
                <a:latin typeface="Arial" pitchFamily="34" charset="0"/>
                <a:ea typeface="宋体" pitchFamily="2" charset="-122"/>
              </a:endParaRPr>
            </a:p>
          </p:txBody>
        </p:sp>
        <p:sp>
          <p:nvSpPr>
            <p:cNvPr id="20" name="TextBox 19"/>
            <p:cNvSpPr txBox="1"/>
            <p:nvPr/>
          </p:nvSpPr>
          <p:spPr>
            <a:xfrm>
              <a:off x="6156176" y="2888940"/>
              <a:ext cx="2376264" cy="461665"/>
            </a:xfrm>
            <a:prstGeom prst="rect">
              <a:avLst/>
            </a:prstGeom>
            <a:noFill/>
          </p:spPr>
          <p:txBody>
            <a:bodyPr wrap="square" rtlCol="0">
              <a:spAutoFit/>
            </a:bodyPr>
            <a:lstStyle/>
            <a:p>
              <a:r>
                <a:rPr lang="zh-CN" altLang="en-US" sz="2400" dirty="0"/>
                <a:t>因果分析法</a:t>
              </a:r>
            </a:p>
          </p:txBody>
        </p:sp>
        <p:sp>
          <p:nvSpPr>
            <p:cNvPr id="21" name="TextBox 20"/>
            <p:cNvSpPr txBox="1"/>
            <p:nvPr/>
          </p:nvSpPr>
          <p:spPr>
            <a:xfrm>
              <a:off x="6120172" y="3356992"/>
              <a:ext cx="2376264" cy="461665"/>
            </a:xfrm>
            <a:prstGeom prst="rect">
              <a:avLst/>
            </a:prstGeom>
            <a:noFill/>
          </p:spPr>
          <p:txBody>
            <a:bodyPr wrap="square" rtlCol="0">
              <a:spAutoFit/>
            </a:bodyPr>
            <a:lstStyle/>
            <a:p>
              <a:r>
                <a:rPr lang="zh-CN" altLang="en-US" sz="2400" dirty="0"/>
                <a:t>决策表</a:t>
              </a:r>
            </a:p>
          </p:txBody>
        </p:sp>
        <p:sp>
          <p:nvSpPr>
            <p:cNvPr id="22" name="TextBox 21"/>
            <p:cNvSpPr txBox="1"/>
            <p:nvPr/>
          </p:nvSpPr>
          <p:spPr>
            <a:xfrm>
              <a:off x="6156176" y="3825044"/>
              <a:ext cx="2376264" cy="461665"/>
            </a:xfrm>
            <a:prstGeom prst="rect">
              <a:avLst/>
            </a:prstGeom>
            <a:noFill/>
          </p:spPr>
          <p:txBody>
            <a:bodyPr wrap="square" rtlCol="0">
              <a:spAutoFit/>
            </a:bodyPr>
            <a:lstStyle/>
            <a:p>
              <a:r>
                <a:rPr lang="zh-CN" altLang="en-US" sz="2400" dirty="0"/>
                <a:t>正交试验法</a:t>
              </a:r>
            </a:p>
          </p:txBody>
        </p:sp>
      </p:grpSp>
      <p:grpSp>
        <p:nvGrpSpPr>
          <p:cNvPr id="30" name="组合 29"/>
          <p:cNvGrpSpPr/>
          <p:nvPr/>
        </p:nvGrpSpPr>
        <p:grpSpPr>
          <a:xfrm>
            <a:off x="5440187" y="3869026"/>
            <a:ext cx="2952328" cy="1080119"/>
            <a:chOff x="3743908" y="4293096"/>
            <a:chExt cx="2952328" cy="1080120"/>
          </a:xfrm>
        </p:grpSpPr>
        <p:sp>
          <p:nvSpPr>
            <p:cNvPr id="23" name="左大括号 22"/>
            <p:cNvSpPr/>
            <p:nvPr/>
          </p:nvSpPr>
          <p:spPr bwMode="auto">
            <a:xfrm>
              <a:off x="3743908" y="4365104"/>
              <a:ext cx="612068" cy="1008112"/>
            </a:xfrm>
            <a:prstGeom prst="leftBrace">
              <a:avLst>
                <a:gd name="adj1" fmla="val 24868"/>
                <a:gd name="adj2" fmla="val 50000"/>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defTabSz="914377" fontAlgn="base">
                <a:spcBef>
                  <a:spcPct val="0"/>
                </a:spcBef>
                <a:spcAft>
                  <a:spcPct val="0"/>
                </a:spcAft>
              </a:pPr>
              <a:endParaRPr lang="zh-CN" altLang="en-US">
                <a:latin typeface="Arial" pitchFamily="34" charset="0"/>
                <a:ea typeface="宋体" pitchFamily="2" charset="-122"/>
              </a:endParaRPr>
            </a:p>
          </p:txBody>
        </p:sp>
        <p:sp>
          <p:nvSpPr>
            <p:cNvPr id="24" name="TextBox 23"/>
            <p:cNvSpPr txBox="1"/>
            <p:nvPr/>
          </p:nvSpPr>
          <p:spPr>
            <a:xfrm>
              <a:off x="4319972" y="4293096"/>
              <a:ext cx="2376264" cy="461665"/>
            </a:xfrm>
            <a:prstGeom prst="rect">
              <a:avLst/>
            </a:prstGeom>
            <a:noFill/>
          </p:spPr>
          <p:txBody>
            <a:bodyPr wrap="square" rtlCol="0">
              <a:spAutoFit/>
            </a:bodyPr>
            <a:lstStyle/>
            <a:p>
              <a:r>
                <a:rPr lang="zh-CN" altLang="en-US" sz="2400" dirty="0"/>
                <a:t>功能图</a:t>
              </a:r>
            </a:p>
          </p:txBody>
        </p:sp>
        <p:sp>
          <p:nvSpPr>
            <p:cNvPr id="25" name="TextBox 24"/>
            <p:cNvSpPr txBox="1"/>
            <p:nvPr/>
          </p:nvSpPr>
          <p:spPr>
            <a:xfrm>
              <a:off x="4247964" y="4905164"/>
              <a:ext cx="2376264" cy="461665"/>
            </a:xfrm>
            <a:prstGeom prst="rect">
              <a:avLst/>
            </a:prstGeom>
            <a:noFill/>
          </p:spPr>
          <p:txBody>
            <a:bodyPr wrap="square" rtlCol="0">
              <a:spAutoFit/>
            </a:bodyPr>
            <a:lstStyle/>
            <a:p>
              <a:r>
                <a:rPr lang="zh-CN" altLang="en-US" sz="2400" dirty="0"/>
                <a:t>有限状态机</a:t>
              </a:r>
            </a:p>
          </p:txBody>
        </p:sp>
      </p:grpSp>
      <p:sp>
        <p:nvSpPr>
          <p:cNvPr id="26" name="TextBox 25"/>
          <p:cNvSpPr txBox="1"/>
          <p:nvPr/>
        </p:nvSpPr>
        <p:spPr>
          <a:xfrm>
            <a:off x="5620207" y="5309189"/>
            <a:ext cx="2376264" cy="461665"/>
          </a:xfrm>
          <a:prstGeom prst="rect">
            <a:avLst/>
          </a:prstGeom>
          <a:noFill/>
        </p:spPr>
        <p:txBody>
          <a:bodyPr wrap="square" rtlCol="0">
            <a:spAutoFit/>
          </a:bodyPr>
          <a:lstStyle/>
          <a:p>
            <a:r>
              <a:rPr lang="zh-CN" altLang="en-US" sz="2400" dirty="0"/>
              <a:t>错误推测法</a:t>
            </a:r>
          </a:p>
        </p:txBody>
      </p:sp>
    </p:spTree>
    <p:extLst>
      <p:ext uri="{BB962C8B-B14F-4D97-AF65-F5344CB8AC3E}">
        <p14:creationId xmlns:p14="http://schemas.microsoft.com/office/powerpoint/2010/main" val="202881964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 calcmode="lin" valueType="num">
                                      <p:cBhvr additive="base">
                                        <p:cTn id="7" dur="500" fill="hold"/>
                                        <p:tgtEl>
                                          <p:spTgt spid="29"/>
                                        </p:tgtEl>
                                        <p:attrNameLst>
                                          <p:attrName>ppt_x</p:attrName>
                                        </p:attrNameLst>
                                      </p:cBhvr>
                                      <p:tavLst>
                                        <p:tav tm="0">
                                          <p:val>
                                            <p:strVal val="1+#ppt_w/2"/>
                                          </p:val>
                                        </p:tav>
                                        <p:tav tm="100000">
                                          <p:val>
                                            <p:strVal val="#ppt_x"/>
                                          </p:val>
                                        </p:tav>
                                      </p:tavLst>
                                    </p:anim>
                                    <p:anim calcmode="lin" valueType="num">
                                      <p:cBhvr additive="base">
                                        <p:cTn id="8"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8"/>
                                        </p:tgtEl>
                                        <p:attrNameLst>
                                          <p:attrName>style.visibility</p:attrName>
                                        </p:attrNameLst>
                                      </p:cBhvr>
                                      <p:to>
                                        <p:strVal val="visible"/>
                                      </p:to>
                                    </p:set>
                                    <p:anim calcmode="lin" valueType="num">
                                      <p:cBhvr additive="base">
                                        <p:cTn id="13" dur="500" fill="hold"/>
                                        <p:tgtEl>
                                          <p:spTgt spid="28"/>
                                        </p:tgtEl>
                                        <p:attrNameLst>
                                          <p:attrName>ppt_x</p:attrName>
                                        </p:attrNameLst>
                                      </p:cBhvr>
                                      <p:tavLst>
                                        <p:tav tm="0">
                                          <p:val>
                                            <p:strVal val="1+#ppt_w/2"/>
                                          </p:val>
                                        </p:tav>
                                        <p:tav tm="100000">
                                          <p:val>
                                            <p:strVal val="#ppt_x"/>
                                          </p:val>
                                        </p:tav>
                                      </p:tavLst>
                                    </p:anim>
                                    <p:anim calcmode="lin" valueType="num">
                                      <p:cBhvr additive="base">
                                        <p:cTn id="14"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anim calcmode="lin" valueType="num">
                                      <p:cBhvr additive="base">
                                        <p:cTn id="19" dur="500" fill="hold"/>
                                        <p:tgtEl>
                                          <p:spTgt spid="27"/>
                                        </p:tgtEl>
                                        <p:attrNameLst>
                                          <p:attrName>ppt_x</p:attrName>
                                        </p:attrNameLst>
                                      </p:cBhvr>
                                      <p:tavLst>
                                        <p:tav tm="0">
                                          <p:val>
                                            <p:strVal val="1+#ppt_w/2"/>
                                          </p:val>
                                        </p:tav>
                                        <p:tav tm="100000">
                                          <p:val>
                                            <p:strVal val="#ppt_x"/>
                                          </p:val>
                                        </p:tav>
                                      </p:tavLst>
                                    </p:anim>
                                    <p:anim calcmode="lin" valueType="num">
                                      <p:cBhvr additive="base">
                                        <p:cTn id="2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1+#ppt_w/2"/>
                                          </p:val>
                                        </p:tav>
                                        <p:tav tm="100000">
                                          <p:val>
                                            <p:strVal val="#ppt_x"/>
                                          </p:val>
                                        </p:tav>
                                      </p:tavLst>
                                    </p:anim>
                                    <p:anim calcmode="lin" valueType="num">
                                      <p:cBhvr additive="base">
                                        <p:cTn id="26"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additive="base">
                                        <p:cTn id="31" dur="500" fill="hold"/>
                                        <p:tgtEl>
                                          <p:spTgt spid="26"/>
                                        </p:tgtEl>
                                        <p:attrNameLst>
                                          <p:attrName>ppt_x</p:attrName>
                                        </p:attrNameLst>
                                      </p:cBhvr>
                                      <p:tavLst>
                                        <p:tav tm="0">
                                          <p:val>
                                            <p:strVal val="1+#ppt_w/2"/>
                                          </p:val>
                                        </p:tav>
                                        <p:tav tm="100000">
                                          <p:val>
                                            <p:strVal val="#ppt_x"/>
                                          </p:val>
                                        </p:tav>
                                      </p:tavLst>
                                    </p:anim>
                                    <p:anim calcmode="lin" valueType="num">
                                      <p:cBhvr additive="base">
                                        <p:cTn id="32"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1624649" y="2673689"/>
            <a:ext cx="9480673" cy="1015663"/>
          </a:xfrm>
          <a:prstGeom prst="rect">
            <a:avLst/>
          </a:prstGeom>
        </p:spPr>
        <p:txBody>
          <a:bodyPr wrap="square">
            <a:spAutoFit/>
          </a:bodyPr>
          <a:lstStyle/>
          <a:p>
            <a:pPr algn="ctr"/>
            <a:r>
              <a:rPr lang="en-US" altLang="zh-CN" sz="6000" b="1" dirty="0">
                <a:ln w="19050">
                  <a:noFill/>
                </a:ln>
                <a:solidFill>
                  <a:srgbClr val="FFFFFF"/>
                </a:solidFill>
                <a:latin typeface="微软雅黑" panose="020B0503020204020204" charset="-122"/>
                <a:ea typeface="微软雅黑" panose="020B0503020204020204" charset="-122"/>
              </a:rPr>
              <a:t>3.4</a:t>
            </a:r>
            <a:r>
              <a:rPr lang="zh-CN" altLang="en-US" sz="6000" b="1" dirty="0">
                <a:ln w="19050">
                  <a:noFill/>
                </a:ln>
                <a:solidFill>
                  <a:srgbClr val="FFFFFF"/>
                </a:solidFill>
                <a:latin typeface="微软雅黑" panose="020B0503020204020204" charset="-122"/>
                <a:ea typeface="微软雅黑" panose="020B0503020204020204" charset="-122"/>
              </a:rPr>
              <a:t> 基于逻辑覆盖的方法</a:t>
            </a:r>
          </a:p>
        </p:txBody>
      </p:sp>
      <p:sp>
        <p:nvSpPr>
          <p:cNvPr id="3" name="文本框 2">
            <a:extLst>
              <a:ext uri="{FF2B5EF4-FFF2-40B4-BE49-F238E27FC236}">
                <a16:creationId xmlns:a16="http://schemas.microsoft.com/office/drawing/2014/main" id="{635906C9-4C55-08C9-909A-18B32A1C6473}"/>
              </a:ext>
            </a:extLst>
          </p:cNvPr>
          <p:cNvSpPr txBox="1"/>
          <p:nvPr/>
        </p:nvSpPr>
        <p:spPr>
          <a:xfrm>
            <a:off x="5065644" y="4012050"/>
            <a:ext cx="3177208" cy="2446182"/>
          </a:xfrm>
          <a:prstGeom prst="rect">
            <a:avLst/>
          </a:prstGeom>
          <a:noFill/>
        </p:spPr>
        <p:txBody>
          <a:bodyPr wrap="square">
            <a:spAutoFit/>
          </a:bodyPr>
          <a:lstStyle/>
          <a:p>
            <a:pPr algn="just">
              <a:lnSpc>
                <a:spcPct val="130000"/>
              </a:lnSpc>
            </a:pPr>
            <a:r>
              <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3.4.1 </a:t>
            </a:r>
            <a:r>
              <a:rPr lang="zh-CN"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判定覆盖</a:t>
            </a:r>
            <a:endPar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endParaRPr>
          </a:p>
          <a:p>
            <a:pPr algn="just">
              <a:lnSpc>
                <a:spcPct val="130000"/>
              </a:lnSpc>
            </a:pPr>
            <a:r>
              <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3.4.2 </a:t>
            </a:r>
            <a:r>
              <a:rPr lang="zh-CN"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条件覆盖</a:t>
            </a:r>
          </a:p>
          <a:p>
            <a:pPr algn="just">
              <a:lnSpc>
                <a:spcPct val="130000"/>
              </a:lnSpc>
            </a:pPr>
            <a:r>
              <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3.4.3 </a:t>
            </a:r>
            <a:r>
              <a:rPr lang="zh-CN"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判定条件覆盖</a:t>
            </a:r>
          </a:p>
          <a:p>
            <a:pPr algn="just">
              <a:lnSpc>
                <a:spcPct val="130000"/>
              </a:lnSpc>
            </a:pPr>
            <a:r>
              <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3.4.4 </a:t>
            </a:r>
            <a:r>
              <a:rPr lang="zh-CN"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条件组合覆盖</a:t>
            </a:r>
          </a:p>
          <a:p>
            <a:pPr algn="just">
              <a:lnSpc>
                <a:spcPct val="130000"/>
              </a:lnSpc>
            </a:pPr>
            <a:r>
              <a:rPr lang="en-US"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3.4.5 </a:t>
            </a:r>
            <a:r>
              <a:rPr lang="zh-CN" altLang="zh-CN" sz="2400" kern="100" dirty="0">
                <a:solidFill>
                  <a:schemeClr val="accent5">
                    <a:lumMod val="75000"/>
                  </a:schemeClr>
                </a:solidFill>
                <a:latin typeface="Microsoft YaHei" panose="020B0503020204020204" pitchFamily="34" charset="-122"/>
                <a:ea typeface="Microsoft YaHei" panose="020B0503020204020204" pitchFamily="34" charset="-122"/>
                <a:cs typeface="Times New Roman" panose="02020603050405020304" pitchFamily="18" charset="0"/>
              </a:rPr>
              <a:t>基本路径覆盖</a:t>
            </a:r>
          </a:p>
        </p:txBody>
      </p:sp>
    </p:spTree>
    <p:extLst>
      <p:ext uri="{BB962C8B-B14F-4D97-AF65-F5344CB8AC3E}">
        <p14:creationId xmlns:p14="http://schemas.microsoft.com/office/powerpoint/2010/main" val="727087269"/>
      </p:ext>
    </p:extLst>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849043" y="328342"/>
            <a:ext cx="6264275" cy="890588"/>
          </a:xfrm>
        </p:spPr>
        <p:txBody>
          <a:bodyPr/>
          <a:lstStyle/>
          <a:p>
            <a:r>
              <a:rPr kumimoji="1" lang="zh-CN" altLang="en-US" dirty="0">
                <a:latin typeface="微软雅黑" panose="020B0503020204020204" pitchFamily="34" charset="-122"/>
                <a:ea typeface="微软雅黑" panose="020B0503020204020204" pitchFamily="34" charset="-122"/>
              </a:rPr>
              <a:t>结构化测试方法</a:t>
            </a:r>
          </a:p>
        </p:txBody>
      </p:sp>
      <p:sp>
        <p:nvSpPr>
          <p:cNvPr id="31747" name="Rectangle 3"/>
          <p:cNvSpPr>
            <a:spLocks noChangeArrowheads="1"/>
          </p:cNvSpPr>
          <p:nvPr/>
        </p:nvSpPr>
        <p:spPr bwMode="auto">
          <a:xfrm>
            <a:off x="7434595" y="1451597"/>
            <a:ext cx="3099157" cy="4336572"/>
          </a:xfrm>
          <a:prstGeom prst="rect">
            <a:avLst/>
          </a:prstGeom>
          <a:noFill/>
          <a:ln w="9525" algn="ctr">
            <a:noFill/>
            <a:miter lim="800000"/>
            <a:headEnd/>
            <a:tailEnd/>
          </a:ln>
        </p:spPr>
        <p:txBody>
          <a:bodyPr wrap="square" anchor="ctr">
            <a:spAutoFit/>
          </a:bodyPr>
          <a:lstStyle/>
          <a:p>
            <a:pPr marL="457189" indent="-457189" algn="just">
              <a:lnSpc>
                <a:spcPct val="150000"/>
              </a:lnSpc>
              <a:buClr>
                <a:srgbClr val="2E74B5"/>
              </a:buClr>
              <a:buFont typeface="+mj-lt"/>
              <a:buAutoNum type="arabicPeriod"/>
            </a:pPr>
            <a:r>
              <a:rPr lang="zh-CN"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语句覆盖</a:t>
            </a:r>
            <a:endParaRPr lang="en-US"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endParaRPr>
          </a:p>
          <a:p>
            <a:pPr marL="457189" indent="-457189" algn="just">
              <a:lnSpc>
                <a:spcPct val="150000"/>
              </a:lnSpc>
              <a:buClr>
                <a:srgbClr val="2E74B5"/>
              </a:buClr>
              <a:buFont typeface="+mj-lt"/>
              <a:buAutoNum type="arabicPeriod"/>
            </a:pPr>
            <a:r>
              <a:rPr lang="zh-CN"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判定覆盖</a:t>
            </a:r>
            <a:endParaRPr lang="zh-CN" altLang="zh-CN" sz="2667" kern="100" dirty="0">
              <a:latin typeface="Calibri" panose="020F0502020204030204" pitchFamily="34" charset="0"/>
              <a:ea typeface="宋体" panose="02010600030101010101" pitchFamily="2" charset="-122"/>
              <a:cs typeface="Times New Roman" panose="02020603050405020304" pitchFamily="18" charset="0"/>
            </a:endParaRPr>
          </a:p>
          <a:p>
            <a:pPr marL="457189" indent="-457189" algn="just">
              <a:lnSpc>
                <a:spcPct val="150000"/>
              </a:lnSpc>
              <a:buClr>
                <a:srgbClr val="2E74B5"/>
              </a:buClr>
              <a:buFont typeface="+mj-lt"/>
              <a:buAutoNum type="arabicPeriod"/>
            </a:pPr>
            <a:r>
              <a:rPr lang="zh-CN"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条件覆盖</a:t>
            </a:r>
            <a:endParaRPr lang="zh-CN" altLang="zh-CN" sz="2667" kern="100" dirty="0">
              <a:latin typeface="Calibri" panose="020F0502020204030204" pitchFamily="34" charset="0"/>
              <a:ea typeface="宋体" panose="02010600030101010101" pitchFamily="2" charset="-122"/>
              <a:cs typeface="Times New Roman" panose="02020603050405020304" pitchFamily="18" charset="0"/>
            </a:endParaRPr>
          </a:p>
          <a:p>
            <a:pPr marL="457189" indent="-457189" algn="just">
              <a:lnSpc>
                <a:spcPct val="150000"/>
              </a:lnSpc>
              <a:buClr>
                <a:srgbClr val="2E74B5"/>
              </a:buClr>
              <a:buFont typeface="+mj-lt"/>
              <a:buAutoNum type="arabicPeriod"/>
            </a:pPr>
            <a:r>
              <a:rPr lang="zh-CN"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判定</a:t>
            </a:r>
            <a:r>
              <a:rPr lang="en-US"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a:t>
            </a:r>
            <a:r>
              <a:rPr lang="zh-CN"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条件覆盖</a:t>
            </a:r>
            <a:endParaRPr lang="zh-CN" altLang="zh-CN" sz="2667" kern="100" dirty="0">
              <a:latin typeface="Calibri" panose="020F0502020204030204" pitchFamily="34" charset="0"/>
              <a:ea typeface="宋体" panose="02010600030101010101" pitchFamily="2" charset="-122"/>
              <a:cs typeface="Times New Roman" panose="02020603050405020304" pitchFamily="18" charset="0"/>
            </a:endParaRPr>
          </a:p>
          <a:p>
            <a:pPr marL="457189" indent="-457189" algn="just">
              <a:lnSpc>
                <a:spcPct val="150000"/>
              </a:lnSpc>
              <a:buClr>
                <a:srgbClr val="2E74B5"/>
              </a:buClr>
              <a:buFont typeface="+mj-lt"/>
              <a:buAutoNum type="arabicPeriod"/>
            </a:pPr>
            <a:r>
              <a:rPr lang="zh-CN"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条件组合覆盖</a:t>
            </a:r>
            <a:endParaRPr lang="zh-CN" altLang="zh-CN" sz="2667" kern="100" dirty="0">
              <a:latin typeface="Calibri" panose="020F0502020204030204" pitchFamily="34" charset="0"/>
              <a:ea typeface="宋体" panose="02010600030101010101" pitchFamily="2" charset="-122"/>
              <a:cs typeface="Times New Roman" panose="02020603050405020304" pitchFamily="18" charset="0"/>
            </a:endParaRPr>
          </a:p>
          <a:p>
            <a:pPr marL="457189" indent="-457189" algn="just">
              <a:lnSpc>
                <a:spcPct val="150000"/>
              </a:lnSpc>
              <a:buClr>
                <a:srgbClr val="2E74B5"/>
              </a:buClr>
              <a:buFont typeface="+mj-lt"/>
              <a:buAutoNum type="arabicPeriod"/>
            </a:pPr>
            <a:r>
              <a:rPr lang="en-US" altLang="zh-CN" sz="2667" kern="100" dirty="0">
                <a:solidFill>
                  <a:srgbClr val="3F3F3F"/>
                </a:solidFill>
                <a:latin typeface="微软雅黑" panose="020B0503020204020204" pitchFamily="34" charset="-122"/>
                <a:ea typeface="宋体" panose="02010600030101010101" pitchFamily="2" charset="-122"/>
                <a:cs typeface="宋体" panose="02010600030101010101" pitchFamily="2" charset="-122"/>
              </a:rPr>
              <a:t>MC/DC</a:t>
            </a:r>
            <a:r>
              <a:rPr lang="zh-CN"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覆盖</a:t>
            </a:r>
            <a:endParaRPr lang="zh-CN" altLang="zh-CN" sz="2667" kern="100" dirty="0">
              <a:latin typeface="Calibri" panose="020F0502020204030204" pitchFamily="34" charset="0"/>
              <a:ea typeface="宋体" panose="02010600030101010101" pitchFamily="2" charset="-122"/>
              <a:cs typeface="Times New Roman" panose="02020603050405020304" pitchFamily="18" charset="0"/>
            </a:endParaRPr>
          </a:p>
          <a:p>
            <a:pPr marL="457189" indent="-457189" algn="just">
              <a:lnSpc>
                <a:spcPct val="150000"/>
              </a:lnSpc>
              <a:buClr>
                <a:srgbClr val="2E74B5"/>
              </a:buClr>
              <a:buFont typeface="+mj-lt"/>
              <a:buAutoNum type="arabicPeriod"/>
            </a:pPr>
            <a:r>
              <a:rPr lang="zh-CN" altLang="zh-CN" sz="2667" kern="100" dirty="0">
                <a:solidFill>
                  <a:srgbClr val="3F3F3F"/>
                </a:solidFill>
                <a:latin typeface="Calibri" panose="020F0502020204030204" pitchFamily="34" charset="0"/>
                <a:ea typeface="微软雅黑" panose="020B0503020204020204" pitchFamily="34" charset="-122"/>
                <a:cs typeface="宋体" panose="02010600030101010101" pitchFamily="2" charset="-122"/>
              </a:rPr>
              <a:t>基本路径覆盖</a:t>
            </a:r>
            <a:endParaRPr lang="zh-CN" altLang="zh-CN" sz="2667" kern="100" dirty="0">
              <a:latin typeface="Calibri" panose="020F0502020204030204" pitchFamily="34" charset="0"/>
              <a:ea typeface="宋体" panose="02010600030101010101" pitchFamily="2" charset="-122"/>
              <a:cs typeface="Times New Roman" panose="02020603050405020304" pitchFamily="18" charset="0"/>
            </a:endParaRPr>
          </a:p>
        </p:txBody>
      </p:sp>
      <p:grpSp>
        <p:nvGrpSpPr>
          <p:cNvPr id="2" name="Group 34">
            <a:extLst>
              <a:ext uri="{FF2B5EF4-FFF2-40B4-BE49-F238E27FC236}">
                <a16:creationId xmlns:a16="http://schemas.microsoft.com/office/drawing/2014/main" id="{4CE1B919-9408-F8E2-8E1B-7F24A3D24F62}"/>
              </a:ext>
            </a:extLst>
          </p:cNvPr>
          <p:cNvGrpSpPr>
            <a:grpSpLocks/>
          </p:cNvGrpSpPr>
          <p:nvPr/>
        </p:nvGrpSpPr>
        <p:grpSpPr bwMode="auto">
          <a:xfrm>
            <a:off x="1395307" y="1708535"/>
            <a:ext cx="4290484" cy="4273549"/>
            <a:chOff x="3216" y="2109"/>
            <a:chExt cx="2027" cy="2019"/>
          </a:xfrm>
        </p:grpSpPr>
        <p:grpSp>
          <p:nvGrpSpPr>
            <p:cNvPr id="3" name="Group 35">
              <a:extLst>
                <a:ext uri="{FF2B5EF4-FFF2-40B4-BE49-F238E27FC236}">
                  <a16:creationId xmlns:a16="http://schemas.microsoft.com/office/drawing/2014/main" id="{B161502A-6ACB-A814-A1C5-0C862876263A}"/>
                </a:ext>
              </a:extLst>
            </p:cNvPr>
            <p:cNvGrpSpPr>
              <a:grpSpLocks/>
            </p:cNvGrpSpPr>
            <p:nvPr/>
          </p:nvGrpSpPr>
          <p:grpSpPr bwMode="auto">
            <a:xfrm>
              <a:off x="4218" y="2445"/>
              <a:ext cx="1025" cy="1683"/>
              <a:chOff x="4218" y="2445"/>
              <a:chExt cx="1025" cy="1683"/>
            </a:xfrm>
          </p:grpSpPr>
          <p:sp>
            <p:nvSpPr>
              <p:cNvPr id="5" name="Oval 36">
                <a:extLst>
                  <a:ext uri="{FF2B5EF4-FFF2-40B4-BE49-F238E27FC236}">
                    <a16:creationId xmlns:a16="http://schemas.microsoft.com/office/drawing/2014/main" id="{CC62E3A4-4DD8-7AF4-2C17-D290C14F480D}"/>
                  </a:ext>
                </a:extLst>
              </p:cNvPr>
              <p:cNvSpPr>
                <a:spLocks noChangeArrowheads="1"/>
              </p:cNvSpPr>
              <p:nvPr/>
            </p:nvSpPr>
            <p:spPr bwMode="auto">
              <a:xfrm>
                <a:off x="4666" y="2454"/>
                <a:ext cx="40" cy="72"/>
              </a:xfrm>
              <a:prstGeom prst="ellipse">
                <a:avLst/>
              </a:prstGeom>
              <a:solidFill>
                <a:srgbClr val="FFFFFF"/>
              </a:solidFill>
              <a:ln w="25400">
                <a:solidFill>
                  <a:schemeClr val="tx1"/>
                </a:solidFill>
                <a:round/>
                <a:headEnd/>
                <a:tailEnd/>
              </a:ln>
            </p:spPr>
            <p:txBody>
              <a:bodyPr wrap="none" anchor="ctr"/>
              <a:lstStyle/>
              <a:p>
                <a:endParaRPr lang="zh-CN" altLang="en-US" sz="2400"/>
              </a:p>
            </p:txBody>
          </p:sp>
          <p:sp>
            <p:nvSpPr>
              <p:cNvPr id="6" name="Oval 37">
                <a:extLst>
                  <a:ext uri="{FF2B5EF4-FFF2-40B4-BE49-F238E27FC236}">
                    <a16:creationId xmlns:a16="http://schemas.microsoft.com/office/drawing/2014/main" id="{A808EA62-1455-029B-F1DE-C3256898FA97}"/>
                  </a:ext>
                </a:extLst>
              </p:cNvPr>
              <p:cNvSpPr>
                <a:spLocks noChangeArrowheads="1"/>
              </p:cNvSpPr>
              <p:nvPr/>
            </p:nvSpPr>
            <p:spPr bwMode="auto">
              <a:xfrm>
                <a:off x="4658" y="2445"/>
                <a:ext cx="56" cy="90"/>
              </a:xfrm>
              <a:prstGeom prst="ellipse">
                <a:avLst/>
              </a:prstGeom>
              <a:noFill/>
              <a:ln w="25400">
                <a:solidFill>
                  <a:schemeClr val="tx1"/>
                </a:solidFill>
                <a:round/>
                <a:headEnd/>
                <a:tailEnd/>
              </a:ln>
            </p:spPr>
            <p:txBody>
              <a:bodyPr wrap="none" anchor="ctr"/>
              <a:lstStyle/>
              <a:p>
                <a:endParaRPr lang="zh-CN" altLang="en-US" sz="2400"/>
              </a:p>
            </p:txBody>
          </p:sp>
          <p:sp>
            <p:nvSpPr>
              <p:cNvPr id="7" name="Line 38">
                <a:extLst>
                  <a:ext uri="{FF2B5EF4-FFF2-40B4-BE49-F238E27FC236}">
                    <a16:creationId xmlns:a16="http://schemas.microsoft.com/office/drawing/2014/main" id="{82C58D95-459A-38DF-09CA-3BCCF25959A2}"/>
                  </a:ext>
                </a:extLst>
              </p:cNvPr>
              <p:cNvSpPr>
                <a:spLocks noChangeShapeType="1"/>
              </p:cNvSpPr>
              <p:nvPr/>
            </p:nvSpPr>
            <p:spPr bwMode="auto">
              <a:xfrm>
                <a:off x="4690" y="2544"/>
                <a:ext cx="1" cy="54"/>
              </a:xfrm>
              <a:prstGeom prst="line">
                <a:avLst/>
              </a:prstGeom>
              <a:noFill/>
              <a:ln w="25400">
                <a:solidFill>
                  <a:schemeClr val="tx1"/>
                </a:solidFill>
                <a:round/>
                <a:headEnd/>
                <a:tailEnd/>
              </a:ln>
            </p:spPr>
            <p:txBody>
              <a:bodyPr wrap="none" anchor="ctr"/>
              <a:lstStyle/>
              <a:p>
                <a:endParaRPr lang="zh-CN" altLang="en-US" sz="2400"/>
              </a:p>
            </p:txBody>
          </p:sp>
          <p:sp>
            <p:nvSpPr>
              <p:cNvPr id="8" name="Rectangle 39">
                <a:extLst>
                  <a:ext uri="{FF2B5EF4-FFF2-40B4-BE49-F238E27FC236}">
                    <a16:creationId xmlns:a16="http://schemas.microsoft.com/office/drawing/2014/main" id="{5B0873C9-ADCB-B4C8-3635-0F6CBEAE75C1}"/>
                  </a:ext>
                </a:extLst>
              </p:cNvPr>
              <p:cNvSpPr>
                <a:spLocks noChangeArrowheads="1"/>
              </p:cNvSpPr>
              <p:nvPr/>
            </p:nvSpPr>
            <p:spPr bwMode="auto">
              <a:xfrm>
                <a:off x="4578" y="2634"/>
                <a:ext cx="224" cy="126"/>
              </a:xfrm>
              <a:prstGeom prst="rect">
                <a:avLst/>
              </a:prstGeom>
              <a:solidFill>
                <a:schemeClr val="folHlink"/>
              </a:solidFill>
              <a:ln w="25400">
                <a:solidFill>
                  <a:schemeClr val="tx1"/>
                </a:solidFill>
                <a:miter lim="800000"/>
                <a:headEnd/>
                <a:tailEnd/>
              </a:ln>
            </p:spPr>
            <p:txBody>
              <a:bodyPr wrap="none" anchor="ctr"/>
              <a:lstStyle/>
              <a:p>
                <a:endParaRPr lang="zh-CN" altLang="en-US" sz="2400"/>
              </a:p>
            </p:txBody>
          </p:sp>
          <p:sp>
            <p:nvSpPr>
              <p:cNvPr id="9" name="Rectangle 40">
                <a:extLst>
                  <a:ext uri="{FF2B5EF4-FFF2-40B4-BE49-F238E27FC236}">
                    <a16:creationId xmlns:a16="http://schemas.microsoft.com/office/drawing/2014/main" id="{6EED4C49-7300-8F90-D0F5-996CB5B05F3C}"/>
                  </a:ext>
                </a:extLst>
              </p:cNvPr>
              <p:cNvSpPr>
                <a:spLocks noChangeArrowheads="1"/>
              </p:cNvSpPr>
              <p:nvPr/>
            </p:nvSpPr>
            <p:spPr bwMode="auto">
              <a:xfrm>
                <a:off x="4570" y="2625"/>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2400"/>
              </a:p>
            </p:txBody>
          </p:sp>
          <p:sp>
            <p:nvSpPr>
              <p:cNvPr id="10" name="Line 41">
                <a:extLst>
                  <a:ext uri="{FF2B5EF4-FFF2-40B4-BE49-F238E27FC236}">
                    <a16:creationId xmlns:a16="http://schemas.microsoft.com/office/drawing/2014/main" id="{0D962BD7-191D-8783-9494-E71905A8DC0E}"/>
                  </a:ext>
                </a:extLst>
              </p:cNvPr>
              <p:cNvSpPr>
                <a:spLocks noChangeShapeType="1"/>
              </p:cNvSpPr>
              <p:nvPr/>
            </p:nvSpPr>
            <p:spPr bwMode="auto">
              <a:xfrm>
                <a:off x="4690" y="2778"/>
                <a:ext cx="1" cy="45"/>
              </a:xfrm>
              <a:prstGeom prst="line">
                <a:avLst/>
              </a:prstGeom>
              <a:noFill/>
              <a:ln w="25400">
                <a:solidFill>
                  <a:schemeClr val="tx1"/>
                </a:solidFill>
                <a:round/>
                <a:headEnd/>
                <a:tailEnd/>
              </a:ln>
            </p:spPr>
            <p:txBody>
              <a:bodyPr wrap="none" anchor="ctr"/>
              <a:lstStyle/>
              <a:p>
                <a:endParaRPr lang="zh-CN" altLang="en-US" sz="2400"/>
              </a:p>
            </p:txBody>
          </p:sp>
          <p:sp>
            <p:nvSpPr>
              <p:cNvPr id="11" name="Line 42">
                <a:extLst>
                  <a:ext uri="{FF2B5EF4-FFF2-40B4-BE49-F238E27FC236}">
                    <a16:creationId xmlns:a16="http://schemas.microsoft.com/office/drawing/2014/main" id="{92626C65-77AB-9B1C-9559-487C9D0BFA15}"/>
                  </a:ext>
                </a:extLst>
              </p:cNvPr>
              <p:cNvSpPr>
                <a:spLocks noChangeShapeType="1"/>
              </p:cNvSpPr>
              <p:nvPr/>
            </p:nvSpPr>
            <p:spPr bwMode="auto">
              <a:xfrm flipH="1">
                <a:off x="4330" y="2895"/>
                <a:ext cx="224" cy="1"/>
              </a:xfrm>
              <a:prstGeom prst="line">
                <a:avLst/>
              </a:prstGeom>
              <a:noFill/>
              <a:ln w="25400">
                <a:solidFill>
                  <a:schemeClr val="tx1"/>
                </a:solidFill>
                <a:round/>
                <a:headEnd/>
                <a:tailEnd/>
              </a:ln>
            </p:spPr>
            <p:txBody>
              <a:bodyPr wrap="none" anchor="ctr"/>
              <a:lstStyle/>
              <a:p>
                <a:endParaRPr lang="zh-CN" altLang="en-US" sz="2400"/>
              </a:p>
            </p:txBody>
          </p:sp>
          <p:sp>
            <p:nvSpPr>
              <p:cNvPr id="12" name="Rectangle 43">
                <a:extLst>
                  <a:ext uri="{FF2B5EF4-FFF2-40B4-BE49-F238E27FC236}">
                    <a16:creationId xmlns:a16="http://schemas.microsoft.com/office/drawing/2014/main" id="{A6995D2D-3FB1-8A40-8743-97A8488076B0}"/>
                  </a:ext>
                </a:extLst>
              </p:cNvPr>
              <p:cNvSpPr>
                <a:spLocks noChangeArrowheads="1"/>
              </p:cNvSpPr>
              <p:nvPr/>
            </p:nvSpPr>
            <p:spPr bwMode="auto">
              <a:xfrm>
                <a:off x="4226" y="3021"/>
                <a:ext cx="224" cy="126"/>
              </a:xfrm>
              <a:prstGeom prst="rect">
                <a:avLst/>
              </a:prstGeom>
              <a:solidFill>
                <a:schemeClr val="accent2"/>
              </a:solidFill>
              <a:ln w="25400">
                <a:solidFill>
                  <a:schemeClr val="tx1"/>
                </a:solidFill>
                <a:miter lim="800000"/>
                <a:headEnd/>
                <a:tailEnd/>
              </a:ln>
            </p:spPr>
            <p:txBody>
              <a:bodyPr wrap="none" anchor="ctr"/>
              <a:lstStyle/>
              <a:p>
                <a:endParaRPr lang="zh-CN" altLang="en-US" sz="2400"/>
              </a:p>
            </p:txBody>
          </p:sp>
          <p:sp>
            <p:nvSpPr>
              <p:cNvPr id="13" name="Rectangle 44">
                <a:extLst>
                  <a:ext uri="{FF2B5EF4-FFF2-40B4-BE49-F238E27FC236}">
                    <a16:creationId xmlns:a16="http://schemas.microsoft.com/office/drawing/2014/main" id="{EF02CF9B-0D41-531E-803B-A90FE1120CEF}"/>
                  </a:ext>
                </a:extLst>
              </p:cNvPr>
              <p:cNvSpPr>
                <a:spLocks noChangeArrowheads="1"/>
              </p:cNvSpPr>
              <p:nvPr/>
            </p:nvSpPr>
            <p:spPr bwMode="auto">
              <a:xfrm>
                <a:off x="4218" y="3012"/>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2400"/>
              </a:p>
            </p:txBody>
          </p:sp>
          <p:sp>
            <p:nvSpPr>
              <p:cNvPr id="14" name="Rectangle 45">
                <a:extLst>
                  <a:ext uri="{FF2B5EF4-FFF2-40B4-BE49-F238E27FC236}">
                    <a16:creationId xmlns:a16="http://schemas.microsoft.com/office/drawing/2014/main" id="{67042152-AFB4-F025-3457-DA2C813952B9}"/>
                  </a:ext>
                </a:extLst>
              </p:cNvPr>
              <p:cNvSpPr>
                <a:spLocks noChangeArrowheads="1"/>
              </p:cNvSpPr>
              <p:nvPr/>
            </p:nvSpPr>
            <p:spPr bwMode="auto">
              <a:xfrm>
                <a:off x="4930" y="3039"/>
                <a:ext cx="224" cy="126"/>
              </a:xfrm>
              <a:prstGeom prst="rect">
                <a:avLst/>
              </a:prstGeom>
              <a:solidFill>
                <a:schemeClr val="accent2"/>
              </a:solidFill>
              <a:ln w="25400">
                <a:solidFill>
                  <a:schemeClr val="tx1"/>
                </a:solidFill>
                <a:miter lim="800000"/>
                <a:headEnd/>
                <a:tailEnd/>
              </a:ln>
            </p:spPr>
            <p:txBody>
              <a:bodyPr wrap="none" anchor="ctr"/>
              <a:lstStyle/>
              <a:p>
                <a:endParaRPr lang="zh-CN" altLang="en-US" sz="2400"/>
              </a:p>
            </p:txBody>
          </p:sp>
          <p:sp>
            <p:nvSpPr>
              <p:cNvPr id="15" name="Rectangle 46">
                <a:extLst>
                  <a:ext uri="{FF2B5EF4-FFF2-40B4-BE49-F238E27FC236}">
                    <a16:creationId xmlns:a16="http://schemas.microsoft.com/office/drawing/2014/main" id="{4DED1C01-5C6B-6B7A-147A-540331ED236E}"/>
                  </a:ext>
                </a:extLst>
              </p:cNvPr>
              <p:cNvSpPr>
                <a:spLocks noChangeArrowheads="1"/>
              </p:cNvSpPr>
              <p:nvPr/>
            </p:nvSpPr>
            <p:spPr bwMode="auto">
              <a:xfrm>
                <a:off x="4922" y="3030"/>
                <a:ext cx="240" cy="144"/>
              </a:xfrm>
              <a:prstGeom prst="rect">
                <a:avLst/>
              </a:prstGeom>
              <a:solidFill>
                <a:schemeClr val="accent1"/>
              </a:solidFill>
              <a:ln w="25400">
                <a:solidFill>
                  <a:schemeClr val="tx1"/>
                </a:solidFill>
                <a:miter lim="800000"/>
                <a:headEnd/>
                <a:tailEnd/>
              </a:ln>
            </p:spPr>
            <p:txBody>
              <a:bodyPr wrap="none" anchor="ctr"/>
              <a:lstStyle/>
              <a:p>
                <a:endParaRPr lang="zh-CN" altLang="en-US" sz="2400"/>
              </a:p>
            </p:txBody>
          </p:sp>
          <p:sp>
            <p:nvSpPr>
              <p:cNvPr id="16" name="Line 47">
                <a:extLst>
                  <a:ext uri="{FF2B5EF4-FFF2-40B4-BE49-F238E27FC236}">
                    <a16:creationId xmlns:a16="http://schemas.microsoft.com/office/drawing/2014/main" id="{40D347C8-4D3F-C1D7-3CEE-4B2A4E041CB9}"/>
                  </a:ext>
                </a:extLst>
              </p:cNvPr>
              <p:cNvSpPr>
                <a:spLocks noChangeShapeType="1"/>
              </p:cNvSpPr>
              <p:nvPr/>
            </p:nvSpPr>
            <p:spPr bwMode="auto">
              <a:xfrm>
                <a:off x="4338" y="2895"/>
                <a:ext cx="1" cy="108"/>
              </a:xfrm>
              <a:prstGeom prst="line">
                <a:avLst/>
              </a:prstGeom>
              <a:noFill/>
              <a:ln w="25400">
                <a:solidFill>
                  <a:schemeClr val="tx1"/>
                </a:solidFill>
                <a:round/>
                <a:headEnd/>
                <a:tailEnd/>
              </a:ln>
            </p:spPr>
            <p:txBody>
              <a:bodyPr wrap="none" anchor="ctr"/>
              <a:lstStyle/>
              <a:p>
                <a:endParaRPr lang="zh-CN" altLang="en-US" sz="2400"/>
              </a:p>
            </p:txBody>
          </p:sp>
          <p:sp>
            <p:nvSpPr>
              <p:cNvPr id="17" name="Line 48">
                <a:extLst>
                  <a:ext uri="{FF2B5EF4-FFF2-40B4-BE49-F238E27FC236}">
                    <a16:creationId xmlns:a16="http://schemas.microsoft.com/office/drawing/2014/main" id="{AB85D97A-2F62-C9AE-36F1-368AD71B7B9C}"/>
                  </a:ext>
                </a:extLst>
              </p:cNvPr>
              <p:cNvSpPr>
                <a:spLocks noChangeShapeType="1"/>
              </p:cNvSpPr>
              <p:nvPr/>
            </p:nvSpPr>
            <p:spPr bwMode="auto">
              <a:xfrm flipH="1">
                <a:off x="4818" y="2895"/>
                <a:ext cx="224" cy="1"/>
              </a:xfrm>
              <a:prstGeom prst="line">
                <a:avLst/>
              </a:prstGeom>
              <a:noFill/>
              <a:ln w="25400">
                <a:solidFill>
                  <a:schemeClr val="tx1"/>
                </a:solidFill>
                <a:round/>
                <a:headEnd/>
                <a:tailEnd/>
              </a:ln>
            </p:spPr>
            <p:txBody>
              <a:bodyPr wrap="none" anchor="ctr"/>
              <a:lstStyle/>
              <a:p>
                <a:endParaRPr lang="zh-CN" altLang="en-US" sz="2400"/>
              </a:p>
            </p:txBody>
          </p:sp>
          <p:sp>
            <p:nvSpPr>
              <p:cNvPr id="18" name="Line 49">
                <a:extLst>
                  <a:ext uri="{FF2B5EF4-FFF2-40B4-BE49-F238E27FC236}">
                    <a16:creationId xmlns:a16="http://schemas.microsoft.com/office/drawing/2014/main" id="{40BE24F0-DED3-3C80-83E3-B2C6FB9C11B2}"/>
                  </a:ext>
                </a:extLst>
              </p:cNvPr>
              <p:cNvSpPr>
                <a:spLocks noChangeShapeType="1"/>
              </p:cNvSpPr>
              <p:nvPr/>
            </p:nvSpPr>
            <p:spPr bwMode="auto">
              <a:xfrm>
                <a:off x="5042" y="2895"/>
                <a:ext cx="1" cy="108"/>
              </a:xfrm>
              <a:prstGeom prst="line">
                <a:avLst/>
              </a:prstGeom>
              <a:noFill/>
              <a:ln w="25400">
                <a:solidFill>
                  <a:schemeClr val="tx1"/>
                </a:solidFill>
                <a:round/>
                <a:headEnd/>
                <a:tailEnd/>
              </a:ln>
            </p:spPr>
            <p:txBody>
              <a:bodyPr wrap="none" anchor="ctr"/>
              <a:lstStyle/>
              <a:p>
                <a:endParaRPr lang="zh-CN" altLang="en-US" sz="2400"/>
              </a:p>
            </p:txBody>
          </p:sp>
          <p:sp>
            <p:nvSpPr>
              <p:cNvPr id="19" name="Line 50">
                <a:extLst>
                  <a:ext uri="{FF2B5EF4-FFF2-40B4-BE49-F238E27FC236}">
                    <a16:creationId xmlns:a16="http://schemas.microsoft.com/office/drawing/2014/main" id="{824A9C61-DB59-1F41-6BCA-3E7C9599FE5F}"/>
                  </a:ext>
                </a:extLst>
              </p:cNvPr>
              <p:cNvSpPr>
                <a:spLocks noChangeShapeType="1"/>
              </p:cNvSpPr>
              <p:nvPr/>
            </p:nvSpPr>
            <p:spPr bwMode="auto">
              <a:xfrm>
                <a:off x="4338" y="3165"/>
                <a:ext cx="1" cy="72"/>
              </a:xfrm>
              <a:prstGeom prst="line">
                <a:avLst/>
              </a:prstGeom>
              <a:noFill/>
              <a:ln w="25400">
                <a:solidFill>
                  <a:schemeClr val="tx1"/>
                </a:solidFill>
                <a:round/>
                <a:headEnd/>
                <a:tailEnd/>
              </a:ln>
            </p:spPr>
            <p:txBody>
              <a:bodyPr wrap="none" anchor="ctr"/>
              <a:lstStyle/>
              <a:p>
                <a:endParaRPr lang="zh-CN" altLang="en-US" sz="2400"/>
              </a:p>
            </p:txBody>
          </p:sp>
          <p:sp>
            <p:nvSpPr>
              <p:cNvPr id="20" name="Line 51">
                <a:extLst>
                  <a:ext uri="{FF2B5EF4-FFF2-40B4-BE49-F238E27FC236}">
                    <a16:creationId xmlns:a16="http://schemas.microsoft.com/office/drawing/2014/main" id="{095DFE40-C8B3-7F6D-A4D4-D3D37260788F}"/>
                  </a:ext>
                </a:extLst>
              </p:cNvPr>
              <p:cNvSpPr>
                <a:spLocks noChangeShapeType="1"/>
              </p:cNvSpPr>
              <p:nvPr/>
            </p:nvSpPr>
            <p:spPr bwMode="auto">
              <a:xfrm>
                <a:off x="5042" y="3183"/>
                <a:ext cx="1" cy="72"/>
              </a:xfrm>
              <a:prstGeom prst="line">
                <a:avLst/>
              </a:prstGeom>
              <a:noFill/>
              <a:ln w="25400">
                <a:solidFill>
                  <a:schemeClr val="tx1"/>
                </a:solidFill>
                <a:round/>
                <a:headEnd/>
                <a:tailEnd/>
              </a:ln>
            </p:spPr>
            <p:txBody>
              <a:bodyPr wrap="none" anchor="ctr"/>
              <a:lstStyle/>
              <a:p>
                <a:endParaRPr lang="zh-CN" altLang="en-US" sz="2400"/>
              </a:p>
            </p:txBody>
          </p:sp>
          <p:sp>
            <p:nvSpPr>
              <p:cNvPr id="21" name="Line 52">
                <a:extLst>
                  <a:ext uri="{FF2B5EF4-FFF2-40B4-BE49-F238E27FC236}">
                    <a16:creationId xmlns:a16="http://schemas.microsoft.com/office/drawing/2014/main" id="{790FDD18-E57A-D048-5B4E-F58EF8838B4A}"/>
                  </a:ext>
                </a:extLst>
              </p:cNvPr>
              <p:cNvSpPr>
                <a:spLocks noChangeShapeType="1"/>
              </p:cNvSpPr>
              <p:nvPr/>
            </p:nvSpPr>
            <p:spPr bwMode="auto">
              <a:xfrm>
                <a:off x="4338" y="3264"/>
                <a:ext cx="696" cy="1"/>
              </a:xfrm>
              <a:prstGeom prst="line">
                <a:avLst/>
              </a:prstGeom>
              <a:noFill/>
              <a:ln w="25400">
                <a:solidFill>
                  <a:schemeClr val="tx1"/>
                </a:solidFill>
                <a:round/>
                <a:headEnd/>
                <a:tailEnd/>
              </a:ln>
            </p:spPr>
            <p:txBody>
              <a:bodyPr wrap="none" anchor="ctr"/>
              <a:lstStyle/>
              <a:p>
                <a:endParaRPr lang="zh-CN" altLang="en-US" sz="2400"/>
              </a:p>
            </p:txBody>
          </p:sp>
          <p:sp>
            <p:nvSpPr>
              <p:cNvPr id="22" name="Line 53">
                <a:extLst>
                  <a:ext uri="{FF2B5EF4-FFF2-40B4-BE49-F238E27FC236}">
                    <a16:creationId xmlns:a16="http://schemas.microsoft.com/office/drawing/2014/main" id="{535BB47D-ED05-C3FC-0A58-C952781F30BE}"/>
                  </a:ext>
                </a:extLst>
              </p:cNvPr>
              <p:cNvSpPr>
                <a:spLocks noChangeShapeType="1"/>
              </p:cNvSpPr>
              <p:nvPr/>
            </p:nvSpPr>
            <p:spPr bwMode="auto">
              <a:xfrm>
                <a:off x="4690" y="3264"/>
                <a:ext cx="1" cy="108"/>
              </a:xfrm>
              <a:prstGeom prst="line">
                <a:avLst/>
              </a:prstGeom>
              <a:noFill/>
              <a:ln w="25400">
                <a:solidFill>
                  <a:schemeClr val="tx1"/>
                </a:solidFill>
                <a:round/>
                <a:headEnd/>
                <a:tailEnd/>
              </a:ln>
            </p:spPr>
            <p:txBody>
              <a:bodyPr wrap="none" anchor="ctr"/>
              <a:lstStyle/>
              <a:p>
                <a:endParaRPr lang="zh-CN" altLang="en-US" sz="2400"/>
              </a:p>
            </p:txBody>
          </p:sp>
          <p:sp>
            <p:nvSpPr>
              <p:cNvPr id="23" name="Rectangle 54">
                <a:extLst>
                  <a:ext uri="{FF2B5EF4-FFF2-40B4-BE49-F238E27FC236}">
                    <a16:creationId xmlns:a16="http://schemas.microsoft.com/office/drawing/2014/main" id="{FD351048-5F2D-4C48-A6F6-EDB7439280C2}"/>
                  </a:ext>
                </a:extLst>
              </p:cNvPr>
              <p:cNvSpPr>
                <a:spLocks noChangeArrowheads="1"/>
              </p:cNvSpPr>
              <p:nvPr/>
            </p:nvSpPr>
            <p:spPr bwMode="auto">
              <a:xfrm>
                <a:off x="4578" y="3408"/>
                <a:ext cx="224" cy="126"/>
              </a:xfrm>
              <a:prstGeom prst="rect">
                <a:avLst/>
              </a:prstGeom>
              <a:solidFill>
                <a:schemeClr val="accent1"/>
              </a:solidFill>
              <a:ln w="25400">
                <a:solidFill>
                  <a:schemeClr val="tx1"/>
                </a:solidFill>
                <a:miter lim="800000"/>
                <a:headEnd/>
                <a:tailEnd/>
              </a:ln>
            </p:spPr>
            <p:txBody>
              <a:bodyPr wrap="none" anchor="ctr"/>
              <a:lstStyle/>
              <a:p>
                <a:endParaRPr lang="zh-CN" altLang="en-US" sz="2400"/>
              </a:p>
            </p:txBody>
          </p:sp>
          <p:sp>
            <p:nvSpPr>
              <p:cNvPr id="24" name="Rectangle 55">
                <a:extLst>
                  <a:ext uri="{FF2B5EF4-FFF2-40B4-BE49-F238E27FC236}">
                    <a16:creationId xmlns:a16="http://schemas.microsoft.com/office/drawing/2014/main" id="{F3292224-A517-005B-3AC5-B65AF02EEBFD}"/>
                  </a:ext>
                </a:extLst>
              </p:cNvPr>
              <p:cNvSpPr>
                <a:spLocks noChangeArrowheads="1"/>
              </p:cNvSpPr>
              <p:nvPr/>
            </p:nvSpPr>
            <p:spPr bwMode="auto">
              <a:xfrm>
                <a:off x="4570" y="3399"/>
                <a:ext cx="240" cy="144"/>
              </a:xfrm>
              <a:prstGeom prst="rect">
                <a:avLst/>
              </a:prstGeom>
              <a:noFill/>
              <a:ln w="25400">
                <a:solidFill>
                  <a:schemeClr val="tx1"/>
                </a:solidFill>
                <a:miter lim="800000"/>
                <a:headEnd/>
                <a:tailEnd/>
              </a:ln>
            </p:spPr>
            <p:txBody>
              <a:bodyPr wrap="none" anchor="ctr"/>
              <a:lstStyle/>
              <a:p>
                <a:endParaRPr lang="zh-CN" altLang="en-US" sz="2400"/>
              </a:p>
            </p:txBody>
          </p:sp>
          <p:sp>
            <p:nvSpPr>
              <p:cNvPr id="25" name="Line 56">
                <a:extLst>
                  <a:ext uri="{FF2B5EF4-FFF2-40B4-BE49-F238E27FC236}">
                    <a16:creationId xmlns:a16="http://schemas.microsoft.com/office/drawing/2014/main" id="{7ED4D54B-824B-47F0-2130-A3EE62C55941}"/>
                  </a:ext>
                </a:extLst>
              </p:cNvPr>
              <p:cNvSpPr>
                <a:spLocks noChangeShapeType="1"/>
              </p:cNvSpPr>
              <p:nvPr/>
            </p:nvSpPr>
            <p:spPr bwMode="auto">
              <a:xfrm>
                <a:off x="4690" y="3552"/>
                <a:ext cx="1" cy="135"/>
              </a:xfrm>
              <a:prstGeom prst="line">
                <a:avLst/>
              </a:prstGeom>
              <a:noFill/>
              <a:ln w="25400">
                <a:solidFill>
                  <a:schemeClr val="tx1"/>
                </a:solidFill>
                <a:round/>
                <a:headEnd/>
                <a:tailEnd/>
              </a:ln>
            </p:spPr>
            <p:txBody>
              <a:bodyPr wrap="none" anchor="ctr"/>
              <a:lstStyle/>
              <a:p>
                <a:endParaRPr lang="zh-CN" altLang="en-US" sz="2400"/>
              </a:p>
            </p:txBody>
          </p:sp>
          <p:sp>
            <p:nvSpPr>
              <p:cNvPr id="26" name="Line 57">
                <a:extLst>
                  <a:ext uri="{FF2B5EF4-FFF2-40B4-BE49-F238E27FC236}">
                    <a16:creationId xmlns:a16="http://schemas.microsoft.com/office/drawing/2014/main" id="{6EAFA1CA-0BA4-DD5D-4B7A-B64757C920A2}"/>
                  </a:ext>
                </a:extLst>
              </p:cNvPr>
              <p:cNvSpPr>
                <a:spLocks noChangeShapeType="1"/>
              </p:cNvSpPr>
              <p:nvPr/>
            </p:nvSpPr>
            <p:spPr bwMode="auto">
              <a:xfrm>
                <a:off x="4690" y="3768"/>
                <a:ext cx="1" cy="45"/>
              </a:xfrm>
              <a:prstGeom prst="line">
                <a:avLst/>
              </a:prstGeom>
              <a:noFill/>
              <a:ln w="25400">
                <a:solidFill>
                  <a:schemeClr val="tx1"/>
                </a:solidFill>
                <a:round/>
                <a:headEnd/>
                <a:tailEnd/>
              </a:ln>
            </p:spPr>
            <p:txBody>
              <a:bodyPr wrap="none" anchor="ctr"/>
              <a:lstStyle/>
              <a:p>
                <a:endParaRPr lang="zh-CN" altLang="en-US" sz="2400"/>
              </a:p>
            </p:txBody>
          </p:sp>
          <p:sp>
            <p:nvSpPr>
              <p:cNvPr id="27" name="Line 58">
                <a:extLst>
                  <a:ext uri="{FF2B5EF4-FFF2-40B4-BE49-F238E27FC236}">
                    <a16:creationId xmlns:a16="http://schemas.microsoft.com/office/drawing/2014/main" id="{E7EF8834-C566-2C0A-84C4-AE2DC418C141}"/>
                  </a:ext>
                </a:extLst>
              </p:cNvPr>
              <p:cNvSpPr>
                <a:spLocks noChangeShapeType="1"/>
              </p:cNvSpPr>
              <p:nvPr/>
            </p:nvSpPr>
            <p:spPr bwMode="auto">
              <a:xfrm>
                <a:off x="4690" y="2580"/>
                <a:ext cx="544" cy="1"/>
              </a:xfrm>
              <a:prstGeom prst="line">
                <a:avLst/>
              </a:prstGeom>
              <a:noFill/>
              <a:ln w="25400">
                <a:solidFill>
                  <a:schemeClr val="tx1"/>
                </a:solidFill>
                <a:round/>
                <a:headEnd/>
                <a:tailEnd/>
              </a:ln>
            </p:spPr>
            <p:txBody>
              <a:bodyPr wrap="none" anchor="ctr"/>
              <a:lstStyle/>
              <a:p>
                <a:endParaRPr lang="zh-CN" altLang="en-US" sz="2400"/>
              </a:p>
            </p:txBody>
          </p:sp>
          <p:sp>
            <p:nvSpPr>
              <p:cNvPr id="28" name="Line 59">
                <a:extLst>
                  <a:ext uri="{FF2B5EF4-FFF2-40B4-BE49-F238E27FC236}">
                    <a16:creationId xmlns:a16="http://schemas.microsoft.com/office/drawing/2014/main" id="{83867B28-FBDC-564C-F31E-973BD097405D}"/>
                  </a:ext>
                </a:extLst>
              </p:cNvPr>
              <p:cNvSpPr>
                <a:spLocks noChangeShapeType="1"/>
              </p:cNvSpPr>
              <p:nvPr/>
            </p:nvSpPr>
            <p:spPr bwMode="auto">
              <a:xfrm>
                <a:off x="4690" y="3804"/>
                <a:ext cx="544" cy="1"/>
              </a:xfrm>
              <a:prstGeom prst="line">
                <a:avLst/>
              </a:prstGeom>
              <a:noFill/>
              <a:ln w="25400">
                <a:solidFill>
                  <a:schemeClr val="tx1"/>
                </a:solidFill>
                <a:round/>
                <a:headEnd/>
                <a:tailEnd/>
              </a:ln>
            </p:spPr>
            <p:txBody>
              <a:bodyPr wrap="none" anchor="ctr"/>
              <a:lstStyle/>
              <a:p>
                <a:endParaRPr lang="zh-CN" altLang="en-US" sz="2400"/>
              </a:p>
            </p:txBody>
          </p:sp>
          <p:sp>
            <p:nvSpPr>
              <p:cNvPr id="29" name="Line 60">
                <a:extLst>
                  <a:ext uri="{FF2B5EF4-FFF2-40B4-BE49-F238E27FC236}">
                    <a16:creationId xmlns:a16="http://schemas.microsoft.com/office/drawing/2014/main" id="{868DF43D-6961-7608-A833-EC8847A3EA49}"/>
                  </a:ext>
                </a:extLst>
              </p:cNvPr>
              <p:cNvSpPr>
                <a:spLocks noChangeShapeType="1"/>
              </p:cNvSpPr>
              <p:nvPr/>
            </p:nvSpPr>
            <p:spPr bwMode="auto">
              <a:xfrm>
                <a:off x="5242" y="2580"/>
                <a:ext cx="1" cy="1215"/>
              </a:xfrm>
              <a:prstGeom prst="line">
                <a:avLst/>
              </a:prstGeom>
              <a:noFill/>
              <a:ln w="25400">
                <a:solidFill>
                  <a:schemeClr val="tx1"/>
                </a:solidFill>
                <a:round/>
                <a:headEnd/>
                <a:tailEnd/>
              </a:ln>
            </p:spPr>
            <p:txBody>
              <a:bodyPr wrap="none" anchor="ctr"/>
              <a:lstStyle/>
              <a:p>
                <a:endParaRPr lang="zh-CN" altLang="en-US" sz="2400"/>
              </a:p>
            </p:txBody>
          </p:sp>
          <p:sp>
            <p:nvSpPr>
              <p:cNvPr id="30" name="AutoShape 61">
                <a:extLst>
                  <a:ext uri="{FF2B5EF4-FFF2-40B4-BE49-F238E27FC236}">
                    <a16:creationId xmlns:a16="http://schemas.microsoft.com/office/drawing/2014/main" id="{132F638D-F0D3-5533-5D17-573F8458F53C}"/>
                  </a:ext>
                </a:extLst>
              </p:cNvPr>
              <p:cNvSpPr>
                <a:spLocks noChangeArrowheads="1"/>
              </p:cNvSpPr>
              <p:nvPr/>
            </p:nvSpPr>
            <p:spPr bwMode="auto">
              <a:xfrm>
                <a:off x="4546" y="2814"/>
                <a:ext cx="280" cy="171"/>
              </a:xfrm>
              <a:prstGeom prst="diamond">
                <a:avLst/>
              </a:prstGeom>
              <a:solidFill>
                <a:srgbClr val="FFCC00"/>
              </a:solidFill>
              <a:ln w="25400">
                <a:solidFill>
                  <a:schemeClr val="tx1"/>
                </a:solidFill>
                <a:miter lim="800000"/>
                <a:headEnd/>
                <a:tailEnd/>
              </a:ln>
            </p:spPr>
            <p:txBody>
              <a:bodyPr wrap="none" anchor="ctr"/>
              <a:lstStyle/>
              <a:p>
                <a:endParaRPr lang="zh-CN" altLang="en-US" sz="2400"/>
              </a:p>
            </p:txBody>
          </p:sp>
          <p:sp>
            <p:nvSpPr>
              <p:cNvPr id="31" name="AutoShape 62">
                <a:extLst>
                  <a:ext uri="{FF2B5EF4-FFF2-40B4-BE49-F238E27FC236}">
                    <a16:creationId xmlns:a16="http://schemas.microsoft.com/office/drawing/2014/main" id="{2F26CADD-69CF-F6E8-3705-CE2CA3B008EA}"/>
                  </a:ext>
                </a:extLst>
              </p:cNvPr>
              <p:cNvSpPr>
                <a:spLocks noChangeArrowheads="1"/>
              </p:cNvSpPr>
              <p:nvPr/>
            </p:nvSpPr>
            <p:spPr bwMode="auto">
              <a:xfrm>
                <a:off x="4546" y="3705"/>
                <a:ext cx="280" cy="171"/>
              </a:xfrm>
              <a:prstGeom prst="diamond">
                <a:avLst/>
              </a:prstGeom>
              <a:solidFill>
                <a:srgbClr val="FFCC00"/>
              </a:solidFill>
              <a:ln w="25400">
                <a:solidFill>
                  <a:schemeClr val="tx1"/>
                </a:solidFill>
                <a:miter lim="800000"/>
                <a:headEnd/>
                <a:tailEnd/>
              </a:ln>
            </p:spPr>
            <p:txBody>
              <a:bodyPr wrap="none" anchor="ctr"/>
              <a:lstStyle/>
              <a:p>
                <a:endParaRPr lang="zh-CN" altLang="en-US" sz="2400"/>
              </a:p>
            </p:txBody>
          </p:sp>
          <p:sp>
            <p:nvSpPr>
              <p:cNvPr id="32" name="Line 63">
                <a:extLst>
                  <a:ext uri="{FF2B5EF4-FFF2-40B4-BE49-F238E27FC236}">
                    <a16:creationId xmlns:a16="http://schemas.microsoft.com/office/drawing/2014/main" id="{C78AE58D-0AE8-8582-7392-06BCA04F3941}"/>
                  </a:ext>
                </a:extLst>
              </p:cNvPr>
              <p:cNvSpPr>
                <a:spLocks noChangeShapeType="1"/>
              </p:cNvSpPr>
              <p:nvPr/>
            </p:nvSpPr>
            <p:spPr bwMode="auto">
              <a:xfrm>
                <a:off x="4690" y="3903"/>
                <a:ext cx="1" cy="225"/>
              </a:xfrm>
              <a:prstGeom prst="line">
                <a:avLst/>
              </a:prstGeom>
              <a:noFill/>
              <a:ln w="25400">
                <a:solidFill>
                  <a:schemeClr val="tx1"/>
                </a:solidFill>
                <a:round/>
                <a:headEnd/>
                <a:tailEnd type="triangle" w="med" len="med"/>
              </a:ln>
            </p:spPr>
            <p:txBody>
              <a:bodyPr wrap="none" anchor="ctr"/>
              <a:lstStyle/>
              <a:p>
                <a:endParaRPr lang="zh-CN" altLang="en-US" sz="2400"/>
              </a:p>
            </p:txBody>
          </p:sp>
        </p:grpSp>
        <p:pic>
          <p:nvPicPr>
            <p:cNvPr id="4" name="Picture 64">
              <a:extLst>
                <a:ext uri="{FF2B5EF4-FFF2-40B4-BE49-F238E27FC236}">
                  <a16:creationId xmlns:a16="http://schemas.microsoft.com/office/drawing/2014/main" id="{1C10E647-379B-E133-84C9-CD6FD7762957}"/>
                </a:ext>
              </a:extLst>
            </p:cNvPr>
            <p:cNvPicPr>
              <a:picLocks noChangeArrowheads="1"/>
            </p:cNvPicPr>
            <p:nvPr/>
          </p:nvPicPr>
          <p:blipFill>
            <a:blip r:embed="rId3" cstate="print"/>
            <a:srcRect/>
            <a:stretch>
              <a:fillRect/>
            </a:stretch>
          </p:blipFill>
          <p:spPr bwMode="auto">
            <a:xfrm>
              <a:off x="3216" y="2109"/>
              <a:ext cx="1226" cy="1536"/>
            </a:xfrm>
            <a:prstGeom prst="rect">
              <a:avLst/>
            </a:prstGeom>
            <a:noFill/>
            <a:ln w="12700">
              <a:noFill/>
              <a:miter lim="800000"/>
              <a:headEnd/>
              <a:tailEnd/>
            </a:ln>
          </p:spPr>
        </p:pic>
      </p:grpSp>
    </p:spTree>
    <p:extLst>
      <p:ext uri="{BB962C8B-B14F-4D97-AF65-F5344CB8AC3E}">
        <p14:creationId xmlns:p14="http://schemas.microsoft.com/office/powerpoint/2010/main" val="2846366194"/>
      </p:ext>
    </p:extLst>
  </p:cSld>
  <p:clrMapOvr>
    <a:masterClrMapping/>
  </p:clrMapOvr>
  <p:transition spd="slow">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17411" name="Rectangle 3"/>
          <p:cNvSpPr>
            <a:spLocks noGrp="1"/>
          </p:cNvSpPr>
          <p:nvPr>
            <p:ph idx="1"/>
          </p:nvPr>
        </p:nvSpPr>
        <p:spPr>
          <a:xfrm>
            <a:off x="2026285" y="1646556"/>
            <a:ext cx="8139430" cy="4021455"/>
          </a:xfrm>
        </p:spPr>
        <p:txBody>
          <a:bodyPr vert="horz" wrap="square" lIns="91440" tIns="45720" rIns="91440" bIns="45720" rtlCol="0" anchor="t" anchorCtr="0">
            <a:normAutofit/>
          </a:bodyPr>
          <a:lstStyle/>
          <a:p>
            <a:pPr algn="just" eaLnBrk="1" hangingPunct="1"/>
            <a:r>
              <a:rPr lang="zh-CN" altLang="en-US" sz="3400" b="1" dirty="0"/>
              <a:t>基本原理</a:t>
            </a:r>
            <a:endParaRPr lang="en-US" altLang="zh-CN" sz="3400" b="1" dirty="0"/>
          </a:p>
          <a:p>
            <a:pPr lvl="1" eaLnBrk="1" hangingPunct="1"/>
            <a:endParaRPr lang="zh-CN" altLang="en-US" dirty="0"/>
          </a:p>
        </p:txBody>
      </p:sp>
      <p:pic>
        <p:nvPicPr>
          <p:cNvPr id="17413" name="Picture 6" descr="5t11"/>
          <p:cNvPicPr>
            <a:picLocks noChangeAspect="1"/>
          </p:cNvPicPr>
          <p:nvPr/>
        </p:nvPicPr>
        <p:blipFill>
          <a:blip r:embed="rId2"/>
          <a:stretch>
            <a:fillRect/>
          </a:stretch>
        </p:blipFill>
        <p:spPr>
          <a:xfrm>
            <a:off x="1919606" y="2924811"/>
            <a:ext cx="8537575" cy="2214563"/>
          </a:xfrm>
          <a:prstGeom prst="rect">
            <a:avLst/>
          </a:prstGeom>
          <a:noFill/>
          <a:ln w="9525">
            <a:noFill/>
          </a:ln>
        </p:spPr>
      </p:pic>
      <p:sp>
        <p:nvSpPr>
          <p:cNvPr id="2" name="日期占位符 1"/>
          <p:cNvSpPr>
            <a:spLocks noGrp="1"/>
          </p:cNvSpPr>
          <p:nvPr>
            <p:ph type="dt" sz="half" idx="10"/>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52</a:t>
            </a:fld>
            <a:endParaRPr lang="en-US" altLang="zh-CN" dirty="0">
              <a:latin typeface="Verdana" panose="020B0604030504040204" pitchFamily="34" charset="0"/>
            </a:endParaRPr>
          </a:p>
        </p:txBody>
      </p:sp>
      <p:sp>
        <p:nvSpPr>
          <p:cNvPr id="4" name="文本框 3"/>
          <p:cNvSpPr txBox="1"/>
          <p:nvPr/>
        </p:nvSpPr>
        <p:spPr>
          <a:xfrm>
            <a:off x="3407411" y="5471160"/>
            <a:ext cx="5208905" cy="398780"/>
          </a:xfrm>
          <a:prstGeom prst="rect">
            <a:avLst/>
          </a:prstGeom>
          <a:noFill/>
        </p:spPr>
        <p:txBody>
          <a:bodyPr wrap="square" rtlCol="0">
            <a:spAutoFit/>
          </a:bodyPr>
          <a:lstStyle/>
          <a:p>
            <a:pPr algn="ctr"/>
            <a:r>
              <a:rPr lang="zh-CN" altLang="en-US" sz="2000" b="1">
                <a:latin typeface="微软雅黑" panose="020B0503020204020204" charset="-122"/>
                <a:ea typeface="微软雅黑" panose="020B0503020204020204" charset="-122"/>
              </a:rPr>
              <a:t>判定条件对程序结构造成的影响</a:t>
            </a:r>
          </a:p>
        </p:txBody>
      </p:sp>
    </p:spTree>
  </p:cSld>
  <p:clrMapOvr>
    <a:masterClrMapping/>
  </p:clrMapOvr>
  <p:transition>
    <p:blinds dir="ver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26285" y="1500506"/>
            <a:ext cx="8139430" cy="4167505"/>
          </a:xfrm>
        </p:spPr>
        <p:txBody>
          <a:bodyPr/>
          <a:lstStyle/>
          <a:p>
            <a:pPr algn="just">
              <a:buClrTx/>
              <a:buSzTx/>
            </a:pPr>
            <a:r>
              <a:rPr sz="3400" b="1"/>
              <a:t>对判定的测试</a:t>
            </a:r>
          </a:p>
          <a:p>
            <a:pPr lvl="1"/>
            <a:r>
              <a:t>通过对程序逻辑结构的遍历来实现程序的测试覆盖。</a:t>
            </a:r>
          </a:p>
          <a:p>
            <a:pPr lvl="1">
              <a:lnSpc>
                <a:spcPct val="170000"/>
              </a:lnSpc>
            </a:pPr>
            <a:r>
              <a:rPr b="1"/>
              <a:t>基本思想：</a:t>
            </a:r>
          </a:p>
          <a:p>
            <a:pPr lvl="2">
              <a:lnSpc>
                <a:spcPct val="140000"/>
              </a:lnSpc>
            </a:pPr>
            <a:r>
              <a:t>对源代码中</a:t>
            </a:r>
            <a:r>
              <a:rPr b="1">
                <a:solidFill>
                  <a:srgbClr val="FF0000"/>
                </a:solidFill>
              </a:rPr>
              <a:t>所有的逻辑值</a:t>
            </a:r>
            <a:r>
              <a:t>均需要测试真值（</a:t>
            </a:r>
            <a:r>
              <a:rPr lang="en-US" altLang="zh-CN"/>
              <a:t>True</a:t>
            </a:r>
            <a:r>
              <a:t>）和假值（</a:t>
            </a:r>
            <a:r>
              <a:rPr lang="en-US" altLang="zh-CN"/>
              <a:t>False</a:t>
            </a:r>
            <a:r>
              <a:t>）的情况。</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53</a:t>
            </a:fld>
            <a:endParaRPr lang="zh-CN" altLang="en-US"/>
          </a:p>
        </p:txBody>
      </p:sp>
      <p:sp>
        <p:nvSpPr>
          <p:cNvPr id="17410" name="Rectangle 2"/>
          <p:cNvSpPr>
            <a:spLocks noGrp="1"/>
          </p:cNvSpPr>
          <p:nvPr>
            <p:ph type="title"/>
            <p:custDataLst>
              <p:tags r:id="rId1"/>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p:cNvSpPr>
          <p:nvPr>
            <p:ph idx="1"/>
          </p:nvPr>
        </p:nvSpPr>
        <p:spPr>
          <a:xfrm>
            <a:off x="2026285" y="1439545"/>
            <a:ext cx="8139430" cy="4732020"/>
          </a:xfrm>
        </p:spPr>
        <p:txBody>
          <a:bodyPr vert="horz" wrap="square" lIns="91440" tIns="45720" rIns="91440" bIns="45720" rtlCol="0" anchor="t" anchorCtr="0">
            <a:normAutofit fontScale="92500"/>
          </a:bodyPr>
          <a:lstStyle/>
          <a:p>
            <a:pPr algn="just" eaLnBrk="1" hangingPunct="1"/>
            <a:r>
              <a:rPr sz="3400" b="1" dirty="0"/>
              <a:t>覆盖指标</a:t>
            </a:r>
            <a:endParaRPr lang="en-US" altLang="zh-CN" sz="3400" b="1" dirty="0"/>
          </a:p>
          <a:p>
            <a:pPr lvl="1" algn="just" eaLnBrk="1" hangingPunct="1">
              <a:lnSpc>
                <a:spcPct val="150000"/>
              </a:lnSpc>
              <a:buClrTx/>
              <a:buSzTx/>
            </a:pPr>
            <a:r>
              <a:rPr lang="zh-CN" altLang="en-US" dirty="0"/>
              <a:t>语句覆盖（</a:t>
            </a:r>
            <a:r>
              <a:rPr lang="en-US" altLang="zh-CN" dirty="0"/>
              <a:t>Statement Coverage</a:t>
            </a:r>
            <a:r>
              <a:rPr dirty="0"/>
              <a:t>，</a:t>
            </a:r>
            <a:r>
              <a:rPr lang="en-US" altLang="zh-CN" dirty="0"/>
              <a:t>SC</a:t>
            </a:r>
            <a:r>
              <a:rPr dirty="0"/>
              <a:t>）</a:t>
            </a:r>
          </a:p>
          <a:p>
            <a:pPr lvl="1" algn="just" eaLnBrk="1" hangingPunct="1">
              <a:lnSpc>
                <a:spcPct val="150000"/>
              </a:lnSpc>
            </a:pPr>
            <a:r>
              <a:rPr lang="zh-CN" altLang="en-US" dirty="0"/>
              <a:t>判定覆盖（</a:t>
            </a:r>
            <a:r>
              <a:rPr lang="en-US" altLang="zh-CN" dirty="0"/>
              <a:t>Decision Coverage</a:t>
            </a:r>
            <a:r>
              <a:rPr dirty="0"/>
              <a:t>，</a:t>
            </a:r>
            <a:r>
              <a:rPr lang="en-US" altLang="zh-CN" dirty="0"/>
              <a:t>DC</a:t>
            </a:r>
            <a:r>
              <a:rPr dirty="0"/>
              <a:t>，分支覆盖</a:t>
            </a:r>
            <a:r>
              <a:rPr>
                <a:sym typeface="+mn-ea"/>
              </a:rPr>
              <a:t>）</a:t>
            </a:r>
            <a:endParaRPr lang="en-US" altLang="zh-CN" dirty="0"/>
          </a:p>
          <a:p>
            <a:pPr lvl="1" algn="just" eaLnBrk="1" hangingPunct="1">
              <a:lnSpc>
                <a:spcPct val="150000"/>
              </a:lnSpc>
            </a:pPr>
            <a:r>
              <a:rPr lang="zh-CN" altLang="en-US" dirty="0"/>
              <a:t>条件覆盖（</a:t>
            </a:r>
            <a:r>
              <a:rPr lang="en-US" altLang="zh-CN" dirty="0"/>
              <a:t>Condition Coverage</a:t>
            </a:r>
            <a:r>
              <a:rPr dirty="0"/>
              <a:t>，</a:t>
            </a:r>
            <a:r>
              <a:rPr lang="en-US" altLang="zh-CN" dirty="0"/>
              <a:t>CC</a:t>
            </a:r>
            <a:r>
              <a:rPr dirty="0"/>
              <a:t>）</a:t>
            </a:r>
            <a:endParaRPr lang="en-US" altLang="zh-CN" dirty="0"/>
          </a:p>
          <a:p>
            <a:pPr lvl="1" algn="just" eaLnBrk="1" hangingPunct="1">
              <a:lnSpc>
                <a:spcPct val="150000"/>
              </a:lnSpc>
            </a:pPr>
            <a:r>
              <a:rPr lang="zh-CN" altLang="en-US" dirty="0"/>
              <a:t>判定</a:t>
            </a:r>
            <a:r>
              <a:rPr lang="en-US" altLang="zh-CN" dirty="0"/>
              <a:t>/</a:t>
            </a:r>
            <a:r>
              <a:rPr lang="zh-CN" altLang="en-US" dirty="0"/>
              <a:t>条件覆盖（</a:t>
            </a:r>
            <a:r>
              <a:rPr lang="en-US" altLang="zh-CN" dirty="0"/>
              <a:t>Decision/Condition Coverage</a:t>
            </a:r>
            <a:r>
              <a:rPr dirty="0"/>
              <a:t>，</a:t>
            </a:r>
            <a:r>
              <a:rPr lang="en-US" altLang="zh-CN" dirty="0"/>
              <a:t>D/CC</a:t>
            </a:r>
            <a:r>
              <a:rPr dirty="0"/>
              <a:t>）</a:t>
            </a:r>
            <a:endParaRPr lang="en-US" altLang="zh-CN" dirty="0"/>
          </a:p>
          <a:p>
            <a:pPr lvl="1" algn="just" eaLnBrk="1" hangingPunct="1">
              <a:lnSpc>
                <a:spcPct val="150000"/>
              </a:lnSpc>
            </a:pPr>
            <a:r>
              <a:rPr lang="zh-CN" altLang="en-US" dirty="0"/>
              <a:t>条件组合覆盖（</a:t>
            </a:r>
            <a:r>
              <a:rPr lang="en-US" altLang="zh-CN" dirty="0"/>
              <a:t>Condition Combination  Coverage</a:t>
            </a:r>
            <a:r>
              <a:rPr dirty="0"/>
              <a:t>，</a:t>
            </a:r>
            <a:r>
              <a:rPr lang="en-US" altLang="zh-CN" dirty="0"/>
              <a:t>CCC</a:t>
            </a:r>
            <a:r>
              <a:rPr dirty="0"/>
              <a:t>）</a:t>
            </a:r>
            <a:endParaRPr lang="en-US" altLang="zh-CN" dirty="0"/>
          </a:p>
          <a:p>
            <a:pPr lvl="1" algn="just" eaLnBrk="1" hangingPunct="1">
              <a:lnSpc>
                <a:spcPct val="150000"/>
              </a:lnSpc>
            </a:pPr>
            <a:r>
              <a:rPr lang="zh-CN" altLang="en-US" dirty="0"/>
              <a:t>修正的判定</a:t>
            </a:r>
            <a:r>
              <a:rPr lang="en-US" altLang="zh-CN" dirty="0"/>
              <a:t>/</a:t>
            </a:r>
            <a:r>
              <a:rPr lang="zh-CN" altLang="en-US" dirty="0"/>
              <a:t>条件覆盖（</a:t>
            </a:r>
            <a:r>
              <a:rPr lang="en-US" altLang="zh-CN" dirty="0"/>
              <a:t>Modified Decision/Condition Coverage</a:t>
            </a:r>
            <a:r>
              <a:rPr dirty="0"/>
              <a:t>，</a:t>
            </a:r>
            <a:r>
              <a:rPr lang="en-US" altLang="zh-CN" dirty="0"/>
              <a:t>MD/CC</a:t>
            </a:r>
            <a:r>
              <a:rPr dirty="0"/>
              <a:t>）</a:t>
            </a:r>
          </a:p>
        </p:txBody>
      </p:sp>
      <p:sp>
        <p:nvSpPr>
          <p:cNvPr id="2" name="日期占位符 1"/>
          <p:cNvSpPr>
            <a:spLocks noGrp="1"/>
          </p:cNvSpPr>
          <p:nvPr>
            <p:ph type="dt" sz="half" idx="10"/>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54</a:t>
            </a:fld>
            <a:endParaRPr lang="en-US" altLang="zh-CN" dirty="0">
              <a:latin typeface="Verdana" panose="020B0604030504040204" pitchFamily="34" charset="0"/>
            </a:endParaRPr>
          </a:p>
        </p:txBody>
      </p:sp>
      <p:sp>
        <p:nvSpPr>
          <p:cNvPr id="17410" name="Rectangle 2"/>
          <p:cNvSpPr>
            <a:spLocks noGrp="1"/>
          </p:cNvSpPr>
          <p:nvPr>
            <p:ph type="title"/>
            <p:custDataLst>
              <p:tags r:id="rId1"/>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26285" y="1390650"/>
            <a:ext cx="8139430" cy="4277360"/>
          </a:xfrm>
        </p:spPr>
        <p:txBody>
          <a:bodyPr/>
          <a:lstStyle/>
          <a:p>
            <a:pPr algn="just">
              <a:buClrTx/>
              <a:buSzTx/>
            </a:pPr>
            <a:r>
              <a:rPr lang="zh-CN" altLang="en-US" sz="3400" b="1"/>
              <a:t>难点问题</a:t>
            </a:r>
          </a:p>
          <a:p>
            <a:pPr lvl="1">
              <a:lnSpc>
                <a:spcPct val="150000"/>
              </a:lnSpc>
            </a:pPr>
            <a:r>
              <a:rPr lang="zh-CN" altLang="en-US"/>
              <a:t>面对一段被测程序代码，如何选择合适的判定测试覆盖指标。</a:t>
            </a:r>
          </a:p>
          <a:p>
            <a:pPr lvl="1">
              <a:lnSpc>
                <a:spcPct val="150000"/>
              </a:lnSpc>
            </a:pPr>
            <a:r>
              <a:rPr lang="zh-CN" altLang="en-US"/>
              <a:t>针对选定的覆盖指标，如何有效的控制测试用例的规模，提供测试用例的典型性，最大限度的减少测试漏洞。</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55</a:t>
            </a:fld>
            <a:endParaRPr lang="zh-CN" altLang="en-US"/>
          </a:p>
        </p:txBody>
      </p:sp>
      <p:sp>
        <p:nvSpPr>
          <p:cNvPr id="17410" name="Rectangle 2"/>
          <p:cNvSpPr>
            <a:spLocks noGrp="1"/>
          </p:cNvSpPr>
          <p:nvPr>
            <p:ph type="title"/>
            <p:custDataLst>
              <p:tags r:id="rId1"/>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p:cNvSpPr>
          <p:nvPr>
            <p:ph idx="1"/>
          </p:nvPr>
        </p:nvSpPr>
        <p:spPr>
          <a:xfrm>
            <a:off x="2026285" y="1460500"/>
            <a:ext cx="8139430" cy="4207510"/>
          </a:xfrm>
        </p:spPr>
        <p:txBody>
          <a:bodyPr vert="horz" wrap="square" lIns="91440" tIns="45720" rIns="91440" bIns="45720" rtlCol="0" anchor="t" anchorCtr="0">
            <a:normAutofit/>
          </a:bodyPr>
          <a:lstStyle/>
          <a:p>
            <a:pPr algn="just" eaLnBrk="1" hangingPunct="1"/>
            <a:r>
              <a:rPr lang="zh-CN" altLang="en-US" sz="3400" b="1" dirty="0"/>
              <a:t>案例描述</a:t>
            </a:r>
          </a:p>
        </p:txBody>
      </p:sp>
      <p:pic>
        <p:nvPicPr>
          <p:cNvPr id="18437" name="Picture 7"/>
          <p:cNvPicPr>
            <a:picLocks noChangeAspect="1"/>
          </p:cNvPicPr>
          <p:nvPr/>
        </p:nvPicPr>
        <p:blipFill>
          <a:blip r:embed="rId4"/>
          <a:stretch>
            <a:fillRect/>
          </a:stretch>
        </p:blipFill>
        <p:spPr>
          <a:xfrm>
            <a:off x="1686560" y="2276476"/>
            <a:ext cx="6000750" cy="3000375"/>
          </a:xfrm>
          <a:prstGeom prst="rect">
            <a:avLst/>
          </a:prstGeom>
          <a:noFill/>
          <a:ln w="9525">
            <a:noFill/>
          </a:ln>
        </p:spPr>
      </p:pic>
      <p:pic>
        <p:nvPicPr>
          <p:cNvPr id="43014" name="Picture 6" descr="5t12"/>
          <p:cNvPicPr>
            <a:picLocks noChangeAspect="1"/>
          </p:cNvPicPr>
          <p:nvPr/>
        </p:nvPicPr>
        <p:blipFill>
          <a:blip r:embed="rId5"/>
          <a:stretch>
            <a:fillRect/>
          </a:stretch>
        </p:blipFill>
        <p:spPr>
          <a:xfrm>
            <a:off x="6743701" y="598489"/>
            <a:ext cx="3857625" cy="5678487"/>
          </a:xfrm>
          <a:prstGeom prst="rect">
            <a:avLst/>
          </a:prstGeom>
          <a:noFill/>
          <a:ln w="9525">
            <a:noFill/>
          </a:ln>
        </p:spPr>
      </p:pic>
      <p:sp>
        <p:nvSpPr>
          <p:cNvPr id="2" name="日期占位符 1"/>
          <p:cNvSpPr>
            <a:spLocks noGrp="1"/>
          </p:cNvSpPr>
          <p:nvPr>
            <p:ph type="dt" sz="half" idx="10"/>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56</a:t>
            </a:fld>
            <a:endParaRPr lang="en-US" altLang="zh-CN" dirty="0">
              <a:latin typeface="Verdana" panose="020B0604030504040204" pitchFamily="34" charset="0"/>
            </a:endParaRPr>
          </a:p>
        </p:txBody>
      </p:sp>
      <p:sp>
        <p:nvSpPr>
          <p:cNvPr id="17410" name="Rectangle 2"/>
          <p:cNvSpPr>
            <a:spLocks noGrp="1"/>
          </p:cNvSpPr>
          <p:nvPr>
            <p:ph type="title"/>
            <p:custDataLst>
              <p:tags r:id="rId1"/>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5" name="文本框 4"/>
          <p:cNvSpPr txBox="1"/>
          <p:nvPr/>
        </p:nvSpPr>
        <p:spPr>
          <a:xfrm>
            <a:off x="3898265" y="5304790"/>
            <a:ext cx="1395730" cy="132207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000" b="1"/>
              <a:t>T1: a&gt;1</a:t>
            </a:r>
          </a:p>
          <a:p>
            <a:r>
              <a:rPr lang="en-US" altLang="zh-CN" sz="2000" b="1"/>
              <a:t>T2: b&lt;2</a:t>
            </a:r>
          </a:p>
          <a:p>
            <a:r>
              <a:rPr lang="en-US" altLang="zh-CN" sz="2000" b="1"/>
              <a:t>T3: a==3</a:t>
            </a:r>
          </a:p>
          <a:p>
            <a:r>
              <a:rPr lang="en-US" altLang="zh-CN" sz="2000" b="1"/>
              <a:t>T4: x&gt;3</a:t>
            </a:r>
          </a:p>
        </p:txBody>
      </p:sp>
      <p:sp>
        <p:nvSpPr>
          <p:cNvPr id="6" name="文本框 5"/>
          <p:cNvSpPr txBox="1"/>
          <p:nvPr/>
        </p:nvSpPr>
        <p:spPr>
          <a:xfrm>
            <a:off x="5564505" y="5304790"/>
            <a:ext cx="1658620" cy="132207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altLang="zh-CN" sz="2000" b="1"/>
              <a:t>L13: p1+p3</a:t>
            </a:r>
          </a:p>
          <a:p>
            <a:r>
              <a:rPr lang="en-US" altLang="zh-CN" sz="2000" b="1"/>
              <a:t>L14: p1+p4</a:t>
            </a:r>
          </a:p>
          <a:p>
            <a:r>
              <a:rPr lang="en-US" altLang="zh-CN" sz="2000" b="1"/>
              <a:t>L23: p2+p3</a:t>
            </a:r>
          </a:p>
          <a:p>
            <a:r>
              <a:rPr lang="en-US" altLang="zh-CN" sz="2000" b="1"/>
              <a:t>L24: p2+p4</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 calcmode="lin" valueType="num">
                                      <p:cBhvr additive="base">
                                        <p:cTn id="7" dur="500" fill="hold"/>
                                        <p:tgtEl>
                                          <p:spTgt spid="43014"/>
                                        </p:tgtEl>
                                        <p:attrNameLst>
                                          <p:attrName>ppt_x</p:attrName>
                                        </p:attrNameLst>
                                      </p:cBhvr>
                                      <p:tavLst>
                                        <p:tav tm="0">
                                          <p:val>
                                            <p:strVal val="#ppt_x"/>
                                          </p:val>
                                        </p:tav>
                                        <p:tav tm="100000">
                                          <p:val>
                                            <p:strVal val="#ppt_x"/>
                                          </p:val>
                                        </p:tav>
                                      </p:tavLst>
                                    </p:anim>
                                    <p:anim calcmode="lin" valueType="num">
                                      <p:cBhvr additive="base">
                                        <p:cTn id="8"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6" grpId="0" animBg="1"/>
      <p:bldP spid="6"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p:cNvSpPr>
          <p:nvPr>
            <p:ph idx="1"/>
          </p:nvPr>
        </p:nvSpPr>
        <p:spPr>
          <a:xfrm>
            <a:off x="2026285" y="1411606"/>
            <a:ext cx="8139430" cy="4256405"/>
          </a:xfrm>
        </p:spPr>
        <p:txBody>
          <a:bodyPr vert="horz" wrap="square" lIns="91440" tIns="45720" rIns="91440" bIns="45720" rtlCol="0" anchor="t" anchorCtr="0">
            <a:normAutofit/>
          </a:bodyPr>
          <a:lstStyle/>
          <a:p>
            <a:pPr algn="just" eaLnBrk="1" hangingPunct="1">
              <a:lnSpc>
                <a:spcPct val="140000"/>
              </a:lnSpc>
            </a:pPr>
            <a:r>
              <a:rPr lang="zh-CN" altLang="en-US" sz="3400" b="1" dirty="0"/>
              <a:t>语句覆盖</a:t>
            </a:r>
            <a:endParaRPr lang="en-US" altLang="zh-CN" sz="3400" b="1" dirty="0"/>
          </a:p>
          <a:p>
            <a:pPr lvl="1" algn="just" eaLnBrk="1" hangingPunct="1">
              <a:lnSpc>
                <a:spcPct val="160000"/>
              </a:lnSpc>
            </a:pPr>
            <a:r>
              <a:rPr lang="zh-CN" altLang="en-US" b="1" dirty="0"/>
              <a:t>基本思想：</a:t>
            </a:r>
            <a:r>
              <a:rPr lang="zh-CN" altLang="en-US" dirty="0"/>
              <a:t>设计测试用例时应保证程序的每一条</a:t>
            </a:r>
            <a:r>
              <a:rPr lang="zh-CN" altLang="en-US" b="1" dirty="0">
                <a:solidFill>
                  <a:srgbClr val="FF0000"/>
                </a:solidFill>
              </a:rPr>
              <a:t>可执行语句</a:t>
            </a:r>
            <a:r>
              <a:rPr lang="zh-CN" altLang="en-US" dirty="0"/>
              <a:t>至少执行一次。</a:t>
            </a:r>
            <a:r>
              <a:rPr lang="zh-CN" altLang="en-US" b="1" dirty="0">
                <a:solidFill>
                  <a:srgbClr val="FF0000"/>
                </a:solidFill>
              </a:rPr>
              <a:t>（执行一个分支即可满足）</a:t>
            </a:r>
            <a:endParaRPr lang="zh-CN" altLang="en-US" dirty="0"/>
          </a:p>
          <a:p>
            <a:pPr lvl="1" algn="just" eaLnBrk="1" hangingPunct="1">
              <a:lnSpc>
                <a:spcPct val="160000"/>
              </a:lnSpc>
            </a:pPr>
            <a:r>
              <a:rPr lang="zh-CN" altLang="en-US" dirty="0"/>
              <a:t>语句覆盖等同于对图中所有节点的覆盖。</a:t>
            </a:r>
          </a:p>
        </p:txBody>
      </p:sp>
      <p:sp>
        <p:nvSpPr>
          <p:cNvPr id="2" name="日期占位符 1"/>
          <p:cNvSpPr>
            <a:spLocks noGrp="1"/>
          </p:cNvSpPr>
          <p:nvPr>
            <p:ph type="dt" sz="half" idx="10"/>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57</a:t>
            </a:fld>
            <a:endParaRPr lang="en-US" altLang="zh-CN" dirty="0">
              <a:latin typeface="Verdana" panose="020B0604030504040204" pitchFamily="34" charset="0"/>
            </a:endParaRPr>
          </a:p>
        </p:txBody>
      </p:sp>
      <p:sp>
        <p:nvSpPr>
          <p:cNvPr id="17410" name="Rectangle 2"/>
          <p:cNvSpPr>
            <a:spLocks noGrp="1"/>
          </p:cNvSpPr>
          <p:nvPr>
            <p:ph type="title"/>
            <p:custDataLst>
              <p:tags r:id="rId1"/>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p:cNvSpPr>
          <p:nvPr>
            <p:ph idx="1"/>
          </p:nvPr>
        </p:nvSpPr>
        <p:spPr>
          <a:xfrm>
            <a:off x="2026285" y="1481456"/>
            <a:ext cx="8139430" cy="4186555"/>
          </a:xfrm>
        </p:spPr>
        <p:txBody>
          <a:bodyPr vert="horz" wrap="square" lIns="91440" tIns="45720" rIns="91440" bIns="45720" rtlCol="0" anchor="t" anchorCtr="0">
            <a:normAutofit/>
          </a:bodyPr>
          <a:lstStyle/>
          <a:p>
            <a:pPr algn="just" eaLnBrk="1" hangingPunct="1"/>
            <a:r>
              <a:rPr lang="zh-CN" altLang="en-US" sz="3400" b="1" dirty="0"/>
              <a:t>语句覆盖</a:t>
            </a:r>
            <a:endParaRPr lang="zh-CN" altLang="en-US" b="1" dirty="0"/>
          </a:p>
        </p:txBody>
      </p:sp>
      <p:pic>
        <p:nvPicPr>
          <p:cNvPr id="21509" name="Picture 2"/>
          <p:cNvPicPr>
            <a:picLocks noChangeAspect="1"/>
          </p:cNvPicPr>
          <p:nvPr/>
        </p:nvPicPr>
        <p:blipFill>
          <a:blip r:embed="rId5"/>
          <a:stretch>
            <a:fillRect/>
          </a:stretch>
        </p:blipFill>
        <p:spPr>
          <a:xfrm>
            <a:off x="1631315" y="2708911"/>
            <a:ext cx="8778240" cy="1382395"/>
          </a:xfrm>
          <a:prstGeom prst="rect">
            <a:avLst/>
          </a:prstGeom>
          <a:noFill/>
          <a:ln w="9525">
            <a:noFill/>
          </a:ln>
        </p:spPr>
      </p:pic>
      <p:pic>
        <p:nvPicPr>
          <p:cNvPr id="43014" name="Picture 6" descr="5t12"/>
          <p:cNvPicPr>
            <a:picLocks noChangeAspect="1"/>
          </p:cNvPicPr>
          <p:nvPr/>
        </p:nvPicPr>
        <p:blipFill>
          <a:blip r:embed="rId6"/>
          <a:stretch>
            <a:fillRect/>
          </a:stretch>
        </p:blipFill>
        <p:spPr>
          <a:xfrm>
            <a:off x="7607935" y="116841"/>
            <a:ext cx="2990850" cy="4402455"/>
          </a:xfrm>
          <a:prstGeom prst="rect">
            <a:avLst/>
          </a:prstGeom>
          <a:noFill/>
          <a:ln w="9525">
            <a:noFill/>
          </a:ln>
        </p:spPr>
      </p:pic>
      <p:graphicFrame>
        <p:nvGraphicFramePr>
          <p:cNvPr id="4" name="表格 3"/>
          <p:cNvGraphicFramePr/>
          <p:nvPr>
            <p:custDataLst>
              <p:tags r:id="rId1"/>
            </p:custDataLst>
          </p:nvPr>
        </p:nvGraphicFramePr>
        <p:xfrm>
          <a:off x="2099628" y="4658360"/>
          <a:ext cx="8001000" cy="146304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365760">
                <a:tc>
                  <a:txBody>
                    <a:bodyPr/>
                    <a:lstStyle/>
                    <a:p>
                      <a:pPr algn="ctr">
                        <a:buNone/>
                      </a:pPr>
                      <a:endParaRPr lang="en-US" altLang="zh-CN" sz="1800"/>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t>
                      </a:r>
                    </a:p>
                  </a:txBody>
                  <a:tcPr anchor="ctr">
                    <a:solidFill>
                      <a:schemeClr val="accent4"/>
                    </a:solidFill>
                  </a:tcPr>
                </a:tc>
                <a:extLst>
                  <a:ext uri="{0D108BD9-81ED-4DB2-BD59-A6C34878D82A}">
                    <a16:rowId xmlns:a16="http://schemas.microsoft.com/office/drawing/2014/main" val="10000"/>
                  </a:ext>
                </a:extLst>
              </a:tr>
              <a:tr h="365760">
                <a:tc>
                  <a:txBody>
                    <a:bodyPr/>
                    <a:lstStyle/>
                    <a:p>
                      <a:pPr algn="ctr">
                        <a:buNone/>
                      </a:pPr>
                      <a:r>
                        <a:rPr lang="en-US" altLang="zh-CN" sz="1800"/>
                        <a:t>LC-001</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1"/>
                  </a:ext>
                </a:extLst>
              </a:tr>
              <a:tr h="365760">
                <a:tc>
                  <a:txBody>
                    <a:bodyPr/>
                    <a:lstStyle/>
                    <a:p>
                      <a:pPr algn="ctr">
                        <a:buNone/>
                      </a:pPr>
                      <a:r>
                        <a:rPr lang="en-US" altLang="zh-CN" sz="1800"/>
                        <a:t>LC-002</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extLst>
                  <a:ext uri="{0D108BD9-81ED-4DB2-BD59-A6C34878D82A}">
                    <a16:rowId xmlns:a16="http://schemas.microsoft.com/office/drawing/2014/main" val="10002"/>
                  </a:ext>
                </a:extLst>
              </a:tr>
              <a:tr h="365760">
                <a:tc>
                  <a:txBody>
                    <a:bodyPr/>
                    <a:lstStyle/>
                    <a:p>
                      <a:pPr algn="ctr">
                        <a:buNone/>
                      </a:pPr>
                      <a:r>
                        <a:rPr lang="en-US" altLang="zh-CN" sz="1800"/>
                        <a:t>LC-003</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3"/>
                  </a:ext>
                </a:extLst>
              </a:tr>
            </a:tbl>
          </a:graphicData>
        </a:graphic>
      </p:graphicFrame>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58</a:t>
            </a:fld>
            <a:endParaRPr lang="en-US" altLang="zh-CN" dirty="0">
              <a:latin typeface="Verdana" panose="020B0604030504040204" pitchFamily="34" charset="0"/>
            </a:endParaRPr>
          </a:p>
        </p:txBody>
      </p:sp>
      <p:sp>
        <p:nvSpPr>
          <p:cNvPr id="5" name="日期占位符 4"/>
          <p:cNvSpPr>
            <a:spLocks noGrp="1"/>
          </p:cNvSpPr>
          <p:nvPr>
            <p:ph type="dt" sz="half" idx="10"/>
            <p:custDataLst>
              <p:tags r:id="rId2"/>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3"/>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7" name="椭圆 6"/>
          <p:cNvSpPr/>
          <p:nvPr/>
        </p:nvSpPr>
        <p:spPr>
          <a:xfrm>
            <a:off x="5520055" y="4580891"/>
            <a:ext cx="1151890" cy="158432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8949055" y="4590416"/>
            <a:ext cx="1151890" cy="158432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dissolve">
                                      <p:cBhvr>
                                        <p:cTn id="7" dur="500"/>
                                        <p:tgtEl>
                                          <p:spTgt spid="2150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014"/>
                                        </p:tgtEl>
                                        <p:attrNameLst>
                                          <p:attrName>style.visibility</p:attrName>
                                        </p:attrNameLst>
                                      </p:cBhvr>
                                      <p:to>
                                        <p:strVal val="visible"/>
                                      </p:to>
                                    </p:set>
                                    <p:animEffect transition="in" filter="dissolve">
                                      <p:cBhvr>
                                        <p:cTn id="12" dur="500"/>
                                        <p:tgtEl>
                                          <p:spTgt spid="430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p:cNvSpPr>
          <p:nvPr>
            <p:ph idx="1"/>
          </p:nvPr>
        </p:nvSpPr>
        <p:spPr>
          <a:xfrm>
            <a:off x="2026285" y="1388110"/>
            <a:ext cx="8139430" cy="4279900"/>
          </a:xfrm>
        </p:spPr>
        <p:txBody>
          <a:bodyPr vert="horz" wrap="square" lIns="91440" tIns="45720" rIns="91440" bIns="45720" rtlCol="0" anchor="t" anchorCtr="0">
            <a:normAutofit/>
          </a:bodyPr>
          <a:lstStyle/>
          <a:p>
            <a:pPr algn="just" eaLnBrk="1" hangingPunct="1">
              <a:lnSpc>
                <a:spcPct val="120000"/>
              </a:lnSpc>
            </a:pPr>
            <a:r>
              <a:rPr lang="zh-CN" altLang="en-US" sz="3400" b="1" dirty="0"/>
              <a:t>语句覆盖（最弱）</a:t>
            </a:r>
            <a:endParaRPr lang="en-US" altLang="zh-CN" sz="3400" b="1" dirty="0"/>
          </a:p>
          <a:p>
            <a:pPr algn="just" eaLnBrk="1" hangingPunct="1">
              <a:lnSpc>
                <a:spcPct val="170000"/>
              </a:lnSpc>
            </a:pPr>
            <a:r>
              <a:rPr lang="zh-CN" altLang="en-US" sz="3400" b="1" dirty="0"/>
              <a:t>局限性</a:t>
            </a:r>
            <a:endParaRPr lang="en-US" altLang="zh-CN" sz="3400" b="1" dirty="0"/>
          </a:p>
          <a:p>
            <a:pPr lvl="1" algn="just" eaLnBrk="1" hangingPunct="1"/>
            <a:r>
              <a:rPr lang="zh-CN" altLang="en-US" dirty="0"/>
              <a:t>关注语句而非判定表达式</a:t>
            </a:r>
            <a:endParaRPr lang="en-US" altLang="zh-CN" dirty="0"/>
          </a:p>
          <a:p>
            <a:pPr lvl="1" algn="just" eaLnBrk="1" hangingPunct="1"/>
            <a:r>
              <a:rPr lang="zh-CN" altLang="en-US" dirty="0"/>
              <a:t>对隐式分支无效</a:t>
            </a:r>
            <a:r>
              <a:rPr lang="en-US" altLang="zh-CN" dirty="0"/>
              <a:t>  P120</a:t>
            </a:r>
          </a:p>
        </p:txBody>
      </p:sp>
      <p:pic>
        <p:nvPicPr>
          <p:cNvPr id="43014" name="Picture 6" descr="5t12"/>
          <p:cNvPicPr>
            <a:picLocks noChangeAspect="1"/>
          </p:cNvPicPr>
          <p:nvPr/>
        </p:nvPicPr>
        <p:blipFill>
          <a:blip r:embed="rId5"/>
          <a:stretch>
            <a:fillRect/>
          </a:stretch>
        </p:blipFill>
        <p:spPr>
          <a:xfrm>
            <a:off x="7416165" y="116841"/>
            <a:ext cx="2990850" cy="4402455"/>
          </a:xfrm>
          <a:prstGeom prst="rect">
            <a:avLst/>
          </a:prstGeom>
          <a:noFill/>
          <a:ln w="9525">
            <a:noFill/>
          </a:ln>
        </p:spPr>
      </p:pic>
      <p:graphicFrame>
        <p:nvGraphicFramePr>
          <p:cNvPr id="4" name="表格 3"/>
          <p:cNvGraphicFramePr/>
          <p:nvPr>
            <p:custDataLst>
              <p:tags r:id="rId1"/>
            </p:custDataLst>
          </p:nvPr>
        </p:nvGraphicFramePr>
        <p:xfrm>
          <a:off x="2069783" y="4636135"/>
          <a:ext cx="8001000" cy="151892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379730">
                <a:tc>
                  <a:txBody>
                    <a:bodyPr/>
                    <a:lstStyle/>
                    <a:p>
                      <a:pPr algn="ctr">
                        <a:buNone/>
                      </a:pPr>
                      <a:endParaRPr lang="en-US" altLang="zh-CN" sz="1800"/>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||→&amp;&amp;</a:t>
                      </a:r>
                    </a:p>
                  </a:txBody>
                  <a:tcPr anchor="ctr">
                    <a:solidFill>
                      <a:schemeClr val="accent4"/>
                    </a:solidFill>
                  </a:tcPr>
                </a:tc>
                <a:extLst>
                  <a:ext uri="{0D108BD9-81ED-4DB2-BD59-A6C34878D82A}">
                    <a16:rowId xmlns:a16="http://schemas.microsoft.com/office/drawing/2014/main" val="10000"/>
                  </a:ext>
                </a:extLst>
              </a:tr>
              <a:tr h="379730">
                <a:tc>
                  <a:txBody>
                    <a:bodyPr/>
                    <a:lstStyle/>
                    <a:p>
                      <a:pPr algn="ctr">
                        <a:buNone/>
                      </a:pPr>
                      <a:r>
                        <a:rPr lang="en-US" altLang="zh-CN" sz="1800"/>
                        <a:t>LC-001</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1"/>
                  </a:ext>
                </a:extLst>
              </a:tr>
              <a:tr h="379730">
                <a:tc>
                  <a:txBody>
                    <a:bodyPr/>
                    <a:lstStyle/>
                    <a:p>
                      <a:pPr algn="ctr">
                        <a:buNone/>
                      </a:pPr>
                      <a:r>
                        <a:rPr lang="en-US" altLang="zh-CN" sz="1800"/>
                        <a:t>LC-002</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extLst>
                  <a:ext uri="{0D108BD9-81ED-4DB2-BD59-A6C34878D82A}">
                    <a16:rowId xmlns:a16="http://schemas.microsoft.com/office/drawing/2014/main" val="10002"/>
                  </a:ext>
                </a:extLst>
              </a:tr>
              <a:tr h="379730">
                <a:tc>
                  <a:txBody>
                    <a:bodyPr/>
                    <a:lstStyle/>
                    <a:p>
                      <a:pPr algn="ctr">
                        <a:buNone/>
                      </a:pPr>
                      <a:r>
                        <a:rPr lang="en-US" altLang="zh-CN" sz="1800">
                          <a:solidFill>
                            <a:srgbClr val="FF0000"/>
                          </a:solidFill>
                        </a:rPr>
                        <a:t>LC-003</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tc>
                  <a:txBody>
                    <a:bodyPr/>
                    <a:lstStyle/>
                    <a:p>
                      <a:pPr algn="ctr">
                        <a:buNone/>
                      </a:pPr>
                      <a:r>
                        <a:rPr lang="en-US" altLang="zh-CN" sz="1800">
                          <a:solidFill>
                            <a:srgbClr val="FF0000"/>
                          </a:solidFill>
                        </a:rPr>
                        <a:t>T</a:t>
                      </a:r>
                    </a:p>
                  </a:txBody>
                  <a:tcPr anchor="ctr">
                    <a:solidFill>
                      <a:srgbClr val="F8DD4E"/>
                    </a:solidFill>
                  </a:tcPr>
                </a:tc>
                <a:extLst>
                  <a:ext uri="{0D108BD9-81ED-4DB2-BD59-A6C34878D82A}">
                    <a16:rowId xmlns:a16="http://schemas.microsoft.com/office/drawing/2014/main" val="10003"/>
                  </a:ext>
                </a:extLst>
              </a:tr>
            </a:tbl>
          </a:graphicData>
        </a:graphic>
      </p:graphicFrame>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59</a:t>
            </a:fld>
            <a:endParaRPr lang="en-US" altLang="zh-CN" dirty="0">
              <a:latin typeface="Verdana" panose="020B0604030504040204" pitchFamily="34" charset="0"/>
            </a:endParaRPr>
          </a:p>
        </p:txBody>
      </p:sp>
      <p:sp>
        <p:nvSpPr>
          <p:cNvPr id="5" name="日期占位符 4"/>
          <p:cNvSpPr>
            <a:spLocks noGrp="1"/>
          </p:cNvSpPr>
          <p:nvPr>
            <p:ph type="dt" sz="half" idx="10"/>
            <p:custDataLst>
              <p:tags r:id="rId2"/>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3"/>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7" name="文本框 6"/>
          <p:cNvSpPr txBox="1"/>
          <p:nvPr/>
        </p:nvSpPr>
        <p:spPr>
          <a:xfrm>
            <a:off x="4583430" y="2132965"/>
            <a:ext cx="2725420" cy="10147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zh-CN" altLang="en-US" sz="2000" b="1"/>
              <a:t>错写成</a:t>
            </a:r>
            <a:r>
              <a:rPr lang="en-US" altLang="zh-CN" sz="2000" b="1"/>
              <a:t>(a&gt;1)||(b&lt;2)</a:t>
            </a:r>
            <a:r>
              <a:rPr lang="zh-CN" altLang="en-US" sz="2000" b="1"/>
              <a:t>或</a:t>
            </a:r>
          </a:p>
          <a:p>
            <a:pPr algn="just"/>
            <a:r>
              <a:rPr lang="en-US" altLang="zh-CN" sz="2000" b="1"/>
              <a:t>(a==3)&amp;&amp;(x&gt;3)</a:t>
            </a:r>
            <a:endParaRPr lang="zh-CN" altLang="en-US" sz="2000" b="1"/>
          </a:p>
          <a:p>
            <a:pPr algn="just"/>
            <a:r>
              <a:rPr lang="zh-CN" altLang="en-US" sz="2000" b="1"/>
              <a:t>无法发现缺陷</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dissolve">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386966" y="1268730"/>
            <a:ext cx="4598035" cy="5194300"/>
          </a:xfrm>
        </p:spPr>
        <p:style>
          <a:lnRef idx="2">
            <a:schemeClr val="accent1"/>
          </a:lnRef>
          <a:fillRef idx="1">
            <a:schemeClr val="lt1"/>
          </a:fillRef>
          <a:effectRef idx="0">
            <a:schemeClr val="accent1"/>
          </a:effectRef>
          <a:fontRef idx="minor">
            <a:schemeClr val="dk1"/>
          </a:fontRef>
        </p:style>
        <p:txBody>
          <a:bodyPr>
            <a:normAutofit fontScale="75000" lnSpcReduction="20000"/>
          </a:bodyPr>
          <a:lstStyle/>
          <a:p>
            <a:pPr marL="342900" indent="-342900">
              <a:lnSpc>
                <a:spcPct val="80000"/>
              </a:lnSpc>
              <a:buAutoNum type="arabicPeriod"/>
            </a:pPr>
            <a:r>
              <a:rPr lang="zh-CN" altLang="en-US" b="1"/>
              <a:t>int SampleFunc2( bool bFlag）</a:t>
            </a:r>
            <a:r>
              <a:rPr lang="en-US" altLang="zh-CN" b="1"/>
              <a:t>{</a:t>
            </a:r>
          </a:p>
          <a:p>
            <a:pPr marL="342900" indent="-342900">
              <a:lnSpc>
                <a:spcPct val="80000"/>
              </a:lnSpc>
              <a:buAutoNum type="arabicPeriod"/>
            </a:pPr>
            <a:r>
              <a:rPr lang="en-US" altLang="zh-CN" b="1"/>
              <a:t>    </a:t>
            </a:r>
            <a:r>
              <a:rPr lang="zh-CN" altLang="en-US" b="1"/>
              <a:t>int* pArray =NULL;</a:t>
            </a:r>
          </a:p>
          <a:p>
            <a:pPr marL="342900" indent="-342900">
              <a:lnSpc>
                <a:spcPct val="80000"/>
              </a:lnSpc>
              <a:buAutoNum type="arabicPeriod"/>
            </a:pPr>
            <a:r>
              <a:rPr lang="en-US" altLang="zh-CN" b="1"/>
              <a:t>    </a:t>
            </a:r>
            <a:r>
              <a:rPr lang="zh-CN" altLang="en-US" b="1"/>
              <a:t>int sum = 0;</a:t>
            </a:r>
          </a:p>
          <a:p>
            <a:pPr marL="342900" indent="-342900">
              <a:lnSpc>
                <a:spcPct val="80000"/>
              </a:lnSpc>
              <a:buAutoNum type="arabicPeriod"/>
            </a:pPr>
            <a:r>
              <a:rPr lang="en-US" altLang="zh-CN" b="1"/>
              <a:t>    </a:t>
            </a:r>
            <a:r>
              <a:rPr lang="zh-CN" altLang="en-US" b="1"/>
              <a:t>if( bFlag )</a:t>
            </a:r>
          </a:p>
          <a:p>
            <a:pPr marL="342900" indent="-342900">
              <a:lnSpc>
                <a:spcPct val="80000"/>
              </a:lnSpc>
              <a:buAutoNum type="arabicPeriod"/>
            </a:pPr>
            <a:r>
              <a:rPr lang="en-US" altLang="zh-CN" b="1"/>
              <a:t>        </a:t>
            </a:r>
            <a:r>
              <a:rPr lang="zh-CN" altLang="en-US" b="1"/>
              <a:t>pArray = newint[5]；</a:t>
            </a:r>
          </a:p>
          <a:p>
            <a:pPr marL="342900" indent="-342900">
              <a:lnSpc>
                <a:spcPct val="80000"/>
              </a:lnSpc>
              <a:buAutoNum type="arabicPeriod"/>
            </a:pPr>
            <a:r>
              <a:rPr lang="en-US" altLang="zh-CN" b="1"/>
              <a:t>    </a:t>
            </a:r>
            <a:r>
              <a:rPr lang="zh-CN" altLang="en-US" b="1"/>
              <a:t>for( inti=0;i&lt;5;i++ )</a:t>
            </a:r>
            <a:r>
              <a:rPr lang="en-US" altLang="zh-CN" b="1"/>
              <a:t>{</a:t>
            </a:r>
          </a:p>
          <a:p>
            <a:pPr marL="342900" indent="-342900">
              <a:lnSpc>
                <a:spcPct val="80000"/>
              </a:lnSpc>
              <a:buAutoNum type="arabicPeriod"/>
            </a:pPr>
            <a:r>
              <a:rPr lang="en-US" altLang="zh-CN" b="1"/>
              <a:t>        </a:t>
            </a:r>
            <a:r>
              <a:rPr lang="zh-CN" altLang="en-US" b="1"/>
              <a:t>pArray[i] =i;</a:t>
            </a:r>
          </a:p>
          <a:p>
            <a:pPr marL="342900" indent="-342900">
              <a:lnSpc>
                <a:spcPct val="80000"/>
              </a:lnSpc>
              <a:buAutoNum type="arabicPeriod"/>
            </a:pPr>
            <a:r>
              <a:rPr lang="en-US" altLang="zh-CN" b="1"/>
              <a:t>        </a:t>
            </a:r>
            <a:r>
              <a:rPr lang="zh-CN" altLang="en-US" b="1"/>
              <a:t>sum = sum +pArrayli] * i;</a:t>
            </a:r>
          </a:p>
          <a:p>
            <a:pPr marL="342900" indent="-342900">
              <a:lnSpc>
                <a:spcPct val="80000"/>
              </a:lnSpc>
              <a:buAutoNum type="arabicPeriod"/>
            </a:pPr>
            <a:r>
              <a:rPr lang="en-US" altLang="zh-CN" b="1"/>
              <a:t>    }</a:t>
            </a:r>
            <a:endParaRPr lang="zh-CN" altLang="en-US" b="1"/>
          </a:p>
          <a:p>
            <a:pPr marL="342900" indent="-342900">
              <a:lnSpc>
                <a:spcPct val="80000"/>
              </a:lnSpc>
              <a:buAutoNum type="arabicPeriod"/>
            </a:pPr>
            <a:r>
              <a:rPr lang="en-US" altLang="zh-CN" b="1"/>
              <a:t>    </a:t>
            </a:r>
            <a:r>
              <a:rPr lang="zh-CN" altLang="en-US" b="1"/>
              <a:t>if( pArray )</a:t>
            </a:r>
            <a:r>
              <a:rPr lang="en-US" altLang="zh-CN" b="1"/>
              <a:t>{</a:t>
            </a:r>
            <a:endParaRPr lang="zh-CN" altLang="en-US" b="1"/>
          </a:p>
          <a:p>
            <a:pPr marL="342900" indent="-342900">
              <a:lnSpc>
                <a:spcPct val="80000"/>
              </a:lnSpc>
              <a:buAutoNum type="arabicPeriod"/>
            </a:pPr>
            <a:r>
              <a:rPr lang="en-US" altLang="zh-CN" b="1"/>
              <a:t>        </a:t>
            </a:r>
            <a:r>
              <a:rPr lang="zh-CN" altLang="en-US" b="1"/>
              <a:t>delete pArray;</a:t>
            </a:r>
          </a:p>
          <a:p>
            <a:pPr marL="342900" indent="-342900">
              <a:lnSpc>
                <a:spcPct val="80000"/>
              </a:lnSpc>
              <a:buAutoNum type="arabicPeriod"/>
            </a:pPr>
            <a:r>
              <a:rPr lang="en-US" altLang="zh-CN" b="1"/>
              <a:t>        </a:t>
            </a:r>
            <a:r>
              <a:rPr lang="zh-CN" altLang="en-US" b="1"/>
              <a:t>pArray = NULL:</a:t>
            </a:r>
          </a:p>
          <a:p>
            <a:pPr marL="342900" indent="-342900">
              <a:lnSpc>
                <a:spcPct val="80000"/>
              </a:lnSpc>
              <a:buAutoNum type="arabicPeriod"/>
            </a:pPr>
            <a:r>
              <a:rPr lang="en-US" altLang="zh-CN" b="1"/>
              <a:t>    }</a:t>
            </a:r>
            <a:endParaRPr lang="zh-CN" altLang="en-US" b="1"/>
          </a:p>
          <a:p>
            <a:pPr marL="342900" indent="-342900">
              <a:lnSpc>
                <a:spcPct val="80000"/>
              </a:lnSpc>
              <a:buAutoNum type="arabicPeriod"/>
            </a:pPr>
            <a:r>
              <a:rPr lang="en-US" altLang="zh-CN" b="1"/>
              <a:t>    </a:t>
            </a:r>
            <a:r>
              <a:rPr lang="zh-CN" altLang="en-US" b="1"/>
              <a:t>return sum;</a:t>
            </a:r>
          </a:p>
          <a:p>
            <a:pPr marL="342900" indent="-342900">
              <a:lnSpc>
                <a:spcPct val="80000"/>
              </a:lnSpc>
              <a:buAutoNum type="arabicPeriod"/>
            </a:pPr>
            <a:r>
              <a:rPr lang="en-US" altLang="zh-CN" b="1"/>
              <a:t>}</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60</a:t>
            </a:fld>
            <a:endParaRPr lang="zh-CN" altLang="en-US"/>
          </a:p>
        </p:txBody>
      </p:sp>
      <p:sp>
        <p:nvSpPr>
          <p:cNvPr id="17410" name="Rectangle 2"/>
          <p:cNvSpPr>
            <a:spLocks noGrp="1"/>
          </p:cNvSpPr>
          <p:nvPr>
            <p:ph type="title"/>
            <p:custDataLst>
              <p:tags r:id="rId1"/>
            </p:custDataLst>
          </p:nvPr>
        </p:nvSpPr>
        <p:spPr>
          <a:xfrm>
            <a:off x="2026285" y="27114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7" name="文本框 6"/>
          <p:cNvSpPr txBox="1"/>
          <p:nvPr>
            <p:custDataLst>
              <p:tags r:id="rId2"/>
            </p:custDataLst>
          </p:nvPr>
        </p:nvSpPr>
        <p:spPr>
          <a:xfrm>
            <a:off x="7247890" y="2708911"/>
            <a:ext cx="2725420" cy="460375"/>
          </a:xfrm>
          <a:prstGeom prst="rect">
            <a:avLst/>
          </a:prstGeom>
          <a:solidFill>
            <a:srgbClr val="000000">
              <a:alpha val="0"/>
            </a:srgbClr>
          </a:solid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zh-CN" altLang="en-US" sz="2400" b="1"/>
              <a:t>存在缺陷？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p:cNvSpPr>
          <p:nvPr>
            <p:ph idx="1"/>
          </p:nvPr>
        </p:nvSpPr>
        <p:spPr>
          <a:xfrm>
            <a:off x="2026285" y="1431290"/>
            <a:ext cx="8139430" cy="4236720"/>
          </a:xfrm>
        </p:spPr>
        <p:txBody>
          <a:bodyPr vert="horz" wrap="square" lIns="91440" tIns="45720" rIns="91440" bIns="45720" rtlCol="0" anchor="t" anchorCtr="0">
            <a:normAutofit/>
          </a:bodyPr>
          <a:lstStyle/>
          <a:p>
            <a:pPr algn="just" eaLnBrk="1" hangingPunct="1">
              <a:lnSpc>
                <a:spcPct val="150000"/>
              </a:lnSpc>
            </a:pPr>
            <a:r>
              <a:rPr lang="zh-CN" altLang="en-US" sz="3400" b="1" dirty="0"/>
              <a:t>判定覆盖</a:t>
            </a:r>
            <a:endParaRPr lang="en-US" altLang="zh-CN" sz="3400" b="1" dirty="0"/>
          </a:p>
          <a:p>
            <a:pPr lvl="1" algn="just" eaLnBrk="1" hangingPunct="1">
              <a:lnSpc>
                <a:spcPct val="160000"/>
              </a:lnSpc>
            </a:pPr>
            <a:r>
              <a:rPr lang="zh-CN" altLang="en-US" b="1" dirty="0"/>
              <a:t>基本思想：</a:t>
            </a:r>
            <a:r>
              <a:rPr lang="zh-CN" altLang="en-US" dirty="0"/>
              <a:t>设计测试用例时应保证程序中</a:t>
            </a:r>
            <a:r>
              <a:rPr lang="zh-CN" altLang="en-US" b="1" dirty="0">
                <a:solidFill>
                  <a:srgbClr val="FF0000"/>
                </a:solidFill>
              </a:rPr>
              <a:t>每个判定节点</a:t>
            </a:r>
            <a:r>
              <a:rPr lang="zh-CN" altLang="en-US" dirty="0"/>
              <a:t>的取真和取假分支至少执行一次。</a:t>
            </a:r>
            <a:r>
              <a:rPr lang="zh-CN" altLang="en-US" b="1" dirty="0">
                <a:solidFill>
                  <a:srgbClr val="FF0000"/>
                </a:solidFill>
              </a:rPr>
              <a:t>（每个分支都要执行一次）</a:t>
            </a:r>
          </a:p>
          <a:p>
            <a:pPr lvl="1" algn="just" eaLnBrk="1" hangingPunct="1">
              <a:lnSpc>
                <a:spcPct val="160000"/>
              </a:lnSpc>
            </a:pPr>
            <a:r>
              <a:rPr lang="zh-CN" altLang="en-US" dirty="0"/>
              <a:t>判定覆盖等同于对图中所有边的覆盖。</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61</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p:cNvSpPr>
          <p:nvPr>
            <p:ph idx="1"/>
          </p:nvPr>
        </p:nvSpPr>
        <p:spPr>
          <a:xfrm>
            <a:off x="2091056" y="1426845"/>
            <a:ext cx="5309235" cy="910590"/>
          </a:xfrm>
        </p:spPr>
        <p:txBody>
          <a:bodyPr vert="horz" wrap="square" lIns="91440" tIns="45720" rIns="91440" bIns="45720" rtlCol="0" anchor="t" anchorCtr="0">
            <a:noAutofit/>
          </a:bodyPr>
          <a:lstStyle/>
          <a:p>
            <a:pPr algn="just" eaLnBrk="1" hangingPunct="1">
              <a:lnSpc>
                <a:spcPct val="150000"/>
              </a:lnSpc>
              <a:buClrTx/>
              <a:buSzTx/>
            </a:pPr>
            <a:r>
              <a:rPr lang="zh-CN" altLang="en-US" sz="3400" b="1" dirty="0"/>
              <a:t>判定覆盖</a:t>
            </a:r>
          </a:p>
        </p:txBody>
      </p:sp>
      <p:pic>
        <p:nvPicPr>
          <p:cNvPr id="24581" name="Picture 2"/>
          <p:cNvPicPr>
            <a:picLocks noChangeAspect="1"/>
          </p:cNvPicPr>
          <p:nvPr/>
        </p:nvPicPr>
        <p:blipFill>
          <a:blip r:embed="rId6"/>
          <a:stretch>
            <a:fillRect/>
          </a:stretch>
        </p:blipFill>
        <p:spPr>
          <a:xfrm>
            <a:off x="1631950" y="2680335"/>
            <a:ext cx="8803640" cy="1497330"/>
          </a:xfrm>
          <a:prstGeom prst="rect">
            <a:avLst/>
          </a:prstGeom>
          <a:noFill/>
          <a:ln w="9525">
            <a:noFill/>
          </a:ln>
        </p:spPr>
      </p:pic>
      <p:pic>
        <p:nvPicPr>
          <p:cNvPr id="43014" name="Picture 6" descr="5t12"/>
          <p:cNvPicPr>
            <a:picLocks noChangeAspect="1"/>
          </p:cNvPicPr>
          <p:nvPr/>
        </p:nvPicPr>
        <p:blipFill>
          <a:blip r:embed="rId7"/>
          <a:stretch>
            <a:fillRect/>
          </a:stretch>
        </p:blipFill>
        <p:spPr>
          <a:xfrm>
            <a:off x="7679690" y="1"/>
            <a:ext cx="3007360" cy="4426585"/>
          </a:xfrm>
          <a:prstGeom prst="rect">
            <a:avLst/>
          </a:prstGeom>
          <a:noFill/>
          <a:ln w="9525">
            <a:noFill/>
          </a:ln>
        </p:spPr>
      </p:pic>
      <p:graphicFrame>
        <p:nvGraphicFramePr>
          <p:cNvPr id="4" name="表格 3"/>
          <p:cNvGraphicFramePr/>
          <p:nvPr>
            <p:custDataLst>
              <p:tags r:id="rId1"/>
            </p:custDataLst>
          </p:nvPr>
        </p:nvGraphicFramePr>
        <p:xfrm>
          <a:off x="2099628" y="4549141"/>
          <a:ext cx="8001000" cy="1965325"/>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393065">
                <a:tc>
                  <a:txBody>
                    <a:bodyPr/>
                    <a:lstStyle/>
                    <a:p>
                      <a:pPr algn="ctr">
                        <a:buNone/>
                      </a:pPr>
                      <a:endParaRPr lang="en-US" altLang="zh-CN" sz="1800"/>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t>
                      </a:r>
                    </a:p>
                  </a:txBody>
                  <a:tcPr anchor="ctr">
                    <a:solidFill>
                      <a:schemeClr val="accent4"/>
                    </a:solidFill>
                  </a:tcPr>
                </a:tc>
                <a:extLst>
                  <a:ext uri="{0D108BD9-81ED-4DB2-BD59-A6C34878D82A}">
                    <a16:rowId xmlns:a16="http://schemas.microsoft.com/office/drawing/2014/main" val="10000"/>
                  </a:ext>
                </a:extLst>
              </a:tr>
              <a:tr h="393065">
                <a:tc>
                  <a:txBody>
                    <a:bodyPr/>
                    <a:lstStyle/>
                    <a:p>
                      <a:pPr algn="ctr">
                        <a:buNone/>
                      </a:pPr>
                      <a:r>
                        <a:rPr lang="en-US" altLang="zh-CN" sz="1800"/>
                        <a:t>LC-001</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1"/>
                  </a:ext>
                </a:extLst>
              </a:tr>
              <a:tr h="393065">
                <a:tc>
                  <a:txBody>
                    <a:bodyPr/>
                    <a:lstStyle/>
                    <a:p>
                      <a:pPr algn="ctr">
                        <a:buNone/>
                      </a:pPr>
                      <a:r>
                        <a:rPr lang="en-US" altLang="zh-CN" sz="1800"/>
                        <a:t>LC-002</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tc>
                <a:tc>
                  <a:txBody>
                    <a:bodyPr/>
                    <a:lstStyle/>
                    <a:p>
                      <a:pPr algn="ctr">
                        <a:buNone/>
                      </a:pPr>
                      <a:r>
                        <a:rPr lang="en-US" altLang="zh-CN" sz="1800"/>
                        <a:t>F</a:t>
                      </a:r>
                    </a:p>
                  </a:txBody>
                  <a:tcPr anchor="ct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extLst>
                  <a:ext uri="{0D108BD9-81ED-4DB2-BD59-A6C34878D82A}">
                    <a16:rowId xmlns:a16="http://schemas.microsoft.com/office/drawing/2014/main" val="10002"/>
                  </a:ext>
                </a:extLst>
              </a:tr>
              <a:tr h="393065">
                <a:tc>
                  <a:txBody>
                    <a:bodyPr/>
                    <a:lstStyle/>
                    <a:p>
                      <a:pPr algn="ctr">
                        <a:buNone/>
                      </a:pPr>
                      <a:r>
                        <a:rPr lang="en-US" altLang="zh-CN" sz="1800"/>
                        <a:t>LC-003</a:t>
                      </a:r>
                    </a:p>
                  </a:txBody>
                  <a:tcPr anchor="ctr">
                    <a:solidFill>
                      <a:srgbClr val="F8DD4E"/>
                    </a:solidFill>
                  </a:tcPr>
                </a:tc>
                <a:tc>
                  <a:txBody>
                    <a:bodyPr/>
                    <a:lstStyle/>
                    <a:p>
                      <a:pPr algn="ctr">
                        <a:buNone/>
                      </a:pPr>
                      <a:r>
                        <a:rPr lang="en-US" altLang="zh-CN" sz="1800"/>
                        <a:t>F</a:t>
                      </a:r>
                    </a:p>
                  </a:txBody>
                  <a:tcPr anchor="ctr">
                    <a:solidFill>
                      <a:srgbClr val="F8DD4E"/>
                    </a:solidFill>
                  </a:tcPr>
                </a:tc>
                <a:tc>
                  <a:txBody>
                    <a:bodyPr/>
                    <a:lstStyle/>
                    <a:p>
                      <a:pPr algn="ctr">
                        <a:buNone/>
                      </a:pPr>
                      <a:r>
                        <a:rPr lang="en-US" altLang="zh-CN" sz="1800"/>
                        <a:t>F</a:t>
                      </a:r>
                    </a:p>
                  </a:txBody>
                  <a:tcPr anchor="ctr">
                    <a:solidFill>
                      <a:srgbClr val="F8DD4E"/>
                    </a:solidFill>
                  </a:tcPr>
                </a:tc>
                <a:tc>
                  <a:txBody>
                    <a:bodyPr/>
                    <a:lstStyle/>
                    <a:p>
                      <a:pPr algn="ctr">
                        <a:buNone/>
                      </a:pPr>
                      <a:r>
                        <a:rPr lang="en-US" altLang="zh-CN" sz="1800"/>
                        <a:t>F</a:t>
                      </a:r>
                    </a:p>
                  </a:txBody>
                  <a:tcPr anchor="ctr">
                    <a:solidFill>
                      <a:srgbClr val="F8DD4E"/>
                    </a:solidFill>
                  </a:tcPr>
                </a:tc>
                <a:tc>
                  <a:txBody>
                    <a:bodyPr/>
                    <a:lstStyle/>
                    <a:p>
                      <a:pPr algn="ctr">
                        <a:buNone/>
                      </a:pPr>
                      <a:r>
                        <a:rPr lang="en-US" altLang="zh-CN" sz="1800"/>
                        <a:t>F</a:t>
                      </a:r>
                    </a:p>
                  </a:txBody>
                  <a:tcPr anchor="ctr">
                    <a:solidFill>
                      <a:srgbClr val="F8DD4E"/>
                    </a:solidFill>
                  </a:tcPr>
                </a:tc>
                <a:tc>
                  <a:txBody>
                    <a:bodyPr/>
                    <a:lstStyle/>
                    <a:p>
                      <a:pPr algn="ctr">
                        <a:buNone/>
                      </a:pPr>
                      <a:r>
                        <a:rPr lang="en-US" altLang="zh-CN" sz="1800"/>
                        <a:t>T</a:t>
                      </a:r>
                    </a:p>
                  </a:txBody>
                  <a:tcPr anchor="ctr">
                    <a:solidFill>
                      <a:srgbClr val="F8DD4E"/>
                    </a:solidFill>
                  </a:tcPr>
                </a:tc>
                <a:tc>
                  <a:txBody>
                    <a:bodyPr/>
                    <a:lstStyle/>
                    <a:p>
                      <a:pPr algn="ctr">
                        <a:buNone/>
                      </a:pPr>
                      <a:r>
                        <a:rPr lang="en-US" altLang="zh-CN" sz="1800"/>
                        <a:t>T</a:t>
                      </a:r>
                    </a:p>
                  </a:txBody>
                  <a:tcPr anchor="ctr">
                    <a:solidFill>
                      <a:srgbClr val="F8DD4E"/>
                    </a:solidFill>
                  </a:tcPr>
                </a:tc>
                <a:extLst>
                  <a:ext uri="{0D108BD9-81ED-4DB2-BD59-A6C34878D82A}">
                    <a16:rowId xmlns:a16="http://schemas.microsoft.com/office/drawing/2014/main" val="10003"/>
                  </a:ext>
                </a:extLst>
              </a:tr>
              <a:tr h="393065">
                <a:tc>
                  <a:txBody>
                    <a:bodyPr/>
                    <a:lstStyle/>
                    <a:p>
                      <a:pPr algn="ctr">
                        <a:buNone/>
                      </a:pPr>
                      <a:r>
                        <a:rPr lang="en-US" altLang="zh-CN" sz="1800"/>
                        <a:t>LC-004</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
        <p:nvSpPr>
          <p:cNvPr id="7" name="圆角矩形 6"/>
          <p:cNvSpPr/>
          <p:nvPr/>
        </p:nvSpPr>
        <p:spPr>
          <a:xfrm>
            <a:off x="5231765" y="3644900"/>
            <a:ext cx="288290" cy="288290"/>
          </a:xfrm>
          <a:prstGeom prst="roundRect">
            <a:avLst/>
          </a:prstGeom>
          <a:noFill/>
          <a:ln>
            <a:solidFill>
              <a:schemeClr val="accent2"/>
            </a:solid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62</a:t>
            </a:fld>
            <a:endParaRPr lang="en-US" altLang="zh-CN" dirty="0">
              <a:latin typeface="Verdana" panose="020B0604030504040204" pitchFamily="34" charset="0"/>
            </a:endParaRPr>
          </a:p>
        </p:txBody>
      </p:sp>
      <p:sp>
        <p:nvSpPr>
          <p:cNvPr id="2" name="日期占位符 1"/>
          <p:cNvSpPr>
            <a:spLocks noGrp="1"/>
          </p:cNvSpPr>
          <p:nvPr>
            <p:ph type="dt" sz="half" idx="10"/>
            <p:custDataLst>
              <p:tags r:id="rId2"/>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3"/>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5" name="椭圆 4"/>
          <p:cNvSpPr/>
          <p:nvPr>
            <p:custDataLst>
              <p:tags r:id="rId4"/>
            </p:custDataLst>
          </p:nvPr>
        </p:nvSpPr>
        <p:spPr>
          <a:xfrm>
            <a:off x="2063750" y="4869181"/>
            <a:ext cx="1278890" cy="86550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dissolve">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2207895" y="1393190"/>
            <a:ext cx="5181600" cy="2618740"/>
          </a:xfrm>
          <a:prstGeom prst="rect">
            <a:avLst/>
          </a:prstGeom>
          <a:noFill/>
        </p:spPr>
        <p:txBody>
          <a:bodyPr wrap="square" rtlCol="0" anchor="t">
            <a:noAutofit/>
          </a:bodyPr>
          <a:lstStyle/>
          <a:p>
            <a:pPr marL="171450" indent="-171450" algn="just">
              <a:lnSpc>
                <a:spcPct val="110000"/>
              </a:lnSpc>
              <a:spcAft>
                <a:spcPts val="1000"/>
              </a:spcAft>
              <a:buFont typeface="Arial" panose="020B0604020202020204" pitchFamily="34" charset="0"/>
              <a:buChar char="•"/>
            </a:pPr>
            <a:r>
              <a:rPr lang="zh-CN" altLang="en-US" sz="3400" b="1" spc="150" dirty="0">
                <a:latin typeface="Arial" panose="020B0604020202020204" pitchFamily="34" charset="0"/>
                <a:ea typeface="微软雅黑" panose="020B0503020204020204" charset="-122"/>
                <a:sym typeface="+mn-ea"/>
              </a:rPr>
              <a:t>判定覆盖</a:t>
            </a:r>
            <a:endParaRPr lang="zh-CN" altLang="en-US" sz="3400" b="1" spc="150" dirty="0">
              <a:latin typeface="Arial" panose="020B0604020202020204" pitchFamily="34" charset="0"/>
              <a:ea typeface="微软雅黑" panose="020B0503020204020204" charset="-122"/>
            </a:endParaRPr>
          </a:p>
          <a:p>
            <a:pPr marL="171450" indent="-171450" algn="just">
              <a:lnSpc>
                <a:spcPct val="110000"/>
              </a:lnSpc>
              <a:spcAft>
                <a:spcPts val="1000"/>
              </a:spcAft>
              <a:buFont typeface="Arial" panose="020B0604020202020204" pitchFamily="34" charset="0"/>
              <a:buChar char="•"/>
            </a:pPr>
            <a:r>
              <a:rPr lang="zh-CN" altLang="en-US" sz="3400" b="1" spc="150" dirty="0">
                <a:latin typeface="Arial" panose="020B0604020202020204" pitchFamily="34" charset="0"/>
                <a:ea typeface="微软雅黑" panose="020B0503020204020204" charset="-122"/>
                <a:sym typeface="+mn-ea"/>
              </a:rPr>
              <a:t>局限性：</a:t>
            </a:r>
            <a:endParaRPr lang="zh-CN" altLang="en-US" sz="3400" b="1" spc="150" dirty="0">
              <a:latin typeface="Arial" panose="020B0604020202020204" pitchFamily="34" charset="0"/>
              <a:ea typeface="微软雅黑" panose="020B0503020204020204" charset="-122"/>
            </a:endParaRPr>
          </a:p>
          <a:p>
            <a:pPr marL="514350" lvl="1" indent="-171450" algn="just">
              <a:lnSpc>
                <a:spcPct val="120000"/>
              </a:lnSpc>
              <a:spcAft>
                <a:spcPts val="1000"/>
              </a:spcAft>
              <a:buFont typeface="Arial" panose="020B0604020202020204" pitchFamily="34" charset="0"/>
              <a:buChar char="•"/>
              <a:tabLst>
                <a:tab pos="1609725" algn="l"/>
              </a:tabLst>
            </a:pPr>
            <a:r>
              <a:rPr lang="zh-CN" altLang="en-US" sz="2400" spc="150" dirty="0">
                <a:latin typeface="Arial" panose="020B0604020202020204" pitchFamily="34" charset="0"/>
                <a:ea typeface="微软雅黑" panose="020B0503020204020204" charset="-122"/>
                <a:sym typeface="+mn-ea"/>
              </a:rPr>
              <a:t>未彻底分析每个简单判定条件的取值情况，仍然会导致遗漏部分缺陷。</a:t>
            </a:r>
          </a:p>
        </p:txBody>
      </p:sp>
      <p:pic>
        <p:nvPicPr>
          <p:cNvPr id="43014" name="Picture 6" descr="5t12"/>
          <p:cNvPicPr>
            <a:picLocks noChangeAspect="1"/>
          </p:cNvPicPr>
          <p:nvPr/>
        </p:nvPicPr>
        <p:blipFill>
          <a:blip r:embed="rId7"/>
          <a:stretch>
            <a:fillRect/>
          </a:stretch>
        </p:blipFill>
        <p:spPr>
          <a:xfrm>
            <a:off x="7679690" y="1"/>
            <a:ext cx="3007360" cy="4426585"/>
          </a:xfrm>
          <a:prstGeom prst="rect">
            <a:avLst/>
          </a:prstGeom>
          <a:noFill/>
          <a:ln w="9525">
            <a:noFill/>
          </a:ln>
        </p:spPr>
      </p:pic>
      <p:graphicFrame>
        <p:nvGraphicFramePr>
          <p:cNvPr id="4" name="内容占位符 3"/>
          <p:cNvGraphicFramePr>
            <a:graphicFrameLocks noGrp="1"/>
          </p:cNvGraphicFramePr>
          <p:nvPr>
            <p:ph idx="1"/>
            <p:custDataLst>
              <p:tags r:id="rId1"/>
            </p:custDataLst>
          </p:nvPr>
        </p:nvGraphicFramePr>
        <p:xfrm>
          <a:off x="2062798" y="4292601"/>
          <a:ext cx="8001000" cy="2079625"/>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tblGrid>
              <a:tr h="415925">
                <a:tc>
                  <a:txBody>
                    <a:bodyPr/>
                    <a:lstStyle/>
                    <a:p>
                      <a:pPr algn="ctr">
                        <a:buNone/>
                      </a:pPr>
                      <a:endParaRPr lang="en-US" altLang="zh-CN"/>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t>
                      </a:r>
                    </a:p>
                  </a:txBody>
                  <a:tcPr anchor="ctr">
                    <a:solidFill>
                      <a:schemeClr val="accent4"/>
                    </a:solidFill>
                  </a:tcPr>
                </a:tc>
                <a:extLst>
                  <a:ext uri="{0D108BD9-81ED-4DB2-BD59-A6C34878D82A}">
                    <a16:rowId xmlns:a16="http://schemas.microsoft.com/office/drawing/2014/main" val="10000"/>
                  </a:ext>
                </a:extLst>
              </a:tr>
              <a:tr h="415925">
                <a:tc>
                  <a:txBody>
                    <a:bodyPr/>
                    <a:lstStyle/>
                    <a:p>
                      <a:pPr algn="ctr">
                        <a:buNone/>
                      </a:pPr>
                      <a:r>
                        <a:rPr lang="en-US" altLang="zh-CN" sz="1800"/>
                        <a:t>LC-001</a:t>
                      </a:r>
                    </a:p>
                  </a:txBody>
                  <a:tcPr anchor="ctr">
                    <a:solidFill>
                      <a:schemeClr val="accent2">
                        <a:lumMod val="40000"/>
                        <a:lumOff val="60000"/>
                      </a:schemeClr>
                    </a:solidFill>
                  </a:tcPr>
                </a:tc>
                <a:tc>
                  <a:txBody>
                    <a:bodyPr/>
                    <a:lstStyle/>
                    <a:p>
                      <a:pPr algn="ctr">
                        <a:buNone/>
                      </a:pPr>
                      <a:r>
                        <a:rPr lang="en-US" altLang="zh-CN" sz="1800"/>
                        <a:t>T</a:t>
                      </a:r>
                    </a:p>
                  </a:txBody>
                  <a:tcPr anchor="ctr">
                    <a:solidFill>
                      <a:schemeClr val="accent2">
                        <a:lumMod val="40000"/>
                        <a:lumOff val="60000"/>
                      </a:schemeClr>
                    </a:solidFill>
                  </a:tcPr>
                </a:tc>
                <a:tc>
                  <a:txBody>
                    <a:bodyPr/>
                    <a:lstStyle/>
                    <a:p>
                      <a:pPr algn="ctr">
                        <a:buNone/>
                      </a:pPr>
                      <a:r>
                        <a:rPr lang="en-US" altLang="zh-CN" sz="1800"/>
                        <a:t>T</a:t>
                      </a:r>
                    </a:p>
                  </a:txBody>
                  <a:tcPr anchor="ctr">
                    <a:solidFill>
                      <a:schemeClr val="accent2">
                        <a:lumMod val="40000"/>
                        <a:lumOff val="60000"/>
                      </a:schemeClr>
                    </a:solidFill>
                  </a:tcPr>
                </a:tc>
                <a:tc>
                  <a:txBody>
                    <a:bodyPr/>
                    <a:lstStyle/>
                    <a:p>
                      <a:pPr algn="ctr">
                        <a:buNone/>
                      </a:pPr>
                      <a:r>
                        <a:rPr lang="en-US" altLang="zh-CN" sz="1800"/>
                        <a:t>T</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1"/>
                  </a:ext>
                </a:extLst>
              </a:tr>
              <a:tr h="415925">
                <a:tc>
                  <a:txBody>
                    <a:bodyPr/>
                    <a:lstStyle/>
                    <a:p>
                      <a:pPr algn="ctr">
                        <a:buNone/>
                      </a:pPr>
                      <a:r>
                        <a:rPr lang="en-US" altLang="zh-CN" sz="1800"/>
                        <a:t>LC-002</a:t>
                      </a:r>
                    </a:p>
                  </a:txBody>
                  <a:tcPr anchor="ctr"/>
                </a:tc>
                <a:tc>
                  <a:txBody>
                    <a:bodyPr/>
                    <a:lstStyle/>
                    <a:p>
                      <a:pPr algn="ctr">
                        <a:buNone/>
                      </a:pPr>
                      <a:r>
                        <a:rPr lang="en-US" altLang="zh-CN" sz="1800"/>
                        <a:t>T</a:t>
                      </a:r>
                    </a:p>
                  </a:txBody>
                  <a:tcPr anchor="ctr"/>
                </a:tc>
                <a:tc>
                  <a:txBody>
                    <a:bodyPr/>
                    <a:lstStyle/>
                    <a:p>
                      <a:pPr algn="ctr">
                        <a:buNone/>
                      </a:pPr>
                      <a:r>
                        <a:rPr lang="en-US" altLang="zh-CN" sz="1800"/>
                        <a:t>F</a:t>
                      </a:r>
                    </a:p>
                  </a:txBody>
                  <a:tcPr anchor="ctr"/>
                </a:tc>
                <a:tc>
                  <a:txBody>
                    <a:bodyPr/>
                    <a:lstStyle/>
                    <a:p>
                      <a:pPr algn="ctr">
                        <a:buNone/>
                      </a:pPr>
                      <a:r>
                        <a:rPr lang="en-US" altLang="zh-CN" sz="1800"/>
                        <a:t>T</a:t>
                      </a:r>
                    </a:p>
                  </a:txBody>
                  <a:tcPr anchor="ctr">
                    <a:solidFill>
                      <a:srgbClr val="F8DD4E"/>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extLst>
                  <a:ext uri="{0D108BD9-81ED-4DB2-BD59-A6C34878D82A}">
                    <a16:rowId xmlns:a16="http://schemas.microsoft.com/office/drawing/2014/main" val="10002"/>
                  </a:ext>
                </a:extLst>
              </a:tr>
              <a:tr h="415925">
                <a:tc>
                  <a:txBody>
                    <a:bodyPr/>
                    <a:lstStyle/>
                    <a:p>
                      <a:pPr algn="ctr">
                        <a:buNone/>
                      </a:pPr>
                      <a:r>
                        <a:rPr lang="en-US" altLang="zh-CN" sz="1800"/>
                        <a:t>LC-003</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2">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tc>
                  <a:txBody>
                    <a:bodyPr/>
                    <a:lstStyle/>
                    <a:p>
                      <a:pPr algn="ctr">
                        <a:buNone/>
                      </a:pPr>
                      <a:r>
                        <a:rPr lang="en-US" altLang="zh-CN" sz="1800"/>
                        <a:t>T</a:t>
                      </a:r>
                    </a:p>
                  </a:txBody>
                  <a:tcPr anchor="ctr">
                    <a:solidFill>
                      <a:schemeClr val="accent4">
                        <a:lumMod val="40000"/>
                        <a:lumOff val="60000"/>
                      </a:schemeClr>
                    </a:solidFill>
                  </a:tcPr>
                </a:tc>
                <a:extLst>
                  <a:ext uri="{0D108BD9-81ED-4DB2-BD59-A6C34878D82A}">
                    <a16:rowId xmlns:a16="http://schemas.microsoft.com/office/drawing/2014/main" val="10003"/>
                  </a:ext>
                </a:extLst>
              </a:tr>
              <a:tr h="415925">
                <a:tc>
                  <a:txBody>
                    <a:bodyPr/>
                    <a:lstStyle/>
                    <a:p>
                      <a:pPr algn="ctr">
                        <a:buNone/>
                      </a:pPr>
                      <a:r>
                        <a:rPr lang="en-US" altLang="zh-CN" sz="1800"/>
                        <a:t>LC-004</a:t>
                      </a:r>
                    </a:p>
                  </a:txBody>
                  <a:tcPr anchor="ctr">
                    <a:solidFill>
                      <a:schemeClr val="bg1">
                        <a:lumMod val="95000"/>
                      </a:schemeClr>
                    </a:solidFill>
                  </a:tcPr>
                </a:tc>
                <a:tc>
                  <a:txBody>
                    <a:bodyPr/>
                    <a:lstStyle/>
                    <a:p>
                      <a:pPr algn="ctr">
                        <a:buNone/>
                      </a:pPr>
                      <a:r>
                        <a:rPr lang="en-US" altLang="zh-CN" sz="1800"/>
                        <a:t>T</a:t>
                      </a:r>
                    </a:p>
                  </a:txBody>
                  <a:tcPr anchor="ctr">
                    <a:solidFill>
                      <a:schemeClr val="bg1">
                        <a:lumMod val="95000"/>
                      </a:schemeClr>
                    </a:solidFill>
                  </a:tcPr>
                </a:tc>
                <a:tc>
                  <a:txBody>
                    <a:bodyPr/>
                    <a:lstStyle/>
                    <a:p>
                      <a:pPr algn="ctr">
                        <a:buNone/>
                      </a:pPr>
                      <a:r>
                        <a:rPr lang="en-US" altLang="zh-CN" sz="1800"/>
                        <a:t>T</a:t>
                      </a:r>
                    </a:p>
                  </a:txBody>
                  <a:tcPr anchor="ctr">
                    <a:solidFill>
                      <a:schemeClr val="bg1">
                        <a:lumMod val="95000"/>
                      </a:schemeClr>
                    </a:solidFill>
                  </a:tcPr>
                </a:tc>
                <a:tc>
                  <a:txBody>
                    <a:bodyPr/>
                    <a:lstStyle/>
                    <a:p>
                      <a:pPr algn="ctr">
                        <a:buNone/>
                      </a:pPr>
                      <a:r>
                        <a:rPr lang="en-US" altLang="zh-CN" sz="1800"/>
                        <a:t>T</a:t>
                      </a:r>
                    </a:p>
                  </a:txBody>
                  <a:tcPr anchor="ctr">
                    <a:solidFill>
                      <a:schemeClr val="bg1">
                        <a:lumMod val="95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tc>
                  <a:txBody>
                    <a:bodyPr/>
                    <a:lstStyle/>
                    <a:p>
                      <a:pPr algn="ctr">
                        <a:buNone/>
                      </a:pPr>
                      <a:r>
                        <a:rPr lang="en-US" altLang="zh-CN" sz="1800"/>
                        <a:t>F</a:t>
                      </a:r>
                    </a:p>
                  </a:txBody>
                  <a:tcPr anchor="c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
        <p:nvSpPr>
          <p:cNvPr id="10" name="灯片编号占位符 9"/>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63</a:t>
            </a:fld>
            <a:endParaRPr lang="en-US" altLang="zh-CN" dirty="0">
              <a:latin typeface="Verdana" panose="020B0604030504040204" pitchFamily="34" charset="0"/>
            </a:endParaRPr>
          </a:p>
        </p:txBody>
      </p:sp>
      <p:sp>
        <p:nvSpPr>
          <p:cNvPr id="3" name="日期占位符 2"/>
          <p:cNvSpPr>
            <a:spLocks noGrp="1"/>
          </p:cNvSpPr>
          <p:nvPr>
            <p:ph type="dt" sz="half" idx="10"/>
            <p:custDataLst>
              <p:tags r:id="rId2"/>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3"/>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8" name="椭圆 7"/>
          <p:cNvSpPr/>
          <p:nvPr>
            <p:custDataLst>
              <p:tags r:id="rId4"/>
            </p:custDataLst>
          </p:nvPr>
        </p:nvSpPr>
        <p:spPr>
          <a:xfrm>
            <a:off x="1919605" y="4641851"/>
            <a:ext cx="1433830" cy="958215"/>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5"/>
            </p:custDataLst>
          </p:nvPr>
        </p:nvSpPr>
        <p:spPr>
          <a:xfrm>
            <a:off x="4996180" y="1556385"/>
            <a:ext cx="2457450" cy="89154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lnSpc>
                <a:spcPct val="130000"/>
              </a:lnSpc>
            </a:pPr>
            <a:r>
              <a:rPr lang="zh-CN" altLang="en-US" sz="2000" b="1"/>
              <a:t>错写成</a:t>
            </a:r>
            <a:r>
              <a:rPr lang="en-US" altLang="zh-CN" sz="2000" b="1"/>
              <a:t>(a&gt;1)||(b&lt;2)</a:t>
            </a:r>
          </a:p>
          <a:p>
            <a:pPr algn="just">
              <a:lnSpc>
                <a:spcPct val="130000"/>
              </a:lnSpc>
            </a:pPr>
            <a:r>
              <a:rPr lang="zh-CN" altLang="en-US" sz="2000" b="1"/>
              <a:t>无法发现缺陷</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014"/>
                                        </p:tgtEl>
                                        <p:attrNameLst>
                                          <p:attrName>style.visibility</p:attrName>
                                        </p:attrNameLst>
                                      </p:cBhvr>
                                      <p:to>
                                        <p:strVal val="visible"/>
                                      </p:to>
                                    </p:set>
                                    <p:animEffect transition="in" filter="dissolve">
                                      <p:cBhvr>
                                        <p:cTn id="12" dur="500"/>
                                        <p:tgtEl>
                                          <p:spTgt spid="430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P spid="11" grpId="0" bldLvl="0" animBg="1"/>
      <p:bldP spid="11"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p:cNvSpPr>
          <p:nvPr>
            <p:ph idx="1"/>
          </p:nvPr>
        </p:nvSpPr>
        <p:spPr>
          <a:xfrm>
            <a:off x="2026285" y="1440816"/>
            <a:ext cx="8139430" cy="4227195"/>
          </a:xfrm>
        </p:spPr>
        <p:txBody>
          <a:bodyPr vert="horz" wrap="square" lIns="91440" tIns="45720" rIns="91440" bIns="45720" rtlCol="0" anchor="t" anchorCtr="0">
            <a:normAutofit/>
          </a:bodyPr>
          <a:lstStyle/>
          <a:p>
            <a:pPr algn="just" eaLnBrk="1" hangingPunct="1">
              <a:lnSpc>
                <a:spcPct val="160000"/>
              </a:lnSpc>
            </a:pPr>
            <a:r>
              <a:rPr lang="zh-CN" altLang="en-US" sz="3400" b="1" dirty="0"/>
              <a:t>条件覆盖</a:t>
            </a:r>
            <a:endParaRPr lang="en-US" altLang="zh-CN" sz="3400" b="1" dirty="0"/>
          </a:p>
          <a:p>
            <a:pPr lvl="1" algn="just" eaLnBrk="1" hangingPunct="1">
              <a:lnSpc>
                <a:spcPct val="160000"/>
              </a:lnSpc>
            </a:pPr>
            <a:r>
              <a:rPr lang="zh-CN" altLang="en-US" sz="2425" b="1" dirty="0"/>
              <a:t>基本思想：</a:t>
            </a:r>
            <a:r>
              <a:rPr lang="zh-CN" altLang="en-US" sz="2425" dirty="0"/>
              <a:t>设计测试用例时应保证程序中每个复合判定表达式中，</a:t>
            </a:r>
            <a:r>
              <a:rPr lang="zh-CN" altLang="en-US" sz="2425" b="1" dirty="0">
                <a:solidFill>
                  <a:srgbClr val="FF0000"/>
                </a:solidFill>
              </a:rPr>
              <a:t>每个简单判定条件</a:t>
            </a:r>
            <a:r>
              <a:rPr lang="zh-CN" altLang="en-US" sz="2425" dirty="0"/>
              <a:t>的取真和取假情况至少执行一次。</a:t>
            </a:r>
          </a:p>
          <a:p>
            <a:pPr lvl="1" algn="just" eaLnBrk="1" hangingPunct="1">
              <a:lnSpc>
                <a:spcPct val="160000"/>
              </a:lnSpc>
            </a:pPr>
            <a:r>
              <a:rPr lang="zh-CN" altLang="en-US" sz="2425" b="1" dirty="0">
                <a:solidFill>
                  <a:srgbClr val="FF0000"/>
                </a:solidFill>
              </a:rPr>
              <a:t>每个判定条件取真</a:t>
            </a:r>
            <a:r>
              <a:rPr lang="en-US" altLang="zh-CN" sz="2425" b="1" dirty="0">
                <a:solidFill>
                  <a:srgbClr val="FF0000"/>
                </a:solidFill>
              </a:rPr>
              <a:t>/</a:t>
            </a:r>
            <a:r>
              <a:rPr sz="2425" b="1" dirty="0">
                <a:solidFill>
                  <a:srgbClr val="FF0000"/>
                </a:solidFill>
              </a:rPr>
              <a:t>假各一次，不考虑判定节点的真假情况。</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64</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nvPr>
        </p:nvSpPr>
        <p:spPr>
          <a:xfrm>
            <a:off x="2091056" y="1531621"/>
            <a:ext cx="5147945" cy="2910205"/>
          </a:xfrm>
        </p:spPr>
        <p:txBody>
          <a:bodyPr vert="horz" wrap="square" lIns="91440" tIns="45720" rIns="91440" bIns="45720" rtlCol="0" anchor="t" anchorCtr="0">
            <a:normAutofit/>
          </a:bodyPr>
          <a:lstStyle/>
          <a:p>
            <a:pPr algn="just" eaLnBrk="1" hangingPunct="1">
              <a:lnSpc>
                <a:spcPct val="120000"/>
              </a:lnSpc>
              <a:buClrTx/>
              <a:buSzTx/>
            </a:pPr>
            <a:r>
              <a:rPr lang="zh-CN" altLang="en-US" sz="3400" b="1" dirty="0"/>
              <a:t>条件覆盖</a:t>
            </a:r>
          </a:p>
          <a:p>
            <a:pPr algn="just" eaLnBrk="1" hangingPunct="1"/>
            <a:r>
              <a:rPr lang="zh-CN" altLang="en-US" sz="3200" b="1" dirty="0">
                <a:sym typeface="+mn-ea"/>
              </a:rPr>
              <a:t>局限性：</a:t>
            </a:r>
            <a:endParaRPr lang="en-US" altLang="zh-CN" sz="3200" b="1" dirty="0"/>
          </a:p>
          <a:p>
            <a:pPr lvl="1" algn="just" eaLnBrk="1" hangingPunct="1"/>
            <a:r>
              <a:rPr lang="zh-CN" altLang="en-US" dirty="0">
                <a:sym typeface="+mn-ea"/>
              </a:rPr>
              <a:t>条件覆盖不能保证</a:t>
            </a:r>
            <a:r>
              <a:rPr lang="en-US" altLang="zh-CN" dirty="0">
                <a:sym typeface="+mn-ea"/>
              </a:rPr>
              <a:t>100%</a:t>
            </a:r>
            <a:r>
              <a:rPr lang="zh-CN" altLang="en-US" dirty="0">
                <a:sym typeface="+mn-ea"/>
              </a:rPr>
              <a:t>的判定覆盖。</a:t>
            </a:r>
          </a:p>
        </p:txBody>
      </p:sp>
      <p:pic>
        <p:nvPicPr>
          <p:cNvPr id="27653" name="Picture 2"/>
          <p:cNvPicPr>
            <a:picLocks noChangeAspect="1"/>
          </p:cNvPicPr>
          <p:nvPr/>
        </p:nvPicPr>
        <p:blipFill>
          <a:blip r:embed="rId6"/>
          <a:stretch>
            <a:fillRect/>
          </a:stretch>
        </p:blipFill>
        <p:spPr>
          <a:xfrm>
            <a:off x="1630999" y="4694874"/>
            <a:ext cx="9001125" cy="1025525"/>
          </a:xfrm>
          <a:prstGeom prst="rect">
            <a:avLst/>
          </a:prstGeom>
          <a:noFill/>
          <a:ln w="9525">
            <a:noFill/>
          </a:ln>
        </p:spPr>
      </p:pic>
      <p:pic>
        <p:nvPicPr>
          <p:cNvPr id="43014" name="Picture 6" descr="5t12"/>
          <p:cNvPicPr>
            <a:picLocks noChangeAspect="1"/>
          </p:cNvPicPr>
          <p:nvPr/>
        </p:nvPicPr>
        <p:blipFill>
          <a:blip r:embed="rId7"/>
          <a:stretch>
            <a:fillRect/>
          </a:stretch>
        </p:blipFill>
        <p:spPr>
          <a:xfrm>
            <a:off x="7536180" y="116206"/>
            <a:ext cx="3007360" cy="4426585"/>
          </a:xfrm>
          <a:prstGeom prst="rect">
            <a:avLst/>
          </a:prstGeom>
          <a:noFill/>
          <a:ln w="9525">
            <a:noFill/>
          </a:ln>
        </p:spPr>
      </p:pic>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65</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6" name="椭圆 5"/>
          <p:cNvSpPr/>
          <p:nvPr>
            <p:custDataLst>
              <p:tags r:id="rId3"/>
            </p:custDataLst>
          </p:nvPr>
        </p:nvSpPr>
        <p:spPr>
          <a:xfrm>
            <a:off x="5562600" y="4584700"/>
            <a:ext cx="2608580" cy="132588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custDataLst>
              <p:tags r:id="rId4"/>
            </p:custDataLst>
          </p:nvPr>
        </p:nvSpPr>
        <p:spPr>
          <a:xfrm>
            <a:off x="5087620" y="6053455"/>
            <a:ext cx="3530600" cy="46096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lnSpc>
                <a:spcPct val="130000"/>
              </a:lnSpc>
            </a:pPr>
            <a:r>
              <a:rPr lang="zh-CN" altLang="en-US" sz="2000" b="1"/>
              <a:t>遗漏了</a:t>
            </a:r>
            <a:r>
              <a:rPr lang="en-US" altLang="zh-CN" sz="2000" b="1"/>
              <a:t>p2</a:t>
            </a:r>
            <a:r>
              <a:rPr lang="zh-CN" altLang="en-US" sz="2000" b="1"/>
              <a:t>和</a:t>
            </a:r>
            <a:r>
              <a:rPr lang="en-US" altLang="zh-CN" sz="2000" b="1"/>
              <a:t>p3</a:t>
            </a:r>
            <a:r>
              <a:rPr lang="zh-CN" altLang="en-US" sz="2000" b="1"/>
              <a:t>路径的测试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dissolve">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11" grpId="0" bldLvl="0" animBg="1"/>
      <p:bldP spid="11"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p:cNvSpPr>
          <p:nvPr>
            <p:ph idx="1"/>
          </p:nvPr>
        </p:nvSpPr>
        <p:spPr>
          <a:xfrm>
            <a:off x="2091055" y="1636395"/>
            <a:ext cx="8001000" cy="2922270"/>
          </a:xfrm>
        </p:spPr>
        <p:txBody>
          <a:bodyPr vert="horz" wrap="square" lIns="91440" tIns="45720" rIns="91440" bIns="45720" rtlCol="0" anchor="t" anchorCtr="0">
            <a:normAutofit/>
          </a:bodyPr>
          <a:lstStyle/>
          <a:p>
            <a:pPr algn="just" eaLnBrk="1" hangingPunct="1">
              <a:lnSpc>
                <a:spcPct val="120000"/>
              </a:lnSpc>
              <a:buClrTx/>
              <a:buSzTx/>
            </a:pPr>
            <a:r>
              <a:rPr lang="zh-CN" altLang="en-US" sz="3400" b="1" dirty="0"/>
              <a:t>条件覆盖</a:t>
            </a:r>
          </a:p>
          <a:p>
            <a:pPr algn="just" eaLnBrk="1" hangingPunct="1">
              <a:lnSpc>
                <a:spcPct val="120000"/>
              </a:lnSpc>
              <a:buClrTx/>
              <a:buSzTx/>
            </a:pPr>
            <a:r>
              <a:rPr lang="zh-CN" altLang="en-US" sz="3400" b="1" dirty="0"/>
              <a:t>优选测试用例（表</a:t>
            </a:r>
            <a:r>
              <a:rPr sz="3400" b="1" dirty="0"/>
              <a:t>5.9</a:t>
            </a:r>
            <a:r>
              <a:rPr lang="zh-CN" altLang="en-US" sz="3400" b="1" dirty="0"/>
              <a:t>）</a:t>
            </a:r>
          </a:p>
          <a:p>
            <a:pPr marL="985520" lvl="1" indent="-514350" algn="just">
              <a:buAutoNum type="arabicPeriod"/>
            </a:pPr>
            <a:r>
              <a:rPr lang="en-US" altLang="zh-CN" sz="2770" dirty="0"/>
              <a:t>a=3,b=1,c=3,x=0</a:t>
            </a:r>
          </a:p>
          <a:p>
            <a:pPr marL="985520" lvl="1" indent="-514350" algn="just">
              <a:buAutoNum type="arabicPeriod"/>
            </a:pPr>
            <a:r>
              <a:rPr lang="en-US" altLang="zh-CN" sz="2770" dirty="0"/>
              <a:t>a=1,b=2,c=2,x=0</a:t>
            </a:r>
          </a:p>
        </p:txBody>
      </p:sp>
      <p:pic>
        <p:nvPicPr>
          <p:cNvPr id="43014" name="Picture 6" descr="5t12"/>
          <p:cNvPicPr>
            <a:picLocks noChangeAspect="1"/>
          </p:cNvPicPr>
          <p:nvPr/>
        </p:nvPicPr>
        <p:blipFill>
          <a:blip r:embed="rId5"/>
          <a:stretch>
            <a:fillRect/>
          </a:stretch>
        </p:blipFill>
        <p:spPr>
          <a:xfrm>
            <a:off x="7536180" y="44451"/>
            <a:ext cx="3007360" cy="4426585"/>
          </a:xfrm>
          <a:prstGeom prst="rect">
            <a:avLst/>
          </a:prstGeom>
          <a:noFill/>
          <a:ln w="9525">
            <a:noFill/>
          </a:ln>
        </p:spPr>
      </p:pic>
      <p:graphicFrame>
        <p:nvGraphicFramePr>
          <p:cNvPr id="2" name="表格 1"/>
          <p:cNvGraphicFramePr/>
          <p:nvPr>
            <p:custDataLst>
              <p:tags r:id="rId1"/>
            </p:custDataLst>
          </p:nvPr>
        </p:nvGraphicFramePr>
        <p:xfrm>
          <a:off x="1751014" y="4723765"/>
          <a:ext cx="8705215" cy="1371600"/>
        </p:xfrm>
        <a:graphic>
          <a:graphicData uri="http://schemas.openxmlformats.org/drawingml/2006/table">
            <a:tbl>
              <a:tblPr firstRow="1" bandRow="1">
                <a:tableStyleId>{5C22544A-7EE6-4342-B048-85BDC9FD1C3A}</a:tableStyleId>
              </a:tblPr>
              <a:tblGrid>
                <a:gridCol w="1106805">
                  <a:extLst>
                    <a:ext uri="{9D8B030D-6E8A-4147-A177-3AD203B41FA5}">
                      <a16:colId xmlns:a16="http://schemas.microsoft.com/office/drawing/2014/main" val="20000"/>
                    </a:ext>
                  </a:extLst>
                </a:gridCol>
                <a:gridCol w="713105">
                  <a:extLst>
                    <a:ext uri="{9D8B030D-6E8A-4147-A177-3AD203B41FA5}">
                      <a16:colId xmlns:a16="http://schemas.microsoft.com/office/drawing/2014/main" val="20001"/>
                    </a:ext>
                  </a:extLst>
                </a:gridCol>
                <a:gridCol w="760730">
                  <a:extLst>
                    <a:ext uri="{9D8B030D-6E8A-4147-A177-3AD203B41FA5}">
                      <a16:colId xmlns:a16="http://schemas.microsoft.com/office/drawing/2014/main" val="20002"/>
                    </a:ext>
                  </a:extLst>
                </a:gridCol>
                <a:gridCol w="692785">
                  <a:extLst>
                    <a:ext uri="{9D8B030D-6E8A-4147-A177-3AD203B41FA5}">
                      <a16:colId xmlns:a16="http://schemas.microsoft.com/office/drawing/2014/main" val="20003"/>
                    </a:ext>
                  </a:extLst>
                </a:gridCol>
                <a:gridCol w="831850">
                  <a:extLst>
                    <a:ext uri="{9D8B030D-6E8A-4147-A177-3AD203B41FA5}">
                      <a16:colId xmlns:a16="http://schemas.microsoft.com/office/drawing/2014/main" val="20004"/>
                    </a:ext>
                  </a:extLst>
                </a:gridCol>
                <a:gridCol w="720090">
                  <a:extLst>
                    <a:ext uri="{9D8B030D-6E8A-4147-A177-3AD203B41FA5}">
                      <a16:colId xmlns:a16="http://schemas.microsoft.com/office/drawing/2014/main" val="20005"/>
                    </a:ext>
                  </a:extLst>
                </a:gridCol>
                <a:gridCol w="573405">
                  <a:extLst>
                    <a:ext uri="{9D8B030D-6E8A-4147-A177-3AD203B41FA5}">
                      <a16:colId xmlns:a16="http://schemas.microsoft.com/office/drawing/2014/main" val="20006"/>
                    </a:ext>
                  </a:extLst>
                </a:gridCol>
                <a:gridCol w="902970">
                  <a:extLst>
                    <a:ext uri="{9D8B030D-6E8A-4147-A177-3AD203B41FA5}">
                      <a16:colId xmlns:a16="http://schemas.microsoft.com/office/drawing/2014/main" val="20007"/>
                    </a:ext>
                  </a:extLst>
                </a:gridCol>
                <a:gridCol w="1221740">
                  <a:extLst>
                    <a:ext uri="{9D8B030D-6E8A-4147-A177-3AD203B41FA5}">
                      <a16:colId xmlns:a16="http://schemas.microsoft.com/office/drawing/2014/main" val="20008"/>
                    </a:ext>
                  </a:extLst>
                </a:gridCol>
                <a:gridCol w="1181735">
                  <a:extLst>
                    <a:ext uri="{9D8B030D-6E8A-4147-A177-3AD203B41FA5}">
                      <a16:colId xmlns:a16="http://schemas.microsoft.com/office/drawing/2014/main" val="20009"/>
                    </a:ext>
                  </a:extLst>
                </a:gridCol>
              </a:tblGrid>
              <a:tr h="640080">
                <a:tc>
                  <a:txBody>
                    <a:bodyPr/>
                    <a:lstStyle/>
                    <a:p>
                      <a:pPr algn="ctr">
                        <a:buNone/>
                      </a:pPr>
                      <a:endParaRPr lang="en-US" altLang="zh-CN"/>
                    </a:p>
                  </a:txBody>
                  <a:tcPr anchor="ctr">
                    <a:solidFill>
                      <a:schemeClr val="accent2"/>
                    </a:solidFill>
                  </a:tcPr>
                </a:tc>
                <a:tc>
                  <a:txBody>
                    <a:bodyPr/>
                    <a:lstStyle/>
                    <a:p>
                      <a:pPr algn="ctr">
                        <a:buNone/>
                      </a:pPr>
                      <a:r>
                        <a:rPr lang="en-US" altLang="zh-CN" sz="1800"/>
                        <a:t>a&gt;1</a:t>
                      </a:r>
                    </a:p>
                  </a:txBody>
                  <a:tcPr anchor="ctr">
                    <a:solidFill>
                      <a:schemeClr val="accent2"/>
                    </a:solidFill>
                  </a:tcPr>
                </a:tc>
                <a:tc>
                  <a:txBody>
                    <a:bodyPr/>
                    <a:lstStyle/>
                    <a:p>
                      <a:pPr algn="ctr">
                        <a:buNone/>
                      </a:pPr>
                      <a:r>
                        <a:rPr lang="en-US" altLang="zh-CN" sz="1800"/>
                        <a:t>b&lt;2</a:t>
                      </a:r>
                    </a:p>
                  </a:txBody>
                  <a:tcPr anchor="ctr">
                    <a:solidFill>
                      <a:schemeClr val="accent2"/>
                    </a:solidFill>
                  </a:tcPr>
                </a:tc>
                <a:tc>
                  <a:txBody>
                    <a:bodyPr/>
                    <a:lstStyle/>
                    <a:p>
                      <a:pPr algn="ctr">
                        <a:buNone/>
                      </a:pPr>
                      <a:r>
                        <a:rPr lang="en-US" altLang="zh-CN" sz="1800"/>
                        <a:t>&amp;&amp;</a:t>
                      </a:r>
                    </a:p>
                  </a:txBody>
                  <a:tcPr anchor="ctr">
                    <a:solidFill>
                      <a:schemeClr val="accent2"/>
                    </a:solidFill>
                  </a:tcPr>
                </a:tc>
                <a:tc>
                  <a:txBody>
                    <a:bodyPr/>
                    <a:lstStyle/>
                    <a:p>
                      <a:pPr algn="ctr">
                        <a:buNone/>
                      </a:pPr>
                      <a:r>
                        <a:rPr lang="en-US" altLang="zh-CN" sz="1800"/>
                        <a:t>a=3</a:t>
                      </a:r>
                    </a:p>
                  </a:txBody>
                  <a:tcPr anchor="ctr">
                    <a:solidFill>
                      <a:schemeClr val="accent4"/>
                    </a:solidFill>
                  </a:tcPr>
                </a:tc>
                <a:tc>
                  <a:txBody>
                    <a:bodyPr/>
                    <a:lstStyle/>
                    <a:p>
                      <a:pPr algn="ctr">
                        <a:buNone/>
                      </a:pPr>
                      <a:r>
                        <a:rPr lang="en-US" altLang="zh-CN" sz="1800"/>
                        <a:t>x&gt;3</a:t>
                      </a:r>
                    </a:p>
                  </a:txBody>
                  <a:tcPr anchor="ctr">
                    <a:solidFill>
                      <a:schemeClr val="accent4"/>
                    </a:solidFill>
                  </a:tcPr>
                </a:tc>
                <a:tc>
                  <a:txBody>
                    <a:bodyPr/>
                    <a:lstStyle/>
                    <a:p>
                      <a:pPr algn="ctr">
                        <a:buNone/>
                      </a:pPr>
                      <a:r>
                        <a:rPr lang="en-US" altLang="zh-CN" sz="1800"/>
                        <a:t>||</a:t>
                      </a:r>
                    </a:p>
                  </a:txBody>
                  <a:tcPr anchor="ctr">
                    <a:solidFill>
                      <a:schemeClr val="accent4"/>
                    </a:solidFill>
                  </a:tcPr>
                </a:tc>
                <a:tc>
                  <a:txBody>
                    <a:bodyPr/>
                    <a:lstStyle/>
                    <a:p>
                      <a:pPr algn="ctr">
                        <a:buNone/>
                      </a:pPr>
                      <a:r>
                        <a:rPr lang="zh-CN" altLang="en-US" sz="1800"/>
                        <a:t>路径</a:t>
                      </a:r>
                    </a:p>
                  </a:txBody>
                  <a:tcPr anchor="ctr">
                    <a:solidFill>
                      <a:schemeClr val="accent2"/>
                    </a:solidFill>
                  </a:tcPr>
                </a:tc>
                <a:tc>
                  <a:txBody>
                    <a:bodyPr/>
                    <a:lstStyle/>
                    <a:p>
                      <a:pPr algn="ctr">
                        <a:buNone/>
                      </a:pPr>
                      <a:r>
                        <a:rPr lang="zh-CN" altLang="en-US" sz="1800"/>
                        <a:t>条件覆盖</a:t>
                      </a:r>
                    </a:p>
                  </a:txBody>
                  <a:tcPr anchor="ctr">
                    <a:solidFill>
                      <a:schemeClr val="accent2"/>
                    </a:solidFill>
                  </a:tcPr>
                </a:tc>
                <a:tc>
                  <a:txBody>
                    <a:bodyPr/>
                    <a:lstStyle/>
                    <a:p>
                      <a:pPr algn="ctr">
                        <a:buNone/>
                      </a:pPr>
                      <a:r>
                        <a:rPr lang="zh-CN" altLang="en-US" sz="1800"/>
                        <a:t>判定覆盖</a:t>
                      </a:r>
                    </a:p>
                  </a:txBody>
                  <a:tcPr anchor="ctr">
                    <a:solidFill>
                      <a:schemeClr val="accent2"/>
                    </a:solidFill>
                  </a:tcPr>
                </a:tc>
                <a:extLst>
                  <a:ext uri="{0D108BD9-81ED-4DB2-BD59-A6C34878D82A}">
                    <a16:rowId xmlns:a16="http://schemas.microsoft.com/office/drawing/2014/main" val="10000"/>
                  </a:ext>
                </a:extLst>
              </a:tr>
              <a:tr h="365760">
                <a:tc>
                  <a:txBody>
                    <a:bodyPr/>
                    <a:lstStyle/>
                    <a:p>
                      <a:pPr algn="ctr">
                        <a:buNone/>
                      </a:pPr>
                      <a:r>
                        <a:rPr lang="en-US" altLang="zh-CN" sz="1800"/>
                        <a:t>LC-001</a:t>
                      </a:r>
                    </a:p>
                  </a:txBody>
                  <a:tcPr anchor="ctr">
                    <a:solidFill>
                      <a:schemeClr val="tx2"/>
                    </a:solidFill>
                  </a:tcPr>
                </a:tc>
                <a:tc>
                  <a:txBody>
                    <a:bodyPr/>
                    <a:lstStyle/>
                    <a:p>
                      <a:pPr algn="ctr">
                        <a:buNone/>
                      </a:pPr>
                      <a:r>
                        <a:rPr lang="en-US" altLang="zh-CN" sz="1800"/>
                        <a:t>T</a:t>
                      </a:r>
                    </a:p>
                  </a:txBody>
                  <a:tcPr anchor="ctr">
                    <a:solidFill>
                      <a:schemeClr val="tx2"/>
                    </a:solidFill>
                  </a:tcPr>
                </a:tc>
                <a:tc>
                  <a:txBody>
                    <a:bodyPr/>
                    <a:lstStyle/>
                    <a:p>
                      <a:pPr algn="ctr">
                        <a:buNone/>
                      </a:pPr>
                      <a:r>
                        <a:rPr lang="en-US" altLang="zh-CN" sz="1800"/>
                        <a:t>T</a:t>
                      </a:r>
                    </a:p>
                  </a:txBody>
                  <a:tcPr anchor="ctr">
                    <a:solidFill>
                      <a:schemeClr val="tx2"/>
                    </a:solidFill>
                  </a:tcPr>
                </a:tc>
                <a:tc>
                  <a:txBody>
                    <a:bodyPr/>
                    <a:lstStyle/>
                    <a:p>
                      <a:pPr algn="ctr">
                        <a:buNone/>
                      </a:pPr>
                      <a:r>
                        <a:rPr lang="en-US" altLang="zh-CN" sz="1800"/>
                        <a:t>T</a:t>
                      </a:r>
                    </a:p>
                  </a:txBody>
                  <a:tcPr anchor="ctr">
                    <a:solidFill>
                      <a:schemeClr val="tx2"/>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T</a:t>
                      </a:r>
                    </a:p>
                  </a:txBody>
                  <a:tcPr anchor="ctr">
                    <a:solidFill>
                      <a:schemeClr val="accent4">
                        <a:lumMod val="20000"/>
                        <a:lumOff val="80000"/>
                      </a:schemeClr>
                    </a:solidFill>
                  </a:tcPr>
                </a:tc>
                <a:tc>
                  <a:txBody>
                    <a:bodyPr/>
                    <a:lstStyle/>
                    <a:p>
                      <a:pPr algn="ctr">
                        <a:buNone/>
                      </a:pPr>
                      <a:r>
                        <a:rPr lang="en-US" altLang="zh-CN" sz="1800"/>
                        <a:t>L24</a:t>
                      </a:r>
                    </a:p>
                  </a:txBody>
                  <a:tcPr anchor="ctr">
                    <a:solidFill>
                      <a:schemeClr val="bg2"/>
                    </a:solidFill>
                  </a:tcPr>
                </a:tc>
                <a:tc rowSpan="2">
                  <a:txBody>
                    <a:bodyPr/>
                    <a:lstStyle/>
                    <a:p>
                      <a:pPr algn="ctr">
                        <a:buNone/>
                      </a:pPr>
                      <a:r>
                        <a:rPr lang="en-US" altLang="zh-CN" sz="1800"/>
                        <a:t>100%</a:t>
                      </a:r>
                    </a:p>
                  </a:txBody>
                  <a:tcPr anchor="ctr">
                    <a:solidFill>
                      <a:schemeClr val="bg2"/>
                    </a:solidFill>
                  </a:tcPr>
                </a:tc>
                <a:tc rowSpan="2">
                  <a:txBody>
                    <a:bodyPr/>
                    <a:lstStyle/>
                    <a:p>
                      <a:pPr algn="ctr">
                        <a:buNone/>
                      </a:pPr>
                      <a:r>
                        <a:rPr lang="en-US" altLang="zh-CN" sz="1800"/>
                        <a:t>100%</a:t>
                      </a:r>
                    </a:p>
                  </a:txBody>
                  <a:tcPr anchor="ctr">
                    <a:solidFill>
                      <a:schemeClr val="bg2"/>
                    </a:solidFill>
                  </a:tcPr>
                </a:tc>
                <a:extLst>
                  <a:ext uri="{0D108BD9-81ED-4DB2-BD59-A6C34878D82A}">
                    <a16:rowId xmlns:a16="http://schemas.microsoft.com/office/drawing/2014/main" val="10001"/>
                  </a:ext>
                </a:extLst>
              </a:tr>
              <a:tr h="365760">
                <a:tc>
                  <a:txBody>
                    <a:bodyPr/>
                    <a:lstStyle/>
                    <a:p>
                      <a:pPr algn="ctr">
                        <a:buNone/>
                      </a:pPr>
                      <a:r>
                        <a:rPr lang="en-US" altLang="zh-CN" sz="1800"/>
                        <a:t>LC-002</a:t>
                      </a:r>
                    </a:p>
                  </a:txBody>
                  <a:tcPr anchor="ctr"/>
                </a:tc>
                <a:tc>
                  <a:txBody>
                    <a:bodyPr/>
                    <a:lstStyle/>
                    <a:p>
                      <a:pPr algn="ctr">
                        <a:buNone/>
                      </a:pPr>
                      <a:r>
                        <a:rPr lang="en-US" altLang="zh-CN" sz="1800"/>
                        <a:t>F</a:t>
                      </a:r>
                    </a:p>
                  </a:txBody>
                  <a:tcPr anchor="ctr"/>
                </a:tc>
                <a:tc>
                  <a:txBody>
                    <a:bodyPr/>
                    <a:lstStyle/>
                    <a:p>
                      <a:pPr algn="ctr">
                        <a:buNone/>
                      </a:pPr>
                      <a:r>
                        <a:rPr lang="en-US" altLang="zh-CN" sz="1800"/>
                        <a:t>F</a:t>
                      </a:r>
                    </a:p>
                  </a:txBody>
                  <a:tcPr anchor="ctr"/>
                </a:tc>
                <a:tc>
                  <a:txBody>
                    <a:bodyPr/>
                    <a:lstStyle/>
                    <a:p>
                      <a:pPr algn="ctr">
                        <a:buNone/>
                      </a:pPr>
                      <a:r>
                        <a:rPr lang="en-US" altLang="zh-CN" sz="1800"/>
                        <a:t>F</a:t>
                      </a:r>
                    </a:p>
                  </a:txBody>
                  <a:tcPr anchor="ctr">
                    <a:solidFill>
                      <a:schemeClr val="bg1">
                        <a:lumMod val="95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F</a:t>
                      </a:r>
                    </a:p>
                  </a:txBody>
                  <a:tcPr anchor="ctr">
                    <a:solidFill>
                      <a:schemeClr val="accent4">
                        <a:lumMod val="40000"/>
                        <a:lumOff val="60000"/>
                      </a:schemeClr>
                    </a:solidFill>
                  </a:tcPr>
                </a:tc>
                <a:tc>
                  <a:txBody>
                    <a:bodyPr/>
                    <a:lstStyle/>
                    <a:p>
                      <a:pPr algn="ctr">
                        <a:buNone/>
                      </a:pPr>
                      <a:r>
                        <a:rPr lang="en-US" altLang="zh-CN" sz="1800"/>
                        <a:t>L13</a:t>
                      </a:r>
                    </a:p>
                  </a:txBody>
                  <a:tcPr anchor="ctr"/>
                </a:tc>
                <a:tc vMerge="1">
                  <a:txBody>
                    <a:bodyPr/>
                    <a:lstStyle/>
                    <a:p>
                      <a:endParaRPr lang="zh-CN"/>
                    </a:p>
                  </a:txBody>
                  <a:tcPr anchor="ctr"/>
                </a:tc>
                <a:tc vMerge="1">
                  <a:txBody>
                    <a:bodyPr/>
                    <a:lstStyle/>
                    <a:p>
                      <a:endParaRPr lang="zh-CN"/>
                    </a:p>
                  </a:txBody>
                  <a:tcPr anchor="ctr"/>
                </a:tc>
                <a:extLst>
                  <a:ext uri="{0D108BD9-81ED-4DB2-BD59-A6C34878D82A}">
                    <a16:rowId xmlns:a16="http://schemas.microsoft.com/office/drawing/2014/main" val="10002"/>
                  </a:ext>
                </a:extLst>
              </a:tr>
            </a:tbl>
          </a:graphicData>
        </a:graphic>
      </p:graphicFrame>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66</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2"/>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3"/>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4"/>
                                        </p:tgtEl>
                                        <p:attrNameLst>
                                          <p:attrName>style.visibility</p:attrName>
                                        </p:attrNameLst>
                                      </p:cBhvr>
                                      <p:to>
                                        <p:strVal val="visible"/>
                                      </p:to>
                                    </p:set>
                                    <p:animEffect transition="in" filter="dissolve">
                                      <p:cBhvr>
                                        <p:cTn id="7" dur="500"/>
                                        <p:tgtEl>
                                          <p:spTgt spid="430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p:cNvSpPr>
          <p:nvPr>
            <p:ph idx="1"/>
          </p:nvPr>
        </p:nvSpPr>
        <p:spPr>
          <a:xfrm>
            <a:off x="2026285" y="1491616"/>
            <a:ext cx="8139430" cy="4176395"/>
          </a:xfrm>
        </p:spPr>
        <p:txBody>
          <a:bodyPr vert="horz" wrap="square" lIns="91440" tIns="45720" rIns="91440" bIns="45720" rtlCol="0" anchor="t" anchorCtr="0">
            <a:normAutofit/>
          </a:bodyPr>
          <a:lstStyle/>
          <a:p>
            <a:pPr algn="just" eaLnBrk="1" hangingPunct="1">
              <a:lnSpc>
                <a:spcPct val="150000"/>
              </a:lnSpc>
            </a:pPr>
            <a:r>
              <a:rPr lang="zh-CN" altLang="en-US" sz="3400" b="1" dirty="0"/>
              <a:t>判定</a:t>
            </a:r>
            <a:r>
              <a:rPr lang="en-US" altLang="zh-CN" sz="3400" b="1" dirty="0"/>
              <a:t>/</a:t>
            </a:r>
            <a:r>
              <a:rPr lang="zh-CN" altLang="en-US" sz="3400" b="1" dirty="0"/>
              <a:t>条件覆盖</a:t>
            </a:r>
            <a:endParaRPr lang="en-US" altLang="zh-CN" sz="3400" b="1" dirty="0"/>
          </a:p>
          <a:p>
            <a:pPr lvl="1" algn="just" eaLnBrk="1" hangingPunct="1">
              <a:lnSpc>
                <a:spcPct val="150000"/>
              </a:lnSpc>
            </a:pPr>
            <a:r>
              <a:rPr lang="zh-CN" altLang="en-US" sz="2425" b="1" dirty="0"/>
              <a:t>基本思想：</a:t>
            </a:r>
            <a:r>
              <a:rPr lang="zh-CN" altLang="en-US" sz="2425" dirty="0"/>
              <a:t>测试用例的设计应满足判定节点的取真和取假分支至少执行一次，且每个简单判定条件的取真和取假情况也应至少执行一次，即</a:t>
            </a:r>
            <a:r>
              <a:rPr lang="zh-CN" altLang="en-US" sz="2425" b="1" dirty="0">
                <a:solidFill>
                  <a:srgbClr val="FF0000"/>
                </a:solidFill>
              </a:rPr>
              <a:t>判定覆盖</a:t>
            </a:r>
            <a:r>
              <a:rPr lang="en-US" altLang="en-US" sz="2425" b="1" dirty="0">
                <a:solidFill>
                  <a:srgbClr val="FF0000"/>
                </a:solidFill>
              </a:rPr>
              <a:t>+</a:t>
            </a:r>
            <a:r>
              <a:rPr lang="zh-CN" altLang="en-US" sz="2425" b="1" dirty="0">
                <a:solidFill>
                  <a:srgbClr val="FF0000"/>
                </a:solidFill>
              </a:rPr>
              <a:t>条件覆盖</a:t>
            </a:r>
            <a:r>
              <a:rPr lang="zh-CN" altLang="en-US" sz="2425" dirty="0"/>
              <a:t>。</a:t>
            </a:r>
          </a:p>
          <a:p>
            <a:pPr lvl="1" algn="just" eaLnBrk="1" hangingPunct="1">
              <a:lnSpc>
                <a:spcPct val="150000"/>
              </a:lnSpc>
            </a:pPr>
            <a:r>
              <a:rPr sz="2425" b="1" dirty="0">
                <a:solidFill>
                  <a:srgbClr val="FF0000"/>
                </a:solidFill>
              </a:rPr>
              <a:t>每个判定条件和判定节点均取到真</a:t>
            </a:r>
            <a:r>
              <a:rPr lang="en-US" altLang="zh-CN" sz="2425" b="1" dirty="0">
                <a:solidFill>
                  <a:srgbClr val="FF0000"/>
                </a:solidFill>
              </a:rPr>
              <a:t>/</a:t>
            </a:r>
            <a:r>
              <a:rPr sz="2425" b="1" dirty="0">
                <a:solidFill>
                  <a:srgbClr val="FF0000"/>
                </a:solidFill>
              </a:rPr>
              <a:t>假各一次。</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67</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p:cNvSpPr>
          <p:nvPr>
            <p:ph idx="1"/>
          </p:nvPr>
        </p:nvSpPr>
        <p:spPr>
          <a:xfrm>
            <a:off x="2091056" y="1628776"/>
            <a:ext cx="3971925" cy="4538345"/>
          </a:xfrm>
        </p:spPr>
        <p:txBody>
          <a:bodyPr vert="horz" wrap="square" lIns="91440" tIns="45720" rIns="91440" bIns="45720" rtlCol="0" anchor="t" anchorCtr="0">
            <a:normAutofit fontScale="97500"/>
          </a:bodyPr>
          <a:lstStyle/>
          <a:p>
            <a:pPr algn="just" eaLnBrk="1" hangingPunct="1">
              <a:lnSpc>
                <a:spcPct val="150000"/>
              </a:lnSpc>
              <a:buClrTx/>
              <a:buSzTx/>
            </a:pPr>
            <a:r>
              <a:rPr lang="en-US" altLang="zh-CN" sz="3600" b="1" dirty="0"/>
              <a:t>判定/条件覆盖</a:t>
            </a:r>
          </a:p>
          <a:p>
            <a:pPr algn="just" eaLnBrk="1" hangingPunct="1"/>
            <a:r>
              <a:rPr lang="zh-CN" altLang="en-US" dirty="0"/>
              <a:t>设计一组符合该指标要求的测试用例比较困难。</a:t>
            </a:r>
          </a:p>
          <a:p>
            <a:pPr algn="just" eaLnBrk="1" hangingPunct="1"/>
            <a:r>
              <a:rPr lang="zh-CN" altLang="en-US" b="1" dirty="0"/>
              <a:t>折中策略：</a:t>
            </a:r>
          </a:p>
          <a:p>
            <a:pPr lvl="1" algn="just" eaLnBrk="1" hangingPunct="1"/>
            <a:r>
              <a:rPr lang="zh-CN" altLang="en-US" dirty="0"/>
              <a:t>修改程序结构，将复合判定表达式拆分成多个简单判定表达式，逻辑不变（不包含</a:t>
            </a:r>
            <a:r>
              <a:rPr lang="en-US" altLang="zh-CN" dirty="0"/>
              <a:t>“</a:t>
            </a:r>
            <a:r>
              <a:rPr lang="zh-CN" altLang="en-US" dirty="0"/>
              <a:t>与</a:t>
            </a:r>
            <a:r>
              <a:rPr lang="en-US" altLang="zh-CN" dirty="0"/>
              <a:t>”</a:t>
            </a:r>
            <a:r>
              <a:rPr lang="zh-CN" altLang="en-US" dirty="0"/>
              <a:t>、</a:t>
            </a:r>
            <a:r>
              <a:rPr lang="en-US" altLang="zh-CN" dirty="0"/>
              <a:t>“</a:t>
            </a:r>
            <a:r>
              <a:rPr lang="zh-CN" altLang="en-US" dirty="0"/>
              <a:t>或</a:t>
            </a:r>
            <a:r>
              <a:rPr lang="en-US" altLang="zh-CN" dirty="0"/>
              <a:t>”</a:t>
            </a:r>
            <a:r>
              <a:rPr lang="zh-CN" altLang="en-US" dirty="0"/>
              <a:t>关系）</a:t>
            </a:r>
            <a:r>
              <a:rPr lang="zh-CN" altLang="en-US" dirty="0">
                <a:sym typeface="+mn-ea"/>
              </a:rPr>
              <a:t>。</a:t>
            </a:r>
          </a:p>
        </p:txBody>
      </p:sp>
      <p:pic>
        <p:nvPicPr>
          <p:cNvPr id="30725" name="Picture 2" descr="5t13"/>
          <p:cNvPicPr>
            <a:picLocks noChangeAspect="1"/>
          </p:cNvPicPr>
          <p:nvPr/>
        </p:nvPicPr>
        <p:blipFill>
          <a:blip r:embed="rId4"/>
          <a:stretch>
            <a:fillRect/>
          </a:stretch>
        </p:blipFill>
        <p:spPr>
          <a:xfrm>
            <a:off x="6068696" y="332741"/>
            <a:ext cx="4599305" cy="5342255"/>
          </a:xfrm>
          <a:prstGeom prst="rect">
            <a:avLst/>
          </a:prstGeom>
          <a:noFill/>
          <a:ln w="9525">
            <a:noFill/>
          </a:ln>
        </p:spPr>
      </p:pic>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68</a:t>
            </a:fld>
            <a:endParaRPr lang="en-US" altLang="zh-CN" dirty="0">
              <a:latin typeface="Verdana" panose="020B0604030504040204" pitchFamily="34" charset="0"/>
            </a:endParaRPr>
          </a:p>
        </p:txBody>
      </p:sp>
      <p:sp>
        <p:nvSpPr>
          <p:cNvPr id="4" name="文本框 3"/>
          <p:cNvSpPr txBox="1"/>
          <p:nvPr/>
        </p:nvSpPr>
        <p:spPr>
          <a:xfrm>
            <a:off x="7032625" y="5876925"/>
            <a:ext cx="2240280" cy="368300"/>
          </a:xfrm>
          <a:prstGeom prst="rect">
            <a:avLst/>
          </a:prstGeom>
          <a:noFill/>
        </p:spPr>
        <p:txBody>
          <a:bodyPr wrap="none" rtlCol="0">
            <a:spAutoFit/>
          </a:bodyPr>
          <a:lstStyle/>
          <a:p>
            <a:r>
              <a:rPr lang="zh-CN" altLang="en-US" b="1">
                <a:latin typeface="微软雅黑" panose="020B0503020204020204" charset="-122"/>
                <a:ea typeface="微软雅黑" panose="020B0503020204020204" charset="-122"/>
              </a:rPr>
              <a:t>修改后的代码流程图</a:t>
            </a:r>
          </a:p>
        </p:txBody>
      </p:sp>
      <p:sp>
        <p:nvSpPr>
          <p:cNvPr id="5" name="日期占位符 4"/>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26285" y="1659890"/>
            <a:ext cx="8139430" cy="4008120"/>
          </a:xfrm>
        </p:spPr>
        <p:txBody>
          <a:bodyPr/>
          <a:lstStyle/>
          <a:p>
            <a:pPr algn="just">
              <a:lnSpc>
                <a:spcPct val="140000"/>
              </a:lnSpc>
              <a:buClrTx/>
              <a:buSzTx/>
            </a:pPr>
            <a:r>
              <a:rPr sz="3400" b="1">
                <a:sym typeface="+mn-ea"/>
              </a:rPr>
              <a:t>判定/条件覆盖</a:t>
            </a:r>
            <a:endParaRPr sz="3400" b="1" dirty="0"/>
          </a:p>
          <a:p>
            <a:pPr lvl="1"/>
            <a:r>
              <a:rPr>
                <a:latin typeface="微软雅黑" panose="020B0503020204020204" charset="-122"/>
                <a:sym typeface="+mn-ea"/>
              </a:rPr>
              <a:t>修改代码流程图，增大了程序结构的复杂性；</a:t>
            </a:r>
          </a:p>
          <a:p>
            <a:pPr lvl="1"/>
            <a:endParaRPr lang="zh-CN" altLang="en-US">
              <a:latin typeface="微软雅黑" panose="020B0503020204020204" charset="-122"/>
              <a:sym typeface="+mn-ea"/>
            </a:endParaRPr>
          </a:p>
          <a:p>
            <a:pPr lvl="1"/>
            <a:endParaRPr lang="zh-CN" altLang="en-US">
              <a:latin typeface="微软雅黑" panose="020B0503020204020204" charset="-122"/>
              <a:sym typeface="+mn-ea"/>
            </a:endParaRPr>
          </a:p>
          <a:p>
            <a:pPr lvl="1">
              <a:lnSpc>
                <a:spcPct val="170000"/>
              </a:lnSpc>
            </a:pPr>
            <a:r>
              <a:rPr lang="zh-CN" altLang="en-US">
                <a:latin typeface="微软雅黑" panose="020B0503020204020204" charset="-122"/>
                <a:sym typeface="+mn-ea"/>
              </a:rPr>
              <a:t>可能导致测试用例设计的错误。</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69</a:t>
            </a:fld>
            <a:endParaRPr lang="zh-CN" altLang="en-US"/>
          </a:p>
        </p:txBody>
      </p:sp>
      <p:pic>
        <p:nvPicPr>
          <p:cNvPr id="6" name="图片 5" descr="X_FRN}@NJLCPJ$LIV~@U0CC"/>
          <p:cNvPicPr>
            <a:picLocks noChangeAspect="1"/>
          </p:cNvPicPr>
          <p:nvPr>
            <p:custDataLst>
              <p:tags r:id="rId1"/>
            </p:custDataLst>
          </p:nvPr>
        </p:nvPicPr>
        <p:blipFill>
          <a:blip r:embed="rId4"/>
          <a:stretch>
            <a:fillRect/>
          </a:stretch>
        </p:blipFill>
        <p:spPr>
          <a:xfrm>
            <a:off x="1847850" y="3152775"/>
            <a:ext cx="8648700" cy="1022350"/>
          </a:xfrm>
          <a:prstGeom prst="rect">
            <a:avLst/>
          </a:prstGeom>
        </p:spPr>
      </p:pic>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p:cNvSpPr>
          <p:nvPr>
            <p:ph idx="1"/>
          </p:nvPr>
        </p:nvSpPr>
        <p:spPr>
          <a:xfrm>
            <a:off x="2026285" y="1574800"/>
            <a:ext cx="8139430" cy="4093210"/>
          </a:xfrm>
        </p:spPr>
        <p:txBody>
          <a:bodyPr vert="horz" wrap="square" lIns="91440" tIns="45720" rIns="91440" bIns="45720" rtlCol="0" anchor="t" anchorCtr="0">
            <a:normAutofit/>
          </a:bodyPr>
          <a:lstStyle/>
          <a:p>
            <a:pPr algn="just" eaLnBrk="1" hangingPunct="1">
              <a:lnSpc>
                <a:spcPct val="140000"/>
              </a:lnSpc>
            </a:pPr>
            <a:r>
              <a:rPr lang="zh-CN" altLang="en-US" sz="3400" b="1" dirty="0"/>
              <a:t>条件组合覆盖</a:t>
            </a:r>
            <a:endParaRPr lang="en-US" altLang="zh-CN" sz="3400" b="1" dirty="0"/>
          </a:p>
          <a:p>
            <a:pPr lvl="1" algn="just" eaLnBrk="1" hangingPunct="1">
              <a:lnSpc>
                <a:spcPct val="140000"/>
              </a:lnSpc>
            </a:pPr>
            <a:r>
              <a:rPr lang="zh-CN" altLang="en-US" sz="2425" b="1" dirty="0"/>
              <a:t>基本思想：</a:t>
            </a:r>
            <a:r>
              <a:rPr lang="zh-CN" altLang="en-US" sz="2425" dirty="0"/>
              <a:t>测试用例的设计应满足每个判定节点中，所有简单判定条件的</a:t>
            </a:r>
            <a:r>
              <a:rPr lang="zh-CN" altLang="en-US" sz="2425" b="1" dirty="0">
                <a:solidFill>
                  <a:srgbClr val="FF0000"/>
                </a:solidFill>
              </a:rPr>
              <a:t>所有可能的取值组合</a:t>
            </a:r>
            <a:r>
              <a:rPr lang="zh-CN" altLang="en-US" sz="2425" dirty="0"/>
              <a:t>情况应至少执行一次。</a:t>
            </a:r>
            <a:endParaRPr lang="en-US" altLang="zh-CN" sz="2425" dirty="0"/>
          </a:p>
          <a:p>
            <a:pPr lvl="1" algn="just" eaLnBrk="1" hangingPunct="1">
              <a:lnSpc>
                <a:spcPct val="140000"/>
              </a:lnSpc>
            </a:pPr>
            <a:r>
              <a:rPr lang="zh-CN" altLang="en-US" sz="2425" dirty="0"/>
              <a:t>实质是通过</a:t>
            </a:r>
            <a:r>
              <a:rPr lang="zh-CN" altLang="en-US" sz="2425" b="1" dirty="0">
                <a:solidFill>
                  <a:srgbClr val="FF0000"/>
                </a:solidFill>
              </a:rPr>
              <a:t>列出真值表</a:t>
            </a:r>
            <a:r>
              <a:rPr lang="zh-CN" altLang="en-US" sz="2425" dirty="0"/>
              <a:t>的方式来得到</a:t>
            </a:r>
            <a:r>
              <a:rPr lang="zh-CN" altLang="en-US" sz="2425" b="1" dirty="0">
                <a:solidFill>
                  <a:srgbClr val="FF0000"/>
                </a:solidFill>
              </a:rPr>
              <a:t>完全的覆盖</a:t>
            </a:r>
            <a:r>
              <a:rPr lang="zh-CN" altLang="en-US" sz="2425" dirty="0"/>
              <a:t>，即以冗余换取方法的简单性。</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70</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p:cNvSpPr>
          <p:nvPr>
            <p:ph idx="1"/>
          </p:nvPr>
        </p:nvSpPr>
        <p:spPr/>
        <p:txBody>
          <a:bodyPr vert="horz" wrap="square" lIns="91440" tIns="45720" rIns="91440" bIns="45720" rtlCol="0" anchor="t" anchorCtr="0">
            <a:normAutofit/>
          </a:bodyPr>
          <a:lstStyle/>
          <a:p>
            <a:pPr algn="just" eaLnBrk="1" hangingPunct="1"/>
            <a:r>
              <a:rPr lang="zh-CN" altLang="en-US" sz="3400" b="1" dirty="0"/>
              <a:t>条件组合覆盖</a:t>
            </a:r>
          </a:p>
        </p:txBody>
      </p:sp>
      <p:pic>
        <p:nvPicPr>
          <p:cNvPr id="33797" name="Picture 2"/>
          <p:cNvPicPr>
            <a:picLocks noChangeAspect="1"/>
          </p:cNvPicPr>
          <p:nvPr/>
        </p:nvPicPr>
        <p:blipFill>
          <a:blip r:embed="rId5"/>
          <a:stretch>
            <a:fillRect/>
          </a:stretch>
        </p:blipFill>
        <p:spPr>
          <a:xfrm>
            <a:off x="1775460" y="1425575"/>
            <a:ext cx="8714740" cy="4874260"/>
          </a:xfrm>
          <a:prstGeom prst="rect">
            <a:avLst/>
          </a:prstGeom>
          <a:noFill/>
          <a:ln w="9525">
            <a:noFill/>
          </a:ln>
        </p:spPr>
      </p:pic>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71</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6" name="椭圆 5"/>
          <p:cNvSpPr/>
          <p:nvPr>
            <p:custDataLst>
              <p:tags r:id="rId3"/>
            </p:custDataLst>
          </p:nvPr>
        </p:nvSpPr>
        <p:spPr>
          <a:xfrm>
            <a:off x="5632451" y="1746250"/>
            <a:ext cx="716915" cy="251206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dissolve">
                                      <p:cBhvr>
                                        <p:cTn id="7" dur="500"/>
                                        <p:tgtEl>
                                          <p:spTgt spid="337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p:cNvSpPr>
          <p:nvPr>
            <p:ph idx="1"/>
          </p:nvPr>
        </p:nvSpPr>
        <p:spPr>
          <a:xfrm>
            <a:off x="2026285" y="1481456"/>
            <a:ext cx="8139430" cy="4844415"/>
          </a:xfrm>
        </p:spPr>
        <p:txBody>
          <a:bodyPr vert="horz" wrap="square" lIns="91440" tIns="45720" rIns="91440" bIns="45720" rtlCol="0" anchor="t" anchorCtr="0">
            <a:normAutofit/>
          </a:bodyPr>
          <a:lstStyle/>
          <a:p>
            <a:pPr algn="just" eaLnBrk="1" hangingPunct="1">
              <a:lnSpc>
                <a:spcPct val="120000"/>
              </a:lnSpc>
            </a:pPr>
            <a:r>
              <a:rPr lang="zh-CN" altLang="en-US" sz="3400" b="1" dirty="0"/>
              <a:t>条件组合覆盖</a:t>
            </a:r>
            <a:endParaRPr lang="en-US" altLang="zh-CN" sz="3400" b="1" dirty="0"/>
          </a:p>
          <a:p>
            <a:pPr algn="just" eaLnBrk="1" hangingPunct="1">
              <a:lnSpc>
                <a:spcPct val="120000"/>
              </a:lnSpc>
            </a:pPr>
            <a:r>
              <a:rPr lang="zh-CN" altLang="en-US" sz="3400" b="1" dirty="0"/>
              <a:t>局限性：</a:t>
            </a:r>
            <a:endParaRPr lang="en-US" altLang="zh-CN" sz="3400" b="1" dirty="0"/>
          </a:p>
          <a:p>
            <a:pPr lvl="1" algn="just" eaLnBrk="1" hangingPunct="1">
              <a:lnSpc>
                <a:spcPct val="120000"/>
              </a:lnSpc>
            </a:pPr>
            <a:r>
              <a:rPr lang="zh-CN" altLang="en-US" dirty="0"/>
              <a:t>当判定表达式本身较为复杂、且存在多个判定节点串联时，条件组合覆盖的测试用例规模将大得惊人。</a:t>
            </a:r>
          </a:p>
          <a:p>
            <a:pPr lvl="1" algn="just" eaLnBrk="1" hangingPunct="1">
              <a:lnSpc>
                <a:spcPct val="160000"/>
              </a:lnSpc>
            </a:pPr>
            <a:r>
              <a:rPr lang="zh-CN" altLang="en-US" dirty="0"/>
              <a:t>第二日问题：</a:t>
            </a:r>
            <a:r>
              <a:rPr lang="en-US" altLang="zh-CN" dirty="0"/>
              <a:t>“</a:t>
            </a:r>
            <a:r>
              <a:rPr dirty="0"/>
              <a:t>计算</a:t>
            </a:r>
            <a:r>
              <a:rPr lang="en-US" altLang="zh-CN" dirty="0"/>
              <a:t>”</a:t>
            </a:r>
            <a:r>
              <a:rPr dirty="0"/>
              <a:t>按钮的</a:t>
            </a:r>
            <a:r>
              <a:rPr lang="en-US" altLang="zh-CN" dirty="0"/>
              <a:t>onCompute()</a:t>
            </a:r>
            <a:r>
              <a:rPr dirty="0"/>
              <a:t>函数</a:t>
            </a:r>
          </a:p>
          <a:p>
            <a:pPr lvl="2" algn="just" eaLnBrk="1" hangingPunct="1">
              <a:lnSpc>
                <a:spcPct val="140000"/>
              </a:lnSpc>
            </a:pPr>
            <a:r>
              <a:rPr lang="en-US" altLang="zh-CN" dirty="0"/>
              <a:t>4</a:t>
            </a:r>
            <a:r>
              <a:rPr dirty="0"/>
              <a:t>个判定节点，前</a:t>
            </a:r>
            <a:r>
              <a:rPr lang="en-US" altLang="zh-CN" dirty="0"/>
              <a:t>3</a:t>
            </a:r>
            <a:r>
              <a:rPr dirty="0"/>
              <a:t>个分别包含</a:t>
            </a:r>
            <a:r>
              <a:rPr lang="en-US" altLang="zh-CN" dirty="0"/>
              <a:t>2</a:t>
            </a:r>
            <a:r>
              <a:rPr dirty="0"/>
              <a:t>个判定条件，第</a:t>
            </a:r>
            <a:r>
              <a:rPr lang="en-US" altLang="zh-CN" dirty="0"/>
              <a:t>4</a:t>
            </a:r>
            <a:r>
              <a:rPr dirty="0"/>
              <a:t>个包含</a:t>
            </a:r>
            <a:r>
              <a:rPr lang="en-US" altLang="zh-CN" dirty="0"/>
              <a:t>6</a:t>
            </a:r>
            <a:r>
              <a:rPr dirty="0"/>
              <a:t>个判定条件，共有</a:t>
            </a:r>
            <a:r>
              <a:rPr lang="en-US" altLang="zh-CN" dirty="0"/>
              <a:t>4*4*4*2</a:t>
            </a:r>
            <a:r>
              <a:rPr lang="en-US" altLang="zh-CN" baseline="30000" dirty="0"/>
              <a:t>6</a:t>
            </a:r>
            <a:r>
              <a:rPr lang="en-US" altLang="zh-CN" dirty="0"/>
              <a:t>=4096</a:t>
            </a:r>
            <a:r>
              <a:rPr dirty="0"/>
              <a:t>种取值组合。</a:t>
            </a:r>
          </a:p>
          <a:p>
            <a:pPr lvl="2" algn="just" eaLnBrk="1" hangingPunct="1">
              <a:lnSpc>
                <a:spcPct val="140000"/>
              </a:lnSpc>
            </a:pPr>
            <a:r>
              <a:rPr dirty="0"/>
              <a:t>可根据判定条件之间的约束关系，剔除不可行的测试用例。</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72</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819">
                                            <p:txEl>
                                              <p:pRg st="3" end="3"/>
                                            </p:txEl>
                                          </p:spTgt>
                                        </p:tgtEl>
                                        <p:attrNameLst>
                                          <p:attrName>style.visibility</p:attrName>
                                        </p:attrNameLst>
                                      </p:cBhvr>
                                      <p:to>
                                        <p:strVal val="visible"/>
                                      </p:to>
                                    </p:set>
                                    <p:animEffect transition="in" filter="wipe(left)">
                                      <p:cBhvr>
                                        <p:cTn id="7" dur="500"/>
                                        <p:tgtEl>
                                          <p:spTgt spid="34819">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4819">
                                            <p:txEl>
                                              <p:pRg st="4" end="4"/>
                                            </p:txEl>
                                          </p:spTgt>
                                        </p:tgtEl>
                                        <p:attrNameLst>
                                          <p:attrName>style.visibility</p:attrName>
                                        </p:attrNameLst>
                                      </p:cBhvr>
                                      <p:to>
                                        <p:strVal val="visible"/>
                                      </p:to>
                                    </p:set>
                                    <p:animEffect transition="in" filter="wipe(left)">
                                      <p:cBhvr>
                                        <p:cTn id="10" dur="500"/>
                                        <p:tgtEl>
                                          <p:spTgt spid="34819">
                                            <p:txEl>
                                              <p:pRg st="4" end="4"/>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4819">
                                            <p:txEl>
                                              <p:pRg st="5" end="5"/>
                                            </p:txEl>
                                          </p:spTgt>
                                        </p:tgtEl>
                                        <p:attrNameLst>
                                          <p:attrName>style.visibility</p:attrName>
                                        </p:attrNameLst>
                                      </p:cBhvr>
                                      <p:to>
                                        <p:strVal val="visible"/>
                                      </p:to>
                                    </p:set>
                                    <p:animEffect transition="in" filter="wipe(left)">
                                      <p:cBhvr>
                                        <p:cTn id="13" dur="500"/>
                                        <p:tgtEl>
                                          <p:spTgt spid="34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p:cNvSpPr>
          <p:nvPr>
            <p:ph idx="1"/>
          </p:nvPr>
        </p:nvSpPr>
        <p:spPr>
          <a:xfrm>
            <a:off x="2026285" y="1492886"/>
            <a:ext cx="8139430" cy="4175125"/>
          </a:xfrm>
        </p:spPr>
        <p:txBody>
          <a:bodyPr vert="horz" wrap="square" lIns="91440" tIns="45720" rIns="91440" bIns="45720" rtlCol="0" anchor="t" anchorCtr="0">
            <a:normAutofit/>
          </a:bodyPr>
          <a:lstStyle/>
          <a:p>
            <a:pPr algn="just" eaLnBrk="1" hangingPunct="1">
              <a:lnSpc>
                <a:spcPct val="120000"/>
              </a:lnSpc>
              <a:buClrTx/>
              <a:buSzTx/>
            </a:pPr>
            <a:r>
              <a:rPr lang="zh-CN" altLang="en-US" sz="3400" b="1" dirty="0"/>
              <a:t>修正的判定</a:t>
            </a:r>
            <a:r>
              <a:rPr sz="3400" b="1" dirty="0"/>
              <a:t>/</a:t>
            </a:r>
            <a:r>
              <a:rPr lang="zh-CN" altLang="en-US" sz="3400" b="1" dirty="0"/>
              <a:t>条件覆盖</a:t>
            </a:r>
            <a:endParaRPr sz="3400" b="1" dirty="0"/>
          </a:p>
          <a:p>
            <a:pPr lvl="1" algn="just" eaLnBrk="1" hangingPunct="1">
              <a:lnSpc>
                <a:spcPct val="140000"/>
              </a:lnSpc>
            </a:pPr>
            <a:r>
              <a:rPr lang="zh-CN" altLang="en-US" b="1" dirty="0"/>
              <a:t>基本思想：</a:t>
            </a:r>
            <a:r>
              <a:rPr lang="zh-CN" altLang="en-US" dirty="0"/>
              <a:t>在满足判定</a:t>
            </a:r>
            <a:r>
              <a:rPr lang="en-US" altLang="en-US" dirty="0"/>
              <a:t>/</a:t>
            </a:r>
            <a:r>
              <a:rPr lang="zh-CN" altLang="en-US" dirty="0"/>
              <a:t>条件覆盖的基础上，每个简单判定条件都应独立地影响到整个判定表达式的取值。</a:t>
            </a:r>
            <a:endParaRPr lang="en-US" altLang="zh-CN" dirty="0"/>
          </a:p>
          <a:p>
            <a:pPr lvl="1" algn="just" eaLnBrk="1" hangingPunct="1">
              <a:lnSpc>
                <a:spcPct val="140000"/>
              </a:lnSpc>
            </a:pPr>
            <a:r>
              <a:rPr lang="zh-CN" altLang="en-US" dirty="0"/>
              <a:t>实质是利用</a:t>
            </a:r>
            <a:r>
              <a:rPr lang="zh-CN" altLang="en-US" b="1" dirty="0">
                <a:solidFill>
                  <a:srgbClr val="FF0000"/>
                </a:solidFill>
              </a:rPr>
              <a:t>简单判定条件的独立影响性</a:t>
            </a:r>
            <a:r>
              <a:rPr lang="zh-CN" altLang="en-US" dirty="0"/>
              <a:t>来消除测试用例的冗余。</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73</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p:cNvSpPr>
          <p:nvPr>
            <p:ph idx="1"/>
          </p:nvPr>
        </p:nvSpPr>
        <p:spPr/>
        <p:txBody>
          <a:bodyPr vert="horz" wrap="square" lIns="91440" tIns="45720" rIns="91440" bIns="45720" rtlCol="0" anchor="t" anchorCtr="0">
            <a:normAutofit/>
          </a:bodyPr>
          <a:lstStyle/>
          <a:p>
            <a:pPr algn="just" eaLnBrk="1" hangingPunct="1"/>
            <a:r>
              <a:rPr sz="3400" b="1">
                <a:sym typeface="+mn-ea"/>
              </a:rPr>
              <a:t>修正的判定/条件覆盖</a:t>
            </a:r>
            <a:endParaRPr sz="3400" b="1" dirty="0"/>
          </a:p>
          <a:p>
            <a:pPr lvl="1" algn="just" eaLnBrk="1" hangingPunct="1">
              <a:lnSpc>
                <a:spcPct val="100000"/>
              </a:lnSpc>
            </a:pPr>
            <a:r>
              <a:rPr sz="2800" b="1" dirty="0"/>
              <a:t>对于表达式：</a:t>
            </a:r>
            <a:r>
              <a:rPr lang="en-US" altLang="zh-CN" sz="2800" b="1" dirty="0"/>
              <a:t>A</a:t>
            </a:r>
            <a:r>
              <a:rPr lang="zh-CN" altLang="en-US" sz="2800" b="1" dirty="0"/>
              <a:t> </a:t>
            </a:r>
            <a:r>
              <a:rPr lang="en-US" altLang="zh-CN" sz="2800" b="1" dirty="0"/>
              <a:t>AND B</a:t>
            </a:r>
          </a:p>
          <a:p>
            <a:pPr lvl="2" algn="just" eaLnBrk="1" hangingPunct="1">
              <a:lnSpc>
                <a:spcPct val="120000"/>
              </a:lnSpc>
            </a:pPr>
            <a:r>
              <a:rPr lang="zh-CN" altLang="en-US" dirty="0"/>
              <a:t>体现</a:t>
            </a:r>
            <a:r>
              <a:rPr lang="en-US" altLang="zh-CN" dirty="0"/>
              <a:t>A</a:t>
            </a:r>
            <a:r>
              <a:rPr lang="zh-CN" altLang="en-US" dirty="0"/>
              <a:t>对判定结果的独立影响性：</a:t>
            </a:r>
            <a:r>
              <a:rPr lang="en-US" altLang="zh-CN" dirty="0"/>
              <a:t>T1</a:t>
            </a:r>
            <a:r>
              <a:rPr lang="zh-CN" altLang="en-US" dirty="0"/>
              <a:t>，</a:t>
            </a:r>
            <a:r>
              <a:rPr lang="en-US" altLang="zh-CN" dirty="0"/>
              <a:t>T3</a:t>
            </a:r>
          </a:p>
          <a:p>
            <a:pPr lvl="2" algn="just" eaLnBrk="1" hangingPunct="1">
              <a:lnSpc>
                <a:spcPct val="120000"/>
              </a:lnSpc>
            </a:pPr>
            <a:r>
              <a:rPr lang="zh-CN" altLang="en-US" dirty="0"/>
              <a:t>体现</a:t>
            </a:r>
            <a:r>
              <a:rPr lang="en-US" altLang="zh-CN" dirty="0"/>
              <a:t>B</a:t>
            </a:r>
            <a:r>
              <a:rPr lang="zh-CN" altLang="en-US" dirty="0"/>
              <a:t>对判定结果的独立影响性：</a:t>
            </a:r>
            <a:r>
              <a:rPr lang="en-US" altLang="zh-CN" dirty="0"/>
              <a:t>T1</a:t>
            </a:r>
            <a:r>
              <a:rPr lang="zh-CN" altLang="en-US" dirty="0"/>
              <a:t>，</a:t>
            </a:r>
            <a:r>
              <a:rPr lang="en-US" altLang="zh-CN" dirty="0"/>
              <a:t>T2</a:t>
            </a:r>
          </a:p>
          <a:p>
            <a:pPr lvl="2" algn="just" eaLnBrk="1" hangingPunct="1">
              <a:lnSpc>
                <a:spcPct val="120000"/>
              </a:lnSpc>
            </a:pPr>
            <a:r>
              <a:rPr lang="zh-CN" altLang="en-US" dirty="0"/>
              <a:t>最终用例集合：</a:t>
            </a:r>
            <a:r>
              <a:rPr lang="en-US" altLang="zh-CN" dirty="0"/>
              <a:t>T1~T3</a:t>
            </a:r>
          </a:p>
        </p:txBody>
      </p:sp>
      <p:graphicFrame>
        <p:nvGraphicFramePr>
          <p:cNvPr id="6" name="Group 4"/>
          <p:cNvGraphicFramePr>
            <a:graphicFrameLocks noGrp="1"/>
          </p:cNvGraphicFramePr>
          <p:nvPr>
            <p:custDataLst>
              <p:tags r:id="rId1"/>
            </p:custDataLst>
          </p:nvPr>
        </p:nvGraphicFramePr>
        <p:xfrm>
          <a:off x="2667001" y="4244340"/>
          <a:ext cx="6985635" cy="1612900"/>
        </p:xfrm>
        <a:graphic>
          <a:graphicData uri="http://schemas.openxmlformats.org/drawingml/2006/table">
            <a:tbl>
              <a:tblPr/>
              <a:tblGrid>
                <a:gridCol w="1397635">
                  <a:extLst>
                    <a:ext uri="{9D8B030D-6E8A-4147-A177-3AD203B41FA5}">
                      <a16:colId xmlns:a16="http://schemas.microsoft.com/office/drawing/2014/main" val="20000"/>
                    </a:ext>
                  </a:extLst>
                </a:gridCol>
                <a:gridCol w="1397000">
                  <a:extLst>
                    <a:ext uri="{9D8B030D-6E8A-4147-A177-3AD203B41FA5}">
                      <a16:colId xmlns:a16="http://schemas.microsoft.com/office/drawing/2014/main" val="20001"/>
                    </a:ext>
                  </a:extLst>
                </a:gridCol>
                <a:gridCol w="1396365">
                  <a:extLst>
                    <a:ext uri="{9D8B030D-6E8A-4147-A177-3AD203B41FA5}">
                      <a16:colId xmlns:a16="http://schemas.microsoft.com/office/drawing/2014/main" val="20002"/>
                    </a:ext>
                  </a:extLst>
                </a:gridCol>
                <a:gridCol w="1397635">
                  <a:extLst>
                    <a:ext uri="{9D8B030D-6E8A-4147-A177-3AD203B41FA5}">
                      <a16:colId xmlns:a16="http://schemas.microsoft.com/office/drawing/2014/main" val="20003"/>
                    </a:ext>
                  </a:extLst>
                </a:gridCol>
                <a:gridCol w="1397000">
                  <a:extLst>
                    <a:ext uri="{9D8B030D-6E8A-4147-A177-3AD203B41FA5}">
                      <a16:colId xmlns:a16="http://schemas.microsoft.com/office/drawing/2014/main" val="20004"/>
                    </a:ext>
                  </a:extLst>
                </a:gridCol>
              </a:tblGrid>
              <a:tr h="4032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endParaRPr kumimoji="1" lang="zh-CN"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rPr>
                        <a:t>T1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rPr>
                        <a:t>T2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rPr>
                        <a:t>T3</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bg1"/>
                          </a:solidFill>
                          <a:effectLst/>
                          <a:latin typeface="黑体" panose="02010609060101010101" pitchFamily="49" charset="-122"/>
                          <a:ea typeface="黑体" panose="02010609060101010101" pitchFamily="49" charset="-122"/>
                        </a:rPr>
                        <a:t>T4</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4032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32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B</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3225">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A and B</a:t>
                      </a:r>
                    </a:p>
                  </a:txBody>
                  <a:tcPr marL="0" marR="0" marT="0" marB="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T</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110000"/>
                        <a:buFont typeface="Wingdings" panose="05000000000000000000" pitchFamily="2" charset="2"/>
                        <a:buNone/>
                      </a:pPr>
                      <a:r>
                        <a:rPr kumimoji="1" lang="en-US" altLang="zh-CN" sz="2600" b="1" i="0" u="none" strike="noStrike" cap="none" normalizeH="0" baseline="0">
                          <a:ln>
                            <a:noFill/>
                          </a:ln>
                          <a:solidFill>
                            <a:schemeClr val="tx1"/>
                          </a:solidFill>
                          <a:effectLst/>
                          <a:latin typeface="黑体" panose="02010609060101010101" pitchFamily="49" charset="-122"/>
                          <a:ea typeface="黑体" panose="02010609060101010101" pitchFamily="49" charset="-122"/>
                        </a:rPr>
                        <a:t>F</a:t>
                      </a:r>
                    </a:p>
                  </a:txBody>
                  <a:tcPr marL="0" marR="0" marT="0" marB="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74</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2"/>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3"/>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
        <p:nvSpPr>
          <p:cNvPr id="7" name="椭圆 6"/>
          <p:cNvSpPr/>
          <p:nvPr>
            <p:custDataLst>
              <p:tags r:id="rId4"/>
            </p:custDataLst>
          </p:nvPr>
        </p:nvSpPr>
        <p:spPr>
          <a:xfrm>
            <a:off x="8472170" y="4149090"/>
            <a:ext cx="923290" cy="1808480"/>
          </a:xfrm>
          <a:prstGeom prst="ellipse">
            <a:avLst/>
          </a:prstGeom>
          <a:noFill/>
          <a:ln w="28575">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buClrTx/>
              <a:buSzTx/>
            </a:pPr>
            <a:r>
              <a:rPr sz="3400" b="1">
                <a:sym typeface="+mn-ea"/>
              </a:rPr>
              <a:t>修正的判定/条件覆盖</a:t>
            </a:r>
            <a:endParaRPr sz="3400" b="1" dirty="0"/>
          </a:p>
          <a:p>
            <a:pPr lvl="1" algn="just">
              <a:buClrTx/>
              <a:buSzTx/>
            </a:pPr>
            <a:r>
              <a:rPr lang="zh-CN" altLang="en-US" sz="2800" b="1"/>
              <a:t>设计测试用例的步骤</a:t>
            </a:r>
          </a:p>
          <a:p>
            <a:pPr lvl="2" indent="-457200">
              <a:buAutoNum type="arabicPeriod"/>
            </a:pPr>
            <a:r>
              <a:rPr lang="zh-CN" altLang="en-US" sz="2400"/>
              <a:t>列出所有的简单判定条件，构成真值表；</a:t>
            </a:r>
          </a:p>
          <a:p>
            <a:pPr lvl="2" indent="-457200">
              <a:buAutoNum type="arabicPeriod"/>
            </a:pPr>
            <a:r>
              <a:rPr lang="zh-CN" altLang="en-US" sz="2400"/>
              <a:t>对每个简单判定条件，依次固定其它简单判定条件，找到能够对整个判定结果产生独立影响的多组测试用例（独立影响对）；</a:t>
            </a:r>
          </a:p>
          <a:p>
            <a:pPr lvl="2" indent="-457200">
              <a:buAutoNum type="arabicPeriod"/>
            </a:pPr>
            <a:r>
              <a:rPr lang="zh-CN" altLang="en-US" sz="2400"/>
              <a:t>抽取</a:t>
            </a:r>
            <a:r>
              <a:rPr lang="zh-CN" altLang="en-US" sz="2400" b="1">
                <a:solidFill>
                  <a:srgbClr val="FF0000"/>
                </a:solidFill>
              </a:rPr>
              <a:t>最少独立影响对</a:t>
            </a:r>
            <a:r>
              <a:rPr lang="zh-CN" altLang="en-US" sz="2400"/>
              <a:t>，即为测试用例集。</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75</a:t>
            </a:fld>
            <a:endParaRPr lang="zh-CN" altLang="en-US"/>
          </a:p>
        </p:txBody>
      </p:sp>
      <p:sp>
        <p:nvSpPr>
          <p:cNvPr id="17410" name="Rectangle 2"/>
          <p:cNvSpPr>
            <a:spLocks noGrp="1"/>
          </p:cNvSpPr>
          <p:nvPr>
            <p:ph type="title"/>
            <p:custDataLst>
              <p:tags r:id="rId1"/>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buClrTx/>
              <a:buSzTx/>
            </a:pPr>
            <a:r>
              <a:rPr sz="3400" b="1">
                <a:sym typeface="+mn-ea"/>
              </a:rPr>
              <a:t>修正的判定/条件覆盖</a:t>
            </a:r>
            <a:endParaRPr sz="3400" b="1"/>
          </a:p>
          <a:p>
            <a:pPr lvl="1"/>
            <a:r>
              <a:rPr lang="zh-CN" altLang="en-US" sz="2800" b="1"/>
              <a:t>测试分析</a:t>
            </a:r>
          </a:p>
          <a:p>
            <a:pPr lvl="2"/>
            <a:r>
              <a:rPr lang="zh-CN" altLang="en-US" sz="2240"/>
              <a:t>继承了条件组合覆盖的优点，可以有效控制测试用例的数量；</a:t>
            </a:r>
          </a:p>
          <a:p>
            <a:pPr lvl="2"/>
            <a:r>
              <a:rPr lang="zh-CN" altLang="en-US" sz="2240"/>
              <a:t>局限性：无法处理存在耦合的判定表达式；</a:t>
            </a:r>
          </a:p>
          <a:p>
            <a:pPr lvl="2"/>
            <a:r>
              <a:rPr lang="zh-CN" altLang="en-US" sz="2240"/>
              <a:t>可采用分解法设计测试用例。</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76</a:t>
            </a:fld>
            <a:endParaRPr lang="zh-CN" altLang="en-US"/>
          </a:p>
        </p:txBody>
      </p:sp>
      <p:sp>
        <p:nvSpPr>
          <p:cNvPr id="17410" name="Rectangle 2"/>
          <p:cNvSpPr>
            <a:spLocks noGrp="1"/>
          </p:cNvSpPr>
          <p:nvPr>
            <p:ph type="title"/>
            <p:custDataLst>
              <p:tags r:id="rId1"/>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p:cNvSpPr>
          <p:nvPr>
            <p:ph idx="1"/>
          </p:nvPr>
        </p:nvSpPr>
        <p:spPr>
          <a:xfrm>
            <a:off x="2026285" y="1399540"/>
            <a:ext cx="8139430" cy="4926330"/>
          </a:xfrm>
        </p:spPr>
        <p:txBody>
          <a:bodyPr vert="horz" wrap="square" lIns="91440" tIns="45720" rIns="91440" bIns="45720" rtlCol="0" anchor="t" anchorCtr="0">
            <a:normAutofit/>
          </a:bodyPr>
          <a:lstStyle/>
          <a:p>
            <a:pPr algn="just" eaLnBrk="1" hangingPunct="1">
              <a:lnSpc>
                <a:spcPct val="150000"/>
              </a:lnSpc>
            </a:pPr>
            <a:r>
              <a:rPr lang="zh-CN" altLang="en-US" sz="3400" b="1" dirty="0"/>
              <a:t>测试用例优化</a:t>
            </a:r>
            <a:endParaRPr lang="en-US" altLang="zh-CN" sz="3400" b="1" dirty="0"/>
          </a:p>
          <a:p>
            <a:pPr lvl="1" algn="just" eaLnBrk="1" hangingPunct="1">
              <a:lnSpc>
                <a:spcPct val="150000"/>
              </a:lnSpc>
            </a:pPr>
            <a:r>
              <a:rPr lang="zh-CN" altLang="en-US" b="1" dirty="0">
                <a:solidFill>
                  <a:srgbClr val="FF0000"/>
                </a:solidFill>
              </a:rPr>
              <a:t>尽量选择边界测试数据：</a:t>
            </a:r>
          </a:p>
          <a:p>
            <a:pPr lvl="2" algn="just" eaLnBrk="1" hangingPunct="1">
              <a:lnSpc>
                <a:spcPct val="150000"/>
              </a:lnSpc>
            </a:pPr>
            <a:r>
              <a:rPr lang="zh-CN" altLang="en-US" dirty="0"/>
              <a:t>例如：条件</a:t>
            </a:r>
            <a:r>
              <a:rPr lang="en-US" altLang="zh-CN" dirty="0"/>
              <a:t>a&gt;1</a:t>
            </a:r>
            <a:r>
              <a:rPr lang="zh-CN" altLang="en-US" dirty="0"/>
              <a:t>，可选择</a:t>
            </a:r>
            <a:r>
              <a:rPr lang="en-US" altLang="zh-CN" dirty="0"/>
              <a:t>a=1</a:t>
            </a:r>
            <a:r>
              <a:rPr lang="zh-CN" altLang="en-US" dirty="0"/>
              <a:t>测试；</a:t>
            </a:r>
            <a:endParaRPr lang="en-US" altLang="zh-CN" sz="1400" dirty="0"/>
          </a:p>
          <a:p>
            <a:pPr lvl="1" algn="just" eaLnBrk="1" hangingPunct="1">
              <a:lnSpc>
                <a:spcPct val="150000"/>
              </a:lnSpc>
            </a:pPr>
            <a:r>
              <a:rPr lang="zh-CN" altLang="en-US" b="1" dirty="0">
                <a:solidFill>
                  <a:srgbClr val="FF0000"/>
                </a:solidFill>
              </a:rPr>
              <a:t>应避免“与”、“或”关系的屏蔽现象：</a:t>
            </a:r>
          </a:p>
          <a:p>
            <a:pPr lvl="2" algn="just" eaLnBrk="1" hangingPunct="1">
              <a:lnSpc>
                <a:spcPct val="150000"/>
              </a:lnSpc>
            </a:pPr>
            <a:r>
              <a:rPr lang="zh-CN" altLang="en-US" dirty="0"/>
              <a:t>例如：判定</a:t>
            </a:r>
            <a:r>
              <a:rPr lang="en-US" altLang="zh-CN" dirty="0"/>
              <a:t>(a&gt;1) and (b&lt;2)</a:t>
            </a:r>
            <a:r>
              <a:rPr dirty="0"/>
              <a:t>结果为假时</a:t>
            </a:r>
            <a:r>
              <a:rPr lang="zh-CN" altLang="en-US" dirty="0"/>
              <a:t>，</a:t>
            </a:r>
            <a:r>
              <a:rPr lang="en-US" altLang="zh-CN" dirty="0"/>
              <a:t>a&gt;1</a:t>
            </a:r>
            <a:r>
              <a:rPr lang="zh-CN" altLang="en-US" dirty="0"/>
              <a:t>的取值对</a:t>
            </a:r>
            <a:r>
              <a:rPr lang="en-US" altLang="zh-CN" dirty="0"/>
              <a:t>b&lt;2</a:t>
            </a:r>
            <a:r>
              <a:rPr lang="zh-CN" altLang="en-US" dirty="0"/>
              <a:t>产生了一种屏蔽效应，无论</a:t>
            </a:r>
            <a:r>
              <a:rPr lang="en-US" altLang="zh-CN" dirty="0"/>
              <a:t>b&lt;2</a:t>
            </a:r>
            <a:r>
              <a:rPr lang="zh-CN" altLang="en-US" dirty="0"/>
              <a:t>条件的取值是否正确，都不会对</a:t>
            </a:r>
            <a:r>
              <a:rPr lang="en-US" altLang="zh-CN" dirty="0">
                <a:sym typeface="+mn-ea"/>
              </a:rPr>
              <a:t>(a&gt;1) and (b&lt;2)</a:t>
            </a:r>
            <a:r>
              <a:rPr lang="zh-CN" altLang="en-US" dirty="0">
                <a:sym typeface="+mn-ea"/>
              </a:rPr>
              <a:t>的输出结果造成影响，可选择</a:t>
            </a:r>
            <a:r>
              <a:rPr lang="en-US" altLang="zh-CN" dirty="0">
                <a:sym typeface="+mn-ea"/>
              </a:rPr>
              <a:t>a=2</a:t>
            </a:r>
            <a:r>
              <a:rPr lang="zh-CN" altLang="en-US" dirty="0">
                <a:sym typeface="+mn-ea"/>
              </a:rPr>
              <a:t>，</a:t>
            </a:r>
            <a:r>
              <a:rPr lang="en-US" altLang="zh-CN" dirty="0">
                <a:sym typeface="+mn-ea"/>
              </a:rPr>
              <a:t>b=2</a:t>
            </a:r>
            <a:r>
              <a:rPr lang="zh-CN" altLang="en-US" dirty="0">
                <a:sym typeface="+mn-ea"/>
              </a:rPr>
              <a:t>。</a:t>
            </a: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77</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3142934" y="1964373"/>
            <a:ext cx="5970587" cy="3744912"/>
            <a:chOff x="2880" y="10176"/>
            <a:chExt cx="5040" cy="3744"/>
          </a:xfrm>
        </p:grpSpPr>
        <p:sp>
          <p:nvSpPr>
            <p:cNvPr id="39940" name="Rectangle 5"/>
            <p:cNvSpPr/>
            <p:nvPr/>
          </p:nvSpPr>
          <p:spPr>
            <a:xfrm>
              <a:off x="4500" y="10176"/>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algn="ctr">
                <a:spcBef>
                  <a:spcPct val="0"/>
                </a:spcBef>
                <a:buClrTx/>
                <a:buNone/>
              </a:pPr>
              <a:r>
                <a:rPr lang="zh-CN" altLang="en-US" sz="2400" dirty="0">
                  <a:latin typeface="Times New Roman" panose="02020603050405020304" pitchFamily="18" charset="0"/>
                </a:rPr>
                <a:t>组合覆盖</a:t>
              </a:r>
            </a:p>
          </p:txBody>
        </p:sp>
        <p:sp>
          <p:nvSpPr>
            <p:cNvPr id="39941" name="Rectangle 6"/>
            <p:cNvSpPr/>
            <p:nvPr/>
          </p:nvSpPr>
          <p:spPr>
            <a:xfrm>
              <a:off x="4500" y="11268"/>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algn="ctr">
                <a:spcBef>
                  <a:spcPct val="0"/>
                </a:spcBef>
                <a:buClrTx/>
                <a:buNone/>
              </a:pPr>
              <a:r>
                <a:rPr lang="zh-CN" altLang="en-US" sz="2400" dirty="0">
                  <a:latin typeface="Times New Roman" panose="02020603050405020304" pitchFamily="18" charset="0"/>
                </a:rPr>
                <a:t>判定</a:t>
              </a:r>
              <a:r>
                <a:rPr lang="en-US" altLang="zh-CN" sz="2400" dirty="0">
                  <a:latin typeface="Times New Roman" panose="02020603050405020304" pitchFamily="18" charset="0"/>
                </a:rPr>
                <a:t>/</a:t>
              </a:r>
              <a:r>
                <a:rPr lang="zh-CN" altLang="en-US" sz="2400" dirty="0">
                  <a:latin typeface="Times New Roman" panose="02020603050405020304" pitchFamily="18" charset="0"/>
                </a:rPr>
                <a:t>条件覆盖</a:t>
              </a:r>
            </a:p>
          </p:txBody>
        </p:sp>
        <p:sp>
          <p:nvSpPr>
            <p:cNvPr id="39942" name="Rectangle 7"/>
            <p:cNvSpPr/>
            <p:nvPr/>
          </p:nvSpPr>
          <p:spPr>
            <a:xfrm>
              <a:off x="2880" y="12360"/>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algn="ctr">
                <a:spcBef>
                  <a:spcPct val="0"/>
                </a:spcBef>
                <a:buClrTx/>
                <a:buNone/>
              </a:pPr>
              <a:r>
                <a:rPr lang="zh-CN" altLang="en-US" sz="2400" dirty="0">
                  <a:latin typeface="Times New Roman" panose="02020603050405020304" pitchFamily="18" charset="0"/>
                </a:rPr>
                <a:t>判定覆盖</a:t>
              </a:r>
            </a:p>
          </p:txBody>
        </p:sp>
        <p:sp>
          <p:nvSpPr>
            <p:cNvPr id="39943" name="Rectangle 8"/>
            <p:cNvSpPr/>
            <p:nvPr/>
          </p:nvSpPr>
          <p:spPr>
            <a:xfrm>
              <a:off x="5760" y="12360"/>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algn="ctr">
                <a:spcBef>
                  <a:spcPct val="0"/>
                </a:spcBef>
                <a:buClrTx/>
                <a:buNone/>
              </a:pPr>
              <a:r>
                <a:rPr lang="zh-CN" altLang="en-US" sz="2400" dirty="0">
                  <a:latin typeface="Times New Roman" panose="02020603050405020304" pitchFamily="18" charset="0"/>
                </a:rPr>
                <a:t>条件覆盖</a:t>
              </a:r>
            </a:p>
          </p:txBody>
        </p:sp>
        <p:sp>
          <p:nvSpPr>
            <p:cNvPr id="39944" name="Rectangle 9"/>
            <p:cNvSpPr/>
            <p:nvPr/>
          </p:nvSpPr>
          <p:spPr>
            <a:xfrm>
              <a:off x="2880" y="13452"/>
              <a:ext cx="2160" cy="468"/>
            </a:xfrm>
            <a:prstGeom prst="rect">
              <a:avLst/>
            </a:prstGeom>
            <a:noFill/>
            <a:ln w="9525" cap="flat" cmpd="sng">
              <a:solidFill>
                <a:schemeClr val="tx1"/>
              </a:solidFill>
              <a:prstDash val="solid"/>
              <a:miter/>
              <a:headEnd type="none" w="med" len="med"/>
              <a:tailEnd type="none" w="med" len="med"/>
            </a:ln>
          </p:spPr>
          <p:txBody>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algn="ctr">
                <a:spcBef>
                  <a:spcPct val="0"/>
                </a:spcBef>
                <a:buClrTx/>
                <a:buNone/>
              </a:pPr>
              <a:r>
                <a:rPr lang="zh-CN" altLang="en-US" sz="2400" dirty="0">
                  <a:latin typeface="Times New Roman" panose="02020603050405020304" pitchFamily="18" charset="0"/>
                </a:rPr>
                <a:t>语句覆盖</a:t>
              </a:r>
            </a:p>
          </p:txBody>
        </p:sp>
        <p:sp>
          <p:nvSpPr>
            <p:cNvPr id="39945" name="Line 10"/>
            <p:cNvSpPr/>
            <p:nvPr/>
          </p:nvSpPr>
          <p:spPr>
            <a:xfrm>
              <a:off x="5580" y="10644"/>
              <a:ext cx="0" cy="624"/>
            </a:xfrm>
            <a:prstGeom prst="line">
              <a:avLst/>
            </a:prstGeom>
            <a:ln w="9525" cap="flat" cmpd="sng">
              <a:solidFill>
                <a:schemeClr val="tx1"/>
              </a:solidFill>
              <a:prstDash val="solid"/>
              <a:headEnd type="none" w="med" len="med"/>
              <a:tailEnd type="none" w="med" len="med"/>
            </a:ln>
          </p:spPr>
        </p:sp>
        <p:sp>
          <p:nvSpPr>
            <p:cNvPr id="39946" name="Line 11"/>
            <p:cNvSpPr/>
            <p:nvPr/>
          </p:nvSpPr>
          <p:spPr>
            <a:xfrm>
              <a:off x="5580" y="11736"/>
              <a:ext cx="0" cy="312"/>
            </a:xfrm>
            <a:prstGeom prst="line">
              <a:avLst/>
            </a:prstGeom>
            <a:ln w="9525" cap="flat" cmpd="sng">
              <a:solidFill>
                <a:schemeClr val="tx1"/>
              </a:solidFill>
              <a:prstDash val="solid"/>
              <a:headEnd type="none" w="med" len="med"/>
              <a:tailEnd type="none" w="med" len="med"/>
            </a:ln>
          </p:spPr>
        </p:sp>
        <p:sp>
          <p:nvSpPr>
            <p:cNvPr id="39947" name="Line 12"/>
            <p:cNvSpPr/>
            <p:nvPr/>
          </p:nvSpPr>
          <p:spPr>
            <a:xfrm>
              <a:off x="3960" y="12048"/>
              <a:ext cx="2880" cy="0"/>
            </a:xfrm>
            <a:prstGeom prst="line">
              <a:avLst/>
            </a:prstGeom>
            <a:ln w="9525" cap="flat" cmpd="sng">
              <a:solidFill>
                <a:schemeClr val="tx1"/>
              </a:solidFill>
              <a:prstDash val="solid"/>
              <a:headEnd type="none" w="med" len="med"/>
              <a:tailEnd type="none" w="med" len="med"/>
            </a:ln>
          </p:spPr>
        </p:sp>
        <p:sp>
          <p:nvSpPr>
            <p:cNvPr id="39948" name="Line 13"/>
            <p:cNvSpPr/>
            <p:nvPr/>
          </p:nvSpPr>
          <p:spPr>
            <a:xfrm>
              <a:off x="3960" y="12048"/>
              <a:ext cx="0" cy="312"/>
            </a:xfrm>
            <a:prstGeom prst="line">
              <a:avLst/>
            </a:prstGeom>
            <a:ln w="9525" cap="flat" cmpd="sng">
              <a:solidFill>
                <a:schemeClr val="tx1"/>
              </a:solidFill>
              <a:prstDash val="solid"/>
              <a:headEnd type="none" w="med" len="med"/>
              <a:tailEnd type="none" w="med" len="med"/>
            </a:ln>
          </p:spPr>
        </p:sp>
        <p:sp>
          <p:nvSpPr>
            <p:cNvPr id="39949" name="Line 14"/>
            <p:cNvSpPr/>
            <p:nvPr/>
          </p:nvSpPr>
          <p:spPr>
            <a:xfrm>
              <a:off x="6840" y="12048"/>
              <a:ext cx="0" cy="312"/>
            </a:xfrm>
            <a:prstGeom prst="line">
              <a:avLst/>
            </a:prstGeom>
            <a:ln w="9525" cap="flat" cmpd="sng">
              <a:solidFill>
                <a:schemeClr val="tx1"/>
              </a:solidFill>
              <a:prstDash val="solid"/>
              <a:headEnd type="none" w="med" len="med"/>
              <a:tailEnd type="none" w="med" len="med"/>
            </a:ln>
          </p:spPr>
        </p:sp>
        <p:sp>
          <p:nvSpPr>
            <p:cNvPr id="39950" name="Line 15"/>
            <p:cNvSpPr/>
            <p:nvPr/>
          </p:nvSpPr>
          <p:spPr>
            <a:xfrm>
              <a:off x="3960" y="12828"/>
              <a:ext cx="0" cy="624"/>
            </a:xfrm>
            <a:prstGeom prst="line">
              <a:avLst/>
            </a:prstGeom>
            <a:ln w="9525" cap="flat" cmpd="sng">
              <a:solidFill>
                <a:schemeClr val="tx1"/>
              </a:solidFill>
              <a:prstDash val="solid"/>
              <a:headEnd type="none" w="med" len="med"/>
              <a:tailEnd type="none" w="med" len="med"/>
            </a:ln>
          </p:spPr>
        </p:sp>
      </p:grpSp>
      <p:sp>
        <p:nvSpPr>
          <p:cNvPr id="4" name="灯片编号占位符 3"/>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78</a:t>
            </a:fld>
            <a:endParaRPr lang="en-US" altLang="zh-CN" dirty="0">
              <a:latin typeface="Verdana" panose="020B0604030504040204" pitchFamily="34" charset="0"/>
            </a:endParaRPr>
          </a:p>
        </p:txBody>
      </p:sp>
      <p:sp>
        <p:nvSpPr>
          <p:cNvPr id="5" name="日期占位符 4"/>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p:cNvSpPr>
          <p:nvPr>
            <p:ph idx="1"/>
          </p:nvPr>
        </p:nvSpPr>
        <p:spPr>
          <a:xfrm>
            <a:off x="2026285" y="1336041"/>
            <a:ext cx="8139430" cy="4535805"/>
          </a:xfrm>
        </p:spPr>
        <p:txBody>
          <a:bodyPr vert="horz" wrap="square" lIns="91440" tIns="45720" rIns="91440" bIns="45720" rtlCol="0" anchor="t" anchorCtr="0">
            <a:normAutofit/>
          </a:bodyPr>
          <a:lstStyle/>
          <a:p>
            <a:pPr algn="just" eaLnBrk="1" hangingPunct="1"/>
            <a:r>
              <a:rPr lang="zh-CN" altLang="en-US" sz="3400" b="1" dirty="0"/>
              <a:t>小结</a:t>
            </a:r>
            <a:endParaRPr lang="en-US" altLang="zh-CN" sz="3400" b="1" dirty="0"/>
          </a:p>
          <a:p>
            <a:pPr lvl="1" algn="just" eaLnBrk="1" hangingPunct="1">
              <a:lnSpc>
                <a:spcPct val="130000"/>
              </a:lnSpc>
            </a:pPr>
            <a:r>
              <a:rPr lang="zh-CN" altLang="en-US" dirty="0"/>
              <a:t>主要是通过考察源代码中复合判定表达式或构成复合判定表达式的各简单判定条件的所有取值情况，来保证判定表达式的正确性。</a:t>
            </a:r>
            <a:endParaRPr lang="en-US" altLang="zh-CN" dirty="0"/>
          </a:p>
          <a:p>
            <a:pPr lvl="1" algn="just" eaLnBrk="1" hangingPunct="1">
              <a:lnSpc>
                <a:spcPct val="130000"/>
              </a:lnSpc>
            </a:pPr>
            <a:r>
              <a:rPr lang="zh-CN" altLang="en-US" dirty="0"/>
              <a:t>避免测试数据受到复合判定表达式中的“与”、“或”关系的屏蔽效应。</a:t>
            </a:r>
          </a:p>
          <a:p>
            <a:pPr lvl="1" algn="just" eaLnBrk="1" hangingPunct="1">
              <a:lnSpc>
                <a:spcPct val="130000"/>
              </a:lnSpc>
            </a:pPr>
            <a:r>
              <a:rPr lang="zh-CN" altLang="en-US" dirty="0"/>
              <a:t>尽量结合边界值选择测试数据。</a:t>
            </a:r>
          </a:p>
        </p:txBody>
      </p:sp>
      <p:sp>
        <p:nvSpPr>
          <p:cNvPr id="47109" name="Rectangle 6"/>
          <p:cNvSpPr/>
          <p:nvPr/>
        </p:nvSpPr>
        <p:spPr>
          <a:xfrm>
            <a:off x="1524001" y="2291834"/>
            <a:ext cx="184731" cy="369332"/>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spcBef>
                <a:spcPct val="0"/>
              </a:spcBef>
              <a:buClrTx/>
              <a:buNone/>
            </a:pPr>
            <a:endParaRPr lang="zh-CN" altLang="en-US" sz="1800" dirty="0">
              <a:latin typeface="Calibri" panose="020F0502020204030204" pitchFamily="34" charset="0"/>
            </a:endParaRPr>
          </a:p>
        </p:txBody>
      </p:sp>
      <p:sp>
        <p:nvSpPr>
          <p:cNvPr id="3" name="灯片编号占位符 2"/>
          <p:cNvSpPr>
            <a:spLocks noGrp="1"/>
          </p:cNvSpPr>
          <p:nvPr>
            <p:ph type="sldNum" sz="quarter" idx="12"/>
          </p:nvPr>
        </p:nvSpPr>
        <p:spPr/>
        <p:txBody>
          <a:bodyPr/>
          <a:lstStyle/>
          <a:p>
            <a:pPr lvl="0" eaLnBrk="1" hangingPunct="1">
              <a:buNone/>
            </a:pPr>
            <a:fld id="{9A0DB2DC-4C9A-4742-B13C-FB6460FD3503}" type="slidenum">
              <a:rPr lang="en-US" altLang="zh-CN" dirty="0">
                <a:latin typeface="Verdana" panose="020B0604030504040204" pitchFamily="34" charset="0"/>
              </a:rPr>
              <a:t>79</a:t>
            </a:fld>
            <a:endParaRPr lang="en-US" altLang="zh-CN" dirty="0">
              <a:latin typeface="Verdana" panose="020B0604030504040204" pitchFamily="34" charset="0"/>
            </a:endParaRPr>
          </a:p>
        </p:txBody>
      </p:sp>
      <p:sp>
        <p:nvSpPr>
          <p:cNvPr id="4" name="日期占位符 3"/>
          <p:cNvSpPr>
            <a:spLocks noGrp="1"/>
          </p:cNvSpPr>
          <p:nvPr>
            <p:ph type="dt" sz="half" idx="10"/>
            <p:custDataLst>
              <p:tags r:id="rId1"/>
            </p:custDataLst>
          </p:nvPr>
        </p:nvSpPr>
        <p:spPr/>
        <p:txBody>
          <a:bodyPr>
            <a:noAutofit/>
          </a:bodyPr>
          <a:lstStyle/>
          <a:p>
            <a:pPr algn="ctr" fontAlgn="base">
              <a:spcBef>
                <a:spcPct val="0"/>
              </a:spcBef>
              <a:spcAft>
                <a:spcPct val="0"/>
              </a:spcAft>
              <a:defRPr/>
            </a:pPr>
            <a:fld id="{BB962C8B-B14F-4D97-AF65-F5344CB8AC3E}" type="datetime1">
              <a:rPr lang="zh-CN" altLang="zh-CN" sz="1000">
                <a:solidFill>
                  <a:schemeClr val="tx1"/>
                </a:solidFill>
                <a:latin typeface="Verdana" panose="020B0604030504040204" pitchFamily="34" charset="0"/>
                <a:ea typeface="宋体" panose="02010600030101010101" pitchFamily="2" charset="-122"/>
              </a:rPr>
              <a:pPr algn="ctr" fontAlgn="base">
                <a:spcBef>
                  <a:spcPct val="0"/>
                </a:spcBef>
                <a:spcAft>
                  <a:spcPct val="0"/>
                </a:spcAft>
                <a:defRPr/>
              </a:pPr>
              <a:t>2024/3/27</a:t>
            </a:fld>
            <a:endParaRPr lang="zh-CN" altLang="zh-CN" sz="1000">
              <a:solidFill>
                <a:schemeClr val="tx1"/>
              </a:solidFill>
              <a:latin typeface="Verdana" panose="020B0604030504040204" pitchFamily="34" charset="0"/>
              <a:ea typeface="宋体" panose="02010600030101010101" pitchFamily="2" charset="-122"/>
            </a:endParaRPr>
          </a:p>
        </p:txBody>
      </p:sp>
      <p:sp>
        <p:nvSpPr>
          <p:cNvPr id="17410" name="Rectangle 2"/>
          <p:cNvSpPr>
            <a:spLocks noGrp="1"/>
          </p:cNvSpPr>
          <p:nvPr>
            <p:ph type="title"/>
            <p:custDataLst>
              <p:tags r:id="rId2"/>
            </p:custDataLst>
          </p:nvPr>
        </p:nvSpPr>
        <p:spPr>
          <a:xfrm>
            <a:off x="2026285" y="414655"/>
            <a:ext cx="8139430" cy="922020"/>
          </a:xfrm>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对判定的测试</a:t>
            </a:r>
          </a:p>
        </p:txBody>
      </p:sp>
    </p:spTree>
  </p:cSld>
  <p:clrMapOvr>
    <a:masterClrMapping/>
  </p:clrMapOvr>
  <p:transition>
    <p:blinds dir="vert"/>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txBox="1">
            <a:spLocks noGrp="1"/>
          </p:cNvSpPr>
          <p:nvPr>
            <p:ph type="sldNum" sz="quarter" idx="12"/>
          </p:nvPr>
        </p:nvSpPr>
        <p:spPr/>
        <p:txBody>
          <a:bodyPr>
            <a:normAutofit/>
          </a:bodyPr>
          <a:lstStyle/>
          <a:p>
            <a:pPr>
              <a:spcBef>
                <a:spcPct val="0"/>
              </a:spcBef>
            </a:pPr>
            <a:fld id="{9A0DB2DC-4C9A-4742-B13C-FB6460FD3503}" type="slidenum">
              <a:rPr lang="en-US" altLang="zh-CN" dirty="0"/>
              <a:pPr>
                <a:spcBef>
                  <a:spcPct val="0"/>
                </a:spcBef>
              </a:pPr>
              <a:t>80</a:t>
            </a:fld>
            <a:endParaRPr lang="en-US" altLang="zh-CN" dirty="0"/>
          </a:p>
        </p:txBody>
      </p:sp>
      <p:sp>
        <p:nvSpPr>
          <p:cNvPr id="14340" name="Rectangle 3"/>
          <p:cNvSpPr>
            <a:spLocks noGrp="1"/>
          </p:cNvSpPr>
          <p:nvPr>
            <p:ph idx="1"/>
          </p:nvPr>
        </p:nvSpPr>
        <p:spPr/>
        <p:txBody>
          <a:bodyPr vert="horz" wrap="square" lIns="91440" tIns="45720" rIns="91440" bIns="45720" rtlCol="0" anchor="t" anchorCtr="0">
            <a:normAutofit/>
          </a:bodyPr>
          <a:lstStyle/>
          <a:p>
            <a:pPr eaLnBrk="1" hangingPunct="1"/>
            <a:r>
              <a:rPr lang="zh-CN" altLang="en-US" sz="3400" b="1" dirty="0"/>
              <a:t>基本原理</a:t>
            </a:r>
            <a:endParaRPr lang="en-US" altLang="zh-CN" sz="3100" b="1" dirty="0"/>
          </a:p>
        </p:txBody>
      </p:sp>
      <p:pic>
        <p:nvPicPr>
          <p:cNvPr id="14341" name="Picture 6" descr="5t22"/>
          <p:cNvPicPr>
            <a:picLocks noChangeAspect="1"/>
          </p:cNvPicPr>
          <p:nvPr/>
        </p:nvPicPr>
        <p:blipFill>
          <a:blip r:embed="rId3"/>
          <a:stretch>
            <a:fillRect/>
          </a:stretch>
        </p:blipFill>
        <p:spPr>
          <a:xfrm>
            <a:off x="1630999" y="2428875"/>
            <a:ext cx="8847137" cy="2643188"/>
          </a:xfrm>
          <a:prstGeom prst="rect">
            <a:avLst/>
          </a:prstGeom>
          <a:noFill/>
          <a:ln w="9525">
            <a:noFill/>
          </a:ln>
        </p:spPr>
      </p:pic>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
        <p:nvSpPr>
          <p:cNvPr id="6" name="日期占位符 5"/>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2" name="文本框 1"/>
          <p:cNvSpPr txBox="1"/>
          <p:nvPr/>
        </p:nvSpPr>
        <p:spPr>
          <a:xfrm>
            <a:off x="2839721" y="5306695"/>
            <a:ext cx="7019925" cy="838200"/>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pPr>
              <a:lnSpc>
                <a:spcPct val="120000"/>
              </a:lnSpc>
            </a:pPr>
            <a:r>
              <a:rPr lang="zh-CN" altLang="en-US" b="1">
                <a:latin typeface="微软雅黑" panose="020B0503020204020204" charset="-122"/>
                <a:ea typeface="微软雅黑" panose="020B0503020204020204" charset="-122"/>
              </a:rPr>
              <a:t>非独立路径可由独立路径的某种组合方式来遍历，只要对这组独立路径进行测试即可。</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5"/>
          <p:cNvSpPr txBox="1">
            <a:spLocks noGrp="1"/>
          </p:cNvSpPr>
          <p:nvPr>
            <p:ph type="sldNum" sz="quarter" idx="12"/>
          </p:nvPr>
        </p:nvSpPr>
        <p:spPr/>
        <p:txBody>
          <a:bodyPr>
            <a:noAutofit/>
          </a:bodyPr>
          <a:lstStyle/>
          <a:p>
            <a:pPr>
              <a:spcBef>
                <a:spcPct val="0"/>
              </a:spcBef>
            </a:pPr>
            <a:fld id="{9A0DB2DC-4C9A-4742-B13C-FB6460FD3503}" type="slidenum">
              <a:rPr lang="en-US" altLang="zh-CN" dirty="0"/>
              <a:pPr>
                <a:spcBef>
                  <a:spcPct val="0"/>
                </a:spcBef>
              </a:pPr>
              <a:t>81</a:t>
            </a:fld>
            <a:endParaRPr lang="en-US" altLang="zh-CN" dirty="0"/>
          </a:p>
        </p:txBody>
      </p:sp>
      <p:sp>
        <p:nvSpPr>
          <p:cNvPr id="5123" name="Rectangle 2"/>
          <p:cNvSpPr>
            <a:spLocks noGrp="1"/>
          </p:cNvSpPr>
          <p:nvPr>
            <p:ph type="title"/>
          </p:nvPr>
        </p:nvSpPr>
        <p:spPr>
          <a:xfrm>
            <a:off x="838200" y="126683"/>
            <a:ext cx="10515600" cy="1325563"/>
          </a:xfrm>
        </p:spPr>
        <p:txBody>
          <a:bodyPr vert="horz" wrap="square" lIns="91440" tIns="45720" rIns="91440" bIns="45720" rtlCol="0" anchor="b" anchorCtr="0">
            <a:normAutofit/>
          </a:bodyPr>
          <a:lstStyle/>
          <a:p>
            <a:pPr algn="l" eaLnBrk="1" hangingPunct="1">
              <a:buClrTx/>
              <a:buSzTx/>
              <a:buFontTx/>
            </a:pPr>
            <a:r>
              <a:rPr lang="en-US" altLang="zh-CN" sz="3800" dirty="0" err="1">
                <a:solidFill>
                  <a:schemeClr val="accent1"/>
                </a:solidFill>
                <a:ea typeface="汉仪文黑-85W" panose="00020600040101010101" charset="-122"/>
              </a:rPr>
              <a:t>对路径的测试</a:t>
            </a:r>
            <a:r>
              <a:rPr lang="en-US" altLang="zh-CN" sz="3800" dirty="0">
                <a:solidFill>
                  <a:schemeClr val="accent1"/>
                </a:solidFill>
                <a:ea typeface="汉仪文黑-85W" panose="00020600040101010101" charset="-122"/>
              </a:rPr>
              <a:t>——</a:t>
            </a:r>
            <a:r>
              <a:rPr sz="3800" dirty="0" err="1">
                <a:solidFill>
                  <a:schemeClr val="accent1"/>
                </a:solidFill>
                <a:ea typeface="汉仪文黑-85W" panose="00020600040101010101" charset="-122"/>
              </a:rPr>
              <a:t>基本路径测试法</a:t>
            </a:r>
            <a:endParaRPr sz="3800" dirty="0">
              <a:solidFill>
                <a:schemeClr val="accent1"/>
              </a:solidFill>
              <a:ea typeface="汉仪文黑-85W" panose="00020600040101010101" charset="-122"/>
            </a:endParaRPr>
          </a:p>
        </p:txBody>
      </p:sp>
      <p:sp>
        <p:nvSpPr>
          <p:cNvPr id="5124" name="Rectangle 3"/>
          <p:cNvSpPr>
            <a:spLocks noGrp="1"/>
          </p:cNvSpPr>
          <p:nvPr>
            <p:ph idx="1"/>
          </p:nvPr>
        </p:nvSpPr>
        <p:spPr>
          <a:xfrm>
            <a:off x="2026285" y="1452246"/>
            <a:ext cx="8139430" cy="4215765"/>
          </a:xfrm>
        </p:spPr>
        <p:txBody>
          <a:bodyPr vert="horz" wrap="square" lIns="91440" tIns="45720" rIns="91440" bIns="45720" rtlCol="0" anchor="t" anchorCtr="0">
            <a:normAutofit/>
          </a:bodyPr>
          <a:lstStyle/>
          <a:p>
            <a:pPr eaLnBrk="1" hangingPunct="1"/>
            <a:r>
              <a:rPr lang="zh-CN" altLang="en-US" sz="3400" b="1" dirty="0"/>
              <a:t>相关概念</a:t>
            </a:r>
          </a:p>
          <a:p>
            <a:pPr lvl="1" eaLnBrk="1" hangingPunct="1"/>
            <a:r>
              <a:rPr lang="zh-CN" altLang="en-US" dirty="0">
                <a:solidFill>
                  <a:srgbClr val="0000FF"/>
                </a:solidFill>
              </a:rPr>
              <a:t>程序图</a:t>
            </a:r>
            <a:endParaRPr lang="en-US" altLang="zh-CN" dirty="0">
              <a:solidFill>
                <a:srgbClr val="0000FF"/>
              </a:solidFill>
            </a:endParaRPr>
          </a:p>
          <a:p>
            <a:pPr lvl="1" eaLnBrk="1" hangingPunct="1"/>
            <a:r>
              <a:rPr lang="zh-CN" altLang="en-US" dirty="0"/>
              <a:t>环复杂度</a:t>
            </a:r>
            <a:endParaRPr lang="en-US" altLang="zh-CN" dirty="0"/>
          </a:p>
          <a:p>
            <a:pPr lvl="1" eaLnBrk="1" hangingPunct="1"/>
            <a:r>
              <a:rPr lang="zh-CN" altLang="en-US" dirty="0"/>
              <a:t>基本复杂度</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3" name="文本框 2"/>
          <p:cNvSpPr txBox="1"/>
          <p:nvPr/>
        </p:nvSpPr>
        <p:spPr>
          <a:xfrm>
            <a:off x="5015866" y="1898650"/>
            <a:ext cx="4824095" cy="3710940"/>
          </a:xfrm>
          <a:prstGeom prst="rect">
            <a:avLst/>
          </a:prstGeom>
        </p:spPr>
        <p:style>
          <a:lnRef idx="2">
            <a:schemeClr val="accent1"/>
          </a:lnRef>
          <a:fillRef idx="1">
            <a:schemeClr val="lt1"/>
          </a:fillRef>
          <a:effectRef idx="0">
            <a:schemeClr val="accent1"/>
          </a:effectRef>
          <a:fontRef idx="minor">
            <a:schemeClr val="dk1"/>
          </a:fontRef>
        </p:style>
        <p:txBody>
          <a:bodyPr wrap="square" rtlCol="0" anchor="t">
            <a:noAutofit/>
          </a:bodyPr>
          <a:lstStyle/>
          <a:p>
            <a:r>
              <a:rPr lang="zh-CN" altLang="en-US" b="1">
                <a:latin typeface="微软雅黑" panose="020B0503020204020204" charset="-122"/>
                <a:ea typeface="微软雅黑" panose="020B0503020204020204" charset="-122"/>
              </a:rPr>
              <a:t>void Sort(int iRecordNum,int iType){</a:t>
            </a:r>
          </a:p>
          <a:p>
            <a:pPr indent="457200"/>
            <a:r>
              <a:rPr lang="zh-CN" altLang="en-US" b="1">
                <a:latin typeface="微软雅黑" panose="020B0503020204020204" charset="-122"/>
                <a:ea typeface="微软雅黑" panose="020B0503020204020204" charset="-122"/>
              </a:rPr>
              <a:t>int x=0;</a:t>
            </a:r>
          </a:p>
          <a:p>
            <a:pPr indent="457200"/>
            <a:r>
              <a:rPr lang="zh-CN" altLang="en-US" b="1">
                <a:latin typeface="微软雅黑" panose="020B0503020204020204" charset="-122"/>
                <a:ea typeface="微软雅黑" panose="020B0503020204020204" charset="-122"/>
              </a:rPr>
              <a:t>int y=0;</a:t>
            </a:r>
          </a:p>
          <a:p>
            <a:pPr indent="457200"/>
            <a:r>
              <a:rPr lang="zh-CN" altLang="en-US" b="1">
                <a:latin typeface="微软雅黑" panose="020B0503020204020204" charset="-122"/>
                <a:ea typeface="微软雅黑" panose="020B0503020204020204" charset="-122"/>
              </a:rPr>
              <a:t>while(iRecordNum-- &gt;0)</a:t>
            </a:r>
            <a:r>
              <a:rPr lang="en-US" altLang="zh-CN" b="1">
                <a:latin typeface="微软雅黑" panose="020B0503020204020204" charset="-122"/>
                <a:ea typeface="微软雅黑" panose="020B0503020204020204" charset="-122"/>
              </a:rPr>
              <a:t>{</a:t>
            </a:r>
            <a:endParaRPr lang="zh-CN" altLang="en-US" b="1">
              <a:latin typeface="微软雅黑" panose="020B0503020204020204" charset="-122"/>
              <a:ea typeface="微软雅黑" panose="020B0503020204020204" charset="-122"/>
            </a:endParaRPr>
          </a:p>
          <a:p>
            <a:pPr lvl="1" indent="457200"/>
            <a:r>
              <a:rPr lang="zh-CN" altLang="en-US" b="1">
                <a:latin typeface="微软雅黑" panose="020B0503020204020204" charset="-122"/>
                <a:ea typeface="微软雅黑" panose="020B0503020204020204" charset="-122"/>
              </a:rPr>
              <a:t>if(0==iType)</a:t>
            </a:r>
          </a:p>
          <a:p>
            <a:pPr lvl="2" indent="457200"/>
            <a:r>
              <a:rPr lang="en-US" altLang="zh-CN" b="1">
                <a:latin typeface="微软雅黑" panose="020B0503020204020204" charset="-122"/>
                <a:ea typeface="微软雅黑" panose="020B0503020204020204" charset="-122"/>
              </a:rPr>
              <a:t>{</a:t>
            </a:r>
            <a:r>
              <a:rPr lang="zh-CN" altLang="en-US" b="1">
                <a:latin typeface="微软雅黑" panose="020B0503020204020204" charset="-122"/>
                <a:ea typeface="微软雅黑" panose="020B0503020204020204" charset="-122"/>
              </a:rPr>
              <a:t>x=y+2; break;</a:t>
            </a:r>
            <a:r>
              <a:rPr lang="en-US" altLang="zh-CN" b="1">
                <a:latin typeface="微软雅黑" panose="020B0503020204020204" charset="-122"/>
                <a:ea typeface="微软雅黑" panose="020B0503020204020204" charset="-122"/>
              </a:rPr>
              <a:t>}</a:t>
            </a:r>
            <a:endParaRPr lang="zh-CN" altLang="en-US" b="1">
              <a:latin typeface="微软雅黑" panose="020B0503020204020204" charset="-122"/>
              <a:ea typeface="微软雅黑" panose="020B0503020204020204" charset="-122"/>
            </a:endParaRPr>
          </a:p>
          <a:p>
            <a:pPr lvl="1" indent="457200"/>
            <a:r>
              <a:rPr lang="zh-CN" altLang="en-US" b="1">
                <a:latin typeface="微软雅黑" panose="020B0503020204020204" charset="-122"/>
                <a:ea typeface="微软雅黑" panose="020B0503020204020204" charset="-122"/>
              </a:rPr>
              <a:t>else</a:t>
            </a:r>
          </a:p>
          <a:p>
            <a:pPr lvl="2" indent="457200"/>
            <a:r>
              <a:rPr lang="zh-CN" altLang="en-US" b="1">
                <a:latin typeface="微软雅黑" panose="020B0503020204020204" charset="-122"/>
                <a:ea typeface="微软雅黑" panose="020B0503020204020204" charset="-122"/>
              </a:rPr>
              <a:t>if(l==iType)</a:t>
            </a:r>
          </a:p>
          <a:p>
            <a:pPr lvl="3" indent="457200"/>
            <a:r>
              <a:rPr lang="zh-CN" altLang="en-US" b="1">
                <a:latin typeface="微软雅黑" panose="020B0503020204020204" charset="-122"/>
                <a:ea typeface="微软雅黑" panose="020B0503020204020204" charset="-122"/>
              </a:rPr>
              <a:t>x=y+10;</a:t>
            </a:r>
          </a:p>
          <a:p>
            <a:pPr lvl="2" indent="457200"/>
            <a:r>
              <a:rPr lang="zh-CN" altLang="en-US" b="1">
                <a:latin typeface="微软雅黑" panose="020B0503020204020204" charset="-122"/>
                <a:ea typeface="微软雅黑" panose="020B0503020204020204" charset="-122"/>
              </a:rPr>
              <a:t>else</a:t>
            </a:r>
          </a:p>
          <a:p>
            <a:pPr lvl="3" indent="457200"/>
            <a:r>
              <a:rPr lang="zh-CN" altLang="en-US" b="1">
                <a:latin typeface="微软雅黑" panose="020B0503020204020204" charset="-122"/>
                <a:ea typeface="微软雅黑" panose="020B0503020204020204" charset="-122"/>
              </a:rPr>
              <a:t>x=y+20;</a:t>
            </a:r>
          </a:p>
          <a:p>
            <a:pPr indent="457200"/>
            <a:r>
              <a:rPr lang="en-US" altLang="zh-CN" b="1">
                <a:latin typeface="微软雅黑" panose="020B0503020204020204" charset="-122"/>
                <a:ea typeface="微软雅黑" panose="020B0503020204020204" charset="-122"/>
              </a:rPr>
              <a:t>}</a:t>
            </a:r>
          </a:p>
          <a:p>
            <a:r>
              <a:rPr lang="en-US" altLang="zh-CN" b="1">
                <a:latin typeface="微软雅黑" panose="020B0503020204020204" charset="-122"/>
                <a:ea typeface="微软雅黑" panose="020B0503020204020204" charset="-122"/>
              </a:rPr>
              <a:t>}</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idx="1"/>
          </p:nvPr>
        </p:nvPicPr>
        <p:blipFill>
          <a:blip r:embed="rId3"/>
          <a:stretch>
            <a:fillRect/>
          </a:stretch>
        </p:blipFill>
        <p:spPr>
          <a:xfrm>
            <a:off x="5331460" y="1340486"/>
            <a:ext cx="5104130" cy="4680585"/>
          </a:xfrm>
          <a:prstGeom prst="rect">
            <a:avLst/>
          </a:prstGeom>
        </p:spPr>
      </p:pic>
      <p:sp>
        <p:nvSpPr>
          <p:cNvPr id="2" name="标题 1"/>
          <p:cNvSpPr>
            <a:spLocks noGrp="1"/>
          </p:cNvSpPr>
          <p:nvPr>
            <p:ph type="title"/>
          </p:nvPr>
        </p:nvSpPr>
        <p:spPr/>
        <p:txBody>
          <a:bodyPr/>
          <a:lstStyle/>
          <a:p>
            <a:r>
              <a:rPr lang="en-US" altLang="zh-CN">
                <a:solidFill>
                  <a:schemeClr val="accent1"/>
                </a:solidFill>
                <a:ea typeface="汉仪文黑-85W" panose="00020600040101010101" charset="-122"/>
                <a:sym typeface="+mn-ea"/>
              </a:rPr>
              <a:t>对路径的测试</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82</a:t>
            </a:fld>
            <a:endParaRPr lang="zh-CN" altLang="en-US"/>
          </a:p>
        </p:txBody>
      </p:sp>
      <p:sp>
        <p:nvSpPr>
          <p:cNvPr id="6" name="文本框 5"/>
          <p:cNvSpPr txBox="1"/>
          <p:nvPr>
            <p:custDataLst>
              <p:tags r:id="rId1"/>
            </p:custDataLst>
          </p:nvPr>
        </p:nvSpPr>
        <p:spPr>
          <a:xfrm>
            <a:off x="1703705" y="1917066"/>
            <a:ext cx="4572000" cy="3692525"/>
          </a:xfrm>
          <a:prstGeom prst="rect">
            <a:avLst/>
          </a:prstGeom>
          <a:noFill/>
        </p:spPr>
        <p:txBody>
          <a:bodyPr wrap="square" rtlCol="0" anchor="t">
            <a:spAutoFit/>
          </a:bodyPr>
          <a:lstStyle/>
          <a:p>
            <a:r>
              <a:rPr lang="zh-CN" altLang="en-US"/>
              <a:t>void Sort(int iRecordNum,int iType){</a:t>
            </a:r>
          </a:p>
          <a:p>
            <a:pPr indent="457200"/>
            <a:r>
              <a:rPr lang="zh-CN" altLang="en-US"/>
              <a:t>int x=0;</a:t>
            </a:r>
          </a:p>
          <a:p>
            <a:pPr indent="457200"/>
            <a:r>
              <a:rPr lang="zh-CN" altLang="en-US"/>
              <a:t>int y=0;</a:t>
            </a:r>
          </a:p>
          <a:p>
            <a:pPr indent="457200"/>
            <a:r>
              <a:rPr lang="zh-CN" altLang="en-US"/>
              <a:t>while(iRecordNum-- &gt;0)</a:t>
            </a:r>
            <a:r>
              <a:rPr lang="en-US" altLang="zh-CN"/>
              <a:t>{</a:t>
            </a:r>
            <a:endParaRPr lang="zh-CN" altLang="en-US"/>
          </a:p>
          <a:p>
            <a:pPr lvl="1" indent="457200"/>
            <a:r>
              <a:rPr lang="zh-CN" altLang="en-US"/>
              <a:t>if(0==iType)</a:t>
            </a:r>
          </a:p>
          <a:p>
            <a:pPr lvl="2" indent="457200"/>
            <a:r>
              <a:rPr lang="en-US" altLang="zh-CN"/>
              <a:t>{</a:t>
            </a:r>
            <a:r>
              <a:rPr lang="zh-CN" altLang="en-US"/>
              <a:t>x=y+2; break;</a:t>
            </a:r>
            <a:r>
              <a:rPr lang="en-US" altLang="zh-CN"/>
              <a:t>}</a:t>
            </a:r>
            <a:endParaRPr lang="zh-CN" altLang="en-US"/>
          </a:p>
          <a:p>
            <a:pPr lvl="1" indent="457200"/>
            <a:r>
              <a:rPr lang="zh-CN" altLang="en-US"/>
              <a:t>else</a:t>
            </a:r>
          </a:p>
          <a:p>
            <a:pPr lvl="2" indent="457200"/>
            <a:r>
              <a:rPr lang="zh-CN" altLang="en-US"/>
              <a:t>if(l==iType)</a:t>
            </a:r>
          </a:p>
          <a:p>
            <a:pPr lvl="3" indent="457200"/>
            <a:r>
              <a:rPr lang="zh-CN" altLang="en-US"/>
              <a:t>x=y+10;</a:t>
            </a:r>
          </a:p>
          <a:p>
            <a:pPr lvl="2" indent="457200"/>
            <a:r>
              <a:rPr lang="zh-CN" altLang="en-US"/>
              <a:t>else</a:t>
            </a:r>
          </a:p>
          <a:p>
            <a:pPr lvl="3" indent="457200"/>
            <a:r>
              <a:rPr lang="zh-CN" altLang="en-US"/>
              <a:t>x=y+20;</a:t>
            </a:r>
          </a:p>
          <a:p>
            <a:pPr indent="457200"/>
            <a:r>
              <a:rPr lang="en-US" altLang="zh-CN"/>
              <a:t>}</a:t>
            </a:r>
          </a:p>
          <a:p>
            <a:r>
              <a:rPr lang="en-US" altLang="zh-CN"/>
              <a:t>}</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83</a:t>
            </a:fld>
            <a:endParaRPr lang="zh-CN" altLang="en-US"/>
          </a:p>
        </p:txBody>
      </p:sp>
      <p:pic>
        <p:nvPicPr>
          <p:cNvPr id="6" name="内容占位符 5"/>
          <p:cNvPicPr>
            <a:picLocks noGrp="1" noChangeAspect="1"/>
          </p:cNvPicPr>
          <p:nvPr>
            <p:ph idx="1"/>
          </p:nvPr>
        </p:nvPicPr>
        <p:blipFill>
          <a:blip r:embed="rId3"/>
          <a:srcRect b="1605"/>
          <a:stretch>
            <a:fillRect/>
          </a:stretch>
        </p:blipFill>
        <p:spPr>
          <a:xfrm>
            <a:off x="1680210" y="1772920"/>
            <a:ext cx="8831580" cy="4320540"/>
          </a:xfrm>
          <a:prstGeom prst="rect">
            <a:avLst/>
          </a:prstGeom>
        </p:spPr>
      </p:pic>
      <p:sp>
        <p:nvSpPr>
          <p:cNvPr id="7" name="标题 6"/>
          <p:cNvSpPr>
            <a:spLocks noGrp="1"/>
          </p:cNvSpPr>
          <p:nvPr>
            <p:ph type="title"/>
            <p:custDataLst>
              <p:tags r:id="rId1"/>
            </p:custDataLst>
          </p:nvPr>
        </p:nvSpPr>
        <p:spPr/>
        <p:txBody>
          <a:bodyPr/>
          <a:lstStyle/>
          <a:p>
            <a:r>
              <a:rPr lang="en-US" altLang="zh-CN">
                <a:solidFill>
                  <a:schemeClr val="accent1"/>
                </a:solidFill>
                <a:ea typeface="汉仪文黑-85W" panose="00020600040101010101" charset="-122"/>
                <a:sym typeface="+mn-ea"/>
              </a:rPr>
              <a:t>对路径的测试</a:t>
            </a:r>
          </a:p>
        </p:txBody>
      </p:sp>
      <p:sp>
        <p:nvSpPr>
          <p:cNvPr id="8" name="文本框 7"/>
          <p:cNvSpPr txBox="1"/>
          <p:nvPr/>
        </p:nvSpPr>
        <p:spPr>
          <a:xfrm>
            <a:off x="2026285" y="1374140"/>
            <a:ext cx="4572000" cy="398780"/>
          </a:xfrm>
          <a:prstGeom prst="rect">
            <a:avLst/>
          </a:prstGeom>
          <a:noFill/>
        </p:spPr>
        <p:txBody>
          <a:bodyPr wrap="square" rtlCol="0" anchor="t">
            <a:spAutoFit/>
          </a:bodyPr>
          <a:lstStyle/>
          <a:p>
            <a:r>
              <a:rPr lang="zh-CN" altLang="en-US" sz="2000">
                <a:latin typeface="微软雅黑" panose="020B0503020204020204" charset="-122"/>
                <a:ea typeface="微软雅黑" panose="020B0503020204020204" charset="-122"/>
                <a:cs typeface="微软雅黑" panose="020B0503020204020204" charset="-122"/>
              </a:rPr>
              <a:t>(1) 根据代码画出程序控制流图</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84</a:t>
            </a:fld>
            <a:endParaRPr lang="zh-CN" altLang="en-US"/>
          </a:p>
        </p:txBody>
      </p:sp>
      <p:pic>
        <p:nvPicPr>
          <p:cNvPr id="6" name="内容占位符 5"/>
          <p:cNvPicPr>
            <a:picLocks noGrp="1" noChangeAspect="1"/>
          </p:cNvPicPr>
          <p:nvPr>
            <p:ph idx="1"/>
          </p:nvPr>
        </p:nvPicPr>
        <p:blipFill>
          <a:blip r:embed="rId3"/>
          <a:stretch>
            <a:fillRect/>
          </a:stretch>
        </p:blipFill>
        <p:spPr>
          <a:xfrm>
            <a:off x="1703705" y="1557020"/>
            <a:ext cx="8785860" cy="4345940"/>
          </a:xfrm>
          <a:prstGeom prst="rect">
            <a:avLst/>
          </a:prstGeom>
        </p:spPr>
      </p:pic>
      <p:sp>
        <p:nvSpPr>
          <p:cNvPr id="7" name="标题 6"/>
          <p:cNvSpPr>
            <a:spLocks noGrp="1"/>
          </p:cNvSpPr>
          <p:nvPr>
            <p:ph type="title"/>
            <p:custDataLst>
              <p:tags r:id="rId1"/>
            </p:custDataLst>
          </p:nvPr>
        </p:nvSpPr>
        <p:spPr/>
        <p:txBody>
          <a:bodyPr/>
          <a:lstStyle/>
          <a:p>
            <a:r>
              <a:rPr lang="en-US" altLang="zh-CN">
                <a:solidFill>
                  <a:schemeClr val="accent1"/>
                </a:solidFill>
                <a:ea typeface="汉仪文黑-85W" panose="00020600040101010101" charset="-122"/>
                <a:sym typeface="+mn-ea"/>
              </a:rPr>
              <a:t>对路径的测试</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85</a:t>
            </a:fld>
            <a:endParaRPr lang="zh-CN" altLang="en-US"/>
          </a:p>
        </p:txBody>
      </p:sp>
      <p:pic>
        <p:nvPicPr>
          <p:cNvPr id="6" name="内容占位符 5"/>
          <p:cNvPicPr>
            <a:picLocks noGrp="1" noChangeAspect="1"/>
          </p:cNvPicPr>
          <p:nvPr>
            <p:ph idx="1"/>
          </p:nvPr>
        </p:nvPicPr>
        <p:blipFill>
          <a:blip r:embed="rId3"/>
          <a:stretch>
            <a:fillRect/>
          </a:stretch>
        </p:blipFill>
        <p:spPr>
          <a:xfrm>
            <a:off x="1847215" y="1557021"/>
            <a:ext cx="8390890" cy="4553585"/>
          </a:xfrm>
          <a:prstGeom prst="rect">
            <a:avLst/>
          </a:prstGeom>
        </p:spPr>
      </p:pic>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86</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pic>
        <p:nvPicPr>
          <p:cNvPr id="6" name="内容占位符 5"/>
          <p:cNvPicPr>
            <a:picLocks noGrp="1" noChangeAspect="1"/>
          </p:cNvPicPr>
          <p:nvPr>
            <p:ph idx="1"/>
            <p:custDataLst>
              <p:tags r:id="rId2"/>
            </p:custDataLst>
          </p:nvPr>
        </p:nvPicPr>
        <p:blipFill>
          <a:blip r:embed="rId4"/>
          <a:stretch>
            <a:fillRect/>
          </a:stretch>
        </p:blipFill>
        <p:spPr>
          <a:xfrm>
            <a:off x="1919606" y="1772921"/>
            <a:ext cx="3664585" cy="2625725"/>
          </a:xfrm>
          <a:prstGeom prst="rect">
            <a:avLst/>
          </a:prstGeom>
        </p:spPr>
      </p:pic>
      <p:pic>
        <p:nvPicPr>
          <p:cNvPr id="7" name="图片 6"/>
          <p:cNvPicPr>
            <a:picLocks noChangeAspect="1"/>
          </p:cNvPicPr>
          <p:nvPr/>
        </p:nvPicPr>
        <p:blipFill>
          <a:blip r:embed="rId5"/>
          <a:stretch>
            <a:fillRect/>
          </a:stretch>
        </p:blipFill>
        <p:spPr>
          <a:xfrm>
            <a:off x="2855595" y="4437380"/>
            <a:ext cx="5184140" cy="1822450"/>
          </a:xfrm>
          <a:prstGeom prst="rect">
            <a:avLst/>
          </a:prstGeom>
        </p:spPr>
      </p:pic>
      <p:pic>
        <p:nvPicPr>
          <p:cNvPr id="9" name="图片 8"/>
          <p:cNvPicPr>
            <a:picLocks noChangeAspect="1"/>
          </p:cNvPicPr>
          <p:nvPr/>
        </p:nvPicPr>
        <p:blipFill>
          <a:blip r:embed="rId6"/>
          <a:stretch>
            <a:fillRect/>
          </a:stretch>
        </p:blipFill>
        <p:spPr>
          <a:xfrm>
            <a:off x="5591810" y="1119506"/>
            <a:ext cx="4932680" cy="324040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txBox="1">
            <a:spLocks noGrp="1"/>
          </p:cNvSpPr>
          <p:nvPr>
            <p:ph type="sldNum" sz="quarter" idx="12"/>
          </p:nvPr>
        </p:nvSpPr>
        <p:spPr/>
        <p:txBody>
          <a:bodyPr>
            <a:noAutofit/>
          </a:bodyPr>
          <a:lstStyle/>
          <a:p>
            <a:pPr>
              <a:spcBef>
                <a:spcPct val="0"/>
              </a:spcBef>
            </a:pPr>
            <a:fld id="{9A0DB2DC-4C9A-4742-B13C-FB6460FD3503}" type="slidenum">
              <a:rPr lang="en-US" altLang="zh-CN" dirty="0"/>
              <a:pPr>
                <a:spcBef>
                  <a:spcPct val="0"/>
                </a:spcBef>
              </a:pPr>
              <a:t>87</a:t>
            </a:fld>
            <a:endParaRPr lang="en-US" altLang="zh-CN" dirty="0"/>
          </a:p>
        </p:txBody>
      </p:sp>
      <p:sp>
        <p:nvSpPr>
          <p:cNvPr id="6148" name="Rectangle 3"/>
          <p:cNvSpPr>
            <a:spLocks noGrp="1"/>
          </p:cNvSpPr>
          <p:nvPr>
            <p:ph idx="1"/>
          </p:nvPr>
        </p:nvSpPr>
        <p:spPr>
          <a:xfrm>
            <a:off x="2026285" y="1543050"/>
            <a:ext cx="8139430" cy="4124960"/>
          </a:xfrm>
        </p:spPr>
        <p:txBody>
          <a:bodyPr vert="horz" wrap="square" lIns="91440" tIns="45720" rIns="91440" bIns="45720" rtlCol="0" anchor="t" anchorCtr="0">
            <a:normAutofit/>
          </a:bodyPr>
          <a:lstStyle/>
          <a:p>
            <a:pPr eaLnBrk="1" hangingPunct="1"/>
            <a:r>
              <a:rPr sz="3100" b="1">
                <a:sym typeface="+mn-ea"/>
              </a:rPr>
              <a:t>程序图</a:t>
            </a:r>
            <a:r>
              <a:rPr lang="zh-CN" altLang="en-US" sz="3100" b="1" dirty="0"/>
              <a:t>压缩的原则</a:t>
            </a:r>
            <a:endParaRPr lang="en-US" altLang="zh-CN" sz="3100" b="1" dirty="0"/>
          </a:p>
          <a:p>
            <a:pPr lvl="1" eaLnBrk="1" hangingPunct="1"/>
            <a:r>
              <a:rPr lang="zh-CN" altLang="en-US" dirty="0"/>
              <a:t>剔除注释语句</a:t>
            </a:r>
            <a:endParaRPr lang="en-US" altLang="zh-CN" dirty="0"/>
          </a:p>
          <a:p>
            <a:pPr lvl="1" eaLnBrk="1" hangingPunct="1"/>
            <a:r>
              <a:rPr lang="zh-CN" altLang="en-US" dirty="0"/>
              <a:t>剔除数据变量的声明语句</a:t>
            </a:r>
            <a:endParaRPr lang="en-US" altLang="zh-CN" dirty="0"/>
          </a:p>
          <a:p>
            <a:pPr lvl="1" eaLnBrk="1" hangingPunct="1"/>
            <a:r>
              <a:rPr lang="zh-CN" altLang="en-US" dirty="0"/>
              <a:t>所有连续的串行语句压缩为一个节点</a:t>
            </a:r>
            <a:endParaRPr lang="en-US" altLang="zh-CN" dirty="0"/>
          </a:p>
          <a:p>
            <a:pPr lvl="1" eaLnBrk="1" hangingPunct="1"/>
            <a:r>
              <a:rPr lang="zh-CN" altLang="en-US" dirty="0"/>
              <a:t>所有循环次数压缩为一次循环</a:t>
            </a:r>
            <a:endParaRPr lang="en-US" altLang="zh-CN" sz="3100" b="1" dirty="0">
              <a:solidFill>
                <a:srgbClr val="FF0000"/>
              </a:solidFill>
            </a:endParaRPr>
          </a:p>
        </p:txBody>
      </p:sp>
      <p:pic>
        <p:nvPicPr>
          <p:cNvPr id="6149" name="Picture 2" descr="5t15"/>
          <p:cNvPicPr>
            <a:picLocks noChangeAspect="1"/>
          </p:cNvPicPr>
          <p:nvPr/>
        </p:nvPicPr>
        <p:blipFill>
          <a:blip r:embed="rId3"/>
          <a:stretch>
            <a:fillRect/>
          </a:stretch>
        </p:blipFill>
        <p:spPr>
          <a:xfrm>
            <a:off x="7022148" y="404495"/>
            <a:ext cx="3143250" cy="3106738"/>
          </a:xfrm>
          <a:prstGeom prst="rect">
            <a:avLst/>
          </a:prstGeom>
          <a:noFill/>
          <a:ln w="9525">
            <a:noFill/>
          </a:ln>
        </p:spPr>
      </p:pic>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2" name="文本框 1"/>
          <p:cNvSpPr txBox="1"/>
          <p:nvPr/>
        </p:nvSpPr>
        <p:spPr>
          <a:xfrm>
            <a:off x="3215641" y="5013325"/>
            <a:ext cx="2859405" cy="521970"/>
          </a:xfrm>
          <a:prstGeom prst="rect">
            <a:avLst/>
          </a:prstGeom>
          <a:noFill/>
        </p:spPr>
        <p:txBody>
          <a:bodyPr wrap="square" rtlCol="0" anchor="t">
            <a:spAutoFit/>
          </a:bodyPr>
          <a:lstStyle/>
          <a:p>
            <a:r>
              <a:rPr lang="zh-CN" altLang="en-US" sz="2800" b="1" dirty="0">
                <a:solidFill>
                  <a:srgbClr val="FF0000"/>
                </a:solidFill>
                <a:latin typeface="微软雅黑" panose="020B0503020204020204" charset="-122"/>
                <a:ea typeface="微软雅黑" panose="020B0503020204020204" charset="-122"/>
                <a:sym typeface="+mn-ea"/>
              </a:rPr>
              <a:t>关注分支情况！</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txBox="1">
            <a:spLocks noGrp="1"/>
          </p:cNvSpPr>
          <p:nvPr>
            <p:ph type="sldNum" sz="quarter" idx="12"/>
          </p:nvPr>
        </p:nvSpPr>
        <p:spPr/>
        <p:txBody>
          <a:bodyPr>
            <a:noAutofit/>
          </a:bodyPr>
          <a:lstStyle/>
          <a:p>
            <a:pPr>
              <a:spcBef>
                <a:spcPct val="0"/>
              </a:spcBef>
            </a:pPr>
            <a:fld id="{9A0DB2DC-4C9A-4742-B13C-FB6460FD3503}" type="slidenum">
              <a:rPr lang="en-US" altLang="zh-CN" dirty="0"/>
              <a:pPr>
                <a:spcBef>
                  <a:spcPct val="0"/>
                </a:spcBef>
              </a:pPr>
              <a:t>88</a:t>
            </a:fld>
            <a:endParaRPr lang="en-US" altLang="zh-CN" dirty="0"/>
          </a:p>
        </p:txBody>
      </p:sp>
      <p:sp>
        <p:nvSpPr>
          <p:cNvPr id="8196" name="Rectangle 3"/>
          <p:cNvSpPr>
            <a:spLocks noGrp="1"/>
          </p:cNvSpPr>
          <p:nvPr>
            <p:ph idx="1"/>
          </p:nvPr>
        </p:nvSpPr>
        <p:spPr>
          <a:xfrm>
            <a:off x="2026285" y="1287780"/>
            <a:ext cx="8139430" cy="5003800"/>
          </a:xfrm>
        </p:spPr>
        <p:txBody>
          <a:bodyPr vert="horz" wrap="square" lIns="91440" tIns="45720" rIns="91440" bIns="45720" rtlCol="0" anchor="t" anchorCtr="0">
            <a:normAutofit fontScale="92500" lnSpcReduction="10000"/>
          </a:bodyPr>
          <a:lstStyle/>
          <a:p>
            <a:pPr algn="just">
              <a:buClrTx/>
              <a:buSzTx/>
            </a:pPr>
            <a:r>
              <a:rPr sz="4600" b="1">
                <a:sym typeface="+mn-ea"/>
              </a:rPr>
              <a:t>环复杂度</a:t>
            </a:r>
            <a:endParaRPr lang="zh-CN" altLang="en-US" sz="4600" b="1"/>
          </a:p>
          <a:p>
            <a:pPr lvl="1" algn="just"/>
            <a:r>
              <a:rPr sz="3400">
                <a:sym typeface="+mn-ea"/>
              </a:rPr>
              <a:t>通过判定节点对程序图封闭环数目造成的影响来衡量程序的复杂程度。</a:t>
            </a:r>
          </a:p>
          <a:p>
            <a:pPr lvl="0" algn="just"/>
            <a:r>
              <a:rPr lang="zh-CN" altLang="en-US" sz="4600" b="1" dirty="0"/>
              <a:t>环复杂度计算</a:t>
            </a:r>
            <a:endParaRPr lang="en-US" altLang="zh-CN" sz="4600" b="1" dirty="0"/>
          </a:p>
          <a:p>
            <a:pPr marL="800100" lvl="1" indent="-457200" algn="just">
              <a:lnSpc>
                <a:spcPct val="140000"/>
              </a:lnSpc>
              <a:spcAft>
                <a:spcPts val="600"/>
              </a:spcAft>
              <a:buAutoNum type="arabicPeriod"/>
            </a:pPr>
            <a:r>
              <a:rPr lang="zh-CN" altLang="en-US" sz="3400" dirty="0"/>
              <a:t>直观观察法：程序图将二维平面分隔为封闭区域和开放区域的个数。</a:t>
            </a:r>
            <a:endParaRPr lang="en-US" altLang="zh-CN" sz="3400" dirty="0"/>
          </a:p>
          <a:p>
            <a:pPr marL="800100" lvl="1" indent="-457200">
              <a:lnSpc>
                <a:spcPct val="140000"/>
              </a:lnSpc>
              <a:spcAft>
                <a:spcPts val="600"/>
              </a:spcAft>
              <a:buAutoNum type="arabicPeriod"/>
            </a:pPr>
            <a:r>
              <a:rPr lang="zh-CN" altLang="en-US" sz="3400" dirty="0"/>
              <a:t>公式计算法：</a:t>
            </a:r>
            <a:endParaRPr lang="en-US" altLang="zh-CN" sz="3400" dirty="0"/>
          </a:p>
          <a:p>
            <a:pPr marL="800100" lvl="1" indent="-457200">
              <a:lnSpc>
                <a:spcPct val="140000"/>
              </a:lnSpc>
              <a:spcAft>
                <a:spcPts val="600"/>
              </a:spcAft>
              <a:buAutoNum type="arabicPeriod"/>
            </a:pPr>
            <a:r>
              <a:rPr lang="zh-CN" altLang="en-US" sz="3400" dirty="0"/>
              <a:t>判定节点法：</a:t>
            </a:r>
          </a:p>
        </p:txBody>
      </p:sp>
      <p:sp>
        <p:nvSpPr>
          <p:cNvPr id="8197" name="Rectangle 2"/>
          <p:cNvSpPr/>
          <p:nvPr/>
        </p:nvSpPr>
        <p:spPr>
          <a:xfrm>
            <a:off x="1524001" y="-184666"/>
            <a:ext cx="184731" cy="369332"/>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spcBef>
                <a:spcPct val="0"/>
              </a:spcBef>
              <a:buClrTx/>
              <a:buNone/>
            </a:pPr>
            <a:endParaRPr lang="zh-CN" altLang="en-US" sz="1800" dirty="0"/>
          </a:p>
        </p:txBody>
      </p:sp>
      <p:graphicFrame>
        <p:nvGraphicFramePr>
          <p:cNvPr id="8198" name="Object 1"/>
          <p:cNvGraphicFramePr>
            <a:graphicFrameLocks noChangeAspect="1"/>
          </p:cNvGraphicFramePr>
          <p:nvPr/>
        </p:nvGraphicFramePr>
        <p:xfrm>
          <a:off x="5591810" y="4973955"/>
          <a:ext cx="3016250" cy="685800"/>
        </p:xfrm>
        <a:graphic>
          <a:graphicData uri="http://schemas.openxmlformats.org/presentationml/2006/ole">
            <mc:AlternateContent xmlns:mc="http://schemas.openxmlformats.org/markup-compatibility/2006">
              <mc:Choice xmlns:v="urn:schemas-microsoft-com:vml" Requires="v">
                <p:oleObj r:id="rId3" imgW="838200" imgH="190500" progId="Equation.DSMT4">
                  <p:embed/>
                </p:oleObj>
              </mc:Choice>
              <mc:Fallback>
                <p:oleObj r:id="rId3" imgW="838200" imgH="190500" progId="Equation.DSMT4">
                  <p:embed/>
                  <p:pic>
                    <p:nvPicPr>
                      <p:cNvPr id="8198" name="Object 1"/>
                      <p:cNvPicPr/>
                      <p:nvPr/>
                    </p:nvPicPr>
                    <p:blipFill>
                      <a:blip r:embed="rId4"/>
                      <a:stretch>
                        <a:fillRect/>
                      </a:stretch>
                    </p:blipFill>
                    <p:spPr>
                      <a:xfrm>
                        <a:off x="5591810" y="4973955"/>
                        <a:ext cx="3016250" cy="685800"/>
                      </a:xfrm>
                      <a:prstGeom prst="rect">
                        <a:avLst/>
                      </a:prstGeom>
                      <a:noFill/>
                      <a:ln w="38100">
                        <a:noFill/>
                        <a:miter/>
                      </a:ln>
                    </p:spPr>
                  </p:pic>
                </p:oleObj>
              </mc:Fallback>
            </mc:AlternateContent>
          </a:graphicData>
        </a:graphic>
      </p:graphicFrame>
      <p:sp>
        <p:nvSpPr>
          <p:cNvPr id="8199" name="Rectangle 4"/>
          <p:cNvSpPr/>
          <p:nvPr/>
        </p:nvSpPr>
        <p:spPr>
          <a:xfrm>
            <a:off x="1524001" y="-184666"/>
            <a:ext cx="184731" cy="369332"/>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spcBef>
                <a:spcPct val="0"/>
              </a:spcBef>
              <a:buClrTx/>
              <a:buNone/>
            </a:pPr>
            <a:endParaRPr lang="zh-CN" altLang="en-US" sz="1800" dirty="0"/>
          </a:p>
        </p:txBody>
      </p:sp>
      <p:graphicFrame>
        <p:nvGraphicFramePr>
          <p:cNvPr id="8200" name="Object 3"/>
          <p:cNvGraphicFramePr>
            <a:graphicFrameLocks noChangeAspect="1"/>
          </p:cNvGraphicFramePr>
          <p:nvPr/>
        </p:nvGraphicFramePr>
        <p:xfrm>
          <a:off x="5591810" y="5661026"/>
          <a:ext cx="2444750" cy="678815"/>
        </p:xfrm>
        <a:graphic>
          <a:graphicData uri="http://schemas.openxmlformats.org/presentationml/2006/ole">
            <mc:AlternateContent xmlns:mc="http://schemas.openxmlformats.org/markup-compatibility/2006">
              <mc:Choice xmlns:v="urn:schemas-microsoft-com:vml" Requires="v">
                <p:oleObj r:id="rId5" imgW="685800" imgH="190500" progId="Equation.DSMT4">
                  <p:embed/>
                </p:oleObj>
              </mc:Choice>
              <mc:Fallback>
                <p:oleObj r:id="rId5" imgW="685800" imgH="190500" progId="Equation.DSMT4">
                  <p:embed/>
                  <p:pic>
                    <p:nvPicPr>
                      <p:cNvPr id="8200" name="Object 3"/>
                      <p:cNvPicPr/>
                      <p:nvPr/>
                    </p:nvPicPr>
                    <p:blipFill>
                      <a:blip r:embed="rId6"/>
                      <a:stretch>
                        <a:fillRect/>
                      </a:stretch>
                    </p:blipFill>
                    <p:spPr>
                      <a:xfrm>
                        <a:off x="5591810" y="5661026"/>
                        <a:ext cx="2444750" cy="678815"/>
                      </a:xfrm>
                      <a:prstGeom prst="rect">
                        <a:avLst/>
                      </a:prstGeom>
                      <a:noFill/>
                      <a:ln w="38100">
                        <a:noFill/>
                        <a:miter/>
                      </a:ln>
                    </p:spPr>
                  </p:pic>
                </p:oleObj>
              </mc:Fallback>
            </mc:AlternateContent>
          </a:graphicData>
        </a:graphic>
      </p:graphicFrame>
      <p:sp>
        <p:nvSpPr>
          <p:cNvPr id="5123" name="Rectangle 2"/>
          <p:cNvSpPr>
            <a:spLocks noGrp="1"/>
          </p:cNvSpPr>
          <p:nvPr>
            <p:ph type="title"/>
            <p:custDataLst>
              <p:tags r:id="rId1"/>
            </p:custDataLst>
          </p:nvPr>
        </p:nvSpPr>
        <p:spPr>
          <a:xfrm>
            <a:off x="667871" y="-185937"/>
            <a:ext cx="10515600" cy="1325563"/>
          </a:xfrm>
        </p:spPr>
        <p:txBody>
          <a:bodyPr vert="horz" wrap="square" lIns="91440" tIns="45720" rIns="91440" bIns="45720" rtlCol="0" anchor="b" anchorCtr="0">
            <a:normAutofit/>
          </a:bodyPr>
          <a:lstStyle/>
          <a:p>
            <a:pPr algn="l" eaLnBrk="1" hangingPunct="1">
              <a:buClrTx/>
              <a:buSzTx/>
              <a:buFontTx/>
            </a:pPr>
            <a:r>
              <a:rPr lang="en-US" altLang="zh-CN" dirty="0" err="1">
                <a:solidFill>
                  <a:schemeClr val="accent1"/>
                </a:solidFill>
                <a:ea typeface="汉仪文黑-85W" panose="00020600040101010101" charset="-122"/>
              </a:rPr>
              <a:t>对路径的测试</a:t>
            </a:r>
            <a:endParaRPr lang="en-US" altLang="zh-CN" dirty="0">
              <a:solidFill>
                <a:schemeClr val="accent1"/>
              </a:solidFill>
              <a:ea typeface="汉仪文黑-85W" panose="00020600040101010101" charset="-122"/>
            </a:endParaRPr>
          </a:p>
        </p:txBody>
      </p:sp>
      <p:sp>
        <p:nvSpPr>
          <p:cNvPr id="3" name="日期占位符 2"/>
          <p:cNvSpPr>
            <a:spLocks noGrp="1"/>
          </p:cNvSpPr>
          <p:nvPr>
            <p:ph type="dt" sz="half" idx="10"/>
          </p:nvPr>
        </p:nvSpPr>
        <p:spPr/>
        <p:txBody>
          <a:bodyPr/>
          <a:lstStyle/>
          <a:p>
            <a:fld id="{760FBDFE-C587-4B4C-A407-44438C67B59E}" type="datetime1">
              <a:rPr lang="zh-CN" altLang="en-US" smtClean="0"/>
              <a:t>2024/3/27</a:t>
            </a:fld>
            <a:endParaRPr lang="zh-CN" altLang="en-US"/>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txBox="1">
            <a:spLocks noGrp="1"/>
          </p:cNvSpPr>
          <p:nvPr>
            <p:ph type="sldNum" sz="quarter" idx="12"/>
          </p:nvPr>
        </p:nvSpPr>
        <p:spPr/>
        <p:txBody>
          <a:bodyPr>
            <a:noAutofit/>
          </a:bodyPr>
          <a:lstStyle/>
          <a:p>
            <a:pPr>
              <a:spcBef>
                <a:spcPct val="0"/>
              </a:spcBef>
            </a:pPr>
            <a:fld id="{9A0DB2DC-4C9A-4742-B13C-FB6460FD3503}" type="slidenum">
              <a:rPr lang="en-US" altLang="zh-CN" dirty="0"/>
              <a:pPr>
                <a:spcBef>
                  <a:spcPct val="0"/>
                </a:spcBef>
              </a:pPr>
              <a:t>89</a:t>
            </a:fld>
            <a:endParaRPr lang="en-US" altLang="zh-CN" dirty="0"/>
          </a:p>
        </p:txBody>
      </p:sp>
      <p:sp>
        <p:nvSpPr>
          <p:cNvPr id="9220" name="Rectangle 3"/>
          <p:cNvSpPr>
            <a:spLocks noGrp="1"/>
          </p:cNvSpPr>
          <p:nvPr>
            <p:ph idx="1"/>
          </p:nvPr>
        </p:nvSpPr>
        <p:spPr>
          <a:xfrm>
            <a:off x="2026285" y="1287781"/>
            <a:ext cx="8139430" cy="4857115"/>
          </a:xfrm>
        </p:spPr>
        <p:txBody>
          <a:bodyPr vert="horz" wrap="square" lIns="91440" tIns="45720" rIns="91440" bIns="45720" rtlCol="0" anchor="t" anchorCtr="0">
            <a:normAutofit/>
          </a:bodyPr>
          <a:lstStyle/>
          <a:p>
            <a:pPr eaLnBrk="1" hangingPunct="1"/>
            <a:r>
              <a:rPr lang="zh-CN" altLang="en-US" sz="3400" b="1" dirty="0"/>
              <a:t>环复杂度计算</a:t>
            </a:r>
            <a:r>
              <a:rPr lang="en-US" altLang="zh-CN" sz="2000" b="1" dirty="0"/>
              <a:t>——</a:t>
            </a:r>
            <a:r>
              <a:rPr sz="2400" b="1" dirty="0"/>
              <a:t>公式计算法</a:t>
            </a:r>
            <a:endParaRPr lang="zh-CN" altLang="en-US" sz="2400" b="1" dirty="0"/>
          </a:p>
          <a:p>
            <a:pPr eaLnBrk="1" hangingPunct="1"/>
            <a:endParaRPr lang="en-US" altLang="zh-CN" sz="3400" b="1" dirty="0"/>
          </a:p>
          <a:p>
            <a:pPr lvl="1" eaLnBrk="1" hangingPunct="1">
              <a:lnSpc>
                <a:spcPct val="150000"/>
              </a:lnSpc>
            </a:pPr>
            <a:r>
              <a:rPr lang="en-US" altLang="zh-CN" dirty="0"/>
              <a:t>e(edge)</a:t>
            </a:r>
            <a:r>
              <a:rPr dirty="0"/>
              <a:t>表示图中边的数目</a:t>
            </a:r>
          </a:p>
          <a:p>
            <a:pPr lvl="1" eaLnBrk="1" hangingPunct="1">
              <a:lnSpc>
                <a:spcPct val="150000"/>
              </a:lnSpc>
            </a:pPr>
            <a:r>
              <a:rPr lang="en-US" altLang="zh-CN" dirty="0"/>
              <a:t>n(node)</a:t>
            </a:r>
            <a:r>
              <a:rPr dirty="0"/>
              <a:t>表示图中节点的总数</a:t>
            </a:r>
          </a:p>
          <a:p>
            <a:pPr lvl="0" eaLnBrk="1" hangingPunct="1">
              <a:lnSpc>
                <a:spcPct val="160000"/>
              </a:lnSpc>
            </a:pPr>
            <a:r>
              <a:rPr b="1" dirty="0"/>
              <a:t>需要满足两个条件：</a:t>
            </a:r>
            <a:endParaRPr sz="2400" b="1" dirty="0"/>
          </a:p>
          <a:p>
            <a:pPr marL="800100" lvl="1" indent="-457200">
              <a:buAutoNum type="arabicPeriod"/>
            </a:pPr>
            <a:r>
              <a:rPr dirty="0"/>
              <a:t>程序图中不包含孤立节点；</a:t>
            </a:r>
          </a:p>
          <a:p>
            <a:pPr marL="800100" lvl="1" indent="-457200">
              <a:buAutoNum type="arabicPeriod"/>
            </a:pPr>
            <a:r>
              <a:rPr dirty="0"/>
              <a:t>程序图必须是一个强（双向）连通图。</a:t>
            </a:r>
          </a:p>
        </p:txBody>
      </p:sp>
      <p:sp>
        <p:nvSpPr>
          <p:cNvPr id="9221" name="Rectangle 2"/>
          <p:cNvSpPr/>
          <p:nvPr/>
        </p:nvSpPr>
        <p:spPr>
          <a:xfrm>
            <a:off x="1524001" y="-184666"/>
            <a:ext cx="184731" cy="369332"/>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spcBef>
                <a:spcPct val="0"/>
              </a:spcBef>
              <a:buClrTx/>
              <a:buNone/>
            </a:pPr>
            <a:endParaRPr lang="zh-CN" altLang="en-US" sz="1800" dirty="0"/>
          </a:p>
        </p:txBody>
      </p:sp>
      <p:graphicFrame>
        <p:nvGraphicFramePr>
          <p:cNvPr id="9222" name="Object 1"/>
          <p:cNvGraphicFramePr>
            <a:graphicFrameLocks noChangeAspect="1"/>
          </p:cNvGraphicFramePr>
          <p:nvPr>
            <p:extLst>
              <p:ext uri="{D42A27DB-BD31-4B8C-83A1-F6EECF244321}">
                <p14:modId xmlns:p14="http://schemas.microsoft.com/office/powerpoint/2010/main" val="3644980936"/>
              </p:ext>
            </p:extLst>
          </p:nvPr>
        </p:nvGraphicFramePr>
        <p:xfrm>
          <a:off x="2026285" y="1998496"/>
          <a:ext cx="3292475" cy="748665"/>
        </p:xfrm>
        <a:graphic>
          <a:graphicData uri="http://schemas.openxmlformats.org/presentationml/2006/ole">
            <mc:AlternateContent xmlns:mc="http://schemas.openxmlformats.org/markup-compatibility/2006">
              <mc:Choice xmlns:v="urn:schemas-microsoft-com:vml" Requires="v">
                <p:oleObj r:id="rId4" imgW="838200" imgH="190500" progId="Equation.DSMT4">
                  <p:embed/>
                </p:oleObj>
              </mc:Choice>
              <mc:Fallback>
                <p:oleObj r:id="rId4" imgW="838200" imgH="190500" progId="Equation.DSMT4">
                  <p:embed/>
                  <p:pic>
                    <p:nvPicPr>
                      <p:cNvPr id="9222" name="Object 1"/>
                      <p:cNvPicPr/>
                      <p:nvPr/>
                    </p:nvPicPr>
                    <p:blipFill>
                      <a:blip r:embed="rId5"/>
                      <a:stretch>
                        <a:fillRect/>
                      </a:stretch>
                    </p:blipFill>
                    <p:spPr>
                      <a:xfrm>
                        <a:off x="2026285" y="1998496"/>
                        <a:ext cx="3292475" cy="748665"/>
                      </a:xfrm>
                      <a:prstGeom prst="rect">
                        <a:avLst/>
                      </a:prstGeom>
                      <a:noFill/>
                      <a:ln w="38100">
                        <a:noFill/>
                        <a:miter/>
                      </a:ln>
                    </p:spPr>
                  </p:pic>
                </p:oleObj>
              </mc:Fallback>
            </mc:AlternateContent>
          </a:graphicData>
        </a:graphic>
      </p:graphicFrame>
      <p:sp>
        <p:nvSpPr>
          <p:cNvPr id="9223" name="Rectangle 4"/>
          <p:cNvSpPr/>
          <p:nvPr/>
        </p:nvSpPr>
        <p:spPr>
          <a:xfrm>
            <a:off x="1524001" y="-184666"/>
            <a:ext cx="184731" cy="369332"/>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spcBef>
                <a:spcPct val="0"/>
              </a:spcBef>
              <a:buClrTx/>
              <a:buNone/>
            </a:pPr>
            <a:endParaRPr lang="zh-CN" altLang="en-US" sz="1800" dirty="0"/>
          </a:p>
        </p:txBody>
      </p:sp>
      <p:sp>
        <p:nvSpPr>
          <p:cNvPr id="5123" name="Rectangle 2"/>
          <p:cNvSpPr>
            <a:spLocks noGrp="1"/>
          </p:cNvSpPr>
          <p:nvPr>
            <p:ph type="title"/>
            <p:custDataLst>
              <p:tags r:id="rId1"/>
            </p:custDataLst>
          </p:nvPr>
        </p:nvSpPr>
        <p:spPr>
          <a:xfrm>
            <a:off x="601981" y="-110005"/>
            <a:ext cx="10515600" cy="1325563"/>
          </a:xfrm>
        </p:spPr>
        <p:txBody>
          <a:bodyPr vert="horz" wrap="square" lIns="91440" tIns="45720" rIns="91440" bIns="45720" rtlCol="0" anchor="b" anchorCtr="0">
            <a:normAutofit/>
          </a:bodyPr>
          <a:lstStyle/>
          <a:p>
            <a:pPr algn="l" eaLnBrk="1" hangingPunct="1">
              <a:buClrTx/>
              <a:buSzTx/>
              <a:buFontTx/>
            </a:pPr>
            <a:r>
              <a:rPr lang="en-US" altLang="zh-CN" dirty="0" err="1">
                <a:solidFill>
                  <a:schemeClr val="accent1"/>
                </a:solidFill>
                <a:ea typeface="汉仪文黑-85W" panose="00020600040101010101" charset="-122"/>
              </a:rPr>
              <a:t>对路径的测试</a:t>
            </a:r>
            <a:endParaRPr lang="en-US" altLang="zh-CN" dirty="0">
              <a:solidFill>
                <a:schemeClr val="accent1"/>
              </a:solidFill>
              <a:ea typeface="汉仪文黑-85W" panose="00020600040101010101" charset="-122"/>
            </a:endParaRPr>
          </a:p>
        </p:txBody>
      </p:sp>
      <p:sp>
        <p:nvSpPr>
          <p:cNvPr id="3" name="日期占位符 2"/>
          <p:cNvSpPr>
            <a:spLocks noGrp="1"/>
          </p:cNvSpPr>
          <p:nvPr>
            <p:ph type="dt" sz="half" idx="10"/>
          </p:nvPr>
        </p:nvSpPr>
        <p:spPr/>
        <p:txBody>
          <a:bodyPr/>
          <a:lstStyle/>
          <a:p>
            <a:fld id="{760FBDFE-C587-4B4C-A407-44438C67B59E}" type="datetime1">
              <a:rPr lang="zh-CN" altLang="en-US" smtClean="0"/>
              <a:t>2024/3/27</a:t>
            </a:fld>
            <a:endParaRPr lang="zh-CN" altLang="en-US"/>
          </a:p>
        </p:txBody>
      </p:sp>
      <p:pic>
        <p:nvPicPr>
          <p:cNvPr id="6149" name="Picture 2" descr="5t15"/>
          <p:cNvPicPr>
            <a:picLocks noChangeAspect="1"/>
          </p:cNvPicPr>
          <p:nvPr>
            <p:custDataLst>
              <p:tags r:id="rId2"/>
            </p:custDataLst>
          </p:nvPr>
        </p:nvPicPr>
        <p:blipFill>
          <a:blip r:embed="rId6"/>
          <a:stretch>
            <a:fillRect/>
          </a:stretch>
        </p:blipFill>
        <p:spPr>
          <a:xfrm>
            <a:off x="6816090" y="1917066"/>
            <a:ext cx="3286760" cy="3249295"/>
          </a:xfrm>
          <a:prstGeom prst="rect">
            <a:avLst/>
          </a:prstGeom>
          <a:noFill/>
          <a:ln w="9525">
            <a:noFill/>
          </a:ln>
        </p:spPr>
      </p:pic>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4" name="Picture 4" descr="5t16"/>
          <p:cNvPicPr>
            <a:picLocks noChangeAspect="1"/>
          </p:cNvPicPr>
          <p:nvPr>
            <p:custDataLst>
              <p:tags r:id="rId1"/>
            </p:custDataLst>
          </p:nvPr>
        </p:nvPicPr>
        <p:blipFill>
          <a:blip r:embed="rId4"/>
          <a:stretch>
            <a:fillRect/>
          </a:stretch>
        </p:blipFill>
        <p:spPr>
          <a:xfrm>
            <a:off x="6527800" y="2708910"/>
            <a:ext cx="3930650" cy="3152140"/>
          </a:xfrm>
          <a:prstGeom prst="rect">
            <a:avLst/>
          </a:prstGeom>
          <a:noFill/>
          <a:ln w="9525">
            <a:noFill/>
          </a:ln>
        </p:spPr>
      </p:pic>
      <p:sp>
        <p:nvSpPr>
          <p:cNvPr id="3" name="内容占位符 2"/>
          <p:cNvSpPr>
            <a:spLocks noGrp="1"/>
          </p:cNvSpPr>
          <p:nvPr>
            <p:ph idx="1"/>
          </p:nvPr>
        </p:nvSpPr>
        <p:spPr>
          <a:xfrm>
            <a:off x="2026286" y="1448436"/>
            <a:ext cx="4943475" cy="4219575"/>
          </a:xfrm>
        </p:spPr>
        <p:txBody>
          <a:bodyPr>
            <a:noAutofit/>
          </a:bodyPr>
          <a:lstStyle/>
          <a:p>
            <a:r>
              <a:rPr sz="3200" b="1">
                <a:sym typeface="+mn-ea"/>
              </a:rPr>
              <a:t>环复杂度计算</a:t>
            </a:r>
            <a:r>
              <a:rPr lang="en-US" altLang="zh-CN" b="1">
                <a:sym typeface="+mn-ea"/>
              </a:rPr>
              <a:t>—</a:t>
            </a:r>
            <a:r>
              <a:rPr sz="2400" b="1">
                <a:sym typeface="+mn-ea"/>
              </a:rPr>
              <a:t>公式计算法</a:t>
            </a:r>
            <a:endParaRPr lang="zh-CN" altLang="en-US" sz="2400" b="1" dirty="0"/>
          </a:p>
          <a:p>
            <a:r>
              <a:rPr lang="zh-CN" altLang="en-US" sz="3200" b="1"/>
              <a:t>非强连通图的改造</a:t>
            </a:r>
          </a:p>
          <a:p>
            <a:pPr lvl="1">
              <a:lnSpc>
                <a:spcPct val="170000"/>
              </a:lnSpc>
            </a:pPr>
            <a:r>
              <a:rPr lang="zh-CN" altLang="en-US"/>
              <a:t>在程序出口节点处增加一条指向程序入口节点的有向边，强制生成一个死循环程序。</a:t>
            </a:r>
          </a:p>
          <a:p>
            <a:pPr lvl="1">
              <a:lnSpc>
                <a:spcPct val="170000"/>
              </a:lnSpc>
            </a:pPr>
            <a:r>
              <a:rPr lang="zh-CN" altLang="en-US"/>
              <a:t>不需要修改源代码，不具备程序执行的实际意义。</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90</a:t>
            </a:fld>
            <a:endParaRPr lang="zh-CN" altLang="en-US"/>
          </a:p>
        </p:txBody>
      </p:sp>
      <p:sp>
        <p:nvSpPr>
          <p:cNvPr id="5123" name="Rectangle 2"/>
          <p:cNvSpPr>
            <a:spLocks noGrp="1"/>
          </p:cNvSpPr>
          <p:nvPr>
            <p:ph type="title"/>
            <p:custDataLst>
              <p:tags r:id="rId2"/>
            </p:custDataLst>
          </p:nvPr>
        </p:nvSpPr>
        <p:spPr>
          <a:xfrm>
            <a:off x="811568" y="0"/>
            <a:ext cx="10515600" cy="1325563"/>
          </a:xfrm>
        </p:spPr>
        <p:txBody>
          <a:bodyPr vert="horz" wrap="square" lIns="91440" tIns="45720" rIns="91440" bIns="45720" rtlCol="0" anchor="b" anchorCtr="0">
            <a:normAutofit/>
          </a:bodyPr>
          <a:lstStyle/>
          <a:p>
            <a:pPr algn="l" eaLnBrk="1" hangingPunct="1">
              <a:buClrTx/>
              <a:buSzTx/>
              <a:buFontTx/>
            </a:pPr>
            <a:r>
              <a:rPr lang="en-US" altLang="zh-CN" dirty="0" err="1">
                <a:solidFill>
                  <a:schemeClr val="accent1"/>
                </a:solidFill>
                <a:ea typeface="汉仪文黑-85W" panose="00020600040101010101" charset="-122"/>
              </a:rPr>
              <a:t>对路径的测试</a:t>
            </a:r>
            <a:endParaRPr lang="en-US" altLang="zh-CN" dirty="0">
              <a:solidFill>
                <a:schemeClr val="accent1"/>
              </a:solidFill>
              <a:ea typeface="汉仪文黑-85W" panose="00020600040101010101"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26285" y="1287780"/>
            <a:ext cx="8139430" cy="4975860"/>
          </a:xfrm>
        </p:spPr>
        <p:txBody>
          <a:bodyPr>
            <a:normAutofit/>
          </a:bodyPr>
          <a:lstStyle/>
          <a:p>
            <a:r>
              <a:rPr sz="3600" b="1">
                <a:sym typeface="+mn-ea"/>
              </a:rPr>
              <a:t>环复杂度计算</a:t>
            </a:r>
            <a:r>
              <a:rPr lang="en-US" altLang="zh-CN" b="1">
                <a:sym typeface="+mn-ea"/>
              </a:rPr>
              <a:t>—</a:t>
            </a:r>
            <a:r>
              <a:rPr b="1">
                <a:sym typeface="+mn-ea"/>
              </a:rPr>
              <a:t>判定节点法</a:t>
            </a:r>
          </a:p>
          <a:p>
            <a:pPr lvl="1"/>
            <a:endParaRPr lang="zh-CN" altLang="en-US"/>
          </a:p>
          <a:p>
            <a:pPr lvl="1">
              <a:lnSpc>
                <a:spcPct val="260000"/>
              </a:lnSpc>
            </a:pPr>
            <a:r>
              <a:rPr lang="en-US" altLang="zh-CN"/>
              <a:t>P</a:t>
            </a:r>
            <a:r>
              <a:t>表示图中独立判定节点的数目；</a:t>
            </a:r>
          </a:p>
          <a:p>
            <a:pPr lvl="1"/>
            <a:r>
              <a:t>且要求图中不包含孤立节点。</a:t>
            </a:r>
          </a:p>
          <a:p>
            <a:pPr lvl="1">
              <a:lnSpc>
                <a:spcPct val="150000"/>
              </a:lnSpc>
            </a:pPr>
            <a:r>
              <a:rPr lang="en-US" altLang="zh-CN"/>
              <a:t>Switch</a:t>
            </a:r>
            <a:r>
              <a:t>语句引起的多分支的程序可以修改为</a:t>
            </a:r>
            <a:r>
              <a:rPr lang="en-US" altLang="zh-CN"/>
              <a:t>if…else if…else</a:t>
            </a:r>
            <a:r>
              <a:t>形式的判定结构。</a:t>
            </a:r>
          </a:p>
          <a:p>
            <a:pPr lvl="1">
              <a:lnSpc>
                <a:spcPct val="150000"/>
              </a:lnSpc>
            </a:pPr>
            <a:r>
              <a:t>当程序的判定节点均为两个分支时（包括循环节点），每个判定节点视为一个独立判定节点。</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91</a:t>
            </a:fld>
            <a:endParaRPr lang="zh-CN" altLang="en-US"/>
          </a:p>
        </p:txBody>
      </p:sp>
      <p:sp>
        <p:nvSpPr>
          <p:cNvPr id="5123" name="Rectangle 2"/>
          <p:cNvSpPr>
            <a:spLocks noGrp="1"/>
          </p:cNvSpPr>
          <p:nvPr>
            <p:ph type="title"/>
            <p:custDataLst>
              <p:tags r:id="rId1"/>
            </p:custDataLst>
          </p:nvPr>
        </p:nvSpPr>
        <p:spPr>
          <a:xfrm>
            <a:off x="927847" y="0"/>
            <a:ext cx="10515600" cy="1325563"/>
          </a:xfrm>
        </p:spPr>
        <p:txBody>
          <a:bodyPr vert="horz" wrap="square" lIns="91440" tIns="45720" rIns="91440" bIns="45720" rtlCol="0" anchor="b" anchorCtr="0">
            <a:normAutofit/>
          </a:bodyPr>
          <a:lstStyle/>
          <a:p>
            <a:pPr algn="l" eaLnBrk="1" hangingPunct="1">
              <a:buClrTx/>
              <a:buSzTx/>
              <a:buFontTx/>
            </a:pPr>
            <a:r>
              <a:rPr lang="en-US" altLang="zh-CN" dirty="0" err="1">
                <a:solidFill>
                  <a:schemeClr val="accent1"/>
                </a:solidFill>
                <a:ea typeface="汉仪文黑-85W" panose="00020600040101010101" charset="-122"/>
              </a:rPr>
              <a:t>对路径的测试</a:t>
            </a:r>
            <a:endParaRPr lang="en-US" altLang="zh-CN" dirty="0">
              <a:solidFill>
                <a:schemeClr val="accent1"/>
              </a:solidFill>
              <a:ea typeface="汉仪文黑-85W" panose="00020600040101010101" charset="-122"/>
            </a:endParaRPr>
          </a:p>
        </p:txBody>
      </p:sp>
      <p:graphicFrame>
        <p:nvGraphicFramePr>
          <p:cNvPr id="8200" name="Object 3"/>
          <p:cNvGraphicFramePr>
            <a:graphicFrameLocks noChangeAspect="1"/>
          </p:cNvGraphicFramePr>
          <p:nvPr>
            <p:custDataLst>
              <p:tags r:id="rId2"/>
            </p:custDataLst>
          </p:nvPr>
        </p:nvGraphicFramePr>
        <p:xfrm>
          <a:off x="2999740" y="2204721"/>
          <a:ext cx="2444750" cy="678815"/>
        </p:xfrm>
        <a:graphic>
          <a:graphicData uri="http://schemas.openxmlformats.org/presentationml/2006/ole">
            <mc:AlternateContent xmlns:mc="http://schemas.openxmlformats.org/markup-compatibility/2006">
              <mc:Choice xmlns:v="urn:schemas-microsoft-com:vml" Requires="v">
                <p:oleObj r:id="rId4" imgW="685800" imgH="190500" progId="Equation.DSMT4">
                  <p:embed/>
                </p:oleObj>
              </mc:Choice>
              <mc:Fallback>
                <p:oleObj r:id="rId4" imgW="685800" imgH="190500" progId="Equation.DSMT4">
                  <p:embed/>
                  <p:pic>
                    <p:nvPicPr>
                      <p:cNvPr id="8200" name="Object 3"/>
                      <p:cNvPicPr/>
                      <p:nvPr/>
                    </p:nvPicPr>
                    <p:blipFill>
                      <a:blip r:embed="rId5"/>
                      <a:stretch>
                        <a:fillRect/>
                      </a:stretch>
                    </p:blipFill>
                    <p:spPr>
                      <a:xfrm>
                        <a:off x="2999740" y="2204721"/>
                        <a:ext cx="2444750" cy="678815"/>
                      </a:xfrm>
                      <a:prstGeom prst="rect">
                        <a:avLst/>
                      </a:prstGeom>
                      <a:noFill/>
                      <a:ln w="38100">
                        <a:noFill/>
                        <a:miter/>
                      </a:ln>
                    </p:spPr>
                  </p:pic>
                </p:oleObj>
              </mc:Fallback>
            </mc:AlternateContent>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92</a:t>
            </a:fld>
            <a:endParaRPr lang="zh-CN" altLang="en-US"/>
          </a:p>
        </p:txBody>
      </p:sp>
      <p:pic>
        <p:nvPicPr>
          <p:cNvPr id="7" name="图片 6"/>
          <p:cNvPicPr>
            <a:picLocks noChangeAspect="1"/>
          </p:cNvPicPr>
          <p:nvPr/>
        </p:nvPicPr>
        <p:blipFill>
          <a:blip r:embed="rId3"/>
          <a:stretch>
            <a:fillRect/>
          </a:stretch>
        </p:blipFill>
        <p:spPr>
          <a:xfrm>
            <a:off x="2423795" y="1624330"/>
            <a:ext cx="2749550" cy="4337050"/>
          </a:xfrm>
          <a:prstGeom prst="rect">
            <a:avLst/>
          </a:prstGeom>
        </p:spPr>
      </p:pic>
      <p:pic>
        <p:nvPicPr>
          <p:cNvPr id="9" name="内容占位符 8"/>
          <p:cNvPicPr>
            <a:picLocks noGrp="1" noChangeAspect="1"/>
          </p:cNvPicPr>
          <p:nvPr>
            <p:ph idx="1"/>
          </p:nvPr>
        </p:nvPicPr>
        <p:blipFill>
          <a:blip r:embed="rId4">
            <a:clrChange>
              <a:clrFrom>
                <a:srgbClr val="FFFFFF">
                  <a:alpha val="100000"/>
                </a:srgbClr>
              </a:clrFrom>
              <a:clrTo>
                <a:srgbClr val="FFFFFF">
                  <a:alpha val="100000"/>
                  <a:alpha val="0"/>
                </a:srgbClr>
              </a:clrTo>
            </a:clrChange>
          </a:blip>
          <a:stretch>
            <a:fillRect/>
          </a:stretch>
        </p:blipFill>
        <p:spPr>
          <a:xfrm>
            <a:off x="5735955" y="1628775"/>
            <a:ext cx="4184650" cy="4349750"/>
          </a:xfrm>
          <a:prstGeom prst="rect">
            <a:avLst/>
          </a:prstGeom>
        </p:spPr>
      </p:pic>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txBox="1">
            <a:spLocks noGrp="1"/>
          </p:cNvSpPr>
          <p:nvPr>
            <p:ph type="sldNum" sz="quarter" idx="12"/>
          </p:nvPr>
        </p:nvSpPr>
        <p:spPr/>
        <p:txBody>
          <a:bodyPr>
            <a:noAutofit/>
          </a:bodyPr>
          <a:lstStyle/>
          <a:p>
            <a:pPr>
              <a:spcBef>
                <a:spcPct val="0"/>
              </a:spcBef>
            </a:pPr>
            <a:fld id="{9A0DB2DC-4C9A-4742-B13C-FB6460FD3503}" type="slidenum">
              <a:rPr lang="en-US" altLang="zh-CN" dirty="0"/>
              <a:pPr>
                <a:spcBef>
                  <a:spcPct val="0"/>
                </a:spcBef>
              </a:pPr>
              <a:t>93</a:t>
            </a:fld>
            <a:endParaRPr lang="en-US" altLang="zh-CN" dirty="0"/>
          </a:p>
        </p:txBody>
      </p:sp>
      <p:sp>
        <p:nvSpPr>
          <p:cNvPr id="10244" name="Rectangle 3"/>
          <p:cNvSpPr>
            <a:spLocks noGrp="1"/>
          </p:cNvSpPr>
          <p:nvPr>
            <p:ph idx="1"/>
          </p:nvPr>
        </p:nvSpPr>
        <p:spPr/>
        <p:txBody>
          <a:bodyPr vert="horz" wrap="square" lIns="91440" tIns="45720" rIns="91440" bIns="45720" rtlCol="0" anchor="t" anchorCtr="0">
            <a:normAutofit/>
          </a:bodyPr>
          <a:lstStyle/>
          <a:p>
            <a:pPr eaLnBrk="1" hangingPunct="1"/>
            <a:r>
              <a:rPr lang="zh-CN" altLang="en-US" sz="3400" b="1" dirty="0"/>
              <a:t>环复杂度计算</a:t>
            </a:r>
            <a:r>
              <a:rPr lang="en-US" altLang="zh-CN" sz="3400" b="1" dirty="0"/>
              <a:t>——</a:t>
            </a:r>
            <a:r>
              <a:rPr b="1" dirty="0"/>
              <a:t>多出口程序的处理</a:t>
            </a:r>
          </a:p>
        </p:txBody>
      </p:sp>
      <p:sp>
        <p:nvSpPr>
          <p:cNvPr id="10245" name="Rectangle 2"/>
          <p:cNvSpPr/>
          <p:nvPr/>
        </p:nvSpPr>
        <p:spPr>
          <a:xfrm>
            <a:off x="1524001" y="-184666"/>
            <a:ext cx="184731" cy="369332"/>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spcBef>
                <a:spcPct val="0"/>
              </a:spcBef>
              <a:buClrTx/>
              <a:buNone/>
            </a:pPr>
            <a:endParaRPr lang="zh-CN" altLang="en-US" sz="1800" dirty="0"/>
          </a:p>
        </p:txBody>
      </p:sp>
      <p:sp>
        <p:nvSpPr>
          <p:cNvPr id="10246" name="Rectangle 4"/>
          <p:cNvSpPr/>
          <p:nvPr/>
        </p:nvSpPr>
        <p:spPr>
          <a:xfrm>
            <a:off x="1524001" y="-184666"/>
            <a:ext cx="184731" cy="369332"/>
          </a:xfrm>
          <a:prstGeom prst="rect">
            <a:avLst/>
          </a:prstGeom>
          <a:noFill/>
          <a:ln w="9525">
            <a:noFill/>
          </a:ln>
        </p:spPr>
        <p:txBody>
          <a:bodyPr wrap="none" anchor="ctr" anchorCtr="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ea typeface="+mn-ea"/>
              </a:defRPr>
            </a:lvl5pPr>
          </a:lstStyle>
          <a:p>
            <a:pPr marL="0" indent="0" eaLnBrk="1" hangingPunct="1">
              <a:spcBef>
                <a:spcPct val="0"/>
              </a:spcBef>
              <a:buClrTx/>
              <a:buNone/>
            </a:pPr>
            <a:endParaRPr lang="zh-CN" altLang="en-US" sz="1800" dirty="0"/>
          </a:p>
        </p:txBody>
      </p:sp>
      <p:pic>
        <p:nvPicPr>
          <p:cNvPr id="10247" name="Picture 3" descr="5t19"/>
          <p:cNvPicPr>
            <a:picLocks noChangeAspect="1"/>
          </p:cNvPicPr>
          <p:nvPr/>
        </p:nvPicPr>
        <p:blipFill>
          <a:blip r:embed="rId3"/>
          <a:stretch>
            <a:fillRect/>
          </a:stretch>
        </p:blipFill>
        <p:spPr>
          <a:xfrm>
            <a:off x="1627188" y="2493011"/>
            <a:ext cx="8826500" cy="3286125"/>
          </a:xfrm>
          <a:prstGeom prst="rect">
            <a:avLst/>
          </a:prstGeom>
          <a:noFill/>
          <a:ln w="9525">
            <a:noFill/>
          </a:ln>
        </p:spPr>
      </p:pic>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2" name="文本框 1"/>
          <p:cNvSpPr txBox="1"/>
          <p:nvPr/>
        </p:nvSpPr>
        <p:spPr>
          <a:xfrm>
            <a:off x="5087620" y="6018530"/>
            <a:ext cx="1687830" cy="36830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zh-CN" altLang="en-US" b="1">
                <a:latin typeface="微软雅黑" panose="020B0503020204020204" charset="-122"/>
                <a:ea typeface="微软雅黑" panose="020B0503020204020204" charset="-122"/>
                <a:cs typeface="微软雅黑" panose="020B0503020204020204" charset="-122"/>
              </a:rPr>
              <a:t>环复杂度为</a:t>
            </a:r>
            <a:r>
              <a:rPr lang="en-US" altLang="zh-CN" b="1">
                <a:latin typeface="微软雅黑" panose="020B0503020204020204" charset="-122"/>
                <a:ea typeface="微软雅黑" panose="020B0503020204020204" charset="-122"/>
                <a:cs typeface="微软雅黑" panose="020B0503020204020204" charset="-122"/>
              </a:rPr>
              <a:t>5</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txBox="1">
            <a:spLocks noGrp="1"/>
          </p:cNvSpPr>
          <p:nvPr>
            <p:ph type="sldNum" sz="quarter" idx="12"/>
          </p:nvPr>
        </p:nvSpPr>
        <p:spPr/>
        <p:txBody>
          <a:bodyPr>
            <a:noAutofit/>
          </a:bodyPr>
          <a:lstStyle/>
          <a:p>
            <a:pPr>
              <a:spcBef>
                <a:spcPct val="0"/>
              </a:spcBef>
            </a:pPr>
            <a:fld id="{9A0DB2DC-4C9A-4742-B13C-FB6460FD3503}" type="slidenum">
              <a:rPr lang="en-US" altLang="zh-CN" dirty="0"/>
              <a:pPr>
                <a:spcBef>
                  <a:spcPct val="0"/>
                </a:spcBef>
              </a:pPr>
              <a:t>94</a:t>
            </a:fld>
            <a:endParaRPr lang="en-US" altLang="zh-CN" dirty="0"/>
          </a:p>
        </p:txBody>
      </p:sp>
      <p:sp>
        <p:nvSpPr>
          <p:cNvPr id="12292" name="Rectangle 3"/>
          <p:cNvSpPr>
            <a:spLocks noGrp="1"/>
          </p:cNvSpPr>
          <p:nvPr>
            <p:ph idx="1"/>
          </p:nvPr>
        </p:nvSpPr>
        <p:spPr/>
        <p:txBody>
          <a:bodyPr vert="horz" wrap="square" lIns="91440" tIns="45720" rIns="91440" bIns="45720" rtlCol="0" anchor="t" anchorCtr="0">
            <a:normAutofit/>
          </a:bodyPr>
          <a:lstStyle/>
          <a:p>
            <a:pPr eaLnBrk="1" hangingPunct="1"/>
            <a:r>
              <a:rPr lang="zh-CN" altLang="en-US" sz="3400" b="1" dirty="0"/>
              <a:t>基本复杂度</a:t>
            </a:r>
            <a:endParaRPr lang="en-US" altLang="zh-CN" sz="3400" b="1" dirty="0"/>
          </a:p>
          <a:p>
            <a:pPr lvl="1" eaLnBrk="1" hangingPunct="1">
              <a:lnSpc>
                <a:spcPct val="170000"/>
              </a:lnSpc>
            </a:pPr>
            <a:r>
              <a:rPr lang="zh-CN" altLang="en-US" dirty="0"/>
              <a:t>通过对程序图中的结构化设计节点进行不断压缩，最终得到一个无法压缩的程序图，该图的环复杂度就称为</a:t>
            </a:r>
            <a:r>
              <a:rPr lang="zh-CN" altLang="en-US" b="1" dirty="0">
                <a:solidFill>
                  <a:srgbClr val="FF0000"/>
                </a:solidFill>
              </a:rPr>
              <a:t>基本复杂度</a:t>
            </a:r>
            <a:r>
              <a:rPr dirty="0"/>
              <a:t>。</a:t>
            </a:r>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2024/3/27</a:t>
            </a:fld>
            <a:endParaRPr lang="zh-CN" altLang="en-US"/>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txBox="1">
            <a:spLocks noGrp="1"/>
          </p:cNvSpPr>
          <p:nvPr>
            <p:ph type="sldNum" sz="quarter" idx="12"/>
          </p:nvPr>
        </p:nvSpPr>
        <p:spPr/>
        <p:txBody>
          <a:bodyPr>
            <a:noAutofit/>
          </a:bodyPr>
          <a:lstStyle/>
          <a:p>
            <a:pPr>
              <a:spcBef>
                <a:spcPct val="0"/>
              </a:spcBef>
            </a:pPr>
            <a:fld id="{9A0DB2DC-4C9A-4742-B13C-FB6460FD3503}" type="slidenum">
              <a:rPr lang="en-US" altLang="zh-CN" dirty="0"/>
              <a:pPr>
                <a:spcBef>
                  <a:spcPct val="0"/>
                </a:spcBef>
              </a:pPr>
              <a:t>95</a:t>
            </a:fld>
            <a:endParaRPr lang="en-US" altLang="zh-CN" dirty="0"/>
          </a:p>
        </p:txBody>
      </p:sp>
      <p:sp>
        <p:nvSpPr>
          <p:cNvPr id="13316" name="Rectangle 3"/>
          <p:cNvSpPr>
            <a:spLocks noGrp="1"/>
          </p:cNvSpPr>
          <p:nvPr>
            <p:ph idx="1"/>
          </p:nvPr>
        </p:nvSpPr>
        <p:spPr/>
        <p:txBody>
          <a:bodyPr vert="horz" wrap="square" lIns="91440" tIns="45720" rIns="91440" bIns="45720" rtlCol="0" anchor="t" anchorCtr="0">
            <a:normAutofit/>
          </a:bodyPr>
          <a:lstStyle/>
          <a:p>
            <a:pPr algn="l" eaLnBrk="1" hangingPunct="1">
              <a:buClrTx/>
              <a:buSzTx/>
            </a:pPr>
            <a:r>
              <a:rPr sz="3400" b="1">
                <a:sym typeface="+mn-ea"/>
              </a:rPr>
              <a:t>基本复杂度</a:t>
            </a:r>
            <a:endParaRPr sz="3400" b="1" dirty="0"/>
          </a:p>
          <a:p>
            <a:pPr lvl="1" eaLnBrk="1" hangingPunct="1">
              <a:lnSpc>
                <a:spcPct val="160000"/>
              </a:lnSpc>
            </a:pPr>
            <a:r>
              <a:rPr lang="zh-CN" altLang="en-US" sz="2285" dirty="0"/>
              <a:t>基本复杂度关注的是程序中所有非结构化设计的代码，包含测试优化和设计优化的思想。</a:t>
            </a:r>
            <a:endParaRPr lang="en-US" altLang="zh-CN" sz="2285" dirty="0"/>
          </a:p>
          <a:p>
            <a:pPr lvl="1" eaLnBrk="1" hangingPunct="1">
              <a:lnSpc>
                <a:spcPct val="160000"/>
              </a:lnSpc>
            </a:pPr>
            <a:r>
              <a:rPr lang="zh-CN" altLang="en-US" sz="2285" dirty="0"/>
              <a:t>即使程序环复杂度较高，但若基本复杂度不高，则说明该程序多为结构化的设计，设计本身较优，引入缺陷的风险更低，也更利于分别针对被压缩的结构化设计展开独立测试。</a:t>
            </a:r>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
        <p:nvSpPr>
          <p:cNvPr id="3" name="日期占位符 2"/>
          <p:cNvSpPr>
            <a:spLocks noGrp="1"/>
          </p:cNvSpPr>
          <p:nvPr>
            <p:ph type="dt" sz="half" idx="10"/>
          </p:nvPr>
        </p:nvSpPr>
        <p:spPr/>
        <p:txBody>
          <a:bodyPr/>
          <a:lstStyle/>
          <a:p>
            <a:fld id="{760FBDFE-C587-4B4C-A407-44438C67B59E}" type="datetime1">
              <a:rPr lang="zh-CN" altLang="en-US" smtClean="0"/>
              <a:t>2024/3/27</a:t>
            </a:fld>
            <a:endParaRPr lang="zh-CN" altLang="en-US"/>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96</a:t>
            </a:fld>
            <a:endParaRPr lang="zh-CN" altLang="en-US"/>
          </a:p>
        </p:txBody>
      </p:sp>
      <p:pic>
        <p:nvPicPr>
          <p:cNvPr id="6" name="内容占位符 5"/>
          <p:cNvPicPr>
            <a:picLocks noGrp="1" noChangeAspect="1"/>
          </p:cNvPicPr>
          <p:nvPr>
            <p:ph idx="1"/>
          </p:nvPr>
        </p:nvPicPr>
        <p:blipFill>
          <a:blip r:embed="rId3"/>
          <a:stretch>
            <a:fillRect/>
          </a:stretch>
        </p:blipFill>
        <p:spPr>
          <a:xfrm>
            <a:off x="1919605" y="2418080"/>
            <a:ext cx="8383270" cy="2813050"/>
          </a:xfrm>
          <a:prstGeom prst="rect">
            <a:avLst/>
          </a:prstGeom>
        </p:spPr>
      </p:pic>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
        <p:nvSpPr>
          <p:cNvPr id="7" name="文本框 6"/>
          <p:cNvSpPr txBox="1"/>
          <p:nvPr/>
        </p:nvSpPr>
        <p:spPr>
          <a:xfrm>
            <a:off x="2183765" y="1484631"/>
            <a:ext cx="4572000" cy="614045"/>
          </a:xfrm>
          <a:prstGeom prst="rect">
            <a:avLst/>
          </a:prstGeom>
          <a:noFill/>
        </p:spPr>
        <p:txBody>
          <a:bodyPr wrap="square" rtlCol="0" anchor="t">
            <a:spAutoFit/>
          </a:bodyPr>
          <a:lstStyle/>
          <a:p>
            <a:pPr algn="l" eaLnBrk="1" hangingPunct="1">
              <a:buClrTx/>
              <a:buSzTx/>
            </a:pPr>
            <a:r>
              <a:rPr lang="zh-CN" altLang="en-US" sz="3400" b="1">
                <a:latin typeface="微软雅黑" panose="020B0503020204020204" charset="-122"/>
                <a:ea typeface="微软雅黑" panose="020B0503020204020204" charset="-122"/>
                <a:sym typeface="+mn-ea"/>
              </a:rPr>
              <a:t>非结构化程序结构</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5663566" y="1484631"/>
            <a:ext cx="4871085" cy="4562475"/>
          </a:xfrm>
          <a:prstGeom prst="rect">
            <a:avLst/>
          </a:prstGeom>
        </p:spPr>
      </p:pic>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97</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
        <p:nvSpPr>
          <p:cNvPr id="7" name="文本框 6"/>
          <p:cNvSpPr txBox="1"/>
          <p:nvPr/>
        </p:nvSpPr>
        <p:spPr>
          <a:xfrm>
            <a:off x="2026285" y="1912621"/>
            <a:ext cx="3657600" cy="2544445"/>
          </a:xfrm>
          <a:prstGeom prst="rect">
            <a:avLst/>
          </a:prstGeom>
          <a:noFill/>
        </p:spPr>
        <p:txBody>
          <a:bodyPr wrap="square" rtlCol="0" anchor="t">
            <a:noAutofit/>
          </a:bodyPr>
          <a:lstStyle/>
          <a:p>
            <a:pPr algn="l" eaLnBrk="1" hangingPunct="1">
              <a:buClrTx/>
              <a:buSzTx/>
            </a:pPr>
            <a:r>
              <a:rPr lang="zh-CN" altLang="en-US" sz="3400" b="1">
                <a:latin typeface="微软雅黑" panose="020B0503020204020204" charset="-122"/>
                <a:ea typeface="微软雅黑" panose="020B0503020204020204" charset="-122"/>
                <a:sym typeface="+mn-ea"/>
              </a:rPr>
              <a:t>结构化程序结构</a:t>
            </a:r>
            <a:endParaRPr lang="zh-CN" altLang="en-US" sz="2400">
              <a:latin typeface="微软雅黑" panose="020B0503020204020204" charset="-122"/>
              <a:ea typeface="微软雅黑" panose="020B0503020204020204" charset="-122"/>
              <a:sym typeface="+mn-ea"/>
            </a:endParaRPr>
          </a:p>
          <a:p>
            <a:pPr algn="l" eaLnBrk="1" hangingPunct="1">
              <a:buClrTx/>
              <a:buSzTx/>
            </a:pPr>
            <a:endParaRPr lang="zh-CN" altLang="en-US" sz="2400">
              <a:latin typeface="微软雅黑" panose="020B0503020204020204" charset="-122"/>
              <a:ea typeface="微软雅黑" panose="020B0503020204020204" charset="-122"/>
              <a:sym typeface="+mn-ea"/>
            </a:endParaRPr>
          </a:p>
          <a:p>
            <a:pPr algn="l" eaLnBrk="1" hangingPunct="1">
              <a:lnSpc>
                <a:spcPct val="140000"/>
              </a:lnSpc>
              <a:buClrTx/>
              <a:buSzTx/>
            </a:pPr>
            <a:r>
              <a:rPr lang="zh-CN" altLang="en-US" sz="2400">
                <a:latin typeface="微软雅黑" panose="020B0503020204020204" charset="-122"/>
                <a:ea typeface="微软雅黑" panose="020B0503020204020204" charset="-122"/>
                <a:sym typeface="+mn-ea"/>
              </a:rPr>
              <a:t>可将所有分支压缩为一个节点，则基本复杂度为</a:t>
            </a:r>
            <a:r>
              <a:rPr lang="en-US" altLang="zh-CN" sz="2400">
                <a:latin typeface="微软雅黑" panose="020B0503020204020204" charset="-122"/>
                <a:ea typeface="微软雅黑" panose="020B0503020204020204" charset="-122"/>
                <a:sym typeface="+mn-ea"/>
              </a:rPr>
              <a:t>1</a:t>
            </a:r>
            <a:r>
              <a:rPr lang="zh-CN" altLang="en-US" sz="2400">
                <a:latin typeface="微软雅黑" panose="020B0503020204020204" charset="-122"/>
                <a:ea typeface="微软雅黑" panose="020B0503020204020204" charset="-122"/>
                <a:sym typeface="+mn-ea"/>
              </a:rPr>
              <a: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916431" y="1287780"/>
            <a:ext cx="8249285" cy="4950460"/>
          </a:xfrm>
        </p:spPr>
        <p:txBody>
          <a:bodyPr>
            <a:normAutofit/>
          </a:bodyPr>
          <a:lstStyle/>
          <a:p>
            <a:r>
              <a:rPr lang="zh-CN" altLang="en-US" sz="3200" b="1"/>
              <a:t>基本路径测试法的目标：</a:t>
            </a:r>
          </a:p>
          <a:p>
            <a:pPr lvl="1">
              <a:lnSpc>
                <a:spcPct val="150000"/>
              </a:lnSpc>
            </a:pPr>
            <a:r>
              <a:rPr lang="zh-CN" altLang="en-US"/>
              <a:t>测试的完备性：通过对独立路径的测试达到对所有路径的覆盖。</a:t>
            </a:r>
          </a:p>
          <a:p>
            <a:pPr lvl="1">
              <a:lnSpc>
                <a:spcPct val="150000"/>
              </a:lnSpc>
            </a:pPr>
            <a:r>
              <a:rPr lang="zh-CN" altLang="en-US"/>
              <a:t>测试的无冗余性：每条路径都是独立的，针对每条路径设计的测试用例之间不存在冗余。</a:t>
            </a:r>
          </a:p>
          <a:p>
            <a:pPr lvl="0"/>
            <a:r>
              <a:rPr lang="zh-CN" altLang="en-US" sz="3360" b="1"/>
              <a:t>独立路径的抽取原则：</a:t>
            </a:r>
          </a:p>
          <a:p>
            <a:pPr lvl="1"/>
            <a:r>
              <a:rPr lang="zh-CN" altLang="en-US"/>
              <a:t>任意两条路径线性无关（每一条路径具有不同特征）；</a:t>
            </a:r>
          </a:p>
          <a:p>
            <a:pPr lvl="1"/>
            <a:r>
              <a:rPr lang="zh-CN" altLang="en-US"/>
              <a:t>所有独立路径的并集是整个向量空间。</a:t>
            </a:r>
          </a:p>
        </p:txBody>
      </p:sp>
      <p:sp>
        <p:nvSpPr>
          <p:cNvPr id="4" name="日期占位符 3"/>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98</a:t>
            </a:fld>
            <a:endParaRPr lang="zh-CN" altLang="en-US"/>
          </a:p>
        </p:txBody>
      </p:sp>
      <p:sp>
        <p:nvSpPr>
          <p:cNvPr id="5123" name="Rectangle 2"/>
          <p:cNvSpPr>
            <a:spLocks noGrp="1"/>
          </p:cNvSpPr>
          <p:nvPr>
            <p:ph type="title"/>
            <p:custDataLst>
              <p:tags r:id="rId1"/>
            </p:custDataLst>
          </p:nvPr>
        </p:nvSpPr>
        <p:spPr>
          <a:xfrm>
            <a:off x="838200" y="136525"/>
            <a:ext cx="10515600" cy="1325563"/>
          </a:xfrm>
        </p:spPr>
        <p:txBody>
          <a:bodyPr vert="horz" wrap="square" lIns="91440" tIns="45720" rIns="91440" bIns="45720" rtlCol="0" anchor="b" anchorCtr="0">
            <a:normAutofit/>
          </a:bodyPr>
          <a:lstStyle/>
          <a:p>
            <a:pPr algn="l" eaLnBrk="1" hangingPunct="1">
              <a:buClrTx/>
              <a:buSzTx/>
              <a:buFontTx/>
            </a:pPr>
            <a:r>
              <a:rPr lang="en-US" altLang="zh-CN" dirty="0" err="1">
                <a:solidFill>
                  <a:schemeClr val="accent1"/>
                </a:solidFill>
                <a:ea typeface="汉仪文黑-85W" panose="00020600040101010101" charset="-122"/>
              </a:rPr>
              <a:t>对路径的测试</a:t>
            </a:r>
            <a:endParaRPr lang="en-US" altLang="zh-CN" dirty="0">
              <a:solidFill>
                <a:schemeClr val="accent1"/>
              </a:solidFill>
              <a:ea typeface="汉仪文黑-85W" panose="00020600040101010101"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txBox="1">
            <a:spLocks noGrp="1"/>
          </p:cNvSpPr>
          <p:nvPr>
            <p:ph type="sldNum" sz="quarter" idx="12"/>
          </p:nvPr>
        </p:nvSpPr>
        <p:spPr/>
        <p:txBody>
          <a:bodyPr>
            <a:noAutofit/>
          </a:bodyPr>
          <a:lstStyle/>
          <a:p>
            <a:pPr>
              <a:spcBef>
                <a:spcPct val="0"/>
              </a:spcBef>
            </a:pPr>
            <a:fld id="{9A0DB2DC-4C9A-4742-B13C-FB6460FD3503}" type="slidenum">
              <a:rPr lang="en-US" altLang="zh-CN" dirty="0"/>
              <a:pPr>
                <a:spcBef>
                  <a:spcPct val="0"/>
                </a:spcBef>
              </a:pPr>
              <a:t>99</a:t>
            </a:fld>
            <a:endParaRPr lang="en-US" altLang="zh-CN" dirty="0"/>
          </a:p>
        </p:txBody>
      </p:sp>
      <p:sp>
        <p:nvSpPr>
          <p:cNvPr id="15364" name="Rectangle 3"/>
          <p:cNvSpPr>
            <a:spLocks noGrp="1"/>
          </p:cNvSpPr>
          <p:nvPr>
            <p:ph idx="1"/>
          </p:nvPr>
        </p:nvSpPr>
        <p:spPr/>
        <p:txBody>
          <a:bodyPr vert="horz" wrap="square" lIns="91440" tIns="45720" rIns="91440" bIns="45720" rtlCol="0" anchor="t" anchorCtr="0">
            <a:normAutofit/>
          </a:bodyPr>
          <a:lstStyle/>
          <a:p>
            <a:pPr eaLnBrk="1" hangingPunct="1"/>
            <a:r>
              <a:rPr lang="zh-CN" altLang="en-US" sz="3400" b="1" dirty="0"/>
              <a:t>测试用例设计</a:t>
            </a:r>
            <a:endParaRPr lang="en-US" altLang="zh-CN" sz="3400" b="1" dirty="0"/>
          </a:p>
          <a:p>
            <a:pPr lvl="1" eaLnBrk="1" hangingPunct="1"/>
            <a:r>
              <a:rPr lang="zh-CN" altLang="en-US" dirty="0">
                <a:solidFill>
                  <a:srgbClr val="0000FF"/>
                </a:solidFill>
              </a:rPr>
              <a:t>测试难点</a:t>
            </a:r>
            <a:endParaRPr lang="en-US" altLang="zh-CN" dirty="0">
              <a:solidFill>
                <a:srgbClr val="0000FF"/>
              </a:solidFill>
            </a:endParaRPr>
          </a:p>
          <a:p>
            <a:pPr lvl="1" eaLnBrk="1" hangingPunct="1"/>
            <a:r>
              <a:rPr lang="zh-CN" altLang="en-US" dirty="0"/>
              <a:t>独立路径集合规模确定</a:t>
            </a:r>
            <a:endParaRPr lang="en-US" altLang="zh-CN" dirty="0"/>
          </a:p>
          <a:p>
            <a:pPr lvl="1" eaLnBrk="1" hangingPunct="1"/>
            <a:r>
              <a:rPr lang="zh-CN" altLang="en-US" dirty="0"/>
              <a:t>独立路径的抽取</a:t>
            </a:r>
            <a:endParaRPr lang="en-US" altLang="zh-CN" dirty="0"/>
          </a:p>
          <a:p>
            <a:pPr lvl="1" eaLnBrk="1" hangingPunct="1"/>
            <a:r>
              <a:rPr lang="zh-CN" altLang="en-US" dirty="0"/>
              <a:t>不可行路径的处理</a:t>
            </a:r>
            <a:endParaRPr lang="en-US" altLang="zh-CN" dirty="0"/>
          </a:p>
          <a:p>
            <a:pPr lvl="1" eaLnBrk="1" hangingPunct="1"/>
            <a:r>
              <a:rPr lang="zh-CN" altLang="en-US" dirty="0"/>
              <a:t>测试用例的设计</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txBox="1">
            <a:spLocks noGrp="1"/>
          </p:cNvSpPr>
          <p:nvPr>
            <p:ph type="sldNum" sz="quarter" idx="12"/>
          </p:nvPr>
        </p:nvSpPr>
        <p:spPr/>
        <p:txBody>
          <a:bodyPr>
            <a:normAutofit/>
          </a:bodyPr>
          <a:lstStyle/>
          <a:p>
            <a:pPr>
              <a:spcBef>
                <a:spcPct val="0"/>
              </a:spcBef>
            </a:pPr>
            <a:fld id="{9A0DB2DC-4C9A-4742-B13C-FB6460FD3503}" type="slidenum">
              <a:rPr lang="en-US" altLang="zh-CN" dirty="0"/>
              <a:pPr>
                <a:spcBef>
                  <a:spcPct val="0"/>
                </a:spcBef>
              </a:pPr>
              <a:t>100</a:t>
            </a:fld>
            <a:endParaRPr lang="en-US" altLang="zh-CN" dirty="0"/>
          </a:p>
        </p:txBody>
      </p:sp>
      <p:sp>
        <p:nvSpPr>
          <p:cNvPr id="16388" name="Rectangle 3"/>
          <p:cNvSpPr>
            <a:spLocks noGrp="1"/>
          </p:cNvSpPr>
          <p:nvPr>
            <p:ph idx="1"/>
          </p:nvPr>
        </p:nvSpPr>
        <p:spPr/>
        <p:txBody>
          <a:bodyPr vert="horz" wrap="square" lIns="91440" tIns="45720" rIns="91440" bIns="45720" rtlCol="0" anchor="t" anchorCtr="0">
            <a:normAutofit/>
          </a:bodyPr>
          <a:lstStyle/>
          <a:p>
            <a:pPr eaLnBrk="1" hangingPunct="1"/>
            <a:r>
              <a:rPr lang="zh-CN" altLang="en-US" sz="3400" b="1" dirty="0"/>
              <a:t>测试难点：</a:t>
            </a:r>
            <a:endParaRPr lang="en-US" altLang="zh-CN" sz="3400" b="1" dirty="0"/>
          </a:p>
          <a:p>
            <a:pPr lvl="1" eaLnBrk="1" hangingPunct="1"/>
            <a:r>
              <a:rPr lang="zh-CN" altLang="en-US" dirty="0"/>
              <a:t>如何确定独立路径集合的规模；</a:t>
            </a:r>
          </a:p>
          <a:p>
            <a:pPr lvl="1" eaLnBrk="1" hangingPunct="1"/>
            <a:r>
              <a:rPr lang="zh-CN" altLang="en-US" dirty="0">
                <a:solidFill>
                  <a:srgbClr val="FF0000"/>
                </a:solidFill>
              </a:rPr>
              <a:t>如何从整个路径集合中抽取独立路径的集合，以确保路径的独立性和独立路径集合的完备性；</a:t>
            </a:r>
          </a:p>
          <a:p>
            <a:pPr lvl="1" eaLnBrk="1" hangingPunct="1"/>
            <a:r>
              <a:rPr lang="zh-CN" altLang="en-US" dirty="0"/>
              <a:t>如何保证每条独立路径的可行性；</a:t>
            </a:r>
          </a:p>
          <a:p>
            <a:pPr lvl="1" eaLnBrk="1" hangingPunct="1"/>
            <a:r>
              <a:rPr lang="zh-CN" altLang="en-US" dirty="0"/>
              <a:t>如何从独立路径设计测试用例。</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txBox="1">
            <a:spLocks noGrp="1"/>
          </p:cNvSpPr>
          <p:nvPr>
            <p:ph type="sldNum" sz="quarter" idx="12"/>
          </p:nvPr>
        </p:nvSpPr>
        <p:spPr/>
        <p:txBody>
          <a:bodyPr>
            <a:normAutofit/>
          </a:bodyPr>
          <a:lstStyle/>
          <a:p>
            <a:pPr>
              <a:spcBef>
                <a:spcPct val="0"/>
              </a:spcBef>
            </a:pPr>
            <a:fld id="{9A0DB2DC-4C9A-4742-B13C-FB6460FD3503}" type="slidenum">
              <a:rPr lang="en-US" altLang="zh-CN" dirty="0"/>
              <a:pPr>
                <a:spcBef>
                  <a:spcPct val="0"/>
                </a:spcBef>
              </a:pPr>
              <a:t>101</a:t>
            </a:fld>
            <a:endParaRPr lang="en-US" altLang="zh-CN" dirty="0"/>
          </a:p>
        </p:txBody>
      </p:sp>
      <p:sp>
        <p:nvSpPr>
          <p:cNvPr id="18436" name="Rectangle 3"/>
          <p:cNvSpPr>
            <a:spLocks noGrp="1"/>
          </p:cNvSpPr>
          <p:nvPr>
            <p:ph idx="1"/>
          </p:nvPr>
        </p:nvSpPr>
        <p:spPr/>
        <p:txBody>
          <a:bodyPr vert="horz" wrap="square" lIns="91440" tIns="45720" rIns="91440" bIns="45720" rtlCol="0" anchor="t" anchorCtr="0">
            <a:normAutofit/>
          </a:bodyPr>
          <a:lstStyle/>
          <a:p>
            <a:pPr eaLnBrk="1" hangingPunct="1">
              <a:lnSpc>
                <a:spcPct val="130000"/>
              </a:lnSpc>
            </a:pPr>
            <a:r>
              <a:rPr sz="3200" b="1">
                <a:sym typeface="+mn-ea"/>
              </a:rPr>
              <a:t>独立路径集合规模确定</a:t>
            </a:r>
          </a:p>
          <a:p>
            <a:pPr lvl="1" eaLnBrk="1" hangingPunct="1">
              <a:lnSpc>
                <a:spcPct val="180000"/>
              </a:lnSpc>
            </a:pPr>
            <a:r>
              <a:rPr lang="zh-CN" altLang="en-US" dirty="0"/>
              <a:t>按照</a:t>
            </a:r>
            <a:r>
              <a:rPr lang="en-US" altLang="en-US" dirty="0"/>
              <a:t>McCabe</a:t>
            </a:r>
            <a:r>
              <a:rPr lang="zh-CN" altLang="en-US" dirty="0"/>
              <a:t>的环复杂度概念，对于指定的程序图，对路径的测试中所需独立路径集合的大小就</a:t>
            </a:r>
            <a:r>
              <a:rPr lang="zh-CN" altLang="en-US" dirty="0">
                <a:solidFill>
                  <a:srgbClr val="FF0000"/>
                </a:solidFill>
              </a:rPr>
              <a:t>等于其程序图的环复杂度</a:t>
            </a:r>
            <a:r>
              <a:rPr lang="zh-CN" altLang="en-US" dirty="0"/>
              <a:t>。</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txBox="1">
            <a:spLocks noGrp="1"/>
          </p:cNvSpPr>
          <p:nvPr>
            <p:ph type="sldNum" sz="quarter" idx="12"/>
          </p:nvPr>
        </p:nvSpPr>
        <p:spPr/>
        <p:txBody>
          <a:bodyPr>
            <a:normAutofit/>
          </a:bodyPr>
          <a:lstStyle/>
          <a:p>
            <a:pPr>
              <a:spcBef>
                <a:spcPct val="0"/>
              </a:spcBef>
            </a:pPr>
            <a:fld id="{9A0DB2DC-4C9A-4742-B13C-FB6460FD3503}" type="slidenum">
              <a:rPr lang="en-US" altLang="zh-CN" dirty="0"/>
              <a:pPr>
                <a:spcBef>
                  <a:spcPct val="0"/>
                </a:spcBef>
              </a:pPr>
              <a:t>102</a:t>
            </a:fld>
            <a:endParaRPr lang="en-US" altLang="zh-CN" dirty="0"/>
          </a:p>
        </p:txBody>
      </p:sp>
      <p:sp>
        <p:nvSpPr>
          <p:cNvPr id="20484" name="Rectangle 3"/>
          <p:cNvSpPr>
            <a:spLocks noGrp="1"/>
          </p:cNvSpPr>
          <p:nvPr>
            <p:ph idx="1"/>
          </p:nvPr>
        </p:nvSpPr>
        <p:spPr>
          <a:xfrm>
            <a:off x="2026285" y="1287781"/>
            <a:ext cx="8139430" cy="5100955"/>
          </a:xfrm>
        </p:spPr>
        <p:txBody>
          <a:bodyPr vert="horz" wrap="square" lIns="91440" tIns="45720" rIns="91440" bIns="45720" rtlCol="0" anchor="t" anchorCtr="0">
            <a:normAutofit/>
          </a:bodyPr>
          <a:lstStyle/>
          <a:p>
            <a:pPr eaLnBrk="1" hangingPunct="1"/>
            <a:r>
              <a:rPr lang="zh-CN" altLang="en-US" sz="3400" b="1" dirty="0"/>
              <a:t>独立路径抽取（难点）</a:t>
            </a:r>
            <a:endParaRPr lang="en-US" altLang="zh-CN" sz="3400" b="1" dirty="0"/>
          </a:p>
          <a:p>
            <a:pPr eaLnBrk="1" hangingPunct="1">
              <a:lnSpc>
                <a:spcPct val="160000"/>
              </a:lnSpc>
            </a:pPr>
            <a:r>
              <a:rPr lang="en-US" altLang="zh-CN" b="1" dirty="0"/>
              <a:t>1</a:t>
            </a:r>
            <a:r>
              <a:rPr lang="zh-CN" altLang="en-US" b="1" dirty="0"/>
              <a:t>、确定主路径：</a:t>
            </a:r>
            <a:endParaRPr lang="en-US" altLang="zh-CN" b="1" dirty="0"/>
          </a:p>
          <a:p>
            <a:pPr lvl="1" eaLnBrk="1" hangingPunct="1"/>
            <a:r>
              <a:rPr lang="zh-CN" altLang="en-US" dirty="0"/>
              <a:t>该路径应包含尽可能多的判定节点（包括条件和循环判定）</a:t>
            </a:r>
            <a:endParaRPr lang="en-US" altLang="zh-CN" dirty="0"/>
          </a:p>
          <a:p>
            <a:pPr lvl="1" eaLnBrk="1" hangingPunct="1"/>
            <a:r>
              <a:rPr lang="zh-CN" altLang="en-US" dirty="0"/>
              <a:t>应包含尽可能复杂的判定表达式（与、或关系多）</a:t>
            </a:r>
            <a:endParaRPr lang="en-US" altLang="zh-CN" dirty="0"/>
          </a:p>
          <a:p>
            <a:pPr lvl="1" eaLnBrk="1" hangingPunct="1"/>
            <a:r>
              <a:rPr lang="zh-CN" altLang="en-US" dirty="0"/>
              <a:t>应对应尽可能高的执行概率</a:t>
            </a:r>
            <a:endParaRPr lang="en-US" altLang="zh-CN" dirty="0"/>
          </a:p>
          <a:p>
            <a:pPr lvl="1" eaLnBrk="1" hangingPunct="1"/>
            <a:r>
              <a:rPr lang="zh-CN" altLang="en-US" dirty="0"/>
              <a:t>应包含尽可能多的语句</a:t>
            </a:r>
            <a:endParaRPr lang="en-US" altLang="zh-CN" dirty="0"/>
          </a:p>
          <a:p>
            <a:pPr eaLnBrk="1" hangingPunct="1"/>
            <a:r>
              <a:rPr lang="en-US" altLang="zh-CN" b="1" dirty="0"/>
              <a:t>2</a:t>
            </a:r>
            <a:r>
              <a:rPr lang="zh-CN" altLang="en-US" b="1" dirty="0"/>
              <a:t>、根据基础路径抽取其他独立路径</a:t>
            </a:r>
          </a:p>
          <a:p>
            <a:pPr lvl="1" eaLnBrk="1" hangingPunct="1">
              <a:lnSpc>
                <a:spcPct val="160000"/>
              </a:lnSpc>
            </a:pPr>
            <a:r>
              <a:rPr lang="zh-CN" altLang="en-US" dirty="0"/>
              <a:t>依次在该路径上的每个判定节点从执行一个新的分支，直到达到数目。</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4" name="Rectangle 2"/>
          <p:cNvSpPr>
            <a:spLocks noGrp="1"/>
          </p:cNvSpPr>
          <p:nvPr>
            <p:ph type="title"/>
            <p:custDataLst>
              <p:tags r:id="rId1"/>
            </p:custDataLst>
          </p:nvPr>
        </p:nvSpPr>
        <p:spPr>
          <a:xfrm>
            <a:off x="838200" y="136525"/>
            <a:ext cx="10515600" cy="1325563"/>
          </a:xfrm>
        </p:spPr>
        <p:txBody>
          <a:bodyPr vert="horz" wrap="square" lIns="91440" tIns="45720" rIns="91440" bIns="45720" rtlCol="0" anchor="b" anchorCtr="0">
            <a:normAutofit/>
          </a:bodyPr>
          <a:lstStyle/>
          <a:p>
            <a:pPr algn="l" eaLnBrk="1" hangingPunct="1">
              <a:buClrTx/>
              <a:buSzTx/>
              <a:buFontTx/>
            </a:pPr>
            <a:r>
              <a:rPr lang="en-US" altLang="zh-CN" dirty="0" err="1">
                <a:solidFill>
                  <a:schemeClr val="accent1"/>
                </a:solidFill>
                <a:ea typeface="汉仪文黑-85W" panose="00020600040101010101" charset="-122"/>
              </a:rPr>
              <a:t>对路径的测试</a:t>
            </a:r>
            <a:endParaRPr lang="en-US" altLang="zh-CN" dirty="0">
              <a:solidFill>
                <a:schemeClr val="accent1"/>
              </a:solidFill>
              <a:ea typeface="汉仪文黑-85W" panose="00020600040101010101"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txBox="1">
            <a:spLocks noGrp="1"/>
          </p:cNvSpPr>
          <p:nvPr>
            <p:ph type="sldNum" sz="quarter" idx="12"/>
          </p:nvPr>
        </p:nvSpPr>
        <p:spPr/>
        <p:txBody>
          <a:bodyPr>
            <a:normAutofit/>
          </a:bodyPr>
          <a:lstStyle/>
          <a:p>
            <a:pPr>
              <a:spcBef>
                <a:spcPct val="0"/>
              </a:spcBef>
            </a:pPr>
            <a:fld id="{9A0DB2DC-4C9A-4742-B13C-FB6460FD3503}" type="slidenum">
              <a:rPr lang="en-US" altLang="zh-CN" dirty="0"/>
              <a:pPr>
                <a:spcBef>
                  <a:spcPct val="0"/>
                </a:spcBef>
              </a:pPr>
              <a:t>103</a:t>
            </a:fld>
            <a:endParaRPr lang="en-US" altLang="zh-CN" dirty="0"/>
          </a:p>
        </p:txBody>
      </p:sp>
      <p:pic>
        <p:nvPicPr>
          <p:cNvPr id="21509" name="Picture 2" descr="5t15"/>
          <p:cNvPicPr>
            <a:picLocks noChangeAspect="1"/>
          </p:cNvPicPr>
          <p:nvPr/>
        </p:nvPicPr>
        <p:blipFill>
          <a:blip r:embed="rId3"/>
          <a:stretch>
            <a:fillRect/>
          </a:stretch>
        </p:blipFill>
        <p:spPr>
          <a:xfrm>
            <a:off x="7680326" y="476885"/>
            <a:ext cx="2513965" cy="2484120"/>
          </a:xfrm>
          <a:prstGeom prst="rect">
            <a:avLst/>
          </a:prstGeom>
          <a:noFill/>
          <a:ln w="9525">
            <a:noFill/>
          </a:ln>
        </p:spPr>
      </p:pic>
      <p:sp>
        <p:nvSpPr>
          <p:cNvPr id="21508" name="Rectangle 3"/>
          <p:cNvSpPr>
            <a:spLocks noGrp="1"/>
          </p:cNvSpPr>
          <p:nvPr>
            <p:ph idx="1"/>
          </p:nvPr>
        </p:nvSpPr>
        <p:spPr>
          <a:xfrm>
            <a:off x="2026285" y="1689100"/>
            <a:ext cx="8139430" cy="3978910"/>
          </a:xfrm>
        </p:spPr>
        <p:txBody>
          <a:bodyPr vert="horz" wrap="square" lIns="91440" tIns="45720" rIns="91440" bIns="45720" rtlCol="0" anchor="t" anchorCtr="0">
            <a:normAutofit/>
          </a:bodyPr>
          <a:lstStyle/>
          <a:p>
            <a:pPr algn="just" eaLnBrk="1" hangingPunct="1">
              <a:lnSpc>
                <a:spcPct val="170000"/>
              </a:lnSpc>
            </a:pPr>
            <a:r>
              <a:rPr lang="zh-CN" altLang="en-US" sz="3400" b="1" dirty="0"/>
              <a:t>举例：</a:t>
            </a:r>
            <a:r>
              <a:rPr lang="zh-CN" altLang="en-US" sz="3200" b="1" dirty="0"/>
              <a:t>独立路径抽取</a:t>
            </a:r>
            <a:endParaRPr lang="en-US" altLang="zh-CN" sz="3200" b="1" dirty="0"/>
          </a:p>
          <a:p>
            <a:pPr lvl="1" algn="just" eaLnBrk="1" hangingPunct="1"/>
            <a:r>
              <a:rPr lang="en-US" altLang="en-US" dirty="0"/>
              <a:t>Path1</a:t>
            </a:r>
            <a:r>
              <a:rPr lang="zh-CN" altLang="en-US" dirty="0"/>
              <a:t>：</a:t>
            </a:r>
            <a:r>
              <a:rPr lang="en-US" altLang="en-US" dirty="0"/>
              <a:t>A, B, C, G(</a:t>
            </a:r>
            <a:r>
              <a:rPr lang="zh-CN" altLang="en-US" dirty="0"/>
              <a:t>经过判定节点</a:t>
            </a:r>
            <a:r>
              <a:rPr lang="en-US" altLang="en-US" dirty="0"/>
              <a:t>A</a:t>
            </a:r>
            <a:r>
              <a:rPr lang="zh-CN" altLang="en-US" dirty="0"/>
              <a:t>、</a:t>
            </a:r>
            <a:r>
              <a:rPr lang="en-US" altLang="en-US" dirty="0"/>
              <a:t>B</a:t>
            </a:r>
            <a:r>
              <a:rPr lang="zh-CN" altLang="en-US" dirty="0"/>
              <a:t>、</a:t>
            </a:r>
            <a:r>
              <a:rPr lang="en-US" altLang="en-US" dirty="0"/>
              <a:t>C)</a:t>
            </a:r>
            <a:r>
              <a:rPr lang="zh-CN" altLang="en-US" dirty="0"/>
              <a:t>；</a:t>
            </a:r>
          </a:p>
          <a:p>
            <a:pPr lvl="1" algn="just" eaLnBrk="1" hangingPunct="1"/>
            <a:r>
              <a:rPr lang="en-US" altLang="en-US" dirty="0"/>
              <a:t>Path2</a:t>
            </a:r>
            <a:r>
              <a:rPr lang="zh-CN" altLang="en-US" dirty="0"/>
              <a:t>：</a:t>
            </a:r>
            <a:r>
              <a:rPr lang="en-US" altLang="en-US" dirty="0"/>
              <a:t>A, D, E, F, G(</a:t>
            </a:r>
            <a:r>
              <a:rPr lang="zh-CN" altLang="en-US" dirty="0"/>
              <a:t>在判定节点</a:t>
            </a:r>
            <a:r>
              <a:rPr lang="en-US" altLang="en-US" dirty="0"/>
              <a:t>A</a:t>
            </a:r>
            <a:r>
              <a:rPr lang="zh-CN" altLang="en-US" dirty="0"/>
              <a:t>处执行</a:t>
            </a:r>
            <a:r>
              <a:rPr lang="en-US" altLang="en-US" dirty="0"/>
              <a:t>e2</a:t>
            </a:r>
            <a:r>
              <a:rPr lang="zh-CN" altLang="en-US" dirty="0"/>
              <a:t>分支</a:t>
            </a:r>
            <a:r>
              <a:rPr lang="en-US" altLang="en-US" dirty="0"/>
              <a:t>)</a:t>
            </a:r>
            <a:r>
              <a:rPr lang="zh-CN" altLang="en-US" dirty="0"/>
              <a:t>；</a:t>
            </a:r>
          </a:p>
          <a:p>
            <a:pPr lvl="1" algn="just" eaLnBrk="1" hangingPunct="1"/>
            <a:r>
              <a:rPr lang="en-US" altLang="en-US" dirty="0"/>
              <a:t>Path3</a:t>
            </a:r>
            <a:r>
              <a:rPr lang="zh-CN" altLang="en-US" dirty="0"/>
              <a:t>：</a:t>
            </a:r>
            <a:r>
              <a:rPr lang="en-US" altLang="en-US" dirty="0"/>
              <a:t>A, B, E, F, G(</a:t>
            </a:r>
            <a:r>
              <a:rPr lang="zh-CN" altLang="en-US" dirty="0"/>
              <a:t>在判定节点</a:t>
            </a:r>
            <a:r>
              <a:rPr lang="en-US" altLang="en-US" dirty="0"/>
              <a:t>B</a:t>
            </a:r>
            <a:r>
              <a:rPr lang="zh-CN" altLang="en-US" dirty="0"/>
              <a:t>处执行</a:t>
            </a:r>
            <a:r>
              <a:rPr lang="en-US" altLang="en-US" dirty="0"/>
              <a:t>e5</a:t>
            </a:r>
            <a:r>
              <a:rPr lang="zh-CN" altLang="en-US" dirty="0"/>
              <a:t>分支</a:t>
            </a:r>
            <a:r>
              <a:rPr lang="en-US" altLang="en-US" dirty="0"/>
              <a:t>)</a:t>
            </a:r>
            <a:r>
              <a:rPr lang="zh-CN" altLang="en-US" dirty="0"/>
              <a:t>；</a:t>
            </a:r>
          </a:p>
          <a:p>
            <a:pPr lvl="1" algn="just" eaLnBrk="1" hangingPunct="1"/>
            <a:r>
              <a:rPr lang="en-US" altLang="en-US" dirty="0"/>
              <a:t>Path4</a:t>
            </a:r>
            <a:r>
              <a:rPr lang="zh-CN" altLang="en-US" dirty="0"/>
              <a:t>：</a:t>
            </a:r>
            <a:r>
              <a:rPr lang="en-US" altLang="en-US" dirty="0"/>
              <a:t>A, B, C, B, C, G(</a:t>
            </a:r>
            <a:r>
              <a:rPr lang="zh-CN" altLang="en-US" dirty="0"/>
              <a:t>在判定节点</a:t>
            </a:r>
            <a:r>
              <a:rPr lang="en-US" altLang="en-US" dirty="0"/>
              <a:t>C</a:t>
            </a:r>
            <a:r>
              <a:rPr lang="zh-CN" altLang="en-US" dirty="0"/>
              <a:t>处执行</a:t>
            </a:r>
            <a:r>
              <a:rPr lang="en-US" altLang="en-US" dirty="0"/>
              <a:t>e3</a:t>
            </a:r>
            <a:r>
              <a:rPr lang="zh-CN" altLang="en-US" dirty="0"/>
              <a:t>分支</a:t>
            </a:r>
            <a:r>
              <a:rPr lang="en-US" altLang="en-US" dirty="0"/>
              <a:t>)</a:t>
            </a:r>
            <a:r>
              <a:rPr lang="zh-CN" altLang="en-US" dirty="0"/>
              <a:t>；</a:t>
            </a:r>
          </a:p>
          <a:p>
            <a:pPr lvl="1" algn="just" eaLnBrk="1" hangingPunct="1"/>
            <a:r>
              <a:rPr lang="en-US" altLang="en-US" dirty="0"/>
              <a:t>Path5</a:t>
            </a:r>
            <a:r>
              <a:rPr lang="zh-CN" altLang="en-US" dirty="0"/>
              <a:t>：</a:t>
            </a:r>
            <a:r>
              <a:rPr lang="en-US" altLang="en-US" dirty="0"/>
              <a:t>A, D, F, G(</a:t>
            </a:r>
            <a:r>
              <a:rPr lang="zh-CN" altLang="en-US" dirty="0"/>
              <a:t>在判定节点</a:t>
            </a:r>
            <a:r>
              <a:rPr lang="en-US" altLang="en-US" dirty="0"/>
              <a:t>D</a:t>
            </a:r>
            <a:r>
              <a:rPr lang="zh-CN" altLang="en-US" dirty="0"/>
              <a:t>处执行</a:t>
            </a:r>
            <a:r>
              <a:rPr lang="en-US" altLang="en-US" dirty="0"/>
              <a:t>e7</a:t>
            </a:r>
            <a:r>
              <a:rPr lang="zh-CN" altLang="en-US" dirty="0"/>
              <a:t>分支</a:t>
            </a:r>
            <a:r>
              <a:rPr lang="en-US" altLang="en-US" dirty="0"/>
              <a:t>)</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idx="12"/>
          </p:nvPr>
        </p:nvSpPr>
        <p:spPr/>
        <p:txBody>
          <a:bodyPr>
            <a:normAutofit/>
          </a:bodyPr>
          <a:lstStyle/>
          <a:p>
            <a:pPr>
              <a:spcBef>
                <a:spcPct val="0"/>
              </a:spcBef>
            </a:pPr>
            <a:fld id="{9A0DB2DC-4C9A-4742-B13C-FB6460FD3503}" type="slidenum">
              <a:rPr lang="en-US" altLang="zh-CN" dirty="0"/>
              <a:pPr>
                <a:spcBef>
                  <a:spcPct val="0"/>
                </a:spcBef>
              </a:pPr>
              <a:t>104</a:t>
            </a:fld>
            <a:endParaRPr lang="en-US" altLang="zh-CN" dirty="0"/>
          </a:p>
        </p:txBody>
      </p:sp>
      <p:sp>
        <p:nvSpPr>
          <p:cNvPr id="28676" name="Rectangle 3"/>
          <p:cNvSpPr>
            <a:spLocks noGrp="1" noChangeArrowheads="1"/>
          </p:cNvSpPr>
          <p:nvPr>
            <p:ph idx="1"/>
          </p:nvPr>
        </p:nvSpPr>
        <p:spPr>
          <a:xfrm>
            <a:off x="2026285" y="1508126"/>
            <a:ext cx="8139430" cy="4159885"/>
          </a:xfrm>
        </p:spPr>
        <p:txBody>
          <a:bodyPr vert="horz" wrap="square" lIns="91440" tIns="45720" rIns="91440" bIns="45720" numCol="1" rtlCol="0" anchor="t" anchorCtr="0" compatLnSpc="1">
            <a:normAutofit fontScale="90000" lnSpcReduction="10000"/>
          </a:bodyPr>
          <a:lstStyle/>
          <a:p>
            <a:pPr marL="171450" lvl="1" algn="just">
              <a:lnSpc>
                <a:spcPct val="130000"/>
              </a:lnSpc>
              <a:spcBef>
                <a:spcPts val="0"/>
              </a:spcBef>
              <a:spcAft>
                <a:spcPts val="1000"/>
              </a:spcAft>
            </a:pPr>
            <a:r>
              <a:rPr lang="zh-CN" altLang="en-US" sz="3780" b="1" dirty="0"/>
              <a:t>测试用例设计步骤</a:t>
            </a:r>
            <a:endParaRPr sz="3780" b="1" dirty="0"/>
          </a:p>
          <a:p>
            <a:pPr marL="866775" lvl="2" indent="-469900" fontAlgn="base">
              <a:lnSpc>
                <a:spcPct val="160000"/>
              </a:lnSpc>
              <a:spcBef>
                <a:spcPct val="20000"/>
              </a:spcBef>
              <a:spcAft>
                <a:spcPct val="0"/>
              </a:spcAft>
              <a:buClr>
                <a:schemeClr val="accent2"/>
              </a:buClr>
              <a:buFont typeface="Wingdings" panose="05000000000000000000" pitchFamily="2" charset="2"/>
              <a:buChar char="o"/>
              <a:defRPr/>
            </a:pPr>
            <a:r>
              <a:rPr lang="zh-CN" altLang="en-US" sz="2400" kern="0" dirty="0"/>
              <a:t>根据程序源代码生成程序图；</a:t>
            </a:r>
            <a:endParaRPr lang="en-US" altLang="zh-CN" sz="2400" kern="0" dirty="0"/>
          </a:p>
          <a:p>
            <a:pPr marL="866775" lvl="2" indent="-469900" fontAlgn="base">
              <a:lnSpc>
                <a:spcPct val="160000"/>
              </a:lnSpc>
              <a:spcBef>
                <a:spcPct val="20000"/>
              </a:spcBef>
              <a:spcAft>
                <a:spcPct val="0"/>
              </a:spcAft>
              <a:buClr>
                <a:schemeClr val="accent2"/>
              </a:buClr>
              <a:buFont typeface="Wingdings" panose="05000000000000000000" pitchFamily="2" charset="2"/>
              <a:buChar char="o"/>
              <a:defRPr/>
            </a:pPr>
            <a:r>
              <a:rPr lang="zh-CN" altLang="en-US" sz="2400" kern="0" dirty="0"/>
              <a:t>计算程序图的环复杂度，确定独立路径集合的大小；</a:t>
            </a:r>
            <a:endParaRPr lang="en-US" altLang="zh-CN" sz="2400" kern="0" dirty="0"/>
          </a:p>
          <a:p>
            <a:pPr marL="866775" lvl="2" indent="-469900" fontAlgn="base">
              <a:lnSpc>
                <a:spcPct val="160000"/>
              </a:lnSpc>
              <a:spcBef>
                <a:spcPct val="20000"/>
              </a:spcBef>
              <a:spcAft>
                <a:spcPct val="0"/>
              </a:spcAft>
              <a:buClr>
                <a:schemeClr val="accent2"/>
              </a:buClr>
              <a:buFont typeface="Wingdings" panose="05000000000000000000" pitchFamily="2" charset="2"/>
              <a:buChar char="o"/>
              <a:defRPr/>
            </a:pPr>
            <a:r>
              <a:rPr lang="zh-CN" altLang="en-US" sz="2400" kern="0" dirty="0"/>
              <a:t>以最复杂的路径为基础路径，通过覆盖所有判定分支确定其他路径，抽取独立路径集合；</a:t>
            </a:r>
            <a:endParaRPr lang="en-US" altLang="zh-CN" sz="2400" kern="0" dirty="0"/>
          </a:p>
          <a:p>
            <a:pPr marL="866775" lvl="2" indent="-469900" fontAlgn="base">
              <a:lnSpc>
                <a:spcPct val="160000"/>
              </a:lnSpc>
              <a:spcBef>
                <a:spcPct val="20000"/>
              </a:spcBef>
              <a:spcAft>
                <a:spcPct val="0"/>
              </a:spcAft>
              <a:buClr>
                <a:schemeClr val="accent2"/>
              </a:buClr>
              <a:buFont typeface="Wingdings" panose="05000000000000000000" pitchFamily="2" charset="2"/>
              <a:buChar char="o"/>
              <a:defRPr/>
            </a:pPr>
            <a:r>
              <a:rPr lang="zh-CN" altLang="en-US" sz="2400" kern="0" dirty="0"/>
              <a:t>注意剔除不可行路径，必要时补充其他重要的路径；</a:t>
            </a:r>
            <a:endParaRPr lang="en-US" altLang="zh-CN" sz="2400" kern="0" dirty="0"/>
          </a:p>
          <a:p>
            <a:pPr marL="866775" lvl="2" indent="-469900" fontAlgn="base">
              <a:lnSpc>
                <a:spcPct val="160000"/>
              </a:lnSpc>
              <a:spcBef>
                <a:spcPct val="20000"/>
              </a:spcBef>
              <a:spcAft>
                <a:spcPct val="0"/>
              </a:spcAft>
              <a:buClr>
                <a:schemeClr val="accent2"/>
              </a:buClr>
              <a:buFont typeface="Wingdings" panose="05000000000000000000" pitchFamily="2" charset="2"/>
              <a:buChar char="o"/>
              <a:defRPr/>
            </a:pPr>
            <a:r>
              <a:rPr lang="zh-CN" altLang="en-US" sz="2400" kern="0" dirty="0"/>
              <a:t>根据得到的路径集合对应设计测试用例。</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txBox="1">
            <a:spLocks noGrp="1"/>
          </p:cNvSpPr>
          <p:nvPr>
            <p:ph type="sldNum" sz="quarter" idx="12"/>
          </p:nvPr>
        </p:nvSpPr>
        <p:spPr/>
        <p:txBody>
          <a:bodyPr>
            <a:normAutofit/>
          </a:bodyPr>
          <a:lstStyle/>
          <a:p>
            <a:pPr>
              <a:spcBef>
                <a:spcPct val="0"/>
              </a:spcBef>
            </a:pPr>
            <a:fld id="{9A0DB2DC-4C9A-4742-B13C-FB6460FD3503}" type="slidenum">
              <a:rPr lang="en-US" altLang="zh-CN" dirty="0"/>
              <a:pPr>
                <a:spcBef>
                  <a:spcPct val="0"/>
                </a:spcBef>
              </a:pPr>
              <a:t>105</a:t>
            </a:fld>
            <a:endParaRPr lang="en-US" altLang="zh-CN" dirty="0"/>
          </a:p>
        </p:txBody>
      </p:sp>
      <p:sp>
        <p:nvSpPr>
          <p:cNvPr id="40964" name="Rectangle 3"/>
          <p:cNvSpPr>
            <a:spLocks noGrp="1"/>
          </p:cNvSpPr>
          <p:nvPr>
            <p:ph idx="1"/>
          </p:nvPr>
        </p:nvSpPr>
        <p:spPr/>
        <p:txBody>
          <a:bodyPr vert="horz" wrap="square" lIns="91440" tIns="45720" rIns="91440" bIns="45720" rtlCol="0" anchor="t" anchorCtr="0">
            <a:normAutofit/>
          </a:bodyPr>
          <a:lstStyle/>
          <a:p>
            <a:pPr algn="just" eaLnBrk="1" hangingPunct="1"/>
            <a:r>
              <a:rPr lang="zh-CN" altLang="en-US" sz="3400" b="1" dirty="0"/>
              <a:t>小结</a:t>
            </a:r>
            <a:endParaRPr lang="en-US" altLang="zh-CN" sz="3400" b="1" dirty="0"/>
          </a:p>
          <a:p>
            <a:pPr lvl="1" algn="just" eaLnBrk="1" hangingPunct="1">
              <a:lnSpc>
                <a:spcPct val="170000"/>
              </a:lnSpc>
            </a:pPr>
            <a:r>
              <a:rPr lang="zh-CN" altLang="en-US" sz="2425" dirty="0"/>
              <a:t>是最重要的白盒测试方法之一，其思想可用于任何动态模型中：</a:t>
            </a:r>
            <a:endParaRPr lang="en-US" altLang="zh-CN" sz="2425" dirty="0"/>
          </a:p>
          <a:p>
            <a:pPr lvl="2" algn="just" eaLnBrk="1" hangingPunct="1">
              <a:lnSpc>
                <a:spcPct val="170000"/>
              </a:lnSpc>
            </a:pPr>
            <a:r>
              <a:rPr lang="zh-CN" altLang="en-US" sz="2240" dirty="0"/>
              <a:t>单元测试阶段，主要用于对程序源代码的执行测试。</a:t>
            </a:r>
            <a:endParaRPr lang="en-US" altLang="zh-CN" sz="2240" dirty="0"/>
          </a:p>
          <a:p>
            <a:pPr lvl="2" algn="just" eaLnBrk="1" hangingPunct="1">
              <a:lnSpc>
                <a:spcPct val="170000"/>
              </a:lnSpc>
            </a:pPr>
            <a:r>
              <a:rPr lang="zh-CN" altLang="en-US" sz="2240" dirty="0"/>
              <a:t>集成测试或系统测试阶段，主要用于对业务流程、页面跳转等类似动态执行路径的测试。</a:t>
            </a:r>
          </a:p>
        </p:txBody>
      </p:sp>
      <p:sp>
        <p:nvSpPr>
          <p:cNvPr id="2" name="日期占位符 1"/>
          <p:cNvSpPr>
            <a:spLocks noGrp="1"/>
          </p:cNvSpPr>
          <p:nvPr>
            <p:ph type="dt" sz="half" idx="10"/>
          </p:nvPr>
        </p:nvSpPr>
        <p:spPr/>
        <p:txBody>
          <a:bodyPr/>
          <a:lstStyle/>
          <a:p>
            <a:fld id="{760FBDFE-C587-4B4C-A407-44438C67B59E}" type="datetime1">
              <a:rPr lang="zh-CN" altLang="en-US" smtClean="0"/>
              <a:t>2024/3/27</a:t>
            </a:fld>
            <a:endParaRPr lang="zh-CN" altLang="en-US"/>
          </a:p>
        </p:txBody>
      </p:sp>
      <p:sp>
        <p:nvSpPr>
          <p:cNvPr id="5123" name="Rectangle 2"/>
          <p:cNvSpPr>
            <a:spLocks noGrp="1"/>
          </p:cNvSpPr>
          <p:nvPr>
            <p:ph type="title"/>
            <p:custDataLst>
              <p:tags r:id="rId1"/>
            </p:custDataLst>
          </p:nvPr>
        </p:nvSpPr>
        <p:spPr/>
        <p:txBody>
          <a:bodyPr vert="horz" wrap="square" lIns="91440" tIns="45720" rIns="91440" bIns="45720" rtlCol="0" anchor="b" anchorCtr="0">
            <a:normAutofit/>
          </a:bodyPr>
          <a:lstStyle/>
          <a:p>
            <a:pPr algn="l" eaLnBrk="1" hangingPunct="1">
              <a:buClrTx/>
              <a:buSzTx/>
              <a:buFontTx/>
            </a:pPr>
            <a:r>
              <a:rPr lang="en-US" altLang="zh-CN">
                <a:solidFill>
                  <a:schemeClr val="accent1"/>
                </a:solidFill>
                <a:ea typeface="汉仪文黑-85W" panose="00020600040101010101" charset="-122"/>
              </a:rPr>
              <a:t>对路径的测试</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vert="horz" wrap="square" lIns="91440" tIns="45720" rIns="91440" bIns="45720" rtlCol="0" anchor="b" anchorCtr="0">
            <a:noAutofit/>
          </a:bodyPr>
          <a:lstStyle/>
          <a:p>
            <a:pPr>
              <a:buNone/>
            </a:pPr>
            <a:r>
              <a:rPr lang="zh-CN" altLang="en-US" b="1" dirty="0">
                <a:latin typeface="微软雅黑" panose="020B0503020204020204" charset="-122"/>
                <a:ea typeface="微软雅黑" panose="020B0503020204020204" charset="-122"/>
              </a:rPr>
              <a:t>课堂练习</a:t>
            </a:r>
          </a:p>
        </p:txBody>
      </p:sp>
      <p:sp>
        <p:nvSpPr>
          <p:cNvPr id="41987" name="内容占位符 2"/>
          <p:cNvSpPr>
            <a:spLocks noGrp="1"/>
          </p:cNvSpPr>
          <p:nvPr>
            <p:ph idx="1"/>
          </p:nvPr>
        </p:nvSpPr>
        <p:spPr>
          <a:xfrm>
            <a:off x="2026285" y="1412876"/>
            <a:ext cx="8108950" cy="4458335"/>
          </a:xfr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nchor="ctr" anchorCtr="0">
            <a:normAutofit/>
          </a:bodyPr>
          <a:lstStyle/>
          <a:p>
            <a:pPr marL="0" indent="0">
              <a:lnSpc>
                <a:spcPts val="1300"/>
              </a:lnSpc>
              <a:spcBef>
                <a:spcPct val="0"/>
              </a:spcBef>
              <a:buNone/>
            </a:pPr>
            <a:r>
              <a:rPr lang="en-US" altLang="zh-CN" sz="2000" dirty="0"/>
              <a:t>1</a:t>
            </a:r>
            <a:r>
              <a:rPr lang="zh-CN" altLang="en-US" sz="2000" dirty="0"/>
              <a:t>　 </a:t>
            </a:r>
            <a:r>
              <a:rPr lang="en-US" altLang="zh-CN" sz="2000" dirty="0"/>
              <a:t>a = float(input("</a:t>
            </a:r>
            <a:r>
              <a:rPr lang="zh-CN" altLang="en-US" sz="2000" dirty="0"/>
              <a:t>请输入三角形边长</a:t>
            </a:r>
            <a:r>
              <a:rPr lang="en-US" altLang="zh-CN" sz="2000" dirty="0"/>
              <a:t>a:"))</a:t>
            </a:r>
          </a:p>
          <a:p>
            <a:pPr marL="0" indent="0">
              <a:lnSpc>
                <a:spcPts val="1300"/>
              </a:lnSpc>
              <a:spcBef>
                <a:spcPct val="0"/>
              </a:spcBef>
              <a:buNone/>
            </a:pPr>
            <a:r>
              <a:rPr lang="en-US" altLang="zh-CN" sz="2000" dirty="0"/>
              <a:t>2</a:t>
            </a:r>
            <a:r>
              <a:rPr lang="zh-CN" altLang="en-US" sz="2000" dirty="0"/>
              <a:t>　 </a:t>
            </a:r>
            <a:r>
              <a:rPr lang="en-US" altLang="zh-CN" sz="2000" dirty="0"/>
              <a:t>b = float(input("</a:t>
            </a:r>
            <a:r>
              <a:rPr lang="zh-CN" altLang="en-US" sz="2000" dirty="0"/>
              <a:t>请输入三角形边长</a:t>
            </a:r>
            <a:r>
              <a:rPr lang="en-US" altLang="zh-CN" sz="2000" dirty="0"/>
              <a:t>b:"))</a:t>
            </a:r>
          </a:p>
          <a:p>
            <a:pPr marL="0" indent="0">
              <a:lnSpc>
                <a:spcPts val="1300"/>
              </a:lnSpc>
              <a:spcBef>
                <a:spcPct val="0"/>
              </a:spcBef>
              <a:buNone/>
            </a:pPr>
            <a:r>
              <a:rPr lang="en-US" altLang="zh-CN" sz="2000" dirty="0"/>
              <a:t>3</a:t>
            </a:r>
            <a:r>
              <a:rPr lang="zh-CN" altLang="en-US" sz="2000" dirty="0"/>
              <a:t>　 </a:t>
            </a:r>
            <a:r>
              <a:rPr lang="en-US" altLang="zh-CN" sz="2000" dirty="0"/>
              <a:t>c = float(input("</a:t>
            </a:r>
            <a:r>
              <a:rPr lang="zh-CN" altLang="en-US" sz="2000" dirty="0"/>
              <a:t>请输入三角形边长</a:t>
            </a:r>
            <a:r>
              <a:rPr lang="en-US" altLang="zh-CN" sz="2000" dirty="0"/>
              <a:t>c:"))</a:t>
            </a:r>
          </a:p>
          <a:p>
            <a:pPr marL="0" indent="0">
              <a:lnSpc>
                <a:spcPts val="1300"/>
              </a:lnSpc>
              <a:spcBef>
                <a:spcPct val="0"/>
              </a:spcBef>
              <a:buNone/>
            </a:pPr>
            <a:r>
              <a:rPr lang="en-US" altLang="zh-CN" sz="2000" dirty="0"/>
              <a:t>4</a:t>
            </a:r>
            <a:r>
              <a:rPr lang="zh-CN" altLang="en-US" sz="2000" dirty="0"/>
              <a:t>　 </a:t>
            </a:r>
            <a:r>
              <a:rPr lang="en-US" altLang="zh-CN" sz="2000" dirty="0"/>
              <a:t>if a + b &lt;= c or a + c &lt;= b or b + c &lt;= a \</a:t>
            </a:r>
          </a:p>
          <a:p>
            <a:pPr marL="0" indent="0">
              <a:lnSpc>
                <a:spcPts val="1300"/>
              </a:lnSpc>
              <a:spcBef>
                <a:spcPct val="0"/>
              </a:spcBef>
              <a:buNone/>
            </a:pPr>
            <a:r>
              <a:rPr lang="en-US" altLang="zh-CN" sz="2000" dirty="0"/>
              <a:t>5</a:t>
            </a:r>
            <a:r>
              <a:rPr lang="zh-CN" altLang="en-US" sz="2000" dirty="0"/>
              <a:t>　　　　　</a:t>
            </a:r>
            <a:r>
              <a:rPr lang="en-US" altLang="zh-CN" sz="2000" dirty="0"/>
              <a:t>or abs(a - b) &gt;= c or abs(b - c) &gt;= a \</a:t>
            </a:r>
          </a:p>
          <a:p>
            <a:pPr marL="0" indent="0">
              <a:lnSpc>
                <a:spcPts val="1300"/>
              </a:lnSpc>
              <a:spcBef>
                <a:spcPct val="0"/>
              </a:spcBef>
              <a:buNone/>
            </a:pPr>
            <a:r>
              <a:rPr lang="en-US" altLang="zh-CN" sz="2000" dirty="0"/>
              <a:t>6</a:t>
            </a:r>
            <a:r>
              <a:rPr lang="zh-CN" altLang="en-US" sz="2000" dirty="0"/>
              <a:t>　　　　　</a:t>
            </a:r>
            <a:r>
              <a:rPr lang="en-US" altLang="zh-CN" sz="2000" dirty="0"/>
              <a:t>or abs(c - a) &gt;= b:</a:t>
            </a:r>
          </a:p>
          <a:p>
            <a:pPr marL="0" indent="0">
              <a:lnSpc>
                <a:spcPts val="1300"/>
              </a:lnSpc>
              <a:spcBef>
                <a:spcPct val="0"/>
              </a:spcBef>
              <a:buNone/>
            </a:pPr>
            <a:r>
              <a:rPr lang="en-US" altLang="zh-CN" sz="2000" dirty="0"/>
              <a:t>7</a:t>
            </a:r>
            <a:r>
              <a:rPr lang="zh-CN" altLang="en-US" sz="2000" dirty="0"/>
              <a:t>　　　 </a:t>
            </a:r>
            <a:r>
              <a:rPr lang="en-US" altLang="zh-CN" sz="2000" dirty="0"/>
              <a:t>print("</a:t>
            </a:r>
            <a:r>
              <a:rPr lang="zh-CN" altLang="en-US" sz="2000" dirty="0"/>
              <a:t>不能构成三角形！</a:t>
            </a:r>
            <a:r>
              <a:rPr lang="en-US" altLang="zh-CN" sz="2000" dirty="0"/>
              <a:t>")</a:t>
            </a:r>
          </a:p>
          <a:p>
            <a:pPr marL="0" indent="0">
              <a:lnSpc>
                <a:spcPts val="1300"/>
              </a:lnSpc>
              <a:spcBef>
                <a:spcPct val="0"/>
              </a:spcBef>
              <a:buNone/>
            </a:pPr>
            <a:r>
              <a:rPr lang="en-US" altLang="zh-CN" sz="2000" dirty="0"/>
              <a:t>8</a:t>
            </a:r>
            <a:r>
              <a:rPr lang="zh-CN" altLang="en-US" sz="2000" dirty="0"/>
              <a:t>　 </a:t>
            </a:r>
            <a:r>
              <a:rPr lang="en-US" altLang="zh-CN" sz="2000" dirty="0"/>
              <a:t>elif a == b or b == c or a == c:</a:t>
            </a:r>
          </a:p>
          <a:p>
            <a:pPr marL="0" indent="0">
              <a:lnSpc>
                <a:spcPts val="1300"/>
              </a:lnSpc>
              <a:spcBef>
                <a:spcPct val="0"/>
              </a:spcBef>
              <a:buNone/>
            </a:pPr>
            <a:r>
              <a:rPr lang="en-US" altLang="zh-CN" sz="2000" dirty="0"/>
              <a:t>9</a:t>
            </a:r>
            <a:r>
              <a:rPr lang="zh-CN" altLang="en-US" sz="2000" dirty="0"/>
              <a:t>　　　 </a:t>
            </a:r>
            <a:r>
              <a:rPr lang="en-US" altLang="zh-CN" sz="2000" dirty="0"/>
              <a:t>if a == b and b == c:</a:t>
            </a:r>
          </a:p>
          <a:p>
            <a:pPr marL="0" indent="0">
              <a:lnSpc>
                <a:spcPts val="1300"/>
              </a:lnSpc>
              <a:spcBef>
                <a:spcPct val="0"/>
              </a:spcBef>
              <a:buNone/>
            </a:pPr>
            <a:r>
              <a:rPr lang="en-US" altLang="zh-CN" sz="2000" dirty="0"/>
              <a:t>10</a:t>
            </a:r>
            <a:r>
              <a:rPr lang="zh-CN" altLang="en-US" sz="2000" dirty="0"/>
              <a:t>　　　　 </a:t>
            </a:r>
            <a:r>
              <a:rPr lang="en-US" altLang="zh-CN" sz="2000" dirty="0"/>
              <a:t>print("</a:t>
            </a:r>
            <a:r>
              <a:rPr lang="zh-CN" altLang="en-US" sz="2000" dirty="0"/>
              <a:t>等边三角形</a:t>
            </a:r>
            <a:r>
              <a:rPr lang="en-US" altLang="zh-CN" sz="2000" dirty="0"/>
              <a:t>")</a:t>
            </a:r>
          </a:p>
          <a:p>
            <a:pPr marL="0" indent="0">
              <a:lnSpc>
                <a:spcPts val="1300"/>
              </a:lnSpc>
              <a:spcBef>
                <a:spcPct val="0"/>
              </a:spcBef>
              <a:buNone/>
            </a:pPr>
            <a:r>
              <a:rPr lang="en-US" altLang="zh-CN" sz="2000" dirty="0"/>
              <a:t>11</a:t>
            </a:r>
            <a:r>
              <a:rPr lang="zh-CN" altLang="en-US" sz="2000" dirty="0"/>
              <a:t>　　　</a:t>
            </a:r>
            <a:r>
              <a:rPr lang="en-US" altLang="zh-CN" sz="2000" dirty="0"/>
              <a:t>else:</a:t>
            </a:r>
          </a:p>
          <a:p>
            <a:pPr marL="0" indent="0">
              <a:lnSpc>
                <a:spcPts val="1300"/>
              </a:lnSpc>
              <a:spcBef>
                <a:spcPct val="0"/>
              </a:spcBef>
              <a:buNone/>
            </a:pPr>
            <a:r>
              <a:rPr lang="en-US" altLang="zh-CN" sz="2000" dirty="0"/>
              <a:t>12</a:t>
            </a:r>
            <a:r>
              <a:rPr lang="zh-CN" altLang="en-US" sz="2000" dirty="0"/>
              <a:t>　　　　 </a:t>
            </a:r>
            <a:r>
              <a:rPr lang="en-US" altLang="zh-CN" sz="2000" dirty="0"/>
              <a:t>print("</a:t>
            </a:r>
            <a:r>
              <a:rPr lang="zh-CN" altLang="en-US" sz="2000" dirty="0"/>
              <a:t>等腰三角形</a:t>
            </a:r>
            <a:r>
              <a:rPr lang="en-US" altLang="zh-CN" sz="2000" dirty="0"/>
              <a:t>")</a:t>
            </a:r>
          </a:p>
          <a:p>
            <a:pPr marL="0" indent="0">
              <a:lnSpc>
                <a:spcPts val="1300"/>
              </a:lnSpc>
              <a:spcBef>
                <a:spcPct val="0"/>
              </a:spcBef>
              <a:buNone/>
            </a:pPr>
            <a:r>
              <a:rPr lang="en-US" altLang="zh-CN" sz="2000" dirty="0"/>
              <a:t>13</a:t>
            </a:r>
            <a:r>
              <a:rPr lang="zh-CN" altLang="en-US" sz="2000" dirty="0"/>
              <a:t>　</a:t>
            </a:r>
            <a:r>
              <a:rPr lang="en-US" altLang="zh-CN" sz="2000" dirty="0"/>
              <a:t>else:</a:t>
            </a:r>
          </a:p>
          <a:p>
            <a:pPr marL="0" indent="0">
              <a:lnSpc>
                <a:spcPts val="1300"/>
              </a:lnSpc>
              <a:spcBef>
                <a:spcPct val="0"/>
              </a:spcBef>
              <a:buNone/>
            </a:pPr>
            <a:r>
              <a:rPr lang="en-US" altLang="zh-CN" sz="2000" dirty="0"/>
              <a:t>14</a:t>
            </a:r>
            <a:r>
              <a:rPr lang="zh-CN" altLang="en-US" sz="2000" dirty="0"/>
              <a:t>　　　</a:t>
            </a:r>
            <a:r>
              <a:rPr lang="en-US" altLang="zh-CN" sz="2000" dirty="0"/>
              <a:t>print("</a:t>
            </a:r>
            <a:r>
              <a:rPr lang="zh-CN" altLang="en-US" sz="2000" dirty="0"/>
              <a:t>普通三角形</a:t>
            </a:r>
            <a:r>
              <a:rPr lang="en-US" altLang="zh-CN" sz="2000" dirty="0"/>
              <a:t>")</a:t>
            </a:r>
            <a:endParaRPr lang="zh-CN" altLang="en-US" sz="2000" dirty="0"/>
          </a:p>
        </p:txBody>
      </p:sp>
      <p:sp>
        <p:nvSpPr>
          <p:cNvPr id="41988"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algn="r" eaLnBrk="1" hangingPunct="1"/>
            <a:fld id="{9A0DB2DC-4C9A-4742-B13C-FB6460FD3503}" type="slidenum">
              <a:rPr lang="zh-CN" altLang="en-US" sz="900">
                <a:solidFill>
                  <a:srgbClr val="000000">
                    <a:tint val="75000"/>
                  </a:srgbClr>
                </a:solidFill>
                <a:latin typeface="Arial" panose="020B0604020202020204" pitchFamily="34" charset="0"/>
                <a:ea typeface="微软雅黑" panose="020B0503020204020204" charset="-122"/>
              </a:rPr>
              <a:pPr algn="r" eaLnBrk="1" hangingPunct="1"/>
              <a:t>106</a:t>
            </a:fld>
            <a:endParaRPr lang="zh-CN" altLang="en-US" sz="900">
              <a:solidFill>
                <a:srgbClr val="000000">
                  <a:tint val="75000"/>
                </a:srgbClr>
              </a:solidFill>
              <a:latin typeface="Arial" panose="020B0604020202020204" pitchFamily="34" charset="0"/>
              <a:ea typeface="微软雅黑" panose="020B0503020204020204" charset="-122"/>
            </a:endParaRPr>
          </a:p>
        </p:txBody>
      </p:sp>
      <p:sp>
        <p:nvSpPr>
          <p:cNvPr id="2" name="日期占位符 1"/>
          <p:cNvSpPr>
            <a:spLocks noGrp="1"/>
          </p:cNvSpPr>
          <p:nvPr>
            <p:ph type="dt" sz="half" idx="10"/>
          </p:nvPr>
        </p:nvSpPr>
        <p:spPr/>
        <p:txBody>
          <a:bodyPr/>
          <a:lstStyle/>
          <a:p>
            <a:pPr fontAlgn="base">
              <a:spcBef>
                <a:spcPct val="0"/>
              </a:spcBef>
              <a:spcAft>
                <a:spcPct val="0"/>
              </a:spcAft>
            </a:pPr>
            <a:fld id="{760FBDFE-C587-4B4C-A407-44438C67B59E}" type="datetime1">
              <a:rPr lang="zh-CN" altLang="en-US">
                <a:solidFill>
                  <a:srgbClr val="000000">
                    <a:tint val="75000"/>
                  </a:srgbClr>
                </a:solidFill>
              </a:rPr>
              <a:pPr fontAlgn="base">
                <a:spcBef>
                  <a:spcPct val="0"/>
                </a:spcBef>
                <a:spcAft>
                  <a:spcPct val="0"/>
                </a:spcAft>
              </a:pPr>
              <a:t>2024/3/27</a:t>
            </a:fld>
            <a:endParaRPr lang="zh-CN" altLang="en-US">
              <a:solidFill>
                <a:srgbClr val="000000">
                  <a:tint val="75000"/>
                </a:srgbClr>
              </a:solidFill>
            </a:endParaRPr>
          </a:p>
        </p:txBody>
      </p:sp>
    </p:spTree>
  </p:cSld>
  <p:clrMapOvr>
    <a:masterClrMapping/>
  </p:clrMapOvr>
  <p:transition>
    <p:blinds dir="vert"/>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algn="r" eaLnBrk="1" hangingPunct="1"/>
            <a:fld id="{9A0DB2DC-4C9A-4742-B13C-FB6460FD3503}" type="slidenum">
              <a:rPr lang="zh-CN" altLang="en-US" sz="900">
                <a:solidFill>
                  <a:srgbClr val="000000">
                    <a:tint val="75000"/>
                  </a:srgbClr>
                </a:solidFill>
                <a:latin typeface="Arial" panose="020B0604020202020204" pitchFamily="34" charset="0"/>
                <a:ea typeface="微软雅黑" panose="020B0503020204020204" charset="-122"/>
              </a:rPr>
              <a:pPr algn="r" eaLnBrk="1" hangingPunct="1"/>
              <a:t>107</a:t>
            </a:fld>
            <a:endParaRPr lang="en-US" altLang="zh-CN" sz="1200" dirty="0">
              <a:solidFill>
                <a:srgbClr val="000000"/>
              </a:solidFill>
            </a:endParaRPr>
          </a:p>
        </p:txBody>
      </p:sp>
      <p:pic>
        <p:nvPicPr>
          <p:cNvPr id="43011" name="Picture 2" descr="全程软件测试（三十）：动态白盒测试—基本路径法—读书笔记"/>
          <p:cNvPicPr>
            <a:picLocks noChangeAspect="1"/>
          </p:cNvPicPr>
          <p:nvPr/>
        </p:nvPicPr>
        <p:blipFill>
          <a:blip r:embed="rId3"/>
          <a:stretch>
            <a:fillRect/>
          </a:stretch>
        </p:blipFill>
        <p:spPr>
          <a:xfrm>
            <a:off x="3048000" y="862014"/>
            <a:ext cx="6096000" cy="5133975"/>
          </a:xfrm>
          <a:prstGeom prst="rect">
            <a:avLst/>
          </a:prstGeom>
          <a:noFill/>
          <a:ln w="9525">
            <a:noFill/>
          </a:ln>
        </p:spPr>
      </p:pic>
      <p:sp>
        <p:nvSpPr>
          <p:cNvPr id="2" name="日期占位符 1"/>
          <p:cNvSpPr>
            <a:spLocks noGrp="1"/>
          </p:cNvSpPr>
          <p:nvPr>
            <p:ph type="dt" sz="half" idx="10"/>
          </p:nvPr>
        </p:nvSpPr>
        <p:spPr/>
        <p:txBody>
          <a:bodyPr/>
          <a:lstStyle/>
          <a:p>
            <a:pPr fontAlgn="base">
              <a:spcBef>
                <a:spcPct val="0"/>
              </a:spcBef>
              <a:spcAft>
                <a:spcPct val="0"/>
              </a:spcAft>
            </a:pPr>
            <a:fld id="{760FBDFE-C587-4B4C-A407-44438C67B59E}" type="datetime1">
              <a:rPr lang="zh-CN" altLang="en-US">
                <a:solidFill>
                  <a:srgbClr val="000000">
                    <a:tint val="75000"/>
                  </a:srgbClr>
                </a:solidFill>
              </a:rPr>
              <a:pPr fontAlgn="base">
                <a:spcBef>
                  <a:spcPct val="0"/>
                </a:spcBef>
                <a:spcAft>
                  <a:spcPct val="0"/>
                </a:spcAft>
              </a:pPr>
              <a:t>2024/3/27</a:t>
            </a:fld>
            <a:endParaRPr lang="zh-CN" altLang="en-US">
              <a:solidFill>
                <a:srgbClr val="000000">
                  <a:tint val="75000"/>
                </a:srgbClr>
              </a:solidFill>
            </a:endParaRPr>
          </a:p>
        </p:txBody>
      </p:sp>
      <p:sp>
        <p:nvSpPr>
          <p:cNvPr id="41986" name="标题 1"/>
          <p:cNvSpPr>
            <a:spLocks noGrp="1"/>
          </p:cNvSpPr>
          <p:nvPr>
            <p:custDataLst>
              <p:tags r:id="rId1"/>
            </p:custDataLst>
          </p:nvPr>
        </p:nvSpPr>
        <p:spPr>
          <a:xfrm>
            <a:off x="2026285" y="414655"/>
            <a:ext cx="8139430" cy="782320"/>
          </a:xfrm>
          <a:prstGeom prst="rect">
            <a:avLst/>
          </a:prstGeom>
        </p:spPr>
        <p:txBody>
          <a:bodyPr vert="horz" wrap="square" lIns="91440" tIns="45720" rIns="91440" bIns="45720" rtlCol="0" anchor="b" anchorCtr="0">
            <a:noAutofit/>
          </a:bodyPr>
          <a:lstStyle>
            <a:lvl1pPr marL="0" marR="0" algn="l" defTabSz="914400" rtl="0" eaLnBrk="1" fontAlgn="auto" latinLnBrk="0" hangingPunct="1">
              <a:lnSpc>
                <a:spcPct val="100000"/>
              </a:lnSpc>
              <a:spcBef>
                <a:spcPct val="0"/>
              </a:spcBef>
              <a:buNone/>
              <a:defRPr kumimoji="0" lang="zh-CN" altLang="en-US" sz="32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a:spcAft>
                <a:spcPct val="0"/>
              </a:spcAft>
            </a:pPr>
            <a:r>
              <a:rPr lang="zh-CN" altLang="en-US" dirty="0">
                <a:solidFill>
                  <a:srgbClr val="000000"/>
                </a:solidFill>
                <a:latin typeface="微软雅黑" panose="020B0503020204020204" charset="-122"/>
              </a:rPr>
              <a:t>课堂练习</a:t>
            </a:r>
          </a:p>
        </p:txBody>
      </p:sp>
    </p:spTree>
  </p:cSld>
  <p:clrMapOvr>
    <a:masterClrMapping/>
  </p:clrMapOvr>
  <p:transition>
    <p:blinds dir="vert"/>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2"/>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algn="r" eaLnBrk="1" hangingPunct="1"/>
            <a:fld id="{9A0DB2DC-4C9A-4742-B13C-FB6460FD3503}" type="slidenum">
              <a:rPr lang="en-US" altLang="zh-CN" sz="1200" dirty="0">
                <a:solidFill>
                  <a:srgbClr val="000000"/>
                </a:solidFill>
              </a:rPr>
              <a:pPr algn="r" eaLnBrk="1" hangingPunct="1"/>
              <a:t>108</a:t>
            </a:fld>
            <a:endParaRPr lang="en-US" altLang="zh-CN" sz="1200" dirty="0">
              <a:solidFill>
                <a:srgbClr val="000000"/>
              </a:solidFill>
            </a:endParaRPr>
          </a:p>
        </p:txBody>
      </p:sp>
      <p:pic>
        <p:nvPicPr>
          <p:cNvPr id="44035" name="Picture 2" descr="全程软件测试（三十）：动态白盒测试—基本路径法—读书笔记"/>
          <p:cNvPicPr>
            <a:picLocks noChangeAspect="1"/>
          </p:cNvPicPr>
          <p:nvPr/>
        </p:nvPicPr>
        <p:blipFill>
          <a:blip r:embed="rId3"/>
          <a:stretch>
            <a:fillRect/>
          </a:stretch>
        </p:blipFill>
        <p:spPr>
          <a:xfrm>
            <a:off x="3216275" y="549276"/>
            <a:ext cx="5029200" cy="5445125"/>
          </a:xfrm>
          <a:prstGeom prst="rect">
            <a:avLst/>
          </a:prstGeom>
          <a:noFill/>
          <a:ln w="9525">
            <a:noFill/>
          </a:ln>
        </p:spPr>
      </p:pic>
      <p:sp>
        <p:nvSpPr>
          <p:cNvPr id="2" name="日期占位符 1"/>
          <p:cNvSpPr>
            <a:spLocks noGrp="1"/>
          </p:cNvSpPr>
          <p:nvPr>
            <p:ph type="dt" sz="half" idx="10"/>
          </p:nvPr>
        </p:nvSpPr>
        <p:spPr/>
        <p:txBody>
          <a:bodyPr/>
          <a:lstStyle/>
          <a:p>
            <a:pPr fontAlgn="base">
              <a:spcBef>
                <a:spcPct val="0"/>
              </a:spcBef>
              <a:spcAft>
                <a:spcPct val="0"/>
              </a:spcAft>
            </a:pPr>
            <a:fld id="{760FBDFE-C587-4B4C-A407-44438C67B59E}" type="datetime1">
              <a:rPr lang="zh-CN" altLang="en-US">
                <a:solidFill>
                  <a:srgbClr val="000000">
                    <a:tint val="75000"/>
                  </a:srgbClr>
                </a:solidFill>
              </a:rPr>
              <a:pPr fontAlgn="base">
                <a:spcBef>
                  <a:spcPct val="0"/>
                </a:spcBef>
                <a:spcAft>
                  <a:spcPct val="0"/>
                </a:spcAft>
              </a:pPr>
              <a:t>2024/3/27</a:t>
            </a:fld>
            <a:endParaRPr lang="zh-CN" altLang="en-US">
              <a:solidFill>
                <a:srgbClr val="000000">
                  <a:tint val="75000"/>
                </a:srgbClr>
              </a:solidFill>
            </a:endParaRPr>
          </a:p>
        </p:txBody>
      </p:sp>
      <p:sp>
        <p:nvSpPr>
          <p:cNvPr id="41986" name="标题 1"/>
          <p:cNvSpPr>
            <a:spLocks noGrp="1"/>
          </p:cNvSpPr>
          <p:nvPr>
            <p:ph type="title"/>
            <p:custDataLst>
              <p:tags r:id="rId1"/>
            </p:custDataLst>
          </p:nvPr>
        </p:nvSpPr>
        <p:spPr/>
        <p:txBody>
          <a:bodyPr vert="horz" wrap="square" lIns="91440" tIns="45720" rIns="91440" bIns="45720" rtlCol="0" anchor="b" anchorCtr="0">
            <a:normAutofit fontScale="90000"/>
          </a:bodyPr>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内容占位符 2"/>
          <p:cNvSpPr>
            <a:spLocks noGrp="1"/>
          </p:cNvSpPr>
          <p:nvPr>
            <p:ph idx="1"/>
          </p:nvPr>
        </p:nvSpPr>
        <p:spPr>
          <a:xfrm>
            <a:off x="2026285" y="1432560"/>
            <a:ext cx="8139430" cy="4235450"/>
          </a:xfrm>
        </p:spPr>
        <p:txBody>
          <a:bodyPr vert="horz" wrap="square" lIns="91440" tIns="45720" rIns="91440" bIns="45720" rtlCol="0" anchor="t" anchorCtr="0">
            <a:normAutofit/>
          </a:bodyPr>
          <a:lstStyle/>
          <a:p>
            <a:r>
              <a:rPr lang="zh-CN" altLang="en-US" dirty="0">
                <a:solidFill>
                  <a:srgbClr val="333333"/>
                </a:solidFill>
                <a:latin typeface="Arial" panose="020B0604020202020204" pitchFamily="34" charset="0"/>
              </a:rPr>
              <a:t>因此，环形复杂度计算如下：</a:t>
            </a:r>
          </a:p>
          <a:p>
            <a:r>
              <a:rPr lang="zh-CN" altLang="en-US" dirty="0">
                <a:solidFill>
                  <a:srgbClr val="333333"/>
                </a:solidFill>
                <a:latin typeface="Arial" panose="020B0604020202020204" pitchFamily="34" charset="0"/>
              </a:rPr>
              <a:t>区域数为</a:t>
            </a:r>
            <a:r>
              <a:rPr lang="en-US" altLang="zh-CN" dirty="0">
                <a:solidFill>
                  <a:srgbClr val="333333"/>
                </a:solidFill>
                <a:latin typeface="Arial" panose="020B0604020202020204" pitchFamily="34" charset="0"/>
              </a:rPr>
              <a:t>4</a:t>
            </a:r>
          </a:p>
          <a:p>
            <a:r>
              <a:rPr lang="en-US" altLang="zh-CN" dirty="0">
                <a:solidFill>
                  <a:srgbClr val="333333"/>
                </a:solidFill>
                <a:latin typeface="Arial" panose="020B0604020202020204" pitchFamily="34" charset="0"/>
              </a:rPr>
              <a:t>V</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G</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=12-9+1=4</a:t>
            </a:r>
          </a:p>
          <a:p>
            <a:r>
              <a:rPr lang="en-US" altLang="zh-CN" dirty="0">
                <a:solidFill>
                  <a:srgbClr val="333333"/>
                </a:solidFill>
                <a:latin typeface="Arial" panose="020B0604020202020204" pitchFamily="34" charset="0"/>
              </a:rPr>
              <a:t>V</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G</a:t>
            </a:r>
            <a:r>
              <a:rPr lang="zh-CN" altLang="en-US" dirty="0">
                <a:solidFill>
                  <a:srgbClr val="333333"/>
                </a:solidFill>
                <a:latin typeface="Arial" panose="020B0604020202020204" pitchFamily="34" charset="0"/>
              </a:rPr>
              <a:t>）</a:t>
            </a:r>
            <a:r>
              <a:rPr lang="en-US" altLang="zh-CN" dirty="0">
                <a:solidFill>
                  <a:srgbClr val="333333"/>
                </a:solidFill>
                <a:latin typeface="Arial" panose="020B0604020202020204" pitchFamily="34" charset="0"/>
              </a:rPr>
              <a:t>=3+1=4</a:t>
            </a:r>
          </a:p>
          <a:p>
            <a:endParaRPr lang="zh-CN" altLang="en-US" dirty="0"/>
          </a:p>
        </p:txBody>
      </p:sp>
      <p:sp>
        <p:nvSpPr>
          <p:cNvPr id="45060" name="灯片编号占位符 3"/>
          <p:cNvSpPr txBox="1">
            <a:spLocks noGrp="1"/>
          </p:cNvSpPr>
          <p:nvPr>
            <p:ph type="sldNum" sz="quarter" idx="12"/>
          </p:nvPr>
        </p:nvSpPr>
        <p:spPr/>
        <p:txBody>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algn="r" eaLnBrk="1" hangingPunct="1"/>
            <a:fld id="{9A0DB2DC-4C9A-4742-B13C-FB6460FD3503}" type="slidenum">
              <a:rPr lang="zh-CN" altLang="en-US" sz="900">
                <a:solidFill>
                  <a:srgbClr val="000000">
                    <a:tint val="75000"/>
                  </a:srgbClr>
                </a:solidFill>
                <a:latin typeface="Arial" panose="020B0604020202020204" pitchFamily="34" charset="0"/>
                <a:ea typeface="微软雅黑" panose="020B0503020204020204" charset="-122"/>
              </a:rPr>
              <a:pPr algn="r" eaLnBrk="1" hangingPunct="1"/>
              <a:t>109</a:t>
            </a:fld>
            <a:endParaRPr lang="en-US" altLang="zh-CN" sz="1200" dirty="0">
              <a:solidFill>
                <a:srgbClr val="000000"/>
              </a:solidFill>
            </a:endParaRPr>
          </a:p>
        </p:txBody>
      </p:sp>
      <p:sp>
        <p:nvSpPr>
          <p:cNvPr id="2" name="日期占位符 1"/>
          <p:cNvSpPr>
            <a:spLocks noGrp="1"/>
          </p:cNvSpPr>
          <p:nvPr>
            <p:ph type="dt" sz="half" idx="10"/>
          </p:nvPr>
        </p:nvSpPr>
        <p:spPr/>
        <p:txBody>
          <a:bodyPr/>
          <a:lstStyle/>
          <a:p>
            <a:pPr fontAlgn="base">
              <a:spcBef>
                <a:spcPct val="0"/>
              </a:spcBef>
              <a:spcAft>
                <a:spcPct val="0"/>
              </a:spcAft>
            </a:pPr>
            <a:fld id="{760FBDFE-C587-4B4C-A407-44438C67B59E}" type="datetime1">
              <a:rPr lang="zh-CN" altLang="en-US">
                <a:solidFill>
                  <a:srgbClr val="000000">
                    <a:tint val="75000"/>
                  </a:srgbClr>
                </a:solidFill>
              </a:rPr>
              <a:pPr fontAlgn="base">
                <a:spcBef>
                  <a:spcPct val="0"/>
                </a:spcBef>
                <a:spcAft>
                  <a:spcPct val="0"/>
                </a:spcAft>
              </a:pPr>
              <a:t>2024/3/27</a:t>
            </a:fld>
            <a:endParaRPr lang="zh-CN" altLang="en-US">
              <a:solidFill>
                <a:srgbClr val="000000">
                  <a:tint val="75000"/>
                </a:srgbClr>
              </a:solidFill>
            </a:endParaRPr>
          </a:p>
        </p:txBody>
      </p:sp>
      <p:sp>
        <p:nvSpPr>
          <p:cNvPr id="41986" name="标题 1"/>
          <p:cNvSpPr>
            <a:spLocks noGrp="1"/>
          </p:cNvSpPr>
          <p:nvPr>
            <p:ph type="title"/>
            <p:custDataLst>
              <p:tags r:id="rId1"/>
            </p:custDataLst>
          </p:nvPr>
        </p:nvSpPr>
        <p:spPr/>
        <p:txBody>
          <a:bodyPr vert="horz" wrap="square" lIns="91440" tIns="45720" rIns="91440" bIns="45720" rtlCol="0" anchor="b" anchorCtr="0">
            <a:noAutofit/>
          </a:bodyPr>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内容占位符 2"/>
          <p:cNvSpPr>
            <a:spLocks noGrp="1"/>
          </p:cNvSpPr>
          <p:nvPr>
            <p:ph idx="1"/>
          </p:nvPr>
        </p:nvSpPr>
        <p:spPr>
          <a:xfrm>
            <a:off x="2026285" y="1457960"/>
            <a:ext cx="8139430" cy="4210050"/>
          </a:xfrm>
        </p:spPr>
        <p:txBody>
          <a:bodyPr vert="horz" wrap="square" lIns="91440" tIns="45720" rIns="91440" bIns="45720" rtlCol="0" anchor="t" anchorCtr="0">
            <a:normAutofit/>
          </a:bodyPr>
          <a:lstStyle/>
          <a:p>
            <a:r>
              <a:rPr lang="zh-CN" altLang="en-US" dirty="0">
                <a:solidFill>
                  <a:srgbClr val="333333"/>
                </a:solidFill>
                <a:latin typeface="Arial" panose="020B0604020202020204" pitchFamily="34" charset="0"/>
              </a:rPr>
              <a:t>路径</a:t>
            </a:r>
            <a:r>
              <a:rPr lang="en-US" altLang="zh-CN" dirty="0">
                <a:solidFill>
                  <a:srgbClr val="333333"/>
                </a:solidFill>
                <a:latin typeface="Arial" panose="020B0604020202020204" pitchFamily="34" charset="0"/>
              </a:rPr>
              <a:t>1:1→4→7→</a:t>
            </a:r>
            <a:r>
              <a:rPr lang="zh-CN" altLang="en-US" dirty="0">
                <a:solidFill>
                  <a:srgbClr val="333333"/>
                </a:solidFill>
                <a:latin typeface="Arial" panose="020B0604020202020204" pitchFamily="34" charset="0"/>
              </a:rPr>
              <a:t>结束语句</a:t>
            </a:r>
          </a:p>
          <a:p>
            <a:r>
              <a:rPr lang="zh-CN" altLang="en-US" dirty="0">
                <a:solidFill>
                  <a:srgbClr val="333333"/>
                </a:solidFill>
                <a:latin typeface="Arial" panose="020B0604020202020204" pitchFamily="34" charset="0"/>
              </a:rPr>
              <a:t>路径</a:t>
            </a:r>
            <a:r>
              <a:rPr lang="en-US" altLang="zh-CN" dirty="0">
                <a:solidFill>
                  <a:srgbClr val="333333"/>
                </a:solidFill>
                <a:latin typeface="Arial" panose="020B0604020202020204" pitchFamily="34" charset="0"/>
              </a:rPr>
              <a:t>2:1→4→8→9→11→</a:t>
            </a:r>
            <a:r>
              <a:rPr lang="zh-CN" altLang="en-US" dirty="0">
                <a:solidFill>
                  <a:srgbClr val="333333"/>
                </a:solidFill>
                <a:latin typeface="Arial" panose="020B0604020202020204" pitchFamily="34" charset="0"/>
              </a:rPr>
              <a:t>结束语句</a:t>
            </a:r>
          </a:p>
          <a:p>
            <a:r>
              <a:rPr lang="zh-CN" altLang="en-US" dirty="0">
                <a:solidFill>
                  <a:srgbClr val="333333"/>
                </a:solidFill>
                <a:latin typeface="Arial" panose="020B0604020202020204" pitchFamily="34" charset="0"/>
              </a:rPr>
              <a:t>路径</a:t>
            </a:r>
            <a:r>
              <a:rPr lang="en-US" altLang="zh-CN" dirty="0">
                <a:solidFill>
                  <a:srgbClr val="333333"/>
                </a:solidFill>
                <a:latin typeface="Arial" panose="020B0604020202020204" pitchFamily="34" charset="0"/>
              </a:rPr>
              <a:t>3:1→4→8→9→10→</a:t>
            </a:r>
            <a:r>
              <a:rPr lang="zh-CN" altLang="en-US" dirty="0">
                <a:solidFill>
                  <a:srgbClr val="333333"/>
                </a:solidFill>
                <a:latin typeface="Arial" panose="020B0604020202020204" pitchFamily="34" charset="0"/>
              </a:rPr>
              <a:t>结束语句</a:t>
            </a:r>
          </a:p>
          <a:p>
            <a:r>
              <a:rPr lang="zh-CN" altLang="en-US" dirty="0">
                <a:solidFill>
                  <a:srgbClr val="333333"/>
                </a:solidFill>
                <a:latin typeface="Arial" panose="020B0604020202020204" pitchFamily="34" charset="0"/>
              </a:rPr>
              <a:t>路径</a:t>
            </a:r>
            <a:r>
              <a:rPr lang="en-US" altLang="zh-CN" dirty="0">
                <a:solidFill>
                  <a:srgbClr val="333333"/>
                </a:solidFill>
                <a:latin typeface="Arial" panose="020B0604020202020204" pitchFamily="34" charset="0"/>
              </a:rPr>
              <a:t>4:1→4→8→13→</a:t>
            </a:r>
            <a:r>
              <a:rPr lang="zh-CN" altLang="en-US" dirty="0">
                <a:solidFill>
                  <a:srgbClr val="333333"/>
                </a:solidFill>
                <a:latin typeface="Arial" panose="020B0604020202020204" pitchFamily="34" charset="0"/>
              </a:rPr>
              <a:t>结束语句</a:t>
            </a:r>
          </a:p>
          <a:p>
            <a:endParaRPr lang="zh-CN" altLang="en-US" dirty="0"/>
          </a:p>
        </p:txBody>
      </p:sp>
      <p:sp>
        <p:nvSpPr>
          <p:cNvPr id="46084" name="灯片编号占位符 3"/>
          <p:cNvSpPr txBox="1">
            <a:spLocks noGrp="1"/>
          </p:cNvSpPr>
          <p:nvPr>
            <p:ph type="sldNum" sz="quarter" idx="12"/>
          </p:nvPr>
        </p:nvSpPr>
        <p:spPr/>
        <p:txBody>
          <a:bodyPr>
            <a:normAutofit fontScale="92500" lnSpcReduction="20000"/>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algn="r" eaLnBrk="1" hangingPunct="1"/>
            <a:fld id="{9A0DB2DC-4C9A-4742-B13C-FB6460FD3503}" type="slidenum">
              <a:rPr lang="en-US" altLang="zh-CN" sz="1200" dirty="0">
                <a:solidFill>
                  <a:srgbClr val="000000"/>
                </a:solidFill>
              </a:rPr>
              <a:pPr algn="r" eaLnBrk="1" hangingPunct="1"/>
              <a:t>110</a:t>
            </a:fld>
            <a:endParaRPr lang="en-US" altLang="zh-CN" sz="1200" dirty="0">
              <a:solidFill>
                <a:srgbClr val="000000"/>
              </a:solidFill>
            </a:endParaRPr>
          </a:p>
        </p:txBody>
      </p:sp>
      <p:sp>
        <p:nvSpPr>
          <p:cNvPr id="2" name="日期占位符 1"/>
          <p:cNvSpPr>
            <a:spLocks noGrp="1"/>
          </p:cNvSpPr>
          <p:nvPr>
            <p:ph type="dt" sz="half" idx="10"/>
          </p:nvPr>
        </p:nvSpPr>
        <p:spPr/>
        <p:txBody>
          <a:bodyPr/>
          <a:lstStyle/>
          <a:p>
            <a:pPr fontAlgn="base">
              <a:spcBef>
                <a:spcPct val="0"/>
              </a:spcBef>
              <a:spcAft>
                <a:spcPct val="0"/>
              </a:spcAft>
            </a:pPr>
            <a:fld id="{760FBDFE-C587-4B4C-A407-44438C67B59E}" type="datetime1">
              <a:rPr lang="zh-CN" altLang="en-US">
                <a:solidFill>
                  <a:srgbClr val="000000">
                    <a:tint val="75000"/>
                  </a:srgbClr>
                </a:solidFill>
              </a:rPr>
              <a:pPr fontAlgn="base">
                <a:spcBef>
                  <a:spcPct val="0"/>
                </a:spcBef>
                <a:spcAft>
                  <a:spcPct val="0"/>
                </a:spcAft>
              </a:pPr>
              <a:t>2024/3/27</a:t>
            </a:fld>
            <a:endParaRPr lang="zh-CN" altLang="en-US">
              <a:solidFill>
                <a:srgbClr val="000000">
                  <a:tint val="75000"/>
                </a:srgbClr>
              </a:solidFill>
            </a:endParaRPr>
          </a:p>
        </p:txBody>
      </p:sp>
      <p:sp>
        <p:nvSpPr>
          <p:cNvPr id="41986" name="标题 1"/>
          <p:cNvSpPr>
            <a:spLocks noGrp="1"/>
          </p:cNvSpPr>
          <p:nvPr>
            <p:ph type="title"/>
            <p:custDataLst>
              <p:tags r:id="rId1"/>
            </p:custDataLst>
          </p:nvPr>
        </p:nvSpPr>
        <p:spPr/>
        <p:txBody>
          <a:bodyPr vert="horz" wrap="square" lIns="91440" tIns="45720" rIns="91440" bIns="45720" rtlCol="0" anchor="b" anchorCtr="0">
            <a:noAutofit/>
          </a:bodyPr>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3"/>
          <p:cNvSpPr txBox="1">
            <a:spLocks noGrp="1"/>
          </p:cNvSpPr>
          <p:nvPr>
            <p:ph type="sldNum" sz="quarter" idx="12"/>
          </p:nvPr>
        </p:nvSpPr>
        <p:spPr/>
        <p:txBody>
          <a:bodyPr>
            <a:noAutofit/>
          </a:bodyPr>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Verdan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Verdana" panose="020B0604030504040204" pitchFamily="34" charset="0"/>
                <a:ea typeface="宋体" panose="02010600030101010101" pitchFamily="2" charset="-122"/>
                <a:cs typeface="+mn-cs"/>
              </a:defRPr>
            </a:lvl5pPr>
          </a:lstStyle>
          <a:p>
            <a:pPr algn="r" eaLnBrk="1" hangingPunct="1"/>
            <a:fld id="{9A0DB2DC-4C9A-4742-B13C-FB6460FD3503}" type="slidenum">
              <a:rPr lang="en-US" altLang="zh-CN" sz="900" dirty="0">
                <a:solidFill>
                  <a:srgbClr val="000000"/>
                </a:solidFill>
              </a:rPr>
              <a:pPr algn="r" eaLnBrk="1" hangingPunct="1"/>
              <a:t>111</a:t>
            </a:fld>
            <a:endParaRPr lang="en-US" altLang="zh-CN" sz="900" dirty="0">
              <a:solidFill>
                <a:srgbClr val="000000"/>
              </a:solidFill>
            </a:endParaRPr>
          </a:p>
        </p:txBody>
      </p:sp>
      <p:pic>
        <p:nvPicPr>
          <p:cNvPr id="47108" name="Picture 3" descr="全程软件测试（三十）：动态白盒测试—基本路径法—读书笔记"/>
          <p:cNvPicPr>
            <a:picLocks noChangeAspect="1"/>
          </p:cNvPicPr>
          <p:nvPr/>
        </p:nvPicPr>
        <p:blipFill>
          <a:blip r:embed="rId3"/>
          <a:srcRect l="1161"/>
          <a:stretch>
            <a:fillRect/>
          </a:stretch>
        </p:blipFill>
        <p:spPr>
          <a:xfrm>
            <a:off x="1875156" y="3140711"/>
            <a:ext cx="8484235" cy="2334895"/>
          </a:xfrm>
          <a:prstGeom prst="rect">
            <a:avLst/>
          </a:prstGeom>
          <a:noFill/>
          <a:ln w="9525">
            <a:noFill/>
          </a:ln>
        </p:spPr>
      </p:pic>
      <p:pic>
        <p:nvPicPr>
          <p:cNvPr id="47107" name="Picture 2" descr="全程软件测试（三十）：动态白盒测试—基本路径法—读书笔记"/>
          <p:cNvPicPr>
            <a:picLocks noChangeAspect="1"/>
          </p:cNvPicPr>
          <p:nvPr/>
        </p:nvPicPr>
        <p:blipFill>
          <a:blip r:embed="rId4"/>
          <a:stretch>
            <a:fillRect/>
          </a:stretch>
        </p:blipFill>
        <p:spPr>
          <a:xfrm>
            <a:off x="1874520" y="2564766"/>
            <a:ext cx="8515350" cy="1019175"/>
          </a:xfrm>
          <a:prstGeom prst="rect">
            <a:avLst/>
          </a:prstGeom>
          <a:noFill/>
          <a:ln w="9525">
            <a:noFill/>
          </a:ln>
        </p:spPr>
      </p:pic>
      <p:sp>
        <p:nvSpPr>
          <p:cNvPr id="2" name="日期占位符 1"/>
          <p:cNvSpPr>
            <a:spLocks noGrp="1"/>
          </p:cNvSpPr>
          <p:nvPr>
            <p:ph type="dt" sz="half" idx="10"/>
          </p:nvPr>
        </p:nvSpPr>
        <p:spPr/>
        <p:txBody>
          <a:bodyPr/>
          <a:lstStyle/>
          <a:p>
            <a:pPr fontAlgn="base">
              <a:spcBef>
                <a:spcPct val="0"/>
              </a:spcBef>
              <a:spcAft>
                <a:spcPct val="0"/>
              </a:spcAft>
            </a:pPr>
            <a:fld id="{760FBDFE-C587-4B4C-A407-44438C67B59E}" type="datetime1">
              <a:rPr lang="zh-CN" altLang="en-US">
                <a:solidFill>
                  <a:srgbClr val="000000">
                    <a:tint val="75000"/>
                  </a:srgbClr>
                </a:solidFill>
              </a:rPr>
              <a:pPr fontAlgn="base">
                <a:spcBef>
                  <a:spcPct val="0"/>
                </a:spcBef>
                <a:spcAft>
                  <a:spcPct val="0"/>
                </a:spcAft>
              </a:pPr>
              <a:t>2024/3/27</a:t>
            </a:fld>
            <a:endParaRPr lang="zh-CN" altLang="en-US">
              <a:solidFill>
                <a:srgbClr val="000000">
                  <a:tint val="75000"/>
                </a:srgbClr>
              </a:solidFill>
            </a:endParaRPr>
          </a:p>
        </p:txBody>
      </p:sp>
      <p:sp>
        <p:nvSpPr>
          <p:cNvPr id="41986" name="标题 1"/>
          <p:cNvSpPr>
            <a:spLocks noGrp="1"/>
          </p:cNvSpPr>
          <p:nvPr>
            <p:ph type="title"/>
            <p:custDataLst>
              <p:tags r:id="rId1"/>
            </p:custDataLst>
          </p:nvPr>
        </p:nvSpPr>
        <p:spPr>
          <a:xfrm>
            <a:off x="2026285" y="498476"/>
            <a:ext cx="8139430" cy="621665"/>
          </a:xfrm>
        </p:spPr>
        <p:txBody>
          <a:bodyPr vert="horz" wrap="square" lIns="91440" tIns="45720" rIns="91440" bIns="45720" rtlCol="0" anchor="b" anchorCtr="0">
            <a:normAutofit/>
          </a:bodyPr>
          <a:lstStyle/>
          <a:p>
            <a:pPr>
              <a:buNone/>
            </a:pPr>
            <a:r>
              <a:rPr lang="zh-CN" altLang="en-US" b="1" dirty="0">
                <a:latin typeface="微软雅黑" panose="020B0503020204020204" charset="-122"/>
                <a:ea typeface="微软雅黑" panose="020B0503020204020204" charset="-122"/>
              </a:rPr>
              <a:t>课堂练习</a:t>
            </a:r>
          </a:p>
        </p:txBody>
      </p:sp>
    </p:spTree>
  </p:cSld>
  <p:clrMapOvr>
    <a:masterClrMapping/>
  </p:clrMapOvr>
  <p:transition>
    <p:blinds dir="vert"/>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descr="7b0a2020202022776f7264617274223a20227b5c2269645c223a32353030313832362c5c227469645c223a31333534347d220a7d0a"/>
          <p:cNvSpPr>
            <a:spLocks noGrp="1"/>
          </p:cNvSpPr>
          <p:nvPr>
            <p:ph type="title" idx="14"/>
            <p:custDataLst>
              <p:tags r:id="rId2"/>
            </p:custDataLst>
          </p:nvPr>
        </p:nvSpPr>
        <p:spPr>
          <a:xfrm>
            <a:off x="3969069" y="2403159"/>
            <a:ext cx="4612005" cy="1285875"/>
          </a:xfrm>
        </p:spPr>
        <p:txBody>
          <a:bodyPr>
            <a:noAutofit/>
            <a:scene3d>
              <a:camera prst="obliqueBottomRight"/>
              <a:lightRig rig="flat" dir="t"/>
            </a:scene3d>
          </a:bodyPr>
          <a:lstStyle/>
          <a:p>
            <a:pPr algn="ctr"/>
            <a:r>
              <a:rPr lang="zh-CN" altLang="en-US" sz="4950" dirty="0">
                <a:solidFill>
                  <a:srgbClr val="37449B"/>
                </a:solidFill>
                <a:effectLst>
                  <a:innerShdw blurRad="63500" dist="50800" dir="13500000">
                    <a:srgbClr val="050505">
                      <a:alpha val="50000"/>
                    </a:srgbClr>
                  </a:innerShdw>
                </a:effectLst>
                <a:latin typeface="汉仪黑方简" panose="00020600040101010101" charset="-122"/>
                <a:ea typeface="汉仪黑方简" panose="00020600040101010101" charset="-122"/>
              </a:rPr>
              <a:t>谢谢聆听</a:t>
            </a:r>
          </a:p>
        </p:txBody>
      </p:sp>
      <p:pic>
        <p:nvPicPr>
          <p:cNvPr id="2" name="图片 1" descr="校徽"/>
          <p:cNvPicPr>
            <a:picLocks noChangeAspect="1"/>
          </p:cNvPicPr>
          <p:nvPr userDrawn="1"/>
        </p:nvPicPr>
        <p:blipFill>
          <a:blip r:embed="rId5"/>
          <a:stretch>
            <a:fillRect/>
          </a:stretch>
        </p:blipFill>
        <p:spPr>
          <a:xfrm>
            <a:off x="9768205" y="44451"/>
            <a:ext cx="796290" cy="735965"/>
          </a:xfrm>
          <a:prstGeom prst="rect">
            <a:avLst/>
          </a:prstGeom>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24"/>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204424"/>
  <p:tag name="KSO_WM_TEMPLATE_SUBCATEGORY" val="0"/>
  <p:tag name="KSO_WM_TEMPLATE_MASTER_TYPE" val="1"/>
  <p:tag name="KSO_WM_TEMPLATE_COLOR_TYPE" val="1"/>
  <p:tag name="KSO_WM_TEMPLATE_MASTER_THUMB_INDEX" val="12"/>
  <p:tag name="KSO_WM_TEMPLATE_THUMBS_INDEX" val="1、4、6、8、10、14、17、18、19、20、21、24、29、34、37、38"/>
</p:tagLst>
</file>

<file path=ppt/tags/tag13.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frame"/>
  <p:tag name="KSO_WM_SLIDE_BK_DARK_LIGHT" val="2"/>
  <p:tag name="KSO_WM_UNIT_HIGHLIGHT" val="0"/>
  <p:tag name="KSO_WM_UNIT_COMPATIBLE" val="0"/>
  <p:tag name="KSO_WM_UNIT_DIAGRAM_ISNUMVISUAL" val="0"/>
  <p:tag name="KSO_WM_UNIT_DIAGRAM_ISREFERUNIT" val="0"/>
  <p:tag name="KSO_WM_UNIT_INDEX" val="1"/>
  <p:tag name="KSO_WM_UNIT_ID" val="_13*i*1"/>
  <p:tag name="KSO_WM_UNIT_BK_DARK_LIGHT" val="2"/>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NDEX" val="1"/>
  <p:tag name="KSO_WM_UNIT_ID" val="_14*i*1"/>
  <p:tag name="KSO_WM_UNIT_BK_DARK_LIGHT" val="2"/>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NDEX" val="1"/>
  <p:tag name="KSO_WM_UNIT_ID" val="_15*i*1"/>
  <p:tag name="KSO_WM_UNIT_BK_DARK_LIGHT" val="2"/>
  <p:tag name="KSO_WM_UNIT_LAYERLEVEL" val="1"/>
  <p:tag name="KSO_WM_TAG_VERSION" val="1.0"/>
  <p:tag name="KSO_WM_BEAUTIFY_FLAG" val="#wm#"/>
</p:tagLst>
</file>

<file path=ppt/tags/tag11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11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NDEX" val="1"/>
  <p:tag name="KSO_WM_UNIT_ID" val="_16*i*1"/>
  <p:tag name="KSO_WM_UNIT_BK_DARK_LIGHT" val="2"/>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NDEX" val="1"/>
  <p:tag name="KSO_WM_UNIT_ID" val="_17*i*1"/>
  <p:tag name="KSO_WM_UNIT_BK_DARK_LIGHT" val="2"/>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TYPE" val="i"/>
  <p:tag name="KSO_WM_UNIT_SUBTYPE" val="h"/>
  <p:tag name="KSO_WM_SLIDE_BACKGROUND_TYPE" val="belt"/>
  <p:tag name="KSO_WM_SLIDE_BK_DARK_LIGHT" val="2"/>
  <p:tag name="KSO_WM_UNIT_HIGHLIGHT" val="0"/>
  <p:tag name="KSO_WM_UNIT_COMPATIBLE" val="0"/>
  <p:tag name="KSO_WM_UNIT_DIAGRAM_ISNUMVISUAL" val="0"/>
  <p:tag name="KSO_WM_UNIT_DIAGRAM_ISREFERUNIT" val="0"/>
  <p:tag name="KSO_WM_UNIT_INDEX" val="1"/>
  <p:tag name="KSO_WM_UNIT_ID" val="_18*i*1"/>
  <p:tag name="KSO_WM_UNIT_BK_DARK_LIGHT" val="2"/>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24"/>
</p:tagLst>
</file>

<file path=ppt/tags/tag14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4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5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5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5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5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5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5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6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6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6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6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7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7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3.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7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7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8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8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8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8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18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9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9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92.xml><?xml version="1.0" encoding="utf-8"?>
<p:tagLst xmlns:a="http://schemas.openxmlformats.org/drawingml/2006/main" xmlns:r="http://schemas.openxmlformats.org/officeDocument/2006/relationships" xmlns:p="http://schemas.openxmlformats.org/presentationml/2006/main">
  <p:tag name="KSO_WM_UNIT_TABLE_BEAUTIFY" val="smartTable{da96d65a-b112-4ffe-b1de-cef408ad2c10}"/>
  <p:tag name="TABLE_ENDDRAG_ORIGIN_RECT" val="292*268"/>
  <p:tag name="TABLE_ENDDRAG_RECT" val="33*125*292*268"/>
</p:tagLst>
</file>

<file path=ppt/tags/tag1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9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19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19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1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198.xml><?xml version="1.0" encoding="utf-8"?>
<p:tagLst xmlns:a="http://schemas.openxmlformats.org/drawingml/2006/main" xmlns:r="http://schemas.openxmlformats.org/officeDocument/2006/relationships" xmlns:p="http://schemas.openxmlformats.org/presentationml/2006/main">
  <p:tag name="KSO_WM_UNIT_TABLE_BEAUTIFY" val="smartTable{62d7d2df-af60-483d-8063-8882de2cb8d3}"/>
  <p:tag name="TABLE_ENDDRAG_ORIGIN_RECT" val="534*299"/>
  <p:tag name="TABLE_ENDDRAG_RECT" val="90*137*534*299"/>
</p:tagLst>
</file>

<file path=ppt/tags/tag199.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0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201.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2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03.xml><?xml version="1.0" encoding="utf-8"?>
<p:tagLst xmlns:a="http://schemas.openxmlformats.org/drawingml/2006/main" xmlns:r="http://schemas.openxmlformats.org/officeDocument/2006/relationships" xmlns:p="http://schemas.openxmlformats.org/presentationml/2006/main">
  <p:tag name="KSO_WM_UNIT_TABLE_BEAUTIFY" val="smartTable{7e673ae6-de3d-4921-bf0d-60c528766923}"/>
</p:tagLst>
</file>

<file path=ppt/tags/tag204.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0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206.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2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08.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09.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210.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211.xml><?xml version="1.0" encoding="utf-8"?>
<p:tagLst xmlns:a="http://schemas.openxmlformats.org/drawingml/2006/main" xmlns:r="http://schemas.openxmlformats.org/officeDocument/2006/relationships" xmlns:p="http://schemas.openxmlformats.org/presentationml/2006/main">
  <p:tag name="KSO_WM_UNIT_TABLE_BEAUTIFY" val="smartTable{c902822e-ab99-4b13-84ad-11892e3a0668}"/>
  <p:tag name="TABLE_ENDDRAG_ORIGIN_RECT" val="524*101"/>
  <p:tag name="TABLE_ENDDRAG_RECT" val="54*182*524*101"/>
</p:tagLst>
</file>

<file path=ppt/tags/tag2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1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7.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8.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1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21.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22.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23.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24.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25.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26.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Lst>
</file>

<file path=ppt/tags/tag22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29.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0.xml><?xml version="1.0" encoding="utf-8"?>
<p:tagLst xmlns:a="http://schemas.openxmlformats.org/drawingml/2006/main" xmlns:r="http://schemas.openxmlformats.org/officeDocument/2006/relationships" xmlns:p="http://schemas.openxmlformats.org/presentationml/2006/main">
  <p:tag name="KSO_WM_UNIT_LINE_FORE_SCHEMECOLOR_INDEX_BRIGHTNESS" val="0"/>
  <p:tag name="KSO_WM_UNIT_LINE_FORE_SCHEMECOLOR_INDEX" val="13"/>
  <p:tag name="KSO_WM_UNIT_LINE_FILL_TYPE" val="2"/>
  <p:tag name="KSO_WM_UNIT_TEXT_FILL_FORE_SCHEMECOLOR_INDEX_BRIGHTNESS" val="0"/>
  <p:tag name="KSO_WM_UNIT_TEXT_FILL_FORE_SCHEMECOLOR_INDEX" val="13"/>
  <p:tag name="KSO_WM_UNIT_TEXT_FILL_TYPE" val="1"/>
</p:tagLst>
</file>

<file path=ppt/tags/tag231.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3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23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234.xml><?xml version="1.0" encoding="utf-8"?>
<p:tagLst xmlns:a="http://schemas.openxmlformats.org/drawingml/2006/main" xmlns:r="http://schemas.openxmlformats.org/officeDocument/2006/relationships" xmlns:p="http://schemas.openxmlformats.org/presentationml/2006/main">
  <p:tag name="KSO_WM_UNIT_TABLE_BEAUTIFY" val="smartTable{6aaa75dc-55ad-409e-9c73-17938c6d4f11}"/>
  <p:tag name="TABLE_ENDDRAG_ORIGIN_RECT" val="478*217"/>
  <p:tag name="TABLE_ENDDRAG_RECT" val="145*208*478*217"/>
</p:tagLst>
</file>

<file path=ppt/tags/tag2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36.xml><?xml version="1.0" encoding="utf-8"?>
<p:tagLst xmlns:a="http://schemas.openxmlformats.org/drawingml/2006/main" xmlns:r="http://schemas.openxmlformats.org/officeDocument/2006/relationships" xmlns:p="http://schemas.openxmlformats.org/presentationml/2006/main">
  <p:tag name="KSO_WM_SLIDE_BK_DARK_LIGHT" val="2"/>
  <p:tag name="KSO_WM_SLIDE_BACKGROUND_TYPE" val="general"/>
</p:tagLst>
</file>

<file path=ppt/tags/tag237.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278261f0-b285-44bd-89b8-0352dce5ad02}"/>
  <p:tag name="KSO_WM_UNIT_TYPE" val="i"/>
</p:tagLst>
</file>

<file path=ppt/tags/tag238.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a489eaa1-107d-4c84-80fe-8454fc5d9d67}"/>
  <p:tag name="KSO_WM_UNIT_TYPE" val="i"/>
</p:tagLst>
</file>

<file path=ppt/tags/tag23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5"/>
  <p:tag name="KSO_WM_UNIT_TEXT_FILL_TYPE" val="1"/>
</p:tagLst>
</file>

<file path=ppt/tags/tag240.xml><?xml version="1.0" encoding="utf-8"?>
<p:tagLst xmlns:a="http://schemas.openxmlformats.org/drawingml/2006/main" xmlns:r="http://schemas.openxmlformats.org/officeDocument/2006/relationships" xmlns:p="http://schemas.openxmlformats.org/presentationml/2006/main">
  <p:tag name="KSO_WM_UNIT_TABLE_BEAUTIFY" val="smartTable{abba1fa7-1710-47bd-a259-66af933fbc60}"/>
  <p:tag name="TABLE_ENDDRAG_ORIGIN_RECT" val="572*310"/>
  <p:tag name="TABLE_ENDDRAG_RECT" val="91*156*572*310"/>
</p:tagLst>
</file>

<file path=ppt/tags/tag2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24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49.xml><?xml version="1.0" encoding="utf-8"?>
<p:tagLst xmlns:a="http://schemas.openxmlformats.org/drawingml/2006/main" xmlns:r="http://schemas.openxmlformats.org/officeDocument/2006/relationships" xmlns:p="http://schemas.openxmlformats.org/presentationml/2006/main">
  <p:tag name="KSO_WM_UNIT_TABLE_BEAUTIFY" val="smartTable{866d6066-0002-42cf-a725-09268deabdb8}"/>
  <p:tag name="TABLE_ENDDRAG_ORIGIN_RECT" val="392*76"/>
  <p:tag name="TABLE_ENDDRAG_RECT" val="161*366*392*76"/>
</p:tagLst>
</file>

<file path=ppt/tags/tag25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5"/>
  <p:tag name="KSO_WM_UNIT_TEXT_FILL_TYPE" val="1"/>
</p:tagLst>
</file>

<file path=ppt/tags/tag25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5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2"/>
  <p:tag name="KSO_WM_UNIT_FILL_TYPE" val="1"/>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
  <p:tag name="KSO_WM_UNIT_TEXT_FILL_TYPE" val="1"/>
</p:tagLst>
</file>

<file path=ppt/tags/tag25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2"/>
  <p:tag name="KSO_WM_UNIT_FILL_TYPE" val="1"/>
  <p:tag name="KSO_WM_UNIT_LINE_FORE_SCHEMECOLOR_INDEX_BRIGHTNESS" val="0"/>
  <p:tag name="KSO_WM_UNIT_LINE_FORE_SCHEMECOLOR_INDEX" val="9"/>
  <p:tag name="KSO_WM_UNIT_LINE_FILL_TYPE" val="2"/>
  <p:tag name="KSO_WM_UNIT_TEXT_FILL_FORE_SCHEMECOLOR_INDEX_BRIGHTNESS" val="0"/>
  <p:tag name="KSO_WM_UNIT_TEXT_FILL_FORE_SCHEMECOLOR_INDEX" val="1"/>
  <p:tag name="KSO_WM_UNIT_TEXT_FILL_TYPE" val="1"/>
</p:tagLst>
</file>

<file path=ppt/tags/tag25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
  <p:tag name="KSO_WM_UNIT_TEXT_FILL_TYPE" val="1"/>
</p:tagLst>
</file>

<file path=ppt/tags/tag25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6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2.xml><?xml version="1.0" encoding="utf-8"?>
<p:tagLst xmlns:a="http://schemas.openxmlformats.org/drawingml/2006/main" xmlns:r="http://schemas.openxmlformats.org/officeDocument/2006/relationships" xmlns:p="http://schemas.openxmlformats.org/presentationml/2006/main">
  <p:tag name="KSO_WM_UNIT_TABLE_BEAUTIFY" val="smartTable{9695d23e-9557-4ef1-a26c-9d9e64cabfe9}"/>
</p:tagLst>
</file>

<file path=ppt/tags/tag27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7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6.xml><?xml version="1.0" encoding="utf-8"?>
<p:tagLst xmlns:a="http://schemas.openxmlformats.org/drawingml/2006/main" xmlns:r="http://schemas.openxmlformats.org/officeDocument/2006/relationships" xmlns:p="http://schemas.openxmlformats.org/presentationml/2006/main">
  <p:tag name="KSO_WM_UNIT_FILL_FORE_SCHEMECOLOR_INDEX_BRIGHTNESS" val="-0.75"/>
  <p:tag name="KSO_WM_UNIT_FILL_FORE_SCHEMECOLOR_INDEX" val="10"/>
  <p:tag name="KSO_WM_UNIT_FILL_TYPE" val="1"/>
</p:tagLst>
</file>

<file path=ppt/tags/tag28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8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299.xml><?xml version="1.0" encoding="utf-8"?>
<p:tagLst xmlns:a="http://schemas.openxmlformats.org/drawingml/2006/main" xmlns:r="http://schemas.openxmlformats.org/officeDocument/2006/relationships" xmlns:p="http://schemas.openxmlformats.org/presentationml/2006/main">
  <p:tag name="KSO_WM_UNIT_TABLE_BEAUTIFY" val="smartTable{f5eae477-a555-4302-88b6-5563c6770a68}"/>
  <p:tag name="TABLE_ENDDRAG_ORIGIN_RECT" val="236*225"/>
  <p:tag name="TABLE_ENDDRAG_RECT" val="440*189*236*225"/>
</p:tagLst>
</file>

<file path=ppt/tags/tag30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1.xml><?xml version="1.0" encoding="utf-8"?>
<p:tagLst xmlns:a="http://schemas.openxmlformats.org/drawingml/2006/main" xmlns:r="http://schemas.openxmlformats.org/officeDocument/2006/relationships" xmlns:p="http://schemas.openxmlformats.org/presentationml/2006/main">
  <p:tag name="KSO_WM_UNIT_TABLE_BEAUTIFY" val="smartTable{46802af1-b314-42c3-978e-954d1fc351be}"/>
  <p:tag name="TABLE_ENDDRAG_ORIGIN_RECT" val="352*226"/>
  <p:tag name="TABLE_ENDDRAG_RECT" val="47*189*352*226"/>
</p:tagLst>
</file>

<file path=ppt/tags/tag30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5.xml><?xml version="1.0" encoding="utf-8"?>
<p:tagLst xmlns:a="http://schemas.openxmlformats.org/drawingml/2006/main" xmlns:r="http://schemas.openxmlformats.org/officeDocument/2006/relationships" xmlns:p="http://schemas.openxmlformats.org/presentationml/2006/main">
  <p:tag name="KSO_WM_UNIT_TABLE_BEAUTIFY" val="smartTable{7ffa5bbc-04d6-4589-a98f-aff27027c959}"/>
  <p:tag name="TABLE_ENDDRAG_ORIGIN_RECT" val="301*221"/>
  <p:tag name="TABLE_ENDDRAG_RECT" val="411*190*301*221"/>
</p:tagLst>
</file>

<file path=ppt/tags/tag30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
  <p:tag name="KSO_WM_UNIT_TEXT_FILL_FORE_SCHEMECOLOR_INDEX" val="13"/>
  <p:tag name="KSO_WM_UNIT_TEXT_FILL_TYPE" val="1"/>
</p:tagLst>
</file>

<file path=ppt/tags/tag3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4.xml><?xml version="1.0" encoding="utf-8"?>
<p:tagLst xmlns:a="http://schemas.openxmlformats.org/drawingml/2006/main" xmlns:r="http://schemas.openxmlformats.org/officeDocument/2006/relationships" xmlns:p="http://schemas.openxmlformats.org/presentationml/2006/main">
  <p:tag name="KSO_WM_UNIT_TABLE_BEAUTIFY" val="smartTable{8b9282f5-6321-474d-b449-2fa9a96c8977}"/>
  <p:tag name="TABLE_ENDDRAG_ORIGIN_RECT" val="630*104"/>
  <p:tag name="TABLE_ENDDRAG_RECT" val="45*377*630*104"/>
</p:tagLst>
</file>

<file path=ppt/tags/tag3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7.xml><?xml version="1.0" encoding="utf-8"?>
<p:tagLst xmlns:a="http://schemas.openxmlformats.org/drawingml/2006/main" xmlns:r="http://schemas.openxmlformats.org/officeDocument/2006/relationships" xmlns:p="http://schemas.openxmlformats.org/presentationml/2006/main">
  <p:tag name="KSO_WM_UNIT_TABLE_BEAUTIFY" val="smartTable{971358cd-5113-47ca-9b71-1ee6e8609b87}"/>
  <p:tag name="TABLE_ENDDRAG_ORIGIN_RECT" val="630*119"/>
  <p:tag name="TABLE_ENDDRAG_RECT" val="42*365*630*119"/>
</p:tagLst>
</file>

<file path=ppt/tags/tag3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4.xml><?xml version="1.0" encoding="utf-8"?>
<p:tagLst xmlns:a="http://schemas.openxmlformats.org/drawingml/2006/main" xmlns:r="http://schemas.openxmlformats.org/officeDocument/2006/relationships" xmlns:p="http://schemas.openxmlformats.org/presentationml/2006/main">
  <p:tag name="KSO_WM_UNIT_TABLE_BEAUTIFY" val="smartTable{79c0e6e2-d61f-40b0-8d7d-ac949ac2ad30}"/>
  <p:tag name="TABLE_ENDDRAG_ORIGIN_RECT" val="630*123"/>
  <p:tag name="TABLE_ENDDRAG_RECT" val="45*358*630*123"/>
</p:tagLst>
</file>

<file path=ppt/tags/tag3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8.xml><?xml version="1.0" encoding="utf-8"?>
<p:tagLst xmlns:a="http://schemas.openxmlformats.org/drawingml/2006/main" xmlns:r="http://schemas.openxmlformats.org/officeDocument/2006/relationships" xmlns:p="http://schemas.openxmlformats.org/presentationml/2006/main">
  <p:tag name="KSO_WM_UNIT_TABLE_BEAUTIFY" val="smartTable{c19003a5-197c-4061-9b0c-10121ca6afe8}"/>
  <p:tag name="TABLE_ENDDRAG_ORIGIN_RECT" val="630*163"/>
  <p:tag name="TABLE_ENDDRAG_RECT" val="42*319*630*163"/>
</p:tagLst>
</file>

<file path=ppt/tags/tag3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9.xml><?xml version="1.0" encoding="utf-8"?>
<p:tagLst xmlns:a="http://schemas.openxmlformats.org/drawingml/2006/main" xmlns:r="http://schemas.openxmlformats.org/officeDocument/2006/relationships" xmlns:p="http://schemas.openxmlformats.org/presentationml/2006/main">
  <p:tag name="KSO_WM_UNIT_TABLE_BEAUTIFY" val="smartTable{2eb8527f-d87a-4196-82ba-fd589c2e381c}"/>
  <p:tag name="TABLE_ENDDRAG_ORIGIN_RECT" val="685*108"/>
  <p:tag name="TABLE_ENDDRAG_RECT" val="18*382*685*108"/>
</p:tagLst>
</file>

<file path=ppt/tags/tag3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7.xml><?xml version="1.0" encoding="utf-8"?>
<p:tagLst xmlns:a="http://schemas.openxmlformats.org/drawingml/2006/main" xmlns:r="http://schemas.openxmlformats.org/officeDocument/2006/relationships" xmlns:p="http://schemas.openxmlformats.org/presentationml/2006/main">
  <p:tag name="KSO_WM_UNIT_TABLE_BEAUTIFY" val="smartTable{14c7ddff-a009-45bf-9d82-70f6ffbf5a2a}"/>
  <p:tag name="TABLE_ENDDRAG_ORIGIN_RECT" val="550*126"/>
  <p:tag name="TABLE_ENDDRAG_RECT" val="90*334*550*126"/>
</p:tagLst>
</file>

<file path=ppt/tags/tag3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3.xml><?xml version="1.0" encoding="utf-8"?>
<p:tagLst xmlns:a="http://schemas.openxmlformats.org/drawingml/2006/main" xmlns:r="http://schemas.openxmlformats.org/officeDocument/2006/relationships" xmlns:p="http://schemas.openxmlformats.org/presentationml/2006/main">
  <p:tag name="KSO_WM_SLIDE_ID" val="custom20204367_38"/>
  <p:tag name="KSO_WM_TEMPLATE_SUBCATEGORY" val="0"/>
  <p:tag name="KSO_WM_TEMPLATE_MASTER_TYPE" val="1"/>
  <p:tag name="KSO_WM_TEMPLATE_COLOR_TYPE" val="1"/>
  <p:tag name="KSO_WM_SLIDE_TYPE" val="endPage"/>
  <p:tag name="KSO_WM_SLIDE_SUBTYPE" val="pureTxt"/>
  <p:tag name="KSO_WM_SLIDE_ITEM_CNT" val="0"/>
  <p:tag name="KSO_WM_SLIDE_INDEX" val="38"/>
  <p:tag name="KSO_WM_TAG_VERSION" val="1.0"/>
  <p:tag name="KSO_WM_BEAUTIFY_FLAG" val="#wm#"/>
  <p:tag name="KSO_WM_TEMPLATE_CATEGORY" val="custom"/>
  <p:tag name="KSO_WM_TEMPLATE_INDEX" val="20204367"/>
  <p:tag name="KSO_WM_SLIDE_LAYOUT" val="a_b"/>
  <p:tag name="KSO_WM_SLIDE_LAYOUT_CNT" val="1_1"/>
</p:tagLst>
</file>

<file path=ppt/tags/tag40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1"/>
  <p:tag name="KSO_WM_UNIT_VALUE" val="5"/>
  <p:tag name="KSO_WM_UNIT_HIGHLIGHT" val="0"/>
  <p:tag name="KSO_WM_UNIT_COMPATIBLE" val="0"/>
  <p:tag name="KSO_WM_UNIT_DIAGRAM_ISNUMVISUAL" val="0"/>
  <p:tag name="KSO_WM_UNIT_DIAGRAM_ISREFERUNIT" val="0"/>
  <p:tag name="KSO_WM_UNIT_TYPE" val="a"/>
  <p:tag name="KSO_WM_UNIT_INDEX" val="1"/>
  <p:tag name="KSO_WM_UNIT_LAYERLEVEL" val="1"/>
  <p:tag name="KSO_WM_TAG_VERSION" val="1.0"/>
  <p:tag name="KSO_WM_BEAUTIFY_FLAG" val="#wm#"/>
  <p:tag name="KSO_WM_UNIT_PRESET_TEXT" val="谢谢聆听"/>
  <p:tag name="KSO_WM_TEMPLATE_CATEGORY" val="custom"/>
  <p:tag name="KSO_WM_TEMPLATE_INDEX" val="20204367"/>
  <p:tag name="KSO_WM_UNIT_ID" val="custom20204367_38*a*1"/>
  <p:tag name="KSO_WM_UNIT_ISNUMDGMTITLE" val="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F2F9FC"/>
      </a:dk2>
      <a:lt2>
        <a:srgbClr val="FFFFFF"/>
      </a:lt2>
      <a:accent1>
        <a:srgbClr val="2675BC"/>
      </a:accent1>
      <a:accent2>
        <a:srgbClr val="2780B7"/>
      </a:accent2>
      <a:accent3>
        <a:srgbClr val="2F8581"/>
      </a:accent3>
      <a:accent4>
        <a:srgbClr val="308854"/>
      </a:accent4>
      <a:accent5>
        <a:srgbClr val="B4B418"/>
      </a:accent5>
      <a:accent6>
        <a:srgbClr val="B79A1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6677</Words>
  <Application>Microsoft Office PowerPoint</Application>
  <PresentationFormat>宽屏</PresentationFormat>
  <Paragraphs>1409</Paragraphs>
  <Slides>112</Slides>
  <Notes>15</Notes>
  <HiddenSlides>0</HiddenSlides>
  <MMClips>0</MMClips>
  <ScaleCrop>false</ScaleCrop>
  <HeadingPairs>
    <vt:vector size="8" baseType="variant">
      <vt:variant>
        <vt:lpstr>已用的字体</vt:lpstr>
      </vt:variant>
      <vt:variant>
        <vt:i4>18</vt:i4>
      </vt:variant>
      <vt:variant>
        <vt:lpstr>主题</vt:lpstr>
      </vt:variant>
      <vt:variant>
        <vt:i4>2</vt:i4>
      </vt:variant>
      <vt:variant>
        <vt:lpstr>嵌入 OLE 服务器</vt:lpstr>
      </vt:variant>
      <vt:variant>
        <vt:i4>3</vt:i4>
      </vt:variant>
      <vt:variant>
        <vt:lpstr>幻灯片标题</vt:lpstr>
      </vt:variant>
      <vt:variant>
        <vt:i4>112</vt:i4>
      </vt:variant>
    </vt:vector>
  </HeadingPairs>
  <TitlesOfParts>
    <vt:vector size="135" baseType="lpstr">
      <vt:lpstr>等线</vt:lpstr>
      <vt:lpstr>等线 Light</vt:lpstr>
      <vt:lpstr>汉仪黑方简</vt:lpstr>
      <vt:lpstr>汉仪文黑-85W</vt:lpstr>
      <vt:lpstr>黑体</vt:lpstr>
      <vt:lpstr>隶书</vt:lpstr>
      <vt:lpstr>思源黑体</vt:lpstr>
      <vt:lpstr>宋体</vt:lpstr>
      <vt:lpstr>微软雅黑</vt:lpstr>
      <vt:lpstr>微软雅黑</vt:lpstr>
      <vt:lpstr>Arial</vt:lpstr>
      <vt:lpstr>Calibri</vt:lpstr>
      <vt:lpstr>Comic Sans MS</vt:lpstr>
      <vt:lpstr>Lucida Sans Unicode</vt:lpstr>
      <vt:lpstr>Tahoma</vt:lpstr>
      <vt:lpstr>Times New Roman</vt:lpstr>
      <vt:lpstr>Verdana</vt:lpstr>
      <vt:lpstr>Wingdings</vt:lpstr>
      <vt:lpstr>Office 主题​​</vt:lpstr>
      <vt:lpstr>1_Office 主题​​</vt:lpstr>
      <vt:lpstr>Microsoft Word 97 - 2003 Document</vt:lpstr>
      <vt:lpstr>Visio</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因果图法案例</vt:lpstr>
      <vt:lpstr>PowerPoint 演示文稿</vt:lpstr>
      <vt:lpstr>因果图法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因果图法</vt:lpstr>
      <vt:lpstr>因果图法</vt:lpstr>
      <vt:lpstr>3.3.3 Pairwise方法</vt:lpstr>
      <vt:lpstr>Pairwise具体示例</vt:lpstr>
      <vt:lpstr>Pairwise处理更复杂的情况</vt:lpstr>
      <vt:lpstr>Pairwise方法工具</vt:lpstr>
      <vt:lpstr>Pairwise工具推荐:ACTS</vt:lpstr>
      <vt:lpstr>3.3.4 正交实验法</vt:lpstr>
      <vt:lpstr>3.3.4 正交实验法</vt:lpstr>
      <vt:lpstr>为什么使用正交测试法</vt:lpstr>
      <vt:lpstr>正交表的结构</vt:lpstr>
      <vt:lpstr>基于正交表的测试</vt:lpstr>
      <vt:lpstr>基于正交表的测试</vt:lpstr>
      <vt:lpstr>基于正交表的测试</vt:lpstr>
      <vt:lpstr>正交表的类型</vt:lpstr>
      <vt:lpstr>基于正交表的测试</vt:lpstr>
      <vt:lpstr>基于正交表的测试</vt:lpstr>
      <vt:lpstr>基于正交表的测试</vt:lpstr>
      <vt:lpstr>基于正交表的测试</vt:lpstr>
      <vt:lpstr>基于正交表的测试</vt:lpstr>
      <vt:lpstr>基于正交表的测试</vt:lpstr>
      <vt:lpstr>基于正交表的测试</vt:lpstr>
      <vt:lpstr>案例1：客户查询功能</vt:lpstr>
      <vt:lpstr>案例1：客户查询功能</vt:lpstr>
      <vt:lpstr>案例1：客户查询功能</vt:lpstr>
      <vt:lpstr>PowerPoint 演示文稿</vt:lpstr>
      <vt:lpstr>PowerPoint 演示文稿</vt:lpstr>
      <vt:lpstr>PowerPoint 演示文稿</vt:lpstr>
      <vt:lpstr>正交表生成工具</vt:lpstr>
      <vt:lpstr>小结</vt:lpstr>
      <vt:lpstr>PowerPoint 演示文稿</vt:lpstr>
      <vt:lpstr>结构化测试方法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对判定的测试</vt:lpstr>
      <vt:lpstr>对路径的测试</vt:lpstr>
      <vt:lpstr>对路径的测试——基本路径测试法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对路径的测试</vt:lpstr>
      <vt:lpstr>课堂练习</vt:lpstr>
      <vt:lpstr>PowerPoint 演示文稿</vt:lpstr>
      <vt:lpstr>课堂练习</vt:lpstr>
      <vt:lpstr>课堂练习</vt:lpstr>
      <vt:lpstr>课堂练习</vt:lpstr>
      <vt:lpstr>课堂练习</vt:lpstr>
      <vt:lpstr>谢谢聆听</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东栋 冯</dc:creator>
  <cp:lastModifiedBy>东栋 冯</cp:lastModifiedBy>
  <cp:revision>8</cp:revision>
  <dcterms:created xsi:type="dcterms:W3CDTF">2024-03-26T15:08:31Z</dcterms:created>
  <dcterms:modified xsi:type="dcterms:W3CDTF">2024-03-26T16:46:49Z</dcterms:modified>
</cp:coreProperties>
</file>