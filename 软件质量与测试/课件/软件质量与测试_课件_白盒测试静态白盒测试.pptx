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heme/theme2.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431" r:id="rId2"/>
    <p:sldId id="464" r:id="rId3"/>
    <p:sldId id="466" r:id="rId4"/>
    <p:sldId id="467" r:id="rId5"/>
    <p:sldId id="468" r:id="rId6"/>
    <p:sldId id="469" r:id="rId7"/>
    <p:sldId id="470" r:id="rId8"/>
    <p:sldId id="471" r:id="rId9"/>
    <p:sldId id="472" r:id="rId10"/>
    <p:sldId id="473" r:id="rId11"/>
    <p:sldId id="474" r:id="rId12"/>
    <p:sldId id="475" r:id="rId13"/>
    <p:sldId id="476" r:id="rId14"/>
    <p:sldId id="432" r:id="rId15"/>
    <p:sldId id="478" r:id="rId16"/>
    <p:sldId id="487" r:id="rId17"/>
    <p:sldId id="488" r:id="rId18"/>
    <p:sldId id="517" r:id="rId19"/>
    <p:sldId id="489" r:id="rId20"/>
    <p:sldId id="491" r:id="rId21"/>
    <p:sldId id="492" r:id="rId22"/>
    <p:sldId id="493" r:id="rId23"/>
    <p:sldId id="494" r:id="rId24"/>
    <p:sldId id="495" r:id="rId25"/>
    <p:sldId id="496" r:id="rId26"/>
    <p:sldId id="497" r:id="rId27"/>
    <p:sldId id="498" r:id="rId28"/>
    <p:sldId id="499" r:id="rId29"/>
    <p:sldId id="500" r:id="rId30"/>
    <p:sldId id="501" r:id="rId31"/>
    <p:sldId id="502" r:id="rId32"/>
    <p:sldId id="503" r:id="rId33"/>
    <p:sldId id="504" r:id="rId34"/>
    <p:sldId id="505" r:id="rId35"/>
    <p:sldId id="506" r:id="rId36"/>
    <p:sldId id="507" r:id="rId37"/>
    <p:sldId id="508" r:id="rId38"/>
    <p:sldId id="509" r:id="rId39"/>
    <p:sldId id="510" r:id="rId40"/>
    <p:sldId id="511" r:id="rId41"/>
    <p:sldId id="512" r:id="rId42"/>
    <p:sldId id="513" r:id="rId43"/>
    <p:sldId id="514" r:id="rId44"/>
    <p:sldId id="515" r:id="rId45"/>
    <p:sldId id="516" r:id="rId46"/>
    <p:sldId id="480" r:id="rId47"/>
    <p:sldId id="482" r:id="rId48"/>
    <p:sldId id="484" r:id="rId49"/>
    <p:sldId id="485" r:id="rId50"/>
    <p:sldId id="486" r:id="rId51"/>
    <p:sldId id="369" r:id="rId52"/>
    <p:sldId id="370" r:id="rId53"/>
    <p:sldId id="372" r:id="rId54"/>
    <p:sldId id="373" r:id="rId55"/>
    <p:sldId id="444" r:id="rId56"/>
    <p:sldId id="445" r:id="rId57"/>
    <p:sldId id="446" r:id="rId58"/>
    <p:sldId id="375" r:id="rId59"/>
    <p:sldId id="436" r:id="rId60"/>
    <p:sldId id="437" r:id="rId61"/>
    <p:sldId id="518" r:id="rId62"/>
    <p:sldId id="438" r:id="rId63"/>
    <p:sldId id="439" r:id="rId64"/>
    <p:sldId id="440" r:id="rId65"/>
    <p:sldId id="441" r:id="rId66"/>
    <p:sldId id="442" r:id="rId67"/>
    <p:sldId id="519" r:id="rId68"/>
    <p:sldId id="520" r:id="rId69"/>
    <p:sldId id="521" r:id="rId70"/>
    <p:sldId id="443" r:id="rId71"/>
    <p:sldId id="390" r:id="rId72"/>
    <p:sldId id="391" r:id="rId73"/>
    <p:sldId id="465" r:id="rId74"/>
  </p:sldIdLst>
  <p:sldSz cx="9144000" cy="6858000" type="screen4x3"/>
  <p:notesSz cx="6858000" cy="9144000"/>
  <p:custDataLst>
    <p:tags r:id="rId7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6"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A" lastIdx="0" clrIdx="1"/>
  <p:cmAuthor id="3" name="HUAWEI"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498" y="67"/>
      </p:cViewPr>
      <p:guideLst>
        <p:guide orient="horz" pos="210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8" name="Rectangle 4"/>
          <p:cNvSpPr>
            <a:spLocks noGrp="1" noRot="1" noChangeAspect="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cmpd="sng">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BAEF20-8040-4861-AE3B-16115F61F4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650875" y="406400"/>
            <a:ext cx="5556250" cy="4167188"/>
          </a:xfrm>
        </p:spPr>
      </p:sp>
      <p:sp>
        <p:nvSpPr>
          <p:cNvPr id="7168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image" Target="file:///C:\Users\1V994W2\PycharmProjects\PPT_Background_Generation/pic_temp/pic_sup.pn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4.png"/><Relationship Id="rId5" Type="http://schemas.openxmlformats.org/officeDocument/2006/relationships/tags" Target="../tags/tag1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7.xml"/><Relationship Id="rId9"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24.xml"/><Relationship Id="rId9"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4.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2.xml"/><Relationship Id="rId10" Type="http://schemas.openxmlformats.org/officeDocument/2006/relationships/image" Target="../media/image3.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1.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3.png"/><Relationship Id="rId5" Type="http://schemas.openxmlformats.org/officeDocument/2006/relationships/tags" Target="../tags/tag5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49.xml"/><Relationship Id="rId9"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4.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60.xml"/><Relationship Id="rId10" Type="http://schemas.openxmlformats.org/officeDocument/2006/relationships/image" Target="../media/image3.png"/><Relationship Id="rId4" Type="http://schemas.openxmlformats.org/officeDocument/2006/relationships/tags" Target="../tags/tag59.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4.png"/><Relationship Id="rId5" Type="http://schemas.openxmlformats.org/officeDocument/2006/relationships/tags" Target="../tags/tag6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7.xml"/><Relationship Id="rId9"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5.xml"/><Relationship Id="rId10" Type="http://schemas.openxmlformats.org/officeDocument/2006/relationships/image" Target="../media/image4.png"/><Relationship Id="rId4" Type="http://schemas.openxmlformats.org/officeDocument/2006/relationships/tags" Target="../tags/tag74.xml"/><Relationship Id="rId9" Type="http://schemas.openxmlformats.org/officeDocument/2006/relationships/image" Target="file:///C:\Users\1V994W2\PycharmProjects\PPT_Background_Generation/pic_temp/0_pic_quater_right_down.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9.xml"/><Relationship Id="rId7"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10" Type="http://schemas.openxmlformats.org/officeDocument/2006/relationships/image" Target="../media/image1.png"/><Relationship Id="rId4" Type="http://schemas.openxmlformats.org/officeDocument/2006/relationships/tags" Target="../tags/tag80.xml"/><Relationship Id="rId9" Type="http://schemas.openxmlformats.org/officeDocument/2006/relationships/image" Target="file:///C:\Users\1V994W2\PycharmProjects\PPT_Background_Generation/pic_temp/pic_sup.png" TargetMode="Externa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5.xml"/><Relationship Id="rId7" Type="http://schemas.openxmlformats.org/officeDocument/2006/relationships/slideMaster" Target="../slideMasters/slideMaster1.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7.xml"/><Relationship Id="rId10" Type="http://schemas.openxmlformats.org/officeDocument/2006/relationships/image" Target="../media/image4.png"/><Relationship Id="rId4" Type="http://schemas.openxmlformats.org/officeDocument/2006/relationships/tags" Target="../tags/tag86.xml"/><Relationship Id="rId9" Type="http://schemas.openxmlformats.org/officeDocument/2006/relationships/image" Target="file:///C:\Users\1V994W2\PycharmProjects\PPT_Background_Generation/pic_temp/0_pic_quater_right_down.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4.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3.xml"/><Relationship Id="rId10" Type="http://schemas.openxmlformats.org/officeDocument/2006/relationships/image" Target="../media/image3.png"/><Relationship Id="rId4" Type="http://schemas.openxmlformats.org/officeDocument/2006/relationships/tags" Target="../tags/tag92.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1.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1.xml"/><Relationship Id="rId10" Type="http://schemas.openxmlformats.org/officeDocument/2006/relationships/image" Target="../media/image3.png"/><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4.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3.png"/><Relationship Id="rId5" Type="http://schemas.openxmlformats.org/officeDocument/2006/relationships/tags" Target="../tags/tag109.xml"/><Relationship Id="rId10" Type="http://schemas.openxmlformats.org/officeDocument/2006/relationships/slideMaster" Target="../slideMasters/slideMaster1.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file:///C:\Users\1V994W2\PycharmProjects\PPT_Background_Generation/pic_temp/1_pic_quater_left_down.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4.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3.png"/><Relationship Id="rId5" Type="http://schemas.openxmlformats.org/officeDocument/2006/relationships/tags" Target="../tags/tag118.xml"/><Relationship Id="rId15" Type="http://schemas.openxmlformats.org/officeDocument/2006/relationships/image" Target="../media/image1.png"/><Relationship Id="rId10"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file:///C:\Users\1V994W2\PycharmProjects\PPT_Background_Generation/pic_temp/1_pic_quater_left_down.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3.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slideMaster" Target="../slideMasters/slideMaster1.xml"/><Relationship Id="rId17" Type="http://schemas.openxmlformats.org/officeDocument/2006/relationships/image" Target="../media/image1.png"/><Relationship Id="rId2" Type="http://schemas.openxmlformats.org/officeDocument/2006/relationships/tags" Target="../tags/tag12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4.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file:///C:\Users\1V994W2\PycharmProjects\PPT_Background_Generation/pic_temp/0_pic_quater_right_down.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4.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8.xml"/><Relationship Id="rId10" Type="http://schemas.openxmlformats.org/officeDocument/2006/relationships/image" Target="../media/image3.png"/><Relationship Id="rId4" Type="http://schemas.openxmlformats.org/officeDocument/2006/relationships/tags" Target="../tags/tag137.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167732"/>
            <a:ext cx="47625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664585"/>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285" y="1287780"/>
            <a:ext cx="8139430"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807653"/>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25219"/>
            <a:ext cx="4325779"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1866979"/>
            <a:ext cx="4325779"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内容占位符 2"/>
          <p:cNvSpPr>
            <a:spLocks noGrp="1"/>
          </p:cNvSpPr>
          <p:nvPr>
            <p:ph sz="half" idx="1"/>
            <p:custDataLst>
              <p:tags r:id="rId3"/>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4679158" y="1626121"/>
            <a:ext cx="3962432"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540068"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2" y="0"/>
            <a:ext cx="540068" cy="629227"/>
          </a:xfrm>
          <a:prstGeom prst="rect">
            <a:avLst/>
          </a:prstGeom>
        </p:spPr>
      </p:pic>
      <p:sp>
        <p:nvSpPr>
          <p:cNvPr id="3" name="文本占位符 2"/>
          <p:cNvSpPr>
            <a:spLocks noGrp="1"/>
          </p:cNvSpPr>
          <p:nvPr>
            <p:ph type="body" idx="1" hasCustomPrompt="1"/>
            <p:custDataLst>
              <p:tags r:id="rId3"/>
            </p:custDataLst>
          </p:nvPr>
        </p:nvSpPr>
        <p:spPr>
          <a:xfrm>
            <a:off x="502447" y="138621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50228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4686337" y="138621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467677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511810"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2" y="6371623"/>
            <a:ext cx="540068" cy="48637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图片占位符 2"/>
          <p:cNvSpPr>
            <a:spLocks noGrp="1"/>
          </p:cNvSpPr>
          <p:nvPr>
            <p:ph type="pic" idx="1"/>
            <p:custDataLst>
              <p:tags r:id="rId3"/>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2023/4/19</a:t>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148126"/>
            <a:ext cx="4024313"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710067"/>
            <a:ext cx="4024313"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2" y="0"/>
            <a:ext cx="540068" cy="629227"/>
          </a:xfrm>
          <a:prstGeom prst="rect">
            <a:avLst/>
          </a:prstGeom>
        </p:spPr>
      </p:pic>
      <p:sp>
        <p:nvSpPr>
          <p:cNvPr id="7" name="内容占位符 6"/>
          <p:cNvSpPr>
            <a:spLocks noGrp="1"/>
          </p:cNvSpPr>
          <p:nvPr>
            <p:ph sz="quarter" idx="13"/>
            <p:custDataLst>
              <p:tags r:id="rId4"/>
            </p:custDataLst>
          </p:nvPr>
        </p:nvSpPr>
        <p:spPr>
          <a:xfrm>
            <a:off x="659765" y="1378585"/>
            <a:ext cx="794385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2" y="0"/>
            <a:ext cx="540068" cy="48637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2" name="标题 1"/>
          <p:cNvSpPr>
            <a:spLocks noGrp="1"/>
          </p:cNvSpPr>
          <p:nvPr>
            <p:ph type="title"/>
            <p:custDataLst>
              <p:tags r:id="rId4"/>
            </p:custDataLst>
          </p:nvPr>
        </p:nvSpPr>
        <p:spPr>
          <a:xfrm>
            <a:off x="459105" y="485775"/>
            <a:ext cx="8232140"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740" y="2664460"/>
            <a:ext cx="8223885"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5"/>
            <a:ext cx="9144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390" y="1444625"/>
            <a:ext cx="8242935"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2" y="6371623"/>
            <a:ext cx="540068"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3"/>
            <a:ext cx="540068" cy="62922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975" y="980440"/>
            <a:ext cx="400685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55" y="980440"/>
            <a:ext cx="402590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763653"/>
            <a:ext cx="1215152"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0"/>
            <a:ext cx="1215152" cy="1415761"/>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5620987"/>
            <a:ext cx="9144000" cy="1171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Date Placeholder 2"/>
          <p:cNvSpPr>
            <a:spLocks noGrp="1"/>
          </p:cNvSpPr>
          <p:nvPr>
            <p:ph type="dt" sz="half" idx="10"/>
          </p:nvPr>
        </p:nvSpPr>
        <p:spPr/>
        <p:txBody>
          <a:bodyPr/>
          <a:lstStyle>
            <a:lvl1pPr algn="ctr">
              <a:defRPr sz="2135">
                <a:solidFill>
                  <a:schemeClr val="accent1">
                    <a:lumMod val="50000"/>
                  </a:schemeClr>
                </a:solidFill>
                <a:latin typeface="+mn-lt"/>
              </a:defRPr>
            </a:lvl1pPr>
          </a:lstStyle>
          <a:p>
            <a:fld id="{2FF0ACE2-4501-45AB-B004-C7F07999D2EC}" type="datetime1">
              <a:rPr lang="zh-CN" altLang="en-US" smtClean="0"/>
              <a:t>2023/4/19</a:t>
            </a:fld>
            <a:endParaRPr lang="zh-CN" altLang="en-US" dirty="0"/>
          </a:p>
        </p:txBody>
      </p:sp>
      <p:sp>
        <p:nvSpPr>
          <p:cNvPr id="4" name="Footer Placeholder 3"/>
          <p:cNvSpPr>
            <a:spLocks noGrp="1"/>
          </p:cNvSpPr>
          <p:nvPr>
            <p:ph type="ftr" sz="quarter" idx="11"/>
          </p:nvPr>
        </p:nvSpPr>
        <p:spPr>
          <a:xfrm>
            <a:off x="2383703" y="6470704"/>
            <a:ext cx="5674590" cy="274320"/>
          </a:xfrm>
        </p:spPr>
        <p:txBody>
          <a:bodyPr/>
          <a:lstStyle>
            <a:lvl1pPr algn="ctr">
              <a:defRPr sz="2135">
                <a:solidFill>
                  <a:schemeClr val="accent1">
                    <a:lumMod val="50000"/>
                  </a:schemeClr>
                </a:solidFill>
                <a:latin typeface="+mn-lt"/>
              </a:defRPr>
            </a:lvl1pPr>
          </a:lstStyle>
          <a:p>
            <a:r>
              <a:rPr lang="zh-CN" altLang="en-US" dirty="0"/>
              <a:t>软件质量与测试</a:t>
            </a:r>
          </a:p>
        </p:txBody>
      </p:sp>
      <p:sp>
        <p:nvSpPr>
          <p:cNvPr id="5" name="Slide Number Placeholder 4"/>
          <p:cNvSpPr>
            <a:spLocks noGrp="1"/>
          </p:cNvSpPr>
          <p:nvPr>
            <p:ph type="sldNum" sz="quarter" idx="12"/>
          </p:nvPr>
        </p:nvSpPr>
        <p:spPr/>
        <p:txBody>
          <a:bodyPr/>
          <a:lstStyle>
            <a:lvl1pPr algn="ctr">
              <a:defRPr sz="2135">
                <a:solidFill>
                  <a:schemeClr val="accent1">
                    <a:lumMod val="50000"/>
                  </a:schemeClr>
                </a:solidFill>
                <a:latin typeface="+mn-lt"/>
              </a:defRPr>
            </a:lvl1pPr>
          </a:lstStyle>
          <a:p>
            <a:fld id="{F528F39D-B5E5-4CA7-906C-979D5A62978D}" type="slidenum">
              <a:rPr lang="zh-CN" altLang="en-US" smtClean="0"/>
              <a:t>‹#›</a:t>
            </a:fld>
            <a:endParaRPr lang="zh-CN" altLang="en-US"/>
          </a:p>
        </p:txBody>
      </p:sp>
      <p:sp>
        <p:nvSpPr>
          <p:cNvPr id="6" name="矩形 5"/>
          <p:cNvSpPr/>
          <p:nvPr userDrawn="1"/>
        </p:nvSpPr>
        <p:spPr>
          <a:xfrm>
            <a:off x="0" y="15833"/>
            <a:ext cx="9144000" cy="18525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8" name="Straight Connector 6"/>
          <p:cNvCxnSpPr/>
          <p:nvPr userDrawn="1"/>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914400" y="1600200"/>
            <a:ext cx="7772400" cy="4530725"/>
          </a:xfrm>
        </p:spPr>
        <p:txBody>
          <a:bodyPr/>
          <a:lstStyle/>
          <a:p>
            <a:pPr lvl="0"/>
            <a:endParaRPr lang="zh-CN" altLang="en-US" noProof="0"/>
          </a:p>
        </p:txBody>
      </p:sp>
      <p:sp>
        <p:nvSpPr>
          <p:cNvPr id="4" name="Rectangle 9"/>
          <p:cNvSpPr>
            <a:spLocks noGrp="1" noChangeArrowheads="1"/>
          </p:cNvSpPr>
          <p:nvPr>
            <p:ph type="dt" sz="half" idx="10"/>
          </p:nvPr>
        </p:nvSpPr>
        <p:spPr>
          <a:xfrm>
            <a:off x="914400" y="6251575"/>
            <a:ext cx="1981200" cy="457200"/>
          </a:xfrm>
          <a:prstGeom prst="rect">
            <a:avLst/>
          </a:prstGeom>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xfrm>
            <a:off x="3352800" y="6248400"/>
            <a:ext cx="2971800" cy="457200"/>
          </a:xfrm>
          <a:prstGeom prst="rect">
            <a:avLst/>
          </a:prstGeom>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pPr>
              <a:defRPr/>
            </a:pPr>
            <a:fld id="{051B547D-3414-4B72-9F08-5FE154D8FB7A}"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502285" y="427990"/>
            <a:ext cx="8139430"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4"/>
            </p:custDataLst>
          </p:nvPr>
        </p:nvSpPr>
        <p:spPr>
          <a:xfrm>
            <a:off x="502285" y="1239520"/>
            <a:ext cx="8139430"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5"/>
            </p:custDataLst>
          </p:nvPr>
        </p:nvSpPr>
        <p:spPr>
          <a:xfrm>
            <a:off x="678222" y="6270500"/>
            <a:ext cx="2025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2023/4/19</a:t>
            </a:fld>
            <a:endParaRPr lang="zh-CN" altLang="en-US"/>
          </a:p>
        </p:txBody>
      </p:sp>
      <p:sp>
        <p:nvSpPr>
          <p:cNvPr id="5" name="页脚占位符 4"/>
          <p:cNvSpPr>
            <a:spLocks noGrp="1"/>
          </p:cNvSpPr>
          <p:nvPr>
            <p:ph type="ftr" sz="quarter" idx="3"/>
            <p:custDataLst>
              <p:tags r:id="rId26"/>
            </p:custDataLst>
          </p:nvPr>
        </p:nvSpPr>
        <p:spPr>
          <a:xfrm>
            <a:off x="3105415" y="6270500"/>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6476365" y="6270500"/>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8"/>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4.xml"/><Relationship Id="rId7" Type="http://schemas.openxmlformats.org/officeDocument/2006/relationships/notesSlide" Target="../notesSlides/notesSlide1.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20.xml"/><Relationship Id="rId11" Type="http://schemas.openxmlformats.org/officeDocument/2006/relationships/image" Target="../media/image10.png"/><Relationship Id="rId5" Type="http://schemas.openxmlformats.org/officeDocument/2006/relationships/tags" Target="../tags/tag146.xml"/><Relationship Id="rId10" Type="http://schemas.openxmlformats.org/officeDocument/2006/relationships/image" Target="../media/image9.jpeg"/><Relationship Id="rId4" Type="http://schemas.openxmlformats.org/officeDocument/2006/relationships/tags" Target="../tags/tag145.xml"/><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4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ags" Target="../tags/tag16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ags" Target="../tags/tag16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4.xml"/><Relationship Id="rId1" Type="http://schemas.openxmlformats.org/officeDocument/2006/relationships/tags" Target="../tags/tag164.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4.xml"/><Relationship Id="rId1" Type="http://schemas.openxmlformats.org/officeDocument/2006/relationships/tags" Target="../tags/tag16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6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4.xml"/><Relationship Id="rId1" Type="http://schemas.openxmlformats.org/officeDocument/2006/relationships/tags" Target="../tags/tag16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tags" Target="../tags/tag16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4.xml"/><Relationship Id="rId1" Type="http://schemas.openxmlformats.org/officeDocument/2006/relationships/tags" Target="../tags/tag169.xml"/><Relationship Id="rId4"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4.xml"/><Relationship Id="rId1" Type="http://schemas.openxmlformats.org/officeDocument/2006/relationships/tags" Target="../tags/tag170.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4.xml"/><Relationship Id="rId1" Type="http://schemas.openxmlformats.org/officeDocument/2006/relationships/tags" Target="../tags/tag17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4.xml"/><Relationship Id="rId1" Type="http://schemas.openxmlformats.org/officeDocument/2006/relationships/tags" Target="../tags/tag17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4.xml"/><Relationship Id="rId1" Type="http://schemas.openxmlformats.org/officeDocument/2006/relationships/tags" Target="../tags/tag17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4.xml"/><Relationship Id="rId1" Type="http://schemas.openxmlformats.org/officeDocument/2006/relationships/tags" Target="../tags/tag17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4.xml"/><Relationship Id="rId1" Type="http://schemas.openxmlformats.org/officeDocument/2006/relationships/tags" Target="../tags/tag175.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4.xml"/><Relationship Id="rId1" Type="http://schemas.openxmlformats.org/officeDocument/2006/relationships/tags" Target="../tags/tag176.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4.xml"/><Relationship Id="rId1" Type="http://schemas.openxmlformats.org/officeDocument/2006/relationships/tags" Target="../tags/tag177.xml"/><Relationship Id="rId5" Type="http://schemas.openxmlformats.org/officeDocument/2006/relationships/image" Target="../media/image35.jpe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4.xml"/><Relationship Id="rId1" Type="http://schemas.openxmlformats.org/officeDocument/2006/relationships/tags" Target="../tags/tag178.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4.xml"/><Relationship Id="rId1" Type="http://schemas.openxmlformats.org/officeDocument/2006/relationships/tags" Target="../tags/tag179.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4.xml"/><Relationship Id="rId1" Type="http://schemas.openxmlformats.org/officeDocument/2006/relationships/tags" Target="../tags/tag180.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4.xml"/><Relationship Id="rId1" Type="http://schemas.openxmlformats.org/officeDocument/2006/relationships/tags" Target="../tags/tag18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4.xml"/><Relationship Id="rId1" Type="http://schemas.openxmlformats.org/officeDocument/2006/relationships/tags" Target="../tags/tag18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183.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4.xml"/><Relationship Id="rId1" Type="http://schemas.openxmlformats.org/officeDocument/2006/relationships/tags" Target="../tags/tag184.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4.xml"/><Relationship Id="rId1" Type="http://schemas.openxmlformats.org/officeDocument/2006/relationships/tags" Target="../tags/tag185.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4.xml"/><Relationship Id="rId1" Type="http://schemas.openxmlformats.org/officeDocument/2006/relationships/tags" Target="../tags/tag186.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4.xml"/><Relationship Id="rId1" Type="http://schemas.openxmlformats.org/officeDocument/2006/relationships/tags" Target="../tags/tag187.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3.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4.xml"/><Relationship Id="rId1" Type="http://schemas.openxmlformats.org/officeDocument/2006/relationships/tags" Target="../tags/tag203.xml"/><Relationship Id="rId5" Type="http://schemas.openxmlformats.org/officeDocument/2006/relationships/image" Target="../media/image49.png"/><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5.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9.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212.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213.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4.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image" Target="../media/image56.GIF"/><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rotWithShape="1">
          <a:blip r:embed="rId8" cstate="print">
            <a:extLst>
              <a:ext uri="{28A0092B-C50C-407E-A947-70E740481C1C}">
                <a14:useLocalDpi xmlns:a14="http://schemas.microsoft.com/office/drawing/2010/main" val="0"/>
              </a:ext>
            </a:extLst>
          </a:blip>
          <a:srcRect l="401" r="39372"/>
          <a:stretch>
            <a:fillRect/>
          </a:stretch>
        </p:blipFill>
        <p:spPr>
          <a:xfrm>
            <a:off x="0" y="1428218"/>
            <a:ext cx="5507178" cy="4055553"/>
          </a:xfrm>
          <a:prstGeom prst="rect">
            <a:avLst/>
          </a:prstGeom>
        </p:spPr>
      </p:pic>
      <p:sp>
        <p:nvSpPr>
          <p:cNvPr id="37" name="矩形 36"/>
          <p:cNvSpPr/>
          <p:nvPr>
            <p:custDataLst>
              <p:tags r:id="rId2"/>
            </p:custDataLst>
          </p:nvPr>
        </p:nvSpPr>
        <p:spPr>
          <a:xfrm>
            <a:off x="188368" y="2187185"/>
            <a:ext cx="8955633" cy="2537621"/>
          </a:xfrm>
          <a:custGeom>
            <a:avLst/>
            <a:gdLst>
              <a:gd name="connsiteX0" fmla="*/ 0 w 11858228"/>
              <a:gd name="connsiteY0" fmla="*/ 0 h 3384376"/>
              <a:gd name="connsiteX1" fmla="*/ 11858228 w 11858228"/>
              <a:gd name="connsiteY1" fmla="*/ 0 h 3384376"/>
              <a:gd name="connsiteX2" fmla="*/ 11858228 w 11858228"/>
              <a:gd name="connsiteY2" fmla="*/ 3384376 h 3384376"/>
              <a:gd name="connsiteX3" fmla="*/ 0 w 11858228"/>
              <a:gd name="connsiteY3" fmla="*/ 3384376 h 3384376"/>
              <a:gd name="connsiteX4" fmla="*/ 0 w 11858228"/>
              <a:gd name="connsiteY4" fmla="*/ 0 h 3384376"/>
              <a:gd name="connsiteX0-1" fmla="*/ 1482278 w 13340506"/>
              <a:gd name="connsiteY0-2" fmla="*/ 423047 h 3807423"/>
              <a:gd name="connsiteX1-3" fmla="*/ 13340506 w 13340506"/>
              <a:gd name="connsiteY1-4" fmla="*/ 423047 h 3807423"/>
              <a:gd name="connsiteX2-5" fmla="*/ 13340506 w 13340506"/>
              <a:gd name="connsiteY2-6" fmla="*/ 3807423 h 3807423"/>
              <a:gd name="connsiteX3-7" fmla="*/ 1482278 w 13340506"/>
              <a:gd name="connsiteY3-8" fmla="*/ 3807423 h 3807423"/>
              <a:gd name="connsiteX4-9" fmla="*/ 1482278 w 13340506"/>
              <a:gd name="connsiteY4-10" fmla="*/ 423047 h 3807423"/>
              <a:gd name="connsiteX0-11" fmla="*/ 1514684 w 13372912"/>
              <a:gd name="connsiteY0-12" fmla="*/ 423047 h 3807423"/>
              <a:gd name="connsiteX1-13" fmla="*/ 13372912 w 13372912"/>
              <a:gd name="connsiteY1-14" fmla="*/ 423047 h 3807423"/>
              <a:gd name="connsiteX2-15" fmla="*/ 13372912 w 13372912"/>
              <a:gd name="connsiteY2-16" fmla="*/ 3807423 h 3807423"/>
              <a:gd name="connsiteX3-17" fmla="*/ 1457534 w 13372912"/>
              <a:gd name="connsiteY3-18" fmla="*/ 3807423 h 3807423"/>
              <a:gd name="connsiteX4-19" fmla="*/ 1514684 w 13372912"/>
              <a:gd name="connsiteY4-20" fmla="*/ 423047 h 3807423"/>
              <a:gd name="connsiteX0-21" fmla="*/ 887945 w 12746173"/>
              <a:gd name="connsiteY0-22" fmla="*/ 423047 h 3807423"/>
              <a:gd name="connsiteX1-23" fmla="*/ 12746173 w 12746173"/>
              <a:gd name="connsiteY1-24" fmla="*/ 423047 h 3807423"/>
              <a:gd name="connsiteX2-25" fmla="*/ 12746173 w 12746173"/>
              <a:gd name="connsiteY2-26" fmla="*/ 3807423 h 3807423"/>
              <a:gd name="connsiteX3-27" fmla="*/ 830795 w 12746173"/>
              <a:gd name="connsiteY3-28" fmla="*/ 3807423 h 3807423"/>
              <a:gd name="connsiteX4-29" fmla="*/ 887945 w 12746173"/>
              <a:gd name="connsiteY4-30" fmla="*/ 423047 h 3807423"/>
              <a:gd name="connsiteX0-31" fmla="*/ 2257425 w 11915378"/>
              <a:gd name="connsiteY0-32" fmla="*/ 382618 h 3852719"/>
              <a:gd name="connsiteX1-33" fmla="*/ 11915378 w 11915378"/>
              <a:gd name="connsiteY1-34" fmla="*/ 468343 h 3852719"/>
              <a:gd name="connsiteX2-35" fmla="*/ 11915378 w 11915378"/>
              <a:gd name="connsiteY2-36" fmla="*/ 3852719 h 3852719"/>
              <a:gd name="connsiteX3-37" fmla="*/ 0 w 11915378"/>
              <a:gd name="connsiteY3-38" fmla="*/ 3852719 h 3852719"/>
              <a:gd name="connsiteX4-39" fmla="*/ 2257425 w 11915378"/>
              <a:gd name="connsiteY4-40" fmla="*/ 382618 h 3852719"/>
              <a:gd name="connsiteX0-41" fmla="*/ 2257425 w 11915378"/>
              <a:gd name="connsiteY0-42" fmla="*/ 205282 h 3675383"/>
              <a:gd name="connsiteX1-43" fmla="*/ 11915378 w 11915378"/>
              <a:gd name="connsiteY1-44" fmla="*/ 291007 h 3675383"/>
              <a:gd name="connsiteX2-45" fmla="*/ 11915378 w 11915378"/>
              <a:gd name="connsiteY2-46" fmla="*/ 3675383 h 3675383"/>
              <a:gd name="connsiteX3-47" fmla="*/ 0 w 11915378"/>
              <a:gd name="connsiteY3-48" fmla="*/ 3675383 h 3675383"/>
              <a:gd name="connsiteX4-49" fmla="*/ 2257425 w 11915378"/>
              <a:gd name="connsiteY4-50" fmla="*/ 205282 h 3675383"/>
              <a:gd name="connsiteX0-51" fmla="*/ 2257425 w 11915378"/>
              <a:gd name="connsiteY0-52" fmla="*/ 16776 h 3486877"/>
              <a:gd name="connsiteX1-53" fmla="*/ 11915378 w 11915378"/>
              <a:gd name="connsiteY1-54" fmla="*/ 102501 h 3486877"/>
              <a:gd name="connsiteX2-55" fmla="*/ 11915378 w 11915378"/>
              <a:gd name="connsiteY2-56" fmla="*/ 3486877 h 3486877"/>
              <a:gd name="connsiteX3-57" fmla="*/ 0 w 11915378"/>
              <a:gd name="connsiteY3-58" fmla="*/ 3486877 h 3486877"/>
              <a:gd name="connsiteX4-59" fmla="*/ 2257425 w 11915378"/>
              <a:gd name="connsiteY4-60" fmla="*/ 16776 h 3486877"/>
              <a:gd name="connsiteX0-61" fmla="*/ 2247900 w 11915378"/>
              <a:gd name="connsiteY0-62" fmla="*/ 43334 h 3408660"/>
              <a:gd name="connsiteX1-63" fmla="*/ 11915378 w 11915378"/>
              <a:gd name="connsiteY1-64" fmla="*/ 24284 h 3408660"/>
              <a:gd name="connsiteX2-65" fmla="*/ 11915378 w 11915378"/>
              <a:gd name="connsiteY2-66" fmla="*/ 3408660 h 3408660"/>
              <a:gd name="connsiteX3-67" fmla="*/ 0 w 11915378"/>
              <a:gd name="connsiteY3-68" fmla="*/ 3408660 h 3408660"/>
              <a:gd name="connsiteX4-69" fmla="*/ 2247900 w 11915378"/>
              <a:gd name="connsiteY4-70" fmla="*/ 43334 h 3408660"/>
              <a:gd name="connsiteX0-71" fmla="*/ 2247900 w 11915378"/>
              <a:gd name="connsiteY0-72" fmla="*/ 34525 h 3418901"/>
              <a:gd name="connsiteX1-73" fmla="*/ 11915378 w 11915378"/>
              <a:gd name="connsiteY1-74" fmla="*/ 34525 h 3418901"/>
              <a:gd name="connsiteX2-75" fmla="*/ 11915378 w 11915378"/>
              <a:gd name="connsiteY2-76" fmla="*/ 3418901 h 3418901"/>
              <a:gd name="connsiteX3-77" fmla="*/ 0 w 11915378"/>
              <a:gd name="connsiteY3-78" fmla="*/ 3418901 h 3418901"/>
              <a:gd name="connsiteX4-79" fmla="*/ 2247900 w 11915378"/>
              <a:gd name="connsiteY4-80" fmla="*/ 34525 h 3418901"/>
              <a:gd name="connsiteX0-81" fmla="*/ 2247900 w 11915378"/>
              <a:gd name="connsiteY0-82" fmla="*/ 19587 h 3403963"/>
              <a:gd name="connsiteX1-83" fmla="*/ 11915378 w 11915378"/>
              <a:gd name="connsiteY1-84" fmla="*/ 19587 h 3403963"/>
              <a:gd name="connsiteX2-85" fmla="*/ 11915378 w 11915378"/>
              <a:gd name="connsiteY2-86" fmla="*/ 3403963 h 3403963"/>
              <a:gd name="connsiteX3-87" fmla="*/ 0 w 11915378"/>
              <a:gd name="connsiteY3-88" fmla="*/ 3403963 h 3403963"/>
              <a:gd name="connsiteX4-89" fmla="*/ 2247900 w 11915378"/>
              <a:gd name="connsiteY4-90" fmla="*/ 19587 h 3403963"/>
              <a:gd name="connsiteX0-91" fmla="*/ 2247900 w 11915378"/>
              <a:gd name="connsiteY0-92" fmla="*/ 312656 h 3697032"/>
              <a:gd name="connsiteX1-93" fmla="*/ 11915378 w 11915378"/>
              <a:gd name="connsiteY1-94" fmla="*/ 312656 h 3697032"/>
              <a:gd name="connsiteX2-95" fmla="*/ 11915378 w 11915378"/>
              <a:gd name="connsiteY2-96" fmla="*/ 3697032 h 3697032"/>
              <a:gd name="connsiteX3-97" fmla="*/ 0 w 11915378"/>
              <a:gd name="connsiteY3-98" fmla="*/ 3697032 h 3697032"/>
              <a:gd name="connsiteX4-99" fmla="*/ 2247900 w 11915378"/>
              <a:gd name="connsiteY4-100" fmla="*/ 312656 h 3697032"/>
              <a:gd name="connsiteX0-101" fmla="*/ 2247900 w 11915378"/>
              <a:gd name="connsiteY0-102" fmla="*/ 0 h 3384376"/>
              <a:gd name="connsiteX1-103" fmla="*/ 11915378 w 11915378"/>
              <a:gd name="connsiteY1-104" fmla="*/ 0 h 3384376"/>
              <a:gd name="connsiteX2-105" fmla="*/ 11915378 w 11915378"/>
              <a:gd name="connsiteY2-106" fmla="*/ 3384376 h 3384376"/>
              <a:gd name="connsiteX3-107" fmla="*/ 0 w 11915378"/>
              <a:gd name="connsiteY3-108" fmla="*/ 3384376 h 3384376"/>
              <a:gd name="connsiteX4-109" fmla="*/ 2247900 w 11915378"/>
              <a:gd name="connsiteY4-110" fmla="*/ 0 h 3384376"/>
              <a:gd name="connsiteX0-111" fmla="*/ 2247900 w 11915378"/>
              <a:gd name="connsiteY0-112" fmla="*/ 364892 h 3749268"/>
              <a:gd name="connsiteX1-113" fmla="*/ 11915378 w 11915378"/>
              <a:gd name="connsiteY1-114" fmla="*/ 364892 h 3749268"/>
              <a:gd name="connsiteX2-115" fmla="*/ 11915378 w 11915378"/>
              <a:gd name="connsiteY2-116" fmla="*/ 3749268 h 3749268"/>
              <a:gd name="connsiteX3-117" fmla="*/ 0 w 11915378"/>
              <a:gd name="connsiteY3-118" fmla="*/ 3749268 h 3749268"/>
              <a:gd name="connsiteX4-119" fmla="*/ 2247900 w 11915378"/>
              <a:gd name="connsiteY4-120" fmla="*/ 364892 h 3749268"/>
              <a:gd name="connsiteX0-121" fmla="*/ 2247900 w 11915378"/>
              <a:gd name="connsiteY0-122" fmla="*/ 20 h 3384396"/>
              <a:gd name="connsiteX1-123" fmla="*/ 11915378 w 11915378"/>
              <a:gd name="connsiteY1-124" fmla="*/ 20 h 3384396"/>
              <a:gd name="connsiteX2-125" fmla="*/ 11915378 w 11915378"/>
              <a:gd name="connsiteY2-126" fmla="*/ 3384396 h 3384396"/>
              <a:gd name="connsiteX3-127" fmla="*/ 0 w 11915378"/>
              <a:gd name="connsiteY3-128" fmla="*/ 3384396 h 3384396"/>
              <a:gd name="connsiteX4-129" fmla="*/ 2247900 w 11915378"/>
              <a:gd name="connsiteY4-130" fmla="*/ 20 h 3384396"/>
              <a:gd name="connsiteX0-131" fmla="*/ 2247900 w 11915378"/>
              <a:gd name="connsiteY0-132" fmla="*/ 0 h 3384376"/>
              <a:gd name="connsiteX1-133" fmla="*/ 11915378 w 11915378"/>
              <a:gd name="connsiteY1-134" fmla="*/ 0 h 3384376"/>
              <a:gd name="connsiteX2-135" fmla="*/ 11915378 w 11915378"/>
              <a:gd name="connsiteY2-136" fmla="*/ 3384376 h 3384376"/>
              <a:gd name="connsiteX3-137" fmla="*/ 0 w 11915378"/>
              <a:gd name="connsiteY3-138" fmla="*/ 3384376 h 3384376"/>
              <a:gd name="connsiteX4-139" fmla="*/ 2247900 w 11915378"/>
              <a:gd name="connsiteY4-140" fmla="*/ 0 h 3384376"/>
              <a:gd name="connsiteX0-141" fmla="*/ 2247900 w 11915378"/>
              <a:gd name="connsiteY0-142" fmla="*/ 0 h 3384376"/>
              <a:gd name="connsiteX1-143" fmla="*/ 11915378 w 11915378"/>
              <a:gd name="connsiteY1-144" fmla="*/ 0 h 3384376"/>
              <a:gd name="connsiteX2-145" fmla="*/ 11915378 w 11915378"/>
              <a:gd name="connsiteY2-146" fmla="*/ 3384376 h 3384376"/>
              <a:gd name="connsiteX3-147" fmla="*/ 0 w 11915378"/>
              <a:gd name="connsiteY3-148" fmla="*/ 3384376 h 3384376"/>
              <a:gd name="connsiteX4-149" fmla="*/ 2247900 w 11915378"/>
              <a:gd name="connsiteY4-150" fmla="*/ 0 h 3384376"/>
              <a:gd name="connsiteX0-151" fmla="*/ 2247900 w 11915378"/>
              <a:gd name="connsiteY0-152" fmla="*/ 0 h 3384376"/>
              <a:gd name="connsiteX1-153" fmla="*/ 11915378 w 11915378"/>
              <a:gd name="connsiteY1-154" fmla="*/ 0 h 3384376"/>
              <a:gd name="connsiteX2-155" fmla="*/ 11915378 w 11915378"/>
              <a:gd name="connsiteY2-156" fmla="*/ 3384376 h 3384376"/>
              <a:gd name="connsiteX3-157" fmla="*/ 0 w 11915378"/>
              <a:gd name="connsiteY3-158" fmla="*/ 3384376 h 3384376"/>
              <a:gd name="connsiteX4-159" fmla="*/ 2247900 w 11915378"/>
              <a:gd name="connsiteY4-160" fmla="*/ 0 h 3384376"/>
              <a:gd name="connsiteX0-161" fmla="*/ 2247900 w 11915378"/>
              <a:gd name="connsiteY0-162" fmla="*/ 0 h 3384376"/>
              <a:gd name="connsiteX1-163" fmla="*/ 11915378 w 11915378"/>
              <a:gd name="connsiteY1-164" fmla="*/ 0 h 3384376"/>
              <a:gd name="connsiteX2-165" fmla="*/ 11915378 w 11915378"/>
              <a:gd name="connsiteY2-166" fmla="*/ 3384376 h 3384376"/>
              <a:gd name="connsiteX3-167" fmla="*/ 0 w 11915378"/>
              <a:gd name="connsiteY3-168" fmla="*/ 3384376 h 3384376"/>
              <a:gd name="connsiteX4-169" fmla="*/ 2247900 w 11915378"/>
              <a:gd name="connsiteY4-170" fmla="*/ 0 h 3384376"/>
              <a:gd name="connsiteX0-171" fmla="*/ 2276475 w 11943953"/>
              <a:gd name="connsiteY0-172" fmla="*/ 0 h 3384376"/>
              <a:gd name="connsiteX1-173" fmla="*/ 11943953 w 11943953"/>
              <a:gd name="connsiteY1-174" fmla="*/ 0 h 3384376"/>
              <a:gd name="connsiteX2-175" fmla="*/ 11943953 w 11943953"/>
              <a:gd name="connsiteY2-176" fmla="*/ 3384376 h 3384376"/>
              <a:gd name="connsiteX3-177" fmla="*/ 0 w 11943953"/>
              <a:gd name="connsiteY3-178" fmla="*/ 3384376 h 3384376"/>
              <a:gd name="connsiteX4-179" fmla="*/ 2276475 w 11943953"/>
              <a:gd name="connsiteY4-180" fmla="*/ 0 h 3384376"/>
            </a:gdLst>
            <a:ahLst/>
            <a:cxnLst>
              <a:cxn ang="0">
                <a:pos x="connsiteX0-171" y="connsiteY0-172"/>
              </a:cxn>
              <a:cxn ang="0">
                <a:pos x="connsiteX1-173" y="connsiteY1-174"/>
              </a:cxn>
              <a:cxn ang="0">
                <a:pos x="connsiteX2-175" y="connsiteY2-176"/>
              </a:cxn>
              <a:cxn ang="0">
                <a:pos x="connsiteX3-177" y="connsiteY3-178"/>
              </a:cxn>
              <a:cxn ang="0">
                <a:pos x="connsiteX4-179" y="connsiteY4-180"/>
              </a:cxn>
            </a:cxnLst>
            <a:rect l="l" t="t" r="r" b="b"/>
            <a:pathLst>
              <a:path w="11943953" h="3384376">
                <a:moveTo>
                  <a:pt x="2276475" y="0"/>
                </a:moveTo>
                <a:lnTo>
                  <a:pt x="11943953" y="0"/>
                </a:lnTo>
                <a:lnTo>
                  <a:pt x="11943953" y="3384376"/>
                </a:lnTo>
                <a:lnTo>
                  <a:pt x="0" y="3384376"/>
                </a:lnTo>
                <a:cubicBezTo>
                  <a:pt x="328679" y="2534563"/>
                  <a:pt x="1214116" y="582532"/>
                  <a:pt x="2276475" y="0"/>
                </a:cubicBezTo>
                <a:close/>
              </a:path>
            </a:pathLst>
          </a:custGeom>
          <a:solidFill>
            <a:schemeClr val="l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38" name="图片 37"/>
          <p:cNvPicPr>
            <a:picLocks noChangeAspect="1"/>
          </p:cNvPicPr>
          <p:nvPr>
            <p:custDataLst>
              <p:tags r:id="rId3"/>
            </p:custDataLst>
          </p:nvPr>
        </p:nvPicPr>
        <p:blipFill rotWithShape="1">
          <a:blip r:embed="rId9" cstate="print">
            <a:extLst>
              <a:ext uri="{28A0092B-C50C-407E-A947-70E740481C1C}">
                <a14:useLocalDpi xmlns:a14="http://schemas.microsoft.com/office/drawing/2010/main" val="0"/>
              </a:ext>
            </a:extLst>
          </a:blip>
          <a:srcRect l="67714" r="15753" b="50000"/>
          <a:stretch>
            <a:fillRect/>
          </a:stretch>
        </p:blipFill>
        <p:spPr>
          <a:xfrm rot="16200000" flipH="1">
            <a:off x="6871988" y="3714536"/>
            <a:ext cx="1888974" cy="2655052"/>
          </a:xfrm>
          <a:prstGeom prst="rect">
            <a:avLst/>
          </a:prstGeom>
        </p:spPr>
      </p:pic>
      <p:pic>
        <p:nvPicPr>
          <p:cNvPr id="28" name="图片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860" y="-69850"/>
            <a:ext cx="9166225" cy="6928485"/>
          </a:xfrm>
          <a:prstGeom prst="rect">
            <a:avLst/>
          </a:prstGeom>
        </p:spPr>
      </p:pic>
      <p:grpSp>
        <p:nvGrpSpPr>
          <p:cNvPr id="7" name="组合 6"/>
          <p:cNvGrpSpPr/>
          <p:nvPr/>
        </p:nvGrpSpPr>
        <p:grpSpPr>
          <a:xfrm>
            <a:off x="2506039" y="2588626"/>
            <a:ext cx="5278676" cy="1017909"/>
            <a:chOff x="6143457" y="2714735"/>
            <a:chExt cx="5193268" cy="1001440"/>
          </a:xfrm>
          <a:solidFill>
            <a:srgbClr val="0070C0"/>
          </a:solidFill>
        </p:grpSpPr>
        <p:sp>
          <p:nvSpPr>
            <p:cNvPr id="54" name="圆角淘宝网Chenying0907出品 6"/>
            <p:cNvSpPr/>
            <p:nvPr>
              <p:custDataLst>
                <p:tags r:id="rId5"/>
              </p:custDataLst>
            </p:nvPr>
          </p:nvSpPr>
          <p:spPr>
            <a:xfrm>
              <a:off x="6143457" y="2714735"/>
              <a:ext cx="5193268" cy="1001440"/>
            </a:xfrm>
            <a:prstGeom prst="roundRect">
              <a:avLst>
                <a:gd name="adj" fmla="val 9976"/>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sp>
          <p:nvSpPr>
            <p:cNvPr id="64" name="淘宝网Chenying0907出品 40"/>
            <p:cNvSpPr txBox="1"/>
            <p:nvPr/>
          </p:nvSpPr>
          <p:spPr>
            <a:xfrm>
              <a:off x="6488303" y="2894854"/>
              <a:ext cx="4633908" cy="63472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3600" dirty="0">
                  <a:solidFill>
                    <a:schemeClr val="lt1"/>
                  </a:solidFill>
                  <a:latin typeface="Arial" panose="020B0604020202020204" pitchFamily="34" charset="0"/>
                  <a:ea typeface="汉仪文黑-85W" panose="00020600040101010101" charset="-122"/>
                </a:rPr>
                <a:t>软件质量与测试</a:t>
              </a:r>
            </a:p>
          </p:txBody>
        </p:sp>
      </p:grpSp>
      <p:sp>
        <p:nvSpPr>
          <p:cNvPr id="69" name="淘宝网Chenying0907出品 7"/>
          <p:cNvSpPr txBox="1"/>
          <p:nvPr>
            <p:custDataLst>
              <p:tags r:id="rId4"/>
            </p:custDataLst>
          </p:nvPr>
        </p:nvSpPr>
        <p:spPr>
          <a:xfrm>
            <a:off x="2753919" y="3854195"/>
            <a:ext cx="4782909" cy="417743"/>
          </a:xfrm>
          <a:prstGeom prst="rect">
            <a:avLst/>
          </a:prstGeom>
          <a:noFill/>
        </p:spPr>
        <p:txBody>
          <a:bodyPr wrap="square" rtlCol="0">
            <a:spAutoFit/>
          </a:bodyPr>
          <a:lstStyle/>
          <a:p>
            <a:pPr algn="ctr">
              <a:lnSpc>
                <a:spcPct val="150000"/>
              </a:lnSpc>
            </a:pPr>
            <a:r>
              <a:rPr lang="zh-CN" altLang="en-US" sz="1600" dirty="0">
                <a:solidFill>
                  <a:schemeClr val="dk1">
                    <a:lumMod val="75000"/>
                    <a:lumOff val="25000"/>
                  </a:schemeClr>
                </a:solidFill>
                <a:latin typeface="Arial" panose="020B0604020202020204" pitchFamily="34" charset="0"/>
                <a:ea typeface="汉仪旗黑-55简" panose="00020600040101010101" charset="-122"/>
              </a:rPr>
              <a:t>河南大学软件学院</a:t>
            </a:r>
            <a:r>
              <a:rPr lang="en-US" altLang="zh-CN" sz="1600" dirty="0">
                <a:solidFill>
                  <a:schemeClr val="dk1">
                    <a:lumMod val="75000"/>
                    <a:lumOff val="25000"/>
                  </a:schemeClr>
                </a:solidFill>
                <a:latin typeface="Arial" panose="020B0604020202020204" pitchFamily="34" charset="0"/>
                <a:ea typeface="汉仪旗黑-55简" panose="00020600040101010101" charset="-122"/>
              </a:rPr>
              <a:t>    </a:t>
            </a:r>
            <a:r>
              <a:rPr lang="zh-CN" altLang="en-US" sz="1600" dirty="0">
                <a:solidFill>
                  <a:schemeClr val="dk1">
                    <a:lumMod val="75000"/>
                    <a:lumOff val="25000"/>
                  </a:schemeClr>
                </a:solidFill>
                <a:latin typeface="Arial" panose="020B0604020202020204" pitchFamily="34" charset="0"/>
                <a:ea typeface="汉仪旗黑-55简" panose="00020600040101010101" charset="-122"/>
              </a:rPr>
              <a:t>冯东栋</a:t>
            </a:r>
          </a:p>
        </p:txBody>
      </p:sp>
      <p:pic>
        <p:nvPicPr>
          <p:cNvPr id="29" name="图片 28" descr="河南大学logo"/>
          <p:cNvPicPr>
            <a:picLocks noChangeAspect="1"/>
          </p:cNvPicPr>
          <p:nvPr/>
        </p:nvPicPr>
        <p:blipFill>
          <a:blip r:embed="rId11"/>
          <a:stretch>
            <a:fillRect/>
          </a:stretch>
        </p:blipFill>
        <p:spPr>
          <a:xfrm>
            <a:off x="8181975" y="0"/>
            <a:ext cx="902335" cy="8978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buClrTx/>
              <a:buSzTx/>
              <a:buFontTx/>
            </a:pPr>
            <a:r>
              <a:rPr lang="en-US" altLang="zh-CN" sz="4400" b="0">
                <a:solidFill>
                  <a:schemeClr val="accent1"/>
                </a:solidFill>
                <a:ea typeface="汉仪文黑-85W" panose="00020600040101010101" charset="-122"/>
              </a:rPr>
              <a:t>上节回顾</a:t>
            </a:r>
          </a:p>
        </p:txBody>
      </p:sp>
      <p:sp>
        <p:nvSpPr>
          <p:cNvPr id="8" name="内容占位符 7"/>
          <p:cNvSpPr>
            <a:spLocks noGrp="1"/>
          </p:cNvSpPr>
          <p:nvPr>
            <p:ph idx="1"/>
          </p:nvPr>
        </p:nvSpPr>
        <p:spPr>
          <a:xfrm>
            <a:off x="502285" y="1322070"/>
            <a:ext cx="8139430" cy="4822190"/>
          </a:xfrm>
        </p:spPr>
        <p:txBody>
          <a:bodyPr>
            <a:normAutofit fontScale="80000" lnSpcReduction="10000"/>
          </a:bodyPr>
          <a:lstStyle/>
          <a:p>
            <a:r>
              <a:rPr lang="zh-CN" altLang="en-US" sz="3400" b="1"/>
              <a:t>场景法测试</a:t>
            </a:r>
          </a:p>
          <a:p>
            <a:pPr lvl="1"/>
            <a:r>
              <a:rPr lang="zh-CN" altLang="en-US" sz="2800"/>
              <a:t>应用场合：</a:t>
            </a:r>
            <a:r>
              <a:rPr lang="en-US" altLang="zh-CN" sz="2800">
                <a:latin typeface="微软雅黑" panose="020B0503020204020204" charset="-122"/>
                <a:cs typeface="Times New Roman" panose="02020603050405020304" pitchFamily="18" charset="0"/>
                <a:sym typeface="+mn-ea"/>
              </a:rPr>
              <a:t>关注</a:t>
            </a:r>
            <a:r>
              <a:rPr sz="2800">
                <a:latin typeface="微软雅黑" panose="020B0503020204020204" charset="-122"/>
                <a:cs typeface="Times New Roman" panose="02020603050405020304" pitchFamily="18" charset="0"/>
                <a:sym typeface="+mn-ea"/>
              </a:rPr>
              <a:t>的是</a:t>
            </a:r>
            <a:r>
              <a:rPr lang="en-US" altLang="zh-CN" sz="2800">
                <a:latin typeface="微软雅黑" panose="020B0503020204020204" charset="-122"/>
                <a:cs typeface="Times New Roman" panose="02020603050405020304" pitchFamily="18" charset="0"/>
                <a:sym typeface="+mn-ea"/>
              </a:rPr>
              <a:t>整个功能的业务逻辑和业务流程是否正确实现</a:t>
            </a:r>
            <a:r>
              <a:rPr sz="2800">
                <a:latin typeface="微软雅黑" panose="020B0503020204020204" charset="-122"/>
                <a:cs typeface="Times New Roman" panose="02020603050405020304" pitchFamily="18" charset="0"/>
                <a:sym typeface="+mn-ea"/>
              </a:rPr>
              <a:t>。</a:t>
            </a:r>
          </a:p>
          <a:p>
            <a:pPr lvl="1"/>
            <a:r>
              <a:rPr sz="2800">
                <a:latin typeface="微软雅黑" panose="020B0503020204020204" charset="-122"/>
                <a:cs typeface="Times New Roman" panose="02020603050405020304" pitchFamily="18" charset="0"/>
                <a:sym typeface="+mn-ea"/>
              </a:rPr>
              <a:t>场景的概念</a:t>
            </a:r>
            <a:endParaRPr lang="zh-CN" altLang="en-US" sz="2800"/>
          </a:p>
          <a:p>
            <a:pPr lvl="1"/>
            <a:r>
              <a:rPr lang="zh-CN" altLang="en-US" sz="2800"/>
              <a:t>测试步骤：</a:t>
            </a:r>
          </a:p>
          <a:p>
            <a:pPr marL="1143000" lvl="2" indent="-457200" algn="l" defTabSz="914400">
              <a:buClrTx/>
              <a:buSzTx/>
              <a:buAutoNum type="arabicPeriod"/>
              <a:tabLst>
                <a:tab pos="1609725" algn="l"/>
              </a:tabLst>
            </a:pPr>
            <a:r>
              <a:rPr sz="2240">
                <a:sym typeface="+mn-ea"/>
              </a:rPr>
              <a:t>分析</a:t>
            </a:r>
            <a:r>
              <a:rPr sz="2240">
                <a:solidFill>
                  <a:schemeClr val="dk1"/>
                </a:solidFill>
                <a:latin typeface="微软雅黑" panose="020B0503020204020204" charset="-122"/>
                <a:sym typeface="+mn-ea"/>
              </a:rPr>
              <a:t>被测业务，基于风险的思想找到基本流和所有备选流；</a:t>
            </a:r>
          </a:p>
          <a:p>
            <a:pPr marL="1143000" lvl="2" indent="-457200" algn="l" defTabSz="914400">
              <a:buClrTx/>
              <a:buSzTx/>
              <a:buAutoNum type="arabicPeriod"/>
              <a:tabLst>
                <a:tab pos="1609725" algn="l"/>
              </a:tabLst>
            </a:pPr>
            <a:r>
              <a:rPr sz="2240">
                <a:solidFill>
                  <a:schemeClr val="dk1"/>
                </a:solidFill>
                <a:latin typeface="微软雅黑" panose="020B0503020204020204" charset="-122"/>
                <a:sym typeface="+mn-ea"/>
              </a:rPr>
              <a:t>根据基本流和备选流构造适当规模的场景；</a:t>
            </a:r>
          </a:p>
          <a:p>
            <a:pPr marL="1143000" lvl="2" indent="-457200" algn="l" defTabSz="914400">
              <a:buClrTx/>
              <a:buSzTx/>
              <a:buAutoNum type="arabicPeriod"/>
              <a:tabLst>
                <a:tab pos="1609725" algn="l"/>
              </a:tabLst>
            </a:pPr>
            <a:r>
              <a:rPr sz="2240">
                <a:solidFill>
                  <a:schemeClr val="dk1"/>
                </a:solidFill>
                <a:latin typeface="微软雅黑" panose="020B0503020204020204" charset="-122"/>
                <a:sym typeface="+mn-ea"/>
              </a:rPr>
              <a:t>根据场景设计测试用例。</a:t>
            </a:r>
            <a:endParaRPr lang="zh-CN" altLang="en-US" sz="2240">
              <a:solidFill>
                <a:schemeClr val="dk1"/>
              </a:solidFill>
              <a:latin typeface="微软雅黑" panose="020B0503020204020204" charset="-122"/>
              <a:ea typeface="微软雅黑" panose="020B0503020204020204" charset="-122"/>
            </a:endParaRPr>
          </a:p>
          <a:p>
            <a:pPr lvl="1" algn="l" defTabSz="914400">
              <a:buClrTx/>
              <a:buSzTx/>
              <a:tabLst>
                <a:tab pos="1609725" algn="l"/>
              </a:tabLst>
            </a:pPr>
            <a:r>
              <a:rPr lang="zh-CN" altLang="en-US" sz="2800"/>
              <a:t>注意事项</a:t>
            </a:r>
          </a:p>
        </p:txBody>
      </p:sp>
      <p:sp>
        <p:nvSpPr>
          <p:cNvPr id="5" name="日期占位符 4"/>
          <p:cNvSpPr>
            <a:spLocks noGrp="1"/>
          </p:cNvSpPr>
          <p:nvPr>
            <p:ph type="dt" sz="half" idx="10"/>
          </p:nvPr>
        </p:nvSpPr>
        <p:spPr/>
        <p:txBody>
          <a:bodyPr/>
          <a:lstStyle/>
          <a:p>
            <a:fld id="{9EFD9D74-47D9-4702-A33C-335B63B48DBF}" type="datetime1">
              <a:rPr lang="zh-CN" altLang="en-US" smtClean="0"/>
              <a:t>2023/4/19</a:t>
            </a:fld>
            <a:endParaRPr lang="zh-CN" altLang="en-US" dirty="0"/>
          </a:p>
        </p:txBody>
      </p:sp>
      <p:sp>
        <p:nvSpPr>
          <p:cNvPr id="6" name="灯片编号占位符 5"/>
          <p:cNvSpPr>
            <a:spLocks noGrp="1"/>
          </p:cNvSpPr>
          <p:nvPr>
            <p:ph type="sldNum" sz="quarter" idx="12"/>
          </p:nvPr>
        </p:nvSpPr>
        <p:spPr/>
        <p:txBody>
          <a:bodyPr/>
          <a:lstStyle/>
          <a:p>
            <a:fld id="{FABC47A4-756D-490B-A52F-7D9E2C9FC05F}"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vert="horz" wrap="square" lIns="91440" tIns="45720" rIns="91440" bIns="45720" anchor="b" anchorCtr="0"/>
          <a:lstStyle/>
          <a:p>
            <a:pPr algn="ctr" eaLnBrk="1" hangingPunct="1">
              <a:buClrTx/>
              <a:buSzTx/>
              <a:buFontTx/>
            </a:pPr>
            <a:r>
              <a:rPr lang="en-US" altLang="zh-CN" sz="4400" b="0">
                <a:solidFill>
                  <a:schemeClr val="accent1"/>
                </a:solidFill>
                <a:ea typeface="汉仪文黑-85W" panose="00020600040101010101" charset="-122"/>
              </a:rPr>
              <a:t>第5章  白盒测试技术</a:t>
            </a:r>
          </a:p>
        </p:txBody>
      </p:sp>
      <p:sp>
        <p:nvSpPr>
          <p:cNvPr id="6148" name="Rectangle 3"/>
          <p:cNvSpPr>
            <a:spLocks noGrp="1" noChangeArrowheads="1"/>
          </p:cNvSpPr>
          <p:nvPr>
            <p:ph idx="1"/>
          </p:nvPr>
        </p:nvSpPr>
        <p:spPr>
          <a:xfrm>
            <a:off x="502285" y="1462405"/>
            <a:ext cx="8139430" cy="4850130"/>
          </a:xfrm>
        </p:spPr>
        <p:txBody>
          <a:bodyPr vert="horz" wrap="square" lIns="91440" tIns="45720" rIns="91440" bIns="45720" numCol="1" rtlCol="0" anchor="t" anchorCtr="0" compatLnSpc="1">
            <a:normAutofit fontScale="87500" lnSpcReduction="20000"/>
          </a:bodyPr>
          <a:lstStyle/>
          <a:p>
            <a:pPr marL="469900" marR="0" lvl="0" indent="-469900" algn="l" defTabSz="914400" rtl="0" eaLnBrk="1" fontAlgn="auto" latinLnBrk="0" hangingPunct="1">
              <a:lnSpc>
                <a:spcPct val="120000"/>
              </a:lnSpc>
              <a:spcBef>
                <a:spcPct val="20000"/>
              </a:spcBef>
              <a:spcAft>
                <a:spcPts val="0"/>
              </a:spcAft>
              <a:buClr>
                <a:schemeClr val="accent2"/>
              </a:buClr>
              <a:buSzTx/>
              <a:buFont typeface="Arial" panose="020B0604020202020204" pitchFamily="34" charset="0"/>
              <a:buChar char="•"/>
              <a:defRPr/>
            </a:pPr>
            <a:r>
              <a:rPr kumimoji="0" lang="zh-CN" altLang="en-US" sz="3500" b="1" i="0" u="none" strike="noStrike" kern="0" cap="none" spc="0" normalizeH="0" baseline="0" noProof="0" dirty="0">
                <a:ln>
                  <a:noFill/>
                </a:ln>
                <a:solidFill>
                  <a:schemeClr val="tx1"/>
                </a:solidFill>
                <a:effectLst/>
                <a:uLnTx/>
                <a:uFillTx/>
                <a:latin typeface="+mn-lt"/>
                <a:ea typeface="+mn-ea"/>
                <a:cs typeface="+mn-cs"/>
              </a:rPr>
              <a:t>内容提要</a:t>
            </a:r>
          </a:p>
          <a:p>
            <a:pPr marL="908050" marR="0" lvl="1" indent="-436880" algn="l" defTabSz="914400" rtl="0" eaLnBrk="1" fontAlgn="auto" latinLnBrk="0" hangingPunct="1">
              <a:lnSpc>
                <a:spcPct val="150000"/>
              </a:lnSpc>
              <a:spcBef>
                <a:spcPct val="20000"/>
              </a:spcBef>
              <a:spcAft>
                <a:spcPts val="0"/>
              </a:spcAft>
              <a:buClr>
                <a:schemeClr val="accent2"/>
              </a:buClr>
              <a:buSzTx/>
              <a:buFont typeface="Arial" panose="020B0604020202020204" pitchFamily="34" charset="0"/>
              <a:buChar char="–"/>
              <a:defRPr/>
            </a:pPr>
            <a:r>
              <a:rPr kumimoji="0" lang="zh-CN" altLang="en-US" sz="2500" i="0" u="none" strike="noStrike" kern="0" cap="none" spc="0" normalizeH="0" baseline="0" noProof="0" dirty="0">
                <a:ln>
                  <a:noFill/>
                </a:ln>
                <a:solidFill>
                  <a:schemeClr val="tx1"/>
                </a:solidFill>
                <a:effectLst/>
                <a:uLnTx/>
                <a:uFillTx/>
                <a:latin typeface="+mn-lt"/>
                <a:ea typeface="+mn-ea"/>
              </a:rPr>
              <a:t>介绍白盒测试基本原理，围绕最重要的</a:t>
            </a:r>
            <a:r>
              <a:rPr kumimoji="0" lang="en-US" altLang="en-US" sz="2500" i="0" u="none" strike="noStrike" kern="0" cap="none" spc="0" normalizeH="0" baseline="0" noProof="0" dirty="0">
                <a:ln>
                  <a:noFill/>
                </a:ln>
                <a:solidFill>
                  <a:schemeClr val="tx1"/>
                </a:solidFill>
                <a:effectLst/>
                <a:uLnTx/>
                <a:uFillTx/>
                <a:latin typeface="+mn-lt"/>
                <a:ea typeface="+mn-ea"/>
              </a:rPr>
              <a:t>5</a:t>
            </a:r>
            <a:r>
              <a:rPr kumimoji="0" lang="zh-CN" altLang="en-US" sz="2500" i="0" u="none" strike="noStrike" kern="0" cap="none" spc="0" normalizeH="0" baseline="0" noProof="0" dirty="0">
                <a:ln>
                  <a:noFill/>
                </a:ln>
                <a:solidFill>
                  <a:schemeClr val="tx1"/>
                </a:solidFill>
                <a:effectLst/>
                <a:uLnTx/>
                <a:uFillTx/>
                <a:latin typeface="+mn-lt"/>
                <a:ea typeface="+mn-ea"/>
              </a:rPr>
              <a:t>种测试方法展开讨论；</a:t>
            </a:r>
            <a:endParaRPr kumimoji="0" lang="en-US" altLang="zh-CN" sz="2500" i="0" u="none" strike="noStrike" kern="0" cap="none" spc="0" normalizeH="0" baseline="0" noProof="0" dirty="0">
              <a:ln>
                <a:noFill/>
              </a:ln>
              <a:solidFill>
                <a:schemeClr val="tx1"/>
              </a:solidFill>
              <a:effectLst/>
              <a:uLnTx/>
              <a:uFillTx/>
              <a:latin typeface="+mn-lt"/>
              <a:ea typeface="+mn-ea"/>
            </a:endParaRPr>
          </a:p>
          <a:p>
            <a:pPr marL="908050" marR="0" lvl="1" indent="-436880" algn="l" defTabSz="914400" rtl="0" eaLnBrk="1" fontAlgn="auto" latinLnBrk="0" hangingPunct="1">
              <a:lnSpc>
                <a:spcPct val="150000"/>
              </a:lnSpc>
              <a:spcBef>
                <a:spcPct val="20000"/>
              </a:spcBef>
              <a:spcAft>
                <a:spcPts val="0"/>
              </a:spcAft>
              <a:buClr>
                <a:schemeClr val="accent2"/>
              </a:buClr>
              <a:buSzTx/>
              <a:buFont typeface="Arial" panose="020B0604020202020204" pitchFamily="34" charset="0"/>
              <a:buChar char="–"/>
              <a:defRPr/>
            </a:pPr>
            <a:r>
              <a:rPr kumimoji="0" lang="zh-CN" altLang="en-US" sz="2500" i="0" u="none" strike="noStrike" kern="0" cap="none" spc="0" normalizeH="0" baseline="0" noProof="0" dirty="0">
                <a:ln>
                  <a:noFill/>
                </a:ln>
                <a:solidFill>
                  <a:schemeClr val="tx1"/>
                </a:solidFill>
                <a:effectLst/>
                <a:uLnTx/>
                <a:uFillTx/>
                <a:latin typeface="+mn-lt"/>
                <a:ea typeface="+mn-ea"/>
              </a:rPr>
              <a:t>静态白盒测试、对变量的测试主要采用静态方法进行测试，一般不需要设计测试用例；</a:t>
            </a:r>
            <a:endParaRPr kumimoji="0" lang="en-US" altLang="zh-CN" sz="2500" i="0" u="none" strike="noStrike" kern="0" cap="none" spc="0" normalizeH="0" baseline="0" noProof="0" dirty="0">
              <a:ln>
                <a:noFill/>
              </a:ln>
              <a:solidFill>
                <a:schemeClr val="tx1"/>
              </a:solidFill>
              <a:effectLst/>
              <a:uLnTx/>
              <a:uFillTx/>
              <a:latin typeface="+mn-lt"/>
              <a:ea typeface="+mn-ea"/>
            </a:endParaRPr>
          </a:p>
          <a:p>
            <a:pPr marL="908050" marR="0" lvl="1" indent="-436880" algn="l" defTabSz="914400" rtl="0" eaLnBrk="1" fontAlgn="auto" latinLnBrk="0" hangingPunct="1">
              <a:lnSpc>
                <a:spcPct val="150000"/>
              </a:lnSpc>
              <a:spcBef>
                <a:spcPct val="20000"/>
              </a:spcBef>
              <a:spcAft>
                <a:spcPts val="0"/>
              </a:spcAft>
              <a:buClr>
                <a:schemeClr val="accent2"/>
              </a:buClr>
              <a:buSzTx/>
              <a:buFont typeface="Arial" panose="020B0604020202020204" pitchFamily="34" charset="0"/>
              <a:buChar char="–"/>
              <a:defRPr/>
            </a:pPr>
            <a:r>
              <a:rPr kumimoji="0" lang="zh-CN" altLang="en-US" sz="2500" i="0" u="none" strike="noStrike" kern="0" cap="none" spc="0" normalizeH="0" baseline="0" noProof="0" dirty="0">
                <a:ln>
                  <a:noFill/>
                </a:ln>
                <a:solidFill>
                  <a:schemeClr val="tx1"/>
                </a:solidFill>
                <a:effectLst/>
                <a:uLnTx/>
                <a:uFillTx/>
                <a:latin typeface="+mn-lt"/>
                <a:ea typeface="+mn-ea"/>
              </a:rPr>
              <a:t>对判定的测试、对路径的测试和对循环的测试主要是动态测试的方法，需要设计测试用例；</a:t>
            </a:r>
            <a:endParaRPr kumimoji="0" lang="en-US" altLang="zh-CN" sz="2500" i="0" u="none" strike="noStrike" kern="0" cap="none" spc="0" normalizeH="0" baseline="0" noProof="0" dirty="0">
              <a:ln>
                <a:noFill/>
              </a:ln>
              <a:solidFill>
                <a:schemeClr val="tx1"/>
              </a:solidFill>
              <a:effectLst/>
              <a:uLnTx/>
              <a:uFillTx/>
              <a:latin typeface="+mn-lt"/>
              <a:ea typeface="+mn-ea"/>
            </a:endParaRPr>
          </a:p>
          <a:p>
            <a:pPr marL="908050" marR="0" lvl="1" indent="-436880" algn="l" defTabSz="914400" rtl="0" eaLnBrk="1" fontAlgn="auto" latinLnBrk="0" hangingPunct="1">
              <a:lnSpc>
                <a:spcPct val="150000"/>
              </a:lnSpc>
              <a:spcBef>
                <a:spcPct val="20000"/>
              </a:spcBef>
              <a:spcAft>
                <a:spcPts val="0"/>
              </a:spcAft>
              <a:buClr>
                <a:schemeClr val="accent2"/>
              </a:buClr>
              <a:buSzTx/>
              <a:buFont typeface="Arial" panose="020B0604020202020204" pitchFamily="34" charset="0"/>
              <a:buChar char="–"/>
              <a:defRPr/>
            </a:pPr>
            <a:r>
              <a:rPr kumimoji="0" lang="zh-CN" altLang="en-US" sz="2500" i="0" u="none" strike="noStrike" kern="0" cap="none" spc="0" normalizeH="0" baseline="0" noProof="0" dirty="0">
                <a:ln>
                  <a:noFill/>
                </a:ln>
                <a:solidFill>
                  <a:schemeClr val="tx1"/>
                </a:solidFill>
                <a:effectLst/>
                <a:uLnTx/>
                <a:uFillTx/>
                <a:latin typeface="+mn-lt"/>
                <a:ea typeface="+mn-ea"/>
              </a:rPr>
              <a:t>在对判定的测试中，需结合边界值的思想设计测试用例，而对路径的测试方法的思想可以用于对整个系统功能的业务流程进行测试。</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a:t>
            </a:fld>
            <a:endParaRPr lang="en-US" altLang="zh-CN" dirty="0">
              <a:latin typeface="Verdana" panose="020B0604030504040204" pitchFamily="34" charset="0"/>
            </a:endParaRPr>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lgn="l">
              <a:buClrTx/>
              <a:buSzTx/>
              <a:buFontTx/>
            </a:pPr>
            <a:r>
              <a:rPr sz="4400" b="0">
                <a:solidFill>
                  <a:schemeClr val="accent1"/>
                </a:solidFill>
                <a:ea typeface="汉仪文黑-85W" panose="00020600040101010101" charset="-122"/>
              </a:rPr>
              <a:t>白盒测试概述</a:t>
            </a:r>
          </a:p>
        </p:txBody>
      </p:sp>
      <p:pic>
        <p:nvPicPr>
          <p:cNvPr id="281604" name="Picture 4"/>
          <p:cNvPicPr>
            <a:picLocks noChangeAspect="1"/>
          </p:cNvPicPr>
          <p:nvPr/>
        </p:nvPicPr>
        <p:blipFill>
          <a:blip r:embed="rId2"/>
          <a:stretch>
            <a:fillRect/>
          </a:stretch>
        </p:blipFill>
        <p:spPr>
          <a:xfrm>
            <a:off x="5507990" y="2420620"/>
            <a:ext cx="3040380" cy="2989580"/>
          </a:xfrm>
          <a:prstGeom prst="rect">
            <a:avLst/>
          </a:prstGeom>
          <a:noFill/>
          <a:ln w="9525">
            <a:noFill/>
          </a:ln>
        </p:spPr>
      </p:pic>
      <p:sp>
        <p:nvSpPr>
          <p:cNvPr id="4" name="日期占位符 3"/>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4</a:t>
            </a:fld>
            <a:endParaRPr lang="en-US" altLang="zh-CN" dirty="0">
              <a:latin typeface="Verdana" panose="020B0604030504040204" pitchFamily="34" charset="0"/>
            </a:endParaRPr>
          </a:p>
        </p:txBody>
      </p:sp>
      <p:sp>
        <p:nvSpPr>
          <p:cNvPr id="6" name="文本框 5"/>
          <p:cNvSpPr txBox="1"/>
          <p:nvPr/>
        </p:nvSpPr>
        <p:spPr>
          <a:xfrm>
            <a:off x="539750" y="3789045"/>
            <a:ext cx="4805045" cy="2213610"/>
          </a:xfrm>
          <a:prstGeom prst="rect">
            <a:avLst/>
          </a:prstGeom>
          <a:noFill/>
        </p:spPr>
        <p:txBody>
          <a:bodyPr wrap="square" rtlCol="0" anchor="t">
            <a:noAutofit/>
          </a:bodyPr>
          <a:lstStyle/>
          <a:p>
            <a:pPr>
              <a:lnSpc>
                <a:spcPct val="160000"/>
              </a:lnSpc>
            </a:pPr>
            <a:r>
              <a:rPr lang="zh-CN" altLang="en-US" sz="2000" noProof="0">
                <a:solidFill>
                  <a:schemeClr val="tx1"/>
                </a:solidFill>
                <a:effectLst/>
                <a:latin typeface="+mj-ea"/>
                <a:ea typeface="+mj-ea"/>
                <a:sym typeface="+mn-ea"/>
              </a:rPr>
              <a:t>白盒测试也称</a:t>
            </a:r>
            <a:r>
              <a:rPr lang="zh-CN" altLang="en-US" sz="2000" b="1" noProof="0">
                <a:solidFill>
                  <a:srgbClr val="FF0000"/>
                </a:solidFill>
                <a:effectLst/>
                <a:latin typeface="+mj-ea"/>
                <a:ea typeface="+mj-ea"/>
                <a:sym typeface="+mn-ea"/>
              </a:rPr>
              <a:t>结构测试</a:t>
            </a:r>
            <a:r>
              <a:rPr lang="zh-CN" altLang="en-US" sz="2000" noProof="0">
                <a:solidFill>
                  <a:schemeClr val="tx1"/>
                </a:solidFill>
                <a:effectLst/>
                <a:latin typeface="+mj-ea"/>
                <a:ea typeface="+mj-ea"/>
                <a:sym typeface="+mn-ea"/>
              </a:rPr>
              <a:t>或</a:t>
            </a:r>
            <a:r>
              <a:rPr lang="zh-CN" altLang="en-US" sz="2000" b="1" noProof="0">
                <a:solidFill>
                  <a:srgbClr val="FF0000"/>
                </a:solidFill>
                <a:effectLst/>
                <a:latin typeface="+mj-ea"/>
                <a:ea typeface="+mj-ea"/>
                <a:sym typeface="+mn-ea"/>
              </a:rPr>
              <a:t>逻辑驱动测试</a:t>
            </a:r>
            <a:r>
              <a:rPr lang="zh-CN" altLang="en-US" sz="2000" noProof="0">
                <a:solidFill>
                  <a:schemeClr val="tx1"/>
                </a:solidFill>
                <a:effectLst/>
                <a:latin typeface="+mj-ea"/>
                <a:ea typeface="+mj-ea"/>
                <a:sym typeface="+mn-ea"/>
              </a:rPr>
              <a:t>，是针对被测单元内部是如何进行工作的测试。它根据程序的控制结构设计测试用例，主要用于软件或程序验证。</a:t>
            </a:r>
          </a:p>
        </p:txBody>
      </p:sp>
      <p:sp>
        <p:nvSpPr>
          <p:cNvPr id="7" name="文本框 6"/>
          <p:cNvSpPr txBox="1"/>
          <p:nvPr/>
        </p:nvSpPr>
        <p:spPr>
          <a:xfrm>
            <a:off x="539750" y="1620520"/>
            <a:ext cx="4826000" cy="2061210"/>
          </a:xfrm>
          <a:prstGeom prst="rect">
            <a:avLst/>
          </a:prstGeom>
          <a:noFill/>
        </p:spPr>
        <p:txBody>
          <a:bodyPr wrap="square" rtlCol="0" anchor="t">
            <a:spAutoFit/>
          </a:bodyPr>
          <a:lstStyle/>
          <a:p>
            <a:pPr marL="0" lvl="0" indent="0" eaLnBrk="1" hangingPunct="1">
              <a:lnSpc>
                <a:spcPct val="160000"/>
              </a:lnSpc>
              <a:spcBef>
                <a:spcPct val="50000"/>
              </a:spcBef>
              <a:buClrTx/>
              <a:buFontTx/>
              <a:buNone/>
            </a:pPr>
            <a:r>
              <a:rPr lang="zh-CN" altLang="en-US" sz="2000" dirty="0">
                <a:solidFill>
                  <a:schemeClr val="tx1"/>
                </a:solidFill>
                <a:effectLst/>
                <a:latin typeface="+mj-ea"/>
                <a:ea typeface="+mj-ea"/>
                <a:sym typeface="+mn-ea"/>
              </a:rPr>
              <a:t>白盒测试是把测试对象看做一个透明的盒子，它允许测试人员利用</a:t>
            </a:r>
            <a:r>
              <a:rPr lang="zh-CN" altLang="en-US" sz="2000" b="1" dirty="0">
                <a:solidFill>
                  <a:srgbClr val="FF0000"/>
                </a:solidFill>
                <a:effectLst/>
                <a:latin typeface="+mj-ea"/>
                <a:ea typeface="+mj-ea"/>
                <a:sym typeface="+mn-ea"/>
              </a:rPr>
              <a:t>程序内部的逻辑结构</a:t>
            </a:r>
            <a:r>
              <a:rPr lang="zh-CN" altLang="en-US" sz="2000" dirty="0">
                <a:solidFill>
                  <a:schemeClr val="tx1"/>
                </a:solidFill>
                <a:effectLst/>
                <a:latin typeface="+mj-ea"/>
                <a:ea typeface="+mj-ea"/>
                <a:sym typeface="+mn-ea"/>
              </a:rPr>
              <a:t>及有关信息，设计或选择测试用例，对程序所有</a:t>
            </a:r>
            <a:r>
              <a:rPr lang="zh-CN" altLang="en-US" sz="2000" b="1" dirty="0">
                <a:solidFill>
                  <a:srgbClr val="FF0000"/>
                </a:solidFill>
                <a:effectLst/>
                <a:latin typeface="+mj-ea"/>
                <a:ea typeface="+mj-ea"/>
                <a:sym typeface="+mn-ea"/>
              </a:rPr>
              <a:t>逻辑路径</a:t>
            </a:r>
            <a:r>
              <a:rPr lang="zh-CN" altLang="en-US" sz="2000" dirty="0">
                <a:solidFill>
                  <a:schemeClr val="tx1"/>
                </a:solidFill>
                <a:effectLst/>
                <a:latin typeface="+mj-ea"/>
                <a:ea typeface="+mj-ea"/>
                <a:sym typeface="+mn-ea"/>
              </a:rPr>
              <a:t>进行测试。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281604"/>
                                        </p:tgtEl>
                                        <p:attrNameLst>
                                          <p:attrName>style.visibility</p:attrName>
                                        </p:attrNameLst>
                                      </p:cBhvr>
                                      <p:to>
                                        <p:strVal val="visible"/>
                                      </p:to>
                                    </p:set>
                                    <p:animEffect transition="in" filter="box(out)">
                                      <p:cBhvr>
                                        <p:cTn id="7" dur="1000"/>
                                        <p:tgtEl>
                                          <p:spTgt spid="2816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2816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vert="horz" wrap="square" lIns="91440" tIns="45720" rIns="91440" bIns="45720" anchor="b" anchorCtr="0"/>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
        <p:nvSpPr>
          <p:cNvPr id="8195" name="Rectangle 3"/>
          <p:cNvSpPr>
            <a:spLocks noGrp="1"/>
          </p:cNvSpPr>
          <p:nvPr>
            <p:ph idx="1"/>
          </p:nvPr>
        </p:nvSpPr>
        <p:spPr/>
        <p:txBody>
          <a:bodyPr vert="horz" wrap="square" lIns="91440" tIns="45720" rIns="91440" bIns="45720" anchor="t" anchorCtr="0"/>
          <a:lstStyle/>
          <a:p>
            <a:pPr algn="just" eaLnBrk="1" hangingPunct="1"/>
            <a:r>
              <a:rPr lang="zh-CN" altLang="en-US" sz="3400" b="1" dirty="0"/>
              <a:t>基本原理</a:t>
            </a:r>
          </a:p>
        </p:txBody>
      </p:sp>
      <p:pic>
        <p:nvPicPr>
          <p:cNvPr id="8197" name="Picture 7" descr="5t1"/>
          <p:cNvPicPr>
            <a:picLocks noChangeAspect="1"/>
          </p:cNvPicPr>
          <p:nvPr/>
        </p:nvPicPr>
        <p:blipFill>
          <a:blip r:embed="rId2"/>
          <a:stretch>
            <a:fillRect/>
          </a:stretch>
        </p:blipFill>
        <p:spPr>
          <a:xfrm>
            <a:off x="1547178" y="2420303"/>
            <a:ext cx="5929312" cy="3830637"/>
          </a:xfrm>
          <a:prstGeom prst="rect">
            <a:avLst/>
          </a:prstGeom>
          <a:noFill/>
          <a:ln w="9525">
            <a:noFill/>
          </a:ln>
        </p:spPr>
      </p:pic>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a:t>
            </a:fld>
            <a:endParaRPr lang="en-US" altLang="zh-CN" dirty="0">
              <a:latin typeface="Verdana" panose="020B0604030504040204" pitchFamily="34" charset="0"/>
            </a:endParaRPr>
          </a:p>
        </p:txBody>
      </p:sp>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p:cNvSpPr>
          <p:nvPr>
            <p:ph idx="1"/>
          </p:nvPr>
        </p:nvSpPr>
        <p:spPr>
          <a:xfrm>
            <a:off x="502285" y="1287780"/>
            <a:ext cx="8139430" cy="1019810"/>
          </a:xfrm>
        </p:spPr>
        <p:txBody>
          <a:bodyPr vert="horz" wrap="square" lIns="91440" tIns="45720" rIns="91440" bIns="45720" anchor="t" anchorCtr="0"/>
          <a:lstStyle/>
          <a:p>
            <a:pPr algn="just" eaLnBrk="1" hangingPunct="1">
              <a:buClrTx/>
              <a:buSzTx/>
            </a:pPr>
            <a:r>
              <a:rPr sz="3400" b="1">
                <a:solidFill>
                  <a:schemeClr val="tx1"/>
                </a:solidFill>
                <a:sym typeface="+mn-ea"/>
              </a:rPr>
              <a:t>为什么要进行白盒测试？</a:t>
            </a:r>
            <a:endParaRPr kumimoji="0" lang="zh-CN" altLang="en-US" sz="3400" b="1" i="0" strike="noStrike" cap="none" normalizeH="0" baseline="0" dirty="0">
              <a:solidFill>
                <a:schemeClr val="tx1"/>
              </a:solidFill>
              <a:uFillTx/>
              <a:sym typeface="+mn-ea"/>
            </a:endParaRPr>
          </a:p>
        </p:txBody>
      </p:sp>
      <p:pic>
        <p:nvPicPr>
          <p:cNvPr id="225286" name="Picture 6"/>
          <p:cNvPicPr>
            <a:picLocks noChangeAspect="1"/>
          </p:cNvPicPr>
          <p:nvPr/>
        </p:nvPicPr>
        <p:blipFill>
          <a:blip r:embed="rId3"/>
          <a:stretch>
            <a:fillRect/>
          </a:stretch>
        </p:blipFill>
        <p:spPr>
          <a:xfrm>
            <a:off x="557530" y="2132965"/>
            <a:ext cx="2993390" cy="3816350"/>
          </a:xfrm>
          <a:prstGeom prst="rect">
            <a:avLst/>
          </a:prstGeom>
          <a:solidFill>
            <a:schemeClr val="accent1"/>
          </a:solidFill>
          <a:ln w="9525">
            <a:noFill/>
          </a:ln>
        </p:spPr>
      </p:pic>
      <p:sp>
        <p:nvSpPr>
          <p:cNvPr id="225287" name="Text Box 7"/>
          <p:cNvSpPr txBox="1">
            <a:spLocks noChangeArrowheads="1"/>
          </p:cNvSpPr>
          <p:nvPr/>
        </p:nvSpPr>
        <p:spPr bwMode="auto">
          <a:xfrm>
            <a:off x="3707765" y="2204720"/>
            <a:ext cx="4881880" cy="3985895"/>
          </a:xfrm>
          <a:prstGeom prst="rect">
            <a:avLst/>
          </a:prstGeom>
          <a:noFill/>
          <a:ln w="9525">
            <a:noFill/>
            <a:miter lim="800000"/>
          </a:ln>
          <a:effectLst/>
        </p:spPr>
        <p:txBody>
          <a:bodyPr>
            <a:noAutofit/>
          </a:bodyPr>
          <a:lstStyle/>
          <a:p>
            <a:pPr marL="342900" marR="0" indent="-342900" algn="just" defTabSz="914400">
              <a:lnSpc>
                <a:spcPct val="155000"/>
              </a:lnSpc>
              <a:spcBef>
                <a:spcPct val="20000"/>
              </a:spcBef>
              <a:buClrTx/>
              <a:buSzTx/>
              <a:buFont typeface="Arial" panose="020B0604020202020204" pitchFamily="34" charset="0"/>
              <a:buChar char="•"/>
              <a:defRPr/>
            </a:pP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假设开发工作已结束，程序送交到测试组，没有人知道代码中有一个潜在的被 </a:t>
            </a:r>
            <a:r>
              <a:rPr kumimoji="0" lang="en-US" altLang="zh-CN" sz="2000" kern="1200" cap="none" spc="0" normalizeH="0" baseline="0" noProof="0">
                <a:effectLst/>
                <a:latin typeface="微软雅黑" panose="020B0503020204020204" charset="-122"/>
                <a:ea typeface="微软雅黑" panose="020B0503020204020204" charset="-122"/>
                <a:cs typeface="微软雅黑" panose="020B0503020204020204" charset="-122"/>
              </a:rPr>
              <a:t>0 </a:t>
            </a: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除的错误。</a:t>
            </a:r>
          </a:p>
          <a:p>
            <a:pPr marL="342900" marR="0" indent="-342900" algn="just" defTabSz="914400">
              <a:lnSpc>
                <a:spcPct val="155000"/>
              </a:lnSpc>
              <a:spcBef>
                <a:spcPct val="20000"/>
              </a:spcBef>
              <a:buClrTx/>
              <a:buSzTx/>
              <a:buFont typeface="Arial" panose="020B0604020202020204" pitchFamily="34" charset="0"/>
              <a:buChar char="•"/>
              <a:defRPr/>
            </a:pP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若测试组采用的测试用例的执行路径没有同时经过</a:t>
            </a:r>
            <a:r>
              <a:rPr kumimoji="0" lang="en-US" altLang="zh-CN" sz="2000" kern="1200" cap="none" spc="0" normalizeH="0" baseline="0" noProof="0">
                <a:effectLst/>
                <a:latin typeface="微软雅黑" panose="020B0503020204020204" charset="-122"/>
                <a:ea typeface="微软雅黑" panose="020B0503020204020204" charset="-122"/>
                <a:cs typeface="微软雅黑" panose="020B0503020204020204" charset="-122"/>
              </a:rPr>
              <a:t>x=0</a:t>
            </a: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和</a:t>
            </a:r>
            <a:r>
              <a:rPr kumimoji="0" lang="en-US" altLang="zh-CN" sz="2000" kern="1200" cap="none" spc="0" normalizeH="0" baseline="0" noProof="0">
                <a:effectLst/>
                <a:latin typeface="微软雅黑" panose="020B0503020204020204" charset="-122"/>
                <a:ea typeface="微软雅黑" panose="020B0503020204020204" charset="-122"/>
                <a:cs typeface="微软雅黑" panose="020B0503020204020204" charset="-122"/>
              </a:rPr>
              <a:t>y=5/x</a:t>
            </a: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进行测试，显然测试工作似乎非常完善，测试用例覆盖了所有执行语句，也没被 </a:t>
            </a:r>
            <a:r>
              <a:rPr kumimoji="0" lang="en-US" altLang="zh-CN" sz="2000" kern="1200" cap="none" spc="0" normalizeH="0" baseline="0" noProof="0">
                <a:effectLst/>
                <a:latin typeface="微软雅黑" panose="020B0503020204020204" charset="-122"/>
                <a:ea typeface="微软雅黑" panose="020B0503020204020204" charset="-122"/>
                <a:cs typeface="微软雅黑" panose="020B0503020204020204" charset="-122"/>
              </a:rPr>
              <a:t>0 </a:t>
            </a:r>
            <a:r>
              <a:rPr kumimoji="0" lang="zh-CN" altLang="en-US" sz="2000" kern="1200" cap="none" spc="0" normalizeH="0" baseline="0" noProof="0">
                <a:effectLst/>
                <a:latin typeface="微软雅黑" panose="020B0503020204020204" charset="-122"/>
                <a:ea typeface="微软雅黑" panose="020B0503020204020204" charset="-122"/>
                <a:cs typeface="微软雅黑" panose="020B0503020204020204" charset="-122"/>
              </a:rPr>
              <a:t>除的错误发生。</a:t>
            </a:r>
          </a:p>
        </p:txBody>
      </p:sp>
      <p:sp>
        <p:nvSpPr>
          <p:cNvPr id="2" name="日期占位符 1"/>
          <p:cNvSpPr>
            <a:spLocks noGrp="1"/>
          </p:cNvSpPr>
          <p:nvPr>
            <p:ph type="dt" sz="half" idx="10"/>
          </p:nvPr>
        </p:nvSpPr>
        <p:spPr/>
        <p:txBody>
          <a:bodyPr>
            <a:normAutofit fontScale="92500" lnSpcReduction="20000"/>
          </a:bodyPr>
          <a:lstStyle/>
          <a:p>
            <a:pPr marL="0" marR="0" lvl="0" indent="0"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pPr marL="0" marR="0" lvl="0" indent="0" defTabSz="914400" rtl="0" eaLnBrk="1" fontAlgn="base" latinLnBrk="0" hangingPunct="1">
                <a:lnSpc>
                  <a:spcPct val="100000"/>
                </a:lnSpc>
                <a:spcBef>
                  <a:spcPct val="0"/>
                </a:spcBef>
                <a:spcAft>
                  <a:spcPct val="0"/>
                </a:spcAft>
                <a:buClrTx/>
                <a:buSzTx/>
                <a:buFontTx/>
                <a:buNone/>
                <a:defRPr/>
              </a:pPr>
              <a:t>2023/4/19</a:t>
            </a:fld>
            <a:endParaRPr kumimoji="0" lang="en-US" altLang="zh-CN" sz="12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a:t>
            </a:fld>
            <a:endParaRPr lang="en-US" altLang="zh-CN" dirty="0">
              <a:latin typeface="Verdana" panose="020B0604030504040204" pitchFamily="34" charset="0"/>
            </a:endParaRPr>
          </a:p>
        </p:txBody>
      </p:sp>
      <p:sp>
        <p:nvSpPr>
          <p:cNvPr id="4"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25286"/>
                                        </p:tgtEl>
                                        <p:attrNameLst>
                                          <p:attrName>style.visibility</p:attrName>
                                        </p:attrNameLst>
                                      </p:cBhvr>
                                      <p:to>
                                        <p:strVal val="visible"/>
                                      </p:to>
                                    </p:set>
                                    <p:animEffect transition="in" filter="slide(fromLeft)">
                                      <p:cBhvr>
                                        <p:cTn id="7" dur="500"/>
                                        <p:tgtEl>
                                          <p:spTgt spid="2252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287"/>
                                        </p:tgtEl>
                                        <p:attrNameLst>
                                          <p:attrName>style.visibility</p:attrName>
                                        </p:attrNameLst>
                                      </p:cBhvr>
                                      <p:to>
                                        <p:strVal val="visible"/>
                                      </p:to>
                                    </p:set>
                                    <p:animEffect transition="in" filter="wipe(left)">
                                      <p:cBhvr>
                                        <p:cTn id="12" dur="500"/>
                                        <p:tgtEl>
                                          <p:spTgt spid="22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Grp="1" noChangeArrowheads="1"/>
          </p:cNvSpPr>
          <p:nvPr>
            <p:ph idx="1"/>
          </p:nvPr>
        </p:nvSpPr>
        <p:spPr>
          <a:xfrm>
            <a:off x="502285" y="1452245"/>
            <a:ext cx="8139430" cy="4474210"/>
          </a:xfrm>
        </p:spPr>
        <p:txBody>
          <a:bodyPr vert="horz" wrap="square" lIns="91440" tIns="45720" rIns="91440" bIns="45720" numCol="1" anchor="t" anchorCtr="0" compatLnSpc="1">
            <a:normAutofit lnSpcReduction="10000"/>
          </a:bodyPr>
          <a:lstStyle/>
          <a:p>
            <a:pPr marL="469900" marR="0" lvl="0" indent="-469900" algn="just" defTabSz="914400" rtl="0" eaLnBrk="1" fontAlgn="base" latinLnBrk="0" hangingPunct="1">
              <a:lnSpc>
                <a:spcPct val="165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白盒测试法检查程序内部逻辑结构，对所有逻辑路径进行测试，是一种穷举路径的测试方法。  </a:t>
            </a:r>
          </a:p>
          <a:p>
            <a:pPr marL="469900" marR="0" lvl="0" indent="-469900" algn="just" defTabSz="914400" rtl="0" eaLnBrk="1" fontAlgn="base" latinLnBrk="0" hangingPunct="1">
              <a:lnSpc>
                <a:spcPct val="165000"/>
              </a:lnSpc>
              <a:spcBef>
                <a:spcPct val="20000"/>
              </a:spcBef>
              <a:spcAft>
                <a:spcPct val="0"/>
              </a:spcAft>
              <a:buClr>
                <a:schemeClr val="accent2"/>
              </a:buClr>
              <a:buSzTx/>
              <a:buFont typeface="Wingdings" panose="05000000000000000000" pitchFamily="2" charset="2"/>
              <a:buChar char="o"/>
              <a:defRPr/>
            </a:pPr>
            <a:r>
              <a:rPr kumimoji="0" lang="zh-CN" altLang="en-US" sz="2400" b="1" i="0" strike="noStrike" kern="0" cap="none" spc="0" normalizeH="0" baseline="0" noProof="0" dirty="0">
                <a:ln>
                  <a:noFill/>
                </a:ln>
                <a:solidFill>
                  <a:schemeClr val="tx1"/>
                </a:solidFill>
                <a:effectLst/>
                <a:uLnTx/>
                <a:uFillTx/>
                <a:latin typeface="宋体" panose="02010600030101010101" pitchFamily="2" charset="-122"/>
                <a:ea typeface="+mn-ea"/>
                <a:cs typeface="+mn-cs"/>
              </a:rPr>
              <a:t>即使每条路径都测试过了，仍然可能存在错误：</a:t>
            </a:r>
            <a:endPar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814070" marR="0" lvl="1" indent="-342900" algn="just" defTabSz="914400" rtl="0" eaLnBrk="1" fontAlgn="base" latinLnBrk="0" hangingPunct="1">
              <a:lnSpc>
                <a:spcPct val="165000"/>
              </a:lnSpc>
              <a:spcBef>
                <a:spcPct val="20000"/>
              </a:spcBef>
              <a:spcAft>
                <a:spcPct val="0"/>
              </a:spcAft>
              <a:buClr>
                <a:schemeClr val="accent2"/>
              </a:buClr>
              <a:buSzTx/>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rPr>
              <a:t>穷举路径测试无法检查出程序本身是否违反了设计规范，即程序是否是一个错误的程序。</a:t>
            </a:r>
          </a:p>
          <a:p>
            <a:pPr marL="814070" marR="0" lvl="1" indent="-342900" algn="just" defTabSz="914400" rtl="0" eaLnBrk="1" fontAlgn="base" latinLnBrk="0" hangingPunct="1">
              <a:lnSpc>
                <a:spcPct val="165000"/>
              </a:lnSpc>
              <a:spcBef>
                <a:spcPct val="20000"/>
              </a:spcBef>
              <a:spcAft>
                <a:spcPct val="0"/>
              </a:spcAft>
              <a:buClr>
                <a:schemeClr val="accent2"/>
              </a:buClr>
              <a:buSzTx/>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rPr>
              <a:t>穷举路径测试不可能查出程序因为遗漏路径而出错。</a:t>
            </a:r>
          </a:p>
          <a:p>
            <a:pPr marL="814070" marR="0" lvl="1" indent="-342900" algn="just" defTabSz="914400" rtl="0" eaLnBrk="1" fontAlgn="base" latinLnBrk="0" hangingPunct="1">
              <a:lnSpc>
                <a:spcPct val="165000"/>
              </a:lnSpc>
              <a:spcBef>
                <a:spcPct val="20000"/>
              </a:spcBef>
              <a:spcAft>
                <a:spcPct val="0"/>
              </a:spcAft>
              <a:buClr>
                <a:schemeClr val="accent2"/>
              </a:buClr>
              <a:buSzTx/>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rPr>
              <a:t>穷举路径测试发现不了一些与数据相关的错误。</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a:t>
            </a:fld>
            <a:endParaRPr lang="en-US" altLang="zh-CN" dirty="0">
              <a:latin typeface="Verdana" panose="020B0604030504040204" pitchFamily="34" charset="0"/>
            </a:endParaRPr>
          </a:p>
        </p:txBody>
      </p:sp>
      <p:sp>
        <p:nvSpPr>
          <p:cNvPr id="6"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0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10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10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sz="quarter" idx="13"/>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155000"/>
              </a:lnSpc>
              <a:spcBef>
                <a:spcPct val="20000"/>
              </a:spcBef>
              <a:spcAft>
                <a:spcPct val="0"/>
              </a:spcAft>
              <a:buClr>
                <a:schemeClr val="accent2"/>
              </a:buClr>
              <a:buSzTx/>
              <a:buFont typeface="Wingdings" panose="05000000000000000000" pitchFamily="2" charset="2"/>
              <a:buChar char="o"/>
              <a:defRPr/>
            </a:pPr>
            <a:r>
              <a:rPr kumimoji="0" lang="zh-CN" altLang="en-US" b="1" i="0" strike="noStrike" kern="0" cap="none" spc="0" normalizeH="0" baseline="0" noProof="0" dirty="0">
                <a:ln>
                  <a:noFill/>
                </a:ln>
                <a:solidFill>
                  <a:schemeClr val="tx1"/>
                </a:solidFill>
                <a:effectLst/>
                <a:uLnTx/>
                <a:uFillTx/>
                <a:latin typeface="宋体" panose="02010600030101010101" pitchFamily="2" charset="-122"/>
                <a:ea typeface="+mn-ea"/>
                <a:cs typeface="+mn-cs"/>
              </a:rPr>
              <a:t>采用白盒测试方法必须遵循以下几条原则：</a:t>
            </a:r>
          </a:p>
          <a:p>
            <a:pPr marL="928370" marR="0" lvl="1" indent="-457200" algn="just" defTabSz="914400" rtl="0" eaLnBrk="1" fontAlgn="base" latinLnBrk="0" hangingPunct="1">
              <a:lnSpc>
                <a:spcPct val="155000"/>
              </a:lnSpc>
              <a:spcBef>
                <a:spcPct val="20000"/>
              </a:spcBef>
              <a:spcAft>
                <a:spcPct val="0"/>
              </a:spcAft>
              <a:buClr>
                <a:schemeClr val="accent2"/>
              </a:buClr>
              <a:buSzTx/>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rPr>
              <a:t>保证一个模块中的</a:t>
            </a:r>
            <a:r>
              <a:rPr kumimoji="0" lang="zh-CN" altLang="en-US" sz="2400" b="1" i="0" u="none" strike="noStrike" kern="0" cap="none" spc="0" normalizeH="0" baseline="0" noProof="0" dirty="0">
                <a:ln>
                  <a:noFill/>
                </a:ln>
                <a:solidFill>
                  <a:srgbClr val="FF0000"/>
                </a:solidFill>
                <a:effectLst/>
                <a:uLnTx/>
                <a:uFillTx/>
                <a:latin typeface="+mn-lt"/>
                <a:ea typeface="+mn-ea"/>
              </a:rPr>
              <a:t>所有独立路径至少被测试一次</a:t>
            </a:r>
            <a:r>
              <a:rPr kumimoji="0" lang="zh-CN" altLang="en-US" sz="2400" b="0" i="0" u="none" strike="noStrike" kern="0" cap="none" spc="0" normalizeH="0" baseline="0" noProof="0" dirty="0">
                <a:ln>
                  <a:noFill/>
                </a:ln>
                <a:solidFill>
                  <a:schemeClr val="tx1"/>
                </a:solidFill>
                <a:effectLst/>
                <a:uLnTx/>
                <a:uFillTx/>
                <a:latin typeface="+mn-lt"/>
                <a:ea typeface="+mn-ea"/>
              </a:rPr>
              <a:t>；</a:t>
            </a:r>
          </a:p>
          <a:p>
            <a:pPr marL="928370" marR="0" lvl="1" indent="-457200" algn="just" defTabSz="914400" rtl="0" eaLnBrk="1" fontAlgn="base" latinLnBrk="0" hangingPunct="1">
              <a:lnSpc>
                <a:spcPct val="155000"/>
              </a:lnSpc>
              <a:spcBef>
                <a:spcPct val="20000"/>
              </a:spcBef>
              <a:spcAft>
                <a:spcPct val="0"/>
              </a:spcAft>
              <a:buClr>
                <a:schemeClr val="accent2"/>
              </a:buClr>
              <a:buSzTx/>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rPr>
              <a:t>所有逻辑值均需测试</a:t>
            </a:r>
            <a:r>
              <a:rPr kumimoji="0" lang="zh-CN" altLang="en-US" sz="2400" b="1" i="0" u="none" strike="noStrike" kern="0" cap="none" spc="0" normalizeH="0" baseline="0" noProof="0" dirty="0">
                <a:ln>
                  <a:noFill/>
                </a:ln>
                <a:solidFill>
                  <a:srgbClr val="FF0000"/>
                </a:solidFill>
                <a:effectLst/>
                <a:uLnTx/>
                <a:uFillTx/>
                <a:latin typeface="+mn-lt"/>
                <a:ea typeface="+mn-ea"/>
              </a:rPr>
              <a:t>真 </a:t>
            </a:r>
            <a:r>
              <a:rPr kumimoji="0" lang="en-US" altLang="zh-CN" sz="2400" b="1" i="0" u="none" strike="noStrike" kern="0" cap="none" spc="0" normalizeH="0" baseline="0" noProof="0" dirty="0">
                <a:ln>
                  <a:noFill/>
                </a:ln>
                <a:solidFill>
                  <a:srgbClr val="FF0000"/>
                </a:solidFill>
                <a:effectLst/>
                <a:uLnTx/>
                <a:uFillTx/>
                <a:latin typeface="+mn-lt"/>
                <a:ea typeface="+mn-ea"/>
              </a:rPr>
              <a:t>(true) </a:t>
            </a:r>
            <a:r>
              <a:rPr kumimoji="0" lang="zh-CN" altLang="en-US" sz="2400" b="1" i="0" u="none" strike="noStrike" kern="0" cap="none" spc="0" normalizeH="0" baseline="0" noProof="0" dirty="0">
                <a:ln>
                  <a:noFill/>
                </a:ln>
                <a:solidFill>
                  <a:srgbClr val="FF0000"/>
                </a:solidFill>
                <a:effectLst/>
                <a:uLnTx/>
                <a:uFillTx/>
                <a:latin typeface="+mn-lt"/>
                <a:ea typeface="+mn-ea"/>
              </a:rPr>
              <a:t>和假 </a:t>
            </a:r>
            <a:r>
              <a:rPr kumimoji="0" lang="en-US" altLang="zh-CN" sz="2400" b="1" i="0" u="none" strike="noStrike" kern="0" cap="none" spc="0" normalizeH="0" baseline="0" noProof="0" dirty="0">
                <a:ln>
                  <a:noFill/>
                </a:ln>
                <a:solidFill>
                  <a:srgbClr val="FF0000"/>
                </a:solidFill>
                <a:effectLst/>
                <a:uLnTx/>
                <a:uFillTx/>
                <a:latin typeface="+mn-lt"/>
                <a:ea typeface="+mn-ea"/>
              </a:rPr>
              <a:t>(false)</a:t>
            </a:r>
            <a:r>
              <a:rPr kumimoji="0" lang="en-US" altLang="zh-CN" sz="2400" b="0" i="0" u="none" strike="noStrike" kern="0" cap="none" spc="0" normalizeH="0" baseline="0" noProof="0" dirty="0">
                <a:ln>
                  <a:noFill/>
                </a:ln>
                <a:solidFill>
                  <a:schemeClr val="tx1"/>
                </a:solidFill>
                <a:effectLst/>
                <a:uLnTx/>
                <a:uFillTx/>
                <a:latin typeface="+mn-lt"/>
                <a:ea typeface="+mn-ea"/>
              </a:rPr>
              <a:t> </a:t>
            </a:r>
            <a:r>
              <a:rPr kumimoji="0" lang="zh-CN" altLang="en-US" sz="2400" b="0" i="0" u="none" strike="noStrike" kern="0" cap="none" spc="0" normalizeH="0" baseline="0" noProof="0" dirty="0">
                <a:ln>
                  <a:noFill/>
                </a:ln>
                <a:solidFill>
                  <a:schemeClr val="tx1"/>
                </a:solidFill>
                <a:effectLst/>
                <a:uLnTx/>
                <a:uFillTx/>
                <a:latin typeface="+mn-lt"/>
                <a:ea typeface="+mn-ea"/>
              </a:rPr>
              <a:t>两种情况；</a:t>
            </a:r>
          </a:p>
          <a:p>
            <a:pPr marL="928370" marR="0" lvl="1" indent="-457200" algn="just" defTabSz="914400" rtl="0" eaLnBrk="1" fontAlgn="base" latinLnBrk="0" hangingPunct="1">
              <a:lnSpc>
                <a:spcPct val="155000"/>
              </a:lnSpc>
              <a:spcBef>
                <a:spcPct val="20000"/>
              </a:spcBef>
              <a:spcAft>
                <a:spcPct val="0"/>
              </a:spcAft>
              <a:buClr>
                <a:schemeClr val="accent2"/>
              </a:buClr>
              <a:buSzTx/>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rPr>
              <a:t>检查程序的内部数据结构，保证其结构的有效性；</a:t>
            </a:r>
          </a:p>
          <a:p>
            <a:pPr marL="928370" marR="0" lvl="1" indent="-457200" algn="just" defTabSz="914400" rtl="0" eaLnBrk="1" fontAlgn="base" latinLnBrk="0" hangingPunct="1">
              <a:lnSpc>
                <a:spcPct val="155000"/>
              </a:lnSpc>
              <a:spcBef>
                <a:spcPct val="20000"/>
              </a:spcBef>
              <a:spcAft>
                <a:spcPct val="0"/>
              </a:spcAft>
              <a:buClr>
                <a:schemeClr val="accent2"/>
              </a:buClr>
              <a:buSzTx/>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rPr>
              <a:t>在上下边界及可操作范围内运行所有循环。</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8</a:t>
            </a:fld>
            <a:endParaRPr lang="en-US" altLang="zh-CN" dirty="0">
              <a:latin typeface="Verdana" panose="020B0604030504040204" pitchFamily="34" charset="0"/>
            </a:endParaRPr>
          </a:p>
        </p:txBody>
      </p:sp>
      <p:sp>
        <p:nvSpPr>
          <p:cNvPr id="4" name="Rectangle 2"/>
          <p:cNvSpPr>
            <a:spLocks noGrp="1"/>
          </p:cNvSpPr>
          <p:nvPr>
            <p:ph type="title"/>
            <p:custDataLst>
              <p:tags r:id="rId1"/>
            </p:custDataLst>
          </p:nvPr>
        </p:nvSpPr>
        <p:spPr>
          <a:xfrm>
            <a:off x="502285" y="427990"/>
            <a:ext cx="8139430" cy="802640"/>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p:cNvSpPr>
          <p:nvPr>
            <p:ph sz="quarter" idx="13"/>
          </p:nvPr>
        </p:nvSpPr>
        <p:spPr/>
        <p:txBody>
          <a:bodyPr vert="horz" wrap="square" lIns="91440" tIns="45720" rIns="91440" bIns="45720" anchor="t" anchorCtr="0"/>
          <a:lstStyle/>
          <a:p>
            <a:pPr algn="just" eaLnBrk="1" hangingPunct="1">
              <a:lnSpc>
                <a:spcPct val="120000"/>
              </a:lnSpc>
            </a:pPr>
            <a:r>
              <a:rPr lang="zh-CN" altLang="en-US" sz="3200" b="1" dirty="0"/>
              <a:t>白盒测试关注的对象</a:t>
            </a:r>
            <a:endParaRPr lang="en-US" altLang="zh-CN" sz="3200" b="1" dirty="0"/>
          </a:p>
          <a:p>
            <a:pPr lvl="1" algn="just" eaLnBrk="1" hangingPunct="1">
              <a:lnSpc>
                <a:spcPct val="140000"/>
              </a:lnSpc>
            </a:pPr>
            <a:r>
              <a:rPr lang="zh-CN" altLang="en-US" sz="2400" dirty="0">
                <a:solidFill>
                  <a:srgbClr val="FF0000"/>
                </a:solidFill>
              </a:rPr>
              <a:t>源代码：</a:t>
            </a:r>
            <a:r>
              <a:rPr lang="zh-CN" altLang="en-US" sz="2400" dirty="0"/>
              <a:t>直接查看源代码，查看代码的规范性，并对照函数功能查找代码的逻辑缺陷、内存管理缺陷、数据定义和使用缺陷等。</a:t>
            </a:r>
            <a:endParaRPr lang="en-US" altLang="zh-CN" sz="2400" dirty="0"/>
          </a:p>
          <a:p>
            <a:pPr lvl="1" algn="just" eaLnBrk="1" hangingPunct="1">
              <a:lnSpc>
                <a:spcPct val="140000"/>
              </a:lnSpc>
            </a:pPr>
            <a:r>
              <a:rPr lang="zh-CN" altLang="en-US" sz="2400" dirty="0">
                <a:solidFill>
                  <a:srgbClr val="FF0000"/>
                </a:solidFill>
              </a:rPr>
              <a:t>程序结构：</a:t>
            </a:r>
            <a:r>
              <a:rPr lang="zh-CN" altLang="en-US" sz="2400" dirty="0"/>
              <a:t>通过函数调用图、算法流程图等反映程序设计的相关图表，找到程序设计的缺陷，或评价程序的执行效率，以利于程序的结构优化。</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9</a:t>
            </a:fld>
            <a:endParaRPr lang="en-US" altLang="zh-CN" dirty="0">
              <a:latin typeface="Verdana" panose="020B0604030504040204" pitchFamily="34" charset="0"/>
            </a:endParaRPr>
          </a:p>
        </p:txBody>
      </p:sp>
      <p:sp>
        <p:nvSpPr>
          <p:cNvPr id="8194" name="Rectangle 2"/>
          <p:cNvSpPr>
            <a:spLocks noGrp="1"/>
          </p:cNvSpPr>
          <p:nvPr>
            <p:ph type="title"/>
            <p:custDataLst>
              <p:tags r:id="rId1"/>
            </p:custDataLst>
          </p:nvPr>
        </p:nvSpPr>
        <p:spPr>
          <a:xfrm>
            <a:off x="502285" y="356235"/>
            <a:ext cx="8139430" cy="922020"/>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p:cNvSpPr>
          <p:nvPr>
            <p:ph sz="quarter" idx="13"/>
          </p:nvPr>
        </p:nvSpPr>
        <p:spPr/>
        <p:txBody>
          <a:bodyPr vert="horz" wrap="square" lIns="91440" tIns="45720" rIns="91440" bIns="45720" anchor="t" anchorCtr="0"/>
          <a:lstStyle/>
          <a:p>
            <a:pPr algn="just" eaLnBrk="1" hangingPunct="1">
              <a:lnSpc>
                <a:spcPct val="120000"/>
              </a:lnSpc>
            </a:pPr>
            <a:r>
              <a:rPr lang="zh-CN" altLang="en-US" sz="3200" b="1" dirty="0"/>
              <a:t>优势</a:t>
            </a:r>
            <a:endParaRPr lang="en-US" altLang="zh-CN" sz="3200" b="1" dirty="0"/>
          </a:p>
          <a:p>
            <a:pPr lvl="1" algn="just" eaLnBrk="1" hangingPunct="1">
              <a:lnSpc>
                <a:spcPct val="140000"/>
              </a:lnSpc>
            </a:pPr>
            <a:r>
              <a:rPr lang="zh-CN" altLang="en-US" dirty="0"/>
              <a:t>针对性强，测试效率高，通过不同的白盒覆盖指标有助于衡量对被测对象的测试覆盖程度；</a:t>
            </a:r>
            <a:endParaRPr lang="en-US" altLang="zh-CN" dirty="0"/>
          </a:p>
          <a:p>
            <a:pPr lvl="1" algn="just" eaLnBrk="1" hangingPunct="1">
              <a:lnSpc>
                <a:spcPct val="120000"/>
              </a:lnSpc>
            </a:pPr>
            <a:r>
              <a:rPr lang="zh-CN" altLang="en-US" dirty="0"/>
              <a:t>在函数级别进行测试工作，缺陷修复的成本低。</a:t>
            </a:r>
            <a:endParaRPr lang="en-US" altLang="zh-CN" dirty="0"/>
          </a:p>
          <a:p>
            <a:pPr algn="just" eaLnBrk="1" hangingPunct="1">
              <a:lnSpc>
                <a:spcPct val="120000"/>
              </a:lnSpc>
            </a:pPr>
            <a:r>
              <a:rPr lang="zh-CN" altLang="en-US" sz="3200" b="1" dirty="0"/>
              <a:t>局限性</a:t>
            </a:r>
            <a:endParaRPr lang="en-US" altLang="zh-CN" sz="3200" b="1" dirty="0"/>
          </a:p>
          <a:p>
            <a:pPr lvl="1" algn="just" eaLnBrk="1" hangingPunct="1">
              <a:lnSpc>
                <a:spcPct val="140000"/>
              </a:lnSpc>
            </a:pPr>
            <a:r>
              <a:rPr lang="zh-CN" altLang="en-US" dirty="0"/>
              <a:t>对测试人员的技术要求高，没有一定编程经验的人是无法做白盒测试的。</a:t>
            </a:r>
            <a:endParaRPr lang="en-US" altLang="zh-CN" dirty="0"/>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10</a:t>
            </a:fld>
            <a:endParaRPr lang="en-US" altLang="zh-CN" dirty="0">
              <a:latin typeface="Verdana" panose="020B0604030504040204" pitchFamily="34" charset="0"/>
            </a:endParaRPr>
          </a:p>
        </p:txBody>
      </p:sp>
      <p:sp>
        <p:nvSpPr>
          <p:cNvPr id="8194" name="Rectangle 2"/>
          <p:cNvSpPr>
            <a:spLocks noGrp="1"/>
          </p:cNvSpPr>
          <p:nvPr>
            <p:ph type="title"/>
            <p:custDataLst>
              <p:tags r:id="rId1"/>
            </p:custDataLst>
          </p:nvPr>
        </p:nvSpPr>
        <p:spPr>
          <a:xfrm>
            <a:off x="502285" y="427990"/>
            <a:ext cx="8139430" cy="875030"/>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p:cNvSpPr>
          <p:nvPr>
            <p:ph sz="quarter" idx="13"/>
          </p:nvPr>
        </p:nvSpPr>
        <p:spPr>
          <a:xfrm>
            <a:off x="502285" y="1522095"/>
            <a:ext cx="8139430" cy="4145915"/>
          </a:xfrm>
        </p:spPr>
        <p:txBody>
          <a:bodyPr vert="horz" wrap="square" lIns="91440" tIns="45720" rIns="91440" bIns="45720" anchor="t" anchorCtr="0"/>
          <a:lstStyle/>
          <a:p>
            <a:pPr algn="just" eaLnBrk="1" hangingPunct="1"/>
            <a:r>
              <a:rPr lang="zh-CN" altLang="en-US" sz="3200" b="1" dirty="0"/>
              <a:t>适用阶段</a:t>
            </a:r>
            <a:endParaRPr lang="en-US" altLang="zh-CN" sz="3200" b="1" dirty="0"/>
          </a:p>
          <a:p>
            <a:pPr algn="just" eaLnBrk="1" hangingPunct="1"/>
            <a:r>
              <a:rPr lang="zh-CN" altLang="en-US" sz="3200" b="1" dirty="0"/>
              <a:t>当被测对象为函数时</a:t>
            </a:r>
            <a:endParaRPr lang="en-US" altLang="zh-CN" sz="3200" b="1" dirty="0"/>
          </a:p>
          <a:p>
            <a:pPr lvl="1" algn="just" eaLnBrk="1" hangingPunct="1"/>
            <a:r>
              <a:rPr lang="zh-CN" altLang="en-US" dirty="0"/>
              <a:t>完成对函数代码和结构的测试；</a:t>
            </a:r>
            <a:endParaRPr lang="en-US" altLang="zh-CN" dirty="0"/>
          </a:p>
          <a:p>
            <a:pPr lvl="1" algn="just" eaLnBrk="1" hangingPunct="1"/>
            <a:r>
              <a:rPr lang="zh-CN" altLang="en-US" dirty="0"/>
              <a:t>主要关注的是函数源代码的逻辑是否符合该函数的功能要求，查看源代码中是否存在典型的编程缺陷，或从设计优化的角度观察源代码结构是否合理、是否过于复杂等；</a:t>
            </a:r>
            <a:endParaRPr lang="en-US" altLang="zh-CN" dirty="0"/>
          </a:p>
          <a:p>
            <a:pPr lvl="1" algn="just" eaLnBrk="1" hangingPunct="1"/>
            <a:r>
              <a:rPr lang="zh-CN" altLang="en-US" dirty="0"/>
              <a:t>对应的是</a:t>
            </a:r>
            <a:r>
              <a:rPr lang="zh-CN" altLang="en-US" dirty="0">
                <a:solidFill>
                  <a:srgbClr val="FF0000"/>
                </a:solidFill>
              </a:rPr>
              <a:t>单元测试</a:t>
            </a:r>
            <a:r>
              <a:rPr lang="zh-CN" altLang="en-US" dirty="0"/>
              <a:t>阶段，主要由开发人员自己来完成测试工作。</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11</a:t>
            </a:fld>
            <a:endParaRPr lang="en-US" altLang="zh-CN" dirty="0">
              <a:latin typeface="Verdana" panose="020B0604030504040204" pitchFamily="34" charset="0"/>
            </a:endParaRPr>
          </a:p>
        </p:txBody>
      </p:sp>
      <p:sp>
        <p:nvSpPr>
          <p:cNvPr id="8194" name="Rectangle 2"/>
          <p:cNvSpPr>
            <a:spLocks noGrp="1"/>
          </p:cNvSpPr>
          <p:nvPr>
            <p:ph type="title"/>
            <p:custDataLst>
              <p:tags r:id="rId1"/>
            </p:custDataLst>
          </p:nvPr>
        </p:nvSpPr>
        <p:spPr>
          <a:xfrm>
            <a:off x="502285" y="427990"/>
            <a:ext cx="8139430" cy="823595"/>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p:cNvSpPr>
          <p:nvPr>
            <p:ph sz="quarter" idx="13"/>
          </p:nvPr>
        </p:nvSpPr>
        <p:spPr/>
        <p:txBody>
          <a:bodyPr vert="horz" wrap="square" lIns="91440" tIns="45720" rIns="91440" bIns="45720" anchor="t" anchorCtr="0"/>
          <a:lstStyle/>
          <a:p>
            <a:pPr algn="just" eaLnBrk="1" hangingPunct="1"/>
            <a:r>
              <a:rPr lang="zh-CN" altLang="en-US" sz="3200" b="1" dirty="0"/>
              <a:t>适用阶段</a:t>
            </a:r>
            <a:endParaRPr lang="en-US" altLang="zh-CN" sz="3200" b="1" dirty="0"/>
          </a:p>
          <a:p>
            <a:pPr algn="just" eaLnBrk="1" hangingPunct="1"/>
            <a:r>
              <a:rPr lang="zh-CN" altLang="en-US" sz="3200" b="1" dirty="0"/>
              <a:t>当被测对象为功能时</a:t>
            </a:r>
            <a:endParaRPr lang="en-US" altLang="zh-CN" sz="3200" b="1" dirty="0"/>
          </a:p>
          <a:p>
            <a:pPr lvl="1" algn="just" eaLnBrk="1" hangingPunct="1"/>
            <a:r>
              <a:rPr lang="zh-CN" altLang="en-US" dirty="0"/>
              <a:t>白盒测试不再对源代码进行检查，此时更多的是借鉴白盒测试方法的思想，完成对业务流程的覆盖测试；</a:t>
            </a:r>
            <a:endParaRPr lang="en-US" altLang="zh-CN" dirty="0"/>
          </a:p>
          <a:p>
            <a:pPr lvl="1" algn="just" eaLnBrk="1" hangingPunct="1"/>
            <a:r>
              <a:rPr lang="zh-CN" altLang="en-US" dirty="0"/>
              <a:t>对应的是</a:t>
            </a:r>
            <a:r>
              <a:rPr lang="zh-CN" altLang="en-US" dirty="0">
                <a:solidFill>
                  <a:srgbClr val="FF0000"/>
                </a:solidFill>
              </a:rPr>
              <a:t>集成测试</a:t>
            </a:r>
            <a:r>
              <a:rPr lang="zh-CN" altLang="en-US" dirty="0"/>
              <a:t>甚至</a:t>
            </a:r>
            <a:r>
              <a:rPr lang="zh-CN" altLang="en-US" dirty="0">
                <a:solidFill>
                  <a:srgbClr val="FF0000"/>
                </a:solidFill>
              </a:rPr>
              <a:t>系统测试</a:t>
            </a:r>
            <a:r>
              <a:rPr lang="zh-CN" altLang="en-US" dirty="0"/>
              <a:t>阶段，主要由测试人员来完成测试工作。</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12</a:t>
            </a:fld>
            <a:endParaRPr lang="en-US" altLang="zh-CN" dirty="0">
              <a:latin typeface="Verdana" panose="020B0604030504040204" pitchFamily="34" charset="0"/>
            </a:endParaRPr>
          </a:p>
        </p:txBody>
      </p:sp>
      <p:sp>
        <p:nvSpPr>
          <p:cNvPr id="8194" name="Rectangle 2"/>
          <p:cNvSpPr>
            <a:spLocks noGrp="1"/>
          </p:cNvSpPr>
          <p:nvPr>
            <p:ph type="title"/>
            <p:custDataLst>
              <p:tags r:id="rId1"/>
            </p:custDataLst>
          </p:nvPr>
        </p:nvSpPr>
        <p:spPr>
          <a:xfrm>
            <a:off x="502285" y="427990"/>
            <a:ext cx="8139430" cy="836930"/>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p:cNvSpPr>
          <p:nvPr>
            <p:ph sz="quarter" idx="13"/>
          </p:nvPr>
        </p:nvSpPr>
        <p:spPr/>
        <p:txBody>
          <a:bodyPr vert="horz" wrap="square" lIns="91440" tIns="45720" rIns="91440" bIns="45720" anchor="t" anchorCtr="0"/>
          <a:lstStyle/>
          <a:p>
            <a:pPr algn="just" eaLnBrk="1" hangingPunct="1"/>
            <a:r>
              <a:rPr lang="zh-CN" altLang="en-US" sz="3200" b="1" dirty="0"/>
              <a:t>测试方法的评价</a:t>
            </a:r>
            <a:endParaRPr lang="en-US" altLang="zh-CN" sz="3200" b="1" dirty="0"/>
          </a:p>
          <a:p>
            <a:pPr lvl="1" algn="just" eaLnBrk="1" hangingPunct="1">
              <a:lnSpc>
                <a:spcPct val="150000"/>
              </a:lnSpc>
            </a:pPr>
            <a:r>
              <a:rPr lang="zh-CN" altLang="en-US" dirty="0"/>
              <a:t>通过重点关注源代码中不同类型的结构，如判定表达式、执行路径、循环结构、数据变量等，引入不同的白盒覆盖指标，从而得到不同的白盒测试方法，这些方法的侧重点不同，对应源代码结构的覆盖程度也不同；</a:t>
            </a:r>
            <a:endParaRPr lang="en-US" altLang="zh-CN" dirty="0"/>
          </a:p>
          <a:p>
            <a:pPr lvl="1" algn="just" eaLnBrk="1" hangingPunct="1">
              <a:lnSpc>
                <a:spcPct val="150000"/>
              </a:lnSpc>
            </a:pPr>
            <a:r>
              <a:rPr lang="zh-CN" altLang="en-US" dirty="0"/>
              <a:t>通过引入白盒测试覆盖指标来评估黑盒测试方法的测试覆盖率。</a:t>
            </a:r>
          </a:p>
        </p:txBody>
      </p:sp>
      <p:sp>
        <p:nvSpPr>
          <p:cNvPr id="2" name="日期占位符 1"/>
          <p:cNvSpPr>
            <a:spLocks noGrp="1"/>
          </p:cNvSpPr>
          <p:nvPr>
            <p:ph type="dt" sz="half" idx="10"/>
          </p:nvPr>
        </p:nvSpPr>
        <p:spPr/>
        <p:txBody>
          <a:bodyPr>
            <a:normAutofit fontScale="92500" lnSpcReduction="20000"/>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2023/4/19</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13</a:t>
            </a:fld>
            <a:endParaRPr lang="en-US" altLang="zh-CN" dirty="0">
              <a:latin typeface="Verdana" panose="020B0604030504040204" pitchFamily="34" charset="0"/>
            </a:endParaRPr>
          </a:p>
        </p:txBody>
      </p:sp>
      <p:sp>
        <p:nvSpPr>
          <p:cNvPr id="8194" name="Rectangle 2"/>
          <p:cNvSpPr>
            <a:spLocks noGrp="1"/>
          </p:cNvSpPr>
          <p:nvPr>
            <p:ph type="title"/>
            <p:custDataLst>
              <p:tags r:id="rId1"/>
            </p:custDataLst>
          </p:nvPr>
        </p:nvSpPr>
        <p:spPr>
          <a:xfrm>
            <a:off x="502285" y="427990"/>
            <a:ext cx="8139430" cy="889000"/>
          </a:xfrm>
        </p:spPr>
        <p:txBody>
          <a:bodyPr vert="horz" wrap="square" lIns="91440" tIns="45720" rIns="91440" bIns="45720" anchor="b" anchorCtr="0">
            <a:noAutofit/>
          </a:bodyPr>
          <a:lstStyle/>
          <a:p>
            <a:pPr algn="l" eaLnBrk="1" hangingPunct="1">
              <a:buClrTx/>
              <a:buSzTx/>
              <a:buFontTx/>
            </a:pPr>
            <a:r>
              <a:rPr sz="4400" b="0">
                <a:solidFill>
                  <a:schemeClr val="accent1"/>
                </a:solidFill>
                <a:ea typeface="汉仪文黑-85W" panose="00020600040101010101" charset="-122"/>
              </a:rPr>
              <a:t>白盒测试</a:t>
            </a:r>
            <a:r>
              <a:rPr lang="en-US" altLang="zh-CN" sz="4400" b="0">
                <a:solidFill>
                  <a:schemeClr val="accent1"/>
                </a:solidFill>
                <a:ea typeface="汉仪文黑-85W" panose="00020600040101010101" charset="-122"/>
              </a:rPr>
              <a:t>概述</a:t>
            </a: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内容占位符 2"/>
          <p:cNvSpPr>
            <a:spLocks noGrp="1"/>
          </p:cNvSpPr>
          <p:nvPr>
            <p:ph idx="1"/>
          </p:nvPr>
        </p:nvSpPr>
        <p:spPr>
          <a:xfrm>
            <a:off x="502285" y="1537970"/>
            <a:ext cx="8139430" cy="4130040"/>
          </a:xfrm>
        </p:spPr>
        <p:txBody>
          <a:bodyPr>
            <a:normAutofit/>
          </a:bodyPr>
          <a:lstStyle/>
          <a:p>
            <a:pPr>
              <a:lnSpc>
                <a:spcPct val="140000"/>
              </a:lnSpc>
            </a:pPr>
            <a:r>
              <a:rPr lang="zh-CN" altLang="en-US" sz="3200" b="1"/>
              <a:t>静态白盒测试的内容</a:t>
            </a:r>
            <a:endParaRPr lang="en-US" altLang="zh-CN" sz="3200" b="1"/>
          </a:p>
          <a:p>
            <a:pPr marL="457200" lvl="2">
              <a:lnSpc>
                <a:spcPct val="160000"/>
              </a:lnSpc>
            </a:pPr>
            <a:r>
              <a:rPr lang="zh-CN" altLang="en-US" sz="2400"/>
              <a:t>代码检查：</a:t>
            </a:r>
            <a:r>
              <a:rPr sz="2400">
                <a:latin typeface="微软雅黑" panose="020B0503020204020204" charset="-122"/>
                <a:sym typeface="+mn-ea"/>
              </a:rPr>
              <a:t>是一系列规程和错误检查技术的集合，是以组为单位来阅读代码的人工测试方式。</a:t>
            </a:r>
            <a:endParaRPr lang="zh-CN" altLang="en-US" sz="2400"/>
          </a:p>
          <a:p>
            <a:pPr lvl="1">
              <a:lnSpc>
                <a:spcPct val="160000"/>
              </a:lnSpc>
            </a:pPr>
            <a:r>
              <a:rPr lang="zh-CN" altLang="en-US" sz="2400"/>
              <a:t>静态结构分析</a:t>
            </a:r>
          </a:p>
          <a:p>
            <a:pPr lvl="1">
              <a:lnSpc>
                <a:spcPct val="160000"/>
              </a:lnSpc>
            </a:pPr>
            <a:r>
              <a:rPr lang="zh-CN" altLang="en-US" sz="2400"/>
              <a:t>代码质量度量</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14</a:t>
            </a:fld>
            <a:endParaRPr lang="zh-CN" altLang="en-US"/>
          </a:p>
        </p:txBody>
      </p:sp>
    </p:spTree>
  </p:cSld>
  <p:clrMapOvr>
    <a:masterClrMapping/>
  </p:clrMapOvr>
  <p:transition>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idx="1"/>
          </p:nvPr>
        </p:nvSpPr>
        <p:spPr>
          <a:xfrm>
            <a:off x="567055" y="1504315"/>
            <a:ext cx="8001000" cy="4588510"/>
          </a:xfrm>
        </p:spPr>
        <p:txBody>
          <a:bodyPr vert="horz" wrap="square" lIns="91440" tIns="45720" rIns="91440" bIns="45720" anchor="t" anchorCtr="0"/>
          <a:lstStyle/>
          <a:p>
            <a:pPr marL="514350" indent="-514350" algn="just" eaLnBrk="1" hangingPunct="1">
              <a:buAutoNum type="arabicPeriod"/>
            </a:pPr>
            <a:r>
              <a:rPr lang="zh-CN" altLang="en-US" sz="3400" b="1" dirty="0"/>
              <a:t>代码检查</a:t>
            </a:r>
            <a:endParaRPr lang="en-US" altLang="zh-CN" sz="3400" b="1" dirty="0"/>
          </a:p>
          <a:p>
            <a:pPr lvl="1" algn="just" eaLnBrk="1" hangingPunct="1">
              <a:lnSpc>
                <a:spcPct val="150000"/>
              </a:lnSpc>
            </a:pPr>
            <a:r>
              <a:rPr lang="zh-CN" altLang="en-US" sz="2400" dirty="0">
                <a:solidFill>
                  <a:srgbClr val="0000FF"/>
                </a:solidFill>
              </a:rPr>
              <a:t>方法分类</a:t>
            </a:r>
            <a:endParaRPr lang="en-US" altLang="zh-CN" sz="2400" dirty="0">
              <a:solidFill>
                <a:srgbClr val="0000FF"/>
              </a:solidFill>
            </a:endParaRPr>
          </a:p>
          <a:p>
            <a:pPr lvl="1" algn="just" eaLnBrk="1" hangingPunct="1">
              <a:lnSpc>
                <a:spcPct val="150000"/>
              </a:lnSpc>
            </a:pPr>
            <a:r>
              <a:rPr lang="zh-CN" altLang="en-US" sz="2400" dirty="0"/>
              <a:t>评审流程</a:t>
            </a:r>
            <a:endParaRPr lang="en-US" altLang="zh-CN" sz="2400" dirty="0"/>
          </a:p>
          <a:p>
            <a:pPr lvl="1" algn="just" eaLnBrk="1" hangingPunct="1">
              <a:lnSpc>
                <a:spcPct val="150000"/>
              </a:lnSpc>
            </a:pPr>
            <a:r>
              <a:rPr lang="zh-CN" altLang="en-US" sz="2400" dirty="0"/>
              <a:t>评审结果</a:t>
            </a:r>
            <a:endParaRPr lang="en-US" altLang="zh-CN" sz="2400" dirty="0"/>
          </a:p>
          <a:p>
            <a:pPr lvl="1" algn="just" eaLnBrk="1" hangingPunct="1">
              <a:lnSpc>
                <a:spcPct val="150000"/>
              </a:lnSpc>
            </a:pPr>
            <a:r>
              <a:rPr lang="zh-CN" altLang="en-US" sz="2400" dirty="0"/>
              <a:t>注意事项</a:t>
            </a:r>
          </a:p>
        </p:txBody>
      </p:sp>
      <p:sp>
        <p:nvSpPr>
          <p:cNvPr id="2150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15</a:t>
            </a:fld>
            <a:endParaRPr lang="en-US" altLang="zh-CN" sz="1200" dirty="0">
              <a:latin typeface="Arial" panose="020B0604020202020204" pitchFamily="34" charset="0"/>
            </a:endParaRPr>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pic>
        <p:nvPicPr>
          <p:cNvPr id="3" name="Picture 2"/>
          <p:cNvPicPr>
            <a:picLocks noChangeAspect="1"/>
          </p:cNvPicPr>
          <p:nvPr>
            <p:custDataLst>
              <p:tags r:id="rId2"/>
            </p:custDataLst>
          </p:nvPr>
        </p:nvPicPr>
        <p:blipFill>
          <a:blip r:embed="rId4"/>
          <a:stretch>
            <a:fillRect/>
          </a:stretch>
        </p:blipFill>
        <p:spPr>
          <a:xfrm>
            <a:off x="107315" y="1287780"/>
            <a:ext cx="8996363" cy="4786313"/>
          </a:xfrm>
          <a:prstGeom prst="rect">
            <a:avLst/>
          </a:prstGeom>
          <a:noFill/>
          <a:ln w="9525">
            <a:noFill/>
          </a:ln>
        </p:spPr>
      </p:pic>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287780"/>
            <a:ext cx="8139430" cy="4959985"/>
          </a:xfrm>
        </p:spPr>
        <p:txBody>
          <a:bodyPr>
            <a:normAutofit lnSpcReduction="10000"/>
          </a:bodyPr>
          <a:lstStyle/>
          <a:p>
            <a:pPr algn="just"/>
            <a:r>
              <a:rPr b="1">
                <a:sym typeface="+mn-ea"/>
              </a:rPr>
              <a:t>静态白盒测试的常用方法</a:t>
            </a:r>
          </a:p>
          <a:p>
            <a:pPr lvl="1" algn="just" defTabSz="914400">
              <a:lnSpc>
                <a:spcPct val="140000"/>
              </a:lnSpc>
              <a:buClrTx/>
              <a:buSzTx/>
              <a:tabLst>
                <a:tab pos="1609725" algn="l"/>
              </a:tabLst>
            </a:pPr>
            <a:r>
              <a:rPr b="1">
                <a:solidFill>
                  <a:srgbClr val="FF0000"/>
                </a:solidFill>
                <a:latin typeface="微软雅黑" panose="020B0503020204020204" charset="-122"/>
                <a:sym typeface="+mn-ea"/>
              </a:rPr>
              <a:t>代码走查</a:t>
            </a:r>
            <a:r>
              <a:rPr>
                <a:latin typeface="微软雅黑" panose="020B0503020204020204" charset="-122"/>
                <a:sym typeface="+mn-ea"/>
              </a:rPr>
              <a:t>(Code Walkthrough)是开发人员与架构师集中讨论代码的过程。代码走查与代码检查相似，均是以组为单位进行代码阅读，是对代码标准的集体阐述。</a:t>
            </a:r>
          </a:p>
          <a:p>
            <a:pPr lvl="1" algn="just" defTabSz="914400">
              <a:lnSpc>
                <a:spcPct val="140000"/>
              </a:lnSpc>
              <a:buClrTx/>
              <a:buSzTx/>
              <a:tabLst>
                <a:tab pos="1609725" algn="l"/>
              </a:tabLst>
            </a:pPr>
            <a:r>
              <a:rPr b="1">
                <a:solidFill>
                  <a:srgbClr val="FF0000"/>
                </a:solidFill>
                <a:latin typeface="微软雅黑" panose="020B0503020204020204" charset="-122"/>
                <a:sym typeface="+mn-ea"/>
              </a:rPr>
              <a:t>桌面检查</a:t>
            </a:r>
            <a:r>
              <a:rPr>
                <a:latin typeface="微软雅黑" panose="020B0503020204020204" charset="-122"/>
                <a:sym typeface="+mn-ea"/>
              </a:rPr>
              <a:t>是一种比较古老的人工查找错误的方法，可以理解为代码编写人员对照错误列表来对程序进行推演测试数据的过程。此过程一般由单人完成。桌面检查是常见的程序员的自我“code review”，效率一般比较低。基于软件测试相关原则，桌面检查一般由其他编程人员而非该程序的编写人员来完成。例如，不同的程序员之间交换各自的程序，确保自己不检查自己的程序。</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16</a:t>
            </a:fld>
            <a:endParaRPr lang="zh-CN" altLang="en-US"/>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379220"/>
            <a:ext cx="8244205" cy="4645660"/>
          </a:xfrm>
        </p:spPr>
        <p:txBody>
          <a:bodyPr>
            <a:normAutofit/>
          </a:bodyPr>
          <a:lstStyle/>
          <a:p>
            <a:pPr marL="285750" lvl="0" indent="-285750" algn="just" fontAlgn="base">
              <a:lnSpc>
                <a:spcPct val="110000"/>
              </a:lnSpc>
              <a:spcBef>
                <a:spcPts val="500"/>
              </a:spcBef>
              <a:buClrTx/>
              <a:buSzTx/>
              <a:buFont typeface="Arial" panose="020B0604020202020204" pitchFamily="34" charset="0"/>
              <a:buChar char="•"/>
            </a:pPr>
            <a:r>
              <a:rPr sz="3150" b="1">
                <a:latin typeface="微软雅黑" panose="020B0503020204020204" charset="-122"/>
                <a:sym typeface="+mn-ea"/>
              </a:rPr>
              <a:t>代码检查的特点</a:t>
            </a:r>
          </a:p>
          <a:p>
            <a:pPr marL="742950" lvl="1" indent="-285750" algn="just" fontAlgn="base">
              <a:lnSpc>
                <a:spcPct val="140000"/>
              </a:lnSpc>
              <a:spcBef>
                <a:spcPts val="500"/>
              </a:spcBef>
              <a:buClrTx/>
              <a:buSzTx/>
              <a:buFont typeface="Arial" panose="020B0604020202020204" pitchFamily="34" charset="0"/>
              <a:buChar char="•"/>
            </a:pPr>
            <a:r>
              <a:rPr sz="2250">
                <a:latin typeface="微软雅黑" panose="020B0503020204020204" charset="-122"/>
                <a:sym typeface="+mn-ea"/>
              </a:rPr>
              <a:t>需要建立小组来研读特定程序，促进了项目中各成员的交流，达到互相促进的效果；</a:t>
            </a:r>
          </a:p>
          <a:p>
            <a:pPr marL="742950" lvl="1" indent="-285750" algn="just" fontAlgn="base">
              <a:lnSpc>
                <a:spcPct val="140000"/>
              </a:lnSpc>
              <a:spcBef>
                <a:spcPts val="500"/>
              </a:spcBef>
              <a:buClrTx/>
              <a:buSzTx/>
              <a:buFont typeface="Arial" panose="020B0604020202020204" pitchFamily="34" charset="0"/>
              <a:buChar char="•"/>
            </a:pPr>
            <a:r>
              <a:rPr sz="2250">
                <a:latin typeface="微软雅黑" panose="020B0503020204020204" charset="-122"/>
                <a:sym typeface="+mn-ea"/>
              </a:rPr>
              <a:t>代码检查过程中成员处于良性竞争并且相互约束，能更高效地查找出程序中存在的问题；</a:t>
            </a:r>
          </a:p>
          <a:p>
            <a:pPr marL="742950" lvl="1" indent="-285750" algn="just" fontAlgn="base">
              <a:lnSpc>
                <a:spcPct val="140000"/>
              </a:lnSpc>
              <a:spcBef>
                <a:spcPts val="500"/>
              </a:spcBef>
              <a:buClrTx/>
              <a:buSzTx/>
              <a:buFont typeface="Arial" panose="020B0604020202020204" pitchFamily="34" charset="0"/>
              <a:buChar char="•"/>
            </a:pPr>
            <a:r>
              <a:rPr sz="2250">
                <a:latin typeface="微软雅黑" panose="020B0503020204020204" charset="-122"/>
                <a:sym typeface="+mn-ea"/>
              </a:rPr>
              <a:t>与桌面检查相比，能够更有效地审查出程序代码中的错误，因为有软件编写者之外的其他人参与，可以跳出程序员编写程序的固定思维考虑代码的对错。</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17</a:t>
            </a:fld>
            <a:endParaRPr lang="zh-CN" altLang="en-US"/>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539115" y="1268730"/>
            <a:ext cx="5494020" cy="611505"/>
          </a:xfrm>
        </p:spPr>
        <p:txBody>
          <a:bodyPr>
            <a:normAutofit/>
          </a:bodyPr>
          <a:lstStyle/>
          <a:p>
            <a:pPr marL="285750" indent="-285750" algn="just" defTabSz="914400" fontAlgn="base">
              <a:lnSpc>
                <a:spcPct val="110000"/>
              </a:lnSpc>
              <a:spcBef>
                <a:spcPts val="500"/>
              </a:spcBef>
              <a:spcAft>
                <a:spcPts val="1000"/>
              </a:spcAft>
              <a:buClrTx/>
              <a:buSzTx/>
              <a:buFont typeface="Arial" panose="020B0604020202020204" pitchFamily="34" charset="0"/>
              <a:buChar char="•"/>
              <a:tabLst>
                <a:tab pos="1609725" algn="l"/>
              </a:tabLst>
            </a:pPr>
            <a:r>
              <a:rPr lang="zh-CN" altLang="en-US" sz="3150" spc="150">
                <a:latin typeface="微软雅黑" panose="020B0503020204020204" charset="-122"/>
                <a:cs typeface="+mn-cs"/>
              </a:rPr>
              <a:t>走查与审查的不同点</a:t>
            </a:r>
          </a:p>
        </p:txBody>
      </p:sp>
      <p:graphicFrame>
        <p:nvGraphicFramePr>
          <p:cNvPr id="1579169" name="Group 161"/>
          <p:cNvGraphicFramePr>
            <a:graphicFrameLocks noGrp="1"/>
          </p:cNvGraphicFramePr>
          <p:nvPr>
            <p:ph sz="quarter" idx="13"/>
            <p:custDataLst>
              <p:tags r:id="rId1"/>
            </p:custDataLst>
          </p:nvPr>
        </p:nvGraphicFramePr>
        <p:xfrm>
          <a:off x="422275" y="2061210"/>
          <a:ext cx="8235315" cy="3757930"/>
        </p:xfrm>
        <a:graphic>
          <a:graphicData uri="http://schemas.openxmlformats.org/drawingml/2006/table">
            <a:tbl>
              <a:tblPr>
                <a:tableStyleId>{5940675A-B579-460E-94D1-54222C63F5DA}</a:tableStyleId>
              </a:tblPr>
              <a:tblGrid>
                <a:gridCol w="1748155">
                  <a:extLst>
                    <a:ext uri="{9D8B030D-6E8A-4147-A177-3AD203B41FA5}">
                      <a16:colId xmlns:a16="http://schemas.microsoft.com/office/drawing/2014/main" val="20000"/>
                    </a:ext>
                  </a:extLst>
                </a:gridCol>
                <a:gridCol w="2625090">
                  <a:extLst>
                    <a:ext uri="{9D8B030D-6E8A-4147-A177-3AD203B41FA5}">
                      <a16:colId xmlns:a16="http://schemas.microsoft.com/office/drawing/2014/main" val="20001"/>
                    </a:ext>
                  </a:extLst>
                </a:gridCol>
                <a:gridCol w="3862070">
                  <a:extLst>
                    <a:ext uri="{9D8B030D-6E8A-4147-A177-3AD203B41FA5}">
                      <a16:colId xmlns:a16="http://schemas.microsoft.com/office/drawing/2014/main" val="20002"/>
                    </a:ext>
                  </a:extLst>
                </a:gridCol>
              </a:tblGrid>
              <a:tr h="4832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anose="05000000000000000000" pitchFamily="2" charset="2"/>
                        <a:buNone/>
                      </a:pPr>
                      <a:endParaRPr kumimoji="0" lang="zh-CN" altLang="en-US" sz="2000" u="none" strike="noStrike" cap="none" normalizeH="0" baseline="0" dirty="0">
                        <a:ln>
                          <a:noFill/>
                        </a:ln>
                        <a:effectLst/>
                      </a:endParaRPr>
                    </a:p>
                  </a:txBody>
                  <a:tcPr marL="0" marR="0" marT="0" marB="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走   查</a:t>
                      </a:r>
                    </a:p>
                  </a:txBody>
                  <a:tcPr marL="0" marR="0" marT="0" marB="0" anchor="ctr" horzOverflow="overflow">
                    <a:solidFill>
                      <a:schemeClr val="tx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审   查</a:t>
                      </a:r>
                    </a:p>
                  </a:txBody>
                  <a:tcPr marL="0" marR="0" marT="0" marB="0" anchor="ctr" horzOverflow="overflow">
                    <a:solidFill>
                      <a:schemeClr val="tx2">
                        <a:lumMod val="75000"/>
                      </a:schemeClr>
                    </a:solidFill>
                  </a:tcPr>
                </a:tc>
                <a:extLst>
                  <a:ext uri="{0D108BD9-81ED-4DB2-BD59-A6C34878D82A}">
                    <a16:rowId xmlns:a16="http://schemas.microsoft.com/office/drawing/2014/main" val="10000"/>
                  </a:ext>
                </a:extLst>
              </a:tr>
              <a:tr h="7391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准备</a:t>
                      </a:r>
                    </a:p>
                  </a:txBody>
                  <a:tcPr marL="0" marR="0" marT="0" marB="0" anchor="ctr" horzOverflow="overflow">
                    <a:solidFill>
                      <a:schemeClr val="tx2">
                        <a:lumMod val="75000"/>
                      </a:schemeClr>
                    </a:solidFill>
                  </a:tcPr>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通读设计和编码</a:t>
                      </a:r>
                    </a:p>
                  </a:txBody>
                  <a:tcPr marL="0" marR="0" marT="0" marB="0" anchor="ctr" horzOverflow="overflow"/>
                </a:tc>
                <a:tc>
                  <a:txBody>
                    <a:bodyPr/>
                    <a:lstStyle/>
                    <a:p>
                      <a:pPr marL="177800" marR="0" lvl="0" indent="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事先准备</a:t>
                      </a:r>
                      <a:r>
                        <a:rPr kumimoji="0" lang="en-US" altLang="zh-CN" sz="2000" u="none" strike="noStrike" cap="none" normalizeH="0" baseline="0" dirty="0">
                          <a:ln>
                            <a:noFill/>
                          </a:ln>
                          <a:effectLst/>
                        </a:rPr>
                        <a:t>Spec</a:t>
                      </a:r>
                      <a:r>
                        <a:rPr kumimoji="0" lang="zh-CN" altLang="en-US" sz="2000" u="none" strike="noStrike" cap="none" normalizeH="0" baseline="0" dirty="0">
                          <a:ln>
                            <a:noFill/>
                          </a:ln>
                          <a:effectLst/>
                        </a:rPr>
                        <a:t>、程序设计文档、源代码清单、代码缺陷检查表等</a:t>
                      </a:r>
                    </a:p>
                  </a:txBody>
                  <a:tcPr marL="0" marR="0" marT="0" marB="0" anchor="ctr" horzOverflow="overflow"/>
                </a:tc>
                <a:extLst>
                  <a:ext uri="{0D108BD9-81ED-4DB2-BD59-A6C34878D82A}">
                    <a16:rowId xmlns:a16="http://schemas.microsoft.com/office/drawing/2014/main" val="10001"/>
                  </a:ext>
                </a:extLst>
              </a:tr>
              <a:tr h="48323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形式</a:t>
                      </a:r>
                    </a:p>
                  </a:txBody>
                  <a:tcPr marL="0" marR="0" marT="0" marB="0" anchor="ctr" horzOverflow="overflow">
                    <a:solidFill>
                      <a:schemeClr val="tx2">
                        <a:lumMod val="75000"/>
                      </a:schemeClr>
                    </a:solidFill>
                  </a:tcPr>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非正式会议</a:t>
                      </a:r>
                    </a:p>
                  </a:txBody>
                  <a:tcPr marL="0" marR="0" marT="0" marB="0" anchor="ctr" horzOverflow="overflow"/>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正式会议</a:t>
                      </a:r>
                    </a:p>
                  </a:txBody>
                  <a:tcPr marL="0" marR="0" marT="0" marB="0" anchor="ctr" horzOverflow="overflow"/>
                </a:tc>
                <a:extLst>
                  <a:ext uri="{0D108BD9-81ED-4DB2-BD59-A6C34878D82A}">
                    <a16:rowId xmlns:a16="http://schemas.microsoft.com/office/drawing/2014/main" val="10002"/>
                  </a:ext>
                </a:extLst>
              </a:tr>
              <a:tr h="4603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参加人员</a:t>
                      </a:r>
                    </a:p>
                  </a:txBody>
                  <a:tcPr marL="0" marR="0" marT="0" marB="0" anchor="ctr" horzOverflow="overflow">
                    <a:solidFill>
                      <a:schemeClr val="tx2">
                        <a:lumMod val="75000"/>
                      </a:schemeClr>
                    </a:solidFill>
                  </a:tcPr>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开发人员为主</a:t>
                      </a:r>
                    </a:p>
                  </a:txBody>
                  <a:tcPr marL="0" marR="0" marT="0" marB="0" anchor="ctr" horzOverflow="overflow"/>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项目组成员包括测试人员</a:t>
                      </a:r>
                    </a:p>
                  </a:txBody>
                  <a:tcPr marL="0" marR="0" marT="0" marB="0" anchor="ctr" horzOverflow="overflow"/>
                </a:tc>
                <a:extLst>
                  <a:ext uri="{0D108BD9-81ED-4DB2-BD59-A6C34878D82A}">
                    <a16:rowId xmlns:a16="http://schemas.microsoft.com/office/drawing/2014/main" val="10003"/>
                  </a:ext>
                </a:extLst>
              </a:tr>
              <a:tr h="41973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主要技术方法</a:t>
                      </a:r>
                    </a:p>
                  </a:txBody>
                  <a:tcPr marL="0" marR="0" marT="0" marB="0" anchor="ctr" horzOverflow="overflow">
                    <a:solidFill>
                      <a:schemeClr val="tx2">
                        <a:lumMod val="75000"/>
                      </a:schemeClr>
                    </a:solidFill>
                  </a:tcPr>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无</a:t>
                      </a:r>
                    </a:p>
                  </a:txBody>
                  <a:tcPr marL="0" marR="0" marT="0" marB="0" anchor="ctr" horzOverflow="overflow"/>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缺陷检查表</a:t>
                      </a:r>
                    </a:p>
                  </a:txBody>
                  <a:tcPr marL="0" marR="0" marT="0" marB="0" anchor="ctr" horzOverflow="overflow"/>
                </a:tc>
                <a:extLst>
                  <a:ext uri="{0D108BD9-81ED-4DB2-BD59-A6C34878D82A}">
                    <a16:rowId xmlns:a16="http://schemas.microsoft.com/office/drawing/2014/main" val="10004"/>
                  </a:ext>
                </a:extLst>
              </a:tr>
              <a:tr h="42799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生成文档</a:t>
                      </a:r>
                    </a:p>
                  </a:txBody>
                  <a:tcPr marL="0" marR="0" marT="0" marB="0" anchor="ctr" horzOverflow="overflow">
                    <a:solidFill>
                      <a:schemeClr val="tx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会议记录</a:t>
                      </a:r>
                    </a:p>
                  </a:txBody>
                  <a:tcPr marL="0" marR="0" marT="0" marB="0" anchor="ctr" horzOverflow="overflow"/>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静态分析错误报告</a:t>
                      </a:r>
                    </a:p>
                  </a:txBody>
                  <a:tcPr marL="0" marR="0" marT="0" marB="0" anchor="ctr" horzOverflow="overflow"/>
                </a:tc>
                <a:extLst>
                  <a:ext uri="{0D108BD9-81ED-4DB2-BD59-A6C34878D82A}">
                    <a16:rowId xmlns:a16="http://schemas.microsoft.com/office/drawing/2014/main" val="10005"/>
                  </a:ext>
                </a:extLst>
              </a:tr>
              <a:tr h="74422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rPr>
                        <a:t>目标</a:t>
                      </a:r>
                    </a:p>
                  </a:txBody>
                  <a:tcPr marL="0" marR="0" marT="0" marB="0" anchor="ctr" horzOverflow="overflow">
                    <a:solidFill>
                      <a:schemeClr val="tx2">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代码标准规范</a:t>
                      </a:r>
                      <a:endParaRPr kumimoji="0" lang="en-US" altLang="zh-CN" sz="2000" u="none" strike="noStrike" cap="none" normalizeH="0" baseline="0" dirty="0">
                        <a:ln>
                          <a:noFill/>
                        </a:ln>
                        <a:effectLst/>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无逻辑错误</a:t>
                      </a:r>
                    </a:p>
                  </a:txBody>
                  <a:tcPr marL="0" marR="0" marT="0" marB="0" anchor="ctr" horzOverflow="overflow"/>
                </a:tc>
                <a:tc>
                  <a:txBody>
                    <a:bodyPr/>
                    <a:lstStyle/>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代码标准规范</a:t>
                      </a:r>
                      <a:endParaRPr kumimoji="0" lang="en-US" altLang="zh-CN" sz="2000" u="none" strike="noStrike" cap="none" normalizeH="0" baseline="0" dirty="0">
                        <a:ln>
                          <a:noFill/>
                        </a:ln>
                        <a:effectLst/>
                      </a:endParaRPr>
                    </a:p>
                    <a:p>
                      <a:pPr marL="342900" marR="0" lvl="0" indent="-165100" algn="ctr" defTabSz="914400" rtl="0" eaLnBrk="1" fontAlgn="base" latinLnBrk="0" hangingPunct="1">
                        <a:lnSpc>
                          <a:spcPct val="100000"/>
                        </a:lnSpc>
                        <a:spcBef>
                          <a:spcPct val="0"/>
                        </a:spcBef>
                        <a:spcAft>
                          <a:spcPct val="0"/>
                        </a:spcAft>
                        <a:buClrTx/>
                        <a:buSzTx/>
                        <a:buFontTx/>
                        <a:buNone/>
                      </a:pPr>
                      <a:r>
                        <a:rPr kumimoji="0" lang="zh-CN" altLang="en-US" sz="2000" u="none" strike="noStrike" cap="none" normalizeH="0" baseline="0" dirty="0">
                          <a:ln>
                            <a:noFill/>
                          </a:ln>
                          <a:effectLst/>
                        </a:rPr>
                        <a:t>无逻辑错误</a:t>
                      </a:r>
                    </a:p>
                  </a:txBody>
                  <a:tcPr marL="0" marR="0" marT="0" marB="0" anchor="ctr" horzOverflow="overflow"/>
                </a:tc>
                <a:extLst>
                  <a:ext uri="{0D108BD9-81ED-4DB2-BD59-A6C34878D82A}">
                    <a16:rowId xmlns:a16="http://schemas.microsoft.com/office/drawing/2014/main" val="10006"/>
                  </a:ext>
                </a:extLst>
              </a:tr>
            </a:tbl>
          </a:graphicData>
        </a:graphic>
      </p:graphicFrame>
      <p:sp>
        <p:nvSpPr>
          <p:cNvPr id="6" name="标题 5"/>
          <p:cNvSpPr>
            <a:spLocks noGrp="1"/>
          </p:cNvSpPr>
          <p:nvPr>
            <p:custDataLst>
              <p:tags r:id="rId2"/>
            </p:custDataLst>
          </p:nvPr>
        </p:nvSpPr>
        <p:spPr>
          <a:xfrm>
            <a:off x="502285" y="414655"/>
            <a:ext cx="8139430" cy="782320"/>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18</a:t>
            </a:fld>
            <a:endParaRPr lang="zh-CN" altLang="en-US"/>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内容占位符 44"/>
          <p:cNvSpPr>
            <a:spLocks noGrp="1"/>
          </p:cNvSpPr>
          <p:nvPr>
            <p:ph idx="1"/>
          </p:nvPr>
        </p:nvSpPr>
        <p:spPr>
          <a:xfrm>
            <a:off x="502285" y="1287780"/>
            <a:ext cx="8139430" cy="3574415"/>
          </a:xfrm>
        </p:spPr>
        <p:txBody>
          <a:bodyPr>
            <a:normAutofit/>
          </a:bodyPr>
          <a:lstStyle/>
          <a:p>
            <a:pPr>
              <a:lnSpc>
                <a:spcPct val="170000"/>
              </a:lnSpc>
            </a:pPr>
            <a:r>
              <a:rPr sz="3555" b="1">
                <a:sym typeface="+mn-ea"/>
              </a:rPr>
              <a:t>代码检查错误列表</a:t>
            </a:r>
          </a:p>
          <a:p>
            <a:pPr lvl="1" algn="l" defTabSz="914400">
              <a:buClrTx/>
              <a:buSzTx/>
              <a:tabLst>
                <a:tab pos="1609725" algn="l"/>
              </a:tabLst>
            </a:pPr>
            <a:r>
              <a:rPr sz="2400">
                <a:latin typeface="微软雅黑" panose="020B0503020204020204" charset="-122"/>
                <a:sym typeface="+mn-ea"/>
              </a:rPr>
              <a:t>数据引用错误</a:t>
            </a:r>
            <a:endParaRPr lang="zh-CN" altLang="en-US" sz="2400">
              <a:latin typeface="微软雅黑" panose="020B0503020204020204" charset="-122"/>
              <a:ea typeface="微软雅黑" panose="020B0503020204020204" charset="-122"/>
            </a:endParaRPr>
          </a:p>
          <a:p>
            <a:pPr lvl="1" algn="l" defTabSz="914400">
              <a:buClrTx/>
              <a:buSzTx/>
              <a:tabLst>
                <a:tab pos="1609725" algn="l"/>
              </a:tabLst>
            </a:pPr>
            <a:r>
              <a:rPr sz="2400">
                <a:latin typeface="微软雅黑" panose="020B0503020204020204" charset="-122"/>
                <a:sym typeface="+mn-ea"/>
              </a:rPr>
              <a:t>数据声明错误</a:t>
            </a:r>
            <a:endParaRPr lang="zh-CN" altLang="en-US" sz="2400">
              <a:latin typeface="微软雅黑" panose="020B0503020204020204" charset="-122"/>
              <a:ea typeface="微软雅黑" panose="020B0503020204020204" charset="-122"/>
            </a:endParaRPr>
          </a:p>
          <a:p>
            <a:pPr lvl="1" algn="l" defTabSz="914400">
              <a:buClrTx/>
              <a:buSzTx/>
              <a:tabLst>
                <a:tab pos="1609725" algn="l"/>
              </a:tabLst>
            </a:pPr>
            <a:r>
              <a:rPr sz="2400">
                <a:latin typeface="微软雅黑" panose="020B0503020204020204" charset="-122"/>
                <a:sym typeface="+mn-ea"/>
              </a:rPr>
              <a:t>运算错误</a:t>
            </a:r>
          </a:p>
          <a:p>
            <a:pPr lvl="1" algn="l" defTabSz="914400">
              <a:buClrTx/>
              <a:buSzTx/>
              <a:tabLst>
                <a:tab pos="1609725" algn="l"/>
              </a:tabLst>
            </a:pPr>
            <a:r>
              <a:rPr sz="2400">
                <a:latin typeface="微软雅黑" panose="020B0503020204020204" charset="-122"/>
                <a:sym typeface="+mn-ea"/>
              </a:rPr>
              <a:t>比较错误</a:t>
            </a:r>
          </a:p>
        </p:txBody>
      </p:sp>
      <p:sp>
        <p:nvSpPr>
          <p:cNvPr id="51" name="标题 50"/>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53" name="日期占位符 5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65" name="灯片编号占位符 64"/>
          <p:cNvSpPr>
            <a:spLocks noGrp="1"/>
          </p:cNvSpPr>
          <p:nvPr>
            <p:ph type="sldNum" sz="quarter" idx="12"/>
          </p:nvPr>
        </p:nvSpPr>
        <p:spPr/>
        <p:txBody>
          <a:bodyPr/>
          <a:lstStyle/>
          <a:p>
            <a:fld id="{49AE70B2-8BF9-45C0-BB95-33D1B9D3A854}" type="slidenum">
              <a:rPr lang="zh-CN" altLang="en-US" smtClean="0"/>
              <a:t>19</a:t>
            </a:fld>
            <a:endParaRPr lang="zh-CN" altLang="en-US"/>
          </a:p>
        </p:txBody>
      </p:sp>
      <p:sp>
        <p:nvSpPr>
          <p:cNvPr id="67" name="文本框 66"/>
          <p:cNvSpPr txBox="1"/>
          <p:nvPr/>
        </p:nvSpPr>
        <p:spPr>
          <a:xfrm>
            <a:off x="4427855" y="2348865"/>
            <a:ext cx="3215005" cy="2350770"/>
          </a:xfrm>
          <a:prstGeom prst="rect">
            <a:avLst/>
          </a:prstGeom>
          <a:noFill/>
        </p:spPr>
        <p:txBody>
          <a:bodyPr wrap="square" rtlCol="0" anchor="t">
            <a:noAutofit/>
          </a:bodyPr>
          <a:lstStyle/>
          <a:p>
            <a:pPr marL="514350" lvl="1" indent="-171450" algn="l" defTabSz="914400" fontAlgn="auto">
              <a:lnSpc>
                <a:spcPct val="130000"/>
              </a:lnSpc>
              <a:spcBef>
                <a:spcPts val="0"/>
              </a:spcBef>
              <a:spcAft>
                <a:spcPts val="1000"/>
              </a:spcAft>
              <a:buClrTx/>
              <a:buSzTx/>
              <a:buFont typeface="Arial" panose="020B0604020202020204" pitchFamily="34" charset="0"/>
              <a:buChar char="•"/>
              <a:tabLst>
                <a:tab pos="1609725" algn="l"/>
              </a:tabLst>
            </a:pPr>
            <a:r>
              <a:rPr lang="zh-CN" altLang="en-US" sz="2400" spc="150">
                <a:uFillTx/>
                <a:latin typeface="微软雅黑" panose="020B0503020204020204" charset="-122"/>
                <a:ea typeface="微软雅黑" panose="020B0503020204020204" charset="-122"/>
                <a:sym typeface="+mn-ea"/>
              </a:rPr>
              <a:t>控制流程错误</a:t>
            </a:r>
            <a:endParaRPr lang="zh-CN" altLang="en-US" sz="2400" spc="150">
              <a:uFillTx/>
              <a:latin typeface="微软雅黑" panose="020B0503020204020204" charset="-122"/>
              <a:ea typeface="微软雅黑" panose="020B0503020204020204" charset="-122"/>
            </a:endParaRPr>
          </a:p>
          <a:p>
            <a:pPr marL="514350" lvl="1" indent="-171450" algn="l" defTabSz="914400" fontAlgn="auto">
              <a:lnSpc>
                <a:spcPct val="130000"/>
              </a:lnSpc>
              <a:spcBef>
                <a:spcPts val="0"/>
              </a:spcBef>
              <a:spcAft>
                <a:spcPts val="1000"/>
              </a:spcAft>
              <a:buClrTx/>
              <a:buSzTx/>
              <a:buFont typeface="Arial" panose="020B0604020202020204" pitchFamily="34" charset="0"/>
              <a:buChar char="•"/>
              <a:tabLst>
                <a:tab pos="1609725" algn="l"/>
              </a:tabLst>
            </a:pPr>
            <a:r>
              <a:rPr lang="zh-CN" altLang="en-US" sz="2400" spc="150">
                <a:uFillTx/>
                <a:latin typeface="微软雅黑" panose="020B0503020204020204" charset="-122"/>
                <a:ea typeface="微软雅黑" panose="020B0503020204020204" charset="-122"/>
                <a:sym typeface="+mn-ea"/>
              </a:rPr>
              <a:t>接口错误</a:t>
            </a:r>
            <a:endParaRPr lang="zh-CN" altLang="en-US" sz="2400" spc="150">
              <a:uFillTx/>
              <a:latin typeface="微软雅黑" panose="020B0503020204020204" charset="-122"/>
              <a:ea typeface="微软雅黑" panose="020B0503020204020204" charset="-122"/>
            </a:endParaRPr>
          </a:p>
          <a:p>
            <a:pPr marL="514350" lvl="1" indent="-171450" algn="l" defTabSz="914400" fontAlgn="auto">
              <a:lnSpc>
                <a:spcPct val="130000"/>
              </a:lnSpc>
              <a:spcBef>
                <a:spcPts val="0"/>
              </a:spcBef>
              <a:spcAft>
                <a:spcPts val="1000"/>
              </a:spcAft>
              <a:buClrTx/>
              <a:buSzTx/>
              <a:buFont typeface="Arial" panose="020B0604020202020204" pitchFamily="34" charset="0"/>
              <a:buChar char="•"/>
              <a:tabLst>
                <a:tab pos="1609725" algn="l"/>
              </a:tabLst>
            </a:pPr>
            <a:r>
              <a:rPr lang="zh-CN" altLang="en-US" sz="2400" spc="150">
                <a:uFillTx/>
                <a:latin typeface="微软雅黑" panose="020B0503020204020204" charset="-122"/>
                <a:ea typeface="微软雅黑" panose="020B0503020204020204" charset="-122"/>
                <a:sym typeface="+mn-ea"/>
              </a:rPr>
              <a:t>输入/输出错误</a:t>
            </a:r>
            <a:endParaRPr lang="zh-CN" altLang="en-US" sz="2400" spc="150">
              <a:uFillTx/>
              <a:latin typeface="微软雅黑" panose="020B0503020204020204" charset="-122"/>
              <a:ea typeface="微软雅黑" panose="020B0503020204020204" charset="-122"/>
            </a:endParaRPr>
          </a:p>
          <a:p>
            <a:pPr marL="514350" lvl="1" indent="-171450" algn="l" defTabSz="914400" fontAlgn="auto">
              <a:lnSpc>
                <a:spcPct val="130000"/>
              </a:lnSpc>
              <a:spcBef>
                <a:spcPts val="0"/>
              </a:spcBef>
              <a:spcAft>
                <a:spcPts val="1000"/>
              </a:spcAft>
              <a:buClrTx/>
              <a:buSzTx/>
              <a:buFont typeface="Arial" panose="020B0604020202020204" pitchFamily="34" charset="0"/>
              <a:buChar char="•"/>
              <a:tabLst>
                <a:tab pos="1609725" algn="l"/>
              </a:tabLst>
            </a:pPr>
            <a:r>
              <a:rPr lang="zh-CN" altLang="en-US" sz="2400" spc="150">
                <a:uFillTx/>
                <a:latin typeface="微软雅黑" panose="020B0503020204020204" charset="-122"/>
                <a:ea typeface="微软雅黑" panose="020B0503020204020204" charset="-122"/>
                <a:sym typeface="+mn-ea"/>
              </a:rPr>
              <a:t>其他检查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0225" y="1269365"/>
            <a:ext cx="490537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16510" y="1772285"/>
            <a:ext cx="9144000" cy="229679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变量在使用前是否赋值或初始化</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此错误是较为常见的，在不同环境下都有可能发生。此错误容易引起变量的使用错误，尤其是对指针或变量引用。在 Java、C/C++等语言中都要求变量在使用前必须初始化。</a:t>
            </a:r>
          </a:p>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例：</a:t>
            </a:r>
            <a:r>
              <a:rPr>
                <a:latin typeface="微软雅黑" panose="020B0503020204020204" charset="-122"/>
                <a:ea typeface="微软雅黑" panose="020B0503020204020204" charset="-122"/>
              </a:rPr>
              <a:t>Java 中</a:t>
            </a:r>
            <a:r>
              <a:rPr b="1">
                <a:solidFill>
                  <a:srgbClr val="FF0000"/>
                </a:solidFill>
                <a:latin typeface="微软雅黑" panose="020B0503020204020204" charset="-122"/>
                <a:ea typeface="微软雅黑" panose="020B0503020204020204" charset="-122"/>
              </a:rPr>
              <a:t>未初始化变量错误</a:t>
            </a:r>
            <a:r>
              <a:rPr>
                <a:latin typeface="微软雅黑" panose="020B0503020204020204" charset="-122"/>
                <a:ea typeface="微软雅黑" panose="020B0503020204020204" charset="-122"/>
              </a:rPr>
              <a:t>。</a:t>
            </a:r>
          </a:p>
        </p:txBody>
      </p:sp>
      <p:pic>
        <p:nvPicPr>
          <p:cNvPr id="5" name="图片 4"/>
          <p:cNvPicPr>
            <a:picLocks noChangeAspect="1"/>
          </p:cNvPicPr>
          <p:nvPr/>
        </p:nvPicPr>
        <p:blipFill>
          <a:blip r:embed="rId3"/>
          <a:stretch>
            <a:fillRect/>
          </a:stretch>
        </p:blipFill>
        <p:spPr>
          <a:xfrm>
            <a:off x="772795" y="4069080"/>
            <a:ext cx="7564755" cy="2033270"/>
          </a:xfrm>
          <a:prstGeom prst="rect">
            <a:avLst/>
          </a:prstGeom>
        </p:spPr>
      </p:pic>
      <p:sp>
        <p:nvSpPr>
          <p:cNvPr id="7" name="标题 6"/>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20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52450" y="1269365"/>
            <a:ext cx="488315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16510" y="1917065"/>
            <a:ext cx="8775065" cy="92202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是使用Java语言实现1~10相加，但第4行的变量sum没有进行初始化，因此程序不能得到正确结果55，而是直接报错。运行结果如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图所示。</a:t>
            </a:r>
          </a:p>
        </p:txBody>
      </p:sp>
      <p:pic>
        <p:nvPicPr>
          <p:cNvPr id="5" name="图片 4"/>
          <p:cNvPicPr>
            <a:picLocks noChangeAspect="1"/>
          </p:cNvPicPr>
          <p:nvPr/>
        </p:nvPicPr>
        <p:blipFill>
          <a:blip r:embed="rId3"/>
          <a:stretch>
            <a:fillRect/>
          </a:stretch>
        </p:blipFill>
        <p:spPr>
          <a:xfrm>
            <a:off x="827405" y="3216910"/>
            <a:ext cx="7587615" cy="2004060"/>
          </a:xfrm>
          <a:prstGeom prst="rect">
            <a:avLst/>
          </a:prstGeom>
        </p:spPr>
      </p:pic>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57530" y="1269365"/>
            <a:ext cx="487807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16510" y="1772285"/>
            <a:ext cx="8863965" cy="188150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数组使用时是否越界</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在数组的使用中，经常会出现数组越界问题，越界问题即超出数组界限。具体错误如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例所示。</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Java 中</a:t>
            </a:r>
            <a:r>
              <a:rPr b="1">
                <a:solidFill>
                  <a:srgbClr val="FF0000"/>
                </a:solidFill>
                <a:latin typeface="微软雅黑" panose="020B0503020204020204" charset="-122"/>
                <a:ea typeface="微软雅黑" panose="020B0503020204020204" charset="-122"/>
              </a:rPr>
              <a:t>数组越界错误</a:t>
            </a:r>
            <a:r>
              <a:rPr>
                <a:latin typeface="微软雅黑" panose="020B0503020204020204" charset="-122"/>
                <a:ea typeface="微软雅黑" panose="020B0503020204020204" charset="-122"/>
              </a:rPr>
              <a:t>。</a:t>
            </a:r>
          </a:p>
        </p:txBody>
      </p:sp>
      <p:grpSp>
        <p:nvGrpSpPr>
          <p:cNvPr id="8" name="组合 7"/>
          <p:cNvGrpSpPr/>
          <p:nvPr/>
        </p:nvGrpSpPr>
        <p:grpSpPr>
          <a:xfrm>
            <a:off x="991870" y="3653790"/>
            <a:ext cx="7078980" cy="2562225"/>
            <a:chOff x="1562" y="5754"/>
            <a:chExt cx="11148" cy="4035"/>
          </a:xfrm>
        </p:grpSpPr>
        <p:pic>
          <p:nvPicPr>
            <p:cNvPr id="5" name="图片 4"/>
            <p:cNvPicPr>
              <a:picLocks noChangeAspect="1"/>
            </p:cNvPicPr>
            <p:nvPr/>
          </p:nvPicPr>
          <p:blipFill>
            <a:blip r:embed="rId3"/>
            <a:stretch>
              <a:fillRect/>
            </a:stretch>
          </p:blipFill>
          <p:spPr>
            <a:xfrm>
              <a:off x="1562" y="5754"/>
              <a:ext cx="11148" cy="1667"/>
            </a:xfrm>
            <a:prstGeom prst="rect">
              <a:avLst/>
            </a:prstGeom>
          </p:spPr>
        </p:pic>
        <p:pic>
          <p:nvPicPr>
            <p:cNvPr id="7" name="图片 6"/>
            <p:cNvPicPr>
              <a:picLocks noChangeAspect="1"/>
            </p:cNvPicPr>
            <p:nvPr/>
          </p:nvPicPr>
          <p:blipFill>
            <a:blip r:embed="rId4"/>
            <a:stretch>
              <a:fillRect/>
            </a:stretch>
          </p:blipFill>
          <p:spPr>
            <a:xfrm>
              <a:off x="1605" y="7421"/>
              <a:ext cx="11105" cy="2368"/>
            </a:xfrm>
            <a:prstGeom prst="rect">
              <a:avLst/>
            </a:prstGeom>
          </p:spPr>
        </p:pic>
      </p:grpSp>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9" name="日期占位符 8"/>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10" name="灯片编号占位符 9"/>
          <p:cNvSpPr>
            <a:spLocks noGrp="1"/>
          </p:cNvSpPr>
          <p:nvPr>
            <p:ph type="sldNum" sz="quarter" idx="12"/>
          </p:nvPr>
        </p:nvSpPr>
        <p:spPr/>
        <p:txBody>
          <a:bodyPr/>
          <a:lstStyle/>
          <a:p>
            <a:fld id="{49AE70B2-8BF9-45C0-BB95-33D1B9D3A854}" type="slidenum">
              <a:rPr lang="zh-CN" altLang="en-US" smtClean="0"/>
              <a:t>22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8" presetClass="entr" presetSubtype="16"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amond(in)">
                                      <p:cBhvr>
                                        <p:cTn id="1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41655" y="1269365"/>
            <a:ext cx="489394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35560" y="1917065"/>
            <a:ext cx="8659495" cy="1337945"/>
          </a:xfrm>
          <a:prstGeom prst="rect">
            <a:avLst/>
          </a:prstGeom>
        </p:spPr>
        <p:txBody>
          <a:bodyPr wrap="square">
            <a:spAutoFit/>
          </a:bodyPr>
          <a:lstStyle/>
          <a:p>
            <a:pPr marL="742950" lvl="1" indent="-285750" algn="just"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是实现给数组每个元素赋值，最后输出数组的第一个元素。数组大小是5，因此包含下标从0~4中五个元素，但第14行对下标为5的数组元素进行赋值，属于数组越界。运行结果如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图所示。</a:t>
            </a:r>
          </a:p>
        </p:txBody>
      </p:sp>
      <p:pic>
        <p:nvPicPr>
          <p:cNvPr id="2" name="图片 1"/>
          <p:cNvPicPr>
            <a:picLocks noChangeAspect="1"/>
          </p:cNvPicPr>
          <p:nvPr/>
        </p:nvPicPr>
        <p:blipFill>
          <a:blip r:embed="rId3"/>
          <a:stretch>
            <a:fillRect/>
          </a:stretch>
        </p:blipFill>
        <p:spPr>
          <a:xfrm>
            <a:off x="899160" y="3521710"/>
            <a:ext cx="7395845" cy="217170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81025" y="1269365"/>
            <a:ext cx="485457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228600" y="1917065"/>
            <a:ext cx="8797290" cy="3662045"/>
          </a:xfrm>
          <a:prstGeom prst="rect">
            <a:avLst/>
          </a:prstGeom>
        </p:spPr>
        <p:txBody>
          <a:bodyPr wrap="square">
            <a:noAutofit/>
          </a:bodyPr>
          <a:lstStyle/>
          <a:p>
            <a:pPr marL="285750" lvl="0"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在数组的引用中，下标是否都为整数</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285750" lvl="0"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通过指针引用的内存单元是否存在(即虚调用错误)</a:t>
            </a:r>
            <a:r>
              <a:rPr lang="zh-CN">
                <a:latin typeface="微软雅黑" panose="020B0503020204020204" charset="-122"/>
                <a:ea typeface="微软雅黑" panose="020B0503020204020204" charset="-122"/>
              </a:rPr>
              <a:t>？函数返回局部变量的指针。</a:t>
            </a:r>
            <a:endParaRPr>
              <a:latin typeface="微软雅黑" panose="020B0503020204020204" charset="-122"/>
              <a:ea typeface="微软雅黑" panose="020B0503020204020204" charset="-122"/>
            </a:endParaRPr>
          </a:p>
          <a:p>
            <a:pPr marL="285750" lvl="0"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被引用变量或内存的属性是否与编译器预期一致</a:t>
            </a:r>
            <a:r>
              <a:rPr lang="zh-CN">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A</a:t>
            </a:r>
            <a:r>
              <a:rPr lang="zh-CN" altLang="en-US">
                <a:latin typeface="微软雅黑" panose="020B0503020204020204" charset="-122"/>
                <a:ea typeface="微软雅黑" panose="020B0503020204020204" charset="-122"/>
              </a:rPr>
              <a:t>类型指针指向非</a:t>
            </a:r>
            <a:r>
              <a:rPr lang="en-US" altLang="zh-CN">
                <a:latin typeface="微软雅黑" panose="020B0503020204020204" charset="-122"/>
                <a:ea typeface="微软雅黑" panose="020B0503020204020204" charset="-122"/>
              </a:rPr>
              <a:t>A</a:t>
            </a:r>
            <a:r>
              <a:rPr lang="zh-CN" altLang="en-US">
                <a:latin typeface="微软雅黑" panose="020B0503020204020204" charset="-122"/>
                <a:ea typeface="微软雅黑" panose="020B0503020204020204" charset="-122"/>
              </a:rPr>
              <a:t>类型对象。</a:t>
            </a:r>
            <a:endParaRPr>
              <a:latin typeface="微软雅黑" panose="020B0503020204020204" charset="-122"/>
              <a:ea typeface="微软雅黑" panose="020B0503020204020204" charset="-122"/>
            </a:endParaRPr>
          </a:p>
          <a:p>
            <a:pPr marL="285750" lvl="0"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当通过别名引用内存区域时，内存区域的数据值是否都具有正确的属性</a:t>
            </a:r>
            <a:r>
              <a:rPr lang="zh-CN">
                <a:latin typeface="微软雅黑" panose="020B0503020204020204" charset="-122"/>
                <a:ea typeface="微软雅黑" panose="020B0503020204020204" charset="-122"/>
              </a:rPr>
              <a:t>？不同变量的别名相同。</a:t>
            </a:r>
            <a:endParaRPr>
              <a:latin typeface="微软雅黑" panose="020B0503020204020204" charset="-122"/>
              <a:ea typeface="微软雅黑" panose="020B0503020204020204" charset="-122"/>
            </a:endParaRPr>
          </a:p>
          <a:p>
            <a:pPr marL="285750" lvl="0" indent="-285750" fontAlgn="base">
              <a:lnSpc>
                <a:spcPct val="150000"/>
              </a:lnSpc>
              <a:spcBef>
                <a:spcPts val="500"/>
              </a:spcBef>
              <a:spcAft>
                <a:spcPct val="0"/>
              </a:spcAft>
              <a:buFont typeface="Arial" panose="020B0604020202020204" pitchFamily="34" charset="0"/>
              <a:buChar char="•"/>
            </a:pPr>
            <a:r>
              <a:rPr lang="en-US">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基础的存储属性是否正确</a:t>
            </a:r>
            <a:r>
              <a:rPr lang="zh-CN">
                <a:latin typeface="微软雅黑" panose="020B0503020204020204" charset="-122"/>
                <a:ea typeface="微软雅黑" panose="020B0503020204020204" charset="-122"/>
              </a:rPr>
              <a:t>？指针被赋值不同数据结构的地址。</a:t>
            </a:r>
            <a:endParaRPr>
              <a:latin typeface="微软雅黑" panose="020B0503020204020204" charset="-122"/>
              <a:ea typeface="微软雅黑" panose="020B0503020204020204" charset="-122"/>
            </a:endParaRPr>
          </a:p>
          <a:p>
            <a:pPr marL="285750" lvl="0" indent="-285750" fontAlgn="base">
              <a:lnSpc>
                <a:spcPct val="150000"/>
              </a:lnSpc>
              <a:spcBef>
                <a:spcPts val="500"/>
              </a:spcBef>
              <a:spcAft>
                <a:spcPct val="0"/>
              </a:spcAft>
              <a:buFont typeface="Arial" panose="020B0604020202020204" pitchFamily="34" charset="0"/>
              <a:buChar char="•"/>
            </a:pPr>
            <a:r>
              <a:rPr lang="en-US">
                <a:latin typeface="微软雅黑" panose="020B0503020204020204" charset="-122"/>
                <a:ea typeface="微软雅黑" panose="020B0503020204020204" charset="-122"/>
              </a:rPr>
              <a:t>8</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跨过程的结构定义是否匹配</a:t>
            </a:r>
            <a:r>
              <a:rPr lang="zh-CN">
                <a:latin typeface="微软雅黑" panose="020B0503020204020204" charset="-122"/>
                <a:ea typeface="微软雅黑" panose="020B0503020204020204" charset="-122"/>
              </a:rPr>
              <a:t>？一个数据结构在多个过程中被引用。</a:t>
            </a:r>
          </a:p>
        </p:txBody>
      </p:sp>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47040" y="1269365"/>
            <a:ext cx="498856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数据引用错误</a:t>
            </a:r>
          </a:p>
        </p:txBody>
      </p:sp>
      <p:sp>
        <p:nvSpPr>
          <p:cNvPr id="6" name="矩形 5"/>
          <p:cNvSpPr/>
          <p:nvPr/>
        </p:nvSpPr>
        <p:spPr>
          <a:xfrm>
            <a:off x="188595" y="1923415"/>
            <a:ext cx="8691245" cy="1515745"/>
          </a:xfrm>
          <a:prstGeom prst="rect">
            <a:avLst/>
          </a:prstGeom>
        </p:spPr>
        <p:txBody>
          <a:bodyPr wrap="square">
            <a:noAutofit/>
          </a:bodyPr>
          <a:lstStyle/>
          <a:p>
            <a:pPr marL="742950" lvl="1" indent="-285750" fontAlgn="base">
              <a:lnSpc>
                <a:spcPct val="150000"/>
              </a:lnSpc>
              <a:spcBef>
                <a:spcPts val="500"/>
              </a:spcBef>
              <a:spcAft>
                <a:spcPct val="0"/>
              </a:spcAft>
              <a:buFont typeface="Arial" panose="020B0604020202020204" pitchFamily="34" charset="0"/>
              <a:buChar char="•"/>
            </a:pPr>
            <a:r>
              <a:rPr lang="en-US">
                <a:latin typeface="微软雅黑" panose="020B0503020204020204" charset="-122"/>
                <a:ea typeface="微软雅黑" panose="020B0503020204020204" charset="-122"/>
              </a:rPr>
              <a:t>9</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索引或下标操作是否有“仅差一个(off-by-one)”错误</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“仅差一个”错误，又称“大小差一”错误，是一类常见的程序设计错误，示例如下:</a:t>
            </a:r>
          </a:p>
        </p:txBody>
      </p:sp>
      <p:pic>
        <p:nvPicPr>
          <p:cNvPr id="2" name="图片 1"/>
          <p:cNvPicPr>
            <a:picLocks noChangeAspect="1"/>
          </p:cNvPicPr>
          <p:nvPr/>
        </p:nvPicPr>
        <p:blipFill>
          <a:blip r:embed="rId3"/>
          <a:stretch>
            <a:fillRect/>
          </a:stretch>
        </p:blipFill>
        <p:spPr>
          <a:xfrm>
            <a:off x="828040" y="3465195"/>
            <a:ext cx="7944485" cy="852170"/>
          </a:xfrm>
          <a:prstGeom prst="rect">
            <a:avLst/>
          </a:prstGeom>
        </p:spPr>
      </p:pic>
      <p:sp>
        <p:nvSpPr>
          <p:cNvPr id="5" name="矩形 4"/>
          <p:cNvSpPr/>
          <p:nvPr/>
        </p:nvSpPr>
        <p:spPr>
          <a:xfrm>
            <a:off x="121285" y="4625975"/>
            <a:ext cx="8758555" cy="133794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上述示例定义了一个大小为5的数组，并对数组中各元素进行赋值0，但循环是从下标为1开始，正确的数组下标是从0开始，因此上述示例会出现“仅差一个”错误。</a:t>
            </a:r>
          </a:p>
        </p:txBody>
      </p:sp>
      <p:sp>
        <p:nvSpPr>
          <p:cNvPr id="7" name="标题 6"/>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25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5" presetClass="entr" presetSubtype="1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3530" y="1269365"/>
            <a:ext cx="5132070" cy="521970"/>
          </a:xfrm>
          <a:prstGeom prst="rect">
            <a:avLst/>
          </a:prstGeom>
        </p:spPr>
        <p:txBody>
          <a:bodyPr wrap="square">
            <a:spAutoFit/>
          </a:bodyPr>
          <a:lstStyle/>
          <a:p>
            <a:r>
              <a:rPr lang="en-US" altLang="zh-CN" sz="2800" b="1" dirty="0">
                <a:solidFill>
                  <a:schemeClr val="tx1"/>
                </a:solidFill>
                <a:latin typeface="微软雅黑" panose="020B0503020204020204" charset="-122"/>
                <a:ea typeface="微软雅黑" panose="020B0503020204020204" charset="-122"/>
              </a:rPr>
              <a:t> </a:t>
            </a:r>
            <a:r>
              <a:rPr lang="zh-CN" altLang="en-US" sz="2800" b="1" dirty="0">
                <a:solidFill>
                  <a:schemeClr val="tx1"/>
                </a:solidFill>
                <a:latin typeface="微软雅黑" panose="020B0503020204020204" charset="-122"/>
                <a:ea typeface="微软雅黑" panose="020B0503020204020204" charset="-122"/>
              </a:rPr>
              <a:t>数据引用错误</a:t>
            </a:r>
          </a:p>
        </p:txBody>
      </p:sp>
      <p:pic>
        <p:nvPicPr>
          <p:cNvPr id="2" name="图片 1"/>
          <p:cNvPicPr>
            <a:picLocks noChangeAspect="1"/>
          </p:cNvPicPr>
          <p:nvPr/>
        </p:nvPicPr>
        <p:blipFill>
          <a:blip r:embed="rId3"/>
          <a:stretch>
            <a:fillRect/>
          </a:stretch>
        </p:blipFill>
        <p:spPr>
          <a:xfrm>
            <a:off x="2771775" y="3140710"/>
            <a:ext cx="5370195" cy="3291840"/>
          </a:xfrm>
          <a:prstGeom prst="rect">
            <a:avLst/>
          </a:prstGeom>
        </p:spPr>
      </p:pic>
      <p:sp>
        <p:nvSpPr>
          <p:cNvPr id="6" name="矩形 5"/>
          <p:cNvSpPr/>
          <p:nvPr/>
        </p:nvSpPr>
        <p:spPr>
          <a:xfrm>
            <a:off x="35560" y="1870075"/>
            <a:ext cx="8987790" cy="140208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en-US">
                <a:latin typeface="微软雅黑" panose="020B0503020204020204" charset="-122"/>
                <a:ea typeface="微软雅黑" panose="020B0503020204020204" charset="-122"/>
              </a:rPr>
              <a:t>0</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继承需求是否得到满足</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在面向对象语言中，容易出现实现类中没有完全满足父类中的继承需求，即继承需求未得到满足的错误。</a:t>
            </a:r>
          </a:p>
        </p:txBody>
      </p:sp>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8" presetClass="entr" presetSubtype="3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amond(out)">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43230" y="1269365"/>
            <a:ext cx="499237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数据声明错误</a:t>
            </a:r>
          </a:p>
        </p:txBody>
      </p:sp>
      <p:sp>
        <p:nvSpPr>
          <p:cNvPr id="6" name="矩形 5"/>
          <p:cNvSpPr/>
          <p:nvPr/>
        </p:nvSpPr>
        <p:spPr>
          <a:xfrm>
            <a:off x="-16510" y="1875155"/>
            <a:ext cx="9144000" cy="242506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变量是否都已声明</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默认属性是否正确</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变量初始化是否正确以及是否与其存储空间的类型一致</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变量应该按照需求来初始化，不然可能导致错误。如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例所示。</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Python 中的变量初始化错误。</a:t>
            </a:r>
          </a:p>
        </p:txBody>
      </p:sp>
      <p:pic>
        <p:nvPicPr>
          <p:cNvPr id="7" name="图片 6"/>
          <p:cNvPicPr>
            <a:picLocks noChangeAspect="1"/>
          </p:cNvPicPr>
          <p:nvPr/>
        </p:nvPicPr>
        <p:blipFill>
          <a:blip r:embed="rId3"/>
          <a:stretch>
            <a:fillRect/>
          </a:stretch>
        </p:blipFill>
        <p:spPr>
          <a:xfrm>
            <a:off x="827405" y="4509135"/>
            <a:ext cx="7639685" cy="904875"/>
          </a:xfrm>
          <a:prstGeom prst="rect">
            <a:avLst/>
          </a:prstGeom>
        </p:spPr>
      </p:pic>
      <p:pic>
        <p:nvPicPr>
          <p:cNvPr id="2" name="图片 1" descr="思考"/>
          <p:cNvPicPr>
            <a:picLocks noChangeAspect="1"/>
          </p:cNvPicPr>
          <p:nvPr/>
        </p:nvPicPr>
        <p:blipFill>
          <a:blip r:embed="rId4"/>
          <a:stretch>
            <a:fillRect/>
          </a:stretch>
        </p:blipFill>
        <p:spPr>
          <a:xfrm>
            <a:off x="6672580" y="1052195"/>
            <a:ext cx="2199640" cy="225742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27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7" presetClass="entr" presetSubtype="2"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2000" fill="hold"/>
                                        <p:tgtEl>
                                          <p:spTgt spid="2"/>
                                        </p:tgtEl>
                                        <p:attrNameLst>
                                          <p:attrName>ppt_x</p:attrName>
                                        </p:attrNameLst>
                                      </p:cBhvr>
                                      <p:tavLst>
                                        <p:tav tm="0">
                                          <p:val>
                                            <p:strVal val="1+#ppt_w/2"/>
                                          </p:val>
                                        </p:tav>
                                        <p:tav tm="100000">
                                          <p:val>
                                            <p:strVal val="#ppt_x"/>
                                          </p:val>
                                        </p:tav>
                                      </p:tavLst>
                                    </p:anim>
                                    <p:anim calcmode="lin" valueType="num">
                                      <p:cBhvr additive="base">
                                        <p:cTn id="22" dur="2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8465" y="1269365"/>
            <a:ext cx="501713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数据声明错误</a:t>
            </a:r>
          </a:p>
        </p:txBody>
      </p:sp>
      <p:sp>
        <p:nvSpPr>
          <p:cNvPr id="6" name="矩形 5"/>
          <p:cNvSpPr/>
          <p:nvPr/>
        </p:nvSpPr>
        <p:spPr>
          <a:xfrm>
            <a:off x="123825" y="1772285"/>
            <a:ext cx="8896350" cy="133794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中是需要</a:t>
            </a:r>
            <a:r>
              <a:rPr lang="zh-CN">
                <a:latin typeface="微软雅黑" panose="020B0503020204020204" charset="-122"/>
                <a:ea typeface="微软雅黑" panose="020B0503020204020204" charset="-122"/>
              </a:rPr>
              <a:t>将变量</a:t>
            </a:r>
            <a:r>
              <a:rPr>
                <a:latin typeface="微软雅黑" panose="020B0503020204020204" charset="-122"/>
                <a:ea typeface="微软雅黑" panose="020B0503020204020204" charset="-122"/>
              </a:rPr>
              <a:t> lst 初始化为一个列表类型，但实际初始化为一个字符串类型，第2行将 lst 中第二个字符“u”修改为“o”时程序出现错误，因为字符串类型是不可变的。运行结果如图所示。</a:t>
            </a:r>
          </a:p>
        </p:txBody>
      </p:sp>
      <p:pic>
        <p:nvPicPr>
          <p:cNvPr id="2" name="图片 1"/>
          <p:cNvPicPr>
            <a:picLocks noChangeAspect="1"/>
          </p:cNvPicPr>
          <p:nvPr/>
        </p:nvPicPr>
        <p:blipFill>
          <a:blip r:embed="rId3"/>
          <a:stretch>
            <a:fillRect/>
          </a:stretch>
        </p:blipFill>
        <p:spPr>
          <a:xfrm>
            <a:off x="735965" y="3281045"/>
            <a:ext cx="7630795" cy="261810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in)">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71475" y="1269365"/>
            <a:ext cx="506412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数据声明错误</a:t>
            </a:r>
          </a:p>
        </p:txBody>
      </p:sp>
      <p:pic>
        <p:nvPicPr>
          <p:cNvPr id="2" name="图片 1"/>
          <p:cNvPicPr>
            <a:picLocks noChangeAspect="1"/>
          </p:cNvPicPr>
          <p:nvPr/>
        </p:nvPicPr>
        <p:blipFill>
          <a:blip r:embed="rId3"/>
          <a:stretch>
            <a:fillRect/>
          </a:stretch>
        </p:blipFill>
        <p:spPr>
          <a:xfrm>
            <a:off x="5291455" y="3068955"/>
            <a:ext cx="3165475" cy="3291840"/>
          </a:xfrm>
          <a:prstGeom prst="rect">
            <a:avLst/>
          </a:prstGeom>
        </p:spPr>
      </p:pic>
      <p:sp>
        <p:nvSpPr>
          <p:cNvPr id="6" name="矩形 5"/>
          <p:cNvSpPr/>
          <p:nvPr/>
        </p:nvSpPr>
        <p:spPr>
          <a:xfrm>
            <a:off x="-16510" y="1917065"/>
            <a:ext cx="9144000" cy="1314450"/>
          </a:xfrm>
          <a:prstGeom prst="rect">
            <a:avLst/>
          </a:prstGeom>
        </p:spPr>
        <p:txBody>
          <a:bodyPr wrap="square">
            <a:noAutofit/>
          </a:bodyPr>
          <a:lstStyle/>
          <a:p>
            <a:pPr marL="742950" lvl="1" indent="-285750" fontAlgn="base">
              <a:lnSpc>
                <a:spcPct val="150000"/>
              </a:lnSpc>
              <a:spcBef>
                <a:spcPts val="500"/>
              </a:spcBef>
              <a:spcAft>
                <a:spcPct val="0"/>
              </a:spcAft>
              <a:buFont typeface="Arial" panose="020B0604020202020204" pitchFamily="34" charset="0"/>
              <a:buChar char="•"/>
            </a:pPr>
            <a:r>
              <a:rPr sz="2000">
                <a:latin typeface="微软雅黑" panose="020B0503020204020204" charset="-122"/>
                <a:ea typeface="微软雅黑" panose="020B0503020204020204" charset="-122"/>
              </a:rPr>
              <a:t>4</a:t>
            </a:r>
            <a:r>
              <a:rPr lang="zh-CN" sz="2000">
                <a:latin typeface="微软雅黑" panose="020B0503020204020204" charset="-122"/>
                <a:ea typeface="微软雅黑" panose="020B0503020204020204" charset="-122"/>
              </a:rPr>
              <a:t>、</a:t>
            </a:r>
            <a:r>
              <a:rPr sz="2000">
                <a:latin typeface="微软雅黑" panose="020B0503020204020204" charset="-122"/>
                <a:ea typeface="微软雅黑" panose="020B0503020204020204" charset="-122"/>
              </a:rPr>
              <a:t>是否每个变量都有正确的长度和数据类型</a:t>
            </a:r>
            <a:r>
              <a:rPr lang="zh-CN" sz="2000">
                <a:latin typeface="微软雅黑" panose="020B0503020204020204" charset="-122"/>
                <a:ea typeface="微软雅黑" panose="020B0503020204020204" charset="-122"/>
              </a:rPr>
              <a:t>？数组定义长度不够。</a:t>
            </a:r>
            <a:endParaRPr sz="2000">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sz="2000">
                <a:latin typeface="微软雅黑" panose="020B0503020204020204" charset="-122"/>
                <a:ea typeface="微软雅黑" panose="020B0503020204020204" charset="-122"/>
              </a:rPr>
              <a:t>5</a:t>
            </a:r>
            <a:r>
              <a:rPr lang="zh-CN" sz="2000">
                <a:latin typeface="微软雅黑" panose="020B0503020204020204" charset="-122"/>
                <a:ea typeface="微软雅黑" panose="020B0503020204020204" charset="-122"/>
              </a:rPr>
              <a:t>、</a:t>
            </a:r>
            <a:r>
              <a:rPr sz="2000">
                <a:latin typeface="微软雅黑" panose="020B0503020204020204" charset="-122"/>
                <a:ea typeface="微软雅黑" panose="020B0503020204020204" charset="-122"/>
              </a:rPr>
              <a:t>是否存在相似名称的变量</a:t>
            </a:r>
            <a:r>
              <a:rPr lang="zh-CN" sz="2000">
                <a:latin typeface="微软雅黑" panose="020B0503020204020204" charset="-122"/>
                <a:ea typeface="微软雅黑" panose="020B0503020204020204" charset="-122"/>
              </a:rPr>
              <a:t>？命名不规范，含义不明确。</a:t>
            </a:r>
          </a:p>
        </p:txBody>
      </p:sp>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29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7"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3000" fill="hold"/>
                                        <p:tgtEl>
                                          <p:spTgt spid="2"/>
                                        </p:tgtEl>
                                        <p:attrNameLst>
                                          <p:attrName>ppt_x</p:attrName>
                                        </p:attrNameLst>
                                      </p:cBhvr>
                                      <p:tavLst>
                                        <p:tav tm="0">
                                          <p:val>
                                            <p:strVal val="#ppt_x"/>
                                          </p:val>
                                        </p:tav>
                                        <p:tav tm="100000">
                                          <p:val>
                                            <p:strVal val="#ppt_x"/>
                                          </p:val>
                                        </p:tav>
                                      </p:tavLst>
                                    </p:anim>
                                    <p:anim calcmode="lin" valueType="num">
                                      <p:cBhvr additive="base">
                                        <p:cTn id="17" dur="3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4495" y="1269365"/>
            <a:ext cx="503110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917065"/>
            <a:ext cx="9144000" cy="146621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是否存在非算术变量之间的运算</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非算术变量之间的运算如</a:t>
            </a:r>
            <a:r>
              <a:rPr lang="zh-CN">
                <a:latin typeface="微软雅黑" panose="020B0503020204020204" charset="-122"/>
                <a:ea typeface="微软雅黑" panose="020B0503020204020204" charset="-122"/>
              </a:rPr>
              <a:t>下例</a:t>
            </a:r>
            <a:r>
              <a:rPr>
                <a:latin typeface="微软雅黑" panose="020B0503020204020204" charset="-122"/>
                <a:ea typeface="微软雅黑" panose="020B0503020204020204" charset="-122"/>
              </a:rPr>
              <a:t>所示。 </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非算术变量之间的运算</a:t>
            </a:r>
          </a:p>
        </p:txBody>
      </p:sp>
      <p:pic>
        <p:nvPicPr>
          <p:cNvPr id="5" name="图片 4"/>
          <p:cNvPicPr>
            <a:picLocks noChangeAspect="1"/>
          </p:cNvPicPr>
          <p:nvPr/>
        </p:nvPicPr>
        <p:blipFill>
          <a:blip r:embed="rId3"/>
          <a:stretch>
            <a:fillRect/>
          </a:stretch>
        </p:blipFill>
        <p:spPr>
          <a:xfrm>
            <a:off x="179070" y="3644900"/>
            <a:ext cx="8601710" cy="1211580"/>
          </a:xfrm>
          <a:prstGeom prst="rect">
            <a:avLst/>
          </a:prstGeom>
        </p:spPr>
      </p:pic>
      <p:pic>
        <p:nvPicPr>
          <p:cNvPr id="2" name="图片 1"/>
          <p:cNvPicPr>
            <a:picLocks noChangeAspect="1"/>
          </p:cNvPicPr>
          <p:nvPr/>
        </p:nvPicPr>
        <p:blipFill>
          <a:blip r:embed="rId4"/>
          <a:stretch>
            <a:fillRect/>
          </a:stretch>
        </p:blipFill>
        <p:spPr>
          <a:xfrm>
            <a:off x="6385560" y="1017905"/>
            <a:ext cx="2501900" cy="2406650"/>
          </a:xfrm>
          <a:prstGeom prst="rect">
            <a:avLst/>
          </a:prstGeom>
        </p:spPr>
      </p:pic>
      <p:sp>
        <p:nvSpPr>
          <p:cNvPr id="7" name="标题 6"/>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3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8935" y="1269365"/>
            <a:ext cx="506666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896745"/>
            <a:ext cx="8709025" cy="92202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中第1行的变量a是字符串类型，变量b是数字类型，因此相加时出现错误。运行结果如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图所示。</a:t>
            </a:r>
          </a:p>
        </p:txBody>
      </p:sp>
      <p:pic>
        <p:nvPicPr>
          <p:cNvPr id="2" name="图片 1"/>
          <p:cNvPicPr>
            <a:picLocks noChangeAspect="1"/>
          </p:cNvPicPr>
          <p:nvPr/>
        </p:nvPicPr>
        <p:blipFill>
          <a:blip r:embed="rId3"/>
          <a:stretch>
            <a:fillRect/>
          </a:stretch>
        </p:blipFill>
        <p:spPr>
          <a:xfrm>
            <a:off x="827405" y="2997200"/>
            <a:ext cx="7560310" cy="259334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in)">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56565" y="1269365"/>
            <a:ext cx="497903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772285"/>
            <a:ext cx="9144000" cy="146621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是否存在混合模式的运算</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混合模式运算，如整型与浮点型运算，具体如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例所示。</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混合模式运算</a:t>
            </a:r>
          </a:p>
        </p:txBody>
      </p:sp>
      <p:pic>
        <p:nvPicPr>
          <p:cNvPr id="9" name="图片 8"/>
          <p:cNvPicPr>
            <a:picLocks noChangeAspect="1"/>
          </p:cNvPicPr>
          <p:nvPr/>
        </p:nvPicPr>
        <p:blipFill>
          <a:blip r:embed="rId3"/>
          <a:stretch>
            <a:fillRect/>
          </a:stretch>
        </p:blipFill>
        <p:spPr>
          <a:xfrm>
            <a:off x="755650" y="3357245"/>
            <a:ext cx="7641590" cy="2593975"/>
          </a:xfrm>
          <a:prstGeom prst="rect">
            <a:avLst/>
          </a:prstGeom>
        </p:spPr>
      </p:pic>
      <p:pic>
        <p:nvPicPr>
          <p:cNvPr id="2" name="图片 1"/>
          <p:cNvPicPr>
            <a:picLocks noChangeAspect="1"/>
          </p:cNvPicPr>
          <p:nvPr/>
        </p:nvPicPr>
        <p:blipFill>
          <a:blip r:embed="rId4"/>
          <a:stretch>
            <a:fillRect/>
          </a:stretch>
        </p:blipFill>
        <p:spPr>
          <a:xfrm>
            <a:off x="7310755" y="1047750"/>
            <a:ext cx="1550670" cy="219075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1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0-#ppt_w/2"/>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5445" y="1269365"/>
            <a:ext cx="505015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960880"/>
            <a:ext cx="8945245" cy="92202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是将整型变量a与浮点型变量b相加得到的结果赋值给整型变量sum，运行结果如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图所示。</a:t>
            </a:r>
          </a:p>
        </p:txBody>
      </p:sp>
      <p:pic>
        <p:nvPicPr>
          <p:cNvPr id="2" name="图片 1"/>
          <p:cNvPicPr>
            <a:picLocks noChangeAspect="1"/>
          </p:cNvPicPr>
          <p:nvPr/>
        </p:nvPicPr>
        <p:blipFill>
          <a:blip r:embed="rId3"/>
          <a:stretch>
            <a:fillRect/>
          </a:stretch>
        </p:blipFill>
        <p:spPr>
          <a:xfrm>
            <a:off x="725170" y="3053080"/>
            <a:ext cx="7710170" cy="215138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70840" y="1269365"/>
            <a:ext cx="506476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988820"/>
            <a:ext cx="9144000" cy="194564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是否存在不同字长变量之间的运算</a:t>
            </a:r>
            <a:r>
              <a:rPr lang="zh-CN">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int</a:t>
            </a:r>
            <a:r>
              <a:rPr lang="zh-CN" altLang="en-US">
                <a:latin typeface="微软雅黑" panose="020B0503020204020204" charset="-122"/>
                <a:ea typeface="微软雅黑" panose="020B0503020204020204" charset="-122"/>
              </a:rPr>
              <a:t>型和</a:t>
            </a:r>
            <a:r>
              <a:rPr lang="en-US" altLang="zh-CN">
                <a:latin typeface="微软雅黑" panose="020B0503020204020204" charset="-122"/>
                <a:ea typeface="微软雅黑" panose="020B0503020204020204" charset="-122"/>
              </a:rPr>
              <a:t>long</a:t>
            </a:r>
            <a:r>
              <a:rPr lang="zh-CN" altLang="en-US">
                <a:latin typeface="微软雅黑" panose="020B0503020204020204" charset="-122"/>
                <a:ea typeface="微软雅黑" panose="020B0503020204020204" charset="-122"/>
              </a:rPr>
              <a:t>型。</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目标变量数据类型是否小于所赋值的数据类型或结果</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中间结果是否上溢或下溢</a:t>
            </a:r>
            <a:r>
              <a:rPr lang="zh-CN">
                <a:latin typeface="微软雅黑" panose="020B0503020204020204" charset="-122"/>
                <a:ea typeface="微软雅黑" panose="020B0503020204020204" charset="-122"/>
              </a:rPr>
              <a:t>？导致精度错误、结果错误。</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是否存在除以0的情况</a:t>
            </a:r>
            <a:r>
              <a:rPr lang="zh-CN">
                <a:latin typeface="微软雅黑" panose="020B0503020204020204" charset="-122"/>
                <a:ea typeface="微软雅黑" panose="020B0503020204020204" charset="-122"/>
              </a:rPr>
              <a:t>？</a:t>
            </a:r>
          </a:p>
        </p:txBody>
      </p:sp>
      <p:pic>
        <p:nvPicPr>
          <p:cNvPr id="5" name="图片 4" descr="加减乘除"/>
          <p:cNvPicPr>
            <a:picLocks noChangeAspect="1"/>
          </p:cNvPicPr>
          <p:nvPr/>
        </p:nvPicPr>
        <p:blipFill>
          <a:blip r:embed="rId3"/>
          <a:stretch>
            <a:fillRect/>
          </a:stretch>
        </p:blipFill>
        <p:spPr>
          <a:xfrm>
            <a:off x="5711825" y="3768725"/>
            <a:ext cx="2221230" cy="2247900"/>
          </a:xfrm>
          <a:prstGeom prst="rect">
            <a:avLst/>
          </a:prstGeom>
        </p:spPr>
      </p:pic>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3705" y="1269365"/>
            <a:ext cx="500189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863725"/>
            <a:ext cx="9144000" cy="146621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操作符的优先顺序是否正确</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操作符要根据需求来使用，否则会导致最终结果失败。如</a:t>
            </a:r>
            <a:r>
              <a:rPr lang="zh-CN">
                <a:latin typeface="微软雅黑" panose="020B0503020204020204" charset="-122"/>
                <a:ea typeface="微软雅黑" panose="020B0503020204020204" charset="-122"/>
              </a:rPr>
              <a:t>下例</a:t>
            </a:r>
            <a:r>
              <a:rPr>
                <a:latin typeface="微软雅黑" panose="020B0503020204020204" charset="-122"/>
                <a:ea typeface="微软雅黑" panose="020B0503020204020204" charset="-122"/>
              </a:rPr>
              <a:t>所示。 </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操作符顺序编写错误</a:t>
            </a:r>
          </a:p>
        </p:txBody>
      </p:sp>
      <p:grpSp>
        <p:nvGrpSpPr>
          <p:cNvPr id="7" name="组合 6"/>
          <p:cNvGrpSpPr/>
          <p:nvPr/>
        </p:nvGrpSpPr>
        <p:grpSpPr>
          <a:xfrm>
            <a:off x="405130" y="3590290"/>
            <a:ext cx="8236585" cy="1462405"/>
            <a:chOff x="1397" y="5100"/>
            <a:chExt cx="11503" cy="3033"/>
          </a:xfrm>
        </p:grpSpPr>
        <p:pic>
          <p:nvPicPr>
            <p:cNvPr id="2" name="图片 1"/>
            <p:cNvPicPr>
              <a:picLocks noChangeAspect="1"/>
            </p:cNvPicPr>
            <p:nvPr/>
          </p:nvPicPr>
          <p:blipFill>
            <a:blip r:embed="rId3"/>
            <a:stretch>
              <a:fillRect/>
            </a:stretch>
          </p:blipFill>
          <p:spPr>
            <a:xfrm>
              <a:off x="1448" y="5100"/>
              <a:ext cx="11452" cy="1220"/>
            </a:xfrm>
            <a:prstGeom prst="rect">
              <a:avLst/>
            </a:prstGeom>
          </p:spPr>
        </p:pic>
        <p:pic>
          <p:nvPicPr>
            <p:cNvPr id="5" name="图片 4"/>
            <p:cNvPicPr>
              <a:picLocks noChangeAspect="1"/>
            </p:cNvPicPr>
            <p:nvPr/>
          </p:nvPicPr>
          <p:blipFill>
            <a:blip r:embed="rId4"/>
            <a:stretch>
              <a:fillRect/>
            </a:stretch>
          </p:blipFill>
          <p:spPr>
            <a:xfrm>
              <a:off x="1397" y="6433"/>
              <a:ext cx="11503" cy="1700"/>
            </a:xfrm>
            <a:prstGeom prst="rect">
              <a:avLst/>
            </a:prstGeom>
          </p:spPr>
        </p:pic>
      </p:grpSp>
      <p:pic>
        <p:nvPicPr>
          <p:cNvPr id="8" name="图片 7" descr="顺序"/>
          <p:cNvPicPr>
            <a:picLocks noChangeAspect="1"/>
          </p:cNvPicPr>
          <p:nvPr/>
        </p:nvPicPr>
        <p:blipFill>
          <a:blip r:embed="rId5"/>
          <a:stretch>
            <a:fillRect/>
          </a:stretch>
        </p:blipFill>
        <p:spPr>
          <a:xfrm>
            <a:off x="5866765" y="2764790"/>
            <a:ext cx="2774950" cy="3679190"/>
          </a:xfrm>
          <a:prstGeom prst="rect">
            <a:avLst/>
          </a:prstGeom>
        </p:spPr>
      </p:pic>
      <p:sp>
        <p:nvSpPr>
          <p:cNvPr id="9" name="标题 8"/>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10" name="日期占位符 9"/>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11" name="灯片编号占位符 10"/>
          <p:cNvSpPr>
            <a:spLocks noGrp="1"/>
          </p:cNvSpPr>
          <p:nvPr>
            <p:ph type="sldNum" sz="quarter" idx="12"/>
          </p:nvPr>
        </p:nvSpPr>
        <p:spPr/>
        <p:txBody>
          <a:bodyPr/>
          <a:lstStyle/>
          <a:p>
            <a:fld id="{49AE70B2-8BF9-45C0-BB95-33D1B9D3A854}" type="slidenum">
              <a:rPr lang="zh-CN" altLang="en-US" smtClean="0"/>
              <a:t>35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2000"/>
                                        <p:tgtEl>
                                          <p:spTgt spid="7"/>
                                        </p:tgtEl>
                                      </p:cBhvr>
                                    </p:animEffect>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87680" y="1268730"/>
            <a:ext cx="4886960" cy="553720"/>
          </a:xfrm>
          <a:prstGeom prst="rect">
            <a:avLst/>
          </a:prstGeom>
        </p:spPr>
        <p:txBody>
          <a:bodyPr wrap="square">
            <a:noAutofit/>
          </a:bodyPr>
          <a:lstStyle/>
          <a:p>
            <a:r>
              <a:rPr lang="zh-CN" altLang="en-US" sz="2800" b="1" dirty="0">
                <a:solidFill>
                  <a:schemeClr val="tx1"/>
                </a:solidFill>
                <a:latin typeface="微软雅黑" panose="020B0503020204020204" charset="-122"/>
                <a:ea typeface="微软雅黑" panose="020B0503020204020204" charset="-122"/>
              </a:rPr>
              <a:t>运算错误</a:t>
            </a:r>
          </a:p>
        </p:txBody>
      </p:sp>
      <p:sp>
        <p:nvSpPr>
          <p:cNvPr id="6" name="矩形 5"/>
          <p:cNvSpPr/>
          <p:nvPr/>
        </p:nvSpPr>
        <p:spPr>
          <a:xfrm>
            <a:off x="-16510" y="1772285"/>
            <a:ext cx="9144000" cy="133794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是计算2与3的和的6倍是多少。数学中正确的计算方法应该是(2+3)×6，最终结果为30，但第4行代码是先计算了3×6，然后再加上2，操作符运算顺序错误，导致最终结果错误。运行结果如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图所示。</a:t>
            </a:r>
          </a:p>
        </p:txBody>
      </p:sp>
      <p:pic>
        <p:nvPicPr>
          <p:cNvPr id="5" name="图片 4"/>
          <p:cNvPicPr>
            <a:picLocks noChangeAspect="1"/>
          </p:cNvPicPr>
          <p:nvPr/>
        </p:nvPicPr>
        <p:blipFill>
          <a:blip r:embed="rId3"/>
          <a:stretch>
            <a:fillRect/>
          </a:stretch>
        </p:blipFill>
        <p:spPr>
          <a:xfrm>
            <a:off x="1454785" y="3329305"/>
            <a:ext cx="6686550" cy="1603375"/>
          </a:xfrm>
          <a:prstGeom prst="rect">
            <a:avLst/>
          </a:prstGeom>
        </p:spPr>
      </p:pic>
      <p:sp>
        <p:nvSpPr>
          <p:cNvPr id="7" name="矩形 6"/>
          <p:cNvSpPr/>
          <p:nvPr/>
        </p:nvSpPr>
        <p:spPr>
          <a:xfrm>
            <a:off x="-16510" y="5271770"/>
            <a:ext cx="9144000" cy="50673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8、整数除法是否正确？不同语言的结果不同。</a:t>
            </a:r>
            <a:endParaRPr>
              <a:latin typeface="微软雅黑" panose="020B0503020204020204" charset="-122"/>
              <a:ea typeface="微软雅黑" panose="020B0503020204020204" charset="-122"/>
            </a:endParaRPr>
          </a:p>
        </p:txBody>
      </p:sp>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8" name="日期占位符 7"/>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0-#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75285" y="1269365"/>
            <a:ext cx="506031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比较错误</a:t>
            </a:r>
          </a:p>
        </p:txBody>
      </p:sp>
      <p:sp>
        <p:nvSpPr>
          <p:cNvPr id="6" name="矩形 5"/>
          <p:cNvSpPr/>
          <p:nvPr/>
        </p:nvSpPr>
        <p:spPr>
          <a:xfrm>
            <a:off x="-16510" y="1772285"/>
            <a:ext cx="9144000" cy="386397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是否有不同类型数据进行比较</a:t>
            </a:r>
            <a:r>
              <a:rPr lang="zh-CN">
                <a:latin typeface="微软雅黑" panose="020B0503020204020204" charset="-122"/>
                <a:ea typeface="微软雅黑" panose="020B0503020204020204" charset="-122"/>
              </a:rPr>
              <a:t>？日期与字符串。</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是否有混合模式或不同长度数据的比较运算</a:t>
            </a:r>
            <a:r>
              <a:rPr lang="zh-CN">
                <a:latin typeface="微软雅黑" panose="020B0503020204020204" charset="-122"/>
                <a:ea typeface="微软雅黑" panose="020B0503020204020204" charset="-122"/>
              </a:rPr>
              <a:t>？是否有类型转换？</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比较运算符是否正确</a:t>
            </a:r>
            <a:r>
              <a:rPr lang="zh-CN">
                <a:latin typeface="微软雅黑" panose="020B0503020204020204" charset="-122"/>
                <a:ea typeface="微软雅黑" panose="020B0503020204020204" charset="-122"/>
              </a:rPr>
              <a:t>？不超过、不大于、至多等。</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布尔表达式是否正确</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比较运算符是否与布尔表达式相混合</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是否存在浮点数的比较</a:t>
            </a:r>
            <a:r>
              <a:rPr lang="zh-CN">
                <a:latin typeface="微软雅黑" panose="020B0503020204020204" charset="-122"/>
                <a:ea typeface="微软雅黑" panose="020B0503020204020204" charset="-122"/>
              </a:rPr>
              <a:t>？浮点数会四舍五入。</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优先顺序是否正确</a:t>
            </a:r>
            <a:r>
              <a:rPr lang="zh-CN">
                <a:latin typeface="微软雅黑" panose="020B0503020204020204" charset="-122"/>
                <a:ea typeface="微软雅黑" panose="020B0503020204020204" charset="-122"/>
              </a:rPr>
              <a:t>？布尔运算的顺序。</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8</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布尔表达式的计算方式是否正确</a:t>
            </a:r>
            <a:r>
              <a:rPr lang="zh-CN">
                <a:latin typeface="微软雅黑" panose="020B0503020204020204" charset="-122"/>
                <a:ea typeface="微软雅黑" panose="020B0503020204020204" charset="-122"/>
              </a:rPr>
              <a:t>？是否有短路？</a:t>
            </a:r>
          </a:p>
        </p:txBody>
      </p:sp>
      <p:pic>
        <p:nvPicPr>
          <p:cNvPr id="2" name="图片 1" descr="寻找"/>
          <p:cNvPicPr>
            <a:picLocks noChangeAspect="1"/>
          </p:cNvPicPr>
          <p:nvPr/>
        </p:nvPicPr>
        <p:blipFill>
          <a:blip r:embed="rId3"/>
          <a:stretch>
            <a:fillRect/>
          </a:stretch>
        </p:blipFill>
        <p:spPr>
          <a:xfrm>
            <a:off x="6083935" y="2924810"/>
            <a:ext cx="2853055" cy="338391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ox(out)">
                                      <p:cBhvr>
                                        <p:cTn id="11" dur="2000"/>
                                        <p:tgtEl>
                                          <p:spTgt spid="2"/>
                                        </p:tgtEl>
                                      </p:cBhvr>
                                    </p:animEffect>
                                  </p:childTnLst>
                                </p:cTn>
                              </p:par>
                            </p:childTnLst>
                          </p:cTn>
                        </p:par>
                        <p:par>
                          <p:cTn id="12" fill="hold">
                            <p:stCondLst>
                              <p:cond delay="2500"/>
                            </p:stCondLst>
                            <p:childTnLst>
                              <p:par>
                                <p:cTn id="13" presetID="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1010" y="1243330"/>
            <a:ext cx="4974590" cy="548005"/>
          </a:xfrm>
          <a:prstGeom prst="rect">
            <a:avLst/>
          </a:prstGeom>
        </p:spPr>
        <p:txBody>
          <a:bodyPr wrap="square">
            <a:noAutofit/>
          </a:bodyPr>
          <a:lstStyle/>
          <a:p>
            <a:r>
              <a:rPr lang="zh-CN" altLang="en-US" sz="2800" b="1" dirty="0">
                <a:solidFill>
                  <a:schemeClr val="tx1"/>
                </a:solidFill>
                <a:latin typeface="微软雅黑" panose="020B0503020204020204" charset="-122"/>
                <a:ea typeface="微软雅黑" panose="020B0503020204020204" charset="-122"/>
              </a:rPr>
              <a:t>控制流程错误</a:t>
            </a:r>
          </a:p>
        </p:txBody>
      </p:sp>
      <p:sp>
        <p:nvSpPr>
          <p:cNvPr id="6" name="矩形 5"/>
          <p:cNvSpPr/>
          <p:nvPr/>
        </p:nvSpPr>
        <p:spPr>
          <a:xfrm>
            <a:off x="-16510" y="1772285"/>
            <a:ext cx="8939530" cy="236093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是否所有的循环最终都能终止</a:t>
            </a:r>
            <a:r>
              <a:rPr lang="zh-CN">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while</a:t>
            </a:r>
            <a:r>
              <a:rPr lang="zh-CN" altLang="en-US">
                <a:latin typeface="微软雅黑" panose="020B0503020204020204" charset="-122"/>
                <a:ea typeface="微软雅黑" panose="020B0503020204020204" charset="-122"/>
              </a:rPr>
              <a:t>（</a:t>
            </a:r>
            <a:r>
              <a:rPr lang="en-US" altLang="zh-CN">
                <a:latin typeface="微软雅黑" panose="020B0503020204020204" charset="-122"/>
                <a:ea typeface="微软雅黑" panose="020B0503020204020204" charset="-122"/>
              </a:rPr>
              <a:t>True</a:t>
            </a:r>
            <a:r>
              <a:rPr lang="zh-CN" altLang="en-US">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是否存在由于入口条件不满足而从未执行过循环体的情况</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当循环的入口条件不满足时，整个循环体可能一次也不会执行，进而导致整个循环结构没有发挥实质性的作用，实现不了预期结果。如</a:t>
            </a:r>
            <a:r>
              <a:rPr lang="zh-CN">
                <a:latin typeface="微软雅黑" panose="020B0503020204020204" charset="-122"/>
                <a:ea typeface="微软雅黑" panose="020B0503020204020204" charset="-122"/>
              </a:rPr>
              <a:t>下</a:t>
            </a:r>
            <a:r>
              <a:rPr>
                <a:latin typeface="微软雅黑" panose="020B0503020204020204" charset="-122"/>
                <a:ea typeface="微软雅黑" panose="020B0503020204020204" charset="-122"/>
              </a:rPr>
              <a:t>例所示。</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sym typeface="+mn-ea"/>
              </a:rPr>
              <a:t>例</a:t>
            </a:r>
            <a:r>
              <a:rPr lang="zh-CN">
                <a:latin typeface="微软雅黑" panose="020B0503020204020204" charset="-122"/>
                <a:ea typeface="微软雅黑" panose="020B0503020204020204" charset="-122"/>
                <a:sym typeface="+mn-ea"/>
              </a:rPr>
              <a:t>：</a:t>
            </a:r>
            <a:r>
              <a:rPr>
                <a:latin typeface="微软雅黑" panose="020B0503020204020204" charset="-122"/>
                <a:ea typeface="微软雅黑" panose="020B0503020204020204" charset="-122"/>
                <a:sym typeface="+mn-ea"/>
              </a:rPr>
              <a:t>入口条件不满足导致循环体未执行</a:t>
            </a:r>
            <a:endParaRPr>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3"/>
          <a:stretch>
            <a:fillRect/>
          </a:stretch>
        </p:blipFill>
        <p:spPr>
          <a:xfrm>
            <a:off x="706755" y="4227830"/>
            <a:ext cx="7731125" cy="171132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in)">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99745" y="1269365"/>
            <a:ext cx="493585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控制流程错误</a:t>
            </a:r>
          </a:p>
        </p:txBody>
      </p:sp>
      <p:sp>
        <p:nvSpPr>
          <p:cNvPr id="5" name="矩形 4"/>
          <p:cNvSpPr/>
          <p:nvPr/>
        </p:nvSpPr>
        <p:spPr>
          <a:xfrm>
            <a:off x="-16510" y="1827530"/>
            <a:ext cx="8906510" cy="216852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上述例子是实现输出列表 lst 中所有偶数，需要将整个列表进行遍历，查找出所有偶数并输出。 其中第 4 行的循环入口条件应该是“i &lt; len(lst)”，即当 i 小于列表 lst 的长度时进入循环，但该例子中写成了“i &gt; len(lst)”，而 i 的初始值是 0，因此循环不会执行，预期结果也不可能实现。上述例子的运行结果如下图所示。</a:t>
            </a:r>
          </a:p>
        </p:txBody>
      </p:sp>
      <p:pic>
        <p:nvPicPr>
          <p:cNvPr id="7" name="图片 6"/>
          <p:cNvPicPr>
            <a:picLocks noChangeAspect="1"/>
          </p:cNvPicPr>
          <p:nvPr/>
        </p:nvPicPr>
        <p:blipFill>
          <a:blip r:embed="rId3"/>
          <a:stretch>
            <a:fillRect/>
          </a:stretch>
        </p:blipFill>
        <p:spPr>
          <a:xfrm>
            <a:off x="1043305" y="4149090"/>
            <a:ext cx="7074535" cy="1381760"/>
          </a:xfrm>
          <a:prstGeom prst="rect">
            <a:avLst/>
          </a:prstGeom>
        </p:spPr>
      </p:pic>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39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7990" y="1269365"/>
            <a:ext cx="500761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控制流程错误</a:t>
            </a:r>
          </a:p>
        </p:txBody>
      </p:sp>
      <p:sp>
        <p:nvSpPr>
          <p:cNvPr id="6" name="矩形 5"/>
          <p:cNvSpPr/>
          <p:nvPr/>
        </p:nvSpPr>
        <p:spPr>
          <a:xfrm>
            <a:off x="-16510" y="1772285"/>
            <a:ext cx="8867775" cy="188150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是否存在“仅差一个”的循环错误</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此类错误一般出现在迭代数量判断中，最终结果输出了，但结果可能并不是所预期的结果，正好迭代少一次或多一次，如</a:t>
            </a:r>
            <a:r>
              <a:rPr lang="zh-CN">
                <a:latin typeface="微软雅黑" panose="020B0503020204020204" charset="-122"/>
                <a:ea typeface="微软雅黑" panose="020B0503020204020204" charset="-122"/>
              </a:rPr>
              <a:t>下例</a:t>
            </a:r>
            <a:r>
              <a:rPr>
                <a:latin typeface="微软雅黑" panose="020B0503020204020204" charset="-122"/>
                <a:ea typeface="微软雅黑" panose="020B0503020204020204" charset="-122"/>
              </a:rPr>
              <a:t>所示。</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“仅差一个”错误</a:t>
            </a:r>
          </a:p>
        </p:txBody>
      </p:sp>
      <p:pic>
        <p:nvPicPr>
          <p:cNvPr id="2" name="图片 1"/>
          <p:cNvPicPr>
            <a:picLocks noChangeAspect="1"/>
          </p:cNvPicPr>
          <p:nvPr/>
        </p:nvPicPr>
        <p:blipFill>
          <a:blip r:embed="rId3"/>
          <a:stretch>
            <a:fillRect/>
          </a:stretch>
        </p:blipFill>
        <p:spPr>
          <a:xfrm>
            <a:off x="611505" y="3860800"/>
            <a:ext cx="7905115" cy="164274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2275" y="1269365"/>
            <a:ext cx="501332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控制流程错误</a:t>
            </a:r>
          </a:p>
        </p:txBody>
      </p:sp>
      <p:sp>
        <p:nvSpPr>
          <p:cNvPr id="6" name="矩形 5"/>
          <p:cNvSpPr/>
          <p:nvPr/>
        </p:nvSpPr>
        <p:spPr>
          <a:xfrm>
            <a:off x="-16510" y="1772285"/>
            <a:ext cx="8763000" cy="133794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该</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与</a:t>
            </a:r>
            <a:r>
              <a:rPr lang="zh-CN">
                <a:latin typeface="微软雅黑" panose="020B0503020204020204" charset="-122"/>
                <a:ea typeface="微软雅黑" panose="020B0503020204020204" charset="-122"/>
              </a:rPr>
              <a:t>第二点中的</a:t>
            </a:r>
            <a:r>
              <a:rPr>
                <a:latin typeface="微软雅黑" panose="020B0503020204020204" charset="-122"/>
                <a:ea typeface="微软雅黑" panose="020B0503020204020204" charset="-122"/>
              </a:rPr>
              <a:t>例</a:t>
            </a:r>
            <a:r>
              <a:rPr lang="zh-CN">
                <a:latin typeface="微软雅黑" panose="020B0503020204020204" charset="-122"/>
                <a:ea typeface="微软雅黑" panose="020B0503020204020204" charset="-122"/>
              </a:rPr>
              <a:t>子</a:t>
            </a:r>
            <a:r>
              <a:rPr>
                <a:latin typeface="微软雅黑" panose="020B0503020204020204" charset="-122"/>
                <a:ea typeface="微软雅黑" panose="020B0503020204020204" charset="-122"/>
              </a:rPr>
              <a:t>目的相同，都是输出 lst 中所有偶数。整个程序运行并不报错，但可以发现循环是从下标为1开始的，而列表的下标索引是从0开始的，因此会导致少执行一次，执行结果如图所示。</a:t>
            </a:r>
          </a:p>
        </p:txBody>
      </p:sp>
      <p:pic>
        <p:nvPicPr>
          <p:cNvPr id="5" name="图片 4"/>
          <p:cNvPicPr>
            <a:picLocks noChangeAspect="1"/>
          </p:cNvPicPr>
          <p:nvPr/>
        </p:nvPicPr>
        <p:blipFill>
          <a:blip r:embed="rId3"/>
          <a:stretch>
            <a:fillRect/>
          </a:stretch>
        </p:blipFill>
        <p:spPr>
          <a:xfrm>
            <a:off x="659765" y="3397250"/>
            <a:ext cx="7743825" cy="1903730"/>
          </a:xfrm>
          <a:prstGeom prst="rect">
            <a:avLst/>
          </a:prstGeom>
        </p:spPr>
      </p:pic>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4810" y="1269365"/>
            <a:ext cx="505079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控制流程错误</a:t>
            </a:r>
          </a:p>
        </p:txBody>
      </p:sp>
      <p:sp>
        <p:nvSpPr>
          <p:cNvPr id="6" name="矩形 5"/>
          <p:cNvSpPr/>
          <p:nvPr/>
        </p:nvSpPr>
        <p:spPr>
          <a:xfrm>
            <a:off x="-16510" y="1844675"/>
            <a:ext cx="9144000" cy="194564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程序结构中的括号以及固定搭配是否匹配</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多分支路径中，索引变量是否大于可能的分支数</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程序、模块或子程序最后是否都终止了</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是否存在不能穷尽的判断</a:t>
            </a:r>
            <a:r>
              <a:rPr lang="zh-CN">
                <a:latin typeface="微软雅黑" panose="020B0503020204020204" charset="-122"/>
                <a:ea typeface="微软雅黑" panose="020B0503020204020204" charset="-122"/>
              </a:rPr>
              <a:t>？</a:t>
            </a:r>
          </a:p>
        </p:txBody>
      </p:sp>
      <p:pic>
        <p:nvPicPr>
          <p:cNvPr id="2" name="图片 1"/>
          <p:cNvPicPr>
            <a:picLocks noChangeAspect="1"/>
          </p:cNvPicPr>
          <p:nvPr/>
        </p:nvPicPr>
        <p:blipFill>
          <a:blip r:embed="rId3"/>
          <a:stretch>
            <a:fillRect/>
          </a:stretch>
        </p:blipFill>
        <p:spPr>
          <a:xfrm>
            <a:off x="3801745" y="3717925"/>
            <a:ext cx="4224020" cy="2527935"/>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3"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3530" y="1281430"/>
            <a:ext cx="5059680" cy="552450"/>
          </a:xfrm>
          <a:prstGeom prst="rect">
            <a:avLst/>
          </a:prstGeom>
        </p:spPr>
        <p:txBody>
          <a:bodyPr wrap="square">
            <a:noAutofit/>
          </a:bodyPr>
          <a:lstStyle/>
          <a:p>
            <a:r>
              <a:rPr lang="en-US" altLang="zh-CN" sz="2800" b="1" dirty="0">
                <a:solidFill>
                  <a:schemeClr val="tx1"/>
                </a:solidFill>
                <a:latin typeface="微软雅黑" panose="020B0503020204020204" charset="-122"/>
                <a:ea typeface="微软雅黑" panose="020B0503020204020204" charset="-122"/>
              </a:rPr>
              <a:t> </a:t>
            </a:r>
            <a:r>
              <a:rPr lang="zh-CN" altLang="en-US" sz="2800" b="1" dirty="0">
                <a:solidFill>
                  <a:schemeClr val="tx1"/>
                </a:solidFill>
                <a:latin typeface="微软雅黑" panose="020B0503020204020204" charset="-122"/>
                <a:ea typeface="微软雅黑" panose="020B0503020204020204" charset="-122"/>
              </a:rPr>
              <a:t>接口错误</a:t>
            </a:r>
          </a:p>
        </p:txBody>
      </p:sp>
      <p:sp>
        <p:nvSpPr>
          <p:cNvPr id="6" name="矩形 5"/>
          <p:cNvSpPr/>
          <p:nvPr/>
        </p:nvSpPr>
        <p:spPr>
          <a:xfrm>
            <a:off x="-16510" y="1772285"/>
            <a:ext cx="9144000" cy="3863975"/>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形参与实参数量是否相等</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形参顺序与实参顺序是否相匹配</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、形参属性是否与实参属性相匹配？</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、形参的单位是否和实参匹配？</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、是否改变了某个仅为输入值的形参？</a:t>
            </a:r>
            <a:r>
              <a:rPr lang="en-US" altLang="zh-CN">
                <a:latin typeface="微软雅黑" panose="020B0503020204020204" charset="-122"/>
                <a:ea typeface="微软雅黑" panose="020B0503020204020204" charset="-122"/>
              </a:rPr>
              <a:t>const</a:t>
            </a:r>
            <a:r>
              <a:rPr lang="zh-CN" altLang="en-US">
                <a:latin typeface="微软雅黑" panose="020B0503020204020204" charset="-122"/>
                <a:ea typeface="微软雅黑" panose="020B0503020204020204" charset="-122"/>
              </a:rPr>
              <a:t>声明的不能修改。</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、全局变量的定义和属性是否一致？</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、若某模块或类含有多个入口点，是否引用了与当前入口点无关的形参？</a:t>
            </a:r>
          </a:p>
          <a:p>
            <a:pPr marL="742950" lvl="1" indent="-285750" fontAlgn="base">
              <a:lnSpc>
                <a:spcPct val="150000"/>
              </a:lnSpc>
              <a:spcBef>
                <a:spcPts val="500"/>
              </a:spcBef>
              <a:spcAft>
                <a:spcPct val="0"/>
              </a:spcAft>
              <a:buFont typeface="Arial" panose="020B0604020202020204" pitchFamily="34" charset="0"/>
              <a:buChar char="•"/>
            </a:pPr>
            <a:r>
              <a:rPr lang="zh-CN">
                <a:latin typeface="微软雅黑" panose="020B0503020204020204" charset="-122"/>
                <a:ea typeface="微软雅黑" panose="020B0503020204020204" charset="-122"/>
              </a:rPr>
              <a:t>8、常数是否以实参形式传递过？</a:t>
            </a:r>
          </a:p>
        </p:txBody>
      </p:sp>
      <p:pic>
        <p:nvPicPr>
          <p:cNvPr id="2" name="图片 1"/>
          <p:cNvPicPr>
            <a:picLocks noChangeAspect="1"/>
          </p:cNvPicPr>
          <p:nvPr/>
        </p:nvPicPr>
        <p:blipFill>
          <a:blip r:embed="rId3"/>
          <a:stretch>
            <a:fillRect/>
          </a:stretch>
        </p:blipFill>
        <p:spPr>
          <a:xfrm rot="18000000" flipH="1">
            <a:off x="6210300" y="1666240"/>
            <a:ext cx="2298700" cy="178689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3"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6725" y="1269365"/>
            <a:ext cx="4968875"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输入</a:t>
            </a:r>
            <a:r>
              <a:rPr lang="en-US" altLang="zh-CN" sz="2800" b="1" dirty="0">
                <a:solidFill>
                  <a:schemeClr val="tx1"/>
                </a:solidFill>
                <a:latin typeface="微软雅黑" panose="020B0503020204020204" charset="-122"/>
                <a:ea typeface="微软雅黑" panose="020B0503020204020204" charset="-122"/>
              </a:rPr>
              <a:t>/</a:t>
            </a:r>
            <a:r>
              <a:rPr lang="zh-CN" altLang="en-US" sz="2800" b="1" dirty="0">
                <a:solidFill>
                  <a:schemeClr val="tx1"/>
                </a:solidFill>
                <a:latin typeface="微软雅黑" panose="020B0503020204020204" charset="-122"/>
                <a:ea typeface="微软雅黑" panose="020B0503020204020204" charset="-122"/>
              </a:rPr>
              <a:t>输出错误</a:t>
            </a:r>
          </a:p>
        </p:txBody>
      </p:sp>
      <p:sp>
        <p:nvSpPr>
          <p:cNvPr id="6" name="矩形 5"/>
          <p:cNvSpPr/>
          <p:nvPr/>
        </p:nvSpPr>
        <p:spPr>
          <a:xfrm>
            <a:off x="-16510" y="1772285"/>
            <a:ext cx="9144000" cy="434340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文件属性是否正确</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打开文件的语句是否正确</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格式规范是否与 I/O 语句中的信息相吻合</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缓冲区、内存大小是否都足够来保留程序将要读取的文件</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文件在使用前是否打开</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6</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文件在使用后是否关闭</a:t>
            </a:r>
            <a:r>
              <a:rPr lang="zh-CN">
                <a:latin typeface="微软雅黑" panose="020B0503020204020204" charset="-122"/>
                <a:ea typeface="微软雅黑" panose="020B0503020204020204" charset="-122"/>
              </a:rPr>
              <a:t>？</a:t>
            </a: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7</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文件结束条件是否正确处理</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8</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是否处理了 I/O 错误</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9</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打印或输出的文本信息中是否存在拼写或语法错误</a:t>
            </a:r>
            <a:r>
              <a:rPr lang="zh-CN">
                <a:latin typeface="微软雅黑" panose="020B0503020204020204" charset="-122"/>
                <a:ea typeface="微软雅黑" panose="020B0503020204020204" charset="-122"/>
              </a:rPr>
              <a:t>？</a:t>
            </a:r>
          </a:p>
        </p:txBody>
      </p:sp>
      <p:pic>
        <p:nvPicPr>
          <p:cNvPr id="2" name="图片 1"/>
          <p:cNvPicPr>
            <a:picLocks noChangeAspect="1"/>
          </p:cNvPicPr>
          <p:nvPr/>
        </p:nvPicPr>
        <p:blipFill>
          <a:blip r:embed="rId3"/>
          <a:stretch>
            <a:fillRect/>
          </a:stretch>
        </p:blipFill>
        <p:spPr>
          <a:xfrm flipH="1">
            <a:off x="5651500" y="548640"/>
            <a:ext cx="3351530" cy="2332990"/>
          </a:xfrm>
          <a:prstGeom prst="rect">
            <a:avLst/>
          </a:prstGeom>
        </p:spPr>
      </p:pic>
      <p:sp>
        <p:nvSpPr>
          <p:cNvPr id="5" name="标题 4"/>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3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8780" y="1269365"/>
            <a:ext cx="5036820" cy="521970"/>
          </a:xfrm>
          <a:prstGeom prst="rect">
            <a:avLst/>
          </a:prstGeom>
        </p:spPr>
        <p:txBody>
          <a:bodyPr wrap="square">
            <a:spAutoFit/>
          </a:bodyPr>
          <a:lstStyle/>
          <a:p>
            <a:r>
              <a:rPr lang="zh-CN" altLang="en-US" sz="2800" b="1" dirty="0">
                <a:solidFill>
                  <a:schemeClr val="tx1"/>
                </a:solidFill>
                <a:latin typeface="微软雅黑" panose="020B0503020204020204" charset="-122"/>
                <a:ea typeface="微软雅黑" panose="020B0503020204020204" charset="-122"/>
              </a:rPr>
              <a:t>其他检查</a:t>
            </a:r>
          </a:p>
        </p:txBody>
      </p:sp>
      <p:sp>
        <p:nvSpPr>
          <p:cNvPr id="6" name="矩形 5"/>
          <p:cNvSpPr/>
          <p:nvPr/>
        </p:nvSpPr>
        <p:spPr>
          <a:xfrm>
            <a:off x="-16510" y="1772285"/>
            <a:ext cx="9144000" cy="4343400"/>
          </a:xfrm>
          <a:prstGeom prst="rect">
            <a:avLst/>
          </a:prstGeom>
        </p:spPr>
        <p:txBody>
          <a:bodyPr wrap="square">
            <a:spAutoFit/>
          </a:bodyPr>
          <a:lstStyle/>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1</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是否存在未引用过的变量</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2</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每个变量的属性和赋予的默认值是否一致</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3</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编译通过的程序是否存在“警告”或“提示”信息</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4</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程序或模块是否对输入的合法性进行了检查</a:t>
            </a:r>
            <a:r>
              <a:rPr lang="zh-CN">
                <a:latin typeface="微软雅黑" panose="020B0503020204020204" charset="-122"/>
                <a:ea typeface="微软雅黑" panose="020B0503020204020204" charset="-122"/>
              </a:rPr>
              <a:t>？</a:t>
            </a:r>
            <a:endParaRPr>
              <a:latin typeface="微软雅黑" panose="020B0503020204020204" charset="-122"/>
              <a:ea typeface="微软雅黑" panose="020B0503020204020204" charset="-122"/>
            </a:endParaRPr>
          </a:p>
          <a:p>
            <a:pPr marL="742950" lvl="1" indent="-285750" fontAlgn="base">
              <a:lnSpc>
                <a:spcPct val="150000"/>
              </a:lnSpc>
              <a:spcBef>
                <a:spcPts val="500"/>
              </a:spcBef>
              <a:spcAft>
                <a:spcPct val="0"/>
              </a:spcAft>
              <a:buFont typeface="Arial" panose="020B0604020202020204" pitchFamily="34" charset="0"/>
              <a:buChar char="•"/>
            </a:pPr>
            <a:r>
              <a:rPr>
                <a:latin typeface="微软雅黑" panose="020B0503020204020204" charset="-122"/>
                <a:ea typeface="微软雅黑" panose="020B0503020204020204" charset="-122"/>
              </a:rPr>
              <a:t>5</a:t>
            </a:r>
            <a:r>
              <a:rPr lang="zh-CN">
                <a:latin typeface="微软雅黑" panose="020B0503020204020204" charset="-122"/>
                <a:ea typeface="微软雅黑" panose="020B0503020204020204" charset="-122"/>
              </a:rPr>
              <a:t>、</a:t>
            </a:r>
            <a:r>
              <a:rPr>
                <a:latin typeface="微软雅黑" panose="020B0503020204020204" charset="-122"/>
                <a:ea typeface="微软雅黑" panose="020B0503020204020204" charset="-122"/>
              </a:rPr>
              <a:t>程序是否遗漏了某个功能</a:t>
            </a:r>
            <a:r>
              <a:rPr lang="zh-CN">
                <a:latin typeface="微软雅黑" panose="020B0503020204020204" charset="-122"/>
                <a:ea typeface="微软雅黑" panose="020B0503020204020204" charset="-122"/>
              </a:rPr>
              <a:t>？</a:t>
            </a:r>
          </a:p>
          <a:p>
            <a:pPr marL="742950" lvl="1" indent="-285750" fontAlgn="base">
              <a:lnSpc>
                <a:spcPct val="150000"/>
              </a:lnSpc>
              <a:spcBef>
                <a:spcPts val="500"/>
              </a:spcBef>
              <a:spcAft>
                <a:spcPct val="0"/>
              </a:spcAft>
              <a:buFont typeface="Arial" panose="020B0604020202020204" pitchFamily="34" charset="0"/>
              <a:buChar char="•"/>
            </a:pPr>
            <a:r>
              <a:rPr lang="en-US" altLang="zh-CN">
                <a:latin typeface="微软雅黑" panose="020B0503020204020204" charset="-122"/>
                <a:ea typeface="微软雅黑" panose="020B0503020204020204" charset="-122"/>
              </a:rPr>
              <a:t>6</a:t>
            </a:r>
            <a:r>
              <a:rPr lang="zh-CN" altLang="en-US">
                <a:latin typeface="微软雅黑" panose="020B0503020204020204" charset="-122"/>
                <a:ea typeface="微软雅黑" panose="020B0503020204020204" charset="-122"/>
              </a:rPr>
              <a:t>、代码格式、规范、可读性是否存在问题？</a:t>
            </a:r>
          </a:p>
          <a:p>
            <a:pPr marL="742950" lvl="1" indent="-285750" fontAlgn="base">
              <a:lnSpc>
                <a:spcPct val="150000"/>
              </a:lnSpc>
              <a:spcBef>
                <a:spcPts val="500"/>
              </a:spcBef>
              <a:spcAft>
                <a:spcPct val="0"/>
              </a:spcAft>
              <a:buFont typeface="Arial" panose="020B0604020202020204" pitchFamily="34" charset="0"/>
              <a:buChar char="•"/>
            </a:pPr>
            <a:r>
              <a:rPr lang="en-US" altLang="zh-CN">
                <a:latin typeface="微软雅黑" panose="020B0503020204020204" charset="-122"/>
                <a:ea typeface="微软雅黑" panose="020B0503020204020204" charset="-122"/>
              </a:rPr>
              <a:t>7</a:t>
            </a:r>
            <a:r>
              <a:rPr lang="zh-CN" altLang="en-US">
                <a:latin typeface="微软雅黑" panose="020B0503020204020204" charset="-122"/>
                <a:ea typeface="微软雅黑" panose="020B0503020204020204" charset="-122"/>
              </a:rPr>
              <a:t>、代码</a:t>
            </a:r>
            <a:r>
              <a:rPr lang="zh-CN" altLang="en-US" sz="1800">
                <a:latin typeface="微软雅黑" panose="020B0503020204020204" charset="-122"/>
                <a:ea typeface="微软雅黑" panose="020B0503020204020204" charset="-122"/>
                <a:sym typeface="+mn-ea"/>
              </a:rPr>
              <a:t>是否有逻辑错误？</a:t>
            </a:r>
          </a:p>
          <a:p>
            <a:pPr marL="742950" lvl="1" indent="-285750" fontAlgn="base">
              <a:lnSpc>
                <a:spcPct val="150000"/>
              </a:lnSpc>
              <a:spcBef>
                <a:spcPts val="500"/>
              </a:spcBef>
              <a:spcAft>
                <a:spcPct val="0"/>
              </a:spcAft>
              <a:buFont typeface="Arial" panose="020B0604020202020204" pitchFamily="34" charset="0"/>
              <a:buChar char="•"/>
            </a:pPr>
            <a:r>
              <a:rPr lang="en-US" altLang="zh-CN" sz="1800">
                <a:latin typeface="微软雅黑" panose="020B0503020204020204" charset="-122"/>
                <a:ea typeface="微软雅黑" panose="020B0503020204020204" charset="-122"/>
              </a:rPr>
              <a:t>8</a:t>
            </a:r>
            <a:r>
              <a:rPr lang="zh-CN" altLang="en-US" sz="1800">
                <a:latin typeface="微软雅黑" panose="020B0503020204020204" charset="-122"/>
                <a:ea typeface="微软雅黑" panose="020B0503020204020204" charset="-122"/>
              </a:rPr>
              <a:t>、注释内容是否准确和有意义？</a:t>
            </a:r>
          </a:p>
          <a:p>
            <a:pPr marL="742950" lvl="1" indent="-285750" fontAlgn="base">
              <a:lnSpc>
                <a:spcPct val="150000"/>
              </a:lnSpc>
              <a:spcBef>
                <a:spcPts val="500"/>
              </a:spcBef>
              <a:spcAft>
                <a:spcPct val="0"/>
              </a:spcAft>
              <a:buFont typeface="Arial" panose="020B0604020202020204" pitchFamily="34" charset="0"/>
              <a:buChar char="•"/>
            </a:pPr>
            <a:r>
              <a:rPr lang="en-US" altLang="zh-CN" sz="1800">
                <a:latin typeface="微软雅黑" panose="020B0503020204020204" charset="-122"/>
                <a:ea typeface="微软雅黑" panose="020B0503020204020204" charset="-122"/>
              </a:rPr>
              <a:t>9</a:t>
            </a:r>
            <a:r>
              <a:rPr lang="zh-CN" altLang="en-US" sz="1800">
                <a:latin typeface="微软雅黑" panose="020B0503020204020204" charset="-122"/>
                <a:ea typeface="微软雅黑" panose="020B0503020204020204" charset="-122"/>
              </a:rPr>
              <a:t>、是否存在内存泄漏？</a:t>
            </a:r>
          </a:p>
        </p:txBody>
      </p:sp>
      <p:pic>
        <p:nvPicPr>
          <p:cNvPr id="5" name="图片 4" descr="其他"/>
          <p:cNvPicPr>
            <a:picLocks noChangeAspect="1"/>
          </p:cNvPicPr>
          <p:nvPr/>
        </p:nvPicPr>
        <p:blipFill>
          <a:blip r:embed="rId3"/>
          <a:stretch>
            <a:fillRect/>
          </a:stretch>
        </p:blipFill>
        <p:spPr>
          <a:xfrm flipH="1">
            <a:off x="5363845" y="3949700"/>
            <a:ext cx="3509645" cy="2439670"/>
          </a:xfrm>
          <a:prstGeom prst="rect">
            <a:avLst/>
          </a:prstGeom>
        </p:spPr>
      </p:pic>
      <p:sp>
        <p:nvSpPr>
          <p:cNvPr id="2" name="标题 1"/>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7" name="日期占位符 6"/>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45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idx="1"/>
          </p:nvPr>
        </p:nvSpPr>
        <p:spPr>
          <a:xfrm>
            <a:off x="567055" y="1464310"/>
            <a:ext cx="8001000" cy="4647565"/>
          </a:xfrm>
        </p:spPr>
        <p:txBody>
          <a:bodyPr vert="horz" wrap="square" lIns="91440" tIns="45720" rIns="91440" bIns="45720" anchor="t" anchorCtr="0"/>
          <a:lstStyle/>
          <a:p>
            <a:pPr marL="514350" indent="-514350" algn="just" eaLnBrk="1" hangingPunct="1">
              <a:buAutoNum type="arabicPeriod"/>
            </a:pPr>
            <a:r>
              <a:rPr lang="zh-CN" altLang="en-US" sz="3400" b="1" dirty="0"/>
              <a:t>代码检查</a:t>
            </a:r>
            <a:endParaRPr lang="en-US" altLang="zh-CN" sz="3400" b="1" dirty="0"/>
          </a:p>
          <a:p>
            <a:pPr lvl="1" algn="just" eaLnBrk="1" hangingPunct="1">
              <a:lnSpc>
                <a:spcPct val="130000"/>
              </a:lnSpc>
            </a:pPr>
            <a:r>
              <a:rPr lang="zh-CN" altLang="en-US" sz="2400" dirty="0"/>
              <a:t>方法分类</a:t>
            </a:r>
            <a:endParaRPr lang="en-US" altLang="zh-CN" sz="2400" dirty="0"/>
          </a:p>
          <a:p>
            <a:pPr lvl="1" algn="just" eaLnBrk="1" hangingPunct="1">
              <a:lnSpc>
                <a:spcPct val="130000"/>
              </a:lnSpc>
            </a:pPr>
            <a:r>
              <a:rPr lang="zh-CN" altLang="en-US" sz="2400" dirty="0">
                <a:solidFill>
                  <a:srgbClr val="0000FF"/>
                </a:solidFill>
              </a:rPr>
              <a:t>评审流程：</a:t>
            </a:r>
            <a:r>
              <a:rPr lang="en-US" altLang="zh-CN" sz="2400" dirty="0">
                <a:solidFill>
                  <a:srgbClr val="0000FF"/>
                </a:solidFill>
              </a:rPr>
              <a:t>P105-107</a:t>
            </a:r>
          </a:p>
          <a:p>
            <a:pPr lvl="1" algn="just" eaLnBrk="1" hangingPunct="1">
              <a:lnSpc>
                <a:spcPct val="130000"/>
              </a:lnSpc>
            </a:pPr>
            <a:r>
              <a:rPr lang="zh-CN" altLang="en-US" sz="2400" dirty="0"/>
              <a:t>评审结果</a:t>
            </a:r>
            <a:endParaRPr lang="en-US" altLang="zh-CN" sz="2400" dirty="0"/>
          </a:p>
          <a:p>
            <a:pPr lvl="1" algn="just" eaLnBrk="1" hangingPunct="1">
              <a:lnSpc>
                <a:spcPct val="130000"/>
              </a:lnSpc>
            </a:pPr>
            <a:r>
              <a:rPr lang="zh-CN" altLang="en-US" sz="2400" dirty="0"/>
              <a:t>注意事项</a:t>
            </a:r>
          </a:p>
        </p:txBody>
      </p:sp>
      <p:sp>
        <p:nvSpPr>
          <p:cNvPr id="2355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46</a:t>
            </a:fld>
            <a:endParaRPr lang="en-US" altLang="zh-CN" sz="1200" dirty="0">
              <a:latin typeface="Arial" panose="020B0604020202020204" pitchFamily="34" charset="0"/>
            </a:endParaRPr>
          </a:p>
        </p:txBody>
      </p:sp>
      <p:pic>
        <p:nvPicPr>
          <p:cNvPr id="23557" name="Picture 2" descr="5t2"/>
          <p:cNvPicPr>
            <a:picLocks noChangeAspect="1"/>
          </p:cNvPicPr>
          <p:nvPr/>
        </p:nvPicPr>
        <p:blipFill>
          <a:blip r:embed="rId3"/>
          <a:stretch>
            <a:fillRect/>
          </a:stretch>
        </p:blipFill>
        <p:spPr>
          <a:xfrm>
            <a:off x="4860290" y="188595"/>
            <a:ext cx="3211830" cy="6369685"/>
          </a:xfrm>
          <a:prstGeom prst="rect">
            <a:avLst/>
          </a:prstGeom>
          <a:noFill/>
          <a:ln w="9525">
            <a:noFill/>
          </a:ln>
        </p:spPr>
      </p:pic>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文本框 3"/>
          <p:cNvSpPr txBox="1"/>
          <p:nvPr/>
        </p:nvSpPr>
        <p:spPr>
          <a:xfrm>
            <a:off x="567055" y="4869180"/>
            <a:ext cx="4888865" cy="810260"/>
          </a:xfrm>
          <a:prstGeom prst="rect">
            <a:avLst/>
          </a:prstGeom>
          <a:noFill/>
        </p:spPr>
        <p:txBody>
          <a:bodyPr wrap="square" rtlCol="0">
            <a:spAutoFit/>
          </a:bodyPr>
          <a:lstStyle/>
          <a:p>
            <a:pPr>
              <a:lnSpc>
                <a:spcPct val="130000"/>
              </a:lnSpc>
            </a:pPr>
            <a:r>
              <a:rPr lang="zh-CN" altLang="en-US" b="1">
                <a:latin typeface="微软雅黑" panose="020B0503020204020204" charset="-122"/>
                <a:ea typeface="微软雅黑" panose="020B0503020204020204" charset="-122"/>
              </a:rPr>
              <a:t>涉及人员：</a:t>
            </a:r>
          </a:p>
          <a:p>
            <a:pPr>
              <a:lnSpc>
                <a:spcPct val="130000"/>
              </a:lnSpc>
            </a:pPr>
            <a:r>
              <a:rPr lang="zh-CN" altLang="en-US">
                <a:latin typeface="微软雅黑" panose="020B0503020204020204" charset="-122"/>
                <a:ea typeface="微软雅黑" panose="020B0503020204020204" charset="-122"/>
              </a:rPr>
              <a:t>作者、评审主持人、评审员、讲解员、记录员。</a:t>
            </a:r>
          </a:p>
        </p:txBody>
      </p:sp>
    </p:spTree>
  </p:cSld>
  <p:clrMapOvr>
    <a:masterClrMapping/>
  </p:clrMapOvr>
  <p:transition>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p:cNvSpPr>
          <p:nvPr>
            <p:ph idx="1"/>
          </p:nvPr>
        </p:nvSpPr>
        <p:spPr>
          <a:xfrm>
            <a:off x="641985" y="1268730"/>
            <a:ext cx="7913370" cy="5148580"/>
          </a:xfrm>
        </p:spPr>
        <p:txBody>
          <a:bodyPr vert="horz" wrap="square" lIns="91440" tIns="45720" rIns="91440" bIns="45720" anchor="t" anchorCtr="0"/>
          <a:lstStyle/>
          <a:p>
            <a:pPr algn="just" eaLnBrk="1" hangingPunct="1">
              <a:lnSpc>
                <a:spcPct val="170000"/>
              </a:lnSpc>
            </a:pPr>
            <a:r>
              <a:rPr lang="zh-CN" altLang="en-US" sz="3200" b="1" dirty="0"/>
              <a:t>三类评审结果</a:t>
            </a:r>
            <a:endParaRPr lang="en-US" altLang="zh-CN" sz="3200" b="1" dirty="0"/>
          </a:p>
          <a:p>
            <a:pPr lvl="1" eaLnBrk="1" hangingPunct="1">
              <a:lnSpc>
                <a:spcPct val="150000"/>
              </a:lnSpc>
            </a:pPr>
            <a:r>
              <a:rPr lang="zh-CN" altLang="en-US" dirty="0">
                <a:solidFill>
                  <a:srgbClr val="FF0000"/>
                </a:solidFill>
              </a:rPr>
              <a:t>正常：</a:t>
            </a:r>
            <a:r>
              <a:rPr lang="zh-CN" altLang="en-US" dirty="0"/>
              <a:t>评审专家做好了评审准备，评审会议顺利进行，达到了预期目的，达成明确的评审结论，不需要再次评审。</a:t>
            </a:r>
          </a:p>
          <a:p>
            <a:pPr lvl="1" eaLnBrk="1" hangingPunct="1">
              <a:lnSpc>
                <a:spcPct val="150000"/>
              </a:lnSpc>
            </a:pPr>
            <a:r>
              <a:rPr lang="zh-CN" altLang="en-US" dirty="0">
                <a:solidFill>
                  <a:srgbClr val="FF0000"/>
                </a:solidFill>
              </a:rPr>
              <a:t>延期：</a:t>
            </a:r>
            <a:r>
              <a:rPr lang="en-US" altLang="en-US" dirty="0"/>
              <a:t>30%</a:t>
            </a:r>
            <a:r>
              <a:rPr lang="zh-CN" altLang="en-US" dirty="0"/>
              <a:t>以上的评审专家并未做好评审准备，会议无法正常进行，需要重新安排评审日程。</a:t>
            </a:r>
          </a:p>
          <a:p>
            <a:pPr lvl="1" eaLnBrk="1" hangingPunct="1">
              <a:lnSpc>
                <a:spcPct val="150000"/>
              </a:lnSpc>
            </a:pPr>
            <a:r>
              <a:rPr lang="zh-CN" altLang="en-US" dirty="0">
                <a:solidFill>
                  <a:srgbClr val="FF0000"/>
                </a:solidFill>
              </a:rPr>
              <a:t>取消：</a:t>
            </a:r>
            <a:r>
              <a:rPr lang="zh-CN" altLang="en-US" dirty="0"/>
              <a:t>初审阶段就发现工作产品中存在太多问题，需要作者进行修复，然后再进行第二次同行评审。</a:t>
            </a:r>
          </a:p>
        </p:txBody>
      </p:sp>
      <p:sp>
        <p:nvSpPr>
          <p:cNvPr id="2560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47</a:t>
            </a:fld>
            <a:endParaRPr lang="en-US" altLang="zh-CN" sz="1200" dirty="0">
              <a:latin typeface="Arial" panose="020B0604020202020204" pitchFamily="34" charset="0"/>
            </a:endParaRPr>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567055" y="1499235"/>
            <a:ext cx="8001000" cy="4593590"/>
          </a:xfrm>
        </p:spPr>
        <p:txBody>
          <a:bodyPr vert="horz" wrap="square" lIns="91440" tIns="45720" rIns="91440" bIns="45720" anchor="t" anchorCtr="0"/>
          <a:lstStyle/>
          <a:p>
            <a:pPr marL="171450" lvl="1" algn="just" defTabSz="914400" eaLnBrk="1" hangingPunct="1">
              <a:buClrTx/>
              <a:buSzTx/>
            </a:pPr>
            <a:r>
              <a:rPr sz="3400" b="1">
                <a:sym typeface="+mn-ea"/>
              </a:rPr>
              <a:t>注意事项：</a:t>
            </a:r>
            <a:r>
              <a:rPr sz="2400" b="1">
                <a:sym typeface="+mn-ea"/>
              </a:rPr>
              <a:t>问题及对策</a:t>
            </a:r>
            <a:r>
              <a:rPr lang="en-US" altLang="zh-CN" sz="2400" b="1">
                <a:sym typeface="+mn-ea"/>
              </a:rPr>
              <a:t>  P108-109</a:t>
            </a:r>
            <a:endParaRPr lang="zh-CN" altLang="en-US" sz="2400" b="1" dirty="0"/>
          </a:p>
          <a:p>
            <a:pPr algn="just" eaLnBrk="1" hangingPunct="1"/>
            <a:r>
              <a:rPr lang="en-US" altLang="zh-CN" sz="3400" b="1" dirty="0"/>
              <a:t>1</a:t>
            </a:r>
            <a:r>
              <a:rPr lang="zh-CN" altLang="en-US" sz="3400" b="1" dirty="0"/>
              <a:t>、计划和准备阶段</a:t>
            </a:r>
            <a:endParaRPr lang="en-US" altLang="zh-CN" sz="3400" b="1" dirty="0"/>
          </a:p>
          <a:p>
            <a:pPr lvl="1" algn="just" eaLnBrk="1" hangingPunct="1">
              <a:lnSpc>
                <a:spcPct val="160000"/>
              </a:lnSpc>
            </a:pPr>
            <a:r>
              <a:rPr lang="zh-CN" altLang="en-US" dirty="0"/>
              <a:t>管理层的问题：不重视，无计划，无培训；</a:t>
            </a:r>
            <a:endParaRPr lang="en-US" altLang="zh-CN" dirty="0"/>
          </a:p>
          <a:p>
            <a:pPr lvl="1" algn="just" eaLnBrk="1" hangingPunct="1">
              <a:lnSpc>
                <a:spcPct val="160000"/>
              </a:lnSpc>
            </a:pPr>
            <a:r>
              <a:rPr lang="zh-CN" altLang="en-US" dirty="0"/>
              <a:t>主持人的问题：评审员不合理，评审员搭配不合理，让管理者参与评审，制订日程不合理，无检查表；</a:t>
            </a:r>
            <a:endParaRPr lang="en-US" altLang="zh-CN" dirty="0"/>
          </a:p>
          <a:p>
            <a:pPr lvl="1" algn="just" eaLnBrk="1" hangingPunct="1">
              <a:lnSpc>
                <a:spcPct val="160000"/>
              </a:lnSpc>
            </a:pPr>
            <a:r>
              <a:rPr lang="zh-CN" altLang="en-US" dirty="0"/>
              <a:t>作者的问题：不认真检查工作产品。</a:t>
            </a:r>
            <a:endParaRPr lang="en-US" altLang="zh-CN" dirty="0"/>
          </a:p>
          <a:p>
            <a:pPr algn="just" eaLnBrk="1" hangingPunct="1"/>
            <a:endParaRPr lang="en-US" altLang="zh-CN" sz="3400" dirty="0"/>
          </a:p>
        </p:txBody>
      </p:sp>
      <p:sp>
        <p:nvSpPr>
          <p:cNvPr id="27652"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48</a:t>
            </a:fld>
            <a:endParaRPr lang="en-US" altLang="zh-CN" sz="1200" dirty="0">
              <a:latin typeface="Arial" panose="020B0604020202020204" pitchFamily="34" charset="0"/>
            </a:endParaRPr>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p:cNvSpPr>
          <p:nvPr>
            <p:ph idx="1"/>
          </p:nvPr>
        </p:nvSpPr>
        <p:spPr>
          <a:xfrm>
            <a:off x="571500" y="1580515"/>
            <a:ext cx="8001000" cy="4873625"/>
          </a:xfrm>
        </p:spPr>
        <p:txBody>
          <a:bodyPr vert="horz" wrap="square" lIns="91440" tIns="45720" rIns="91440" bIns="45720" anchor="t" anchorCtr="0">
            <a:normAutofit lnSpcReduction="10000"/>
          </a:bodyPr>
          <a:lstStyle/>
          <a:p>
            <a:pPr marL="0" lvl="1" algn="just" eaLnBrk="1" hangingPunct="1">
              <a:lnSpc>
                <a:spcPct val="120000"/>
              </a:lnSpc>
            </a:pPr>
            <a:r>
              <a:rPr sz="3400" b="1">
                <a:sym typeface="+mn-ea"/>
              </a:rPr>
              <a:t>注意事项</a:t>
            </a:r>
            <a:endParaRPr lang="zh-CN" altLang="en-US" sz="3400" b="1" dirty="0"/>
          </a:p>
          <a:p>
            <a:pPr algn="just" eaLnBrk="1" hangingPunct="1">
              <a:lnSpc>
                <a:spcPct val="120000"/>
              </a:lnSpc>
            </a:pPr>
            <a:r>
              <a:rPr lang="en-US" altLang="zh-CN" sz="3400" b="1" dirty="0"/>
              <a:t>2</a:t>
            </a:r>
            <a:r>
              <a:rPr lang="zh-CN" altLang="en-US" sz="3400" b="1" dirty="0"/>
              <a:t>、评审会进行阶段</a:t>
            </a:r>
            <a:endParaRPr lang="en-US" altLang="zh-CN" sz="3400" b="1" dirty="0"/>
          </a:p>
          <a:p>
            <a:pPr lvl="1" algn="just" eaLnBrk="1" hangingPunct="1">
              <a:lnSpc>
                <a:spcPct val="160000"/>
              </a:lnSpc>
            </a:pPr>
            <a:r>
              <a:rPr lang="zh-CN" altLang="en-US" dirty="0"/>
              <a:t>主持人的问题：过分注重会议时间，不控制进度，针对某个技术问题讨论时间过长。</a:t>
            </a:r>
            <a:endParaRPr lang="en-US" altLang="zh-CN" dirty="0"/>
          </a:p>
          <a:p>
            <a:pPr lvl="1" algn="just" eaLnBrk="1" hangingPunct="1">
              <a:lnSpc>
                <a:spcPct val="160000"/>
              </a:lnSpc>
            </a:pPr>
            <a:r>
              <a:rPr lang="zh-CN" altLang="en-US" dirty="0"/>
              <a:t>评审员的问题：无评审重点，不考虑数据间、业务间及系统间相关性，过分依赖检查表，在会议中措辞刻薄，不重视评审会，过多讨论缺陷修复，担心得罪人拒绝评审他人工作，现场修改缺陷，评审会变成个人批斗会，测试用例太多太复杂。</a:t>
            </a:r>
            <a:endParaRPr lang="en-US" altLang="zh-CN" dirty="0"/>
          </a:p>
        </p:txBody>
      </p:sp>
      <p:sp>
        <p:nvSpPr>
          <p:cNvPr id="2867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49</a:t>
            </a:fld>
            <a:endParaRPr lang="en-US" altLang="zh-CN" sz="1200" dirty="0">
              <a:latin typeface="Arial" panose="020B0604020202020204" pitchFamily="34" charset="0"/>
            </a:endParaRPr>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nvPr>
        </p:nvSpPr>
        <p:spPr>
          <a:xfrm>
            <a:off x="567055" y="1586230"/>
            <a:ext cx="8001000" cy="4506595"/>
          </a:xfrm>
        </p:spPr>
        <p:txBody>
          <a:bodyPr vert="horz" wrap="square" lIns="91440" tIns="45720" rIns="91440" bIns="45720" anchor="t" anchorCtr="0"/>
          <a:lstStyle/>
          <a:p>
            <a:pPr marL="0" lvl="1" algn="just" eaLnBrk="1" hangingPunct="1">
              <a:lnSpc>
                <a:spcPct val="130000"/>
              </a:lnSpc>
            </a:pPr>
            <a:r>
              <a:rPr sz="3400" b="1">
                <a:sym typeface="+mn-ea"/>
              </a:rPr>
              <a:t>注意事项</a:t>
            </a:r>
            <a:endParaRPr lang="zh-CN" altLang="en-US" sz="3400" b="1" dirty="0"/>
          </a:p>
          <a:p>
            <a:pPr algn="just" eaLnBrk="1" hangingPunct="1">
              <a:lnSpc>
                <a:spcPct val="130000"/>
              </a:lnSpc>
            </a:pPr>
            <a:r>
              <a:rPr lang="en-US" altLang="zh-CN" sz="3400" b="1" dirty="0"/>
              <a:t>3</a:t>
            </a:r>
            <a:r>
              <a:rPr lang="zh-CN" altLang="en-US" sz="3400" b="1" dirty="0"/>
              <a:t>、评审会后阶段</a:t>
            </a:r>
            <a:endParaRPr lang="en-US" altLang="zh-CN" sz="3400" b="1" dirty="0"/>
          </a:p>
          <a:p>
            <a:pPr lvl="1" algn="just" eaLnBrk="1" hangingPunct="1">
              <a:lnSpc>
                <a:spcPct val="160000"/>
              </a:lnSpc>
            </a:pPr>
            <a:r>
              <a:rPr lang="zh-CN" altLang="en-US" dirty="0"/>
              <a:t>主持人的问题：对发现的缺陷缺乏有效跟踪，评审中仅仅是收集数据，却不注重上报和改进。</a:t>
            </a:r>
            <a:endParaRPr lang="en-US" altLang="zh-CN" sz="3400" dirty="0"/>
          </a:p>
        </p:txBody>
      </p:sp>
      <p:sp>
        <p:nvSpPr>
          <p:cNvPr id="2970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50</a:t>
            </a:fld>
            <a:endParaRPr lang="en-US" altLang="zh-CN" sz="1200" dirty="0">
              <a:latin typeface="Arial" panose="020B0604020202020204" pitchFamily="34" charset="0"/>
            </a:endParaRPr>
          </a:p>
        </p:txBody>
      </p:sp>
      <p:sp>
        <p:nvSpPr>
          <p:cNvPr id="6" name="标题 5"/>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p:cNvSpPr>
          <p:nvPr>
            <p:ph idx="1"/>
          </p:nvPr>
        </p:nvSpPr>
        <p:spPr>
          <a:xfrm>
            <a:off x="502285" y="1508125"/>
            <a:ext cx="8139430" cy="4159885"/>
          </a:xfrm>
        </p:spPr>
        <p:txBody>
          <a:bodyPr vert="horz" wrap="square" lIns="91440" tIns="45720" rIns="91440" bIns="45720" anchor="t" anchorCtr="0"/>
          <a:lstStyle/>
          <a:p>
            <a:pPr marL="571500" indent="-571500" algn="just" eaLnBrk="1" hangingPunct="1">
              <a:lnSpc>
                <a:spcPct val="130000"/>
              </a:lnSpc>
              <a:buFont typeface="+mj-lt"/>
              <a:buAutoNum type="arabicPeriod" startAt="2"/>
            </a:pPr>
            <a:r>
              <a:rPr lang="zh-CN" altLang="en-US" sz="3400" b="1" dirty="0"/>
              <a:t>静态结构分析</a:t>
            </a:r>
            <a:endParaRPr lang="en-US" altLang="zh-CN" sz="3400" b="1" dirty="0"/>
          </a:p>
          <a:p>
            <a:pPr lvl="1" algn="just" eaLnBrk="1" hangingPunct="1">
              <a:lnSpc>
                <a:spcPct val="190000"/>
              </a:lnSpc>
            </a:pPr>
            <a:r>
              <a:rPr lang="zh-CN" altLang="en-US" sz="2400" dirty="0">
                <a:solidFill>
                  <a:srgbClr val="0000FF"/>
                </a:solidFill>
              </a:rPr>
              <a:t>基本原理</a:t>
            </a:r>
            <a:endParaRPr lang="en-US" altLang="zh-CN" sz="2400" dirty="0">
              <a:solidFill>
                <a:srgbClr val="0000FF"/>
              </a:solidFill>
            </a:endParaRPr>
          </a:p>
          <a:p>
            <a:pPr lvl="1" algn="just" eaLnBrk="1" hangingPunct="1">
              <a:lnSpc>
                <a:spcPct val="130000"/>
              </a:lnSpc>
            </a:pPr>
            <a:r>
              <a:rPr lang="zh-CN" altLang="en-US" sz="2400" dirty="0"/>
              <a:t>函数调用关系图</a:t>
            </a:r>
            <a:endParaRPr lang="en-US" altLang="zh-CN" sz="2400" dirty="0"/>
          </a:p>
          <a:p>
            <a:pPr lvl="1" algn="just" eaLnBrk="1" hangingPunct="1">
              <a:lnSpc>
                <a:spcPct val="130000"/>
              </a:lnSpc>
            </a:pPr>
            <a:r>
              <a:rPr lang="zh-CN" altLang="en-US" sz="2400" dirty="0"/>
              <a:t>函数控制流图</a:t>
            </a:r>
            <a:endParaRPr lang="en-US" altLang="zh-CN" sz="2400" dirty="0"/>
          </a:p>
        </p:txBody>
      </p:sp>
      <p:sp>
        <p:nvSpPr>
          <p:cNvPr id="3072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51</a:t>
            </a:fld>
            <a:endParaRPr lang="en-US" altLang="zh-CN" sz="1200" dirty="0">
              <a:latin typeface="Arial" panose="020B0604020202020204" pitchFamily="34" charset="0"/>
            </a:endParaRPr>
          </a:p>
        </p:txBody>
      </p:sp>
      <p:sp>
        <p:nvSpPr>
          <p:cNvPr id="2" name="标题 1"/>
          <p:cNvSpPr>
            <a:spLocks noGrp="1"/>
          </p:cNvSpPr>
          <p:nvPr>
            <p:ph type="title"/>
            <p:custDataLst>
              <p:tags r:id="rId1"/>
            </p:custDataLst>
          </p:nvPr>
        </p:nvSpPr>
        <p:spPr/>
        <p:txBody>
          <a:bodyPr>
            <a:noAutofit/>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idx="1"/>
          </p:nvPr>
        </p:nvSpPr>
        <p:spPr>
          <a:xfrm>
            <a:off x="567055" y="1549400"/>
            <a:ext cx="8001000" cy="4543425"/>
          </a:xfrm>
        </p:spPr>
        <p:txBody>
          <a:bodyPr vert="horz" wrap="square" lIns="91440" tIns="45720" rIns="91440" bIns="45720" anchor="t" anchorCtr="0"/>
          <a:lstStyle/>
          <a:p>
            <a:pPr algn="just" eaLnBrk="1" hangingPunct="1"/>
            <a:r>
              <a:rPr lang="zh-CN" altLang="en-US" sz="3400" b="1" dirty="0"/>
              <a:t>基本原理</a:t>
            </a:r>
            <a:endParaRPr lang="en-US" altLang="zh-CN" sz="3400" b="1" dirty="0"/>
          </a:p>
          <a:p>
            <a:pPr algn="just" eaLnBrk="1" hangingPunct="1">
              <a:lnSpc>
                <a:spcPct val="170000"/>
              </a:lnSpc>
            </a:pPr>
            <a:r>
              <a:rPr lang="zh-CN" altLang="en-US" sz="2400" dirty="0"/>
              <a:t>代码结构复杂，难以阅读和理解；</a:t>
            </a:r>
          </a:p>
          <a:p>
            <a:pPr algn="just" eaLnBrk="1" hangingPunct="1">
              <a:lnSpc>
                <a:spcPct val="170000"/>
              </a:lnSpc>
            </a:pPr>
            <a:r>
              <a:rPr lang="zh-CN" altLang="en-US" sz="2400" dirty="0"/>
              <a:t>通过引入多种形式的图表</a:t>
            </a:r>
            <a:r>
              <a:rPr lang="en-US" altLang="en-US" sz="2400" dirty="0"/>
              <a:t>(</a:t>
            </a:r>
            <a:r>
              <a:rPr lang="zh-CN" altLang="en-US" sz="2400" dirty="0"/>
              <a:t>如函数调用关系图、模块控制流图等</a:t>
            </a:r>
            <a:r>
              <a:rPr lang="en-US" altLang="en-US" sz="2400" dirty="0"/>
              <a:t>)</a:t>
            </a:r>
            <a:r>
              <a:rPr lang="zh-CN" altLang="en-US" sz="2400" dirty="0"/>
              <a:t>，帮助人们快速了解程序设计和结构，更好地理解源代码，以及找到程序设计缺陷和代码优化的方向。</a:t>
            </a:r>
          </a:p>
        </p:txBody>
      </p:sp>
      <p:sp>
        <p:nvSpPr>
          <p:cNvPr id="3174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52</a:t>
            </a:fld>
            <a:endParaRPr lang="en-US" altLang="zh-CN" sz="1200" dirty="0">
              <a:latin typeface="Arial" panose="020B0604020202020204" pitchFamily="34" charset="0"/>
            </a:endParaRPr>
          </a:p>
        </p:txBody>
      </p:sp>
      <p:sp>
        <p:nvSpPr>
          <p:cNvPr id="3" name="标题 2"/>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idx="1"/>
          </p:nvPr>
        </p:nvSpPr>
        <p:spPr>
          <a:xfrm>
            <a:off x="567055" y="1478280"/>
            <a:ext cx="8001000" cy="4614545"/>
          </a:xfrm>
        </p:spPr>
        <p:txBody>
          <a:bodyPr vert="horz" wrap="square" lIns="91440" tIns="45720" rIns="91440" bIns="45720" anchor="t" anchorCtr="0"/>
          <a:lstStyle/>
          <a:p>
            <a:pPr marL="171450" lvl="1" algn="l" defTabSz="914400" eaLnBrk="1" hangingPunct="1">
              <a:lnSpc>
                <a:spcPct val="130000"/>
              </a:lnSpc>
              <a:buClrTx/>
              <a:buSzTx/>
            </a:pPr>
            <a:r>
              <a:rPr sz="3400" b="1">
                <a:sym typeface="+mn-ea"/>
              </a:rPr>
              <a:t>函数调用关系图</a:t>
            </a:r>
            <a:endParaRPr sz="3400" b="1" dirty="0"/>
          </a:p>
          <a:p>
            <a:pPr eaLnBrk="1" hangingPunct="1">
              <a:lnSpc>
                <a:spcPct val="130000"/>
              </a:lnSpc>
            </a:pPr>
            <a:r>
              <a:rPr lang="zh-CN" altLang="en-US" sz="3400" b="1" dirty="0"/>
              <a:t>测试重点</a:t>
            </a:r>
          </a:p>
          <a:p>
            <a:pPr lvl="1" eaLnBrk="1" hangingPunct="1">
              <a:lnSpc>
                <a:spcPct val="180000"/>
              </a:lnSpc>
            </a:pPr>
            <a:r>
              <a:rPr lang="zh-CN" altLang="en-US" sz="2400" dirty="0"/>
              <a:t>函数之间的调用关系是否符合要求</a:t>
            </a:r>
          </a:p>
          <a:p>
            <a:pPr lvl="1" eaLnBrk="1" hangingPunct="1">
              <a:lnSpc>
                <a:spcPct val="130000"/>
              </a:lnSpc>
            </a:pPr>
            <a:r>
              <a:rPr lang="zh-CN" altLang="en-US" sz="2400" dirty="0"/>
              <a:t>是否存在递归调用</a:t>
            </a:r>
          </a:p>
          <a:p>
            <a:pPr lvl="1" eaLnBrk="1" hangingPunct="1">
              <a:lnSpc>
                <a:spcPct val="130000"/>
              </a:lnSpc>
            </a:pPr>
            <a:r>
              <a:rPr lang="zh-CN" altLang="en-US" sz="2400" dirty="0"/>
              <a:t>函数调用层次是否太深</a:t>
            </a:r>
          </a:p>
          <a:p>
            <a:pPr lvl="1" eaLnBrk="1" hangingPunct="1">
              <a:lnSpc>
                <a:spcPct val="130000"/>
              </a:lnSpc>
            </a:pPr>
            <a:r>
              <a:rPr lang="zh-CN" altLang="en-US" sz="2400" dirty="0"/>
              <a:t>是否存在孤立的函数</a:t>
            </a:r>
          </a:p>
        </p:txBody>
      </p:sp>
      <p:sp>
        <p:nvSpPr>
          <p:cNvPr id="3379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53</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p:cNvSpPr>
          <p:nvPr>
            <p:ph idx="1"/>
          </p:nvPr>
        </p:nvSpPr>
        <p:spPr>
          <a:xfrm>
            <a:off x="567055" y="1473835"/>
            <a:ext cx="8001000" cy="4618990"/>
          </a:xfrm>
        </p:spPr>
        <p:txBody>
          <a:bodyPr vert="horz" wrap="square" lIns="91440" tIns="45720" rIns="91440" bIns="45720" anchor="t" anchorCtr="0"/>
          <a:lstStyle/>
          <a:p>
            <a:pPr marL="0" lvl="1" eaLnBrk="1" hangingPunct="1">
              <a:lnSpc>
                <a:spcPct val="130000"/>
              </a:lnSpc>
            </a:pPr>
            <a:r>
              <a:rPr sz="3400" b="1">
                <a:sym typeface="+mn-ea"/>
              </a:rPr>
              <a:t>函数调用关系图</a:t>
            </a:r>
            <a:endParaRPr sz="3400" b="1" dirty="0"/>
          </a:p>
          <a:p>
            <a:pPr eaLnBrk="1" hangingPunct="1">
              <a:lnSpc>
                <a:spcPct val="130000"/>
              </a:lnSpc>
            </a:pPr>
            <a:r>
              <a:rPr lang="zh-CN" altLang="en-US" sz="3400" b="1" dirty="0"/>
              <a:t>一般原则</a:t>
            </a:r>
            <a:endParaRPr lang="en-US" altLang="zh-CN" sz="3400" b="1" dirty="0"/>
          </a:p>
          <a:p>
            <a:pPr lvl="1" eaLnBrk="1" hangingPunct="1">
              <a:lnSpc>
                <a:spcPct val="170000"/>
              </a:lnSpc>
            </a:pPr>
            <a:r>
              <a:rPr lang="zh-CN" altLang="en-US" sz="2400" dirty="0"/>
              <a:t>优先测试根节点</a:t>
            </a:r>
          </a:p>
          <a:p>
            <a:pPr lvl="1" eaLnBrk="1" hangingPunct="1">
              <a:lnSpc>
                <a:spcPct val="130000"/>
              </a:lnSpc>
            </a:pPr>
            <a:r>
              <a:rPr lang="zh-CN" altLang="en-US" sz="2400" dirty="0"/>
              <a:t>优先测试叶子节点</a:t>
            </a:r>
          </a:p>
          <a:p>
            <a:pPr lvl="1" eaLnBrk="1" hangingPunct="1">
              <a:lnSpc>
                <a:spcPct val="130000"/>
              </a:lnSpc>
            </a:pPr>
            <a:r>
              <a:rPr lang="zh-CN" altLang="en-US" sz="2400" dirty="0"/>
              <a:t>接口数量多的节点需要优先测试</a:t>
            </a:r>
          </a:p>
        </p:txBody>
      </p:sp>
      <p:sp>
        <p:nvSpPr>
          <p:cNvPr id="3482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54</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p:cNvSpPr>
          <p:nvPr>
            <p:ph idx="1"/>
          </p:nvPr>
        </p:nvSpPr>
        <p:spPr>
          <a:xfrm>
            <a:off x="502285" y="1658620"/>
            <a:ext cx="8139430" cy="4009390"/>
          </a:xfrm>
        </p:spPr>
        <p:txBody>
          <a:bodyPr vert="horz" wrap="square" lIns="91440" tIns="45720" rIns="91440" bIns="45720" anchor="t" anchorCtr="0"/>
          <a:lstStyle/>
          <a:p>
            <a:pPr marL="0" lvl="1" algn="l" eaLnBrk="1" hangingPunct="1">
              <a:buClrTx/>
              <a:buSzTx/>
            </a:pPr>
            <a:r>
              <a:rPr sz="3400" b="1">
                <a:sym typeface="+mn-ea"/>
              </a:rPr>
              <a:t>函数调用关系图</a:t>
            </a:r>
            <a:endParaRPr sz="3400" b="1" dirty="0"/>
          </a:p>
          <a:p>
            <a:pPr algn="l" eaLnBrk="1" hangingPunct="1">
              <a:buClrTx/>
              <a:buSzTx/>
            </a:pPr>
            <a:r>
              <a:rPr lang="zh-CN" altLang="en-US" sz="3400" b="1" dirty="0"/>
              <a:t>捉虫实践</a:t>
            </a:r>
            <a:r>
              <a:rPr sz="3400" b="1" dirty="0"/>
              <a:t>1</a:t>
            </a:r>
            <a:r>
              <a:rPr lang="zh-CN" altLang="en-US" sz="3400" b="1" dirty="0"/>
              <a:t>：自动柜员机问题</a:t>
            </a:r>
          </a:p>
          <a:p>
            <a:pPr lvl="1" algn="l" defTabSz="914400" eaLnBrk="1" hangingPunct="1">
              <a:lnSpc>
                <a:spcPct val="170000"/>
              </a:lnSpc>
              <a:buClrTx/>
              <a:buSzTx/>
              <a:tabLst>
                <a:tab pos="1609725" algn="l"/>
              </a:tabLst>
            </a:pPr>
            <a:r>
              <a:rPr lang="zh-CN" altLang="en-US" sz="2400" dirty="0"/>
              <a:t>函数调用图</a:t>
            </a:r>
            <a:endParaRPr sz="2400" dirty="0"/>
          </a:p>
          <a:p>
            <a:pPr lvl="1" algn="l" defTabSz="914400" eaLnBrk="1" hangingPunct="1">
              <a:lnSpc>
                <a:spcPct val="170000"/>
              </a:lnSpc>
              <a:buClrTx/>
              <a:buSzTx/>
              <a:tabLst>
                <a:tab pos="1609725" algn="l"/>
              </a:tabLst>
            </a:pPr>
            <a:r>
              <a:rPr lang="zh-CN" altLang="en-US" sz="2400" dirty="0"/>
              <a:t>测试分析</a:t>
            </a:r>
          </a:p>
        </p:txBody>
      </p:sp>
      <p:sp>
        <p:nvSpPr>
          <p:cNvPr id="4096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55</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p:cNvSpPr>
          <p:nvPr>
            <p:ph idx="1"/>
          </p:nvPr>
        </p:nvSpPr>
        <p:spPr/>
        <p:txBody>
          <a:bodyPr vert="horz" wrap="square" lIns="91440" tIns="45720" rIns="91440" bIns="45720" anchor="t" anchorCtr="0"/>
          <a:lstStyle/>
          <a:p>
            <a:pPr algn="l" eaLnBrk="1" hangingPunct="1">
              <a:buClrTx/>
              <a:buSzTx/>
            </a:pPr>
            <a:r>
              <a:rPr lang="zh-CN" altLang="en-US" sz="3400" b="1" dirty="0"/>
              <a:t>函数调用关系图</a:t>
            </a:r>
          </a:p>
        </p:txBody>
      </p:sp>
      <p:sp>
        <p:nvSpPr>
          <p:cNvPr id="4198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56</a:t>
            </a:fld>
            <a:endParaRPr lang="en-US" altLang="zh-CN" sz="1200" dirty="0">
              <a:latin typeface="Arial" panose="020B0604020202020204" pitchFamily="34" charset="0"/>
            </a:endParaRPr>
          </a:p>
        </p:txBody>
      </p:sp>
      <p:pic>
        <p:nvPicPr>
          <p:cNvPr id="41989" name="Picture 2" descr="5t7"/>
          <p:cNvPicPr>
            <a:picLocks noChangeAspect="1"/>
          </p:cNvPicPr>
          <p:nvPr/>
        </p:nvPicPr>
        <p:blipFill>
          <a:blip r:embed="rId4"/>
          <a:stretch>
            <a:fillRect/>
          </a:stretch>
        </p:blipFill>
        <p:spPr>
          <a:xfrm>
            <a:off x="642938" y="2506663"/>
            <a:ext cx="7929562" cy="3922712"/>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
        <p:nvSpPr>
          <p:cNvPr id="5" name="椭圆 4"/>
          <p:cNvSpPr/>
          <p:nvPr/>
        </p:nvSpPr>
        <p:spPr>
          <a:xfrm>
            <a:off x="2411730" y="2853055"/>
            <a:ext cx="935990" cy="93599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custDataLst>
              <p:tags r:id="rId2"/>
            </p:custDataLst>
          </p:nvPr>
        </p:nvSpPr>
        <p:spPr>
          <a:xfrm>
            <a:off x="6228080" y="4292600"/>
            <a:ext cx="1586230" cy="93599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060065" y="5517515"/>
            <a:ext cx="935990" cy="93599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500245" y="5589270"/>
            <a:ext cx="935990" cy="93599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292090" y="3068955"/>
            <a:ext cx="935990" cy="93599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idx="1"/>
          </p:nvPr>
        </p:nvSpPr>
        <p:spPr>
          <a:xfrm>
            <a:off x="567055" y="1577975"/>
            <a:ext cx="8001000" cy="4514850"/>
          </a:xfrm>
        </p:spPr>
        <p:txBody>
          <a:bodyPr vert="horz" wrap="square" lIns="91440" tIns="45720" rIns="91440" bIns="45720" anchor="t" anchorCtr="0"/>
          <a:lstStyle/>
          <a:p>
            <a:pPr algn="l" eaLnBrk="1" hangingPunct="1">
              <a:lnSpc>
                <a:spcPct val="130000"/>
              </a:lnSpc>
              <a:buClrTx/>
              <a:buSzTx/>
            </a:pPr>
            <a:r>
              <a:rPr lang="zh-CN" altLang="en-US" sz="3400" b="1" dirty="0"/>
              <a:t>测试分析</a:t>
            </a:r>
          </a:p>
          <a:p>
            <a:pPr lvl="1" algn="l" eaLnBrk="1" hangingPunct="1">
              <a:lnSpc>
                <a:spcPct val="130000"/>
              </a:lnSpc>
              <a:buClrTx/>
              <a:buSzTx/>
            </a:pPr>
            <a:r>
              <a:rPr lang="en-US" altLang="zh-CN" sz="2400" dirty="0"/>
              <a:t>4</a:t>
            </a:r>
            <a:r>
              <a:rPr sz="2400" dirty="0"/>
              <a:t>层调用结构，不存在递归调用和孤立函数；</a:t>
            </a:r>
          </a:p>
          <a:p>
            <a:pPr lvl="1" eaLnBrk="1" hangingPunct="1">
              <a:lnSpc>
                <a:spcPct val="150000"/>
              </a:lnSpc>
            </a:pPr>
            <a:r>
              <a:rPr lang="zh-CN" altLang="en-US" sz="2400" dirty="0"/>
              <a:t>单个节点的测试重点：</a:t>
            </a:r>
            <a:endParaRPr lang="zh-CN" altLang="en-US" sz="2400" dirty="0">
              <a:solidFill>
                <a:srgbClr val="0000FF"/>
              </a:solidFill>
              <a:ea typeface="华文新魏" panose="02010800040101010101" pitchFamily="2" charset="-122"/>
            </a:endParaRPr>
          </a:p>
          <a:p>
            <a:pPr lvl="2" algn="l" defTabSz="914400" eaLnBrk="1" hangingPunct="1">
              <a:lnSpc>
                <a:spcPct val="120000"/>
              </a:lnSpc>
              <a:buClrTx/>
              <a:buSzTx/>
              <a:tabLst>
                <a:tab pos="1609725" algn="l"/>
              </a:tabLst>
            </a:pPr>
            <a:r>
              <a:rPr lang="zh-CN" altLang="en-US" sz="2000" dirty="0"/>
              <a:t>节点</a:t>
            </a:r>
            <a:r>
              <a:rPr altLang="en-US" sz="2000" dirty="0"/>
              <a:t>1为根节点，优先测试；</a:t>
            </a:r>
          </a:p>
          <a:p>
            <a:pPr lvl="2" algn="l" defTabSz="914400" eaLnBrk="1" hangingPunct="1">
              <a:lnSpc>
                <a:spcPct val="120000"/>
              </a:lnSpc>
              <a:buClrTx/>
              <a:buSzTx/>
              <a:tabLst>
                <a:tab pos="1609725" algn="l"/>
              </a:tabLst>
            </a:pPr>
            <a:r>
              <a:rPr sz="2000" dirty="0"/>
              <a:t>14, 15为叶子节点，被频繁调用，优先测试；</a:t>
            </a:r>
          </a:p>
          <a:p>
            <a:pPr lvl="2" algn="l" defTabSz="914400" eaLnBrk="1" hangingPunct="1">
              <a:lnSpc>
                <a:spcPct val="120000"/>
              </a:lnSpc>
              <a:buClrTx/>
              <a:buSzTx/>
              <a:tabLst>
                <a:tab pos="1609725" algn="l"/>
              </a:tabLst>
            </a:pPr>
            <a:r>
              <a:rPr sz="2000" dirty="0"/>
              <a:t> 26, 27为中间节点，具有多个接口，优先测试。</a:t>
            </a:r>
            <a:endParaRPr lang="en-US" altLang="zh-CN" sz="2000" dirty="0"/>
          </a:p>
        </p:txBody>
      </p:sp>
      <p:sp>
        <p:nvSpPr>
          <p:cNvPr id="43012"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57</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idx="1"/>
          </p:nvPr>
        </p:nvSpPr>
        <p:spPr>
          <a:xfrm>
            <a:off x="567055" y="1420495"/>
            <a:ext cx="8001000" cy="4600575"/>
          </a:xfrm>
        </p:spPr>
        <p:txBody>
          <a:bodyPr vert="horz" wrap="square" lIns="91440" tIns="45720" rIns="91440" bIns="45720" anchor="t" anchorCtr="0">
            <a:normAutofit lnSpcReduction="10000"/>
          </a:bodyPr>
          <a:lstStyle/>
          <a:p>
            <a:pPr marL="171450" lvl="1" algn="just" defTabSz="914400" eaLnBrk="1" hangingPunct="1">
              <a:lnSpc>
                <a:spcPct val="140000"/>
              </a:lnSpc>
              <a:buClrTx/>
              <a:buSzTx/>
            </a:pPr>
            <a:r>
              <a:rPr sz="3400" b="1">
                <a:sym typeface="+mn-ea"/>
              </a:rPr>
              <a:t>函数控制流图</a:t>
            </a:r>
            <a:endParaRPr sz="3400" b="1" dirty="0"/>
          </a:p>
          <a:p>
            <a:pPr algn="just" eaLnBrk="1" hangingPunct="1">
              <a:lnSpc>
                <a:spcPct val="140000"/>
              </a:lnSpc>
            </a:pPr>
            <a:r>
              <a:rPr lang="zh-CN" altLang="en-US" sz="3400" b="1" dirty="0"/>
              <a:t>测试重点</a:t>
            </a:r>
            <a:endParaRPr lang="en-US" altLang="zh-CN" sz="3400" b="1" dirty="0"/>
          </a:p>
          <a:p>
            <a:pPr lvl="1" algn="just" eaLnBrk="1" hangingPunct="1">
              <a:lnSpc>
                <a:spcPct val="140000"/>
              </a:lnSpc>
            </a:pPr>
            <a:r>
              <a:rPr lang="zh-CN" altLang="en-US" sz="2400" dirty="0"/>
              <a:t>是否存在多出口情况：每增加一个出口环复杂度</a:t>
            </a:r>
            <a:r>
              <a:rPr lang="en-US" altLang="zh-CN" sz="2400" dirty="0"/>
              <a:t>+1</a:t>
            </a:r>
            <a:r>
              <a:rPr sz="2400" dirty="0"/>
              <a:t>；</a:t>
            </a:r>
            <a:endParaRPr lang="en-US" altLang="zh-CN" sz="2400" dirty="0"/>
          </a:p>
          <a:p>
            <a:pPr lvl="1" algn="just" eaLnBrk="1" hangingPunct="1">
              <a:lnSpc>
                <a:spcPct val="140000"/>
              </a:lnSpc>
            </a:pPr>
            <a:r>
              <a:rPr lang="zh-CN" altLang="en-US" sz="2400" dirty="0"/>
              <a:t>是否存在孤立的语句；</a:t>
            </a:r>
            <a:endParaRPr lang="en-US" altLang="zh-CN" sz="2400" dirty="0"/>
          </a:p>
          <a:p>
            <a:pPr lvl="1" algn="just" eaLnBrk="1" hangingPunct="1">
              <a:lnSpc>
                <a:spcPct val="140000"/>
              </a:lnSpc>
            </a:pPr>
            <a:r>
              <a:rPr lang="zh-CN" altLang="en-US" sz="2400" dirty="0"/>
              <a:t>环复杂度是否太大：不应大于</a:t>
            </a:r>
            <a:r>
              <a:rPr lang="en-US" altLang="zh-CN" sz="2400" dirty="0"/>
              <a:t>10</a:t>
            </a:r>
            <a:r>
              <a:rPr sz="2400" dirty="0"/>
              <a:t>；</a:t>
            </a:r>
            <a:endParaRPr lang="en-US" altLang="zh-CN" sz="2400" dirty="0"/>
          </a:p>
          <a:p>
            <a:pPr lvl="1" algn="just" eaLnBrk="1" hangingPunct="1">
              <a:lnSpc>
                <a:spcPct val="150000"/>
              </a:lnSpc>
            </a:pPr>
            <a:r>
              <a:rPr lang="zh-CN" altLang="en-US" sz="2400" dirty="0"/>
              <a:t>是否存在非结构化的设计：使用</a:t>
            </a:r>
            <a:r>
              <a:rPr lang="en-US" altLang="zh-CN" sz="2400" dirty="0"/>
              <a:t>goto</a:t>
            </a:r>
            <a:r>
              <a:rPr lang="zh-CN" altLang="en-US" sz="2400" dirty="0"/>
              <a:t>、</a:t>
            </a:r>
            <a:r>
              <a:rPr lang="en-US" altLang="zh-CN" sz="2400" dirty="0"/>
              <a:t>break</a:t>
            </a:r>
            <a:r>
              <a:rPr lang="zh-CN" altLang="en-US" sz="2400" dirty="0"/>
              <a:t>、</a:t>
            </a:r>
            <a:r>
              <a:rPr lang="en-US" altLang="zh-CN" sz="2400" dirty="0"/>
              <a:t>continue</a:t>
            </a:r>
            <a:r>
              <a:rPr lang="zh-CN" altLang="en-US" sz="2400" dirty="0"/>
              <a:t>等语句导致。</a:t>
            </a:r>
          </a:p>
        </p:txBody>
      </p:sp>
      <p:sp>
        <p:nvSpPr>
          <p:cNvPr id="3686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58</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idx="1"/>
          </p:nvPr>
        </p:nvSpPr>
        <p:spPr>
          <a:xfrm>
            <a:off x="567055" y="1427480"/>
            <a:ext cx="8001000" cy="4450080"/>
          </a:xfrm>
        </p:spPr>
        <p:txBody>
          <a:bodyPr vert="horz" wrap="square" lIns="91440" tIns="45720" rIns="91440" bIns="45720" anchor="t" anchorCtr="0">
            <a:normAutofit/>
          </a:bodyPr>
          <a:lstStyle/>
          <a:p>
            <a:pPr algn="just" eaLnBrk="1" hangingPunct="1">
              <a:lnSpc>
                <a:spcPct val="140000"/>
              </a:lnSpc>
              <a:buClrTx/>
              <a:buSzTx/>
            </a:pPr>
            <a:r>
              <a:rPr sz="3400" b="1">
                <a:sym typeface="+mn-ea"/>
              </a:rPr>
              <a:t>函数控制流图</a:t>
            </a:r>
          </a:p>
          <a:p>
            <a:pPr algn="just" eaLnBrk="1" hangingPunct="1">
              <a:lnSpc>
                <a:spcPct val="140000"/>
              </a:lnSpc>
              <a:buClrTx/>
              <a:buSzTx/>
            </a:pPr>
            <a:r>
              <a:rPr lang="zh-CN" altLang="en-US" sz="3400" b="1" dirty="0"/>
              <a:t>捉虫实践</a:t>
            </a:r>
            <a:r>
              <a:rPr sz="3400" b="1" dirty="0"/>
              <a:t>2</a:t>
            </a:r>
            <a:r>
              <a:rPr lang="zh-CN" altLang="en-US" sz="3400" b="1" dirty="0"/>
              <a:t>：第二日问题</a:t>
            </a:r>
          </a:p>
          <a:p>
            <a:pPr lvl="1" algn="just" defTabSz="914400" eaLnBrk="1" hangingPunct="1">
              <a:lnSpc>
                <a:spcPct val="140000"/>
              </a:lnSpc>
              <a:buClrTx/>
              <a:buSzTx/>
              <a:tabLst>
                <a:tab pos="1609725" algn="l"/>
              </a:tabLst>
            </a:pPr>
            <a:r>
              <a:rPr lang="zh-CN" altLang="en-US" sz="2400" dirty="0"/>
              <a:t>代码说明：</a:t>
            </a:r>
            <a:r>
              <a:rPr lang="en-US" altLang="zh-CN" dirty="0"/>
              <a:t>computeNextDate()</a:t>
            </a:r>
            <a:r>
              <a:rPr dirty="0"/>
              <a:t>函数：只接受有效输入</a:t>
            </a:r>
          </a:p>
          <a:p>
            <a:pPr lvl="1" algn="just" defTabSz="914400" eaLnBrk="1" hangingPunct="1">
              <a:lnSpc>
                <a:spcPct val="140000"/>
              </a:lnSpc>
              <a:buClrTx/>
              <a:buSzTx/>
              <a:tabLst>
                <a:tab pos="1609725" algn="l"/>
              </a:tabLst>
            </a:pPr>
            <a:r>
              <a:rPr lang="zh-CN" altLang="en-US" sz="2400" dirty="0"/>
              <a:t>函数控制流图</a:t>
            </a:r>
            <a:endParaRPr sz="2400" dirty="0"/>
          </a:p>
          <a:p>
            <a:pPr lvl="1" algn="just" defTabSz="914400" eaLnBrk="1" hangingPunct="1">
              <a:lnSpc>
                <a:spcPct val="140000"/>
              </a:lnSpc>
              <a:buClrTx/>
              <a:buSzTx/>
              <a:tabLst>
                <a:tab pos="1609725" algn="l"/>
              </a:tabLst>
            </a:pPr>
            <a:r>
              <a:rPr lang="zh-CN" altLang="en-US" sz="2400" dirty="0"/>
              <a:t>测试分析</a:t>
            </a:r>
            <a:endParaRPr sz="2400" dirty="0"/>
          </a:p>
          <a:p>
            <a:pPr lvl="1" algn="just" defTabSz="914400" eaLnBrk="1" hangingPunct="1">
              <a:lnSpc>
                <a:spcPct val="140000"/>
              </a:lnSpc>
              <a:buClrTx/>
              <a:buSzTx/>
              <a:tabLst>
                <a:tab pos="1609725" algn="l"/>
              </a:tabLst>
            </a:pPr>
            <a:r>
              <a:rPr lang="zh-CN" altLang="en-US" sz="2400" dirty="0"/>
              <a:t>静态结构分析的局限</a:t>
            </a:r>
          </a:p>
        </p:txBody>
      </p:sp>
      <p:sp>
        <p:nvSpPr>
          <p:cNvPr id="4403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59</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idx="1"/>
          </p:nvPr>
        </p:nvSpPr>
        <p:spPr>
          <a:xfrm>
            <a:off x="567055" y="1423670"/>
            <a:ext cx="8001000" cy="4669155"/>
          </a:xfrm>
        </p:spPr>
        <p:txBody>
          <a:bodyPr vert="horz" wrap="square" lIns="91440" tIns="45720" rIns="91440" bIns="45720" anchor="t" anchorCtr="0"/>
          <a:lstStyle/>
          <a:p>
            <a:pPr algn="just" eaLnBrk="1" hangingPunct="1">
              <a:lnSpc>
                <a:spcPct val="140000"/>
              </a:lnSpc>
              <a:buClrTx/>
              <a:buSzTx/>
            </a:pPr>
            <a:r>
              <a:rPr lang="zh-CN" altLang="en-US" sz="3400" b="1" dirty="0"/>
              <a:t>函数控制流图</a:t>
            </a:r>
          </a:p>
          <a:p>
            <a:pPr lvl="1" algn="just" defTabSz="914400" eaLnBrk="1" hangingPunct="1">
              <a:lnSpc>
                <a:spcPct val="140000"/>
              </a:lnSpc>
              <a:buClrTx/>
              <a:buSzTx/>
              <a:tabLst>
                <a:tab pos="1609725" algn="l"/>
              </a:tabLst>
            </a:pPr>
            <a:r>
              <a:rPr sz="2400" dirty="0"/>
              <a:t>computeNextDate</a:t>
            </a:r>
            <a:r>
              <a:rPr lang="zh-CN" altLang="en-US" sz="2400" dirty="0"/>
              <a:t>函数</a:t>
            </a:r>
          </a:p>
        </p:txBody>
      </p:sp>
      <p:sp>
        <p:nvSpPr>
          <p:cNvPr id="4506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60</a:t>
            </a:fld>
            <a:endParaRPr lang="en-US" altLang="zh-CN" sz="1200" dirty="0">
              <a:latin typeface="Arial" panose="020B0604020202020204" pitchFamily="34" charset="0"/>
            </a:endParaRPr>
          </a:p>
        </p:txBody>
      </p:sp>
      <p:pic>
        <p:nvPicPr>
          <p:cNvPr id="45061" name="Picture 2" descr="5t8"/>
          <p:cNvPicPr>
            <a:picLocks noChangeAspect="1"/>
          </p:cNvPicPr>
          <p:nvPr/>
        </p:nvPicPr>
        <p:blipFill>
          <a:blip r:embed="rId4"/>
          <a:stretch>
            <a:fillRect/>
          </a:stretch>
        </p:blipFill>
        <p:spPr>
          <a:xfrm>
            <a:off x="263525" y="2924810"/>
            <a:ext cx="8545513" cy="1928813"/>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pic>
        <p:nvPicPr>
          <p:cNvPr id="5" name="图片 4"/>
          <p:cNvPicPr>
            <a:picLocks noChangeAspect="1"/>
          </p:cNvPicPr>
          <p:nvPr>
            <p:custDataLst>
              <p:tags r:id="rId2"/>
            </p:custDataLst>
          </p:nvPr>
        </p:nvPicPr>
        <p:blipFill>
          <a:blip r:embed="rId5">
            <a:biLevel thresh="50000"/>
          </a:blip>
          <a:srcRect t="4672"/>
          <a:stretch>
            <a:fillRect/>
          </a:stretch>
        </p:blipFill>
        <p:spPr>
          <a:xfrm>
            <a:off x="325755" y="5013325"/>
            <a:ext cx="8242300" cy="1477010"/>
          </a:xfrm>
          <a:prstGeom prst="rect">
            <a:avLst/>
          </a:prstGeom>
        </p:spPr>
      </p:pic>
    </p:spTree>
  </p:cSld>
  <p:clrMapOvr>
    <a:masterClrMapping/>
  </p:clrMapOvr>
  <p:transition>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idx="1"/>
          </p:nvPr>
        </p:nvSpPr>
        <p:spPr/>
        <p:txBody>
          <a:bodyPr vert="horz" wrap="square" lIns="91440" tIns="45720" rIns="91440" bIns="45720" anchor="t" anchorCtr="0"/>
          <a:lstStyle/>
          <a:p>
            <a:pPr algn="just" eaLnBrk="1" hangingPunct="1">
              <a:lnSpc>
                <a:spcPct val="120000"/>
              </a:lnSpc>
              <a:buClrTx/>
              <a:buSzTx/>
            </a:pPr>
            <a:r>
              <a:rPr sz="3400" b="1">
                <a:sym typeface="+mn-ea"/>
              </a:rPr>
              <a:t>函数控制流图</a:t>
            </a:r>
          </a:p>
          <a:p>
            <a:pPr algn="just" eaLnBrk="1" hangingPunct="1">
              <a:lnSpc>
                <a:spcPct val="120000"/>
              </a:lnSpc>
              <a:buClrTx/>
              <a:buSzTx/>
            </a:pPr>
            <a:r>
              <a:rPr sz="3400" b="1" dirty="0"/>
              <a:t>测试分析</a:t>
            </a:r>
          </a:p>
          <a:p>
            <a:pPr lvl="1" algn="just" eaLnBrk="1" hangingPunct="1">
              <a:lnSpc>
                <a:spcPct val="120000"/>
              </a:lnSpc>
              <a:buClrTx/>
              <a:buSzTx/>
            </a:pPr>
            <a:r>
              <a:rPr sz="2400" dirty="0"/>
              <a:t>该函数为单入口、单出口程序</a:t>
            </a:r>
          </a:p>
          <a:p>
            <a:pPr lvl="1" algn="just" eaLnBrk="1" hangingPunct="1">
              <a:lnSpc>
                <a:spcPct val="120000"/>
              </a:lnSpc>
              <a:buClrTx/>
              <a:buSzTx/>
            </a:pPr>
            <a:r>
              <a:rPr sz="2400" dirty="0"/>
              <a:t>不存在孤立语句</a:t>
            </a:r>
          </a:p>
          <a:p>
            <a:pPr lvl="1" algn="just" eaLnBrk="1" hangingPunct="1">
              <a:lnSpc>
                <a:spcPct val="120000"/>
              </a:lnSpc>
              <a:buClrTx/>
              <a:buSzTx/>
            </a:pPr>
            <a:r>
              <a:rPr sz="2400" dirty="0"/>
              <a:t>函数环复杂度为</a:t>
            </a:r>
            <a:r>
              <a:rPr lang="en-US" altLang="zh-CN" sz="2400" dirty="0"/>
              <a:t>6</a:t>
            </a:r>
          </a:p>
          <a:p>
            <a:pPr lvl="1" algn="just" eaLnBrk="1" hangingPunct="1">
              <a:lnSpc>
                <a:spcPct val="120000"/>
              </a:lnSpc>
              <a:buClrTx/>
              <a:buSzTx/>
            </a:pPr>
            <a:r>
              <a:rPr sz="2400" dirty="0"/>
              <a:t>函数结构较为简单、设计符合要求</a:t>
            </a:r>
          </a:p>
        </p:txBody>
      </p:sp>
      <p:sp>
        <p:nvSpPr>
          <p:cNvPr id="4608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61</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idx="1"/>
          </p:nvPr>
        </p:nvSpPr>
        <p:spPr/>
        <p:txBody>
          <a:bodyPr vert="horz" wrap="square" lIns="91440" tIns="45720" rIns="91440" bIns="45720" anchor="t" anchorCtr="0"/>
          <a:lstStyle/>
          <a:p>
            <a:pPr algn="just" eaLnBrk="1" hangingPunct="1">
              <a:lnSpc>
                <a:spcPct val="120000"/>
              </a:lnSpc>
              <a:buClrTx/>
              <a:buSzTx/>
            </a:pPr>
            <a:r>
              <a:rPr sz="3400" b="1">
                <a:sym typeface="+mn-ea"/>
              </a:rPr>
              <a:t>函数控制流图</a:t>
            </a:r>
            <a:endParaRPr sz="3400" b="1" dirty="0"/>
          </a:p>
        </p:txBody>
      </p:sp>
      <p:sp>
        <p:nvSpPr>
          <p:cNvPr id="4608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62</a:t>
            </a:fld>
            <a:endParaRPr lang="en-US" altLang="zh-CN" sz="1200" dirty="0">
              <a:latin typeface="Arial" panose="020B0604020202020204" pitchFamily="34" charset="0"/>
            </a:endParaRPr>
          </a:p>
        </p:txBody>
      </p:sp>
      <p:pic>
        <p:nvPicPr>
          <p:cNvPr id="46085" name="Picture 2"/>
          <p:cNvPicPr>
            <a:picLocks noChangeAspect="1"/>
          </p:cNvPicPr>
          <p:nvPr/>
        </p:nvPicPr>
        <p:blipFill>
          <a:blip r:embed="rId3"/>
          <a:stretch>
            <a:fillRect/>
          </a:stretch>
        </p:blipFill>
        <p:spPr>
          <a:xfrm>
            <a:off x="107315" y="2143760"/>
            <a:ext cx="8930640" cy="3524250"/>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idx="1"/>
          </p:nvPr>
        </p:nvSpPr>
        <p:spPr/>
        <p:txBody>
          <a:bodyPr vert="horz" wrap="square" lIns="91440" tIns="45720" rIns="91440" bIns="45720" anchor="t" anchorCtr="0"/>
          <a:lstStyle/>
          <a:p>
            <a:pPr algn="just" eaLnBrk="1" hangingPunct="1">
              <a:lnSpc>
                <a:spcPct val="90000"/>
              </a:lnSpc>
              <a:buClrTx/>
              <a:buSzTx/>
            </a:pPr>
            <a:r>
              <a:rPr sz="3400" b="1">
                <a:sym typeface="+mn-ea"/>
              </a:rPr>
              <a:t>函数控制流图</a:t>
            </a:r>
          </a:p>
          <a:p>
            <a:pPr lvl="1" algn="just" eaLnBrk="1" hangingPunct="1">
              <a:lnSpc>
                <a:spcPct val="90000"/>
              </a:lnSpc>
              <a:buClrTx/>
              <a:buSzTx/>
            </a:pPr>
            <a:r>
              <a:rPr lang="zh-CN" altLang="en-US" sz="2425" b="1" dirty="0"/>
              <a:t>复杂的控制流图</a:t>
            </a:r>
            <a:endParaRPr sz="2425" b="1" dirty="0"/>
          </a:p>
        </p:txBody>
      </p:sp>
      <p:sp>
        <p:nvSpPr>
          <p:cNvPr id="4710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63</a:t>
            </a:fld>
            <a:endParaRPr lang="en-US" altLang="zh-CN" sz="1200" dirty="0">
              <a:latin typeface="Arial" panose="020B0604020202020204" pitchFamily="34" charset="0"/>
            </a:endParaRPr>
          </a:p>
        </p:txBody>
      </p:sp>
      <p:pic>
        <p:nvPicPr>
          <p:cNvPr id="47109" name="Picture 2"/>
          <p:cNvPicPr>
            <a:picLocks noChangeAspect="1"/>
          </p:cNvPicPr>
          <p:nvPr/>
        </p:nvPicPr>
        <p:blipFill>
          <a:blip r:embed="rId3"/>
          <a:stretch>
            <a:fillRect/>
          </a:stretch>
        </p:blipFill>
        <p:spPr>
          <a:xfrm>
            <a:off x="107315" y="2277110"/>
            <a:ext cx="8908415" cy="382333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p:cNvSpPr>
          <p:nvPr>
            <p:ph idx="1"/>
          </p:nvPr>
        </p:nvSpPr>
        <p:spPr/>
        <p:txBody>
          <a:bodyPr vert="horz" wrap="square" lIns="91440" tIns="45720" rIns="91440" bIns="45720" anchor="t" anchorCtr="0"/>
          <a:lstStyle/>
          <a:p>
            <a:pPr algn="just" eaLnBrk="1" hangingPunct="1">
              <a:lnSpc>
                <a:spcPct val="100000"/>
              </a:lnSpc>
              <a:buClrTx/>
              <a:buSzTx/>
            </a:pPr>
            <a:r>
              <a:rPr sz="3400" b="1">
                <a:sym typeface="+mn-ea"/>
              </a:rPr>
              <a:t>函数控制流图</a:t>
            </a:r>
          </a:p>
          <a:p>
            <a:pPr lvl="1" algn="just" eaLnBrk="1" hangingPunct="1">
              <a:lnSpc>
                <a:spcPct val="100000"/>
              </a:lnSpc>
              <a:buClrTx/>
              <a:buSzTx/>
            </a:pPr>
            <a:r>
              <a:rPr lang="zh-CN" altLang="en-US" sz="2425" b="1" dirty="0"/>
              <a:t>结构</a:t>
            </a:r>
            <a:r>
              <a:rPr sz="2425" b="1">
                <a:sym typeface="+mn-ea"/>
              </a:rPr>
              <a:t>分析</a:t>
            </a:r>
            <a:endParaRPr sz="2425" b="1" dirty="0">
              <a:sym typeface="+mn-ea"/>
            </a:endParaRPr>
          </a:p>
        </p:txBody>
      </p:sp>
      <p:sp>
        <p:nvSpPr>
          <p:cNvPr id="48132"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64</a:t>
            </a:fld>
            <a:endParaRPr lang="en-US" altLang="zh-CN" sz="1200" dirty="0">
              <a:latin typeface="Arial" panose="020B0604020202020204" pitchFamily="34" charset="0"/>
            </a:endParaRPr>
          </a:p>
        </p:txBody>
      </p:sp>
      <p:pic>
        <p:nvPicPr>
          <p:cNvPr id="48133" name="Picture 2"/>
          <p:cNvPicPr>
            <a:picLocks noChangeAspect="1"/>
          </p:cNvPicPr>
          <p:nvPr/>
        </p:nvPicPr>
        <p:blipFill>
          <a:blip r:embed="rId3"/>
          <a:stretch>
            <a:fillRect/>
          </a:stretch>
        </p:blipFill>
        <p:spPr>
          <a:xfrm>
            <a:off x="107315" y="2493010"/>
            <a:ext cx="9025890" cy="381825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p:cNvSpPr>
          <p:nvPr>
            <p:ph idx="1"/>
          </p:nvPr>
        </p:nvSpPr>
        <p:spPr>
          <a:xfrm>
            <a:off x="567055" y="1389380"/>
            <a:ext cx="8001000" cy="4631690"/>
          </a:xfrm>
        </p:spPr>
        <p:txBody>
          <a:bodyPr vert="horz" wrap="square" lIns="91440" tIns="45720" rIns="91440" bIns="45720" anchor="t" anchorCtr="0"/>
          <a:lstStyle/>
          <a:p>
            <a:pPr algn="just" eaLnBrk="1" hangingPunct="1">
              <a:lnSpc>
                <a:spcPct val="140000"/>
              </a:lnSpc>
              <a:buClrTx/>
              <a:buSzTx/>
            </a:pPr>
            <a:r>
              <a:rPr sz="3400" b="1">
                <a:sym typeface="+mn-ea"/>
              </a:rPr>
              <a:t>函数控制流图</a:t>
            </a:r>
          </a:p>
          <a:p>
            <a:pPr lvl="1" algn="just" eaLnBrk="1" hangingPunct="1">
              <a:lnSpc>
                <a:spcPct val="140000"/>
              </a:lnSpc>
              <a:buClrTx/>
              <a:buSzTx/>
            </a:pPr>
            <a:r>
              <a:rPr lang="zh-CN" altLang="en-US" sz="2425" b="1" dirty="0"/>
              <a:t>该函数的结构特点</a:t>
            </a:r>
            <a:endParaRPr sz="2425" b="1" dirty="0"/>
          </a:p>
          <a:p>
            <a:pPr lvl="2" algn="just" defTabSz="914400" eaLnBrk="1" hangingPunct="1">
              <a:lnSpc>
                <a:spcPct val="140000"/>
              </a:lnSpc>
              <a:buClrTx/>
              <a:buSzTx/>
              <a:tabLst>
                <a:tab pos="1609725" algn="l"/>
              </a:tabLst>
            </a:pPr>
            <a:r>
              <a:rPr lang="zh-CN" altLang="en-US" sz="2000" dirty="0"/>
              <a:t>多出口：</a:t>
            </a:r>
            <a:r>
              <a:rPr sz="2000" dirty="0"/>
              <a:t>3</a:t>
            </a:r>
            <a:r>
              <a:rPr lang="zh-CN" altLang="en-US" sz="2000" dirty="0"/>
              <a:t>个</a:t>
            </a:r>
            <a:endParaRPr sz="2000" dirty="0"/>
          </a:p>
          <a:p>
            <a:pPr lvl="2" algn="just" defTabSz="914400" eaLnBrk="1" hangingPunct="1">
              <a:lnSpc>
                <a:spcPct val="140000"/>
              </a:lnSpc>
              <a:buClrTx/>
              <a:buSzTx/>
              <a:tabLst>
                <a:tab pos="1609725" algn="l"/>
              </a:tabLst>
            </a:pPr>
            <a:r>
              <a:rPr lang="zh-CN" altLang="en-US" sz="2000" dirty="0"/>
              <a:t>环复杂度高：</a:t>
            </a:r>
            <a:r>
              <a:rPr sz="2000" dirty="0"/>
              <a:t>19（超过规定的上限</a:t>
            </a:r>
            <a:r>
              <a:rPr lang="en-US" altLang="zh-CN" sz="2000" dirty="0"/>
              <a:t>10</a:t>
            </a:r>
            <a:r>
              <a:rPr sz="2000" dirty="0"/>
              <a:t>个）</a:t>
            </a:r>
          </a:p>
          <a:p>
            <a:pPr lvl="2" algn="just" defTabSz="914400" eaLnBrk="1" hangingPunct="1">
              <a:lnSpc>
                <a:spcPct val="140000"/>
              </a:lnSpc>
              <a:buClrTx/>
              <a:buSzTx/>
              <a:tabLst>
                <a:tab pos="1609725" algn="l"/>
              </a:tabLst>
            </a:pPr>
            <a:r>
              <a:rPr lang="zh-CN" altLang="en-US" sz="2000" dirty="0"/>
              <a:t>存在非结构化设计：条件判定</a:t>
            </a:r>
            <a:r>
              <a:rPr sz="2000" dirty="0"/>
              <a:t>1~4</a:t>
            </a:r>
          </a:p>
          <a:p>
            <a:pPr lvl="2" algn="just" defTabSz="914400" eaLnBrk="1" hangingPunct="1">
              <a:lnSpc>
                <a:spcPct val="140000"/>
              </a:lnSpc>
              <a:buClrTx/>
              <a:buSzTx/>
              <a:tabLst>
                <a:tab pos="1609725" algn="l"/>
              </a:tabLst>
            </a:pPr>
            <a:endParaRPr sz="2000" dirty="0"/>
          </a:p>
        </p:txBody>
      </p:sp>
      <p:sp>
        <p:nvSpPr>
          <p:cNvPr id="4915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65</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idx="1"/>
          </p:nvPr>
        </p:nvSpPr>
        <p:spPr>
          <a:xfrm>
            <a:off x="567055" y="1357630"/>
            <a:ext cx="8001000" cy="4890135"/>
          </a:xfrm>
        </p:spPr>
        <p:txBody>
          <a:bodyPr vert="horz" wrap="square" lIns="91440" tIns="45720" rIns="91440" bIns="45720" anchor="t" anchorCtr="0">
            <a:normAutofit fontScale="92500" lnSpcReduction="10000"/>
          </a:bodyPr>
          <a:lstStyle/>
          <a:p>
            <a:pPr algn="just" eaLnBrk="1" hangingPunct="1">
              <a:lnSpc>
                <a:spcPct val="140000"/>
              </a:lnSpc>
              <a:buClrTx/>
              <a:buSzTx/>
            </a:pPr>
            <a:r>
              <a:rPr lang="zh-CN" altLang="en-US" sz="3400" b="1" dirty="0"/>
              <a:t>改进策略</a:t>
            </a:r>
            <a:endParaRPr sz="3400" b="1" dirty="0"/>
          </a:p>
          <a:p>
            <a:pPr marL="800100" lvl="1" indent="-457200" algn="just" defTabSz="914400" eaLnBrk="1" hangingPunct="1">
              <a:lnSpc>
                <a:spcPct val="160000"/>
              </a:lnSpc>
              <a:buClrTx/>
              <a:buSzTx/>
              <a:buAutoNum type="arabicPeriod"/>
              <a:tabLst>
                <a:tab pos="1609725" algn="l"/>
              </a:tabLst>
            </a:pPr>
            <a:r>
              <a:rPr lang="zh-CN" altLang="en-US" dirty="0"/>
              <a:t>尽量避免在同一个函数中多次使用</a:t>
            </a:r>
            <a:r>
              <a:rPr altLang="en-US" dirty="0"/>
              <a:t>return</a:t>
            </a:r>
            <a:r>
              <a:rPr lang="zh-CN" altLang="en-US" dirty="0"/>
              <a:t>语句，降低函数出口数目；</a:t>
            </a:r>
          </a:p>
          <a:p>
            <a:pPr marL="800100" lvl="1" indent="-457200" algn="just" defTabSz="914400" eaLnBrk="1" hangingPunct="1">
              <a:lnSpc>
                <a:spcPct val="160000"/>
              </a:lnSpc>
              <a:buClrTx/>
              <a:buSzTx/>
              <a:buAutoNum type="arabicPeriod"/>
              <a:tabLst>
                <a:tab pos="1609725" algn="l"/>
              </a:tabLst>
            </a:pPr>
            <a:r>
              <a:rPr lang="zh-CN" altLang="en-US" dirty="0"/>
              <a:t>将有效性校验前置，放到函数外部处理，避免极短执行路径的函数退出节点；</a:t>
            </a:r>
          </a:p>
          <a:p>
            <a:pPr marL="800100" lvl="1" indent="-457200" algn="just" defTabSz="914400" eaLnBrk="1" hangingPunct="1">
              <a:lnSpc>
                <a:spcPct val="160000"/>
              </a:lnSpc>
              <a:buClrTx/>
              <a:buSzTx/>
              <a:buAutoNum type="arabicPeriod"/>
              <a:tabLst>
                <a:tab pos="1609725" algn="l"/>
              </a:tabLst>
            </a:pPr>
            <a:r>
              <a:rPr lang="zh-CN" altLang="en-US" dirty="0"/>
              <a:t>尽量不使用强制跳转或强制结束语句，如</a:t>
            </a:r>
            <a:r>
              <a:rPr altLang="en-US" dirty="0"/>
              <a:t>goto</a:t>
            </a:r>
            <a:r>
              <a:rPr lang="zh-CN" altLang="en-US" dirty="0"/>
              <a:t>、</a:t>
            </a:r>
            <a:r>
              <a:rPr altLang="en-US" dirty="0"/>
              <a:t>break</a:t>
            </a:r>
            <a:r>
              <a:rPr lang="zh-CN" altLang="en-US" dirty="0"/>
              <a:t>等语句，避免非结构化的设计；</a:t>
            </a:r>
          </a:p>
          <a:p>
            <a:pPr marL="800100" lvl="1" indent="-457200" algn="just" defTabSz="914400" eaLnBrk="1" hangingPunct="1">
              <a:lnSpc>
                <a:spcPct val="160000"/>
              </a:lnSpc>
              <a:buClrTx/>
              <a:buSzTx/>
              <a:buAutoNum type="arabicPeriod"/>
              <a:tabLst>
                <a:tab pos="1609725" algn="l"/>
              </a:tabLst>
            </a:pPr>
            <a:r>
              <a:rPr lang="zh-CN" altLang="en-US" dirty="0"/>
              <a:t>将完成单一功能的语句块改为函数调用的方式，降低单个函数的环复杂度。</a:t>
            </a:r>
          </a:p>
        </p:txBody>
      </p:sp>
      <p:sp>
        <p:nvSpPr>
          <p:cNvPr id="5018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66</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p:cNvSpPr>
          <p:nvPr>
            <p:ph idx="1"/>
          </p:nvPr>
        </p:nvSpPr>
        <p:spPr>
          <a:xfrm>
            <a:off x="567055" y="1325880"/>
            <a:ext cx="8001000" cy="4550410"/>
          </a:xfrm>
        </p:spPr>
        <p:txBody>
          <a:bodyPr vert="horz" wrap="square" lIns="91440" tIns="45720" rIns="91440" bIns="45720" anchor="t" anchorCtr="0"/>
          <a:lstStyle/>
          <a:p>
            <a:pPr marL="514350" indent="-514350" algn="just" eaLnBrk="1" hangingPunct="1">
              <a:lnSpc>
                <a:spcPct val="110000"/>
              </a:lnSpc>
              <a:buFont typeface="+mj-lt"/>
              <a:buAutoNum type="arabicPeriod" startAt="3"/>
            </a:pPr>
            <a:r>
              <a:rPr lang="zh-CN" altLang="en-US" sz="3400" b="1" dirty="0"/>
              <a:t>代码质量度量</a:t>
            </a:r>
            <a:endParaRPr lang="en-US" altLang="zh-CN" sz="3400" b="1" dirty="0"/>
          </a:p>
          <a:p>
            <a:pPr lvl="1" algn="just" eaLnBrk="1" hangingPunct="1">
              <a:lnSpc>
                <a:spcPct val="140000"/>
              </a:lnSpc>
            </a:pPr>
            <a:r>
              <a:rPr lang="zh-CN" altLang="en-US" dirty="0">
                <a:solidFill>
                  <a:srgbClr val="0000FF"/>
                </a:solidFill>
              </a:rPr>
              <a:t>软件质量模型</a:t>
            </a:r>
            <a:endParaRPr lang="en-US" altLang="zh-CN" dirty="0">
              <a:solidFill>
                <a:srgbClr val="0000FF"/>
              </a:solidFill>
            </a:endParaRPr>
          </a:p>
          <a:p>
            <a:pPr lvl="1" algn="just" eaLnBrk="1" hangingPunct="1">
              <a:lnSpc>
                <a:spcPct val="140000"/>
              </a:lnSpc>
            </a:pPr>
            <a:r>
              <a:rPr lang="zh-CN" altLang="en-US" dirty="0"/>
              <a:t>代码质量度量模型</a:t>
            </a:r>
            <a:endParaRPr lang="en-US" altLang="zh-CN" dirty="0"/>
          </a:p>
          <a:p>
            <a:pPr lvl="1" algn="just" eaLnBrk="1" hangingPunct="1">
              <a:lnSpc>
                <a:spcPct val="140000"/>
              </a:lnSpc>
            </a:pPr>
            <a:r>
              <a:rPr lang="zh-CN" altLang="en-US" dirty="0"/>
              <a:t>代码质量自动度量工具</a:t>
            </a:r>
            <a:endParaRPr lang="en-US" altLang="zh-CN" dirty="0"/>
          </a:p>
        </p:txBody>
      </p:sp>
      <p:sp>
        <p:nvSpPr>
          <p:cNvPr id="37892"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67</a:t>
            </a:fld>
            <a:endParaRPr lang="en-US" altLang="zh-CN" sz="1200" dirty="0">
              <a:latin typeface="Arial" panose="020B0604020202020204" pitchFamily="34" charset="0"/>
            </a:endParaRPr>
          </a:p>
        </p:txBody>
      </p:sp>
      <p:pic>
        <p:nvPicPr>
          <p:cNvPr id="15366" name="Picture 6" descr="5t3"/>
          <p:cNvPicPr>
            <a:picLocks noChangeAspect="1"/>
          </p:cNvPicPr>
          <p:nvPr/>
        </p:nvPicPr>
        <p:blipFill>
          <a:blip r:embed="rId3"/>
          <a:stretch>
            <a:fillRect/>
          </a:stretch>
        </p:blipFill>
        <p:spPr>
          <a:xfrm>
            <a:off x="-7620" y="2169478"/>
            <a:ext cx="9144000" cy="421957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slide(fromBottom)">
                                      <p:cBhvr>
                                        <p:cTn id="7"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idx="1"/>
          </p:nvPr>
        </p:nvSpPr>
        <p:spPr>
          <a:xfrm>
            <a:off x="567055" y="1351915"/>
            <a:ext cx="8001000" cy="4740910"/>
          </a:xfrm>
        </p:spPr>
        <p:txBody>
          <a:bodyPr vert="horz" wrap="square" lIns="91440" tIns="45720" rIns="91440" bIns="45720" anchor="t" anchorCtr="0"/>
          <a:lstStyle/>
          <a:p>
            <a:pPr marL="514350" indent="-514350" algn="just" eaLnBrk="1" hangingPunct="1">
              <a:buFont typeface="+mj-lt"/>
              <a:buAutoNum type="arabicPeriod" startAt="3"/>
            </a:pPr>
            <a:r>
              <a:rPr lang="zh-CN" altLang="en-US" sz="3400" b="1" dirty="0"/>
              <a:t>代码质量度量</a:t>
            </a:r>
            <a:endParaRPr lang="en-US" altLang="zh-CN" sz="3400" b="1" dirty="0"/>
          </a:p>
          <a:p>
            <a:pPr lvl="1" algn="just" eaLnBrk="1" hangingPunct="1">
              <a:lnSpc>
                <a:spcPct val="140000"/>
              </a:lnSpc>
            </a:pPr>
            <a:r>
              <a:rPr lang="zh-CN" altLang="en-US" dirty="0"/>
              <a:t>软件质量模型</a:t>
            </a:r>
            <a:endParaRPr lang="en-US" altLang="zh-CN" dirty="0"/>
          </a:p>
          <a:p>
            <a:pPr lvl="1" algn="just" eaLnBrk="1" hangingPunct="1"/>
            <a:r>
              <a:rPr lang="zh-CN" altLang="en-US" dirty="0">
                <a:solidFill>
                  <a:srgbClr val="0000FF"/>
                </a:solidFill>
              </a:rPr>
              <a:t>代码质量度量模型</a:t>
            </a:r>
            <a:endParaRPr lang="en-US" altLang="zh-CN" dirty="0">
              <a:solidFill>
                <a:srgbClr val="0000FF"/>
              </a:solidFill>
            </a:endParaRPr>
          </a:p>
          <a:p>
            <a:pPr lvl="1" algn="just" eaLnBrk="1" hangingPunct="1"/>
            <a:r>
              <a:rPr lang="zh-CN" altLang="en-US" dirty="0"/>
              <a:t>代码质量自动度量工具</a:t>
            </a:r>
            <a:endParaRPr lang="en-US" altLang="zh-CN" dirty="0"/>
          </a:p>
        </p:txBody>
      </p:sp>
      <p:sp>
        <p:nvSpPr>
          <p:cNvPr id="38916"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68</a:t>
            </a:fld>
            <a:endParaRPr lang="en-US" altLang="zh-CN" sz="1200" dirty="0">
              <a:latin typeface="Arial" panose="020B0604020202020204" pitchFamily="34" charset="0"/>
            </a:endParaRPr>
          </a:p>
        </p:txBody>
      </p:sp>
      <p:pic>
        <p:nvPicPr>
          <p:cNvPr id="38917" name="Picture 2" descr="5t4"/>
          <p:cNvPicPr>
            <a:picLocks noChangeAspect="1"/>
          </p:cNvPicPr>
          <p:nvPr/>
        </p:nvPicPr>
        <p:blipFill>
          <a:blip r:embed="rId3"/>
          <a:stretch>
            <a:fillRect/>
          </a:stretch>
        </p:blipFill>
        <p:spPr>
          <a:xfrm>
            <a:off x="107950" y="3860800"/>
            <a:ext cx="9012238" cy="157162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idx="1"/>
          </p:nvPr>
        </p:nvSpPr>
        <p:spPr>
          <a:xfrm>
            <a:off x="567055" y="1289050"/>
            <a:ext cx="8001000" cy="4803775"/>
          </a:xfrm>
        </p:spPr>
        <p:txBody>
          <a:bodyPr vert="horz" wrap="square" lIns="91440" tIns="45720" rIns="91440" bIns="45720" anchor="t" anchorCtr="0"/>
          <a:lstStyle/>
          <a:p>
            <a:pPr marL="514350" indent="-514350" algn="just" eaLnBrk="1" hangingPunct="1">
              <a:lnSpc>
                <a:spcPct val="130000"/>
              </a:lnSpc>
              <a:buFont typeface="+mj-lt"/>
              <a:buAutoNum type="arabicPeriod" startAt="3"/>
            </a:pPr>
            <a:r>
              <a:rPr lang="zh-CN" altLang="en-US" sz="3400" b="1" dirty="0"/>
              <a:t>代码质量度量</a:t>
            </a:r>
            <a:endParaRPr lang="en-US" altLang="zh-CN" sz="3400" b="1" dirty="0"/>
          </a:p>
          <a:p>
            <a:pPr lvl="1" algn="just" eaLnBrk="1" hangingPunct="1">
              <a:lnSpc>
                <a:spcPct val="130000"/>
              </a:lnSpc>
            </a:pPr>
            <a:r>
              <a:rPr lang="zh-CN" altLang="en-US" dirty="0"/>
              <a:t>软件质量模型</a:t>
            </a:r>
            <a:endParaRPr lang="en-US" altLang="zh-CN" dirty="0"/>
          </a:p>
          <a:p>
            <a:pPr lvl="1" algn="just" eaLnBrk="1" hangingPunct="1">
              <a:lnSpc>
                <a:spcPct val="130000"/>
              </a:lnSpc>
            </a:pPr>
            <a:r>
              <a:rPr lang="zh-CN" altLang="en-US" dirty="0"/>
              <a:t>代码质量度量模型</a:t>
            </a:r>
            <a:endParaRPr lang="en-US" altLang="zh-CN" dirty="0"/>
          </a:p>
          <a:p>
            <a:pPr lvl="1" algn="just" eaLnBrk="1" hangingPunct="1">
              <a:lnSpc>
                <a:spcPct val="130000"/>
              </a:lnSpc>
            </a:pPr>
            <a:r>
              <a:rPr lang="zh-CN" altLang="en-US" dirty="0">
                <a:solidFill>
                  <a:srgbClr val="0000FF"/>
                </a:solidFill>
              </a:rPr>
              <a:t>代码质量自动度量</a:t>
            </a:r>
            <a:endParaRPr lang="en-US" altLang="zh-CN" dirty="0">
              <a:solidFill>
                <a:srgbClr val="0000FF"/>
              </a:solidFill>
            </a:endParaRPr>
          </a:p>
        </p:txBody>
      </p:sp>
      <p:sp>
        <p:nvSpPr>
          <p:cNvPr id="39940"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69</a:t>
            </a:fld>
            <a:endParaRPr lang="en-US" altLang="zh-CN" sz="1200" dirty="0">
              <a:latin typeface="Arial" panose="020B0604020202020204" pitchFamily="34" charset="0"/>
            </a:endParaRPr>
          </a:p>
        </p:txBody>
      </p:sp>
      <p:pic>
        <p:nvPicPr>
          <p:cNvPr id="39941" name="Picture 2" descr="5t5"/>
          <p:cNvPicPr>
            <a:picLocks noChangeAspect="1"/>
          </p:cNvPicPr>
          <p:nvPr/>
        </p:nvPicPr>
        <p:blipFill>
          <a:blip r:embed="rId3"/>
          <a:stretch>
            <a:fillRect/>
          </a:stretch>
        </p:blipFill>
        <p:spPr>
          <a:xfrm>
            <a:off x="3677920" y="2637155"/>
            <a:ext cx="5147945" cy="322008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567055" y="1435100"/>
            <a:ext cx="8162925" cy="4657725"/>
          </a:xfrm>
        </p:spPr>
        <p:txBody>
          <a:bodyPr vert="horz" wrap="square" lIns="91440" tIns="45720" rIns="91440" bIns="45720" anchor="t" anchorCtr="0">
            <a:normAutofit/>
          </a:bodyPr>
          <a:lstStyle/>
          <a:p>
            <a:pPr algn="just" eaLnBrk="1" hangingPunct="1">
              <a:lnSpc>
                <a:spcPct val="140000"/>
              </a:lnSpc>
              <a:buClrTx/>
              <a:buSzTx/>
            </a:pPr>
            <a:r>
              <a:rPr lang="zh-CN" altLang="en-US" sz="3400" b="1" dirty="0"/>
              <a:t>静态结构分析局限性</a:t>
            </a:r>
            <a:endParaRPr sz="3400" b="1" dirty="0"/>
          </a:p>
          <a:p>
            <a:pPr lvl="1" algn="just" defTabSz="914400" eaLnBrk="1" hangingPunct="1">
              <a:lnSpc>
                <a:spcPct val="170000"/>
              </a:lnSpc>
              <a:buClrTx/>
              <a:buSzTx/>
              <a:tabLst>
                <a:tab pos="1609725" algn="l"/>
              </a:tabLst>
            </a:pPr>
            <a:r>
              <a:rPr lang="zh-CN" altLang="en-US" dirty="0"/>
              <a:t>在远离代码的条件下对程序进行分析；</a:t>
            </a:r>
          </a:p>
          <a:p>
            <a:pPr lvl="1" algn="just" defTabSz="914400" eaLnBrk="1" hangingPunct="1">
              <a:lnSpc>
                <a:spcPct val="170000"/>
              </a:lnSpc>
              <a:buClrTx/>
              <a:buSzTx/>
              <a:tabLst>
                <a:tab pos="1609725" algn="l"/>
              </a:tabLst>
            </a:pPr>
            <a:r>
              <a:rPr lang="zh-CN" altLang="en-US" dirty="0"/>
              <a:t>函数调用图无法看出函数接口的复杂度；</a:t>
            </a:r>
          </a:p>
          <a:p>
            <a:pPr lvl="1" algn="just" defTabSz="914400" eaLnBrk="1" hangingPunct="1">
              <a:lnSpc>
                <a:spcPct val="170000"/>
              </a:lnSpc>
              <a:buClrTx/>
              <a:buSzTx/>
              <a:tabLst>
                <a:tab pos="1609725" algn="l"/>
              </a:tabLst>
            </a:pPr>
            <a:r>
              <a:rPr lang="zh-CN" altLang="en-US" dirty="0"/>
              <a:t>控制流图无法看出每个判定节点的复杂度和循环结构的复杂度；</a:t>
            </a:r>
            <a:endParaRPr dirty="0"/>
          </a:p>
          <a:p>
            <a:pPr lvl="1" algn="just" defTabSz="914400" eaLnBrk="1" hangingPunct="1">
              <a:lnSpc>
                <a:spcPct val="170000"/>
              </a:lnSpc>
              <a:buClrTx/>
              <a:buSzTx/>
              <a:tabLst>
                <a:tab pos="1609725" algn="l"/>
              </a:tabLst>
            </a:pPr>
            <a:r>
              <a:rPr lang="zh-CN" altLang="en-US" dirty="0"/>
              <a:t>需要通过源代码评审、动态白盒测试来进一步对源代码进行测试覆盖，以期找到更多潜伏的软件缺陷。</a:t>
            </a:r>
          </a:p>
        </p:txBody>
      </p:sp>
      <p:sp>
        <p:nvSpPr>
          <p:cNvPr id="51204"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70</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p:cNvSpPr>
          <p:nvPr>
            <p:ph idx="1"/>
          </p:nvPr>
        </p:nvSpPr>
        <p:spPr>
          <a:xfrm>
            <a:off x="567055" y="1340485"/>
            <a:ext cx="8123555" cy="4680585"/>
          </a:xfrm>
        </p:spPr>
        <p:txBody>
          <a:bodyPr vert="horz" wrap="square" lIns="91440" tIns="45720" rIns="91440" bIns="45720" anchor="t" anchorCtr="0">
            <a:normAutofit fontScale="90000" lnSpcReduction="10000"/>
          </a:bodyPr>
          <a:lstStyle/>
          <a:p>
            <a:pPr algn="just" eaLnBrk="1" hangingPunct="1">
              <a:lnSpc>
                <a:spcPct val="150000"/>
              </a:lnSpc>
            </a:pPr>
            <a:r>
              <a:rPr lang="zh-CN" altLang="en-US" sz="3600" b="1" dirty="0"/>
              <a:t>小结</a:t>
            </a:r>
            <a:endParaRPr lang="en-US" altLang="zh-CN" sz="3600" b="1" dirty="0"/>
          </a:p>
          <a:p>
            <a:pPr lvl="1" algn="just" eaLnBrk="1" hangingPunct="1">
              <a:lnSpc>
                <a:spcPct val="150000"/>
              </a:lnSpc>
            </a:pPr>
            <a:r>
              <a:rPr lang="zh-CN" altLang="en-US" sz="2200" dirty="0"/>
              <a:t>静态白盒测试是白盒测试的重要组成部分，它不需要执行程序，而是通过对比标准和规范，检查程序逻辑，直接定位缺陷；</a:t>
            </a:r>
          </a:p>
          <a:p>
            <a:pPr lvl="1" algn="just" eaLnBrk="1" hangingPunct="1">
              <a:lnSpc>
                <a:spcPct val="150000"/>
              </a:lnSpc>
            </a:pPr>
            <a:r>
              <a:rPr sz="2200" b="1" dirty="0">
                <a:sym typeface="+mn-ea"/>
              </a:rPr>
              <a:t>基本思想：</a:t>
            </a:r>
            <a:r>
              <a:rPr sz="2200" dirty="0">
                <a:sym typeface="+mn-ea"/>
              </a:rPr>
              <a:t>不需要设计测试用例，直接查看源代码和模拟执行代码，目标是直接定位代码中的缺陷，提出结构设计优化的意见和有关测试重点的建议；</a:t>
            </a:r>
            <a:endParaRPr lang="en-US" altLang="zh-CN" sz="2200" dirty="0"/>
          </a:p>
          <a:p>
            <a:pPr lvl="1" algn="just" eaLnBrk="1" hangingPunct="1">
              <a:lnSpc>
                <a:spcPct val="150000"/>
              </a:lnSpc>
            </a:pPr>
            <a:r>
              <a:rPr lang="zh-CN" altLang="en-US" sz="2200" dirty="0"/>
              <a:t>基于缺陷预防的思想，通过检查程序的各种图表定位那些具有高风险的程序代码，并承担部分代码质量度量的工作</a:t>
            </a:r>
            <a:r>
              <a:rPr lang="en-US" altLang="zh-CN" sz="2200" dirty="0"/>
              <a:t>,</a:t>
            </a:r>
            <a:r>
              <a:rPr lang="zh-CN" altLang="en-US" sz="2200" dirty="0"/>
              <a:t>可以更好地确保所提交的软件系统的质量</a:t>
            </a:r>
            <a:r>
              <a:rPr sz="2200" dirty="0"/>
              <a:t>。</a:t>
            </a:r>
          </a:p>
        </p:txBody>
      </p:sp>
      <p:sp>
        <p:nvSpPr>
          <p:cNvPr id="5222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71</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sym typeface="+mn-ea"/>
              </a:rPr>
              <a:t>静态白盒测试</a:t>
            </a:r>
            <a:endParaRPr lang="en-US" altLang="zh-CN" sz="4400" b="0">
              <a:solidFill>
                <a:schemeClr val="accent1"/>
              </a:solidFill>
              <a:ea typeface="汉仪文黑-85W" panose="00020600040101010101" charset="-122"/>
            </a:endParaRPr>
          </a:p>
        </p:txBody>
      </p:sp>
      <p:sp>
        <p:nvSpPr>
          <p:cNvPr id="67587" name="Rectangle 3"/>
          <p:cNvSpPr>
            <a:spLocks noGrp="1"/>
          </p:cNvSpPr>
          <p:nvPr>
            <p:ph idx="1"/>
          </p:nvPr>
        </p:nvSpPr>
        <p:spPr>
          <a:xfrm>
            <a:off x="567055" y="1359535"/>
            <a:ext cx="8001000" cy="4733290"/>
          </a:xfrm>
        </p:spPr>
        <p:txBody>
          <a:bodyPr vert="horz" wrap="square" lIns="91440" tIns="45720" rIns="91440" bIns="45720" anchor="t" anchorCtr="0"/>
          <a:lstStyle/>
          <a:p>
            <a:pPr eaLnBrk="1" hangingPunct="1">
              <a:lnSpc>
                <a:spcPct val="150000"/>
              </a:lnSpc>
            </a:pPr>
            <a:r>
              <a:rPr sz="3200" b="1" dirty="0"/>
              <a:t>小结</a:t>
            </a:r>
            <a:endParaRPr lang="en-US" altLang="zh-CN" sz="3200" b="1" dirty="0"/>
          </a:p>
          <a:p>
            <a:pPr lvl="1" eaLnBrk="1" hangingPunct="1">
              <a:lnSpc>
                <a:spcPct val="150000"/>
              </a:lnSpc>
            </a:pPr>
            <a:r>
              <a:rPr lang="zh-CN" altLang="en-US" dirty="0"/>
              <a:t>侧重于源代码检查和优化。</a:t>
            </a:r>
            <a:endParaRPr lang="en-US" altLang="zh-CN" dirty="0"/>
          </a:p>
          <a:p>
            <a:pPr lvl="1" eaLnBrk="1" hangingPunct="1">
              <a:lnSpc>
                <a:spcPct val="150000"/>
              </a:lnSpc>
            </a:pPr>
            <a:r>
              <a:rPr lang="zh-CN" altLang="en-US" dirty="0"/>
              <a:t>典型方法：同行评审、静态结构分析、代码质量度量和对变量的数据流测试。</a:t>
            </a:r>
          </a:p>
          <a:p>
            <a:pPr lvl="1" eaLnBrk="1" hangingPunct="1">
              <a:lnSpc>
                <a:spcPct val="150000"/>
              </a:lnSpc>
            </a:pPr>
            <a:r>
              <a:rPr dirty="0"/>
              <a:t>评审不仅针对源代码，适用于从需求阶段到验收阶段的所有工作产品，在代码评审中往往会用到缺陷检查单，包括代码和项目各种产品的检查清单。</a:t>
            </a:r>
          </a:p>
        </p:txBody>
      </p:sp>
      <p:sp>
        <p:nvSpPr>
          <p:cNvPr id="6758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t>72</a:t>
            </a:fld>
            <a:endParaRPr lang="en-US" altLang="zh-CN" sz="1200" dirty="0"/>
          </a:p>
        </p:txBody>
      </p:sp>
      <p:sp>
        <p:nvSpPr>
          <p:cNvPr id="2" name="日期占位符 1"/>
          <p:cNvSpPr>
            <a:spLocks noGrp="1"/>
          </p:cNvSpPr>
          <p:nvPr>
            <p:ph type="dt" sz="half" idx="10"/>
          </p:nvPr>
        </p:nvSpPr>
        <p:spPr/>
        <p:txBody>
          <a:bodyPr/>
          <a:lstStyle/>
          <a:p>
            <a:fld id="{760FBDFE-C587-4B4C-A407-44438C67B59E}" type="datetime1">
              <a:rPr lang="zh-CN" altLang="en-US" smtClean="0"/>
              <a:t>2023/4/19</a:t>
            </a:fld>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descr="7b0a2020202022776f7264617274223a20227b5c2269645c223a32353030313832362c5c227469645c223a31333534347d220a7d0a"/>
          <p:cNvSpPr>
            <a:spLocks noGrp="1"/>
          </p:cNvSpPr>
          <p:nvPr>
            <p:ph type="title" idx="14"/>
            <p:custDataLst>
              <p:tags r:id="rId2"/>
            </p:custDataLst>
          </p:nvPr>
        </p:nvSpPr>
        <p:spPr>
          <a:xfrm>
            <a:off x="2445068" y="2403158"/>
            <a:ext cx="4612005" cy="1285875"/>
          </a:xfrm>
        </p:spPr>
        <p:txBody>
          <a:bodyPr>
            <a:noAutofit/>
            <a:scene3d>
              <a:camera prst="obliqueBottomRight"/>
              <a:lightRig rig="flat" dir="t"/>
            </a:scene3d>
          </a:bodyPr>
          <a:lstStyle/>
          <a:p>
            <a:pPr algn="ctr"/>
            <a:r>
              <a:rPr lang="zh-CN" altLang="en-US" sz="4950" dirty="0">
                <a:solidFill>
                  <a:srgbClr val="37449B"/>
                </a:solidFill>
                <a:effectLst>
                  <a:innerShdw blurRad="63500" dist="50800" dir="13500000">
                    <a:srgbClr val="050505">
                      <a:alpha val="50000"/>
                    </a:srgbClr>
                  </a:innerShdw>
                </a:effectLst>
                <a:latin typeface="汉仪黑方简" panose="00020600040101010101" charset="-122"/>
                <a:ea typeface="汉仪黑方简" panose="00020600040101010101" charset="-122"/>
              </a:rPr>
              <a:t>谢谢聆听</a:t>
            </a:r>
          </a:p>
        </p:txBody>
      </p:sp>
      <p:pic>
        <p:nvPicPr>
          <p:cNvPr id="2" name="图片 1" descr="校徽"/>
          <p:cNvPicPr>
            <a:picLocks noChangeAspect="1"/>
          </p:cNvPicPr>
          <p:nvPr userDrawn="1"/>
        </p:nvPicPr>
        <p:blipFill>
          <a:blip r:embed="rId5"/>
          <a:stretch>
            <a:fillRect/>
          </a:stretch>
        </p:blipFill>
        <p:spPr>
          <a:xfrm>
            <a:off x="8244205" y="44450"/>
            <a:ext cx="796290" cy="73596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f66c2abb-85ab-49f0-82d5-8bc48f17c9b3"/>
  <p:tag name="COMMONDATA" val="eyJoZGlkIjoiMTgyY2Y5Y2UxZjkwY2NiYzg1MTM4ZmQzOTFhYWJhY2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386.697637795275,&quot;width&quot;:8672.72125984252}"/>
</p:tagLst>
</file>

<file path=ppt/tags/tag14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81.184251968504,&quot;width&quot;:2974.7622047244095}"/>
</p:tagLst>
</file>

<file path=ppt/tags/tag1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6"/>
  <p:tag name="KSO_WM_UNIT_FILL_TYPE" val="1"/>
  <p:tag name="KSO_WM_UNIT_LINE_FORE_SCHEMECOLOR_INDEX_BRIGHTNESS" val="0"/>
  <p:tag name="KSO_WM_UNIT_LINE_FORE_SCHEMECOLOR_INDEX" val="2"/>
  <p:tag name="KSO_WM_UNIT_LINE_FILL_TYPE" val="2"/>
  <p:tag name="KSO_WM_UNIT_TEXT_FILL_FORE_SCHEMECOLOR_INDEX_BRIGHTNESS" val="0"/>
  <p:tag name="KSO_WM_UNIT_TEXT_FILL_FORE_SCHEMECOLOR_INDEX" val="2"/>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UNIT_TABLE_BEAUTIFY" val="smartTable{0ca4e495-1c0c-4e0c-9c85-4a381b5fdc74}"/>
  <p:tag name="TABLE_ENDDRAG_ORIGIN_RECT" val="639*295"/>
  <p:tag name="TABLE_ENDDRAG_RECT" val="42*167*639*295"/>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04367_38"/>
  <p:tag name="KSO_WM_TEMPLATE_SUBCATEGORY" val="0"/>
  <p:tag name="KSO_WM_TEMPLATE_MASTER_TYPE" val="1"/>
  <p:tag name="KSO_WM_TEMPLATE_COLOR_TYPE" val="1"/>
  <p:tag name="KSO_WM_SLIDE_TYPE" val="endPage"/>
  <p:tag name="KSO_WM_SLIDE_SUBTYPE" val="pureTxt"/>
  <p:tag name="KSO_WM_SLIDE_ITEM_CNT" val="0"/>
  <p:tag name="KSO_WM_SLIDE_INDEX" val="38"/>
  <p:tag name="KSO_WM_TAG_VERSION" val="1.0"/>
  <p:tag name="KSO_WM_BEAUTIFY_FLAG" val="#wm#"/>
  <p:tag name="KSO_WM_TEMPLATE_CATEGORY" val="custom"/>
  <p:tag name="KSO_WM_TEMPLATE_INDEX" val="20204367"/>
  <p:tag name="KSO_WM_SLIDE_LAYOUT" val="a_b"/>
  <p:tag name="KSO_WM_SLIDE_LAYOUT_CNT" val="1_1"/>
</p:tagLst>
</file>

<file path=ppt/tags/tag21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5"/>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谢谢聆听"/>
  <p:tag name="KSO_WM_TEMPLATE_CATEGORY" val="custom"/>
  <p:tag name="KSO_WM_TEMPLATE_INDEX" val="20204367"/>
  <p:tag name="KSO_WM_UNIT_ID" val="custom20204367_38*a*1"/>
  <p:tag name="KSO_WM_UNIT_ISNUMDGMTITLE" val="0"/>
</p:tagLst>
</file>

<file path=ppt/theme/theme1.xml><?xml version="1.0" encoding="utf-8"?>
<a:theme xmlns:a="http://schemas.openxmlformats.org/drawingml/2006/main" name="1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107</TotalTime>
  <Words>3077</Words>
  <Application>Microsoft Office PowerPoint</Application>
  <PresentationFormat>全屏显示(4:3)</PresentationFormat>
  <Paragraphs>543</Paragraphs>
  <Slides>73</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73</vt:i4>
      </vt:variant>
    </vt:vector>
  </HeadingPairs>
  <TitlesOfParts>
    <vt:vector size="80" baseType="lpstr">
      <vt:lpstr>汉仪黑方简</vt:lpstr>
      <vt:lpstr>宋体</vt:lpstr>
      <vt:lpstr>微软雅黑</vt:lpstr>
      <vt:lpstr>Arial</vt:lpstr>
      <vt:lpstr>Verdana</vt:lpstr>
      <vt:lpstr>Wingdings</vt:lpstr>
      <vt:lpstr>1_Office 主题​​</vt:lpstr>
      <vt:lpstr>PowerPoint 演示文稿</vt:lpstr>
      <vt:lpstr>上节回顾</vt:lpstr>
      <vt:lpstr>第5章  白盒测试技术</vt:lpstr>
      <vt:lpstr>白盒测试概述</vt:lpstr>
      <vt:lpstr>白盒测试概述</vt:lpstr>
      <vt:lpstr>白盒测试概述</vt:lpstr>
      <vt:lpstr>白盒测试概述</vt:lpstr>
      <vt:lpstr>白盒测试概述</vt:lpstr>
      <vt:lpstr>白盒测试概述</vt:lpstr>
      <vt:lpstr>白盒测试概述</vt:lpstr>
      <vt:lpstr>白盒测试概述</vt:lpstr>
      <vt:lpstr>白盒测试概述</vt:lpstr>
      <vt:lpstr>白盒测试概述</vt:lpstr>
      <vt:lpstr>静态白盒测试</vt:lpstr>
      <vt:lpstr>静态白盒测试</vt:lpstr>
      <vt:lpstr>静态白盒测试</vt:lpstr>
      <vt:lpstr>静态白盒测试</vt:lpstr>
      <vt:lpstr>走查与审查的不同点</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静态白盒测试</vt:lpstr>
      <vt:lpstr>谢谢聆听</vt:lpstr>
    </vt:vector>
  </TitlesOfParts>
  <Company>福建163软件园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软件测试技术基础</dc:title>
  <dc:creator>福建163软件园</dc:creator>
  <cp:lastModifiedBy>12563354@qq.com</cp:lastModifiedBy>
  <cp:revision>221</cp:revision>
  <dcterms:created xsi:type="dcterms:W3CDTF">2008-07-27T05:17:00Z</dcterms:created>
  <dcterms:modified xsi:type="dcterms:W3CDTF">2023-04-19T02:22:11Z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68D3718E752B4FAA9328375F3C4219A6_13</vt:lpwstr>
  </property>
</Properties>
</file>