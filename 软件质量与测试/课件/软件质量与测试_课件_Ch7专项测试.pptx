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charts/chart5.xml" ContentType="application/vnd.openxmlformats-officedocument.drawingml.chart+xml"/>
  <Override PartName="/ppt/charts/style3.xml" ContentType="application/vnd.ms-office.chartstyle+xml"/>
  <Override PartName="/ppt/charts/colors3.xml" ContentType="application/vnd.ms-office.chartcolorstyle+xml"/>
  <Override PartName="/ppt/charts/chart6.xml" ContentType="application/vnd.openxmlformats-officedocument.drawingml.chart+xml"/>
  <Override PartName="/ppt/charts/style4.xml" ContentType="application/vnd.ms-office.chartstyle+xml"/>
  <Override PartName="/ppt/charts/colors4.xml" ContentType="application/vnd.ms-office.chartcolorstyle+xml"/>
  <Override PartName="/ppt/charts/chart7.xml" ContentType="application/vnd.openxmlformats-officedocument.drawingml.chart+xml"/>
  <Override PartName="/ppt/charts/style5.xml" ContentType="application/vnd.ms-office.chartstyle+xml"/>
  <Override PartName="/ppt/charts/colors5.xml" ContentType="application/vnd.ms-office.chartcolorstyle+xml"/>
  <Override PartName="/ppt/charts/chart8.xml" ContentType="application/vnd.openxmlformats-officedocument.drawingml.chart+xml"/>
  <Override PartName="/ppt/charts/style6.xml" ContentType="application/vnd.ms-office.chartstyle+xml"/>
  <Override PartName="/ppt/charts/colors6.xml" ContentType="application/vnd.ms-office.chartcolorstyle+xml"/>
  <Override PartName="/ppt/charts/chart9.xml" ContentType="application/vnd.openxmlformats-officedocument.drawingml.chart+xml"/>
  <Override PartName="/ppt/charts/style7.xml" ContentType="application/vnd.ms-office.chartstyle+xml"/>
  <Override PartName="/ppt/charts/colors7.xml" ContentType="application/vnd.ms-office.chartcolorstyle+xml"/>
  <Override PartName="/ppt/charts/chart10.xml" ContentType="application/vnd.openxmlformats-officedocument.drawingml.chart+xml"/>
  <Override PartName="/ppt/charts/style8.xml" ContentType="application/vnd.ms-office.chartstyle+xml"/>
  <Override PartName="/ppt/charts/colors8.xml" ContentType="application/vnd.ms-office.chartcolorstyle+xml"/>
  <Override PartName="/ppt/charts/chart11.xml" ContentType="application/vnd.openxmlformats-officedocument.drawingml.chart+xml"/>
  <Override PartName="/ppt/charts/chart12.xml" ContentType="application/vnd.openxmlformats-officedocument.drawingml.chart+xml"/>
  <Override PartName="/ppt/notesSlides/notesSlide43.xml" ContentType="application/vnd.openxmlformats-officedocument.presentationml.notesSlide+xml"/>
  <Override PartName="/ppt/tags/tag2.xml" ContentType="application/vnd.openxmlformats-officedocument.presentationml.tags+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4"/>
  </p:notesMasterIdLst>
  <p:handoutMasterIdLst>
    <p:handoutMasterId r:id="rId105"/>
  </p:handoutMasterIdLst>
  <p:sldIdLst>
    <p:sldId id="304" r:id="rId2"/>
    <p:sldId id="6039" r:id="rId3"/>
    <p:sldId id="1745" r:id="rId4"/>
    <p:sldId id="9952" r:id="rId5"/>
    <p:sldId id="9954" r:id="rId6"/>
    <p:sldId id="1763" r:id="rId7"/>
    <p:sldId id="1478" r:id="rId8"/>
    <p:sldId id="1482" r:id="rId9"/>
    <p:sldId id="1760" r:id="rId10"/>
    <p:sldId id="9953" r:id="rId11"/>
    <p:sldId id="1770" r:id="rId12"/>
    <p:sldId id="1734" r:id="rId13"/>
    <p:sldId id="1649" r:id="rId14"/>
    <p:sldId id="9955" r:id="rId15"/>
    <p:sldId id="1484" r:id="rId16"/>
    <p:sldId id="9929" r:id="rId17"/>
    <p:sldId id="1488" r:id="rId18"/>
    <p:sldId id="1489" r:id="rId19"/>
    <p:sldId id="1761" r:id="rId20"/>
    <p:sldId id="9961" r:id="rId21"/>
    <p:sldId id="9962" r:id="rId22"/>
    <p:sldId id="1505" r:id="rId23"/>
    <p:sldId id="1508" r:id="rId24"/>
    <p:sldId id="1509" r:id="rId25"/>
    <p:sldId id="1510" r:id="rId26"/>
    <p:sldId id="9963" r:id="rId27"/>
    <p:sldId id="1503" r:id="rId28"/>
    <p:sldId id="1749" r:id="rId29"/>
    <p:sldId id="1513" r:id="rId30"/>
    <p:sldId id="1754" r:id="rId31"/>
    <p:sldId id="1597" r:id="rId32"/>
    <p:sldId id="1599" r:id="rId33"/>
    <p:sldId id="9965" r:id="rId34"/>
    <p:sldId id="9966" r:id="rId35"/>
    <p:sldId id="9967" r:id="rId36"/>
    <p:sldId id="1820" r:id="rId37"/>
    <p:sldId id="1764" r:id="rId38"/>
    <p:sldId id="1823" r:id="rId39"/>
    <p:sldId id="1774" r:id="rId40"/>
    <p:sldId id="9956" r:id="rId41"/>
    <p:sldId id="9964" r:id="rId42"/>
    <p:sldId id="9936" r:id="rId43"/>
    <p:sldId id="543" r:id="rId44"/>
    <p:sldId id="578" r:id="rId45"/>
    <p:sldId id="545" r:id="rId46"/>
    <p:sldId id="9957" r:id="rId47"/>
    <p:sldId id="1777" r:id="rId48"/>
    <p:sldId id="1776" r:id="rId49"/>
    <p:sldId id="1658" r:id="rId50"/>
    <p:sldId id="1675" r:id="rId51"/>
    <p:sldId id="1678" r:id="rId52"/>
    <p:sldId id="1684" r:id="rId53"/>
    <p:sldId id="1686" r:id="rId54"/>
    <p:sldId id="1691" r:id="rId55"/>
    <p:sldId id="1766" r:id="rId56"/>
    <p:sldId id="1696" r:id="rId57"/>
    <p:sldId id="1716" r:id="rId58"/>
    <p:sldId id="6054" r:id="rId59"/>
    <p:sldId id="1810" r:id="rId60"/>
    <p:sldId id="1801" r:id="rId61"/>
    <p:sldId id="1807" r:id="rId62"/>
    <p:sldId id="1802" r:id="rId63"/>
    <p:sldId id="9970" r:id="rId64"/>
    <p:sldId id="1813" r:id="rId65"/>
    <p:sldId id="1812" r:id="rId66"/>
    <p:sldId id="9971" r:id="rId67"/>
    <p:sldId id="9972" r:id="rId68"/>
    <p:sldId id="10089" r:id="rId69"/>
    <p:sldId id="10029" r:id="rId70"/>
    <p:sldId id="10088" r:id="rId71"/>
    <p:sldId id="10095" r:id="rId72"/>
    <p:sldId id="10097" r:id="rId73"/>
    <p:sldId id="10096" r:id="rId74"/>
    <p:sldId id="10086" r:id="rId75"/>
    <p:sldId id="10091" r:id="rId76"/>
    <p:sldId id="10092" r:id="rId77"/>
    <p:sldId id="10093" r:id="rId78"/>
    <p:sldId id="10048" r:id="rId79"/>
    <p:sldId id="10057" r:id="rId80"/>
    <p:sldId id="10058" r:id="rId81"/>
    <p:sldId id="10059" r:id="rId82"/>
    <p:sldId id="10060" r:id="rId83"/>
    <p:sldId id="10061" r:id="rId84"/>
    <p:sldId id="10065" r:id="rId85"/>
    <p:sldId id="10066" r:id="rId86"/>
    <p:sldId id="10070" r:id="rId87"/>
    <p:sldId id="10071" r:id="rId88"/>
    <p:sldId id="10073" r:id="rId89"/>
    <p:sldId id="10074" r:id="rId90"/>
    <p:sldId id="10075" r:id="rId91"/>
    <p:sldId id="10076" r:id="rId92"/>
    <p:sldId id="10077" r:id="rId93"/>
    <p:sldId id="10078" r:id="rId94"/>
    <p:sldId id="10079" r:id="rId95"/>
    <p:sldId id="10080" r:id="rId96"/>
    <p:sldId id="10068" r:id="rId97"/>
    <p:sldId id="10069" r:id="rId98"/>
    <p:sldId id="10072" r:id="rId99"/>
    <p:sldId id="6029" r:id="rId100"/>
    <p:sldId id="6030" r:id="rId101"/>
    <p:sldId id="6036" r:id="rId102"/>
    <p:sldId id="6034" r:id="rId103"/>
  </p:sldIdLst>
  <p:sldSz cx="9144000" cy="5143500" type="screen16x9"/>
  <p:notesSz cx="6858000" cy="9144000"/>
  <p:custDataLst>
    <p:tags r:id="rId106"/>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14">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435CC8"/>
    <a:srgbClr val="1F2B88"/>
    <a:srgbClr val="FFC000"/>
    <a:srgbClr val="242C52"/>
    <a:srgbClr val="6880B1"/>
    <a:srgbClr val="FFBB0A"/>
    <a:srgbClr val="FFC600"/>
    <a:srgbClr val="FFC102"/>
    <a:srgbClr val="1D24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91" autoAdjust="0"/>
    <p:restoredTop sz="77186" autoAdjust="0"/>
  </p:normalViewPr>
  <p:slideViewPr>
    <p:cSldViewPr snapToGrid="0" snapToObjects="1">
      <p:cViewPr varScale="1">
        <p:scale>
          <a:sx n="87" d="100"/>
          <a:sy n="87" d="100"/>
        </p:scale>
        <p:origin x="1243" y="43"/>
      </p:cViewPr>
      <p:guideLst>
        <p:guide orient="horz" pos="1614"/>
        <p:guide pos="2880"/>
      </p:guideLst>
    </p:cSldViewPr>
  </p:slideViewPr>
  <p:notesTextViewPr>
    <p:cViewPr>
      <p:scale>
        <a:sx n="125" d="100"/>
        <a:sy n="125" d="100"/>
      </p:scale>
      <p:origin x="0" y="0"/>
    </p:cViewPr>
  </p:notesTextViewPr>
  <p:notesViewPr>
    <p:cSldViewPr snapToGrid="0" snapToObjects="1">
      <p:cViewPr varScale="1">
        <p:scale>
          <a:sx n="87" d="100"/>
          <a:sy n="87" d="100"/>
        </p:scale>
        <p:origin x="3904" y="19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gs" Target="tags/tag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3.xml"/><Relationship Id="rId1" Type="http://schemas.microsoft.com/office/2011/relationships/chartStyle" Target="style3.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4.xml"/><Relationship Id="rId1" Type="http://schemas.microsoft.com/office/2011/relationships/chartStyle" Target="style4.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5.xml"/><Relationship Id="rId1" Type="http://schemas.microsoft.com/office/2011/relationships/chartStyle" Target="style5.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6.xml"/><Relationship Id="rId1" Type="http://schemas.microsoft.com/office/2011/relationships/chartStyle" Target="style6.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7.xml"/><Relationship Id="rId1" Type="http://schemas.microsoft.com/office/2011/relationships/chartStyle" Target="style7.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8.xml"/><Relationship Id="rId1" Type="http://schemas.microsoft.com/office/2011/relationships/chartStyle" Target="style8.xml"/></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546574507740768E-2"/>
          <c:y val="0.2337746893579733"/>
          <c:w val="0.93310131886019387"/>
          <c:h val="0.72760576484604123"/>
        </c:manualLayout>
      </c:layout>
      <c:barChart>
        <c:barDir val="col"/>
        <c:grouping val="clustered"/>
        <c:varyColors val="0"/>
        <c:ser>
          <c:idx val="0"/>
          <c:order val="0"/>
          <c:tx>
            <c:strRef>
              <c:f>Sheet1!$B$1</c:f>
              <c:strCache>
                <c:ptCount val="1"/>
                <c:pt idx="0">
                  <c:v>No Feature Y</c:v>
                </c:pt>
              </c:strCache>
            </c:strRef>
          </c:tx>
          <c:spPr>
            <a:gradFill>
              <a:gsLst>
                <a:gs pos="100000">
                  <a:schemeClr val="bg1">
                    <a:lumMod val="85000"/>
                  </a:schemeClr>
                </a:gs>
                <a:gs pos="17000">
                  <a:schemeClr val="bg1">
                    <a:lumMod val="50000"/>
                  </a:schemeClr>
                </a:gs>
              </a:gsLst>
              <a:lin ang="5400000" scaled="1"/>
            </a:gradFill>
            <a:ln w="38100">
              <a:noFill/>
            </a:ln>
            <a:effectLst/>
          </c:spPr>
          <c:invertIfNegative val="0"/>
          <c:dLbls>
            <c:delete val="1"/>
          </c:dLbls>
          <c:cat>
            <c:strRef>
              <c:f>Sheet1!$A$2:$A$6</c:f>
              <c:strCache>
                <c:ptCount val="5"/>
                <c:pt idx="0">
                  <c:v>A</c:v>
                </c:pt>
                <c:pt idx="1">
                  <c:v>B</c:v>
                </c:pt>
                <c:pt idx="2">
                  <c:v>C</c:v>
                </c:pt>
                <c:pt idx="3">
                  <c:v>D</c:v>
                </c:pt>
                <c:pt idx="4">
                  <c:v>E</c:v>
                </c:pt>
              </c:strCache>
            </c:strRef>
          </c:cat>
          <c:val>
            <c:numRef>
              <c:f>Sheet1!$B$2:$B$6</c:f>
              <c:numCache>
                <c:formatCode>General</c:formatCode>
                <c:ptCount val="5"/>
                <c:pt idx="0">
                  <c:v>5</c:v>
                </c:pt>
                <c:pt idx="1">
                  <c:v>10</c:v>
                </c:pt>
                <c:pt idx="2">
                  <c:v>15</c:v>
                </c:pt>
                <c:pt idx="3">
                  <c:v>18</c:v>
                </c:pt>
                <c:pt idx="4">
                  <c:v>20</c:v>
                </c:pt>
              </c:numCache>
            </c:numRef>
          </c:val>
          <c:extLst>
            <c:ext xmlns:c16="http://schemas.microsoft.com/office/drawing/2014/chart" uri="{C3380CC4-5D6E-409C-BE32-E72D297353CC}">
              <c16:uniqueId val="{00000000-4E29-1141-90D0-8744D3797719}"/>
            </c:ext>
          </c:extLst>
        </c:ser>
        <c:ser>
          <c:idx val="1"/>
          <c:order val="1"/>
          <c:tx>
            <c:strRef>
              <c:f>Sheet1!$C$1</c:f>
              <c:strCache>
                <c:ptCount val="1"/>
                <c:pt idx="0">
                  <c:v>Feature Y</c:v>
                </c:pt>
              </c:strCache>
            </c:strRef>
          </c:tx>
          <c:spPr>
            <a:gradFill>
              <a:gsLst>
                <a:gs pos="0">
                  <a:srgbClr val="2DC5FF"/>
                </a:gs>
                <a:gs pos="86000">
                  <a:srgbClr val="5F72F8"/>
                </a:gs>
              </a:gsLst>
              <a:lin ang="5400000" scaled="1"/>
            </a:gradFill>
          </c:spPr>
          <c:invertIfNegative val="0"/>
          <c:dLbls>
            <c:delete val="1"/>
          </c:dLbls>
          <c:cat>
            <c:strRef>
              <c:f>Sheet1!$A$2:$A$6</c:f>
              <c:strCache>
                <c:ptCount val="5"/>
                <c:pt idx="0">
                  <c:v>A</c:v>
                </c:pt>
                <c:pt idx="1">
                  <c:v>B</c:v>
                </c:pt>
                <c:pt idx="2">
                  <c:v>C</c:v>
                </c:pt>
                <c:pt idx="3">
                  <c:v>D</c:v>
                </c:pt>
                <c:pt idx="4">
                  <c:v>E</c:v>
                </c:pt>
              </c:strCache>
            </c:strRef>
          </c:cat>
          <c:val>
            <c:numRef>
              <c:f>Sheet1!$C$2:$C$6</c:f>
              <c:numCache>
                <c:formatCode>General</c:formatCode>
                <c:ptCount val="5"/>
                <c:pt idx="0">
                  <c:v>10</c:v>
                </c:pt>
                <c:pt idx="1">
                  <c:v>14</c:v>
                </c:pt>
                <c:pt idx="2">
                  <c:v>18</c:v>
                </c:pt>
                <c:pt idx="3">
                  <c:v>20</c:v>
                </c:pt>
                <c:pt idx="4">
                  <c:v>35</c:v>
                </c:pt>
              </c:numCache>
            </c:numRef>
          </c:val>
          <c:extLst>
            <c:ext xmlns:c16="http://schemas.microsoft.com/office/drawing/2014/chart" uri="{C3380CC4-5D6E-409C-BE32-E72D297353CC}">
              <c16:uniqueId val="{00000001-4E29-1141-90D0-8744D3797719}"/>
            </c:ext>
          </c:extLst>
        </c:ser>
        <c:dLbls>
          <c:dLblPos val="outEnd"/>
          <c:showLegendKey val="0"/>
          <c:showVal val="1"/>
          <c:showCatName val="0"/>
          <c:showSerName val="0"/>
          <c:showPercent val="0"/>
          <c:showBubbleSize val="0"/>
        </c:dLbls>
        <c:gapWidth val="278"/>
        <c:overlap val="-55"/>
        <c:axId val="-1266873024"/>
        <c:axId val="-1266863232"/>
      </c:barChart>
      <c:catAx>
        <c:axId val="-1266873024"/>
        <c:scaling>
          <c:orientation val="minMax"/>
        </c:scaling>
        <c:delete val="1"/>
        <c:axPos val="b"/>
        <c:numFmt formatCode="General" sourceLinked="1"/>
        <c:majorTickMark val="none"/>
        <c:minorTickMark val="none"/>
        <c:tickLblPos val="nextTo"/>
        <c:crossAx val="-1266863232"/>
        <c:crosses val="autoZero"/>
        <c:auto val="1"/>
        <c:lblAlgn val="ctr"/>
        <c:lblOffset val="100"/>
        <c:noMultiLvlLbl val="0"/>
      </c:catAx>
      <c:valAx>
        <c:axId val="-1266863232"/>
        <c:scaling>
          <c:orientation val="minMax"/>
          <c:max val="40"/>
        </c:scaling>
        <c:delete val="0"/>
        <c:axPos val="l"/>
        <c:majorGridlines>
          <c:spPr>
            <a:ln w="12700" cap="rnd" cmpd="sng" algn="ctr">
              <a:solidFill>
                <a:schemeClr val="bg1">
                  <a:lumMod val="75000"/>
                  <a:alpha val="35000"/>
                </a:schemeClr>
              </a:solidFill>
              <a:prstDash val="sys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lumMod val="50000"/>
                  </a:schemeClr>
                </a:solidFill>
                <a:latin typeface="Century Gothic" panose="020B0502020202020204" pitchFamily="34" charset="0"/>
                <a:ea typeface="+mn-ea"/>
                <a:cs typeface="+mn-cs"/>
              </a:defRPr>
            </a:pPr>
            <a:endParaRPr lang="zh-CN"/>
          </a:p>
        </c:txPr>
        <c:crossAx val="-1266873024"/>
        <c:crosses val="autoZero"/>
        <c:crossBetween val="between"/>
        <c:majorUnit val="20"/>
      </c:valAx>
      <c:spPr>
        <a:noFill/>
        <a:ln>
          <a:noFill/>
        </a:ln>
        <a:effectLst/>
      </c:spPr>
    </c:plotArea>
    <c:legend>
      <c:legendPos val="t"/>
      <c:layout>
        <c:manualLayout>
          <c:xMode val="edge"/>
          <c:yMode val="edge"/>
          <c:x val="0.55427249015278734"/>
          <c:y val="4.1019607482677425E-2"/>
          <c:w val="0.39624628281330054"/>
          <c:h val="0.10009738122630897"/>
        </c:manualLayout>
      </c:layout>
      <c:overlay val="0"/>
      <c:txPr>
        <a:bodyPr/>
        <a:lstStyle/>
        <a:p>
          <a:pPr>
            <a:defRPr sz="800" i="1">
              <a:solidFill>
                <a:schemeClr val="bg1"/>
              </a:solidFill>
            </a:defRPr>
          </a:pPr>
          <a:endParaRPr lang="zh-CN"/>
        </a:p>
      </c:txPr>
    </c:legend>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546574507740768E-2"/>
          <c:y val="0.2337746893579733"/>
          <c:w val="0.93310131886019387"/>
          <c:h val="0.72760576484604123"/>
        </c:manualLayout>
      </c:layout>
      <c:barChart>
        <c:barDir val="col"/>
        <c:grouping val="clustered"/>
        <c:varyColors val="0"/>
        <c:ser>
          <c:idx val="0"/>
          <c:order val="0"/>
          <c:tx>
            <c:strRef>
              <c:f>Sheet1!$B$1</c:f>
              <c:strCache>
                <c:ptCount val="1"/>
                <c:pt idx="0">
                  <c:v>Feature X Off</c:v>
                </c:pt>
              </c:strCache>
            </c:strRef>
          </c:tx>
          <c:spPr>
            <a:gradFill>
              <a:gsLst>
                <a:gs pos="100000">
                  <a:schemeClr val="bg1">
                    <a:lumMod val="85000"/>
                  </a:schemeClr>
                </a:gs>
                <a:gs pos="17000">
                  <a:schemeClr val="bg1">
                    <a:lumMod val="50000"/>
                  </a:schemeClr>
                </a:gs>
              </a:gsLst>
              <a:lin ang="5400000" scaled="1"/>
            </a:gradFill>
            <a:ln w="38100">
              <a:noFill/>
            </a:ln>
            <a:effectLst/>
          </c:spPr>
          <c:invertIfNegative val="0"/>
          <c:dLbls>
            <c:delete val="1"/>
          </c:dLbls>
          <c:cat>
            <c:strRef>
              <c:f>Sheet1!$A$2:$A$6</c:f>
              <c:strCache>
                <c:ptCount val="5"/>
                <c:pt idx="0">
                  <c:v>A</c:v>
                </c:pt>
                <c:pt idx="1">
                  <c:v>B</c:v>
                </c:pt>
                <c:pt idx="2">
                  <c:v>C</c:v>
                </c:pt>
                <c:pt idx="3">
                  <c:v>D</c:v>
                </c:pt>
                <c:pt idx="4">
                  <c:v>E</c:v>
                </c:pt>
              </c:strCache>
            </c:strRef>
          </c:cat>
          <c:val>
            <c:numRef>
              <c:f>Sheet1!$B$2:$B$6</c:f>
              <c:numCache>
                <c:formatCode>General</c:formatCode>
                <c:ptCount val="5"/>
                <c:pt idx="0">
                  <c:v>5</c:v>
                </c:pt>
                <c:pt idx="1">
                  <c:v>10</c:v>
                </c:pt>
                <c:pt idx="2">
                  <c:v>15</c:v>
                </c:pt>
                <c:pt idx="3">
                  <c:v>18</c:v>
                </c:pt>
                <c:pt idx="4">
                  <c:v>20</c:v>
                </c:pt>
              </c:numCache>
            </c:numRef>
          </c:val>
          <c:extLst>
            <c:ext xmlns:c16="http://schemas.microsoft.com/office/drawing/2014/chart" uri="{C3380CC4-5D6E-409C-BE32-E72D297353CC}">
              <c16:uniqueId val="{00000000-82FB-0948-BBDF-4C60B165FB2D}"/>
            </c:ext>
          </c:extLst>
        </c:ser>
        <c:ser>
          <c:idx val="1"/>
          <c:order val="1"/>
          <c:tx>
            <c:strRef>
              <c:f>Sheet1!$C$1</c:f>
              <c:strCache>
                <c:ptCount val="1"/>
                <c:pt idx="0">
                  <c:v>Feature X On</c:v>
                </c:pt>
              </c:strCache>
            </c:strRef>
          </c:tx>
          <c:spPr>
            <a:gradFill>
              <a:gsLst>
                <a:gs pos="0">
                  <a:srgbClr val="2DC5FF"/>
                </a:gs>
                <a:gs pos="86000">
                  <a:srgbClr val="5F72F8"/>
                </a:gs>
              </a:gsLst>
              <a:lin ang="5400000" scaled="1"/>
            </a:gradFill>
          </c:spPr>
          <c:invertIfNegative val="0"/>
          <c:dLbls>
            <c:delete val="1"/>
          </c:dLbls>
          <c:cat>
            <c:strRef>
              <c:f>Sheet1!$A$2:$A$6</c:f>
              <c:strCache>
                <c:ptCount val="5"/>
                <c:pt idx="0">
                  <c:v>A</c:v>
                </c:pt>
                <c:pt idx="1">
                  <c:v>B</c:v>
                </c:pt>
                <c:pt idx="2">
                  <c:v>C</c:v>
                </c:pt>
                <c:pt idx="3">
                  <c:v>D</c:v>
                </c:pt>
                <c:pt idx="4">
                  <c:v>E</c:v>
                </c:pt>
              </c:strCache>
            </c:strRef>
          </c:cat>
          <c:val>
            <c:numRef>
              <c:f>Sheet1!$C$2:$C$6</c:f>
              <c:numCache>
                <c:formatCode>General</c:formatCode>
                <c:ptCount val="5"/>
                <c:pt idx="0">
                  <c:v>10</c:v>
                </c:pt>
                <c:pt idx="1">
                  <c:v>14</c:v>
                </c:pt>
                <c:pt idx="2">
                  <c:v>18</c:v>
                </c:pt>
                <c:pt idx="3">
                  <c:v>20</c:v>
                </c:pt>
                <c:pt idx="4">
                  <c:v>35</c:v>
                </c:pt>
              </c:numCache>
            </c:numRef>
          </c:val>
          <c:extLst>
            <c:ext xmlns:c16="http://schemas.microsoft.com/office/drawing/2014/chart" uri="{C3380CC4-5D6E-409C-BE32-E72D297353CC}">
              <c16:uniqueId val="{00000001-82FB-0948-BBDF-4C60B165FB2D}"/>
            </c:ext>
          </c:extLst>
        </c:ser>
        <c:dLbls>
          <c:dLblPos val="outEnd"/>
          <c:showLegendKey val="0"/>
          <c:showVal val="1"/>
          <c:showCatName val="0"/>
          <c:showSerName val="0"/>
          <c:showPercent val="0"/>
          <c:showBubbleSize val="0"/>
        </c:dLbls>
        <c:gapWidth val="278"/>
        <c:overlap val="-55"/>
        <c:axId val="-1266873024"/>
        <c:axId val="-1266863232"/>
      </c:barChart>
      <c:catAx>
        <c:axId val="-1266873024"/>
        <c:scaling>
          <c:orientation val="minMax"/>
        </c:scaling>
        <c:delete val="1"/>
        <c:axPos val="b"/>
        <c:numFmt formatCode="General" sourceLinked="1"/>
        <c:majorTickMark val="none"/>
        <c:minorTickMark val="none"/>
        <c:tickLblPos val="nextTo"/>
        <c:crossAx val="-1266863232"/>
        <c:crosses val="autoZero"/>
        <c:auto val="1"/>
        <c:lblAlgn val="ctr"/>
        <c:lblOffset val="100"/>
        <c:noMultiLvlLbl val="0"/>
      </c:catAx>
      <c:valAx>
        <c:axId val="-1266863232"/>
        <c:scaling>
          <c:orientation val="minMax"/>
          <c:max val="40"/>
        </c:scaling>
        <c:delete val="0"/>
        <c:axPos val="l"/>
        <c:majorGridlines>
          <c:spPr>
            <a:ln w="12700" cap="rnd" cmpd="sng" algn="ctr">
              <a:solidFill>
                <a:schemeClr val="bg1">
                  <a:lumMod val="75000"/>
                  <a:alpha val="35000"/>
                </a:schemeClr>
              </a:solidFill>
              <a:prstDash val="sys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lumMod val="50000"/>
                  </a:schemeClr>
                </a:solidFill>
                <a:latin typeface="Century Gothic" panose="020B0502020202020204" pitchFamily="34" charset="0"/>
                <a:ea typeface="+mn-ea"/>
                <a:cs typeface="+mn-cs"/>
              </a:defRPr>
            </a:pPr>
            <a:endParaRPr lang="zh-CN"/>
          </a:p>
        </c:txPr>
        <c:crossAx val="-1266873024"/>
        <c:crosses val="autoZero"/>
        <c:crossBetween val="between"/>
        <c:majorUnit val="20"/>
      </c:valAx>
      <c:spPr>
        <a:noFill/>
        <a:ln>
          <a:noFill/>
        </a:ln>
        <a:effectLst/>
      </c:spPr>
    </c:plotArea>
    <c:legend>
      <c:legendPos val="t"/>
      <c:layout>
        <c:manualLayout>
          <c:xMode val="edge"/>
          <c:yMode val="edge"/>
          <c:x val="0.50408668400540346"/>
          <c:y val="4.7504880550972461E-2"/>
          <c:w val="0.44572750984721266"/>
          <c:h val="0.10773774781275229"/>
        </c:manualLayout>
      </c:layout>
      <c:overlay val="0"/>
      <c:txPr>
        <a:bodyPr/>
        <a:lstStyle/>
        <a:p>
          <a:pPr>
            <a:defRPr sz="800" i="1">
              <a:solidFill>
                <a:schemeClr val="bg1"/>
              </a:solidFill>
            </a:defRPr>
          </a:pPr>
          <a:endParaRPr lang="zh-CN"/>
        </a:p>
      </c:txPr>
    </c:legend>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9050" cap="rnd">
              <a:solidFill>
                <a:srgbClr val="2DC5FF"/>
              </a:solidFill>
              <a:round/>
            </a:ln>
            <a:effectLst/>
          </c:spPr>
          <c:marker>
            <c:symbol val="circle"/>
            <c:size val="5"/>
            <c:spPr>
              <a:solidFill>
                <a:srgbClr val="2DC5FF"/>
              </a:solidFill>
              <a:ln w="9525">
                <a:noFill/>
              </a:ln>
              <a:effectLst/>
            </c:spPr>
          </c:marker>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c:v>
                </c:pt>
                <c:pt idx="1">
                  <c:v>5</c:v>
                </c:pt>
                <c:pt idx="2">
                  <c:v>5</c:v>
                </c:pt>
                <c:pt idx="3">
                  <c:v>3</c:v>
                </c:pt>
                <c:pt idx="4">
                  <c:v>6</c:v>
                </c:pt>
              </c:numCache>
            </c:numRef>
          </c:val>
          <c:smooth val="0"/>
          <c:extLst>
            <c:ext xmlns:c16="http://schemas.microsoft.com/office/drawing/2014/chart" uri="{C3380CC4-5D6E-409C-BE32-E72D297353CC}">
              <c16:uniqueId val="{00000000-1999-3243-A27F-5D1C266C55E6}"/>
            </c:ext>
          </c:extLst>
        </c:ser>
        <c:dLbls>
          <c:showLegendKey val="0"/>
          <c:showVal val="0"/>
          <c:showCatName val="0"/>
          <c:showSerName val="0"/>
          <c:showPercent val="0"/>
          <c:showBubbleSize val="0"/>
        </c:dLbls>
        <c:marker val="1"/>
        <c:smooth val="0"/>
        <c:axId val="1030069160"/>
        <c:axId val="1030074080"/>
      </c:lineChart>
      <c:catAx>
        <c:axId val="1030069160"/>
        <c:scaling>
          <c:orientation val="minMax"/>
        </c:scaling>
        <c:delete val="1"/>
        <c:axPos val="b"/>
        <c:numFmt formatCode="General" sourceLinked="1"/>
        <c:majorTickMark val="none"/>
        <c:minorTickMark val="none"/>
        <c:tickLblPos val="nextTo"/>
        <c:crossAx val="1030074080"/>
        <c:crosses val="autoZero"/>
        <c:auto val="1"/>
        <c:lblAlgn val="ctr"/>
        <c:lblOffset val="100"/>
        <c:noMultiLvlLbl val="0"/>
      </c:catAx>
      <c:valAx>
        <c:axId val="1030074080"/>
        <c:scaling>
          <c:orientation val="minMax"/>
        </c:scaling>
        <c:delete val="1"/>
        <c:axPos val="l"/>
        <c:numFmt formatCode="General" sourceLinked="1"/>
        <c:majorTickMark val="none"/>
        <c:minorTickMark val="none"/>
        <c:tickLblPos val="nextTo"/>
        <c:crossAx val="1030069160"/>
        <c:crosses val="autoZero"/>
        <c:crossBetween val="between"/>
        <c:majorUnit val="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9050" cap="rnd">
              <a:solidFill>
                <a:srgbClr val="2DC5FF"/>
              </a:solidFill>
              <a:round/>
            </a:ln>
            <a:effectLst/>
          </c:spPr>
          <c:marker>
            <c:symbol val="circle"/>
            <c:size val="5"/>
            <c:spPr>
              <a:solidFill>
                <a:srgbClr val="2DC5FF"/>
              </a:solidFill>
              <a:ln w="9525">
                <a:noFill/>
              </a:ln>
              <a:effectLst/>
            </c:spPr>
          </c:marker>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c:v>
                </c:pt>
                <c:pt idx="1">
                  <c:v>5</c:v>
                </c:pt>
                <c:pt idx="2">
                  <c:v>5</c:v>
                </c:pt>
                <c:pt idx="3">
                  <c:v>3</c:v>
                </c:pt>
                <c:pt idx="4">
                  <c:v>6</c:v>
                </c:pt>
              </c:numCache>
            </c:numRef>
          </c:val>
          <c:smooth val="0"/>
          <c:extLst>
            <c:ext xmlns:c16="http://schemas.microsoft.com/office/drawing/2014/chart" uri="{C3380CC4-5D6E-409C-BE32-E72D297353CC}">
              <c16:uniqueId val="{00000000-5F20-E949-AB2B-23F86F680636}"/>
            </c:ext>
          </c:extLst>
        </c:ser>
        <c:dLbls>
          <c:showLegendKey val="0"/>
          <c:showVal val="0"/>
          <c:showCatName val="0"/>
          <c:showSerName val="0"/>
          <c:showPercent val="0"/>
          <c:showBubbleSize val="0"/>
        </c:dLbls>
        <c:marker val="1"/>
        <c:smooth val="0"/>
        <c:axId val="1030069160"/>
        <c:axId val="1030074080"/>
      </c:lineChart>
      <c:catAx>
        <c:axId val="1030069160"/>
        <c:scaling>
          <c:orientation val="minMax"/>
        </c:scaling>
        <c:delete val="1"/>
        <c:axPos val="b"/>
        <c:numFmt formatCode="General" sourceLinked="1"/>
        <c:majorTickMark val="none"/>
        <c:minorTickMark val="none"/>
        <c:tickLblPos val="nextTo"/>
        <c:crossAx val="1030074080"/>
        <c:crosses val="autoZero"/>
        <c:auto val="1"/>
        <c:lblAlgn val="ctr"/>
        <c:lblOffset val="100"/>
        <c:noMultiLvlLbl val="0"/>
      </c:catAx>
      <c:valAx>
        <c:axId val="1030074080"/>
        <c:scaling>
          <c:orientation val="minMax"/>
        </c:scaling>
        <c:delete val="1"/>
        <c:axPos val="l"/>
        <c:numFmt formatCode="General" sourceLinked="1"/>
        <c:majorTickMark val="none"/>
        <c:minorTickMark val="none"/>
        <c:tickLblPos val="nextTo"/>
        <c:crossAx val="1030069160"/>
        <c:crosses val="autoZero"/>
        <c:crossBetween val="between"/>
        <c:majorUnit val="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9050" cap="rnd">
              <a:solidFill>
                <a:srgbClr val="2DC5FF"/>
              </a:solidFill>
              <a:round/>
            </a:ln>
            <a:effectLst/>
          </c:spPr>
          <c:marker>
            <c:symbol val="circle"/>
            <c:size val="5"/>
            <c:spPr>
              <a:solidFill>
                <a:srgbClr val="2DC5FF"/>
              </a:solidFill>
              <a:ln w="9525">
                <a:noFill/>
              </a:ln>
              <a:effectLst/>
            </c:spPr>
          </c:marker>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c:v>
                </c:pt>
                <c:pt idx="1">
                  <c:v>5</c:v>
                </c:pt>
                <c:pt idx="2">
                  <c:v>5</c:v>
                </c:pt>
                <c:pt idx="3">
                  <c:v>3</c:v>
                </c:pt>
                <c:pt idx="4">
                  <c:v>6</c:v>
                </c:pt>
              </c:numCache>
            </c:numRef>
          </c:val>
          <c:smooth val="0"/>
          <c:extLst>
            <c:ext xmlns:c16="http://schemas.microsoft.com/office/drawing/2014/chart" uri="{C3380CC4-5D6E-409C-BE32-E72D297353CC}">
              <c16:uniqueId val="{00000000-EC5E-2B4D-8D59-DA31044198E0}"/>
            </c:ext>
          </c:extLst>
        </c:ser>
        <c:dLbls>
          <c:showLegendKey val="0"/>
          <c:showVal val="0"/>
          <c:showCatName val="0"/>
          <c:showSerName val="0"/>
          <c:showPercent val="0"/>
          <c:showBubbleSize val="0"/>
        </c:dLbls>
        <c:marker val="1"/>
        <c:smooth val="0"/>
        <c:axId val="1030069160"/>
        <c:axId val="1030074080"/>
      </c:lineChart>
      <c:catAx>
        <c:axId val="1030069160"/>
        <c:scaling>
          <c:orientation val="minMax"/>
        </c:scaling>
        <c:delete val="1"/>
        <c:axPos val="b"/>
        <c:numFmt formatCode="General" sourceLinked="1"/>
        <c:majorTickMark val="none"/>
        <c:minorTickMark val="none"/>
        <c:tickLblPos val="nextTo"/>
        <c:crossAx val="1030074080"/>
        <c:crosses val="autoZero"/>
        <c:auto val="1"/>
        <c:lblAlgn val="ctr"/>
        <c:lblOffset val="100"/>
        <c:noMultiLvlLbl val="0"/>
      </c:catAx>
      <c:valAx>
        <c:axId val="1030074080"/>
        <c:scaling>
          <c:orientation val="minMax"/>
        </c:scaling>
        <c:delete val="1"/>
        <c:axPos val="l"/>
        <c:numFmt formatCode="General" sourceLinked="1"/>
        <c:majorTickMark val="none"/>
        <c:minorTickMark val="none"/>
        <c:tickLblPos val="nextTo"/>
        <c:crossAx val="1030069160"/>
        <c:crosses val="autoZero"/>
        <c:crossBetween val="between"/>
        <c:majorUnit val="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9050" cap="rnd">
              <a:solidFill>
                <a:srgbClr val="2DC5FF"/>
              </a:solidFill>
              <a:round/>
            </a:ln>
            <a:effectLst/>
          </c:spPr>
          <c:marker>
            <c:symbol val="circle"/>
            <c:size val="5"/>
            <c:spPr>
              <a:solidFill>
                <a:srgbClr val="2DC5FF"/>
              </a:solidFill>
              <a:ln w="9525">
                <a:noFill/>
              </a:ln>
              <a:effectLst/>
            </c:spPr>
          </c:marker>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c:v>
                </c:pt>
                <c:pt idx="1">
                  <c:v>5</c:v>
                </c:pt>
                <c:pt idx="2">
                  <c:v>5</c:v>
                </c:pt>
                <c:pt idx="3">
                  <c:v>3</c:v>
                </c:pt>
                <c:pt idx="4">
                  <c:v>6</c:v>
                </c:pt>
              </c:numCache>
            </c:numRef>
          </c:val>
          <c:smooth val="0"/>
          <c:extLst>
            <c:ext xmlns:c16="http://schemas.microsoft.com/office/drawing/2014/chart" uri="{C3380CC4-5D6E-409C-BE32-E72D297353CC}">
              <c16:uniqueId val="{00000000-8FBB-6F43-9244-7E7918F2216C}"/>
            </c:ext>
          </c:extLst>
        </c:ser>
        <c:dLbls>
          <c:showLegendKey val="0"/>
          <c:showVal val="0"/>
          <c:showCatName val="0"/>
          <c:showSerName val="0"/>
          <c:showPercent val="0"/>
          <c:showBubbleSize val="0"/>
        </c:dLbls>
        <c:marker val="1"/>
        <c:smooth val="0"/>
        <c:axId val="1030069160"/>
        <c:axId val="1030074080"/>
      </c:lineChart>
      <c:catAx>
        <c:axId val="1030069160"/>
        <c:scaling>
          <c:orientation val="minMax"/>
        </c:scaling>
        <c:delete val="1"/>
        <c:axPos val="b"/>
        <c:numFmt formatCode="General" sourceLinked="1"/>
        <c:majorTickMark val="none"/>
        <c:minorTickMark val="none"/>
        <c:tickLblPos val="nextTo"/>
        <c:crossAx val="1030074080"/>
        <c:crosses val="autoZero"/>
        <c:auto val="1"/>
        <c:lblAlgn val="ctr"/>
        <c:lblOffset val="100"/>
        <c:noMultiLvlLbl val="0"/>
      </c:catAx>
      <c:valAx>
        <c:axId val="1030074080"/>
        <c:scaling>
          <c:orientation val="minMax"/>
        </c:scaling>
        <c:delete val="1"/>
        <c:axPos val="l"/>
        <c:numFmt formatCode="General" sourceLinked="1"/>
        <c:majorTickMark val="none"/>
        <c:minorTickMark val="none"/>
        <c:tickLblPos val="nextTo"/>
        <c:crossAx val="1030069160"/>
        <c:crosses val="autoZero"/>
        <c:crossBetween val="between"/>
        <c:majorUnit val="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9050" cap="rnd">
              <a:solidFill>
                <a:schemeClr val="bg1">
                  <a:lumMod val="65000"/>
                </a:schemeClr>
              </a:solidFill>
              <a:round/>
            </a:ln>
            <a:effectLst/>
          </c:spPr>
          <c:marker>
            <c:symbol val="circle"/>
            <c:size val="5"/>
            <c:spPr>
              <a:solidFill>
                <a:schemeClr val="bg1">
                  <a:lumMod val="65000"/>
                </a:schemeClr>
              </a:solidFill>
              <a:ln w="9525">
                <a:noFill/>
              </a:ln>
              <a:effectLst/>
            </c:spPr>
          </c:marker>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c:v>
                </c:pt>
                <c:pt idx="1">
                  <c:v>5</c:v>
                </c:pt>
                <c:pt idx="2">
                  <c:v>5</c:v>
                </c:pt>
                <c:pt idx="3">
                  <c:v>3</c:v>
                </c:pt>
                <c:pt idx="4">
                  <c:v>6</c:v>
                </c:pt>
              </c:numCache>
            </c:numRef>
          </c:val>
          <c:smooth val="0"/>
          <c:extLst>
            <c:ext xmlns:c16="http://schemas.microsoft.com/office/drawing/2014/chart" uri="{C3380CC4-5D6E-409C-BE32-E72D297353CC}">
              <c16:uniqueId val="{00000000-A9DF-414A-BC0C-E6B83BDE674B}"/>
            </c:ext>
          </c:extLst>
        </c:ser>
        <c:dLbls>
          <c:showLegendKey val="0"/>
          <c:showVal val="0"/>
          <c:showCatName val="0"/>
          <c:showSerName val="0"/>
          <c:showPercent val="0"/>
          <c:showBubbleSize val="0"/>
        </c:dLbls>
        <c:marker val="1"/>
        <c:smooth val="0"/>
        <c:axId val="1030069160"/>
        <c:axId val="1030074080"/>
      </c:lineChart>
      <c:catAx>
        <c:axId val="1030069160"/>
        <c:scaling>
          <c:orientation val="minMax"/>
        </c:scaling>
        <c:delete val="1"/>
        <c:axPos val="b"/>
        <c:numFmt formatCode="General" sourceLinked="1"/>
        <c:majorTickMark val="none"/>
        <c:minorTickMark val="none"/>
        <c:tickLblPos val="nextTo"/>
        <c:crossAx val="1030074080"/>
        <c:crosses val="autoZero"/>
        <c:auto val="1"/>
        <c:lblAlgn val="ctr"/>
        <c:lblOffset val="100"/>
        <c:noMultiLvlLbl val="0"/>
      </c:catAx>
      <c:valAx>
        <c:axId val="1030074080"/>
        <c:scaling>
          <c:orientation val="minMax"/>
        </c:scaling>
        <c:delete val="1"/>
        <c:axPos val="l"/>
        <c:numFmt formatCode="General" sourceLinked="1"/>
        <c:majorTickMark val="none"/>
        <c:minorTickMark val="none"/>
        <c:tickLblPos val="nextTo"/>
        <c:crossAx val="1030069160"/>
        <c:crosses val="autoZero"/>
        <c:crossBetween val="between"/>
        <c:majorUnit val="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9050" cap="rnd">
              <a:solidFill>
                <a:schemeClr val="bg1">
                  <a:lumMod val="65000"/>
                </a:schemeClr>
              </a:solidFill>
              <a:round/>
            </a:ln>
            <a:effectLst/>
          </c:spPr>
          <c:marker>
            <c:symbol val="circle"/>
            <c:size val="5"/>
            <c:spPr>
              <a:solidFill>
                <a:schemeClr val="bg1">
                  <a:lumMod val="65000"/>
                </a:schemeClr>
              </a:solidFill>
              <a:ln w="9525">
                <a:noFill/>
              </a:ln>
              <a:effectLst/>
            </c:spPr>
          </c:marker>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c:v>
                </c:pt>
                <c:pt idx="1">
                  <c:v>5</c:v>
                </c:pt>
                <c:pt idx="2">
                  <c:v>5</c:v>
                </c:pt>
                <c:pt idx="3">
                  <c:v>3</c:v>
                </c:pt>
                <c:pt idx="4">
                  <c:v>6</c:v>
                </c:pt>
              </c:numCache>
            </c:numRef>
          </c:val>
          <c:smooth val="0"/>
          <c:extLst>
            <c:ext xmlns:c16="http://schemas.microsoft.com/office/drawing/2014/chart" uri="{C3380CC4-5D6E-409C-BE32-E72D297353CC}">
              <c16:uniqueId val="{00000000-08B7-D342-840D-B83B33BE5897}"/>
            </c:ext>
          </c:extLst>
        </c:ser>
        <c:dLbls>
          <c:showLegendKey val="0"/>
          <c:showVal val="0"/>
          <c:showCatName val="0"/>
          <c:showSerName val="0"/>
          <c:showPercent val="0"/>
          <c:showBubbleSize val="0"/>
        </c:dLbls>
        <c:marker val="1"/>
        <c:smooth val="0"/>
        <c:axId val="1030069160"/>
        <c:axId val="1030074080"/>
      </c:lineChart>
      <c:catAx>
        <c:axId val="1030069160"/>
        <c:scaling>
          <c:orientation val="minMax"/>
        </c:scaling>
        <c:delete val="1"/>
        <c:axPos val="b"/>
        <c:numFmt formatCode="General" sourceLinked="1"/>
        <c:majorTickMark val="none"/>
        <c:minorTickMark val="none"/>
        <c:tickLblPos val="nextTo"/>
        <c:crossAx val="1030074080"/>
        <c:crosses val="autoZero"/>
        <c:auto val="1"/>
        <c:lblAlgn val="ctr"/>
        <c:lblOffset val="100"/>
        <c:noMultiLvlLbl val="0"/>
      </c:catAx>
      <c:valAx>
        <c:axId val="1030074080"/>
        <c:scaling>
          <c:orientation val="minMax"/>
        </c:scaling>
        <c:delete val="1"/>
        <c:axPos val="l"/>
        <c:numFmt formatCode="General" sourceLinked="1"/>
        <c:majorTickMark val="none"/>
        <c:minorTickMark val="none"/>
        <c:tickLblPos val="nextTo"/>
        <c:crossAx val="1030069160"/>
        <c:crosses val="autoZero"/>
        <c:crossBetween val="between"/>
        <c:majorUnit val="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9050" cap="rnd">
              <a:solidFill>
                <a:schemeClr val="bg1">
                  <a:lumMod val="65000"/>
                </a:schemeClr>
              </a:solidFill>
              <a:round/>
            </a:ln>
            <a:effectLst/>
          </c:spPr>
          <c:marker>
            <c:symbol val="circle"/>
            <c:size val="5"/>
            <c:spPr>
              <a:solidFill>
                <a:schemeClr val="bg1">
                  <a:lumMod val="65000"/>
                </a:schemeClr>
              </a:solidFill>
              <a:ln w="9525">
                <a:noFill/>
              </a:ln>
              <a:effectLst/>
            </c:spPr>
          </c:marker>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c:v>
                </c:pt>
                <c:pt idx="1">
                  <c:v>5</c:v>
                </c:pt>
                <c:pt idx="2">
                  <c:v>5</c:v>
                </c:pt>
                <c:pt idx="3">
                  <c:v>3</c:v>
                </c:pt>
                <c:pt idx="4">
                  <c:v>6</c:v>
                </c:pt>
              </c:numCache>
            </c:numRef>
          </c:val>
          <c:smooth val="0"/>
          <c:extLst>
            <c:ext xmlns:c16="http://schemas.microsoft.com/office/drawing/2014/chart" uri="{C3380CC4-5D6E-409C-BE32-E72D297353CC}">
              <c16:uniqueId val="{00000000-ABAA-5D4D-97DA-E8C05AEAAE47}"/>
            </c:ext>
          </c:extLst>
        </c:ser>
        <c:dLbls>
          <c:showLegendKey val="0"/>
          <c:showVal val="0"/>
          <c:showCatName val="0"/>
          <c:showSerName val="0"/>
          <c:showPercent val="0"/>
          <c:showBubbleSize val="0"/>
        </c:dLbls>
        <c:marker val="1"/>
        <c:smooth val="0"/>
        <c:axId val="1030069160"/>
        <c:axId val="1030074080"/>
      </c:lineChart>
      <c:catAx>
        <c:axId val="1030069160"/>
        <c:scaling>
          <c:orientation val="minMax"/>
        </c:scaling>
        <c:delete val="1"/>
        <c:axPos val="b"/>
        <c:numFmt formatCode="General" sourceLinked="1"/>
        <c:majorTickMark val="none"/>
        <c:minorTickMark val="none"/>
        <c:tickLblPos val="nextTo"/>
        <c:crossAx val="1030074080"/>
        <c:crosses val="autoZero"/>
        <c:auto val="1"/>
        <c:lblAlgn val="ctr"/>
        <c:lblOffset val="100"/>
        <c:noMultiLvlLbl val="0"/>
      </c:catAx>
      <c:valAx>
        <c:axId val="1030074080"/>
        <c:scaling>
          <c:orientation val="minMax"/>
        </c:scaling>
        <c:delete val="1"/>
        <c:axPos val="l"/>
        <c:numFmt formatCode="General" sourceLinked="1"/>
        <c:majorTickMark val="none"/>
        <c:minorTickMark val="none"/>
        <c:tickLblPos val="nextTo"/>
        <c:crossAx val="1030069160"/>
        <c:crosses val="autoZero"/>
        <c:crossBetween val="between"/>
        <c:majorUnit val="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19050" cap="rnd">
              <a:solidFill>
                <a:schemeClr val="bg1">
                  <a:lumMod val="65000"/>
                </a:schemeClr>
              </a:solidFill>
              <a:round/>
            </a:ln>
            <a:effectLst/>
          </c:spPr>
          <c:marker>
            <c:symbol val="circle"/>
            <c:size val="5"/>
            <c:spPr>
              <a:solidFill>
                <a:schemeClr val="bg1">
                  <a:lumMod val="65000"/>
                </a:schemeClr>
              </a:solidFill>
              <a:ln w="9525">
                <a:noFill/>
              </a:ln>
              <a:effectLst/>
            </c:spPr>
          </c:marker>
          <c:cat>
            <c:strRef>
              <c:f>Sheet1!$A$2:$A$6</c:f>
              <c:strCache>
                <c:ptCount val="5"/>
                <c:pt idx="0">
                  <c:v>Category 1</c:v>
                </c:pt>
                <c:pt idx="1">
                  <c:v>Category 2</c:v>
                </c:pt>
                <c:pt idx="2">
                  <c:v>Category 3</c:v>
                </c:pt>
                <c:pt idx="3">
                  <c:v>Category 4</c:v>
                </c:pt>
                <c:pt idx="4">
                  <c:v>Category 5</c:v>
                </c:pt>
              </c:strCache>
            </c:strRef>
          </c:cat>
          <c:val>
            <c:numRef>
              <c:f>Sheet1!$B$2:$B$6</c:f>
              <c:numCache>
                <c:formatCode>General</c:formatCode>
                <c:ptCount val="5"/>
                <c:pt idx="0">
                  <c:v>4</c:v>
                </c:pt>
                <c:pt idx="1">
                  <c:v>5</c:v>
                </c:pt>
                <c:pt idx="2">
                  <c:v>5</c:v>
                </c:pt>
                <c:pt idx="3">
                  <c:v>3</c:v>
                </c:pt>
                <c:pt idx="4">
                  <c:v>6</c:v>
                </c:pt>
              </c:numCache>
            </c:numRef>
          </c:val>
          <c:smooth val="0"/>
          <c:extLst>
            <c:ext xmlns:c16="http://schemas.microsoft.com/office/drawing/2014/chart" uri="{C3380CC4-5D6E-409C-BE32-E72D297353CC}">
              <c16:uniqueId val="{00000000-9DEF-A44C-88F6-224A6BD6C43C}"/>
            </c:ext>
          </c:extLst>
        </c:ser>
        <c:dLbls>
          <c:showLegendKey val="0"/>
          <c:showVal val="0"/>
          <c:showCatName val="0"/>
          <c:showSerName val="0"/>
          <c:showPercent val="0"/>
          <c:showBubbleSize val="0"/>
        </c:dLbls>
        <c:marker val="1"/>
        <c:smooth val="0"/>
        <c:axId val="1030069160"/>
        <c:axId val="1030074080"/>
      </c:lineChart>
      <c:catAx>
        <c:axId val="1030069160"/>
        <c:scaling>
          <c:orientation val="minMax"/>
        </c:scaling>
        <c:delete val="1"/>
        <c:axPos val="b"/>
        <c:numFmt formatCode="General" sourceLinked="1"/>
        <c:majorTickMark val="none"/>
        <c:minorTickMark val="none"/>
        <c:tickLblPos val="nextTo"/>
        <c:crossAx val="1030074080"/>
        <c:crosses val="autoZero"/>
        <c:auto val="1"/>
        <c:lblAlgn val="ctr"/>
        <c:lblOffset val="100"/>
        <c:noMultiLvlLbl val="0"/>
      </c:catAx>
      <c:valAx>
        <c:axId val="1030074080"/>
        <c:scaling>
          <c:orientation val="minMax"/>
        </c:scaling>
        <c:delete val="1"/>
        <c:axPos val="l"/>
        <c:numFmt formatCode="General" sourceLinked="1"/>
        <c:majorTickMark val="none"/>
        <c:minorTickMark val="none"/>
        <c:tickLblPos val="nextTo"/>
        <c:crossAx val="1030069160"/>
        <c:crosses val="autoZero"/>
        <c:crossBetween val="between"/>
        <c:majorUnit val="2"/>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3322220811108288E-2"/>
          <c:y val="0.1883554199265226"/>
          <c:w val="0.93928530607061211"/>
          <c:h val="0.70212755345276989"/>
        </c:manualLayout>
      </c:layout>
      <c:lineChart>
        <c:grouping val="standard"/>
        <c:varyColors val="0"/>
        <c:ser>
          <c:idx val="1"/>
          <c:order val="0"/>
          <c:tx>
            <c:strRef>
              <c:f>Sheet1!$B$1</c:f>
              <c:strCache>
                <c:ptCount val="1"/>
                <c:pt idx="0">
                  <c:v>Control 181.8</c:v>
                </c:pt>
              </c:strCache>
            </c:strRef>
          </c:tx>
          <c:spPr>
            <a:ln w="38100" cap="rnd">
              <a:gradFill flip="none" rotWithShape="1">
                <a:gsLst>
                  <a:gs pos="0">
                    <a:srgbClr val="2DC5FF"/>
                  </a:gs>
                  <a:gs pos="100000">
                    <a:srgbClr val="5F72F8"/>
                  </a:gs>
                </a:gsLst>
                <a:lin ang="0" scaled="1"/>
                <a:tileRect/>
              </a:gradFill>
              <a:round/>
            </a:ln>
            <a:effectLst/>
          </c:spPr>
          <c:marker>
            <c:symbol val="circle"/>
            <c:size val="8"/>
            <c:spPr>
              <a:solidFill>
                <a:srgbClr val="EFEFEF"/>
              </a:solidFill>
              <a:ln w="38100">
                <a:solidFill>
                  <a:srgbClr val="2DC5FF"/>
                </a:solidFill>
              </a:ln>
            </c:spPr>
          </c:marker>
          <c:dPt>
            <c:idx val="4"/>
            <c:marker>
              <c:spPr>
                <a:solidFill>
                  <a:srgbClr val="EFEFEF"/>
                </a:solidFill>
                <a:ln w="38100">
                  <a:solidFill>
                    <a:srgbClr val="52ABFD"/>
                  </a:solidFill>
                </a:ln>
              </c:spPr>
            </c:marker>
            <c:bubble3D val="0"/>
            <c:extLst>
              <c:ext xmlns:c16="http://schemas.microsoft.com/office/drawing/2014/chart" uri="{C3380CC4-5D6E-409C-BE32-E72D297353CC}">
                <c16:uniqueId val="{00000000-D9B8-504B-B570-90ADEFD2BE90}"/>
              </c:ext>
            </c:extLst>
          </c:dPt>
          <c:dPt>
            <c:idx val="5"/>
            <c:marker>
              <c:spPr>
                <a:solidFill>
                  <a:srgbClr val="EFEFEF"/>
                </a:solidFill>
                <a:ln w="38100">
                  <a:solidFill>
                    <a:srgbClr val="599DFD"/>
                  </a:solidFill>
                </a:ln>
              </c:spPr>
            </c:marker>
            <c:bubble3D val="0"/>
            <c:extLst>
              <c:ext xmlns:c16="http://schemas.microsoft.com/office/drawing/2014/chart" uri="{C3380CC4-5D6E-409C-BE32-E72D297353CC}">
                <c16:uniqueId val="{00000001-D9B8-504B-B570-90ADEFD2BE90}"/>
              </c:ext>
            </c:extLst>
          </c:dPt>
          <c:dPt>
            <c:idx val="6"/>
            <c:marker>
              <c:spPr>
                <a:solidFill>
                  <a:srgbClr val="EFEFEF"/>
                </a:solidFill>
                <a:ln w="38100">
                  <a:solidFill>
                    <a:srgbClr val="5F72F8"/>
                  </a:solidFill>
                </a:ln>
              </c:spPr>
            </c:marker>
            <c:bubble3D val="0"/>
            <c:extLst>
              <c:ext xmlns:c16="http://schemas.microsoft.com/office/drawing/2014/chart" uri="{C3380CC4-5D6E-409C-BE32-E72D297353CC}">
                <c16:uniqueId val="{00000002-D9B8-504B-B570-90ADEFD2BE90}"/>
              </c:ext>
            </c:extLst>
          </c:dPt>
          <c:dPt>
            <c:idx val="7"/>
            <c:marker>
              <c:spPr>
                <a:solidFill>
                  <a:srgbClr val="EFEFEF"/>
                </a:solidFill>
                <a:ln w="38100">
                  <a:solidFill>
                    <a:srgbClr val="5F72F8"/>
                  </a:solidFill>
                </a:ln>
              </c:spPr>
            </c:marker>
            <c:bubble3D val="0"/>
            <c:extLst>
              <c:ext xmlns:c16="http://schemas.microsoft.com/office/drawing/2014/chart" uri="{C3380CC4-5D6E-409C-BE32-E72D297353CC}">
                <c16:uniqueId val="{00000003-D9B8-504B-B570-90ADEFD2BE90}"/>
              </c:ext>
            </c:extLst>
          </c:dPt>
          <c:cat>
            <c:numRef>
              <c:f>Sheet1!$A$2:$A$9</c:f>
              <c:numCache>
                <c:formatCode>mmm\-yy</c:formatCode>
                <c:ptCount val="8"/>
                <c:pt idx="0">
                  <c:v>37316</c:v>
                </c:pt>
                <c:pt idx="1">
                  <c:v>38047</c:v>
                </c:pt>
                <c:pt idx="2">
                  <c:v>38777</c:v>
                </c:pt>
                <c:pt idx="3">
                  <c:v>39508</c:v>
                </c:pt>
                <c:pt idx="4">
                  <c:v>40238</c:v>
                </c:pt>
                <c:pt idx="5">
                  <c:v>40969</c:v>
                </c:pt>
                <c:pt idx="6">
                  <c:v>41699</c:v>
                </c:pt>
                <c:pt idx="7">
                  <c:v>42430</c:v>
                </c:pt>
              </c:numCache>
            </c:numRef>
          </c:cat>
          <c:val>
            <c:numRef>
              <c:f>Sheet1!$B$2:$B$9</c:f>
              <c:numCache>
                <c:formatCode>General</c:formatCode>
                <c:ptCount val="8"/>
                <c:pt idx="0">
                  <c:v>5</c:v>
                </c:pt>
                <c:pt idx="1">
                  <c:v>20</c:v>
                </c:pt>
                <c:pt idx="2">
                  <c:v>25</c:v>
                </c:pt>
                <c:pt idx="3">
                  <c:v>40</c:v>
                </c:pt>
                <c:pt idx="4">
                  <c:v>60</c:v>
                </c:pt>
                <c:pt idx="5">
                  <c:v>30</c:v>
                </c:pt>
                <c:pt idx="6">
                  <c:v>70</c:v>
                </c:pt>
                <c:pt idx="7">
                  <c:v>20</c:v>
                </c:pt>
              </c:numCache>
            </c:numRef>
          </c:val>
          <c:smooth val="0"/>
          <c:extLst>
            <c:ext xmlns:c16="http://schemas.microsoft.com/office/drawing/2014/chart" uri="{C3380CC4-5D6E-409C-BE32-E72D297353CC}">
              <c16:uniqueId val="{00000004-D9B8-504B-B570-90ADEFD2BE90}"/>
            </c:ext>
          </c:extLst>
        </c:ser>
        <c:ser>
          <c:idx val="2"/>
          <c:order val="1"/>
          <c:tx>
            <c:strRef>
              <c:f>Sheet1!$C$1</c:f>
              <c:strCache>
                <c:ptCount val="1"/>
                <c:pt idx="0">
                  <c:v>Enable New Content</c:v>
                </c:pt>
              </c:strCache>
            </c:strRef>
          </c:tx>
          <c:spPr>
            <a:ln w="38100" cap="rnd">
              <a:solidFill>
                <a:schemeClr val="bg1">
                  <a:lumMod val="65000"/>
                </a:schemeClr>
              </a:solidFill>
              <a:round/>
            </a:ln>
            <a:effectLst/>
          </c:spPr>
          <c:marker>
            <c:symbol val="circle"/>
            <c:size val="8"/>
            <c:spPr>
              <a:solidFill>
                <a:srgbClr val="EFEFEF"/>
              </a:solidFill>
              <a:ln w="38100">
                <a:solidFill>
                  <a:schemeClr val="bg1">
                    <a:lumMod val="65000"/>
                  </a:schemeClr>
                </a:solidFill>
              </a:ln>
            </c:spPr>
          </c:marker>
          <c:cat>
            <c:numRef>
              <c:f>Sheet1!$A$2:$A$9</c:f>
              <c:numCache>
                <c:formatCode>mmm\-yy</c:formatCode>
                <c:ptCount val="8"/>
                <c:pt idx="0">
                  <c:v>37316</c:v>
                </c:pt>
                <c:pt idx="1">
                  <c:v>38047</c:v>
                </c:pt>
                <c:pt idx="2">
                  <c:v>38777</c:v>
                </c:pt>
                <c:pt idx="3">
                  <c:v>39508</c:v>
                </c:pt>
                <c:pt idx="4">
                  <c:v>40238</c:v>
                </c:pt>
                <c:pt idx="5">
                  <c:v>40969</c:v>
                </c:pt>
                <c:pt idx="6">
                  <c:v>41699</c:v>
                </c:pt>
                <c:pt idx="7">
                  <c:v>42430</c:v>
                </c:pt>
              </c:numCache>
            </c:numRef>
          </c:cat>
          <c:val>
            <c:numRef>
              <c:f>Sheet1!$C$2:$C$9</c:f>
              <c:numCache>
                <c:formatCode>General</c:formatCode>
                <c:ptCount val="8"/>
                <c:pt idx="0">
                  <c:v>50</c:v>
                </c:pt>
                <c:pt idx="1">
                  <c:v>30</c:v>
                </c:pt>
                <c:pt idx="2">
                  <c:v>30</c:v>
                </c:pt>
                <c:pt idx="3">
                  <c:v>50</c:v>
                </c:pt>
                <c:pt idx="4">
                  <c:v>70</c:v>
                </c:pt>
                <c:pt idx="5">
                  <c:v>50</c:v>
                </c:pt>
                <c:pt idx="6">
                  <c:v>80</c:v>
                </c:pt>
                <c:pt idx="7">
                  <c:v>85</c:v>
                </c:pt>
              </c:numCache>
            </c:numRef>
          </c:val>
          <c:smooth val="0"/>
          <c:extLst>
            <c:ext xmlns:c16="http://schemas.microsoft.com/office/drawing/2014/chart" uri="{C3380CC4-5D6E-409C-BE32-E72D297353CC}">
              <c16:uniqueId val="{00000005-D9B8-504B-B570-90ADEFD2BE90}"/>
            </c:ext>
          </c:extLst>
        </c:ser>
        <c:dLbls>
          <c:showLegendKey val="0"/>
          <c:showVal val="0"/>
          <c:showCatName val="0"/>
          <c:showSerName val="0"/>
          <c:showPercent val="0"/>
          <c:showBubbleSize val="0"/>
        </c:dLbls>
        <c:marker val="1"/>
        <c:smooth val="0"/>
        <c:axId val="-1266858336"/>
        <c:axId val="-1266845824"/>
      </c:lineChart>
      <c:dateAx>
        <c:axId val="-1266858336"/>
        <c:scaling>
          <c:orientation val="minMax"/>
        </c:scaling>
        <c:delete val="0"/>
        <c:axPos val="b"/>
        <c:numFmt formatCode="mmm\-yy" sourceLinked="1"/>
        <c:majorTickMark val="none"/>
        <c:minorTickMark val="none"/>
        <c:tickLblPos val="nextTo"/>
        <c:spPr>
          <a:noFill/>
          <a:ln w="6350" cap="flat" cmpd="sng" algn="ctr">
            <a:solidFill>
              <a:schemeClr val="tx2">
                <a:lumMod val="75000"/>
                <a:lumOff val="25000"/>
              </a:schemeClr>
            </a:solidFill>
            <a:round/>
          </a:ln>
          <a:effectLst/>
        </c:spPr>
        <c:txPr>
          <a:bodyPr rot="-60000000" spcFirstLastPara="1" vertOverflow="ellipsis" vert="horz" wrap="square" anchor="ctr" anchorCtr="1"/>
          <a:lstStyle/>
          <a:p>
            <a:pPr>
              <a:defRPr sz="600" b="0" i="0" u="none" strike="noStrike" kern="1200" baseline="0">
                <a:solidFill>
                  <a:srgbClr val="2D323D"/>
                </a:solidFill>
                <a:latin typeface="Century Gothic" panose="020B0502020202020204" pitchFamily="34" charset="0"/>
                <a:ea typeface="+mn-ea"/>
                <a:cs typeface="+mn-cs"/>
              </a:defRPr>
            </a:pPr>
            <a:endParaRPr lang="zh-CN"/>
          </a:p>
        </c:txPr>
        <c:crossAx val="-1266845824"/>
        <c:crosses val="autoZero"/>
        <c:auto val="1"/>
        <c:lblOffset val="100"/>
        <c:baseTimeUnit val="years"/>
      </c:dateAx>
      <c:valAx>
        <c:axId val="-1266845824"/>
        <c:scaling>
          <c:orientation val="minMax"/>
          <c:max val="100"/>
        </c:scaling>
        <c:delete val="0"/>
        <c:axPos val="l"/>
        <c:majorGridlines>
          <c:spPr>
            <a:ln w="6350" cap="rnd" cmpd="sng" algn="ctr">
              <a:solidFill>
                <a:schemeClr val="bg1">
                  <a:lumMod val="75000"/>
                </a:schemeClr>
              </a:solidFill>
              <a:prstDash val="sysDash"/>
              <a:round/>
            </a:ln>
            <a:effectLst/>
          </c:spPr>
        </c:majorGridlines>
        <c:numFmt formatCode="General" sourceLinked="1"/>
        <c:majorTickMark val="none"/>
        <c:minorTickMark val="none"/>
        <c:tickLblPos val="nextTo"/>
        <c:spPr>
          <a:noFill/>
          <a:effectLst/>
        </c:spPr>
        <c:txPr>
          <a:bodyPr rot="-60000000" spcFirstLastPara="1" vertOverflow="ellipsis" vert="horz" wrap="square" anchor="ctr" anchorCtr="1"/>
          <a:lstStyle/>
          <a:p>
            <a:pPr>
              <a:defRPr sz="700" b="0" i="0" u="none" strike="noStrike" kern="1200" baseline="0">
                <a:solidFill>
                  <a:srgbClr val="2D323D"/>
                </a:solidFill>
                <a:latin typeface="Century Gothic" panose="020B0502020202020204" pitchFamily="34" charset="0"/>
                <a:ea typeface="+mn-ea"/>
                <a:cs typeface="+mn-cs"/>
              </a:defRPr>
            </a:pPr>
            <a:endParaRPr lang="zh-CN"/>
          </a:p>
        </c:txPr>
        <c:crossAx val="-1266858336"/>
        <c:crosses val="autoZero"/>
        <c:crossBetween val="between"/>
      </c:valAx>
      <c:spPr>
        <a:noFill/>
        <a:ln>
          <a:noFill/>
        </a:ln>
        <a:effectLst/>
      </c:spPr>
    </c:plotArea>
    <c:legend>
      <c:legendPos val="t"/>
      <c:layout>
        <c:manualLayout>
          <c:xMode val="edge"/>
          <c:yMode val="edge"/>
          <c:x val="8.4354845588698879E-2"/>
          <c:y val="6.0704698209741351E-2"/>
          <c:w val="0.76063999933243587"/>
          <c:h val="9.3114065811291308E-2"/>
        </c:manualLayout>
      </c:layout>
      <c:overlay val="0"/>
      <c:txPr>
        <a:bodyPr/>
        <a:lstStyle/>
        <a:p>
          <a:pPr>
            <a:defRPr sz="1200" spc="20" baseline="0">
              <a:solidFill>
                <a:srgbClr val="00B0F0"/>
              </a:solidFill>
            </a:defRPr>
          </a:pPr>
          <a:endParaRPr lang="zh-CN"/>
        </a:p>
      </c:txPr>
    </c:legend>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0546574507740768E-2"/>
          <c:y val="0.12158352369831373"/>
          <c:w val="0.93310131886019387"/>
          <c:h val="0.84434069621797248"/>
        </c:manualLayout>
      </c:layout>
      <c:barChart>
        <c:barDir val="col"/>
        <c:grouping val="clustered"/>
        <c:varyColors val="0"/>
        <c:ser>
          <c:idx val="0"/>
          <c:order val="0"/>
          <c:tx>
            <c:strRef>
              <c:f>Sheet1!$B$1</c:f>
              <c:strCache>
                <c:ptCount val="1"/>
                <c:pt idx="0">
                  <c:v>Sum of Newsletter Sign Ups</c:v>
                </c:pt>
              </c:strCache>
            </c:strRef>
          </c:tx>
          <c:spPr>
            <a:gradFill>
              <a:gsLst>
                <a:gs pos="100000">
                  <a:srgbClr val="2D323D"/>
                </a:gs>
                <a:gs pos="17000">
                  <a:schemeClr val="bg1">
                    <a:lumMod val="75000"/>
                  </a:schemeClr>
                </a:gs>
              </a:gsLst>
              <a:lin ang="5400000" scaled="1"/>
            </a:gradFill>
            <a:ln w="38100">
              <a:noFill/>
            </a:ln>
            <a:effectLst/>
          </c:spPr>
          <c:invertIfNegative val="0"/>
          <c:dLbls>
            <c:spPr>
              <a:noFill/>
              <a:ln>
                <a:noFill/>
              </a:ln>
              <a:effectLst/>
            </c:spPr>
            <c:txPr>
              <a:bodyPr wrap="square" lIns="38100" tIns="19050" rIns="38100" bIns="19050" anchor="ctr">
                <a:spAutoFit/>
              </a:bodyPr>
              <a:lstStyle/>
              <a:p>
                <a:pPr>
                  <a:defRPr sz="800" i="1">
                    <a:solidFill>
                      <a:schemeClr val="bg1">
                        <a:lumMod val="75000"/>
                      </a:schemeClr>
                    </a:solidFill>
                    <a:latin typeface="Century Gothic" panose="020B0502020202020204" pitchFamily="34"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Landing Page 01</c:v>
                </c:pt>
                <c:pt idx="1">
                  <c:v>Landing Page 02</c:v>
                </c:pt>
                <c:pt idx="2">
                  <c:v>Product Video</c:v>
                </c:pt>
                <c:pt idx="3">
                  <c:v>No Product Video</c:v>
                </c:pt>
                <c:pt idx="4">
                  <c:v>Remove Navigation</c:v>
                </c:pt>
                <c:pt idx="5">
                  <c:v>Add Navigation</c:v>
                </c:pt>
                <c:pt idx="6">
                  <c:v>Longer From</c:v>
                </c:pt>
                <c:pt idx="7">
                  <c:v>Shorter Form</c:v>
                </c:pt>
              </c:strCache>
            </c:strRef>
          </c:cat>
          <c:val>
            <c:numRef>
              <c:f>Sheet1!$B$2:$B$9</c:f>
              <c:numCache>
                <c:formatCode>General</c:formatCode>
                <c:ptCount val="8"/>
                <c:pt idx="0">
                  <c:v>65</c:v>
                </c:pt>
                <c:pt idx="1">
                  <c:v>46</c:v>
                </c:pt>
                <c:pt idx="2">
                  <c:v>93</c:v>
                </c:pt>
                <c:pt idx="3">
                  <c:v>66</c:v>
                </c:pt>
                <c:pt idx="4">
                  <c:v>12</c:v>
                </c:pt>
                <c:pt idx="5">
                  <c:v>80</c:v>
                </c:pt>
                <c:pt idx="6">
                  <c:v>60</c:v>
                </c:pt>
                <c:pt idx="7">
                  <c:v>120</c:v>
                </c:pt>
              </c:numCache>
            </c:numRef>
          </c:val>
          <c:extLst>
            <c:ext xmlns:c16="http://schemas.microsoft.com/office/drawing/2014/chart" uri="{C3380CC4-5D6E-409C-BE32-E72D297353CC}">
              <c16:uniqueId val="{00000000-784C-7145-BD5E-573CD62DB5A6}"/>
            </c:ext>
          </c:extLst>
        </c:ser>
        <c:ser>
          <c:idx val="1"/>
          <c:order val="1"/>
          <c:tx>
            <c:strRef>
              <c:f>Sheet1!$C$1</c:f>
              <c:strCache>
                <c:ptCount val="1"/>
                <c:pt idx="0">
                  <c:v> Sum of Amount </c:v>
                </c:pt>
              </c:strCache>
            </c:strRef>
          </c:tx>
          <c:spPr>
            <a:gradFill>
              <a:gsLst>
                <a:gs pos="100000">
                  <a:srgbClr val="5F72F8"/>
                </a:gs>
                <a:gs pos="15000">
                  <a:srgbClr val="2DC5FF"/>
                </a:gs>
              </a:gsLst>
              <a:lin ang="5400000" scaled="1"/>
            </a:gradFill>
            <a:ln w="38100">
              <a:noFill/>
            </a:ln>
            <a:effectLst/>
          </c:spPr>
          <c:invertIfNegative val="0"/>
          <c:dLbls>
            <c:spPr>
              <a:noFill/>
              <a:ln>
                <a:noFill/>
              </a:ln>
              <a:effectLst/>
            </c:spPr>
            <c:txPr>
              <a:bodyPr wrap="square" lIns="38100" tIns="19050" rIns="38100" bIns="19050" anchor="ctr">
                <a:spAutoFit/>
              </a:bodyPr>
              <a:lstStyle/>
              <a:p>
                <a:pPr>
                  <a:defRPr sz="800" b="0" i="1">
                    <a:solidFill>
                      <a:srgbClr val="2DC5FF"/>
                    </a:solidFill>
                    <a:latin typeface="Century Gothic" panose="020B0502020202020204" pitchFamily="34" charset="0"/>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Sheet1!$A$2:$A$9</c:f>
              <c:strCache>
                <c:ptCount val="8"/>
                <c:pt idx="0">
                  <c:v>Landing Page 01</c:v>
                </c:pt>
                <c:pt idx="1">
                  <c:v>Landing Page 02</c:v>
                </c:pt>
                <c:pt idx="2">
                  <c:v>Product Video</c:v>
                </c:pt>
                <c:pt idx="3">
                  <c:v>No Product Video</c:v>
                </c:pt>
                <c:pt idx="4">
                  <c:v>Remove Navigation</c:v>
                </c:pt>
                <c:pt idx="5">
                  <c:v>Add Navigation</c:v>
                </c:pt>
                <c:pt idx="6">
                  <c:v>Longer From</c:v>
                </c:pt>
                <c:pt idx="7">
                  <c:v>Shorter Form</c:v>
                </c:pt>
              </c:strCache>
            </c:strRef>
          </c:cat>
          <c:val>
            <c:numRef>
              <c:f>Sheet1!$C$2:$C$9</c:f>
              <c:numCache>
                <c:formatCode>_([$$-409]* #,##0.00_);_([$$-409]* \(#,##0.00\);_([$$-409]* "-"??_);_(@_)</c:formatCode>
                <c:ptCount val="8"/>
                <c:pt idx="0">
                  <c:v>100</c:v>
                </c:pt>
                <c:pt idx="1">
                  <c:v>140</c:v>
                </c:pt>
                <c:pt idx="2">
                  <c:v>60</c:v>
                </c:pt>
                <c:pt idx="3">
                  <c:v>100</c:v>
                </c:pt>
                <c:pt idx="4">
                  <c:v>150</c:v>
                </c:pt>
                <c:pt idx="5">
                  <c:v>20</c:v>
                </c:pt>
                <c:pt idx="6">
                  <c:v>80</c:v>
                </c:pt>
                <c:pt idx="7">
                  <c:v>96</c:v>
                </c:pt>
              </c:numCache>
            </c:numRef>
          </c:val>
          <c:extLst>
            <c:ext xmlns:c16="http://schemas.microsoft.com/office/drawing/2014/chart" uri="{C3380CC4-5D6E-409C-BE32-E72D297353CC}">
              <c16:uniqueId val="{00000001-784C-7145-BD5E-573CD62DB5A6}"/>
            </c:ext>
          </c:extLst>
        </c:ser>
        <c:dLbls>
          <c:dLblPos val="outEnd"/>
          <c:showLegendKey val="0"/>
          <c:showVal val="1"/>
          <c:showCatName val="0"/>
          <c:showSerName val="0"/>
          <c:showPercent val="0"/>
          <c:showBubbleSize val="0"/>
        </c:dLbls>
        <c:gapWidth val="278"/>
        <c:overlap val="-55"/>
        <c:axId val="-1266873024"/>
        <c:axId val="-1266863232"/>
      </c:barChart>
      <c:catAx>
        <c:axId val="-1266873024"/>
        <c:scaling>
          <c:orientation val="minMax"/>
        </c:scaling>
        <c:delete val="1"/>
        <c:axPos val="b"/>
        <c:majorGridlines>
          <c:spPr>
            <a:ln w="12700" cap="rnd">
              <a:solidFill>
                <a:srgbClr val="60656D">
                  <a:alpha val="35000"/>
                </a:srgbClr>
              </a:solidFill>
              <a:prstDash val="sysDash"/>
            </a:ln>
          </c:spPr>
        </c:majorGridlines>
        <c:numFmt formatCode="General" sourceLinked="1"/>
        <c:majorTickMark val="none"/>
        <c:minorTickMark val="none"/>
        <c:tickLblPos val="nextTo"/>
        <c:crossAx val="-1266863232"/>
        <c:crosses val="autoZero"/>
        <c:auto val="1"/>
        <c:lblAlgn val="ctr"/>
        <c:lblOffset val="100"/>
        <c:noMultiLvlLbl val="0"/>
      </c:catAx>
      <c:valAx>
        <c:axId val="-1266863232"/>
        <c:scaling>
          <c:orientation val="minMax"/>
          <c:max val="160"/>
        </c:scaling>
        <c:delete val="0"/>
        <c:axPos val="l"/>
        <c:majorGridlines>
          <c:spPr>
            <a:ln w="12700" cap="rnd" cmpd="sng" algn="ctr">
              <a:solidFill>
                <a:srgbClr val="60656D">
                  <a:alpha val="35000"/>
                </a:srgbClr>
              </a:solidFill>
              <a:prstDash val="sys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lumMod val="50000"/>
                  </a:schemeClr>
                </a:solidFill>
                <a:latin typeface="Century Gothic" panose="020B0502020202020204" pitchFamily="34" charset="0"/>
                <a:ea typeface="+mn-ea"/>
                <a:cs typeface="+mn-cs"/>
              </a:defRPr>
            </a:pPr>
            <a:endParaRPr lang="zh-CN"/>
          </a:p>
        </c:txPr>
        <c:crossAx val="-1266873024"/>
        <c:crosses val="autoZero"/>
        <c:crossBetween val="between"/>
        <c:majorUnit val="20"/>
      </c:valAx>
      <c:spPr>
        <a:noFill/>
        <a:ln>
          <a:noFill/>
        </a:ln>
        <a:effectLst/>
      </c:spPr>
    </c:plotArea>
    <c:legend>
      <c:legendPos val="t"/>
      <c:layout>
        <c:manualLayout>
          <c:xMode val="edge"/>
          <c:yMode val="edge"/>
          <c:x val="0.33879223568875128"/>
          <c:y val="4.1019355752797769E-2"/>
          <c:w val="0.3224155286224975"/>
          <c:h val="4.5429420976803282E-2"/>
        </c:manualLayout>
      </c:layout>
      <c:overlay val="0"/>
      <c:txPr>
        <a:bodyPr/>
        <a:lstStyle/>
        <a:p>
          <a:pPr>
            <a:defRPr sz="900" i="1">
              <a:solidFill>
                <a:schemeClr val="bg1">
                  <a:lumMod val="85000"/>
                </a:schemeClr>
              </a:solidFill>
            </a:defRPr>
          </a:pPr>
          <a:endParaRPr lang="zh-CN"/>
        </a:p>
      </c:txPr>
    </c:legend>
    <c:plotVisOnly val="1"/>
    <c:dispBlanksAs val="gap"/>
    <c:showDLblsOverMax val="0"/>
  </c:chart>
  <c:spPr>
    <a:noFill/>
    <a:ln>
      <a:noFill/>
    </a:ln>
    <a:effectLst/>
  </c:spPr>
  <c:txPr>
    <a:bodyPr/>
    <a:lstStyle/>
    <a:p>
      <a:pPr>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4FD7E4-BFDD-3447-B2C8-573C71416E34}" type="doc">
      <dgm:prSet loTypeId="urn:microsoft.com/office/officeart/2005/8/layout/cycle4" loCatId="" qsTypeId="urn:microsoft.com/office/officeart/2005/8/quickstyle/simple1" qsCatId="simple" csTypeId="urn:microsoft.com/office/officeart/2005/8/colors/accent1_2" csCatId="accent1" phldr="1"/>
      <dgm:spPr/>
      <dgm:t>
        <a:bodyPr/>
        <a:lstStyle/>
        <a:p>
          <a:endParaRPr lang="zh-CN" altLang="en-US"/>
        </a:p>
      </dgm:t>
    </dgm:pt>
    <dgm:pt modelId="{C4D908E6-CBF8-164D-9DA7-FA62D8CCD2DA}">
      <dgm:prSet phldrT="[文本]"/>
      <dgm:spPr/>
      <dgm:t>
        <a:bodyPr/>
        <a:lstStyle/>
        <a:p>
          <a:r>
            <a:rPr lang="en-US" altLang="zh-CN" dirty="0">
              <a:latin typeface="Microsoft YaHei" panose="020B0503020204020204" pitchFamily="34" charset="-122"/>
              <a:ea typeface="Microsoft YaHei" panose="020B0503020204020204" pitchFamily="34" charset="-122"/>
            </a:rPr>
            <a:t>App</a:t>
          </a:r>
          <a:endParaRPr lang="zh-CN" altLang="en-US" dirty="0">
            <a:latin typeface="Microsoft YaHei" panose="020B0503020204020204" pitchFamily="34" charset="-122"/>
            <a:ea typeface="Microsoft YaHei" panose="020B0503020204020204" pitchFamily="34" charset="-122"/>
          </a:endParaRPr>
        </a:p>
      </dgm:t>
    </dgm:pt>
    <dgm:pt modelId="{23B80D49-E15B-1F44-BC94-72209F4E7C23}" type="parTrans" cxnId="{E9429240-E127-6641-8889-E0D9AA3F7479}">
      <dgm:prSet/>
      <dgm:spPr/>
      <dgm:t>
        <a:bodyPr/>
        <a:lstStyle/>
        <a:p>
          <a:endParaRPr lang="zh-CN" altLang="en-US">
            <a:latin typeface="Microsoft YaHei" panose="020B0503020204020204" pitchFamily="34" charset="-122"/>
            <a:ea typeface="Microsoft YaHei" panose="020B0503020204020204" pitchFamily="34" charset="-122"/>
          </a:endParaRPr>
        </a:p>
      </dgm:t>
    </dgm:pt>
    <dgm:pt modelId="{FF021B1A-575D-C843-BC21-86EB2E88964E}" type="sibTrans" cxnId="{E9429240-E127-6641-8889-E0D9AA3F7479}">
      <dgm:prSet/>
      <dgm:spPr/>
      <dgm:t>
        <a:bodyPr/>
        <a:lstStyle/>
        <a:p>
          <a:endParaRPr lang="zh-CN" altLang="en-US">
            <a:latin typeface="Microsoft YaHei" panose="020B0503020204020204" pitchFamily="34" charset="-122"/>
            <a:ea typeface="Microsoft YaHei" panose="020B0503020204020204" pitchFamily="34" charset="-122"/>
          </a:endParaRPr>
        </a:p>
      </dgm:t>
    </dgm:pt>
    <dgm:pt modelId="{1D2224A6-C839-FB41-97CD-86A80986B4C2}">
      <dgm:prSet phldrT="[文本]" custT="1"/>
      <dgm:spPr/>
      <dgm:t>
        <a:bodyPr/>
        <a:lstStyle/>
        <a:p>
          <a:r>
            <a:rPr lang="zh-CN" altLang="en-US" sz="1600" dirty="0">
              <a:latin typeface="Microsoft YaHei" panose="020B0503020204020204" pitchFamily="34" charset="-122"/>
              <a:ea typeface="Microsoft YaHei" panose="020B0503020204020204" pitchFamily="34" charset="-122"/>
            </a:rPr>
            <a:t>产品优化</a:t>
          </a:r>
        </a:p>
      </dgm:t>
    </dgm:pt>
    <dgm:pt modelId="{B53C85C4-A348-AB4A-BF47-EA458545E720}" type="parTrans" cxnId="{AB6747BB-90D8-224F-A851-A8E52BCBA1DE}">
      <dgm:prSet/>
      <dgm:spPr/>
      <dgm:t>
        <a:bodyPr/>
        <a:lstStyle/>
        <a:p>
          <a:endParaRPr lang="zh-CN" altLang="en-US">
            <a:latin typeface="Microsoft YaHei" panose="020B0503020204020204" pitchFamily="34" charset="-122"/>
            <a:ea typeface="Microsoft YaHei" panose="020B0503020204020204" pitchFamily="34" charset="-122"/>
          </a:endParaRPr>
        </a:p>
      </dgm:t>
    </dgm:pt>
    <dgm:pt modelId="{7C00729A-DC88-5D4C-9014-D3B1DAE05F39}" type="sibTrans" cxnId="{AB6747BB-90D8-224F-A851-A8E52BCBA1DE}">
      <dgm:prSet/>
      <dgm:spPr/>
      <dgm:t>
        <a:bodyPr/>
        <a:lstStyle/>
        <a:p>
          <a:endParaRPr lang="zh-CN" altLang="en-US">
            <a:latin typeface="Microsoft YaHei" panose="020B0503020204020204" pitchFamily="34" charset="-122"/>
            <a:ea typeface="Microsoft YaHei" panose="020B0503020204020204" pitchFamily="34" charset="-122"/>
          </a:endParaRPr>
        </a:p>
      </dgm:t>
    </dgm:pt>
    <dgm:pt modelId="{A5A70B01-92E4-104C-9369-D61D4FB2B2F1}">
      <dgm:prSet phldrT="[文本]"/>
      <dgm:spPr/>
      <dgm:t>
        <a:bodyPr/>
        <a:lstStyle/>
        <a:p>
          <a:r>
            <a:rPr lang="zh-CN" altLang="en-US" dirty="0">
              <a:latin typeface="Microsoft YaHei" panose="020B0503020204020204" pitchFamily="34" charset="-122"/>
              <a:ea typeface="Microsoft YaHei" panose="020B0503020204020204" pitchFamily="34" charset="-122"/>
            </a:rPr>
            <a:t>落地页</a:t>
          </a:r>
        </a:p>
      </dgm:t>
    </dgm:pt>
    <dgm:pt modelId="{63613045-A7B9-C441-B12D-F055F6AF675C}" type="parTrans" cxnId="{83255094-8A88-2D46-8A18-F221DC26B191}">
      <dgm:prSet/>
      <dgm:spPr/>
      <dgm:t>
        <a:bodyPr/>
        <a:lstStyle/>
        <a:p>
          <a:endParaRPr lang="zh-CN" altLang="en-US">
            <a:latin typeface="Microsoft YaHei" panose="020B0503020204020204" pitchFamily="34" charset="-122"/>
            <a:ea typeface="Microsoft YaHei" panose="020B0503020204020204" pitchFamily="34" charset="-122"/>
          </a:endParaRPr>
        </a:p>
      </dgm:t>
    </dgm:pt>
    <dgm:pt modelId="{FC8491AD-96DC-6C4B-9415-7DAE253F3AF5}" type="sibTrans" cxnId="{83255094-8A88-2D46-8A18-F221DC26B191}">
      <dgm:prSet/>
      <dgm:spPr/>
      <dgm:t>
        <a:bodyPr/>
        <a:lstStyle/>
        <a:p>
          <a:endParaRPr lang="zh-CN" altLang="en-US">
            <a:latin typeface="Microsoft YaHei" panose="020B0503020204020204" pitchFamily="34" charset="-122"/>
            <a:ea typeface="Microsoft YaHei" panose="020B0503020204020204" pitchFamily="34" charset="-122"/>
          </a:endParaRPr>
        </a:p>
      </dgm:t>
    </dgm:pt>
    <dgm:pt modelId="{7F3016E3-0D92-0044-A01C-41B9B0DA0877}">
      <dgm:prSet phldrT="[文本]" custT="1"/>
      <dgm:spPr/>
      <dgm:t>
        <a:bodyPr/>
        <a:lstStyle/>
        <a:p>
          <a:pPr marL="179388" indent="0">
            <a:tabLst/>
          </a:pPr>
          <a:r>
            <a:rPr lang="zh-CN" altLang="en-US" sz="1600" dirty="0">
              <a:latin typeface="Microsoft YaHei" panose="020B0503020204020204" pitchFamily="34" charset="-122"/>
              <a:ea typeface="Microsoft YaHei" panose="020B0503020204020204" pitchFamily="34" charset="-122"/>
            </a:rPr>
            <a:t>获客落地页</a:t>
          </a:r>
        </a:p>
      </dgm:t>
    </dgm:pt>
    <dgm:pt modelId="{4EAB3B29-873D-E948-A714-60ECA289E663}" type="parTrans" cxnId="{48E1E2DF-97A3-A64A-ADAC-485BB4DED8BB}">
      <dgm:prSet/>
      <dgm:spPr/>
      <dgm:t>
        <a:bodyPr/>
        <a:lstStyle/>
        <a:p>
          <a:endParaRPr lang="zh-CN" altLang="en-US">
            <a:latin typeface="Microsoft YaHei" panose="020B0503020204020204" pitchFamily="34" charset="-122"/>
            <a:ea typeface="Microsoft YaHei" panose="020B0503020204020204" pitchFamily="34" charset="-122"/>
          </a:endParaRPr>
        </a:p>
      </dgm:t>
    </dgm:pt>
    <dgm:pt modelId="{57C8CDA4-851F-DF4B-8729-A9791A959FBB}" type="sibTrans" cxnId="{48E1E2DF-97A3-A64A-ADAC-485BB4DED8BB}">
      <dgm:prSet/>
      <dgm:spPr/>
      <dgm:t>
        <a:bodyPr/>
        <a:lstStyle/>
        <a:p>
          <a:endParaRPr lang="zh-CN" altLang="en-US">
            <a:latin typeface="Microsoft YaHei" panose="020B0503020204020204" pitchFamily="34" charset="-122"/>
            <a:ea typeface="Microsoft YaHei" panose="020B0503020204020204" pitchFamily="34" charset="-122"/>
          </a:endParaRPr>
        </a:p>
      </dgm:t>
    </dgm:pt>
    <dgm:pt modelId="{BD46DC0E-30F9-6B4C-B933-1684A2C27ACB}">
      <dgm:prSet phldrT="[文本]"/>
      <dgm:spPr/>
      <dgm:t>
        <a:bodyPr/>
        <a:lstStyle/>
        <a:p>
          <a:r>
            <a:rPr lang="en-US" altLang="zh-CN" dirty="0">
              <a:latin typeface="Microsoft YaHei" panose="020B0503020204020204" pitchFamily="34" charset="-122"/>
              <a:ea typeface="Microsoft YaHei" panose="020B0503020204020204" pitchFamily="34" charset="-122"/>
            </a:rPr>
            <a:t>UI</a:t>
          </a:r>
          <a:r>
            <a:rPr lang="zh-CN" altLang="en-US" dirty="0">
              <a:latin typeface="Microsoft YaHei" panose="020B0503020204020204" pitchFamily="34" charset="-122"/>
              <a:ea typeface="Microsoft YaHei" panose="020B0503020204020204" pitchFamily="34" charset="-122"/>
            </a:rPr>
            <a:t>设计</a:t>
          </a:r>
        </a:p>
      </dgm:t>
    </dgm:pt>
    <dgm:pt modelId="{E72AFD46-3F9D-BD4F-86FB-E418BF0AF035}" type="parTrans" cxnId="{B3885BC4-2FF5-2B40-945A-1CE9D6F18FDB}">
      <dgm:prSet/>
      <dgm:spPr/>
      <dgm:t>
        <a:bodyPr/>
        <a:lstStyle/>
        <a:p>
          <a:endParaRPr lang="zh-CN" altLang="en-US">
            <a:latin typeface="Microsoft YaHei" panose="020B0503020204020204" pitchFamily="34" charset="-122"/>
            <a:ea typeface="Microsoft YaHei" panose="020B0503020204020204" pitchFamily="34" charset="-122"/>
          </a:endParaRPr>
        </a:p>
      </dgm:t>
    </dgm:pt>
    <dgm:pt modelId="{B13586B6-0E6A-5548-9ABD-3291E2B81B87}" type="sibTrans" cxnId="{B3885BC4-2FF5-2B40-945A-1CE9D6F18FDB}">
      <dgm:prSet/>
      <dgm:spPr/>
      <dgm:t>
        <a:bodyPr/>
        <a:lstStyle/>
        <a:p>
          <a:endParaRPr lang="zh-CN" altLang="en-US">
            <a:latin typeface="Microsoft YaHei" panose="020B0503020204020204" pitchFamily="34" charset="-122"/>
            <a:ea typeface="Microsoft YaHei" panose="020B0503020204020204" pitchFamily="34" charset="-122"/>
          </a:endParaRPr>
        </a:p>
      </dgm:t>
    </dgm:pt>
    <dgm:pt modelId="{C7DA41DA-E071-A846-915C-1C1430C38BA0}">
      <dgm:prSet phldrT="[文本]" custT="1"/>
      <dgm:spPr/>
      <dgm:t>
        <a:bodyPr/>
        <a:lstStyle/>
        <a:p>
          <a:r>
            <a:rPr lang="zh-CN" altLang="en-US" sz="1600" dirty="0">
              <a:latin typeface="Microsoft YaHei" panose="020B0503020204020204" pitchFamily="34" charset="-122"/>
              <a:ea typeface="Microsoft YaHei" panose="020B0503020204020204" pitchFamily="34" charset="-122"/>
            </a:rPr>
            <a:t>色彩</a:t>
          </a:r>
        </a:p>
      </dgm:t>
    </dgm:pt>
    <dgm:pt modelId="{991AA8BA-D669-F946-8C07-45E6B3AD76F6}" type="parTrans" cxnId="{E86F4E67-B07E-3F48-B051-B4324FA12B7B}">
      <dgm:prSet/>
      <dgm:spPr/>
      <dgm:t>
        <a:bodyPr/>
        <a:lstStyle/>
        <a:p>
          <a:endParaRPr lang="zh-CN" altLang="en-US">
            <a:latin typeface="Microsoft YaHei" panose="020B0503020204020204" pitchFamily="34" charset="-122"/>
            <a:ea typeface="Microsoft YaHei" panose="020B0503020204020204" pitchFamily="34" charset="-122"/>
          </a:endParaRPr>
        </a:p>
      </dgm:t>
    </dgm:pt>
    <dgm:pt modelId="{DDE82CA4-51A6-FE48-BD36-98E00575D694}" type="sibTrans" cxnId="{E86F4E67-B07E-3F48-B051-B4324FA12B7B}">
      <dgm:prSet/>
      <dgm:spPr/>
      <dgm:t>
        <a:bodyPr/>
        <a:lstStyle/>
        <a:p>
          <a:endParaRPr lang="zh-CN" altLang="en-US">
            <a:latin typeface="Microsoft YaHei" panose="020B0503020204020204" pitchFamily="34" charset="-122"/>
            <a:ea typeface="Microsoft YaHei" panose="020B0503020204020204" pitchFamily="34" charset="-122"/>
          </a:endParaRPr>
        </a:p>
      </dgm:t>
    </dgm:pt>
    <dgm:pt modelId="{5B174F06-9250-FB4C-AAA3-DE85ACE4B15E}">
      <dgm:prSet phldrT="[文本]"/>
      <dgm:spPr/>
      <dgm:t>
        <a:bodyPr/>
        <a:lstStyle/>
        <a:p>
          <a:r>
            <a:rPr lang="zh-CN" altLang="en-US" dirty="0">
              <a:latin typeface="Microsoft YaHei" panose="020B0503020204020204" pitchFamily="34" charset="-122"/>
              <a:ea typeface="Microsoft YaHei" panose="020B0503020204020204" pitchFamily="34" charset="-122"/>
            </a:rPr>
            <a:t>算法</a:t>
          </a:r>
        </a:p>
      </dgm:t>
    </dgm:pt>
    <dgm:pt modelId="{59DB61BF-BFCC-1F46-8170-CA83FEE36B1C}" type="parTrans" cxnId="{ED09CC52-F3B6-6F40-842C-AC7D349035F7}">
      <dgm:prSet/>
      <dgm:spPr/>
      <dgm:t>
        <a:bodyPr/>
        <a:lstStyle/>
        <a:p>
          <a:endParaRPr lang="zh-CN" altLang="en-US">
            <a:latin typeface="Microsoft YaHei" panose="020B0503020204020204" pitchFamily="34" charset="-122"/>
            <a:ea typeface="Microsoft YaHei" panose="020B0503020204020204" pitchFamily="34" charset="-122"/>
          </a:endParaRPr>
        </a:p>
      </dgm:t>
    </dgm:pt>
    <dgm:pt modelId="{73619EE8-9D64-FD44-8287-3A003FD2EDE6}" type="sibTrans" cxnId="{ED09CC52-F3B6-6F40-842C-AC7D349035F7}">
      <dgm:prSet/>
      <dgm:spPr/>
      <dgm:t>
        <a:bodyPr/>
        <a:lstStyle/>
        <a:p>
          <a:endParaRPr lang="zh-CN" altLang="en-US">
            <a:latin typeface="Microsoft YaHei" panose="020B0503020204020204" pitchFamily="34" charset="-122"/>
            <a:ea typeface="Microsoft YaHei" panose="020B0503020204020204" pitchFamily="34" charset="-122"/>
          </a:endParaRPr>
        </a:p>
      </dgm:t>
    </dgm:pt>
    <dgm:pt modelId="{5EE33126-36BD-6645-8FF3-3E62BD9EEDA4}">
      <dgm:prSet phldrT="[文本]" custT="1"/>
      <dgm:spPr/>
      <dgm:t>
        <a:bodyPr/>
        <a:lstStyle/>
        <a:p>
          <a:r>
            <a:rPr lang="zh-CN" altLang="en-US" sz="1600" dirty="0">
              <a:latin typeface="Microsoft YaHei" panose="020B0503020204020204" pitchFamily="34" charset="-122"/>
              <a:ea typeface="Microsoft YaHei" panose="020B0503020204020204" pitchFamily="34" charset="-122"/>
            </a:rPr>
            <a:t>推荐算法</a:t>
          </a:r>
        </a:p>
      </dgm:t>
    </dgm:pt>
    <dgm:pt modelId="{A202A74A-A8A3-D149-B15E-959C4AAA4B8C}" type="parTrans" cxnId="{86A84C05-D244-614E-904F-9DC695C1D441}">
      <dgm:prSet/>
      <dgm:spPr/>
      <dgm:t>
        <a:bodyPr/>
        <a:lstStyle/>
        <a:p>
          <a:endParaRPr lang="zh-CN" altLang="en-US">
            <a:latin typeface="Microsoft YaHei" panose="020B0503020204020204" pitchFamily="34" charset="-122"/>
            <a:ea typeface="Microsoft YaHei" panose="020B0503020204020204" pitchFamily="34" charset="-122"/>
          </a:endParaRPr>
        </a:p>
      </dgm:t>
    </dgm:pt>
    <dgm:pt modelId="{10478E6B-B966-C448-A361-A717C95CC8F0}" type="sibTrans" cxnId="{86A84C05-D244-614E-904F-9DC695C1D441}">
      <dgm:prSet/>
      <dgm:spPr/>
      <dgm:t>
        <a:bodyPr/>
        <a:lstStyle/>
        <a:p>
          <a:endParaRPr lang="zh-CN" altLang="en-US">
            <a:latin typeface="Microsoft YaHei" panose="020B0503020204020204" pitchFamily="34" charset="-122"/>
            <a:ea typeface="Microsoft YaHei" panose="020B0503020204020204" pitchFamily="34" charset="-122"/>
          </a:endParaRPr>
        </a:p>
      </dgm:t>
    </dgm:pt>
    <dgm:pt modelId="{DEE7D984-37E8-544F-B661-1D18F9C095FD}">
      <dgm:prSet phldrT="[文本]" custT="1"/>
      <dgm:spPr/>
      <dgm:t>
        <a:bodyPr/>
        <a:lstStyle/>
        <a:p>
          <a:r>
            <a:rPr lang="zh-CN" altLang="en-US" sz="1600" dirty="0">
              <a:latin typeface="Microsoft YaHei" panose="020B0503020204020204" pitchFamily="34" charset="-122"/>
              <a:ea typeface="Microsoft YaHei" panose="020B0503020204020204" pitchFamily="34" charset="-122"/>
            </a:rPr>
            <a:t>活动优化</a:t>
          </a:r>
        </a:p>
      </dgm:t>
    </dgm:pt>
    <dgm:pt modelId="{0CAD3C40-DA84-4042-9690-58738A259B1D}" type="parTrans" cxnId="{3B16544A-5075-B947-B650-B521911B52DB}">
      <dgm:prSet/>
      <dgm:spPr/>
      <dgm:t>
        <a:bodyPr/>
        <a:lstStyle/>
        <a:p>
          <a:endParaRPr lang="zh-CN" altLang="en-US">
            <a:latin typeface="Microsoft YaHei" panose="020B0503020204020204" pitchFamily="34" charset="-122"/>
            <a:ea typeface="Microsoft YaHei" panose="020B0503020204020204" pitchFamily="34" charset="-122"/>
          </a:endParaRPr>
        </a:p>
      </dgm:t>
    </dgm:pt>
    <dgm:pt modelId="{6B906B60-65C7-F342-9DF3-1B9F0DB78584}" type="sibTrans" cxnId="{3B16544A-5075-B947-B650-B521911B52DB}">
      <dgm:prSet/>
      <dgm:spPr/>
      <dgm:t>
        <a:bodyPr/>
        <a:lstStyle/>
        <a:p>
          <a:endParaRPr lang="zh-CN" altLang="en-US">
            <a:latin typeface="Microsoft YaHei" panose="020B0503020204020204" pitchFamily="34" charset="-122"/>
            <a:ea typeface="Microsoft YaHei" panose="020B0503020204020204" pitchFamily="34" charset="-122"/>
          </a:endParaRPr>
        </a:p>
      </dgm:t>
    </dgm:pt>
    <dgm:pt modelId="{C893F431-1567-5D49-A2DF-1D738A2CC527}">
      <dgm:prSet phldrT="[文本]" custT="1"/>
      <dgm:spPr/>
      <dgm:t>
        <a:bodyPr/>
        <a:lstStyle/>
        <a:p>
          <a:r>
            <a:rPr lang="zh-CN" altLang="en-US" sz="1600" dirty="0">
              <a:latin typeface="Microsoft YaHei" panose="020B0503020204020204" pitchFamily="34" charset="-122"/>
              <a:ea typeface="Microsoft YaHei" panose="020B0503020204020204" pitchFamily="34" charset="-122"/>
            </a:rPr>
            <a:t>流程优化</a:t>
          </a:r>
        </a:p>
      </dgm:t>
    </dgm:pt>
    <dgm:pt modelId="{DA30A303-79B8-A641-853B-265201E23EB4}" type="parTrans" cxnId="{94D10394-61A3-8A46-8BAE-81210EC5302D}">
      <dgm:prSet/>
      <dgm:spPr/>
      <dgm:t>
        <a:bodyPr/>
        <a:lstStyle/>
        <a:p>
          <a:endParaRPr lang="zh-CN" altLang="en-US">
            <a:latin typeface="Microsoft YaHei" panose="020B0503020204020204" pitchFamily="34" charset="-122"/>
            <a:ea typeface="Microsoft YaHei" panose="020B0503020204020204" pitchFamily="34" charset="-122"/>
          </a:endParaRPr>
        </a:p>
      </dgm:t>
    </dgm:pt>
    <dgm:pt modelId="{CB0E6ED0-7D9A-A646-8E23-27D57323E911}" type="sibTrans" cxnId="{94D10394-61A3-8A46-8BAE-81210EC5302D}">
      <dgm:prSet/>
      <dgm:spPr/>
      <dgm:t>
        <a:bodyPr/>
        <a:lstStyle/>
        <a:p>
          <a:endParaRPr lang="zh-CN" altLang="en-US">
            <a:latin typeface="Microsoft YaHei" panose="020B0503020204020204" pitchFamily="34" charset="-122"/>
            <a:ea typeface="Microsoft YaHei" panose="020B0503020204020204" pitchFamily="34" charset="-122"/>
          </a:endParaRPr>
        </a:p>
      </dgm:t>
    </dgm:pt>
    <dgm:pt modelId="{1D03F518-9C29-6746-9F3B-00CFAC538640}">
      <dgm:prSet phldrT="[文本]" custT="1"/>
      <dgm:spPr/>
      <dgm:t>
        <a:bodyPr/>
        <a:lstStyle/>
        <a:p>
          <a:pPr marL="179388" indent="0">
            <a:tabLst/>
          </a:pPr>
          <a:r>
            <a:rPr lang="zh-CN" altLang="en-US" sz="1600" dirty="0">
              <a:latin typeface="Microsoft YaHei" panose="020B0503020204020204" pitchFamily="34" charset="-122"/>
              <a:ea typeface="Microsoft YaHei" panose="020B0503020204020204" pitchFamily="34" charset="-122"/>
            </a:rPr>
            <a:t>广告素材</a:t>
          </a:r>
        </a:p>
      </dgm:t>
    </dgm:pt>
    <dgm:pt modelId="{C06F9952-65FE-0942-8FC3-2B3BB80F1DEA}" type="parTrans" cxnId="{C4D6F44F-7140-2C44-B67B-EFD4D10D472A}">
      <dgm:prSet/>
      <dgm:spPr/>
      <dgm:t>
        <a:bodyPr/>
        <a:lstStyle/>
        <a:p>
          <a:endParaRPr lang="zh-CN" altLang="en-US">
            <a:latin typeface="Microsoft YaHei" panose="020B0503020204020204" pitchFamily="34" charset="-122"/>
            <a:ea typeface="Microsoft YaHei" panose="020B0503020204020204" pitchFamily="34" charset="-122"/>
          </a:endParaRPr>
        </a:p>
      </dgm:t>
    </dgm:pt>
    <dgm:pt modelId="{5A0637C1-3137-624D-8D38-D2291B647461}" type="sibTrans" cxnId="{C4D6F44F-7140-2C44-B67B-EFD4D10D472A}">
      <dgm:prSet/>
      <dgm:spPr/>
      <dgm:t>
        <a:bodyPr/>
        <a:lstStyle/>
        <a:p>
          <a:endParaRPr lang="zh-CN" altLang="en-US">
            <a:latin typeface="Microsoft YaHei" panose="020B0503020204020204" pitchFamily="34" charset="-122"/>
            <a:ea typeface="Microsoft YaHei" panose="020B0503020204020204" pitchFamily="34" charset="-122"/>
          </a:endParaRPr>
        </a:p>
      </dgm:t>
    </dgm:pt>
    <dgm:pt modelId="{ADA211D5-5B06-BD47-ABBB-029078113698}">
      <dgm:prSet phldrT="[文本]" custT="1"/>
      <dgm:spPr/>
      <dgm:t>
        <a:bodyPr/>
        <a:lstStyle/>
        <a:p>
          <a:pPr marL="179388" indent="0">
            <a:tabLst/>
          </a:pPr>
          <a:r>
            <a:rPr lang="zh-CN" altLang="en-US" sz="1600" dirty="0">
              <a:latin typeface="Microsoft YaHei" panose="020B0503020204020204" pitchFamily="34" charset="-122"/>
              <a:ea typeface="Microsoft YaHei" panose="020B0503020204020204" pitchFamily="34" charset="-122"/>
            </a:rPr>
            <a:t>应用商店详情</a:t>
          </a:r>
        </a:p>
      </dgm:t>
    </dgm:pt>
    <dgm:pt modelId="{001F0EE4-2155-1B41-BDAB-809C41BC4192}" type="parTrans" cxnId="{F2477B2D-8C60-2F44-83A5-77FEAC0FA8C3}">
      <dgm:prSet/>
      <dgm:spPr/>
      <dgm:t>
        <a:bodyPr/>
        <a:lstStyle/>
        <a:p>
          <a:endParaRPr lang="zh-CN" altLang="en-US">
            <a:latin typeface="Microsoft YaHei" panose="020B0503020204020204" pitchFamily="34" charset="-122"/>
            <a:ea typeface="Microsoft YaHei" panose="020B0503020204020204" pitchFamily="34" charset="-122"/>
          </a:endParaRPr>
        </a:p>
      </dgm:t>
    </dgm:pt>
    <dgm:pt modelId="{B5350229-180A-AE4D-B355-DFDC32994442}" type="sibTrans" cxnId="{F2477B2D-8C60-2F44-83A5-77FEAC0FA8C3}">
      <dgm:prSet/>
      <dgm:spPr/>
      <dgm:t>
        <a:bodyPr/>
        <a:lstStyle/>
        <a:p>
          <a:endParaRPr lang="zh-CN" altLang="en-US">
            <a:latin typeface="Microsoft YaHei" panose="020B0503020204020204" pitchFamily="34" charset="-122"/>
            <a:ea typeface="Microsoft YaHei" panose="020B0503020204020204" pitchFamily="34" charset="-122"/>
          </a:endParaRPr>
        </a:p>
      </dgm:t>
    </dgm:pt>
    <dgm:pt modelId="{D873451A-0470-274E-B1F9-90CEA566136B}">
      <dgm:prSet phldrT="[文本]" custT="1"/>
      <dgm:spPr/>
      <dgm:t>
        <a:bodyPr/>
        <a:lstStyle/>
        <a:p>
          <a:r>
            <a:rPr lang="zh-CN" altLang="en-US" sz="1600" dirty="0">
              <a:latin typeface="Microsoft YaHei" panose="020B0503020204020204" pitchFamily="34" charset="-122"/>
              <a:ea typeface="Microsoft YaHei" panose="020B0503020204020204" pitchFamily="34" charset="-122"/>
            </a:rPr>
            <a:t>广告算法</a:t>
          </a:r>
        </a:p>
      </dgm:t>
    </dgm:pt>
    <dgm:pt modelId="{FCA53741-1B0F-5F48-B700-F21A1B9A004D}" type="parTrans" cxnId="{710F8028-F4FA-6C48-B7B1-2962A0F5E0E4}">
      <dgm:prSet/>
      <dgm:spPr/>
      <dgm:t>
        <a:bodyPr/>
        <a:lstStyle/>
        <a:p>
          <a:endParaRPr lang="zh-CN" altLang="en-US">
            <a:latin typeface="Microsoft YaHei" panose="020B0503020204020204" pitchFamily="34" charset="-122"/>
            <a:ea typeface="Microsoft YaHei" panose="020B0503020204020204" pitchFamily="34" charset="-122"/>
          </a:endParaRPr>
        </a:p>
      </dgm:t>
    </dgm:pt>
    <dgm:pt modelId="{EF69E585-524A-464D-AC32-444FECB367D6}" type="sibTrans" cxnId="{710F8028-F4FA-6C48-B7B1-2962A0F5E0E4}">
      <dgm:prSet/>
      <dgm:spPr/>
      <dgm:t>
        <a:bodyPr/>
        <a:lstStyle/>
        <a:p>
          <a:endParaRPr lang="zh-CN" altLang="en-US">
            <a:latin typeface="Microsoft YaHei" panose="020B0503020204020204" pitchFamily="34" charset="-122"/>
            <a:ea typeface="Microsoft YaHei" panose="020B0503020204020204" pitchFamily="34" charset="-122"/>
          </a:endParaRPr>
        </a:p>
      </dgm:t>
    </dgm:pt>
    <dgm:pt modelId="{9855434E-EB89-3341-9CF2-93A80FE60C3A}">
      <dgm:prSet phldrT="[文本]" custT="1"/>
      <dgm:spPr/>
      <dgm:t>
        <a:bodyPr/>
        <a:lstStyle/>
        <a:p>
          <a:r>
            <a:rPr lang="zh-CN" altLang="en-US" sz="1600" dirty="0">
              <a:latin typeface="Microsoft YaHei" panose="020B0503020204020204" pitchFamily="34" charset="-122"/>
              <a:ea typeface="Microsoft YaHei" panose="020B0503020204020204" pitchFamily="34" charset="-122"/>
            </a:rPr>
            <a:t>千人千面</a:t>
          </a:r>
        </a:p>
      </dgm:t>
    </dgm:pt>
    <dgm:pt modelId="{4CB7C25B-33DE-C34D-AA93-4A403C286E66}" type="parTrans" cxnId="{E72145FA-538C-DE41-BAC5-068EFD4F246F}">
      <dgm:prSet/>
      <dgm:spPr/>
      <dgm:t>
        <a:bodyPr/>
        <a:lstStyle/>
        <a:p>
          <a:endParaRPr lang="zh-CN" altLang="en-US">
            <a:latin typeface="Microsoft YaHei" panose="020B0503020204020204" pitchFamily="34" charset="-122"/>
            <a:ea typeface="Microsoft YaHei" panose="020B0503020204020204" pitchFamily="34" charset="-122"/>
          </a:endParaRPr>
        </a:p>
      </dgm:t>
    </dgm:pt>
    <dgm:pt modelId="{C0CD314F-7AB0-9E45-A889-429BFD576FE1}" type="sibTrans" cxnId="{E72145FA-538C-DE41-BAC5-068EFD4F246F}">
      <dgm:prSet/>
      <dgm:spPr/>
      <dgm:t>
        <a:bodyPr/>
        <a:lstStyle/>
        <a:p>
          <a:endParaRPr lang="zh-CN" altLang="en-US">
            <a:latin typeface="Microsoft YaHei" panose="020B0503020204020204" pitchFamily="34" charset="-122"/>
            <a:ea typeface="Microsoft YaHei" panose="020B0503020204020204" pitchFamily="34" charset="-122"/>
          </a:endParaRPr>
        </a:p>
      </dgm:t>
    </dgm:pt>
    <dgm:pt modelId="{817C782C-F6A0-1543-A6C5-0E06212D4E62}">
      <dgm:prSet phldrT="[文本]" custT="1"/>
      <dgm:spPr/>
      <dgm:t>
        <a:bodyPr/>
        <a:lstStyle/>
        <a:p>
          <a:r>
            <a:rPr lang="zh-CN" altLang="en-US" sz="1600" dirty="0">
              <a:latin typeface="Microsoft YaHei" panose="020B0503020204020204" pitchFamily="34" charset="-122"/>
              <a:ea typeface="Microsoft YaHei" panose="020B0503020204020204" pitchFamily="34" charset="-122"/>
            </a:rPr>
            <a:t>布局、大小</a:t>
          </a:r>
        </a:p>
      </dgm:t>
    </dgm:pt>
    <dgm:pt modelId="{35EFE52F-68DD-0C43-87A9-0188557F4409}" type="parTrans" cxnId="{8A463915-6D56-ED49-BD90-B91D6BE174B1}">
      <dgm:prSet/>
      <dgm:spPr/>
      <dgm:t>
        <a:bodyPr/>
        <a:lstStyle/>
        <a:p>
          <a:endParaRPr lang="zh-CN" altLang="en-US">
            <a:latin typeface="Microsoft YaHei" panose="020B0503020204020204" pitchFamily="34" charset="-122"/>
            <a:ea typeface="Microsoft YaHei" panose="020B0503020204020204" pitchFamily="34" charset="-122"/>
          </a:endParaRPr>
        </a:p>
      </dgm:t>
    </dgm:pt>
    <dgm:pt modelId="{BCE36575-8BFD-3648-BA5E-DD022D94B025}" type="sibTrans" cxnId="{8A463915-6D56-ED49-BD90-B91D6BE174B1}">
      <dgm:prSet/>
      <dgm:spPr/>
      <dgm:t>
        <a:bodyPr/>
        <a:lstStyle/>
        <a:p>
          <a:endParaRPr lang="zh-CN" altLang="en-US">
            <a:latin typeface="Microsoft YaHei" panose="020B0503020204020204" pitchFamily="34" charset="-122"/>
            <a:ea typeface="Microsoft YaHei" panose="020B0503020204020204" pitchFamily="34" charset="-122"/>
          </a:endParaRPr>
        </a:p>
      </dgm:t>
    </dgm:pt>
    <dgm:pt modelId="{7AA8C1BF-7E25-4344-A304-47B0C21F492A}">
      <dgm:prSet phldrT="[文本]" custT="1"/>
      <dgm:spPr/>
      <dgm:t>
        <a:bodyPr/>
        <a:lstStyle/>
        <a:p>
          <a:r>
            <a:rPr lang="zh-CN" altLang="en-US" sz="1600" dirty="0">
              <a:latin typeface="Microsoft YaHei" panose="020B0503020204020204" pitchFamily="34" charset="-122"/>
              <a:ea typeface="Microsoft YaHei" panose="020B0503020204020204" pitchFamily="34" charset="-122"/>
            </a:rPr>
            <a:t>位置</a:t>
          </a:r>
        </a:p>
      </dgm:t>
    </dgm:pt>
    <dgm:pt modelId="{04CDC702-E62C-274B-B9A2-164FD26AD8B9}" type="parTrans" cxnId="{CE73EB6E-80A4-D74D-B01B-EBCD25914CDA}">
      <dgm:prSet/>
      <dgm:spPr/>
      <dgm:t>
        <a:bodyPr/>
        <a:lstStyle/>
        <a:p>
          <a:endParaRPr lang="zh-CN" altLang="en-US">
            <a:latin typeface="Microsoft YaHei" panose="020B0503020204020204" pitchFamily="34" charset="-122"/>
            <a:ea typeface="Microsoft YaHei" panose="020B0503020204020204" pitchFamily="34" charset="-122"/>
          </a:endParaRPr>
        </a:p>
      </dgm:t>
    </dgm:pt>
    <dgm:pt modelId="{3151F709-2BD4-5642-9770-193BB02DD3BC}" type="sibTrans" cxnId="{CE73EB6E-80A4-D74D-B01B-EBCD25914CDA}">
      <dgm:prSet/>
      <dgm:spPr/>
      <dgm:t>
        <a:bodyPr/>
        <a:lstStyle/>
        <a:p>
          <a:endParaRPr lang="zh-CN" altLang="en-US">
            <a:latin typeface="Microsoft YaHei" panose="020B0503020204020204" pitchFamily="34" charset="-122"/>
            <a:ea typeface="Microsoft YaHei" panose="020B0503020204020204" pitchFamily="34" charset="-122"/>
          </a:endParaRPr>
        </a:p>
      </dgm:t>
    </dgm:pt>
    <dgm:pt modelId="{0DD6D0C0-E6A0-5047-9F23-33B1404F398F}" type="pres">
      <dgm:prSet presAssocID="{514FD7E4-BFDD-3447-B2C8-573C71416E34}" presName="cycleMatrixDiagram" presStyleCnt="0">
        <dgm:presLayoutVars>
          <dgm:chMax val="1"/>
          <dgm:dir/>
          <dgm:animLvl val="lvl"/>
          <dgm:resizeHandles val="exact"/>
        </dgm:presLayoutVars>
      </dgm:prSet>
      <dgm:spPr/>
    </dgm:pt>
    <dgm:pt modelId="{0428BB62-0C63-9542-97E1-CFCB80F8285F}" type="pres">
      <dgm:prSet presAssocID="{514FD7E4-BFDD-3447-B2C8-573C71416E34}" presName="children" presStyleCnt="0"/>
      <dgm:spPr/>
    </dgm:pt>
    <dgm:pt modelId="{83E5ABAD-1931-5E40-AC4C-02503F5D18DB}" type="pres">
      <dgm:prSet presAssocID="{514FD7E4-BFDD-3447-B2C8-573C71416E34}" presName="child1group" presStyleCnt="0"/>
      <dgm:spPr/>
    </dgm:pt>
    <dgm:pt modelId="{E872E985-4A9A-644C-A3A0-500AED52C9A7}" type="pres">
      <dgm:prSet presAssocID="{514FD7E4-BFDD-3447-B2C8-573C71416E34}" presName="child1" presStyleLbl="bgAcc1" presStyleIdx="0" presStyleCnt="4"/>
      <dgm:spPr/>
    </dgm:pt>
    <dgm:pt modelId="{99E0D73C-D375-E44D-996E-F40FF1349B32}" type="pres">
      <dgm:prSet presAssocID="{514FD7E4-BFDD-3447-B2C8-573C71416E34}" presName="child1Text" presStyleLbl="bgAcc1" presStyleIdx="0" presStyleCnt="4">
        <dgm:presLayoutVars>
          <dgm:bulletEnabled val="1"/>
        </dgm:presLayoutVars>
      </dgm:prSet>
      <dgm:spPr/>
    </dgm:pt>
    <dgm:pt modelId="{3AB1B6C7-D9EB-804B-B427-063FEFC93BCC}" type="pres">
      <dgm:prSet presAssocID="{514FD7E4-BFDD-3447-B2C8-573C71416E34}" presName="child2group" presStyleCnt="0"/>
      <dgm:spPr/>
    </dgm:pt>
    <dgm:pt modelId="{4A6AD620-C737-104F-91D2-DFFB27C8666F}" type="pres">
      <dgm:prSet presAssocID="{514FD7E4-BFDD-3447-B2C8-573C71416E34}" presName="child2" presStyleLbl="bgAcc1" presStyleIdx="1" presStyleCnt="4" custScaleX="120300"/>
      <dgm:spPr/>
    </dgm:pt>
    <dgm:pt modelId="{3D698358-A29C-C543-A8DF-CFED4D51BBA1}" type="pres">
      <dgm:prSet presAssocID="{514FD7E4-BFDD-3447-B2C8-573C71416E34}" presName="child2Text" presStyleLbl="bgAcc1" presStyleIdx="1" presStyleCnt="4">
        <dgm:presLayoutVars>
          <dgm:bulletEnabled val="1"/>
        </dgm:presLayoutVars>
      </dgm:prSet>
      <dgm:spPr/>
    </dgm:pt>
    <dgm:pt modelId="{CF19D92C-7B92-BD4D-9FAA-207E8839F333}" type="pres">
      <dgm:prSet presAssocID="{514FD7E4-BFDD-3447-B2C8-573C71416E34}" presName="child3group" presStyleCnt="0"/>
      <dgm:spPr/>
    </dgm:pt>
    <dgm:pt modelId="{A14CE43F-FDEC-1B46-A17C-74F3F1AA6B64}" type="pres">
      <dgm:prSet presAssocID="{514FD7E4-BFDD-3447-B2C8-573C71416E34}" presName="child3" presStyleLbl="bgAcc1" presStyleIdx="2" presStyleCnt="4" custScaleY="112960" custLinFactNeighborX="14335" custLinFactNeighborY="-24735"/>
      <dgm:spPr/>
    </dgm:pt>
    <dgm:pt modelId="{1CB5CF30-3BA4-6B4B-8BD1-AC4CEA1C5B4F}" type="pres">
      <dgm:prSet presAssocID="{514FD7E4-BFDD-3447-B2C8-573C71416E34}" presName="child3Text" presStyleLbl="bgAcc1" presStyleIdx="2" presStyleCnt="4">
        <dgm:presLayoutVars>
          <dgm:bulletEnabled val="1"/>
        </dgm:presLayoutVars>
      </dgm:prSet>
      <dgm:spPr/>
    </dgm:pt>
    <dgm:pt modelId="{BA078761-BAF0-DC42-B0B3-C718FEE222E7}" type="pres">
      <dgm:prSet presAssocID="{514FD7E4-BFDD-3447-B2C8-573C71416E34}" presName="child4group" presStyleCnt="0"/>
      <dgm:spPr/>
    </dgm:pt>
    <dgm:pt modelId="{42A6D493-E3B4-AE4F-86BA-D0BA6DB1BB0E}" type="pres">
      <dgm:prSet presAssocID="{514FD7E4-BFDD-3447-B2C8-573C71416E34}" presName="child4" presStyleLbl="bgAcc1" presStyleIdx="3" presStyleCnt="4" custScaleY="127036" custLinFactNeighborX="-2063" custLinFactNeighborY="-28657"/>
      <dgm:spPr/>
    </dgm:pt>
    <dgm:pt modelId="{59848EBB-8367-F848-A17F-058C9345D895}" type="pres">
      <dgm:prSet presAssocID="{514FD7E4-BFDD-3447-B2C8-573C71416E34}" presName="child4Text" presStyleLbl="bgAcc1" presStyleIdx="3" presStyleCnt="4">
        <dgm:presLayoutVars>
          <dgm:bulletEnabled val="1"/>
        </dgm:presLayoutVars>
      </dgm:prSet>
      <dgm:spPr/>
    </dgm:pt>
    <dgm:pt modelId="{7261AE8A-0260-2A4E-9B0B-4BDADDD65928}" type="pres">
      <dgm:prSet presAssocID="{514FD7E4-BFDD-3447-B2C8-573C71416E34}" presName="childPlaceholder" presStyleCnt="0"/>
      <dgm:spPr/>
    </dgm:pt>
    <dgm:pt modelId="{F3CC4C9C-3490-DC46-AF4A-928F0263C2D7}" type="pres">
      <dgm:prSet presAssocID="{514FD7E4-BFDD-3447-B2C8-573C71416E34}" presName="circle" presStyleCnt="0"/>
      <dgm:spPr/>
    </dgm:pt>
    <dgm:pt modelId="{BD1E9423-F61D-F444-9FBD-4034DEB08913}" type="pres">
      <dgm:prSet presAssocID="{514FD7E4-BFDD-3447-B2C8-573C71416E34}" presName="quadrant1" presStyleLbl="node1" presStyleIdx="0" presStyleCnt="4">
        <dgm:presLayoutVars>
          <dgm:chMax val="1"/>
          <dgm:bulletEnabled val="1"/>
        </dgm:presLayoutVars>
      </dgm:prSet>
      <dgm:spPr/>
    </dgm:pt>
    <dgm:pt modelId="{2A7D9C58-F567-724E-B8FA-4F5BA8926CD0}" type="pres">
      <dgm:prSet presAssocID="{514FD7E4-BFDD-3447-B2C8-573C71416E34}" presName="quadrant2" presStyleLbl="node1" presStyleIdx="1" presStyleCnt="4" custLinFactNeighborX="-2309" custLinFactNeighborY="2310">
        <dgm:presLayoutVars>
          <dgm:chMax val="1"/>
          <dgm:bulletEnabled val="1"/>
        </dgm:presLayoutVars>
      </dgm:prSet>
      <dgm:spPr/>
    </dgm:pt>
    <dgm:pt modelId="{32E13478-0D4F-A64A-849D-F3C2E79E9525}" type="pres">
      <dgm:prSet presAssocID="{514FD7E4-BFDD-3447-B2C8-573C71416E34}" presName="quadrant3" presStyleLbl="node1" presStyleIdx="2" presStyleCnt="4">
        <dgm:presLayoutVars>
          <dgm:chMax val="1"/>
          <dgm:bulletEnabled val="1"/>
        </dgm:presLayoutVars>
      </dgm:prSet>
      <dgm:spPr/>
    </dgm:pt>
    <dgm:pt modelId="{F7252F77-3CA3-4640-9B82-C715CFD53549}" type="pres">
      <dgm:prSet presAssocID="{514FD7E4-BFDD-3447-B2C8-573C71416E34}" presName="quadrant4" presStyleLbl="node1" presStyleIdx="3" presStyleCnt="4">
        <dgm:presLayoutVars>
          <dgm:chMax val="1"/>
          <dgm:bulletEnabled val="1"/>
        </dgm:presLayoutVars>
      </dgm:prSet>
      <dgm:spPr/>
    </dgm:pt>
    <dgm:pt modelId="{114A612D-A0CA-194C-BEEE-541D557594B0}" type="pres">
      <dgm:prSet presAssocID="{514FD7E4-BFDD-3447-B2C8-573C71416E34}" presName="quadrantPlaceholder" presStyleCnt="0"/>
      <dgm:spPr/>
    </dgm:pt>
    <dgm:pt modelId="{37D3C9CF-E73F-B74F-8BC0-8F2D6E3DE82F}" type="pres">
      <dgm:prSet presAssocID="{514FD7E4-BFDD-3447-B2C8-573C71416E34}" presName="center1" presStyleLbl="fgShp" presStyleIdx="0" presStyleCnt="2"/>
      <dgm:spPr/>
    </dgm:pt>
    <dgm:pt modelId="{BB1A5AFA-6CBF-0749-A190-9E8542AD7EF4}" type="pres">
      <dgm:prSet presAssocID="{514FD7E4-BFDD-3447-B2C8-573C71416E34}" presName="center2" presStyleLbl="fgShp" presStyleIdx="1" presStyleCnt="2"/>
      <dgm:spPr/>
    </dgm:pt>
  </dgm:ptLst>
  <dgm:cxnLst>
    <dgm:cxn modelId="{50D2CD04-FB7F-EA4B-A82E-E55BD4171431}" type="presOf" srcId="{D873451A-0470-274E-B1F9-90CEA566136B}" destId="{42A6D493-E3B4-AE4F-86BA-D0BA6DB1BB0E}" srcOrd="0" destOrd="1" presId="urn:microsoft.com/office/officeart/2005/8/layout/cycle4"/>
    <dgm:cxn modelId="{86A84C05-D244-614E-904F-9DC695C1D441}" srcId="{5B174F06-9250-FB4C-AAA3-DE85ACE4B15E}" destId="{5EE33126-36BD-6645-8FF3-3E62BD9EEDA4}" srcOrd="0" destOrd="0" parTransId="{A202A74A-A8A3-D149-B15E-959C4AAA4B8C}" sibTransId="{10478E6B-B966-C448-A361-A717C95CC8F0}"/>
    <dgm:cxn modelId="{8A463915-6D56-ED49-BD90-B91D6BE174B1}" srcId="{BD46DC0E-30F9-6B4C-B933-1684A2C27ACB}" destId="{817C782C-F6A0-1543-A6C5-0E06212D4E62}" srcOrd="1" destOrd="0" parTransId="{35EFE52F-68DD-0C43-87A9-0188557F4409}" sibTransId="{BCE36575-8BFD-3648-BA5E-DD022D94B025}"/>
    <dgm:cxn modelId="{720D4E1A-ED24-5A45-8ED4-F73AA7E4CA45}" type="presOf" srcId="{1D2224A6-C839-FB41-97CD-86A80986B4C2}" destId="{99E0D73C-D375-E44D-996E-F40FF1349B32}" srcOrd="1" destOrd="0" presId="urn:microsoft.com/office/officeart/2005/8/layout/cycle4"/>
    <dgm:cxn modelId="{4D83961C-C175-7448-9261-C16313E5BFD8}" type="presOf" srcId="{C4D908E6-CBF8-164D-9DA7-FA62D8CCD2DA}" destId="{BD1E9423-F61D-F444-9FBD-4034DEB08913}" srcOrd="0" destOrd="0" presId="urn:microsoft.com/office/officeart/2005/8/layout/cycle4"/>
    <dgm:cxn modelId="{7366EA20-8178-0246-847C-B0D9B7FA67DD}" type="presOf" srcId="{5EE33126-36BD-6645-8FF3-3E62BD9EEDA4}" destId="{42A6D493-E3B4-AE4F-86BA-D0BA6DB1BB0E}" srcOrd="0" destOrd="0" presId="urn:microsoft.com/office/officeart/2005/8/layout/cycle4"/>
    <dgm:cxn modelId="{1EDE9F25-F568-624D-9CB1-13BB3FED50B0}" type="presOf" srcId="{9855434E-EB89-3341-9CF2-93A80FE60C3A}" destId="{42A6D493-E3B4-AE4F-86BA-D0BA6DB1BB0E}" srcOrd="0" destOrd="2" presId="urn:microsoft.com/office/officeart/2005/8/layout/cycle4"/>
    <dgm:cxn modelId="{710F8028-F4FA-6C48-B7B1-2962A0F5E0E4}" srcId="{5B174F06-9250-FB4C-AAA3-DE85ACE4B15E}" destId="{D873451A-0470-274E-B1F9-90CEA566136B}" srcOrd="1" destOrd="0" parTransId="{FCA53741-1B0F-5F48-B700-F21A1B9A004D}" sibTransId="{EF69E585-524A-464D-AC32-444FECB367D6}"/>
    <dgm:cxn modelId="{F2477B2D-8C60-2F44-83A5-77FEAC0FA8C3}" srcId="{A5A70B01-92E4-104C-9369-D61D4FB2B2F1}" destId="{ADA211D5-5B06-BD47-ABBB-029078113698}" srcOrd="2" destOrd="0" parTransId="{001F0EE4-2155-1B41-BDAB-809C41BC4192}" sibTransId="{B5350229-180A-AE4D-B355-DFDC32994442}"/>
    <dgm:cxn modelId="{401BD336-8F8C-FF46-8888-645C04024C3F}" type="presOf" srcId="{5B174F06-9250-FB4C-AAA3-DE85ACE4B15E}" destId="{F7252F77-3CA3-4640-9B82-C715CFD53549}" srcOrd="0" destOrd="0" presId="urn:microsoft.com/office/officeart/2005/8/layout/cycle4"/>
    <dgm:cxn modelId="{D42C9140-D252-1C41-8C18-A3DB4A53289F}" type="presOf" srcId="{1D03F518-9C29-6746-9F3B-00CFAC538640}" destId="{4A6AD620-C737-104F-91D2-DFFB27C8666F}" srcOrd="0" destOrd="1" presId="urn:microsoft.com/office/officeart/2005/8/layout/cycle4"/>
    <dgm:cxn modelId="{E9429240-E127-6641-8889-E0D9AA3F7479}" srcId="{514FD7E4-BFDD-3447-B2C8-573C71416E34}" destId="{C4D908E6-CBF8-164D-9DA7-FA62D8CCD2DA}" srcOrd="0" destOrd="0" parTransId="{23B80D49-E15B-1F44-BC94-72209F4E7C23}" sibTransId="{FF021B1A-575D-C843-BC21-86EB2E88964E}"/>
    <dgm:cxn modelId="{14021041-A38E-0E4A-A66F-ECF2083CADD9}" type="presOf" srcId="{D873451A-0470-274E-B1F9-90CEA566136B}" destId="{59848EBB-8367-F848-A17F-058C9345D895}" srcOrd="1" destOrd="1" presId="urn:microsoft.com/office/officeart/2005/8/layout/cycle4"/>
    <dgm:cxn modelId="{753DCE43-1C42-7740-ADE8-CF1561A4661B}" type="presOf" srcId="{817C782C-F6A0-1543-A6C5-0E06212D4E62}" destId="{1CB5CF30-3BA4-6B4B-8BD1-AC4CEA1C5B4F}" srcOrd="1" destOrd="1" presId="urn:microsoft.com/office/officeart/2005/8/layout/cycle4"/>
    <dgm:cxn modelId="{3547D444-0B67-0B40-9E2D-F523E8EC5135}" type="presOf" srcId="{DEE7D984-37E8-544F-B661-1D18F9C095FD}" destId="{E872E985-4A9A-644C-A3A0-500AED52C9A7}" srcOrd="0" destOrd="1" presId="urn:microsoft.com/office/officeart/2005/8/layout/cycle4"/>
    <dgm:cxn modelId="{E86F4E67-B07E-3F48-B051-B4324FA12B7B}" srcId="{BD46DC0E-30F9-6B4C-B933-1684A2C27ACB}" destId="{C7DA41DA-E071-A846-915C-1C1430C38BA0}" srcOrd="0" destOrd="0" parTransId="{991AA8BA-D669-F946-8C07-45E6B3AD76F6}" sibTransId="{DDE82CA4-51A6-FE48-BD36-98E00575D694}"/>
    <dgm:cxn modelId="{3B16544A-5075-B947-B650-B521911B52DB}" srcId="{C4D908E6-CBF8-164D-9DA7-FA62D8CCD2DA}" destId="{DEE7D984-37E8-544F-B661-1D18F9C095FD}" srcOrd="1" destOrd="0" parTransId="{0CAD3C40-DA84-4042-9690-58738A259B1D}" sibTransId="{6B906B60-65C7-F342-9DF3-1B9F0DB78584}"/>
    <dgm:cxn modelId="{3318E46A-B18E-A741-80DA-267A34B2DAE9}" type="presOf" srcId="{BD46DC0E-30F9-6B4C-B933-1684A2C27ACB}" destId="{32E13478-0D4F-A64A-849D-F3C2E79E9525}" srcOrd="0" destOrd="0" presId="urn:microsoft.com/office/officeart/2005/8/layout/cycle4"/>
    <dgm:cxn modelId="{21DD656C-9953-0240-B997-457AE762C58E}" type="presOf" srcId="{7F3016E3-0D92-0044-A01C-41B9B0DA0877}" destId="{4A6AD620-C737-104F-91D2-DFFB27C8666F}" srcOrd="0" destOrd="0" presId="urn:microsoft.com/office/officeart/2005/8/layout/cycle4"/>
    <dgm:cxn modelId="{CE73EB6E-80A4-D74D-B01B-EBCD25914CDA}" srcId="{BD46DC0E-30F9-6B4C-B933-1684A2C27ACB}" destId="{7AA8C1BF-7E25-4344-A304-47B0C21F492A}" srcOrd="2" destOrd="0" parTransId="{04CDC702-E62C-274B-B9A2-164FD26AD8B9}" sibTransId="{3151F709-2BD4-5642-9770-193BB02DD3BC}"/>
    <dgm:cxn modelId="{C4D6F44F-7140-2C44-B67B-EFD4D10D472A}" srcId="{A5A70B01-92E4-104C-9369-D61D4FB2B2F1}" destId="{1D03F518-9C29-6746-9F3B-00CFAC538640}" srcOrd="1" destOrd="0" parTransId="{C06F9952-65FE-0942-8FC3-2B3BB80F1DEA}" sibTransId="{5A0637C1-3137-624D-8D38-D2291B647461}"/>
    <dgm:cxn modelId="{ED09CC52-F3B6-6F40-842C-AC7D349035F7}" srcId="{514FD7E4-BFDD-3447-B2C8-573C71416E34}" destId="{5B174F06-9250-FB4C-AAA3-DE85ACE4B15E}" srcOrd="3" destOrd="0" parTransId="{59DB61BF-BFCC-1F46-8170-CA83FEE36B1C}" sibTransId="{73619EE8-9D64-FD44-8287-3A003FD2EDE6}"/>
    <dgm:cxn modelId="{E2120A79-D01D-A341-AABD-8B512D669666}" type="presOf" srcId="{7F3016E3-0D92-0044-A01C-41B9B0DA0877}" destId="{3D698358-A29C-C543-A8DF-CFED4D51BBA1}" srcOrd="1" destOrd="0" presId="urn:microsoft.com/office/officeart/2005/8/layout/cycle4"/>
    <dgm:cxn modelId="{8F59DE7F-FB4D-9B48-B4BC-33AF1FF3313F}" type="presOf" srcId="{1D2224A6-C839-FB41-97CD-86A80986B4C2}" destId="{E872E985-4A9A-644C-A3A0-500AED52C9A7}" srcOrd="0" destOrd="0" presId="urn:microsoft.com/office/officeart/2005/8/layout/cycle4"/>
    <dgm:cxn modelId="{8E2A3089-7FA7-054D-8EC4-155DE8BA058B}" type="presOf" srcId="{514FD7E4-BFDD-3447-B2C8-573C71416E34}" destId="{0DD6D0C0-E6A0-5047-9F23-33B1404F398F}" srcOrd="0" destOrd="0" presId="urn:microsoft.com/office/officeart/2005/8/layout/cycle4"/>
    <dgm:cxn modelId="{8ED6DA8E-3606-B743-A832-75731BBA7D57}" type="presOf" srcId="{1D03F518-9C29-6746-9F3B-00CFAC538640}" destId="{3D698358-A29C-C543-A8DF-CFED4D51BBA1}" srcOrd="1" destOrd="1" presId="urn:microsoft.com/office/officeart/2005/8/layout/cycle4"/>
    <dgm:cxn modelId="{BE17798F-CF90-654C-B88C-1042F993AFD5}" type="presOf" srcId="{C893F431-1567-5D49-A2DF-1D738A2CC527}" destId="{99E0D73C-D375-E44D-996E-F40FF1349B32}" srcOrd="1" destOrd="2" presId="urn:microsoft.com/office/officeart/2005/8/layout/cycle4"/>
    <dgm:cxn modelId="{94D10394-61A3-8A46-8BAE-81210EC5302D}" srcId="{C4D908E6-CBF8-164D-9DA7-FA62D8CCD2DA}" destId="{C893F431-1567-5D49-A2DF-1D738A2CC527}" srcOrd="2" destOrd="0" parTransId="{DA30A303-79B8-A641-853B-265201E23EB4}" sibTransId="{CB0E6ED0-7D9A-A646-8E23-27D57323E911}"/>
    <dgm:cxn modelId="{83255094-8A88-2D46-8A18-F221DC26B191}" srcId="{514FD7E4-BFDD-3447-B2C8-573C71416E34}" destId="{A5A70B01-92E4-104C-9369-D61D4FB2B2F1}" srcOrd="1" destOrd="0" parTransId="{63613045-A7B9-C441-B12D-F055F6AF675C}" sibTransId="{FC8491AD-96DC-6C4B-9415-7DAE253F3AF5}"/>
    <dgm:cxn modelId="{8F14F99B-AD13-BB48-81CC-C548F1ADCABE}" type="presOf" srcId="{7AA8C1BF-7E25-4344-A304-47B0C21F492A}" destId="{1CB5CF30-3BA4-6B4B-8BD1-AC4CEA1C5B4F}" srcOrd="1" destOrd="2" presId="urn:microsoft.com/office/officeart/2005/8/layout/cycle4"/>
    <dgm:cxn modelId="{A2B717A3-C522-C340-BCD0-7F8681970A2B}" type="presOf" srcId="{7AA8C1BF-7E25-4344-A304-47B0C21F492A}" destId="{A14CE43F-FDEC-1B46-A17C-74F3F1AA6B64}" srcOrd="0" destOrd="2" presId="urn:microsoft.com/office/officeart/2005/8/layout/cycle4"/>
    <dgm:cxn modelId="{FC0710AB-3E45-3A4C-9B1E-1D3CE028A620}" type="presOf" srcId="{A5A70B01-92E4-104C-9369-D61D4FB2B2F1}" destId="{2A7D9C58-F567-724E-B8FA-4F5BA8926CD0}" srcOrd="0" destOrd="0" presId="urn:microsoft.com/office/officeart/2005/8/layout/cycle4"/>
    <dgm:cxn modelId="{B65E70AD-C448-1544-BF66-4567ACCEE85D}" type="presOf" srcId="{9855434E-EB89-3341-9CF2-93A80FE60C3A}" destId="{59848EBB-8367-F848-A17F-058C9345D895}" srcOrd="1" destOrd="2" presId="urn:microsoft.com/office/officeart/2005/8/layout/cycle4"/>
    <dgm:cxn modelId="{A846A7AD-3FDF-5446-B962-3AA4EDD9C509}" type="presOf" srcId="{ADA211D5-5B06-BD47-ABBB-029078113698}" destId="{4A6AD620-C737-104F-91D2-DFFB27C8666F}" srcOrd="0" destOrd="2" presId="urn:microsoft.com/office/officeart/2005/8/layout/cycle4"/>
    <dgm:cxn modelId="{24F3B7AF-79CC-0043-B73D-49C0098CDF67}" type="presOf" srcId="{817C782C-F6A0-1543-A6C5-0E06212D4E62}" destId="{A14CE43F-FDEC-1B46-A17C-74F3F1AA6B64}" srcOrd="0" destOrd="1" presId="urn:microsoft.com/office/officeart/2005/8/layout/cycle4"/>
    <dgm:cxn modelId="{AB6747BB-90D8-224F-A851-A8E52BCBA1DE}" srcId="{C4D908E6-CBF8-164D-9DA7-FA62D8CCD2DA}" destId="{1D2224A6-C839-FB41-97CD-86A80986B4C2}" srcOrd="0" destOrd="0" parTransId="{B53C85C4-A348-AB4A-BF47-EA458545E720}" sibTransId="{7C00729A-DC88-5D4C-9014-D3B1DAE05F39}"/>
    <dgm:cxn modelId="{832020BD-FE34-D348-B48E-A3C7D51B7EB6}" type="presOf" srcId="{C7DA41DA-E071-A846-915C-1C1430C38BA0}" destId="{1CB5CF30-3BA4-6B4B-8BD1-AC4CEA1C5B4F}" srcOrd="1" destOrd="0" presId="urn:microsoft.com/office/officeart/2005/8/layout/cycle4"/>
    <dgm:cxn modelId="{B3885BC4-2FF5-2B40-945A-1CE9D6F18FDB}" srcId="{514FD7E4-BFDD-3447-B2C8-573C71416E34}" destId="{BD46DC0E-30F9-6B4C-B933-1684A2C27ACB}" srcOrd="2" destOrd="0" parTransId="{E72AFD46-3F9D-BD4F-86FB-E418BF0AF035}" sibTransId="{B13586B6-0E6A-5548-9ABD-3291E2B81B87}"/>
    <dgm:cxn modelId="{B28693CE-AD0A-C64D-BD6C-65759CE41247}" type="presOf" srcId="{5EE33126-36BD-6645-8FF3-3E62BD9EEDA4}" destId="{59848EBB-8367-F848-A17F-058C9345D895}" srcOrd="1" destOrd="0" presId="urn:microsoft.com/office/officeart/2005/8/layout/cycle4"/>
    <dgm:cxn modelId="{48E1E2DF-97A3-A64A-ADAC-485BB4DED8BB}" srcId="{A5A70B01-92E4-104C-9369-D61D4FB2B2F1}" destId="{7F3016E3-0D92-0044-A01C-41B9B0DA0877}" srcOrd="0" destOrd="0" parTransId="{4EAB3B29-873D-E948-A714-60ECA289E663}" sibTransId="{57C8CDA4-851F-DF4B-8729-A9791A959FBB}"/>
    <dgm:cxn modelId="{9639EBE0-9163-0A44-958A-E8387A8167DB}" type="presOf" srcId="{ADA211D5-5B06-BD47-ABBB-029078113698}" destId="{3D698358-A29C-C543-A8DF-CFED4D51BBA1}" srcOrd="1" destOrd="2" presId="urn:microsoft.com/office/officeart/2005/8/layout/cycle4"/>
    <dgm:cxn modelId="{DFF430F6-F251-A74F-A83F-572FC83CDAC4}" type="presOf" srcId="{DEE7D984-37E8-544F-B661-1D18F9C095FD}" destId="{99E0D73C-D375-E44D-996E-F40FF1349B32}" srcOrd="1" destOrd="1" presId="urn:microsoft.com/office/officeart/2005/8/layout/cycle4"/>
    <dgm:cxn modelId="{EFBA86F6-CFEA-6D47-AF57-AE25A2FAE54D}" type="presOf" srcId="{C893F431-1567-5D49-A2DF-1D738A2CC527}" destId="{E872E985-4A9A-644C-A3A0-500AED52C9A7}" srcOrd="0" destOrd="2" presId="urn:microsoft.com/office/officeart/2005/8/layout/cycle4"/>
    <dgm:cxn modelId="{E72145FA-538C-DE41-BAC5-068EFD4F246F}" srcId="{5B174F06-9250-FB4C-AAA3-DE85ACE4B15E}" destId="{9855434E-EB89-3341-9CF2-93A80FE60C3A}" srcOrd="2" destOrd="0" parTransId="{4CB7C25B-33DE-C34D-AA93-4A403C286E66}" sibTransId="{C0CD314F-7AB0-9E45-A889-429BFD576FE1}"/>
    <dgm:cxn modelId="{8C447AFE-966F-2742-96F6-C6BA5C648F35}" type="presOf" srcId="{C7DA41DA-E071-A846-915C-1C1430C38BA0}" destId="{A14CE43F-FDEC-1B46-A17C-74F3F1AA6B64}" srcOrd="0" destOrd="0" presId="urn:microsoft.com/office/officeart/2005/8/layout/cycle4"/>
    <dgm:cxn modelId="{70A25677-3F62-7B43-9D21-D93D2E2AE5A6}" type="presParOf" srcId="{0DD6D0C0-E6A0-5047-9F23-33B1404F398F}" destId="{0428BB62-0C63-9542-97E1-CFCB80F8285F}" srcOrd="0" destOrd="0" presId="urn:microsoft.com/office/officeart/2005/8/layout/cycle4"/>
    <dgm:cxn modelId="{A6CA0514-FFBA-2948-ACB6-8060B576DB1F}" type="presParOf" srcId="{0428BB62-0C63-9542-97E1-CFCB80F8285F}" destId="{83E5ABAD-1931-5E40-AC4C-02503F5D18DB}" srcOrd="0" destOrd="0" presId="urn:microsoft.com/office/officeart/2005/8/layout/cycle4"/>
    <dgm:cxn modelId="{CDC328F7-A1E6-D143-9DC8-310E37BF1B5C}" type="presParOf" srcId="{83E5ABAD-1931-5E40-AC4C-02503F5D18DB}" destId="{E872E985-4A9A-644C-A3A0-500AED52C9A7}" srcOrd="0" destOrd="0" presId="urn:microsoft.com/office/officeart/2005/8/layout/cycle4"/>
    <dgm:cxn modelId="{5E091342-6A3E-3646-BEF7-0ACC77A4D687}" type="presParOf" srcId="{83E5ABAD-1931-5E40-AC4C-02503F5D18DB}" destId="{99E0D73C-D375-E44D-996E-F40FF1349B32}" srcOrd="1" destOrd="0" presId="urn:microsoft.com/office/officeart/2005/8/layout/cycle4"/>
    <dgm:cxn modelId="{9B3FF863-2F56-684D-A3A6-7BEE93303F0A}" type="presParOf" srcId="{0428BB62-0C63-9542-97E1-CFCB80F8285F}" destId="{3AB1B6C7-D9EB-804B-B427-063FEFC93BCC}" srcOrd="1" destOrd="0" presId="urn:microsoft.com/office/officeart/2005/8/layout/cycle4"/>
    <dgm:cxn modelId="{D6931CC5-BF31-9643-89C9-658060DD0E23}" type="presParOf" srcId="{3AB1B6C7-D9EB-804B-B427-063FEFC93BCC}" destId="{4A6AD620-C737-104F-91D2-DFFB27C8666F}" srcOrd="0" destOrd="0" presId="urn:microsoft.com/office/officeart/2005/8/layout/cycle4"/>
    <dgm:cxn modelId="{F4C3EF05-5F6D-4448-AE4F-3176A64489AF}" type="presParOf" srcId="{3AB1B6C7-D9EB-804B-B427-063FEFC93BCC}" destId="{3D698358-A29C-C543-A8DF-CFED4D51BBA1}" srcOrd="1" destOrd="0" presId="urn:microsoft.com/office/officeart/2005/8/layout/cycle4"/>
    <dgm:cxn modelId="{A8303CB1-1A9F-824E-9622-C9A51A4F3B8F}" type="presParOf" srcId="{0428BB62-0C63-9542-97E1-CFCB80F8285F}" destId="{CF19D92C-7B92-BD4D-9FAA-207E8839F333}" srcOrd="2" destOrd="0" presId="urn:microsoft.com/office/officeart/2005/8/layout/cycle4"/>
    <dgm:cxn modelId="{64D7AEC5-4F60-7749-8B79-A60D9D16AD83}" type="presParOf" srcId="{CF19D92C-7B92-BD4D-9FAA-207E8839F333}" destId="{A14CE43F-FDEC-1B46-A17C-74F3F1AA6B64}" srcOrd="0" destOrd="0" presId="urn:microsoft.com/office/officeart/2005/8/layout/cycle4"/>
    <dgm:cxn modelId="{7DD5A6D1-495F-4F4E-991C-BAB8F0F91A42}" type="presParOf" srcId="{CF19D92C-7B92-BD4D-9FAA-207E8839F333}" destId="{1CB5CF30-3BA4-6B4B-8BD1-AC4CEA1C5B4F}" srcOrd="1" destOrd="0" presId="urn:microsoft.com/office/officeart/2005/8/layout/cycle4"/>
    <dgm:cxn modelId="{09E9F1DD-B9EE-E94B-9BA4-BB5920019035}" type="presParOf" srcId="{0428BB62-0C63-9542-97E1-CFCB80F8285F}" destId="{BA078761-BAF0-DC42-B0B3-C718FEE222E7}" srcOrd="3" destOrd="0" presId="urn:microsoft.com/office/officeart/2005/8/layout/cycle4"/>
    <dgm:cxn modelId="{5E960848-4B15-0B4A-BD8A-9FA82FC465C3}" type="presParOf" srcId="{BA078761-BAF0-DC42-B0B3-C718FEE222E7}" destId="{42A6D493-E3B4-AE4F-86BA-D0BA6DB1BB0E}" srcOrd="0" destOrd="0" presId="urn:microsoft.com/office/officeart/2005/8/layout/cycle4"/>
    <dgm:cxn modelId="{ABBEBB31-9DDD-BB47-890F-F7726C9E6AB6}" type="presParOf" srcId="{BA078761-BAF0-DC42-B0B3-C718FEE222E7}" destId="{59848EBB-8367-F848-A17F-058C9345D895}" srcOrd="1" destOrd="0" presId="urn:microsoft.com/office/officeart/2005/8/layout/cycle4"/>
    <dgm:cxn modelId="{3E7AA29C-0605-B841-BC2E-C1D8CC7ADDC9}" type="presParOf" srcId="{0428BB62-0C63-9542-97E1-CFCB80F8285F}" destId="{7261AE8A-0260-2A4E-9B0B-4BDADDD65928}" srcOrd="4" destOrd="0" presId="urn:microsoft.com/office/officeart/2005/8/layout/cycle4"/>
    <dgm:cxn modelId="{CC996978-FD8C-9E4E-8F13-0F903FD5EB0E}" type="presParOf" srcId="{0DD6D0C0-E6A0-5047-9F23-33B1404F398F}" destId="{F3CC4C9C-3490-DC46-AF4A-928F0263C2D7}" srcOrd="1" destOrd="0" presId="urn:microsoft.com/office/officeart/2005/8/layout/cycle4"/>
    <dgm:cxn modelId="{C2A89DC8-3416-CC42-8FD1-9B7AAC5C0007}" type="presParOf" srcId="{F3CC4C9C-3490-DC46-AF4A-928F0263C2D7}" destId="{BD1E9423-F61D-F444-9FBD-4034DEB08913}" srcOrd="0" destOrd="0" presId="urn:microsoft.com/office/officeart/2005/8/layout/cycle4"/>
    <dgm:cxn modelId="{3FACD02D-5626-C64E-A002-36CDC4C9465B}" type="presParOf" srcId="{F3CC4C9C-3490-DC46-AF4A-928F0263C2D7}" destId="{2A7D9C58-F567-724E-B8FA-4F5BA8926CD0}" srcOrd="1" destOrd="0" presId="urn:microsoft.com/office/officeart/2005/8/layout/cycle4"/>
    <dgm:cxn modelId="{1A016E10-C5CF-1143-86D6-F30EDFF3B905}" type="presParOf" srcId="{F3CC4C9C-3490-DC46-AF4A-928F0263C2D7}" destId="{32E13478-0D4F-A64A-849D-F3C2E79E9525}" srcOrd="2" destOrd="0" presId="urn:microsoft.com/office/officeart/2005/8/layout/cycle4"/>
    <dgm:cxn modelId="{EE4B1095-3C6B-234F-BD7D-D87D0794676F}" type="presParOf" srcId="{F3CC4C9C-3490-DC46-AF4A-928F0263C2D7}" destId="{F7252F77-3CA3-4640-9B82-C715CFD53549}" srcOrd="3" destOrd="0" presId="urn:microsoft.com/office/officeart/2005/8/layout/cycle4"/>
    <dgm:cxn modelId="{8F50A440-1110-CE46-B70F-9FC5B3B55233}" type="presParOf" srcId="{F3CC4C9C-3490-DC46-AF4A-928F0263C2D7}" destId="{114A612D-A0CA-194C-BEEE-541D557594B0}" srcOrd="4" destOrd="0" presId="urn:microsoft.com/office/officeart/2005/8/layout/cycle4"/>
    <dgm:cxn modelId="{BCB3DEDF-5282-3B43-AFAC-49AAF6EFF4D8}" type="presParOf" srcId="{0DD6D0C0-E6A0-5047-9F23-33B1404F398F}" destId="{37D3C9CF-E73F-B74F-8BC0-8F2D6E3DE82F}" srcOrd="2" destOrd="0" presId="urn:microsoft.com/office/officeart/2005/8/layout/cycle4"/>
    <dgm:cxn modelId="{8DC86235-1ADE-DD4F-A346-CB9ACA95E185}" type="presParOf" srcId="{0DD6D0C0-E6A0-5047-9F23-33B1404F398F}" destId="{BB1A5AFA-6CBF-0749-A190-9E8542AD7EF4}"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4CE43F-FDEC-1B46-A17C-74F3F1AA6B64}">
      <dsp:nvSpPr>
        <dsp:cNvPr id="0" name=""/>
        <dsp:cNvSpPr/>
      </dsp:nvSpPr>
      <dsp:spPr>
        <a:xfrm>
          <a:off x="4035931" y="2358801"/>
          <a:ext cx="2045918" cy="14970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latin typeface="Microsoft YaHei" panose="020B0503020204020204" pitchFamily="34" charset="-122"/>
              <a:ea typeface="Microsoft YaHei" panose="020B0503020204020204" pitchFamily="34" charset="-122"/>
            </a:rPr>
            <a:t>色彩</a:t>
          </a:r>
        </a:p>
        <a:p>
          <a:pPr marL="171450" lvl="1" indent="-171450" algn="l" defTabSz="711200">
            <a:lnSpc>
              <a:spcPct val="90000"/>
            </a:lnSpc>
            <a:spcBef>
              <a:spcPct val="0"/>
            </a:spcBef>
            <a:spcAft>
              <a:spcPct val="15000"/>
            </a:spcAft>
            <a:buChar char="•"/>
          </a:pPr>
          <a:r>
            <a:rPr lang="zh-CN" altLang="en-US" sz="1600" kern="1200" dirty="0">
              <a:latin typeface="Microsoft YaHei" panose="020B0503020204020204" pitchFamily="34" charset="-122"/>
              <a:ea typeface="Microsoft YaHei" panose="020B0503020204020204" pitchFamily="34" charset="-122"/>
            </a:rPr>
            <a:t>布局、大小</a:t>
          </a:r>
        </a:p>
        <a:p>
          <a:pPr marL="171450" lvl="1" indent="-171450" algn="l" defTabSz="711200">
            <a:lnSpc>
              <a:spcPct val="90000"/>
            </a:lnSpc>
            <a:spcBef>
              <a:spcPct val="0"/>
            </a:spcBef>
            <a:spcAft>
              <a:spcPct val="15000"/>
            </a:spcAft>
            <a:buChar char="•"/>
          </a:pPr>
          <a:r>
            <a:rPr lang="zh-CN" altLang="en-US" sz="1600" kern="1200" dirty="0">
              <a:latin typeface="Microsoft YaHei" panose="020B0503020204020204" pitchFamily="34" charset="-122"/>
              <a:ea typeface="Microsoft YaHei" panose="020B0503020204020204" pitchFamily="34" charset="-122"/>
            </a:rPr>
            <a:t>位置</a:t>
          </a:r>
        </a:p>
      </dsp:txBody>
      <dsp:txXfrm>
        <a:off x="4682591" y="2765948"/>
        <a:ext cx="1366372" cy="1057016"/>
      </dsp:txXfrm>
    </dsp:sp>
    <dsp:sp modelId="{42A6D493-E3B4-AE4F-86BA-D0BA6DB1BB0E}">
      <dsp:nvSpPr>
        <dsp:cNvPr id="0" name=""/>
        <dsp:cNvSpPr/>
      </dsp:nvSpPr>
      <dsp:spPr>
        <a:xfrm>
          <a:off x="362364" y="2213549"/>
          <a:ext cx="2045918" cy="1683596"/>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latin typeface="Microsoft YaHei" panose="020B0503020204020204" pitchFamily="34" charset="-122"/>
              <a:ea typeface="Microsoft YaHei" panose="020B0503020204020204" pitchFamily="34" charset="-122"/>
            </a:rPr>
            <a:t>推荐算法</a:t>
          </a:r>
        </a:p>
        <a:p>
          <a:pPr marL="171450" lvl="1" indent="-171450" algn="l" defTabSz="711200">
            <a:lnSpc>
              <a:spcPct val="90000"/>
            </a:lnSpc>
            <a:spcBef>
              <a:spcPct val="0"/>
            </a:spcBef>
            <a:spcAft>
              <a:spcPct val="15000"/>
            </a:spcAft>
            <a:buChar char="•"/>
          </a:pPr>
          <a:r>
            <a:rPr lang="zh-CN" altLang="en-US" sz="1600" kern="1200" dirty="0">
              <a:latin typeface="Microsoft YaHei" panose="020B0503020204020204" pitchFamily="34" charset="-122"/>
              <a:ea typeface="Microsoft YaHei" panose="020B0503020204020204" pitchFamily="34" charset="-122"/>
            </a:rPr>
            <a:t>广告算法</a:t>
          </a:r>
        </a:p>
        <a:p>
          <a:pPr marL="171450" lvl="1" indent="-171450" algn="l" defTabSz="711200">
            <a:lnSpc>
              <a:spcPct val="90000"/>
            </a:lnSpc>
            <a:spcBef>
              <a:spcPct val="0"/>
            </a:spcBef>
            <a:spcAft>
              <a:spcPct val="15000"/>
            </a:spcAft>
            <a:buChar char="•"/>
          </a:pPr>
          <a:r>
            <a:rPr lang="zh-CN" altLang="en-US" sz="1600" kern="1200" dirty="0">
              <a:latin typeface="Microsoft YaHei" panose="020B0503020204020204" pitchFamily="34" charset="-122"/>
              <a:ea typeface="Microsoft YaHei" panose="020B0503020204020204" pitchFamily="34" charset="-122"/>
            </a:rPr>
            <a:t>千人千面</a:t>
          </a:r>
        </a:p>
      </dsp:txBody>
      <dsp:txXfrm>
        <a:off x="399347" y="2671431"/>
        <a:ext cx="1358176" cy="1188731"/>
      </dsp:txXfrm>
    </dsp:sp>
    <dsp:sp modelId="{4A6AD620-C737-104F-91D2-DFFB27C8666F}">
      <dsp:nvSpPr>
        <dsp:cNvPr id="0" name=""/>
        <dsp:cNvSpPr/>
      </dsp:nvSpPr>
      <dsp:spPr>
        <a:xfrm>
          <a:off x="3534988" y="-43752"/>
          <a:ext cx="2461239" cy="132529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9388" lvl="1" indent="0" algn="l" defTabSz="711200">
            <a:lnSpc>
              <a:spcPct val="90000"/>
            </a:lnSpc>
            <a:spcBef>
              <a:spcPct val="0"/>
            </a:spcBef>
            <a:spcAft>
              <a:spcPct val="15000"/>
            </a:spcAft>
            <a:buChar char="•"/>
            <a:tabLst/>
          </a:pPr>
          <a:r>
            <a:rPr lang="zh-CN" altLang="en-US" sz="1600" kern="1200" dirty="0">
              <a:latin typeface="Microsoft YaHei" panose="020B0503020204020204" pitchFamily="34" charset="-122"/>
              <a:ea typeface="Microsoft YaHei" panose="020B0503020204020204" pitchFamily="34" charset="-122"/>
            </a:rPr>
            <a:t>获客落地页</a:t>
          </a:r>
        </a:p>
        <a:p>
          <a:pPr marL="179388" lvl="1" indent="0" algn="l" defTabSz="711200">
            <a:lnSpc>
              <a:spcPct val="90000"/>
            </a:lnSpc>
            <a:spcBef>
              <a:spcPct val="0"/>
            </a:spcBef>
            <a:spcAft>
              <a:spcPct val="15000"/>
            </a:spcAft>
            <a:buChar char="•"/>
            <a:tabLst/>
          </a:pPr>
          <a:r>
            <a:rPr lang="zh-CN" altLang="en-US" sz="1600" kern="1200" dirty="0">
              <a:latin typeface="Microsoft YaHei" panose="020B0503020204020204" pitchFamily="34" charset="-122"/>
              <a:ea typeface="Microsoft YaHei" panose="020B0503020204020204" pitchFamily="34" charset="-122"/>
            </a:rPr>
            <a:t>广告素材</a:t>
          </a:r>
        </a:p>
        <a:p>
          <a:pPr marL="179388" lvl="1" indent="0" algn="l" defTabSz="711200">
            <a:lnSpc>
              <a:spcPct val="90000"/>
            </a:lnSpc>
            <a:spcBef>
              <a:spcPct val="0"/>
            </a:spcBef>
            <a:spcAft>
              <a:spcPct val="15000"/>
            </a:spcAft>
            <a:buChar char="•"/>
            <a:tabLst/>
          </a:pPr>
          <a:r>
            <a:rPr lang="zh-CN" altLang="en-US" sz="1600" kern="1200" dirty="0">
              <a:latin typeface="Microsoft YaHei" panose="020B0503020204020204" pitchFamily="34" charset="-122"/>
              <a:ea typeface="Microsoft YaHei" panose="020B0503020204020204" pitchFamily="34" charset="-122"/>
            </a:rPr>
            <a:t>应用商店详情</a:t>
          </a:r>
        </a:p>
      </dsp:txBody>
      <dsp:txXfrm>
        <a:off x="4302472" y="-14640"/>
        <a:ext cx="1664643" cy="935744"/>
      </dsp:txXfrm>
    </dsp:sp>
    <dsp:sp modelId="{E872E985-4A9A-644C-A3A0-500AED52C9A7}">
      <dsp:nvSpPr>
        <dsp:cNvPr id="0" name=""/>
        <dsp:cNvSpPr/>
      </dsp:nvSpPr>
      <dsp:spPr>
        <a:xfrm>
          <a:off x="404572" y="-43752"/>
          <a:ext cx="2045918" cy="132529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dirty="0">
              <a:latin typeface="Microsoft YaHei" panose="020B0503020204020204" pitchFamily="34" charset="-122"/>
              <a:ea typeface="Microsoft YaHei" panose="020B0503020204020204" pitchFamily="34" charset="-122"/>
            </a:rPr>
            <a:t>产品优化</a:t>
          </a:r>
        </a:p>
        <a:p>
          <a:pPr marL="171450" lvl="1" indent="-171450" algn="l" defTabSz="711200">
            <a:lnSpc>
              <a:spcPct val="90000"/>
            </a:lnSpc>
            <a:spcBef>
              <a:spcPct val="0"/>
            </a:spcBef>
            <a:spcAft>
              <a:spcPct val="15000"/>
            </a:spcAft>
            <a:buChar char="•"/>
          </a:pPr>
          <a:r>
            <a:rPr lang="zh-CN" altLang="en-US" sz="1600" kern="1200" dirty="0">
              <a:latin typeface="Microsoft YaHei" panose="020B0503020204020204" pitchFamily="34" charset="-122"/>
              <a:ea typeface="Microsoft YaHei" panose="020B0503020204020204" pitchFamily="34" charset="-122"/>
            </a:rPr>
            <a:t>活动优化</a:t>
          </a:r>
        </a:p>
        <a:p>
          <a:pPr marL="171450" lvl="1" indent="-171450" algn="l" defTabSz="711200">
            <a:lnSpc>
              <a:spcPct val="90000"/>
            </a:lnSpc>
            <a:spcBef>
              <a:spcPct val="0"/>
            </a:spcBef>
            <a:spcAft>
              <a:spcPct val="15000"/>
            </a:spcAft>
            <a:buChar char="•"/>
          </a:pPr>
          <a:r>
            <a:rPr lang="zh-CN" altLang="en-US" sz="1600" kern="1200" dirty="0">
              <a:latin typeface="Microsoft YaHei" panose="020B0503020204020204" pitchFamily="34" charset="-122"/>
              <a:ea typeface="Microsoft YaHei" panose="020B0503020204020204" pitchFamily="34" charset="-122"/>
            </a:rPr>
            <a:t>流程优化</a:t>
          </a:r>
        </a:p>
      </dsp:txBody>
      <dsp:txXfrm>
        <a:off x="433684" y="-14640"/>
        <a:ext cx="1373918" cy="935744"/>
      </dsp:txXfrm>
    </dsp:sp>
    <dsp:sp modelId="{BD1E9423-F61D-F444-9FBD-4034DEB08913}">
      <dsp:nvSpPr>
        <dsp:cNvPr id="0" name=""/>
        <dsp:cNvSpPr/>
      </dsp:nvSpPr>
      <dsp:spPr>
        <a:xfrm>
          <a:off x="1365700" y="281891"/>
          <a:ext cx="1793284" cy="1793284"/>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altLang="zh-CN" sz="2300" kern="1200" dirty="0">
              <a:latin typeface="Microsoft YaHei" panose="020B0503020204020204" pitchFamily="34" charset="-122"/>
              <a:ea typeface="Microsoft YaHei" panose="020B0503020204020204" pitchFamily="34" charset="-122"/>
            </a:rPr>
            <a:t>App</a:t>
          </a:r>
          <a:endParaRPr lang="zh-CN" altLang="en-US" sz="2300" kern="1200" dirty="0">
            <a:latin typeface="Microsoft YaHei" panose="020B0503020204020204" pitchFamily="34" charset="-122"/>
            <a:ea typeface="Microsoft YaHei" panose="020B0503020204020204" pitchFamily="34" charset="-122"/>
          </a:endParaRPr>
        </a:p>
      </dsp:txBody>
      <dsp:txXfrm>
        <a:off x="1890941" y="807132"/>
        <a:ext cx="1268043" cy="1268043"/>
      </dsp:txXfrm>
    </dsp:sp>
    <dsp:sp modelId="{2A7D9C58-F567-724E-B8FA-4F5BA8926CD0}">
      <dsp:nvSpPr>
        <dsp:cNvPr id="0" name=""/>
        <dsp:cNvSpPr/>
      </dsp:nvSpPr>
      <dsp:spPr>
        <a:xfrm rot="5400000">
          <a:off x="3200408" y="323315"/>
          <a:ext cx="1793284" cy="1793284"/>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latin typeface="Microsoft YaHei" panose="020B0503020204020204" pitchFamily="34" charset="-122"/>
              <a:ea typeface="Microsoft YaHei" panose="020B0503020204020204" pitchFamily="34" charset="-122"/>
            </a:rPr>
            <a:t>落地页</a:t>
          </a:r>
        </a:p>
      </dsp:txBody>
      <dsp:txXfrm rot="-5400000">
        <a:off x="3200408" y="848556"/>
        <a:ext cx="1268043" cy="1268043"/>
      </dsp:txXfrm>
    </dsp:sp>
    <dsp:sp modelId="{32E13478-0D4F-A64A-849D-F3C2E79E9525}">
      <dsp:nvSpPr>
        <dsp:cNvPr id="0" name=""/>
        <dsp:cNvSpPr/>
      </dsp:nvSpPr>
      <dsp:spPr>
        <a:xfrm rot="10800000">
          <a:off x="3241815" y="2158006"/>
          <a:ext cx="1793284" cy="1793284"/>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en-US" altLang="zh-CN" sz="2300" kern="1200" dirty="0">
              <a:latin typeface="Microsoft YaHei" panose="020B0503020204020204" pitchFamily="34" charset="-122"/>
              <a:ea typeface="Microsoft YaHei" panose="020B0503020204020204" pitchFamily="34" charset="-122"/>
            </a:rPr>
            <a:t>UI</a:t>
          </a:r>
          <a:r>
            <a:rPr lang="zh-CN" altLang="en-US" sz="2300" kern="1200" dirty="0">
              <a:latin typeface="Microsoft YaHei" panose="020B0503020204020204" pitchFamily="34" charset="-122"/>
              <a:ea typeface="Microsoft YaHei" panose="020B0503020204020204" pitchFamily="34" charset="-122"/>
            </a:rPr>
            <a:t>设计</a:t>
          </a:r>
        </a:p>
      </dsp:txBody>
      <dsp:txXfrm rot="10800000">
        <a:off x="3241815" y="2158006"/>
        <a:ext cx="1268043" cy="1268043"/>
      </dsp:txXfrm>
    </dsp:sp>
    <dsp:sp modelId="{F7252F77-3CA3-4640-9B82-C715CFD53549}">
      <dsp:nvSpPr>
        <dsp:cNvPr id="0" name=""/>
        <dsp:cNvSpPr/>
      </dsp:nvSpPr>
      <dsp:spPr>
        <a:xfrm rot="16200000">
          <a:off x="1365700" y="2158006"/>
          <a:ext cx="1793284" cy="1793284"/>
        </a:xfrm>
        <a:prstGeom prst="pieWedg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163576" rIns="163576" bIns="163576" numCol="1" spcCol="1270" anchor="ctr" anchorCtr="0">
          <a:noAutofit/>
        </a:bodyPr>
        <a:lstStyle/>
        <a:p>
          <a:pPr marL="0" lvl="0" indent="0" algn="ctr" defTabSz="1022350">
            <a:lnSpc>
              <a:spcPct val="90000"/>
            </a:lnSpc>
            <a:spcBef>
              <a:spcPct val="0"/>
            </a:spcBef>
            <a:spcAft>
              <a:spcPct val="35000"/>
            </a:spcAft>
            <a:buNone/>
          </a:pPr>
          <a:r>
            <a:rPr lang="zh-CN" altLang="en-US" sz="2300" kern="1200" dirty="0">
              <a:latin typeface="Microsoft YaHei" panose="020B0503020204020204" pitchFamily="34" charset="-122"/>
              <a:ea typeface="Microsoft YaHei" panose="020B0503020204020204" pitchFamily="34" charset="-122"/>
            </a:rPr>
            <a:t>算法</a:t>
          </a:r>
        </a:p>
      </dsp:txBody>
      <dsp:txXfrm rot="5400000">
        <a:off x="1890941" y="2158006"/>
        <a:ext cx="1268043" cy="1268043"/>
      </dsp:txXfrm>
    </dsp:sp>
    <dsp:sp modelId="{37D3C9CF-E73F-B74F-8BC0-8F2D6E3DE82F}">
      <dsp:nvSpPr>
        <dsp:cNvPr id="0" name=""/>
        <dsp:cNvSpPr/>
      </dsp:nvSpPr>
      <dsp:spPr>
        <a:xfrm>
          <a:off x="2890820" y="1743852"/>
          <a:ext cx="619159" cy="538399"/>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B1A5AFA-6CBF-0749-A190-9E8542AD7EF4}">
      <dsp:nvSpPr>
        <dsp:cNvPr id="0" name=""/>
        <dsp:cNvSpPr/>
      </dsp:nvSpPr>
      <dsp:spPr>
        <a:xfrm rot="10800000">
          <a:off x="2890820" y="1950929"/>
          <a:ext cx="619159" cy="538399"/>
        </a:xfrm>
        <a:prstGeom prst="circularArrow">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2024/6/11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panose="020F0502020204030204" charset="-122"/>
                <a:ea typeface="思源黑体" panose="020F0502020204030204" charset="-122"/>
                <a:cs typeface="思源黑体" panose="020F050202020403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panose="020F0502020204030204" charset="-122"/>
                <a:ea typeface="思源黑体" panose="020F0502020204030204" charset="-122"/>
                <a:cs typeface="思源黑体" panose="020F0502020204030204" charset="-122"/>
              </a:defRPr>
            </a:lvl1pPr>
          </a:lstStyle>
          <a:p>
            <a:fld id="{D2A48B96-639E-45A3-A0BA-2464DFDB1FAA}" type="datetimeFigureOut">
              <a:rPr lang="zh-CN" altLang="en-US" smtClean="0"/>
              <a:t>2024/6/11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panose="020F0502020204030204" charset="-122"/>
                <a:ea typeface="思源黑体" panose="020F0502020204030204" charset="-122"/>
                <a:cs typeface="思源黑体" panose="020F050202020403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panose="020F0502020204030204" charset="-122"/>
                <a:ea typeface="思源黑体" panose="020F0502020204030204" charset="-122"/>
                <a:cs typeface="思源黑体" panose="020F0502020204030204" charset="-122"/>
              </a:defRPr>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1pPr>
    <a:lvl2pPr marL="4572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2pPr>
    <a:lvl3pPr marL="9144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3pPr>
    <a:lvl4pPr marL="13716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4pPr>
    <a:lvl5pPr marL="1828800" algn="l" defTabSz="914400" rtl="0" eaLnBrk="1" latinLnBrk="0" hangingPunct="1">
      <a:defRPr sz="1200" kern="1200">
        <a:solidFill>
          <a:schemeClr val="tx1"/>
        </a:solidFill>
        <a:latin typeface="思源黑体" panose="020F0502020204030204" charset="-122"/>
        <a:ea typeface="思源黑体" panose="020F0502020204030204" charset="-122"/>
        <a:cs typeface="思源黑体" panose="020F050202020403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baidu.com/s?wd=%E7%97%85%E6%AF%92%E6%9C%A8%E9%A9%AC&amp;rsv_idx=2&amp;tn=baiduhome_pg&amp;usm=4&amp;ie=utf-8&amp;rsv_pq=c2326ec50100641f&amp;oq=%E7%99%BD%E5%B8%BD%E9%BB%91%E5%AE%A2%E5%92%8C%E9%BB%91%E5%B8%BD%E9%BB%91%E5%AE%A2%E7%9A%84%E5%8C%BA%E5%88%AB&amp;rsv_t=2e532HzKxgHJYsIA%2FacN9bSA1TTqYrF0%2BJGrmHNhXD0BDOCjIXfnqifsT%2Bo18vXvB0fE&amp;sa=re_dqa_zy&amp;icon=1"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baidu.com/s?wd=%E6%93%8D%E4%BD%9C%E7%B3%BB%E7%BB%9F&amp;rsv_idx=2&amp;tn=baiduhome_pg&amp;usm=4&amp;ie=utf-8&amp;rsv_pq=c2326ec50100641f&amp;oq=%E7%99%BD%E5%B8%BD%E9%BB%91%E5%AE%A2%E5%92%8C%E9%BB%91%E5%B8%BD%E9%BB%91%E5%AE%A2%E7%9A%84%E5%8C%BA%E5%88%AB&amp;rsv_t=2e532HzKxgHJYsIA%2FacN9bSA1TTqYrF0%2BJGrmHNhXD0BDOCjIXfnqifsT%2Bo18vXvB0fE&amp;sa=re_dqa_zy&amp;icon=1"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cn.bing.com/dict/search?q=susceptibility&amp;FORM=BDVSP6&amp;mkt=zh-cn" TargetMode="External"/><Relationship Id="rId7" Type="http://schemas.openxmlformats.org/officeDocument/2006/relationships/hyperlink" Target="http://cn.bing.com/dict/search?q=helplessness&amp;FORM=BDVSP6&amp;mkt=zh-cn"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cn.bing.com/dict/search?q=defencelessness&amp;FORM=BDVSP6&amp;mkt=zh-cn" TargetMode="External"/><Relationship Id="rId5" Type="http://schemas.openxmlformats.org/officeDocument/2006/relationships/hyperlink" Target="http://cn.bing.com/dict/search?q=defenselessness&amp;FORM=BDVSP6&amp;mkt=zh-cn" TargetMode="External"/><Relationship Id="rId4" Type="http://schemas.openxmlformats.org/officeDocument/2006/relationships/hyperlink" Target="http://cn.bing.com/dict/search?q=weakness&amp;FORM=BDVSP6&amp;mkt=zh-cn"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baike.baidu.com/view/36638.htm" TargetMode="External"/><Relationship Id="rId7" Type="http://schemas.openxmlformats.org/officeDocument/2006/relationships/hyperlink" Target="http://baike.baidu.com/view/87697.htm" TargetMode="External"/><Relationship Id="rId2" Type="http://schemas.openxmlformats.org/officeDocument/2006/relationships/slide" Target="../slides/slide8.xml"/><Relationship Id="rId1" Type="http://schemas.openxmlformats.org/officeDocument/2006/relationships/notesMaster" Target="../notesMasters/notesMaster1.xml"/><Relationship Id="rId6" Type="http://schemas.openxmlformats.org/officeDocument/2006/relationships/hyperlink" Target="http://baike.baidu.com/view/6159.htm" TargetMode="External"/><Relationship Id="rId5" Type="http://schemas.openxmlformats.org/officeDocument/2006/relationships/hyperlink" Target="http://baike.baidu.com/view/1507129.htm" TargetMode="External"/><Relationship Id="rId4" Type="http://schemas.openxmlformats.org/officeDocument/2006/relationships/hyperlink" Target="http://baike.baidu.com/view/1960.htm"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baike.baidu.com/view/25377.htm"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baike.baidu.com/view/7167245.htm" TargetMode="External"/><Relationship Id="rId2" Type="http://schemas.openxmlformats.org/officeDocument/2006/relationships/slide" Target="../slides/slide53.xml"/><Relationship Id="rId1" Type="http://schemas.openxmlformats.org/officeDocument/2006/relationships/notesMaster" Target="../notesMasters/notesMaster1.xml"/><Relationship Id="rId5" Type="http://schemas.openxmlformats.org/officeDocument/2006/relationships/hyperlink" Target="http://msdn.microsoft.com/en-us/library/ms178581(v=vs.100).aspx" TargetMode="External"/><Relationship Id="rId4" Type="http://schemas.openxmlformats.org/officeDocument/2006/relationships/hyperlink" Target="http://msdn.microsoft.com/en-us/library/ms178329.aspx" TargetMode="External"/></Relationships>
</file>

<file path=ppt/notesSlides/_rels/notesSlide32.xml.rels><?xml version="1.0" encoding="UTF-8" standalone="yes"?>
<Relationships xmlns="http://schemas.openxmlformats.org/package/2006/relationships"><Relationship Id="rId3" Type="http://schemas.openxmlformats.org/officeDocument/2006/relationships/hyperlink" Target="http://www.owasp.org/index.php/Authentication_Cheat_Sheet" TargetMode="External"/><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example.com/app/admin_getappInfo" TargetMode="External"/><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365626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342900" lvl="0" indent="-342900" algn="just">
              <a:lnSpc>
                <a:spcPct val="120000"/>
              </a:lnSpc>
              <a:buClr>
                <a:srgbClr val="2E74B5"/>
              </a:buClr>
              <a:buFont typeface="+mj-lt"/>
              <a:buAutoNum type="arabicPeriod"/>
            </a:pPr>
            <a:r>
              <a:rPr lang="zh-CN" altLang="zh-CN" sz="18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威胁模型与安全漏洞模式</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8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安全性测试的范围与方法</a:t>
            </a:r>
            <a:r>
              <a:rPr lang="en-US" altLang="zh-CN" sz="18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8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贯穿研发生命周期的安全性测试</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en-US" altLang="zh-CN" sz="1800" kern="100" dirty="0">
                <a:solidFill>
                  <a:srgbClr val="3F3F3F"/>
                </a:solidFill>
                <a:effectLst/>
                <a:latin typeface="微软雅黑" panose="020B0503020204020204" pitchFamily="34" charset="-122"/>
                <a:ea typeface="宋体" panose="02010600030101010101" pitchFamily="2" charset="-122"/>
                <a:cs typeface="宋体" panose="02010600030101010101" pitchFamily="2" charset="-122"/>
              </a:rPr>
              <a:t>Web</a:t>
            </a:r>
            <a:r>
              <a:rPr lang="zh-CN" altLang="zh-CN" sz="1800" kern="100" dirty="0">
                <a:solidFill>
                  <a:srgbClr val="3F3F3F"/>
                </a:solidFill>
                <a:effectLst/>
                <a:latin typeface="Calibri" panose="020F0502020204030204" pitchFamily="34" charset="0"/>
                <a:ea typeface="微软雅黑" panose="020B0503020204020204" pitchFamily="34" charset="-122"/>
                <a:cs typeface="宋体" panose="02010600030101010101" pitchFamily="2" charset="-122"/>
              </a:rPr>
              <a:t>安全性测试</a:t>
            </a:r>
            <a:endParaRPr lang="en-US" altLang="zh-CN" sz="1800" kern="10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20000"/>
              </a:lnSpc>
              <a:buClr>
                <a:srgbClr val="2E74B5"/>
              </a:buClr>
              <a:buFont typeface="+mj-lt"/>
              <a:buAutoNum type="arabicPeriod"/>
            </a:pPr>
            <a:r>
              <a:rPr lang="zh-CN" altLang="zh-CN" sz="1800" kern="100" dirty="0">
                <a:solidFill>
                  <a:srgbClr val="3F3F3F"/>
                </a:solidFill>
                <a:effectLst/>
                <a:ea typeface="微软雅黑" panose="020B0503020204020204" pitchFamily="34" charset="-122"/>
                <a:cs typeface="宋体" panose="02010600030101010101" pitchFamily="2" charset="-122"/>
              </a:rPr>
              <a:t>安全性测试工具</a:t>
            </a:r>
            <a:r>
              <a:rPr lang="zh-CN" altLang="zh-CN" dirty="0">
                <a:effectLst/>
              </a:rPr>
              <a:t> </a:t>
            </a:r>
            <a:endParaRPr lang="zh-CN" altLang="en-US" sz="120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943582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333333"/>
                </a:solidFill>
                <a:effectLst/>
                <a:highlight>
                  <a:srgbClr val="FFFFFF"/>
                </a:highlight>
                <a:latin typeface="-apple-system"/>
              </a:rPr>
              <a:t>白帽黑客</a:t>
            </a:r>
            <a:r>
              <a:rPr lang="zh-CN" altLang="en-US" b="0" i="0" dirty="0">
                <a:solidFill>
                  <a:srgbClr val="333333"/>
                </a:solidFill>
                <a:effectLst/>
                <a:highlight>
                  <a:srgbClr val="FFFFFF"/>
                </a:highlight>
                <a:latin typeface="-apple-system"/>
              </a:rPr>
              <a:t>，也称为白帽子黑客，是指那些专门研究或从事网络、计算机技术防御的人。他们通常受雇于各大公司，是维护世界网络、计算机安全的主要力量。白帽黑客的工作包括探测网络中的软件或系统的漏洞，并将漏洞信息告诉网站管理员，不进行破坏性更改。他们的目标是保护网络安全、修补漏洞，通过模拟黑客攻击来检测产品的可靠性。白帽黑客的行为是合法的，他们的工作出发就是要解决所有的安全问题，所看所想必然要求更加的全面、宏观。</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i="0" dirty="0">
                <a:solidFill>
                  <a:srgbClr val="333333"/>
                </a:solidFill>
                <a:effectLst/>
                <a:highlight>
                  <a:srgbClr val="FFFFFF"/>
                </a:highlight>
                <a:latin typeface="-apple-system"/>
              </a:rPr>
              <a:t>黑帽黑客</a:t>
            </a:r>
            <a:r>
              <a:rPr lang="zh-CN" altLang="en-US" b="0" i="0" dirty="0">
                <a:solidFill>
                  <a:srgbClr val="333333"/>
                </a:solidFill>
                <a:effectLst/>
                <a:highlight>
                  <a:srgbClr val="FFFFFF"/>
                </a:highlight>
                <a:latin typeface="-apple-system"/>
              </a:rPr>
              <a:t>，也称为黑帽子黑客，专门研究</a:t>
            </a:r>
            <a:r>
              <a:rPr lang="zh-CN" altLang="en-US" b="0" i="0" u="none" strike="noStrike" dirty="0">
                <a:solidFill>
                  <a:srgbClr val="2440B3"/>
                </a:solidFill>
                <a:effectLst/>
                <a:highlight>
                  <a:srgbClr val="FFFFFF"/>
                </a:highlight>
                <a:latin typeface="-apple-system"/>
                <a:hlinkClick r:id="rId3"/>
              </a:rPr>
              <a:t>病毒木马</a:t>
            </a:r>
            <a:r>
              <a:rPr lang="zh-CN" altLang="en-US" b="0" i="0" u="none" strike="noStrike" dirty="0">
                <a:solidFill>
                  <a:srgbClr val="2440B3"/>
                </a:solidFill>
                <a:effectLst/>
                <a:highlight>
                  <a:srgbClr val="FFFFFF"/>
                </a:highlight>
                <a:latin typeface="cosmicIcon"/>
                <a:hlinkClick r:id="rId3"/>
              </a:rPr>
              <a:t></a:t>
            </a:r>
            <a:r>
              <a:rPr lang="zh-CN" altLang="en-US" b="0" i="0" dirty="0">
                <a:solidFill>
                  <a:srgbClr val="333333"/>
                </a:solidFill>
                <a:effectLst/>
                <a:highlight>
                  <a:srgbClr val="FFFFFF"/>
                </a:highlight>
                <a:latin typeface="-apple-system"/>
              </a:rPr>
              <a:t>、</a:t>
            </a:r>
            <a:r>
              <a:rPr lang="zh-CN" altLang="en-US" b="0" i="0" u="none" strike="noStrike" dirty="0">
                <a:solidFill>
                  <a:srgbClr val="2440B3"/>
                </a:solidFill>
                <a:effectLst/>
                <a:highlight>
                  <a:srgbClr val="FFFFFF"/>
                </a:highlight>
                <a:latin typeface="-apple-system"/>
                <a:hlinkClick r:id="rId4"/>
              </a:rPr>
              <a:t>操作系统</a:t>
            </a:r>
            <a:r>
              <a:rPr lang="zh-CN" altLang="en-US" b="0" i="0" u="none" strike="noStrike" dirty="0">
                <a:solidFill>
                  <a:srgbClr val="2440B3"/>
                </a:solidFill>
                <a:effectLst/>
                <a:highlight>
                  <a:srgbClr val="FFFFFF"/>
                </a:highlight>
                <a:latin typeface="cosmicIcon"/>
                <a:hlinkClick r:id="rId4"/>
              </a:rPr>
              <a:t></a:t>
            </a:r>
            <a:r>
              <a:rPr lang="zh-CN" altLang="en-US" b="0" i="0" dirty="0">
                <a:solidFill>
                  <a:srgbClr val="333333"/>
                </a:solidFill>
                <a:effectLst/>
                <a:highlight>
                  <a:srgbClr val="FFFFFF"/>
                </a:highlight>
                <a:latin typeface="-apple-system"/>
              </a:rPr>
              <a:t>，寻找漏洞，并以个人意志为出发点攻击网络或计算机。黑帽黑客的行为是破坏性的，他们的目的是入侵系统，找到对他们有价值的数据。黑帽黑客的工作心态是有选择性、针对性的，只需要以点突破，找到对他们最有用的一点，以此渗透。他们的主要目的是利用黑客技术造成破坏，甚至进行网络犯罪。</a:t>
            </a:r>
          </a:p>
          <a:p>
            <a:r>
              <a:rPr lang="zh-CN" altLang="en-US" b="0" i="0" dirty="0">
                <a:solidFill>
                  <a:srgbClr val="333333"/>
                </a:solidFill>
                <a:effectLst/>
                <a:highlight>
                  <a:srgbClr val="FFFFFF"/>
                </a:highlight>
                <a:latin typeface="-apple-system"/>
              </a:rPr>
              <a:t>简而言之，白帽黑客和黑帽黑客的区别在于前者致力于保护网络安全和系统完整性，而后者则利用技术进行破坏和非法入侵。白帽黑客的行为是合法的，旨在提高系统的安全性；而黑帽黑客的行为是非法的，旨在获取非法利益或进行破坏。</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3865561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lnSpc>
                <a:spcPct val="120000"/>
              </a:lnSpc>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39585761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TW" b="1" dirty="0"/>
              <a:t>vulnerability</a:t>
            </a:r>
            <a:r>
              <a:rPr lang="zh-TW" altLang="en-US" dirty="0"/>
              <a:t> </a:t>
            </a:r>
            <a:r>
              <a:rPr lang="en-US" altLang="zh-TW" dirty="0"/>
              <a:t>[ˌ</a:t>
            </a:r>
            <a:r>
              <a:rPr lang="en-US" altLang="zh-TW" dirty="0" err="1"/>
              <a:t>vʌlnərə'bɪləti</a:t>
            </a:r>
            <a:r>
              <a:rPr lang="en-US" altLang="zh-TW" dirty="0"/>
              <a:t>] </a:t>
            </a:r>
          </a:p>
          <a:p>
            <a:r>
              <a:rPr lang="zh-TW" altLang="en-US" dirty="0"/>
              <a:t>脆弱性；弱点；易伤性；可捕性</a:t>
            </a:r>
          </a:p>
          <a:p>
            <a:r>
              <a:rPr lang="zh-TW" altLang="en-US" dirty="0"/>
              <a:t>网络漏洞；易损性；脆弱度</a:t>
            </a:r>
            <a:endParaRPr lang="en-US" altLang="zh-TW" dirty="0"/>
          </a:p>
          <a:p>
            <a:r>
              <a:rPr lang="en-US" altLang="zh-CN" dirty="0"/>
              <a:t>Adaptive capacity:</a:t>
            </a:r>
            <a:r>
              <a:rPr lang="zh-CN" altLang="en-US" dirty="0"/>
              <a:t>适应能力</a:t>
            </a:r>
            <a:endParaRPr lang="en-US" altLang="zh-CN" dirty="0"/>
          </a:p>
          <a:p>
            <a:r>
              <a:rPr lang="en-US" altLang="zh-CN" dirty="0"/>
              <a:t>Potential Impact:</a:t>
            </a:r>
            <a:r>
              <a:rPr lang="zh-CN" altLang="en-US" dirty="0"/>
              <a:t>潜在影响</a:t>
            </a:r>
            <a:endParaRPr lang="en-US" altLang="zh-CN" dirty="0"/>
          </a:p>
          <a:p>
            <a:r>
              <a:rPr lang="en-US" altLang="zh-CN" dirty="0"/>
              <a:t>Exposure</a:t>
            </a:r>
            <a:r>
              <a:rPr lang="zh-CN" altLang="en-US" dirty="0"/>
              <a:t>：</a:t>
            </a:r>
            <a:r>
              <a:rPr lang="zh-CN" altLang="en-US" b="0" i="0" dirty="0">
                <a:solidFill>
                  <a:srgbClr val="333333"/>
                </a:solidFill>
                <a:effectLst/>
                <a:highlight>
                  <a:srgbClr val="FFFFFF"/>
                </a:highlight>
                <a:latin typeface="Arial" panose="020B0604020202020204" pitchFamily="34" charset="0"/>
              </a:rPr>
              <a:t>暴露</a:t>
            </a:r>
            <a:endParaRPr lang="en-US" altLang="zh-CN" b="0" i="0" dirty="0">
              <a:solidFill>
                <a:srgbClr val="333333"/>
              </a:solidFill>
              <a:effectLst/>
              <a:highlight>
                <a:srgbClr val="FFFFFF"/>
              </a:highlight>
              <a:latin typeface="Arial" panose="020B0604020202020204" pitchFamily="34" charset="0"/>
            </a:endParaRPr>
          </a:p>
          <a:p>
            <a:r>
              <a:rPr lang="en-US" altLang="zh-CN" b="0" i="0" dirty="0">
                <a:solidFill>
                  <a:srgbClr val="333333"/>
                </a:solidFill>
                <a:effectLst/>
                <a:highlight>
                  <a:srgbClr val="FFFFFF"/>
                </a:highlight>
                <a:latin typeface="Arial" panose="020B0604020202020204" pitchFamily="34" charset="0"/>
              </a:rPr>
              <a:t>Sensitivity</a:t>
            </a:r>
            <a:r>
              <a:rPr lang="zh-CN" altLang="en-US" b="0" i="0" dirty="0">
                <a:solidFill>
                  <a:srgbClr val="333333"/>
                </a:solidFill>
                <a:effectLst/>
                <a:highlight>
                  <a:srgbClr val="FFFFFF"/>
                </a:highlight>
                <a:latin typeface="Arial" panose="020B0604020202020204" pitchFamily="34" charset="0"/>
              </a:rPr>
              <a:t>：敏感</a:t>
            </a:r>
            <a:endParaRPr lang="zh-TW" altLang="en-US" dirty="0"/>
          </a:p>
          <a:p>
            <a:r>
              <a:rPr lang="en-US" altLang="zh-TW" dirty="0">
                <a:effectLst/>
                <a:hlinkClick r:id="rId3"/>
              </a:rPr>
              <a:t>susceptibility</a:t>
            </a:r>
            <a:r>
              <a:rPr lang="zh-TW" altLang="en-US" dirty="0">
                <a:effectLst/>
              </a:rPr>
              <a:t> </a:t>
            </a:r>
            <a:r>
              <a:rPr lang="en-US" altLang="zh-TW" dirty="0">
                <a:effectLst/>
              </a:rPr>
              <a:t>, </a:t>
            </a:r>
            <a:r>
              <a:rPr lang="en-US" altLang="zh-TW" dirty="0">
                <a:effectLst/>
                <a:hlinkClick r:id="rId4"/>
              </a:rPr>
              <a:t>weakness</a:t>
            </a:r>
            <a:r>
              <a:rPr lang="zh-TW" altLang="en-US" dirty="0">
                <a:effectLst/>
              </a:rPr>
              <a:t> </a:t>
            </a:r>
            <a:r>
              <a:rPr lang="en-US" altLang="zh-TW" dirty="0">
                <a:effectLst/>
              </a:rPr>
              <a:t>, </a:t>
            </a:r>
            <a:r>
              <a:rPr lang="en-US" altLang="zh-TW" dirty="0">
                <a:effectLst/>
                <a:hlinkClick r:id="rId5"/>
              </a:rPr>
              <a:t>defenselessness</a:t>
            </a:r>
            <a:r>
              <a:rPr lang="zh-TW" altLang="en-US" dirty="0">
                <a:effectLst/>
              </a:rPr>
              <a:t> </a:t>
            </a:r>
            <a:r>
              <a:rPr lang="en-US" altLang="zh-TW" dirty="0">
                <a:effectLst/>
              </a:rPr>
              <a:t>, </a:t>
            </a:r>
            <a:r>
              <a:rPr lang="en-US" altLang="zh-TW" dirty="0">
                <a:effectLst/>
                <a:hlinkClick r:id="rId6"/>
              </a:rPr>
              <a:t>defencelessness</a:t>
            </a:r>
            <a:r>
              <a:rPr lang="zh-TW" altLang="en-US" dirty="0">
                <a:effectLst/>
              </a:rPr>
              <a:t> </a:t>
            </a:r>
            <a:r>
              <a:rPr lang="en-US" altLang="zh-TW" dirty="0">
                <a:effectLst/>
              </a:rPr>
              <a:t>, </a:t>
            </a:r>
            <a:r>
              <a:rPr lang="en-US" altLang="zh-TW" dirty="0">
                <a:effectLst/>
                <a:hlinkClick r:id="rId7"/>
              </a:rPr>
              <a:t>helplessness</a:t>
            </a:r>
            <a:endParaRPr lang="zh-TW" altLang="en-US" dirty="0">
              <a:effectLst/>
            </a:endParaRPr>
          </a:p>
          <a:p>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6</a:t>
            </a:fld>
            <a:endParaRPr lang="en-US" altLang="zh-CN"/>
          </a:p>
        </p:txBody>
      </p:sp>
    </p:spTree>
    <p:extLst>
      <p:ext uri="{BB962C8B-B14F-4D97-AF65-F5344CB8AC3E}">
        <p14:creationId xmlns:p14="http://schemas.microsoft.com/office/powerpoint/2010/main" val="400410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a:effectLst/>
              </a:rPr>
              <a:t>所谓陷门是一个程序模块秘密的、未记入文档的入口。一般陷门是在程序开发的时候插入的一小段程序，或者是为了将来发生故障后，为程序员提供方便等合法用</a:t>
            </a:r>
            <a:endParaRPr lang="en-US" altLang="zh-CN" dirty="0">
              <a:effectLst/>
            </a:endParaRPr>
          </a:p>
          <a:p>
            <a:r>
              <a:rPr lang="zh-CN" altLang="en-US" dirty="0"/>
              <a:t>逻辑炸弹又称分枝炸弹，是一种当运行环境满足某种特定条件时执行其他特殊功能的程序，触发条件可能是日期和时间的组合，由程序设计者设定</a:t>
            </a:r>
            <a:endParaRPr lang="en-US" altLang="zh-CN" dirty="0"/>
          </a:p>
          <a:p>
            <a:r>
              <a:rPr lang="en-US" altLang="zh-CN" dirty="0"/>
              <a:t>2001</a:t>
            </a:r>
            <a:r>
              <a:rPr lang="zh-CN" altLang="en-US" dirty="0"/>
              <a:t>年</a:t>
            </a:r>
            <a:r>
              <a:rPr lang="en-US" altLang="zh-CN" dirty="0"/>
              <a:t>10</a:t>
            </a:r>
            <a:r>
              <a:rPr lang="zh-CN" altLang="en-US" dirty="0"/>
              <a:t>月</a:t>
            </a:r>
            <a:r>
              <a:rPr lang="en-US" altLang="zh-CN" dirty="0"/>
              <a:t>1</a:t>
            </a:r>
            <a:r>
              <a:rPr lang="zh-CN" altLang="en-US" dirty="0"/>
              <a:t>日</a:t>
            </a:r>
            <a:r>
              <a:rPr lang="en-US" altLang="zh-CN" dirty="0"/>
              <a:t>0</a:t>
            </a:r>
            <a:r>
              <a:rPr lang="zh-CN" altLang="en-US" dirty="0"/>
              <a:t>时</a:t>
            </a:r>
            <a:r>
              <a:rPr lang="en-US" altLang="zh-CN" dirty="0"/>
              <a:t>0</a:t>
            </a:r>
            <a:r>
              <a:rPr lang="zh-CN" altLang="en-US" dirty="0"/>
              <a:t>分</a:t>
            </a:r>
            <a:r>
              <a:rPr lang="en-US" altLang="zh-CN" dirty="0"/>
              <a:t>0</a:t>
            </a:r>
            <a:r>
              <a:rPr lang="zh-CN" altLang="en-US" dirty="0"/>
              <a:t>秒，</a:t>
            </a:r>
            <a:r>
              <a:rPr lang="en-US" altLang="zh-CN" dirty="0"/>
              <a:t>147</a:t>
            </a:r>
            <a:r>
              <a:rPr lang="zh-CN" altLang="en-US" dirty="0"/>
              <a:t>台</a:t>
            </a:r>
            <a:r>
              <a:rPr lang="en-US" altLang="zh-CN" dirty="0"/>
              <a:t>YS-88</a:t>
            </a:r>
            <a:r>
              <a:rPr lang="zh-CN" altLang="en-US" dirty="0"/>
              <a:t>型电力故障录波器软件程序中的“逻辑炸弹”准时爆炸，设备功能瘫痪。影响遍布全国各省的</a:t>
            </a:r>
            <a:r>
              <a:rPr lang="en-US" altLang="zh-CN" dirty="0"/>
              <a:t>147</a:t>
            </a:r>
            <a:r>
              <a:rPr lang="zh-CN" altLang="en-US" dirty="0"/>
              <a:t>个变电站和发电厂</a:t>
            </a:r>
            <a:endParaRPr lang="en-US" altLang="zh-CN" dirty="0"/>
          </a:p>
          <a:p>
            <a:r>
              <a:rPr kumimoji="1" lang="en-US" altLang="zh-CN" dirty="0"/>
              <a:t>KV300 </a:t>
            </a:r>
            <a:r>
              <a:rPr kumimoji="1" lang="zh-CN" altLang="en-US" dirty="0"/>
              <a:t>江民炸弹</a:t>
            </a:r>
            <a:endParaRPr kumimoji="1" lang="en-US" altLang="zh-CN" dirty="0"/>
          </a:p>
          <a:p>
            <a:r>
              <a:rPr lang="zh-CN" altLang="en-US" dirty="0">
                <a:effectLst/>
              </a:rPr>
              <a:t>第一，逻辑炸弹。在网络软件</a:t>
            </a:r>
            <a:r>
              <a:rPr lang="en-US" altLang="zh-CN" dirty="0">
                <a:effectLst/>
              </a:rPr>
              <a:t>(</a:t>
            </a:r>
            <a:r>
              <a:rPr lang="zh-CN" altLang="en-US" dirty="0">
                <a:effectLst/>
              </a:rPr>
              <a:t>比如程序控制交换机的软件中</a:t>
            </a:r>
            <a:r>
              <a:rPr lang="en-US" altLang="zh-CN" dirty="0">
                <a:effectLst/>
              </a:rPr>
              <a:t>)</a:t>
            </a:r>
            <a:r>
              <a:rPr lang="zh-CN" altLang="en-US" dirty="0">
                <a:effectLst/>
              </a:rPr>
              <a:t>可以预留隐蔽的对日期敏感的定时炸弹。在一般情况下，网络处于正常状态，一旦到某个预订的日期，程序便会自动跳转到死循环中，造成死机甚至是网络瘫痪事件的发生。</a:t>
            </a:r>
          </a:p>
          <a:p>
            <a:r>
              <a:rPr lang="zh-CN" altLang="en-US" dirty="0">
                <a:effectLst/>
              </a:rPr>
              <a:t>第二，遥控旁路。某国向我国出口一种传真机，其软件可以通过遥控将加密接口旁路，从而失去加密功能，造成信息泄密。</a:t>
            </a:r>
          </a:p>
          <a:p>
            <a:r>
              <a:rPr lang="zh-CN" altLang="en-US" dirty="0">
                <a:effectLst/>
              </a:rPr>
              <a:t>第三，远程维护。某些通信设备具有一种远程维护功能，可以通过远程终端，由公开预留的接口进入系统完成维护检修功能，甚至可以实现国外厂家维护人员在其本部终端上对国内进口设备进行远程维护。这种功能在带来明显的维护管理便利的同时，当然也带来了一定的潜在威胁。</a:t>
            </a:r>
          </a:p>
          <a:p>
            <a:r>
              <a:rPr lang="zh-CN" altLang="en-US" dirty="0">
                <a:effectLst/>
              </a:rPr>
              <a:t>第四，非法通信。某些程控交换机具有单向监听功能，即就是特许用户，利用自身的话机拨号，可以监听任意通话方的话音而不会被发现。</a:t>
            </a:r>
          </a:p>
          <a:p>
            <a:r>
              <a:rPr lang="zh-CN" altLang="en-US" dirty="0">
                <a:effectLst/>
              </a:rPr>
              <a:t>第五，贪婪程序。一般程序都有一定的执行时限，如程序被有意或者错误更改为贪婪程序和循环程序，或者被植入某些病毒，那些程序则会长期占用计算机使用时间，造成以外阻塞使得合法用户被排挤在外不能得到服务。</a:t>
            </a:r>
          </a:p>
          <a:p>
            <a:endParaRPr kumimoji="1" lang="en-US" altLang="zh-CN" dirty="0"/>
          </a:p>
          <a:p>
            <a:endParaRPr kumimoji="1" lang="en-US" altLang="zh-CN" dirty="0"/>
          </a:p>
          <a:p>
            <a:endParaRPr kumimoji="1" lang="zh-CN" altLang="en-US" dirty="0"/>
          </a:p>
        </p:txBody>
      </p:sp>
      <p:sp>
        <p:nvSpPr>
          <p:cNvPr id="4" name="幻灯片编号占位符 3"/>
          <p:cNvSpPr>
            <a:spLocks noGrp="1"/>
          </p:cNvSpPr>
          <p:nvPr>
            <p:ph type="sldNum" sz="quarter" idx="10"/>
          </p:nvPr>
        </p:nvSpPr>
        <p:spPr/>
        <p:txBody>
          <a:bodyPr/>
          <a:lstStyle/>
          <a:p>
            <a:fld id="{5F4297A3-37BD-8549-87CC-C7BC93A774B6}" type="slidenum">
              <a:rPr lang="en-US" altLang="zh-CN" smtClean="0"/>
              <a:pPr/>
              <a:t>7</a:t>
            </a:fld>
            <a:endParaRPr lang="en-US" altLang="zh-CN"/>
          </a:p>
        </p:txBody>
      </p:sp>
    </p:spTree>
    <p:extLst>
      <p:ext uri="{BB962C8B-B14F-4D97-AF65-F5344CB8AC3E}">
        <p14:creationId xmlns:p14="http://schemas.microsoft.com/office/powerpoint/2010/main" val="35190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除了基本的连通性测试外，</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ping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命令还可以用于收集其他有用的信息。例如，通过多次执行</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ping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命令并观察结果的变化，用户可以评估网络的稳定性；通过指定不同的参数和选项，</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ping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命令还可以提供有关丢包率、抖动和路由等信息的详细输出，这些对于诊断和解决网络故障至关重要。</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在使用</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ping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命令时，需要注意一些安全和隐私方面的考虑。例如，攻击者可能会使用</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ping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命令进行扫描和探测，以发现潜在的漏洞或目标主机。因此，对于重要的系统和网络，应该合理配置防火墙和安全策略，以限制或禁止未经授权的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ping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请求。</a:t>
            </a:r>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pPr algn="l"/>
            <a:endPar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在信息收集方面，</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Telnet</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可以用于获取远程设备的状态、配置和日志信息。通过</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Telnet</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连接到远程设备，用户可以执行各种命令来查询设备的状态、配置参数以及历史日志。这些信息对于网络管理员来说至关重要，可以帮助他们了解设备的运行状态、发现潜在的问题并进行故障排除。</a:t>
            </a:r>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通过</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WHOIS</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协议，用户可以向</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WHOIS</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服务器发送查询请求，以获取域名的注册者、注册商、注册日期、到期日期等相关信息。这些信息有助于用户了解域名的所有权和注册情况，从而进行相应的操作，如购买、续费、转让等。</a:t>
            </a:r>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Traceroute</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是一种用于收集网络信息的工具，其主要功能是追踪数据包从源主机到目标主机之间所经过的路由器路径，并测量每个路由器的耗时。通过</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Traceroute</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，用户可以了解数据包在互联网上的传输路径，以及每个节点的响应时间和可能存在的问题。</a:t>
            </a:r>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端口扫描</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原理主要是向目标计算机的每个端口发送消息，并分析接收到的回应类型，从而判断该端口是否在使用，以及可能存在的安全弱点。扫描过程中，扫描器会记录并分析每个端口的响应情况，进而识别出远程主机上安装的各种服务及其潜在的安全问题。</a:t>
            </a:r>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SNMP</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扫描和</a:t>
            </a:r>
            <a:r>
              <a:rPr lang="en-US" altLang="zh-CN" b="0" i="0" dirty="0" err="1">
                <a:solidFill>
                  <a:srgbClr val="1F1F1F"/>
                </a:solidFill>
                <a:effectLst/>
                <a:highlight>
                  <a:srgbClr val="FFFFFF"/>
                </a:highlight>
                <a:latin typeface="微软雅黑" panose="020B0503020204020204" pitchFamily="34" charset="-122"/>
                <a:ea typeface="微软雅黑" panose="020B0503020204020204" pitchFamily="34" charset="-122"/>
              </a:rPr>
              <a:t>SuperScan</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扫描都是网络安全领域中的重要工具和技术，它们在网络安全评估、漏洞发现和防护等方面发挥着重要作用。但使用时必须谨慎合法，避免滥用或误用。</a:t>
            </a:r>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漏洞扫描</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是指基于漏洞数据库，通过扫描等手段对指定的远程或者本地计算机系统的安全脆弱性进行检测，发现可利用漏洞的一种安全检测行为。它是网络安全中非常重要的一环，可以帮助组织发现并及时修复系统中存在的安全漏洞，减少被黑客攻击的风险。</a:t>
            </a:r>
            <a:endParaRPr lang="en-US" altLang="zh-CN" dirty="0"/>
          </a:p>
          <a:p>
            <a:endParaRPr lang="en-US" altLang="zh-CN" dirty="0"/>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社会工程学</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是一种利用人的心理、行为模式以及社会习惯等非技术手段，来诱导目标人物泄露敏感信息或进行不当操作的攻击方式。其攻击方式多种多样，主要可以分为以下几类：</a:t>
            </a:r>
          </a:p>
          <a:p>
            <a:pPr algn="l">
              <a:buFont typeface="+mj-lt"/>
              <a:buAutoNum type="arabicPeriod"/>
            </a:pPr>
            <a:r>
              <a:rPr lang="zh-CN" altLang="en-US" b="0" i="0" dirty="0">
                <a:solidFill>
                  <a:srgbClr val="1F1F1F"/>
                </a:solidFill>
                <a:effectLst/>
                <a:highlight>
                  <a:srgbClr val="FFFFFF"/>
                </a:highlight>
                <a:latin typeface="PingFangSC-Semibold"/>
                <a:ea typeface="微软雅黑" panose="020B0503020204020204" pitchFamily="34" charset="-122"/>
              </a:rPr>
              <a:t>钓鱼攻击</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：通过发送伪造的邮件或建立虚假的网站，诱导受害者点击链接或下载恶意软件，从而获取其个人信息或执行恶意代码。</a:t>
            </a:r>
          </a:p>
          <a:p>
            <a:pPr algn="l">
              <a:buFont typeface="+mj-lt"/>
              <a:buAutoNum type="arabicPeriod"/>
            </a:pPr>
            <a:r>
              <a:rPr lang="zh-CN" altLang="en-US" b="0" i="0" dirty="0">
                <a:solidFill>
                  <a:srgbClr val="1F1F1F"/>
                </a:solidFill>
                <a:effectLst/>
                <a:highlight>
                  <a:srgbClr val="FFFFFF"/>
                </a:highlight>
                <a:latin typeface="PingFangSC-Semibold"/>
                <a:ea typeface="微软雅黑" panose="020B0503020204020204" pitchFamily="34" charset="-122"/>
              </a:rPr>
              <a:t>电话诈骗</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：冒充银行、公安机关等机构的身份，通过电话引导受害者提供个人信息或进行转账操作。</a:t>
            </a:r>
          </a:p>
          <a:p>
            <a:pPr algn="l">
              <a:buFont typeface="+mj-lt"/>
              <a:buAutoNum type="arabicPeriod"/>
            </a:pPr>
            <a:r>
              <a:rPr lang="zh-CN" altLang="en-US" b="0" i="0" dirty="0">
                <a:solidFill>
                  <a:srgbClr val="1F1F1F"/>
                </a:solidFill>
                <a:effectLst/>
                <a:highlight>
                  <a:srgbClr val="FFFFFF"/>
                </a:highlight>
                <a:latin typeface="PingFangSC-Semibold"/>
                <a:ea typeface="微软雅黑" panose="020B0503020204020204" pitchFamily="34" charset="-122"/>
              </a:rPr>
              <a:t>社交工程渗透</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：利用社交媒体、公开信息或人际关系，获取目标人物的信任并套取敏感信息。</a:t>
            </a:r>
          </a:p>
          <a:p>
            <a:endParaRPr lang="en-US" altLang="zh-CN" dirty="0"/>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在预攻击阶段，攻击者利用搜索引擎进行广泛的信息搜集，包括目标网站的域名、</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IP</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地址、网络拓扑结构，以及操作系统版本、开放的网络服务版本等系统信息。此外，攻击者还可能搜集用户的个人信息，如用户标识、组标识、共享资源、即时通信软件账号和邮件账号等。这些信息为攻击者提供了对目标的深入理解，有助于他们制定更为精准的攻击策略。</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搜索引擎的网页快照功能也为攻击者提供了极大的便利。通过这个功能，攻击者可以获取到目标网站的历史版本或已被删除的信息，从而发现潜在的漏洞或敏感数据。此外，搜索引擎还能帮助攻击者找到与目标相关的特殊</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URL</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关键字或具备特定格式的文件，这些信息可能对攻击者实施攻击具有极大的价值。</a:t>
            </a:r>
          </a:p>
          <a:p>
            <a:endParaRPr lang="en-US" altLang="zh-CN" dirty="0"/>
          </a:p>
          <a:p>
            <a:endParaRPr lang="en-US" altLang="zh-CN" dirty="0"/>
          </a:p>
          <a:p>
            <a:r>
              <a:rPr lang="zh-CN" altLang="en-US" dirty="0"/>
              <a:t>一般利用</a:t>
            </a:r>
            <a:r>
              <a:rPr lang="zh-CN" altLang="en-US" dirty="0">
                <a:hlinkClick r:id="rId3"/>
              </a:rPr>
              <a:t>缓冲区溢出</a:t>
            </a:r>
            <a:r>
              <a:rPr lang="zh-CN" altLang="en-US" dirty="0"/>
              <a:t>漏洞攻击</a:t>
            </a:r>
            <a:r>
              <a:rPr lang="en-US" altLang="zh-CN" dirty="0"/>
              <a:t>root</a:t>
            </a:r>
            <a:r>
              <a:rPr lang="zh-CN" altLang="en-US" dirty="0"/>
              <a:t>程序，大都通过执行类似“</a:t>
            </a:r>
            <a:r>
              <a:rPr lang="en-US" altLang="zh-CN" dirty="0"/>
              <a:t>exec(</a:t>
            </a:r>
            <a:r>
              <a:rPr lang="en-US" altLang="zh-CN" dirty="0" err="1"/>
              <a:t>sh</a:t>
            </a:r>
            <a:r>
              <a:rPr lang="zh-CN" altLang="en-US" dirty="0"/>
              <a:t>）”的执行代码来获得</a:t>
            </a:r>
            <a:r>
              <a:rPr lang="en-US" altLang="zh-CN" dirty="0"/>
              <a:t>root </a:t>
            </a:r>
            <a:r>
              <a:rPr lang="zh-CN" altLang="en-US" dirty="0"/>
              <a:t>的</a:t>
            </a:r>
            <a:r>
              <a:rPr lang="en-US" altLang="zh-CN" dirty="0"/>
              <a:t>shell</a:t>
            </a:r>
            <a:r>
              <a:rPr lang="zh-CN" altLang="en-US" dirty="0"/>
              <a:t>。</a:t>
            </a:r>
            <a:r>
              <a:rPr lang="en-US" altLang="zh-CN" b="0" i="0" dirty="0">
                <a:solidFill>
                  <a:srgbClr val="222222"/>
                </a:solidFill>
                <a:effectLst/>
                <a:highlight>
                  <a:srgbClr val="FFFFFF"/>
                </a:highlight>
                <a:latin typeface="arial" panose="020B0604020202020204" pitchFamily="34" charset="0"/>
              </a:rPr>
              <a:t>ROOT</a:t>
            </a:r>
            <a:r>
              <a:rPr lang="zh-CN" altLang="en-US" b="0" i="0" dirty="0">
                <a:solidFill>
                  <a:srgbClr val="222222"/>
                </a:solidFill>
                <a:effectLst/>
                <a:highlight>
                  <a:srgbClr val="FFFFFF"/>
                </a:highlight>
                <a:latin typeface="arial" panose="020B0604020202020204" pitchFamily="34" charset="0"/>
              </a:rPr>
              <a:t>权限是设备或系统的最高权限用户即可，只要掌控了这个用户的使用权，那么系统的任何设置都可以修改，包括之前无法修改的一些设置和程序参数。</a:t>
            </a:r>
            <a:endParaRPr lang="en-US" altLang="zh-CN" b="0" i="0" dirty="0">
              <a:solidFill>
                <a:srgbClr val="222222"/>
              </a:solidFill>
              <a:effectLst/>
              <a:highlight>
                <a:srgbClr val="FFFFFF"/>
              </a:highligh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ea typeface="楷体"/>
              </a:rPr>
              <a:t>DoS</a:t>
            </a:r>
            <a:r>
              <a:rPr lang="zh-CN" altLang="en-US" sz="1200" dirty="0">
                <a:ea typeface="楷体"/>
              </a:rPr>
              <a:t>：</a:t>
            </a:r>
            <a:r>
              <a:rPr lang="en-US" altLang="zh-CN" sz="1200" dirty="0">
                <a:ea typeface="楷体"/>
              </a:rPr>
              <a:t> </a:t>
            </a:r>
            <a:r>
              <a:rPr lang="en-US" altLang="zh-CN" dirty="0">
                <a:ea typeface="楷体"/>
                <a:cs typeface="楷体"/>
              </a:rPr>
              <a:t>(</a:t>
            </a:r>
            <a:r>
              <a:rPr lang="en-US" altLang="zh-CN" b="1" u="sng" dirty="0">
                <a:solidFill>
                  <a:srgbClr val="C00000"/>
                </a:solidFill>
                <a:ea typeface="楷体"/>
                <a:cs typeface="楷体"/>
              </a:rPr>
              <a:t>D</a:t>
            </a:r>
            <a:r>
              <a:rPr lang="en-US" altLang="zh-CN" sz="1200" dirty="0">
                <a:ea typeface="楷体"/>
              </a:rPr>
              <a:t>enial of Service)</a:t>
            </a:r>
            <a:r>
              <a:rPr lang="zh-CN" altLang="en-US" b="1" dirty="0">
                <a:ea typeface="楷体"/>
                <a:cs typeface="楷体"/>
              </a:rPr>
              <a:t>拒绝服务 </a:t>
            </a:r>
            <a:endParaRPr lang="en-US" altLang="zh-CN" b="1" dirty="0">
              <a:ea typeface="楷体"/>
              <a:cs typeface="楷体"/>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ea typeface="楷体"/>
              <a:cs typeface="楷体"/>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ea typeface="楷体"/>
            </a:endParaRP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远程溢出漏洞：是一种严重的安全漏洞，通常出现在操作系统或应用程序中。这种漏洞允许远程攻击者发送特制的请求或数据，导致目标系统的缓冲区溢出。当缓冲区溢出发生时，攻击者可能能够执行恶意代码，获得系统权限，进而完全控制受影响的系统。</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以著名的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MS08-067</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远程溢出漏洞为例，这个漏洞存在于</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Windows</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系统的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Server</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服务中，当处理特制的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RPC</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（远程过程调用）请求时，存在缓冲区溢出问题。攻击者可以利用这个漏洞，通过发送恶意的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RPC</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请求来触发溢出，从而可能远程执行代码，获取对系统的完全控制权。</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ea typeface="楷体"/>
            </a:endParaRP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具体来说，溢出程序可能通过以下步骤来尝试获取远程服务器的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root</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权限：</a:t>
            </a:r>
          </a:p>
          <a:p>
            <a:pPr algn="l">
              <a:buFont typeface="+mj-lt"/>
              <a:buAutoNum type="arabicPeriod"/>
            </a:pPr>
            <a:r>
              <a:rPr lang="zh-CN" altLang="en-US" b="0" i="0" dirty="0">
                <a:solidFill>
                  <a:srgbClr val="1F1F1F"/>
                </a:solidFill>
                <a:effectLst/>
                <a:highlight>
                  <a:srgbClr val="FFFFFF"/>
                </a:highlight>
                <a:latin typeface="PingFangSC-Semibold"/>
                <a:ea typeface="微软雅黑" panose="020B0503020204020204" pitchFamily="34" charset="-122"/>
              </a:rPr>
              <a:t>寻找目标程序</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：攻击者首先需要在远程服务器上找到存在溢出漏洞的目标程序。这通常需要对目标系统进行深入的分析和探测。</a:t>
            </a:r>
          </a:p>
          <a:p>
            <a:pPr algn="l">
              <a:buFont typeface="+mj-lt"/>
              <a:buAutoNum type="arabicPeriod"/>
            </a:pPr>
            <a:r>
              <a:rPr lang="zh-CN" altLang="en-US" b="0" i="0" dirty="0">
                <a:solidFill>
                  <a:srgbClr val="1F1F1F"/>
                </a:solidFill>
                <a:effectLst/>
                <a:highlight>
                  <a:srgbClr val="FFFFFF"/>
                </a:highlight>
                <a:latin typeface="PingFangSC-Semibold"/>
                <a:ea typeface="微软雅黑" panose="020B0503020204020204" pitchFamily="34" charset="-122"/>
              </a:rPr>
              <a:t>构造恶意输入</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：攻击者会构造一个特定的输入，这个输入可能是超长的字符串、特制的文件格式或其他能够触发溢出的数据。这个输入被设计用来覆盖程序中的关键数据，如函数返回地址、栈帧指针等。</a:t>
            </a:r>
          </a:p>
          <a:p>
            <a:pPr algn="l">
              <a:buFont typeface="+mj-lt"/>
              <a:buAutoNum type="arabicPeriod"/>
            </a:pPr>
            <a:r>
              <a:rPr lang="zh-CN" altLang="en-US" b="0" i="0" dirty="0">
                <a:solidFill>
                  <a:srgbClr val="1F1F1F"/>
                </a:solidFill>
                <a:effectLst/>
                <a:highlight>
                  <a:srgbClr val="FFFFFF"/>
                </a:highlight>
                <a:latin typeface="PingFangSC-Semibold"/>
                <a:ea typeface="微软雅黑" panose="020B0503020204020204" pitchFamily="34" charset="-122"/>
              </a:rPr>
              <a:t>触发溢出</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：攻击者将构造好的恶意输入发送给目标程序。当程序尝试处理这个输入时，由于缓冲区大小不足，数据将溢出到相邻的内存区域，覆盖关键数据。</a:t>
            </a:r>
          </a:p>
          <a:p>
            <a:pPr algn="l">
              <a:buFont typeface="+mj-lt"/>
              <a:buAutoNum type="arabicPeriod"/>
            </a:pPr>
            <a:r>
              <a:rPr lang="zh-CN" altLang="en-US" b="0" i="0" dirty="0">
                <a:solidFill>
                  <a:srgbClr val="1F1F1F"/>
                </a:solidFill>
                <a:effectLst/>
                <a:highlight>
                  <a:srgbClr val="FFFFFF"/>
                </a:highlight>
                <a:latin typeface="PingFangSC-Semibold"/>
                <a:ea typeface="微软雅黑" panose="020B0503020204020204" pitchFamily="34" charset="-122"/>
              </a:rPr>
              <a:t>覆盖关键数据</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：通过溢出，攻击者可以将函数返回地址等关键数据修改为指向恶意代码的地址。这样，当程序返回到被修改的函数返回地址时，控制权将转移到攻击者指定的恶意代码上。</a:t>
            </a:r>
          </a:p>
          <a:p>
            <a:pPr algn="l">
              <a:buFont typeface="+mj-lt"/>
              <a:buAutoNum type="arabicPeriod"/>
            </a:pPr>
            <a:r>
              <a:rPr lang="zh-CN" altLang="en-US" b="0" i="0" dirty="0">
                <a:solidFill>
                  <a:srgbClr val="1F1F1F"/>
                </a:solidFill>
                <a:effectLst/>
                <a:highlight>
                  <a:srgbClr val="FFFFFF"/>
                </a:highlight>
                <a:latin typeface="PingFangSC-Semibold"/>
                <a:ea typeface="微软雅黑" panose="020B0503020204020204" pitchFamily="34" charset="-122"/>
              </a:rPr>
              <a:t>执行恶意代码</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：攻击者利用这个机会执行任意代码，包括获取</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root</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访问权限的代码。这通常涉及到提升权限、绕过安全机制或执行其他恶意操作。</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ea typeface="楷体"/>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ea typeface="楷体"/>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后攻击：在网络攻击中，后攻击可能指的是黑客在初次入侵成功后，为了进一步窃取数据、破坏系统或实施其他恶意行为而进行的后续操作。这些操作可能包括在系统中植入恶意软件、窃取敏感信息或利用已获得的权限进行更深层次的网络渗透。</a:t>
            </a:r>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本地溢出：是指本地计算机因程序数据溢出而关闭或无法执行的情况。当攻击者针对本地计算机执行特定的代码指令，导致程序溢出时，他们可能获得管理员权限。这种攻击的前提通常是攻击者已经通过口令猜测或暴力破解获得了普通用户的密码口令。</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缓冲区溢出是本地溢出的一种常见形式。缓冲区是程序运行期间在内存中分配的一个连续区域，用于保存各种数据类型。当填充的数据超出原有的缓冲区边界，并非法占据另一段内存区域时，就会发生缓冲区溢出。攻击者可以精心构造填充数据，使程序转而执行特殊的代码，从而获取控制权。</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口令嗅探是一种网络安全攻击手段，攻击者使用嗅探器截获并分析网络上的数据流，以获取敏感信息，如用户账号、密码等。这种攻击方式常见于网络安全攻防技术中，黑客通过嗅探器可以截获在网上传送的用户账号、验证码、口令等敏感信息，进而冒充用户进行非法操作。</a:t>
            </a:r>
            <a:endParaRPr lang="en-US" altLang="zh-CN" sz="1200" b="1" dirty="0">
              <a:ea typeface="楷体"/>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200" dirty="0"/>
              <a:t>痕迹擦除</a:t>
            </a:r>
            <a:r>
              <a:rPr kumimoji="1" lang="en-US" altLang="zh-CN" sz="1200" dirty="0"/>
              <a:t>:</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在数字化领域，如磁盘上的痕迹擦除，通常是通过覆盖盘内空余文件并再次进行删除来实现的，以让别人难以通过数据恢复软件找到相关痕迹。</a:t>
            </a:r>
            <a:endParaRPr lang="en-US" altLang="zh-CN" sz="1200"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ea typeface="楷体"/>
            </a:endParaRPr>
          </a:p>
          <a:p>
            <a:r>
              <a:rPr lang="zh-CN" altLang="en-US" dirty="0">
                <a:hlinkClick r:id="rId4"/>
              </a:rPr>
              <a:t>黑客</a:t>
            </a:r>
            <a:r>
              <a:rPr lang="zh-CN" altLang="en-US" dirty="0"/>
              <a:t>要达到目的通常要完成两个任务：</a:t>
            </a:r>
            <a:endParaRPr lang="en-US" altLang="zh-CN" dirty="0"/>
          </a:p>
          <a:p>
            <a:r>
              <a:rPr lang="zh-CN" altLang="en-US" dirty="0"/>
              <a:t>在程序的</a:t>
            </a:r>
            <a:r>
              <a:rPr lang="zh-CN" altLang="en-US" dirty="0">
                <a:hlinkClick r:id="rId5"/>
              </a:rPr>
              <a:t>地址空间</a:t>
            </a:r>
            <a:r>
              <a:rPr lang="zh-CN" altLang="en-US" dirty="0"/>
              <a:t>里安排适当的代码</a:t>
            </a:r>
            <a:endParaRPr lang="en-US" altLang="zh-CN" dirty="0"/>
          </a:p>
          <a:p>
            <a:r>
              <a:rPr lang="zh-CN" altLang="en-US" dirty="0"/>
              <a:t>通过适当的初始化</a:t>
            </a:r>
            <a:r>
              <a:rPr lang="zh-CN" altLang="en-US" dirty="0">
                <a:hlinkClick r:id="rId6"/>
              </a:rPr>
              <a:t>寄存器</a:t>
            </a:r>
            <a:r>
              <a:rPr lang="zh-CN" altLang="en-US" dirty="0"/>
              <a:t>和</a:t>
            </a:r>
            <a:r>
              <a:rPr lang="zh-CN" altLang="en-US" dirty="0">
                <a:hlinkClick r:id="rId7"/>
              </a:rPr>
              <a:t>存储器</a:t>
            </a:r>
            <a:r>
              <a:rPr lang="zh-CN" altLang="en-US" dirty="0"/>
              <a:t>，让程序跳转到安排好的</a:t>
            </a:r>
            <a:r>
              <a:rPr lang="zh-CN" altLang="en-US" dirty="0">
                <a:hlinkClick r:id="rId5"/>
              </a:rPr>
              <a:t>地址空间</a:t>
            </a:r>
            <a:r>
              <a:rPr lang="zh-CN" altLang="en-US" dirty="0"/>
              <a:t>执行</a:t>
            </a:r>
            <a:endParaRPr lang="en-US" altLang="zh-CN" dirty="0"/>
          </a:p>
          <a:p>
            <a:endParaRPr kumimoji="1" lang="zh-CN" altLang="en-US" dirty="0"/>
          </a:p>
        </p:txBody>
      </p:sp>
      <p:sp>
        <p:nvSpPr>
          <p:cNvPr id="4" name="幻灯片编号占位符 3"/>
          <p:cNvSpPr>
            <a:spLocks noGrp="1"/>
          </p:cNvSpPr>
          <p:nvPr>
            <p:ph type="sldNum" sz="quarter" idx="10"/>
          </p:nvPr>
        </p:nvSpPr>
        <p:spPr/>
        <p:txBody>
          <a:bodyPr/>
          <a:lstStyle/>
          <a:p>
            <a:fld id="{5F4297A3-37BD-8549-87CC-C7BC93A774B6}" type="slidenum">
              <a:rPr lang="en-US" altLang="zh-CN" smtClean="0"/>
              <a:pPr/>
              <a:t>8</a:t>
            </a:fld>
            <a:endParaRPr lang="en-US" altLang="zh-CN"/>
          </a:p>
        </p:txBody>
      </p:sp>
    </p:spTree>
    <p:extLst>
      <p:ext uri="{BB962C8B-B14F-4D97-AF65-F5344CB8AC3E}">
        <p14:creationId xmlns:p14="http://schemas.microsoft.com/office/powerpoint/2010/main" val="2230041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4626" name="Rectangle 2"/>
          <p:cNvSpPr>
            <a:spLocks noGrp="1" noRot="1" noChangeAspect="1" noChangeArrowheads="1" noTextEdit="1"/>
          </p:cNvSpPr>
          <p:nvPr>
            <p:ph type="sldImg"/>
          </p:nvPr>
        </p:nvSpPr>
        <p:spPr>
          <a:xfrm>
            <a:off x="-274638" y="406400"/>
            <a:ext cx="7407276" cy="4167188"/>
          </a:xfrm>
          <a:ln/>
        </p:spPr>
      </p:sp>
      <p:sp>
        <p:nvSpPr>
          <p:cNvPr id="2074627"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2"/>
          <p:cNvSpPr>
            <a:spLocks noGrp="1" noRot="1" noChangeAspect="1" noChangeArrowheads="1" noTextEdit="1"/>
          </p:cNvSpPr>
          <p:nvPr>
            <p:ph type="sldImg"/>
          </p:nvPr>
        </p:nvSpPr>
        <p:spPr>
          <a:xfrm>
            <a:off x="382588" y="685800"/>
            <a:ext cx="6094412" cy="3429000"/>
          </a:xfrm>
          <a:ln/>
        </p:spPr>
      </p:sp>
      <p:sp>
        <p:nvSpPr>
          <p:cNvPr id="167939"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effectLst>
                  <a:outerShdw blurRad="38100" dist="38100" dir="2700000" algn="tl">
                    <a:srgbClr val="FFFFFF"/>
                  </a:outerShdw>
                </a:effectLst>
                <a:latin typeface="宋体"/>
                <a:ea typeface="宋体"/>
                <a:cs typeface="宋体"/>
              </a:rPr>
              <a:t>缓冲区溢出漏洞：</a:t>
            </a:r>
            <a:r>
              <a:rPr lang="zh-CN" altLang="en-US" b="0" i="0" dirty="0">
                <a:solidFill>
                  <a:srgbClr val="333333"/>
                </a:solidFill>
                <a:effectLst/>
                <a:highlight>
                  <a:srgbClr val="FFFFFF"/>
                </a:highlight>
                <a:latin typeface="Helvetica Neue"/>
              </a:rPr>
              <a:t>人为的溢出是有一定企图的，攻击者写一个超过缓冲区长度的字符串，植入到缓冲区这时可能会出现两种结果：一是过长的字符串覆盖了相邻的存储单元，引起程序运行失败，严重的可导致系统崩溃；另一个结果就是利用这种漏洞可以执行任意指令，甚至可以取得系统</a:t>
            </a:r>
            <a:r>
              <a:rPr lang="en-US" altLang="zh-CN" b="0" i="0" dirty="0">
                <a:solidFill>
                  <a:srgbClr val="333333"/>
                </a:solidFill>
                <a:effectLst/>
                <a:highlight>
                  <a:srgbClr val="FFFFFF"/>
                </a:highlight>
                <a:latin typeface="Helvetica Neue"/>
              </a:rPr>
              <a:t>root</a:t>
            </a:r>
            <a:r>
              <a:rPr lang="zh-CN" altLang="en-US" b="0" i="0" dirty="0">
                <a:solidFill>
                  <a:srgbClr val="333333"/>
                </a:solidFill>
                <a:effectLst/>
                <a:highlight>
                  <a:srgbClr val="FFFFFF"/>
                </a:highlight>
                <a:latin typeface="Helvetica Neue"/>
              </a:rPr>
              <a:t>特级权限。</a:t>
            </a:r>
            <a:endParaRPr lang="en-US" altLang="zh-CN" dirty="0"/>
          </a:p>
          <a:p>
            <a:endParaRPr lang="en-US" altLang="zh-CN" dirty="0"/>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首先，</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TIFF</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图像格式是一个复杂且信息存储丰富的格式，其特点使得图像质量得以提高，有利于原稿的复制。然而，</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TIFF</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格式的复杂性和较差的兼容性也导致了其存在多个漏洞。这些漏洞可能被黑客利用，通过诱使用户打开恶意文档来控制用户系统。在某些情况下，黑客甚至能够利用</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TIFF</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漏洞运行其他程序或攻击。</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其次，</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PNG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格式是专为网络传输设计的图像格式，用于替代</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GIF</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。然而，</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Google</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在</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2019</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年发布的安全更新中提到，</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PNG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格式中存在严重的安全漏洞。黑客可以在</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PNG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文件中植入恶意程序，只要用户点击这些图片，就可能触发漏洞，进而引发远程程序攻击。这些漏洞影响了从</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Android 7.0</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到</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Android 9.0</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的多个版本，尽管目前没有传出有用户因这些漏洞受害的消息，但用户仍应尽快更新系统，并避免打开来源不明的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PNG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文件。</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至于</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WWF</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格式，根据提供的信息，它可能是一种与极地船舶规则相关的标识或标准，而不是一个常见的图像格式。因此，关于</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WWF</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格式的漏洞信息可能并不适用于图像处理或网络安全领域。可能是信息表述存在误解或混淆。</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总的来说，这些图像格式漏洞的存在提醒我们，在处理图像文件时需要格外小心。用户应确保从可信赖的来源获取图像文件，避免打开或运行来源不明的图像，以防止可能的恶意攻击。同时，软件开发商和操作系统提供商也应积极修复这些漏洞，提高系统的安全性。</a:t>
            </a:r>
          </a:p>
          <a:p>
            <a:endParaRPr lang="en-US" altLang="zh-CN" dirty="0"/>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竞争条件漏洞（</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Race condition</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）通常发生在多个线程同时访问同一个共享代码、变量、文件等，且没有进行锁操作或者同步操作的场景中。这种漏洞存在于操作系统、数据库、</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web</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等多个层面。当并发线程尝试同时执行相同的操作时，如果处理逻辑没有正确设计，就可能出现意想不到的结果。</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一个经典的竞争条件漏洞案例是转账或购买场景，当两个或多个线程尝试同时对同一账户进行转账或购买操作时，如果没有适当的同步机制，可能会导致账户余额错误或交易状态不一致等问题。</a:t>
            </a:r>
          </a:p>
          <a:p>
            <a:endParaRPr lang="en-US" altLang="zh-CN" dirty="0"/>
          </a:p>
          <a:p>
            <a:pPr algn="l"/>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SQL</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注入漏洞是一种常见的网络安全问题，攻击者利用这个漏洞，可以将恶意输入的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SQL</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命令插入到</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Web</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表单提交、输入域名或页面请求的查询字符串中，从而欺骗服务器执行恶意的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SQL</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命令。这种攻击方式利用了现有应用程序的漏洞，使得攻击者能够执行后台数据库引擎的恶意</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SQL</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命令。</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造成</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SQL</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注入漏洞的原因主要有两个：一是对输入的数据没有进行充分的过滤，二是对发送到数据库的数据没有进行转义。这使得攻击者有可能通过精心构造的输入来干扰或改变原有的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SQL</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语句，从而达到执行恶意操作的目的。</a:t>
            </a:r>
          </a:p>
          <a:p>
            <a:endParaRPr lang="en-US" altLang="zh-CN" dirty="0"/>
          </a:p>
          <a:p>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跨站脚本攻击（</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Cross-site scripting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，通常简称为</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XSS</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是一种网站应用程序的安全漏洞攻击，是代码注入的一种形式。它允许恶意用户将代码注入到网页上，当其他用户在观看网页时就会受到影响。这种攻击利用了网站对用户输入的不正确处理，使得恶意用户能够向受害者的网页中注入恶意脚本，这些脚本在用户浏览器中执行，从而导致安全风险。</a:t>
            </a:r>
            <a:endParaRPr lang="en-US" altLang="zh-CN" dirty="0"/>
          </a:p>
          <a:p>
            <a:endParaRPr lang="en-US" altLang="zh-CN" dirty="0"/>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跨站请求伪造（</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Cross-site request forgery</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），也被称为 </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one-click attack </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或者 </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session riding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，通常缩写为 </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CSRF </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或者 </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XSRF</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，是一种挟制用户在当前已登录的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Web</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应用程序上执行非本意的操作的攻击方法。</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与跨网站脚本（</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XSS</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）相比，</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XSS</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利用的是用户对指定网站的信任，而</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CSRF</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则利用的是网站对用户网页浏览器的信任。攻击者通过一些技术手段欺骗用户的浏览器去访问一个用户曾经认证过的网站并运行一些操作（如发邮件、发消息，甚至进行财产操作如转账和购买商品）。由于浏览器曾经认证过，所以被访问的网站会认为是真正的用户操作而去执行。</a:t>
            </a:r>
          </a:p>
          <a:p>
            <a:pPr algn="l"/>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CSRF</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攻击的关键在于，攻击者不需要控制放置恶意网址的网站，也不需要用户点击任何链接或按钮，只要用户在已登录的状态下访问了恶意网址，就可能触发攻击。因此，防范</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CSRF</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攻击的关键在于在请求中加入黑客所不能伪造的信息，以保证请求来源的可靠性。</a:t>
            </a:r>
          </a:p>
          <a:p>
            <a:endParaRPr lang="en-US" altLang="zh-CN" dirty="0"/>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并发漏洞是一种常见的逻辑业务漏洞类型，主要发生在多线程或多进程环境中。当多个线程或进程并发访问共享资源，且操作的执行顺序未被正确同步时，可能导致程序行为异常或安全问题。</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以一个简化的例子来说明，在交易的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Web</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应用程序中，如果有两个用户（线程）都登录到同一账户试图转账，而由于并发性的问题，可能会出现转账金额不正确的结果。正确的交易结果应该是账户</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A</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减去转账金额，账户</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B</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增加相应的金额。然而，由于并发漏洞，可能会出现账户</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A</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被重复扣除或账户</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B</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被重复增加的情况，导致数据不一致。</a:t>
            </a:r>
          </a:p>
          <a:p>
            <a:endParaRPr lang="en-US" altLang="zh-CN" dirty="0"/>
          </a:p>
          <a:p>
            <a:endParaRPr lang="en-US" altLang="zh-CN" dirty="0"/>
          </a:p>
          <a:p>
            <a:endParaRPr lang="en-US" altLang="zh-CN" dirty="0"/>
          </a:p>
          <a:p>
            <a:r>
              <a:rPr lang="en-US" altLang="zh-CN" dirty="0"/>
              <a:t>Tarantella Enterprise</a:t>
            </a:r>
            <a:r>
              <a:rPr lang="zh-CN" altLang="en-US" dirty="0"/>
              <a:t>在安装过程中存在竞争条件问题，可以使本地攻击者得到主机的</a:t>
            </a:r>
            <a:r>
              <a:rPr lang="en-US" altLang="zh-CN" dirty="0"/>
              <a:t>root</a:t>
            </a:r>
            <a:r>
              <a:rPr lang="zh-CN" altLang="en-US" dirty="0"/>
              <a:t>权限。</a:t>
            </a:r>
            <a:br>
              <a:rPr lang="zh-CN" altLang="en-US" dirty="0"/>
            </a:br>
            <a:r>
              <a:rPr lang="zh-CN" altLang="en-US" dirty="0"/>
              <a:t>　在安装过程中，程序会在</a:t>
            </a:r>
            <a:r>
              <a:rPr lang="en-US" altLang="zh-CN" dirty="0"/>
              <a:t>$TMPDIR</a:t>
            </a:r>
            <a:r>
              <a:rPr lang="zh-CN" altLang="en-US" dirty="0"/>
              <a:t>环境变量指定的临时文件目录（通常是</a:t>
            </a:r>
            <a:r>
              <a:rPr lang="en-US" altLang="zh-CN" dirty="0"/>
              <a:t>/</a:t>
            </a:r>
            <a:r>
              <a:rPr lang="en-US" altLang="zh-CN" dirty="0" err="1"/>
              <a:t>tmp</a:t>
            </a:r>
            <a:r>
              <a:rPr lang="zh-CN" altLang="en-US" dirty="0"/>
              <a:t>）中创建一个二进制的</a:t>
            </a:r>
            <a:r>
              <a:rPr lang="en-US" altLang="zh-CN" dirty="0" err="1"/>
              <a:t>gunzip</a:t>
            </a:r>
            <a:r>
              <a:rPr lang="zh-CN" altLang="en-US" dirty="0"/>
              <a:t>文件，此文件的文件名一般是</a:t>
            </a:r>
            <a:r>
              <a:rPr lang="en-US" altLang="zh-CN" dirty="0" err="1"/>
              <a:t>gunzip</a:t>
            </a:r>
            <a:r>
              <a:rPr lang="en-US" altLang="zh-CN" dirty="0"/>
              <a:t>$$</a:t>
            </a:r>
            <a:r>
              <a:rPr lang="zh-CN" altLang="en-US" dirty="0"/>
              <a:t>，</a:t>
            </a:r>
            <a:r>
              <a:rPr lang="en-US" altLang="zh-CN" dirty="0"/>
              <a:t>$$</a:t>
            </a:r>
            <a:r>
              <a:rPr lang="zh-CN" altLang="en-US" dirty="0"/>
              <a:t>代表了进程号，安装程序会以</a:t>
            </a:r>
            <a:r>
              <a:rPr lang="en-US" altLang="zh-CN" dirty="0"/>
              <a:t>root</a:t>
            </a:r>
            <a:r>
              <a:rPr lang="zh-CN" altLang="en-US" dirty="0"/>
              <a:t>身份在以后的安装过程中用到这个</a:t>
            </a:r>
            <a:r>
              <a:rPr lang="en-US" altLang="zh-CN" dirty="0" err="1"/>
              <a:t>gunzip</a:t>
            </a:r>
            <a:r>
              <a:rPr lang="zh-CN" altLang="en-US" dirty="0"/>
              <a:t>程序。这个</a:t>
            </a:r>
            <a:r>
              <a:rPr lang="en-US" altLang="zh-CN" dirty="0" err="1"/>
              <a:t>gunzip</a:t>
            </a:r>
            <a:r>
              <a:rPr lang="zh-CN" altLang="en-US" dirty="0"/>
              <a:t>程序在被创建时是全局可读写的，如果能在它被使用之前以其他的可执行程序替换之，则可能以</a:t>
            </a:r>
            <a:r>
              <a:rPr lang="en-US" altLang="zh-CN" dirty="0"/>
              <a:t>root</a:t>
            </a:r>
            <a:r>
              <a:rPr lang="zh-CN" altLang="en-US" dirty="0"/>
              <a:t>身份执行任意命令</a:t>
            </a:r>
            <a:endParaRPr lang="en-US" altLang="zh-CN" dirty="0"/>
          </a:p>
          <a:p>
            <a:endParaRPr lang="en-US" altLang="zh-CN" dirty="0"/>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CN" dirty="0"/>
              <a:t>FUSE‘s </a:t>
            </a:r>
            <a:r>
              <a:rPr lang="en-US" altLang="zh-CN" dirty="0" err="1"/>
              <a:t>fusermount</a:t>
            </a:r>
            <a:r>
              <a:rPr lang="zh-CN" altLang="en-US" dirty="0"/>
              <a:t>工具存在竞争条件问题，通过执行</a:t>
            </a:r>
            <a:r>
              <a:rPr lang="en-US" altLang="zh-CN" dirty="0"/>
              <a:t>FUSE</a:t>
            </a:r>
            <a:r>
              <a:rPr lang="zh-CN" altLang="en-US" dirty="0"/>
              <a:t>文件系统卸载操作</a:t>
            </a:r>
            <a:r>
              <a:rPr lang="en-US" altLang="zh-CN" dirty="0"/>
              <a:t>(</a:t>
            </a:r>
            <a:r>
              <a:rPr lang="zh-CN" altLang="en-US" dirty="0"/>
              <a:t>不是自动执行</a:t>
            </a:r>
            <a:r>
              <a:rPr lang="en-US" altLang="zh-CN" dirty="0"/>
              <a:t>)</a:t>
            </a:r>
            <a:r>
              <a:rPr lang="zh-CN" altLang="en-US" dirty="0"/>
              <a:t>，本地非特权用户可以利用这个缺陷通过符号链接进行拒绝服务</a:t>
            </a:r>
            <a:r>
              <a:rPr lang="en-US" altLang="zh-CN" dirty="0"/>
              <a:t>(</a:t>
            </a:r>
            <a:r>
              <a:rPr lang="zh-CN" altLang="en-US" dirty="0"/>
              <a:t>无需特权卸载特权用户所属的</a:t>
            </a:r>
            <a:r>
              <a:rPr lang="en-US" altLang="zh-CN" dirty="0"/>
              <a:t>FUSE</a:t>
            </a:r>
            <a:r>
              <a:rPr lang="zh-CN" altLang="en-US" dirty="0"/>
              <a:t>文件系统共享</a:t>
            </a:r>
            <a:r>
              <a:rPr lang="en-US" altLang="zh-CN" dirty="0"/>
              <a:t>)</a:t>
            </a:r>
            <a:r>
              <a:rPr lang="zh-CN" altLang="en-US" dirty="0"/>
              <a:t>。</a:t>
            </a:r>
            <a:endParaRPr lang="en-US" altLang="zh-CN" dirty="0"/>
          </a:p>
          <a:p>
            <a:endParaRPr lang="zh-CN" altLang="en-US" dirty="0"/>
          </a:p>
        </p:txBody>
      </p:sp>
    </p:spTree>
    <p:extLst>
      <p:ext uri="{BB962C8B-B14F-4D97-AF65-F5344CB8AC3E}">
        <p14:creationId xmlns:p14="http://schemas.microsoft.com/office/powerpoint/2010/main" val="1460015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a:solidFill>
                  <a:schemeClr val="tx1"/>
                </a:solidFill>
                <a:latin typeface="Arial" charset="0"/>
                <a:ea typeface="宋体" pitchFamily="2" charset="-122"/>
                <a:cs typeface="宋体" charset="0"/>
              </a:rPr>
              <a:t>char *_</a:t>
            </a:r>
            <a:r>
              <a:rPr lang="en-US" altLang="zh-CN" sz="1200" kern="1200" dirty="0" err="1">
                <a:solidFill>
                  <a:schemeClr val="tx1"/>
                </a:solidFill>
                <a:latin typeface="Arial" charset="0"/>
                <a:ea typeface="宋体" pitchFamily="2" charset="-122"/>
                <a:cs typeface="宋体" charset="0"/>
              </a:rPr>
              <a:t>getcwd</a:t>
            </a:r>
            <a:r>
              <a:rPr lang="en-US" altLang="zh-CN" sz="1200" kern="1200" dirty="0">
                <a:solidFill>
                  <a:schemeClr val="tx1"/>
                </a:solidFill>
                <a:latin typeface="Arial" charset="0"/>
                <a:ea typeface="宋体" pitchFamily="2" charset="-122"/>
                <a:cs typeface="宋体" charset="0"/>
              </a:rPr>
              <a:t>( char *buffer, </a:t>
            </a:r>
            <a:r>
              <a:rPr lang="en-US" altLang="zh-CN" sz="1200" kern="1200" dirty="0" err="1">
                <a:solidFill>
                  <a:schemeClr val="tx1"/>
                </a:solidFill>
                <a:latin typeface="Arial" charset="0"/>
                <a:ea typeface="宋体" pitchFamily="2" charset="-122"/>
                <a:cs typeface="宋体" charset="0"/>
              </a:rPr>
              <a:t>int</a:t>
            </a:r>
            <a:r>
              <a:rPr lang="en-US" altLang="zh-CN" sz="1200" kern="1200" dirty="0">
                <a:solidFill>
                  <a:schemeClr val="tx1"/>
                </a:solidFill>
                <a:latin typeface="Arial" charset="0"/>
                <a:ea typeface="宋体" pitchFamily="2" charset="-122"/>
                <a:cs typeface="宋体" charset="0"/>
              </a:rPr>
              <a:t> </a:t>
            </a:r>
            <a:r>
              <a:rPr lang="en-US" altLang="zh-CN" sz="1200" kern="1200" dirty="0" err="1">
                <a:solidFill>
                  <a:schemeClr val="tx1"/>
                </a:solidFill>
                <a:latin typeface="Arial" charset="0"/>
                <a:ea typeface="宋体" pitchFamily="2" charset="-122"/>
                <a:cs typeface="宋体" charset="0"/>
              </a:rPr>
              <a:t>maxlen</a:t>
            </a:r>
            <a:r>
              <a:rPr lang="en-US" altLang="zh-CN" sz="1200" kern="1200" dirty="0">
                <a:solidFill>
                  <a:schemeClr val="tx1"/>
                </a:solidFill>
                <a:latin typeface="Arial" charset="0"/>
                <a:ea typeface="宋体" pitchFamily="2" charset="-122"/>
                <a:cs typeface="宋体" charset="0"/>
              </a:rPr>
              <a:t> );</a:t>
            </a:r>
          </a:p>
          <a:p>
            <a:endParaRPr lang="en-US" altLang="zh-CN" sz="1200" kern="1200" dirty="0">
              <a:solidFill>
                <a:schemeClr val="tx1"/>
              </a:solidFill>
              <a:latin typeface="Arial" charset="0"/>
              <a:ea typeface="宋体" pitchFamily="2" charset="-122"/>
              <a:cs typeface="宋体" charset="0"/>
            </a:endParaRPr>
          </a:p>
          <a:p>
            <a:r>
              <a:rPr lang="en-US" altLang="zh-CN" sz="1200" kern="1200" dirty="0" err="1">
                <a:solidFill>
                  <a:schemeClr val="tx1"/>
                </a:solidFill>
                <a:latin typeface="Arial" charset="0"/>
                <a:ea typeface="宋体" pitchFamily="2" charset="-122"/>
                <a:cs typeface="宋体" charset="0"/>
              </a:rPr>
              <a:t>getcwd</a:t>
            </a:r>
            <a:r>
              <a:rPr lang="en-US" altLang="zh-CN" sz="1200" kern="1200" dirty="0">
                <a:solidFill>
                  <a:schemeClr val="tx1"/>
                </a:solidFill>
                <a:latin typeface="Arial" charset="0"/>
                <a:ea typeface="宋体" pitchFamily="2" charset="-122"/>
                <a:cs typeface="宋体" charset="0"/>
              </a:rPr>
              <a:t>()</a:t>
            </a:r>
            <a:r>
              <a:rPr lang="zh-CN" altLang="en-US" sz="1200" kern="1200" dirty="0">
                <a:solidFill>
                  <a:schemeClr val="tx1"/>
                </a:solidFill>
                <a:latin typeface="Arial" charset="0"/>
                <a:ea typeface="宋体" pitchFamily="2" charset="-122"/>
                <a:cs typeface="宋体" charset="0"/>
              </a:rPr>
              <a:t>会将当前工作目录的</a:t>
            </a:r>
            <a:r>
              <a:rPr lang="zh-CN" altLang="en-US" sz="1200" kern="1200" dirty="0">
                <a:solidFill>
                  <a:schemeClr val="tx1"/>
                </a:solidFill>
                <a:latin typeface="Arial" charset="0"/>
                <a:ea typeface="宋体" pitchFamily="2" charset="-122"/>
                <a:cs typeface="宋体" charset="0"/>
                <a:hlinkClick r:id="rId3"/>
              </a:rPr>
              <a:t>绝对路径复制到参数</a:t>
            </a:r>
            <a:r>
              <a:rPr lang="en-US" altLang="zh-CN" sz="1200" kern="1200" dirty="0">
                <a:solidFill>
                  <a:schemeClr val="tx1"/>
                </a:solidFill>
                <a:latin typeface="Arial" charset="0"/>
                <a:ea typeface="宋体" pitchFamily="2" charset="-122"/>
                <a:cs typeface="宋体" charset="0"/>
                <a:hlinkClick r:id="rId3"/>
              </a:rPr>
              <a:t>buffer</a:t>
            </a:r>
            <a:r>
              <a:rPr lang="zh-CN" altLang="en-US" sz="1200" kern="1200" dirty="0">
                <a:solidFill>
                  <a:schemeClr val="tx1"/>
                </a:solidFill>
                <a:latin typeface="Arial" charset="0"/>
                <a:ea typeface="宋体" pitchFamily="2" charset="-122"/>
                <a:cs typeface="宋体" charset="0"/>
                <a:hlinkClick r:id="rId3"/>
              </a:rPr>
              <a:t>所指的内存空间中</a:t>
            </a:r>
            <a:r>
              <a:rPr lang="en-US" altLang="zh-CN" sz="1200" kern="1200" dirty="0">
                <a:solidFill>
                  <a:schemeClr val="tx1"/>
                </a:solidFill>
                <a:latin typeface="Arial" charset="0"/>
                <a:ea typeface="宋体" pitchFamily="2" charset="-122"/>
                <a:cs typeface="宋体" charset="0"/>
                <a:hlinkClick r:id="rId3"/>
              </a:rPr>
              <a:t>,</a:t>
            </a:r>
            <a:r>
              <a:rPr lang="zh-CN" altLang="en-US" sz="1200" kern="1200" dirty="0">
                <a:solidFill>
                  <a:schemeClr val="tx1"/>
                </a:solidFill>
                <a:latin typeface="Arial" charset="0"/>
                <a:ea typeface="宋体" pitchFamily="2" charset="-122"/>
                <a:cs typeface="宋体" charset="0"/>
                <a:hlinkClick r:id="rId3"/>
              </a:rPr>
              <a:t>参数</a:t>
            </a:r>
            <a:r>
              <a:rPr lang="en-US" altLang="zh-CN" sz="1200" kern="1200" dirty="0">
                <a:solidFill>
                  <a:schemeClr val="tx1"/>
                </a:solidFill>
                <a:latin typeface="Arial" charset="0"/>
                <a:ea typeface="宋体" pitchFamily="2" charset="-122"/>
                <a:cs typeface="宋体" charset="0"/>
                <a:hlinkClick r:id="rId3"/>
              </a:rPr>
              <a:t>maxlen</a:t>
            </a:r>
            <a:r>
              <a:rPr lang="zh-CN" altLang="en-US" sz="1200" kern="1200" dirty="0">
                <a:solidFill>
                  <a:schemeClr val="tx1"/>
                </a:solidFill>
                <a:latin typeface="Arial" charset="0"/>
                <a:ea typeface="宋体" pitchFamily="2" charset="-122"/>
                <a:cs typeface="宋体" charset="0"/>
                <a:hlinkClick r:id="rId3"/>
              </a:rPr>
              <a:t>为</a:t>
            </a:r>
            <a:r>
              <a:rPr lang="en-US" altLang="zh-CN" sz="1200" kern="1200" dirty="0">
                <a:solidFill>
                  <a:schemeClr val="tx1"/>
                </a:solidFill>
                <a:latin typeface="Arial" charset="0"/>
                <a:ea typeface="宋体" pitchFamily="2" charset="-122"/>
                <a:cs typeface="宋体" charset="0"/>
                <a:hlinkClick r:id="rId3"/>
              </a:rPr>
              <a:t>buffer</a:t>
            </a:r>
            <a:r>
              <a:rPr lang="zh-CN" altLang="en-US" sz="1200" kern="1200" dirty="0">
                <a:solidFill>
                  <a:schemeClr val="tx1"/>
                </a:solidFill>
                <a:latin typeface="Arial" charset="0"/>
                <a:ea typeface="宋体" pitchFamily="2" charset="-122"/>
                <a:cs typeface="宋体" charset="0"/>
                <a:hlinkClick r:id="rId3"/>
              </a:rPr>
              <a:t>的空间大小</a:t>
            </a:r>
            <a:endParaRPr lang="en-US" altLang="zh-CN" sz="1200" kern="1200" dirty="0">
              <a:solidFill>
                <a:schemeClr val="tx1"/>
              </a:solidFill>
              <a:latin typeface="Arial" charset="0"/>
              <a:ea typeface="宋体" pitchFamily="2" charset="-122"/>
              <a:cs typeface="宋体" charset="0"/>
            </a:endParaRPr>
          </a:p>
          <a:p>
            <a:endParaRPr kumimoji="1" lang="zh-CN" altLang="en-US" dirty="0"/>
          </a:p>
        </p:txBody>
      </p:sp>
      <p:sp>
        <p:nvSpPr>
          <p:cNvPr id="4" name="幻灯片编号占位符 3"/>
          <p:cNvSpPr>
            <a:spLocks noGrp="1"/>
          </p:cNvSpPr>
          <p:nvPr>
            <p:ph type="sldNum" sz="quarter" idx="10"/>
          </p:nvPr>
        </p:nvSpPr>
        <p:spPr/>
        <p:txBody>
          <a:bodyPr/>
          <a:lstStyle/>
          <a:p>
            <a:fld id="{5F4297A3-37BD-8549-87CC-C7BC93A774B6}" type="slidenum">
              <a:rPr lang="en-US" altLang="zh-CN" smtClean="0"/>
              <a:pPr/>
              <a:t>12</a:t>
            </a:fld>
            <a:endParaRPr lang="en-US" altLang="zh-CN"/>
          </a:p>
        </p:txBody>
      </p:sp>
    </p:spTree>
    <p:extLst>
      <p:ext uri="{BB962C8B-B14F-4D97-AF65-F5344CB8AC3E}">
        <p14:creationId xmlns:p14="http://schemas.microsoft.com/office/powerpoint/2010/main" val="35150281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OWASP Top 10 </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漏洞模式是一个由</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OWASP</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（开放式</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Web</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应用程序安全项目）组织发布的年度列表，用于概述和分类</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Web</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应用程序中最关键的安全风险。这个列表每年更新一次，以反映新的攻击技术和趋势，并为开发人员和安全专家提供关于如何减轻这些风险的指导。</a:t>
            </a:r>
            <a:endParaRPr kumimoji="1" lang="en-US" altLang="zh-CN" dirty="0"/>
          </a:p>
          <a:p>
            <a:r>
              <a:rPr kumimoji="1" lang="en-US" altLang="zh-CN" dirty="0"/>
              <a:t>Cross-site</a:t>
            </a:r>
            <a:r>
              <a:rPr kumimoji="1" lang="zh-CN" altLang="en-US" dirty="0"/>
              <a:t> </a:t>
            </a:r>
            <a:r>
              <a:rPr kumimoji="1" lang="en-US" altLang="zh-CN" dirty="0"/>
              <a:t>Request</a:t>
            </a:r>
            <a:r>
              <a:rPr kumimoji="1" lang="zh-CN" altLang="en-US" dirty="0"/>
              <a:t> </a:t>
            </a:r>
            <a:r>
              <a:rPr kumimoji="1" lang="en-US" altLang="zh-CN" dirty="0"/>
              <a:t>Forgery</a:t>
            </a:r>
            <a:r>
              <a:rPr kumimoji="1" lang="zh-CN" altLang="en-US" dirty="0"/>
              <a:t>：跨站点请求伪造</a:t>
            </a:r>
            <a:endParaRPr kumimoji="1" lang="en-US" altLang="zh-CN" dirty="0"/>
          </a:p>
          <a:p>
            <a:pPr>
              <a:lnSpc>
                <a:spcPct val="130000"/>
              </a:lnSpc>
            </a:pPr>
            <a:r>
              <a:rPr lang="en-US" altLang="zh-CN" sz="1200" b="1" i="0" dirty="0">
                <a:latin typeface="Arial Narrow"/>
                <a:cs typeface="Arial Narrow"/>
              </a:rPr>
              <a:t>A1 Injection</a:t>
            </a:r>
            <a:r>
              <a:rPr kumimoji="1" lang="zh-CN" altLang="en-US" dirty="0"/>
              <a:t>注入</a:t>
            </a:r>
            <a:endParaRPr lang="en-US" altLang="zh-CN" sz="1200" b="1" i="0" dirty="0">
              <a:latin typeface="Arial Narrow"/>
              <a:cs typeface="Arial Narrow"/>
            </a:endParaRPr>
          </a:p>
          <a:p>
            <a:pPr>
              <a:lnSpc>
                <a:spcPct val="130000"/>
              </a:lnSpc>
            </a:pPr>
            <a:r>
              <a:rPr lang="en-US" altLang="zh-CN" sz="1200" b="1" i="0" dirty="0">
                <a:solidFill>
                  <a:schemeClr val="accent1">
                    <a:lumMod val="50000"/>
                  </a:schemeClr>
                </a:solidFill>
                <a:latin typeface="Arial Narrow"/>
                <a:cs typeface="Arial Narrow"/>
              </a:rPr>
              <a:t>A2 Broken Authentication </a:t>
            </a:r>
            <a:r>
              <a:rPr lang="zh-CN" altLang="zh-CN" sz="1200" b="1" i="0" dirty="0">
                <a:solidFill>
                  <a:schemeClr val="accent1">
                    <a:lumMod val="50000"/>
                  </a:schemeClr>
                </a:solidFill>
                <a:latin typeface="Arial Narrow"/>
                <a:cs typeface="Arial Narrow"/>
              </a:rPr>
              <a:t>&amp;</a:t>
            </a:r>
            <a:r>
              <a:rPr lang="en-US" altLang="zh-CN" sz="1200" b="1" i="0" dirty="0">
                <a:solidFill>
                  <a:schemeClr val="accent1">
                    <a:lumMod val="50000"/>
                  </a:schemeClr>
                </a:solidFill>
                <a:latin typeface="Arial Narrow"/>
                <a:cs typeface="Arial Narrow"/>
              </a:rPr>
              <a:t> Session Management</a:t>
            </a:r>
            <a:r>
              <a:rPr kumimoji="1" lang="zh-CN" altLang="en-US" dirty="0"/>
              <a:t>断开的身份验证和会话管理</a:t>
            </a:r>
            <a:endParaRPr lang="en-US" altLang="zh-CN" sz="1200" b="1" i="0" dirty="0">
              <a:solidFill>
                <a:schemeClr val="accent1">
                  <a:lumMod val="50000"/>
                </a:schemeClr>
              </a:solidFill>
              <a:latin typeface="Arial Narrow"/>
              <a:cs typeface="Arial Narrow"/>
            </a:endParaRPr>
          </a:p>
          <a:p>
            <a:pPr marL="0" marR="0" lvl="0" indent="0" algn="l" defTabSz="914400" rtl="0" eaLnBrk="1" fontAlgn="auto" latinLnBrk="0" hangingPunct="1">
              <a:lnSpc>
                <a:spcPct val="130000"/>
              </a:lnSpc>
              <a:spcBef>
                <a:spcPts val="0"/>
              </a:spcBef>
              <a:spcAft>
                <a:spcPts val="0"/>
              </a:spcAft>
              <a:buClrTx/>
              <a:buSzTx/>
              <a:buFontTx/>
              <a:buNone/>
              <a:tabLst/>
              <a:defRPr/>
            </a:pPr>
            <a:r>
              <a:rPr lang="en-US" altLang="zh-CN" sz="1200" b="1" i="0" dirty="0">
                <a:latin typeface="Arial Narrow"/>
                <a:cs typeface="Arial Narrow"/>
              </a:rPr>
              <a:t>A3 Cross-Site Scripting (XSS)</a:t>
            </a:r>
            <a:r>
              <a:rPr kumimoji="1" lang="zh-CN" altLang="en-US" dirty="0"/>
              <a:t>跨站点脚本（</a:t>
            </a:r>
            <a:r>
              <a:rPr kumimoji="1" lang="en-US" altLang="zh-CN" dirty="0"/>
              <a:t>XSS</a:t>
            </a:r>
            <a:r>
              <a:rPr kumimoji="1" lang="zh-CN" altLang="en-US" dirty="0"/>
              <a:t>）</a:t>
            </a:r>
            <a:endParaRPr kumimoji="1" lang="en-US" altLang="zh-CN" dirty="0"/>
          </a:p>
          <a:p>
            <a:pPr>
              <a:lnSpc>
                <a:spcPct val="130000"/>
              </a:lnSpc>
            </a:pPr>
            <a:r>
              <a:rPr lang="en-US" altLang="zh-CN" sz="1200" b="1" i="0" dirty="0">
                <a:solidFill>
                  <a:srgbClr val="3C8C93"/>
                </a:solidFill>
                <a:latin typeface="Arial Narrow"/>
                <a:cs typeface="Arial Narrow"/>
              </a:rPr>
              <a:t>A4 Insecure Direct Object References</a:t>
            </a:r>
            <a:r>
              <a:rPr kumimoji="1" lang="zh-CN" altLang="en-US" dirty="0"/>
              <a:t>不安全的直接对象引用</a:t>
            </a:r>
            <a:endParaRPr lang="en-US" altLang="zh-CN" sz="1200" b="1" i="0" dirty="0">
              <a:solidFill>
                <a:srgbClr val="3C8C93"/>
              </a:solidFill>
              <a:latin typeface="Arial Narrow"/>
              <a:cs typeface="Arial Narrow"/>
            </a:endParaRPr>
          </a:p>
          <a:p>
            <a:pPr marL="0" marR="0" lvl="0" indent="0" algn="l" defTabSz="914400" rtl="0" eaLnBrk="1" fontAlgn="auto" latinLnBrk="0" hangingPunct="1">
              <a:lnSpc>
                <a:spcPct val="130000"/>
              </a:lnSpc>
              <a:spcBef>
                <a:spcPts val="0"/>
              </a:spcBef>
              <a:spcAft>
                <a:spcPts val="0"/>
              </a:spcAft>
              <a:buClrTx/>
              <a:buSzTx/>
              <a:buFontTx/>
              <a:buNone/>
              <a:tabLst/>
              <a:defRPr/>
            </a:pPr>
            <a:r>
              <a:rPr lang="en-US" altLang="zh-CN" sz="1200" b="1" i="0" dirty="0">
                <a:latin typeface="Arial Narrow"/>
                <a:cs typeface="Arial Narrow"/>
              </a:rPr>
              <a:t>A5 Security Misconfiguration</a:t>
            </a:r>
            <a:r>
              <a:rPr kumimoji="1" lang="zh-CN" altLang="en-US" dirty="0"/>
              <a:t>安全配置错误</a:t>
            </a:r>
            <a:endParaRPr lang="en-US" altLang="zh-CN" sz="1200" b="1" i="0" dirty="0">
              <a:latin typeface="Arial Narrow"/>
              <a:cs typeface="Arial Narrow"/>
            </a:endParaRPr>
          </a:p>
          <a:p>
            <a:pPr>
              <a:lnSpc>
                <a:spcPct val="130000"/>
              </a:lnSpc>
            </a:pPr>
            <a:r>
              <a:rPr lang="en-US" altLang="zh-CN" sz="1200" b="1" i="0" dirty="0">
                <a:solidFill>
                  <a:srgbClr val="3C8C93"/>
                </a:solidFill>
                <a:latin typeface="Arial Narrow"/>
                <a:cs typeface="Arial Narrow"/>
              </a:rPr>
              <a:t>A6 Sensitive Data Exposure</a:t>
            </a:r>
            <a:r>
              <a:rPr kumimoji="1" lang="zh-CN" altLang="en-US" dirty="0"/>
              <a:t>敏感数据暴露</a:t>
            </a:r>
            <a:endParaRPr lang="en-US" altLang="zh-CN" sz="1200" b="1" i="0" dirty="0">
              <a:solidFill>
                <a:srgbClr val="3C8C93"/>
              </a:solidFill>
              <a:latin typeface="Arial Narrow"/>
              <a:cs typeface="Arial Narrow"/>
            </a:endParaRPr>
          </a:p>
          <a:p>
            <a:pPr>
              <a:lnSpc>
                <a:spcPct val="130000"/>
              </a:lnSpc>
            </a:pPr>
            <a:r>
              <a:rPr lang="en-US" altLang="zh-CN" sz="1200" b="1" i="0" dirty="0">
                <a:latin typeface="Arial Narrow"/>
                <a:cs typeface="Arial Narrow"/>
              </a:rPr>
              <a:t>A7 Missing Function Level Access Control</a:t>
            </a:r>
            <a:r>
              <a:rPr kumimoji="1" lang="zh-CN" altLang="en-US" dirty="0"/>
              <a:t>缺少功能级别访问控制</a:t>
            </a:r>
            <a:endParaRPr lang="en-US" altLang="zh-CN" sz="1200" b="1" i="0" dirty="0">
              <a:latin typeface="Arial Narrow"/>
              <a:cs typeface="Arial Narrow"/>
            </a:endParaRPr>
          </a:p>
          <a:p>
            <a:pPr marL="0" marR="0" lvl="0" indent="0" algn="l" defTabSz="914400" rtl="0" eaLnBrk="1" fontAlgn="auto" latinLnBrk="0" hangingPunct="1">
              <a:lnSpc>
                <a:spcPct val="130000"/>
              </a:lnSpc>
              <a:spcBef>
                <a:spcPts val="0"/>
              </a:spcBef>
              <a:spcAft>
                <a:spcPts val="0"/>
              </a:spcAft>
              <a:buClrTx/>
              <a:buSzTx/>
              <a:buFontTx/>
              <a:buNone/>
              <a:tabLst/>
              <a:defRPr/>
            </a:pPr>
            <a:r>
              <a:rPr lang="en-US" altLang="zh-CN" sz="1200" b="1" i="0" dirty="0">
                <a:solidFill>
                  <a:srgbClr val="3C8C93"/>
                </a:solidFill>
                <a:latin typeface="Arial Narrow"/>
                <a:cs typeface="Arial Narrow"/>
              </a:rPr>
              <a:t>A8 Cross-Site Request Forgery (CSRF)</a:t>
            </a:r>
            <a:r>
              <a:rPr kumimoji="1" lang="zh-CN" altLang="en-US" dirty="0"/>
              <a:t>跨站点请求伪造（</a:t>
            </a:r>
            <a:r>
              <a:rPr kumimoji="1" lang="en-US" altLang="zh-CN" dirty="0"/>
              <a:t>CSRF</a:t>
            </a:r>
            <a:r>
              <a:rPr kumimoji="1" lang="zh-CN" altLang="en-US" dirty="0"/>
              <a:t>）</a:t>
            </a:r>
            <a:endParaRPr kumimoji="1" lang="en-US" altLang="zh-CN" dirty="0"/>
          </a:p>
          <a:p>
            <a:pPr>
              <a:lnSpc>
                <a:spcPct val="130000"/>
              </a:lnSpc>
            </a:pPr>
            <a:r>
              <a:rPr lang="en-US" altLang="zh-CN" sz="1200" b="1" i="0" dirty="0">
                <a:latin typeface="Arial Narrow"/>
                <a:cs typeface="Arial Narrow"/>
              </a:rPr>
              <a:t>A9 Using Components with Known Vulnerabilities</a:t>
            </a:r>
            <a:r>
              <a:rPr kumimoji="1" lang="zh-CN" altLang="en-US" dirty="0"/>
              <a:t>使用具有已知漏洞的组件</a:t>
            </a:r>
            <a:endParaRPr lang="en-US" altLang="zh-CN" sz="1200" b="1" i="0" dirty="0">
              <a:latin typeface="Arial Narrow"/>
              <a:cs typeface="Arial Narrow"/>
            </a:endParaRPr>
          </a:p>
          <a:p>
            <a:pPr>
              <a:lnSpc>
                <a:spcPct val="130000"/>
              </a:lnSpc>
            </a:pPr>
            <a:r>
              <a:rPr lang="en-US" altLang="zh-CN" sz="1200" b="1" i="0" dirty="0">
                <a:solidFill>
                  <a:srgbClr val="3C8C93"/>
                </a:solidFill>
                <a:latin typeface="Arial Narrow"/>
                <a:cs typeface="Arial Narrow"/>
              </a:rPr>
              <a:t>A10 Unvalidated Redirects and Forwards</a:t>
            </a:r>
            <a:r>
              <a:rPr kumimoji="1" lang="zh-CN" altLang="en-US" dirty="0"/>
              <a:t>未验证的重定向和转发</a:t>
            </a:r>
            <a:endParaRPr lang="zh-CN" altLang="en-US" sz="1200" b="1" i="0" dirty="0">
              <a:solidFill>
                <a:srgbClr val="3C8C93"/>
              </a:solidFill>
              <a:latin typeface="Arial Narrow"/>
              <a:cs typeface="Arial Narrow"/>
            </a:endParaRPr>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13</a:t>
            </a:fld>
            <a:endParaRPr lang="en-US" altLang="zh-CN"/>
          </a:p>
        </p:txBody>
      </p:sp>
    </p:spTree>
    <p:extLst>
      <p:ext uri="{BB962C8B-B14F-4D97-AF65-F5344CB8AC3E}">
        <p14:creationId xmlns:p14="http://schemas.microsoft.com/office/powerpoint/2010/main" val="41521908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4626" name="Rectangle 2"/>
          <p:cNvSpPr>
            <a:spLocks noGrp="1" noRot="1" noChangeAspect="1" noChangeArrowheads="1" noTextEdit="1"/>
          </p:cNvSpPr>
          <p:nvPr>
            <p:ph type="sldImg"/>
          </p:nvPr>
        </p:nvSpPr>
        <p:spPr>
          <a:xfrm>
            <a:off x="-274638" y="406400"/>
            <a:ext cx="7407276" cy="4167188"/>
          </a:xfrm>
          <a:ln/>
        </p:spPr>
      </p:sp>
      <p:sp>
        <p:nvSpPr>
          <p:cNvPr id="2074627"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9858" name="Rectangle 2"/>
          <p:cNvSpPr>
            <a:spLocks noGrp="1" noRot="1" noChangeAspect="1" noChangeArrowheads="1" noTextEdit="1"/>
          </p:cNvSpPr>
          <p:nvPr>
            <p:ph type="sldImg"/>
          </p:nvPr>
        </p:nvSpPr>
        <p:spPr>
          <a:xfrm>
            <a:off x="382588" y="685800"/>
            <a:ext cx="6094412" cy="3429000"/>
          </a:xfrm>
          <a:ln/>
        </p:spPr>
      </p:sp>
      <p:sp>
        <p:nvSpPr>
          <p:cNvPr id="2169859" name="Rectangle 3"/>
          <p:cNvSpPr>
            <a:spLocks noGrp="1" noChangeArrowheads="1"/>
          </p:cNvSpPr>
          <p:nvPr>
            <p:ph type="body" idx="1"/>
          </p:nvPr>
        </p:nvSpPr>
        <p:spPr bwMode="auto">
          <a:xfrm>
            <a:off x="914400" y="4344301"/>
            <a:ext cx="5029200" cy="4113423"/>
          </a:xfrm>
          <a:prstGeom prst="rect">
            <a:avLst/>
          </a:prstGeom>
          <a:solidFill>
            <a:srgbClr val="FFFFFF"/>
          </a:solidFill>
          <a:ln>
            <a:solidFill>
              <a:srgbClr val="000000"/>
            </a:solidFill>
            <a:miter lim="800000"/>
            <a:headEnd/>
            <a:tailEnd/>
          </a:ln>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9858" name="Rectangle 2"/>
          <p:cNvSpPr>
            <a:spLocks noGrp="1" noRot="1" noChangeAspect="1" noChangeArrowheads="1" noTextEdit="1"/>
          </p:cNvSpPr>
          <p:nvPr>
            <p:ph type="sldImg"/>
          </p:nvPr>
        </p:nvSpPr>
        <p:spPr>
          <a:xfrm>
            <a:off x="382588" y="685800"/>
            <a:ext cx="6094412" cy="3429000"/>
          </a:xfrm>
          <a:ln/>
        </p:spPr>
      </p:sp>
      <p:sp>
        <p:nvSpPr>
          <p:cNvPr id="2169859" name="Rectangle 3"/>
          <p:cNvSpPr>
            <a:spLocks noGrp="1" noChangeArrowheads="1"/>
          </p:cNvSpPr>
          <p:nvPr>
            <p:ph type="body" idx="1"/>
          </p:nvPr>
        </p:nvSpPr>
        <p:spPr bwMode="auto">
          <a:xfrm>
            <a:off x="914400" y="4344301"/>
            <a:ext cx="5029200" cy="4113423"/>
          </a:xfrm>
          <a:prstGeom prst="rect">
            <a:avLst/>
          </a:prstGeom>
          <a:solidFill>
            <a:srgbClr val="FFFFFF"/>
          </a:solidFill>
          <a:ln>
            <a:solidFill>
              <a:srgbClr val="000000"/>
            </a:solidFill>
            <a:miter lim="800000"/>
            <a:headEnd/>
            <a:tailEnd/>
          </a:ln>
        </p:spPr>
        <p:txBody>
          <a:bodyPr/>
          <a:lstStyle/>
          <a:p>
            <a:pPr algn="l">
              <a:buFont typeface="+mj-lt"/>
              <a:buAutoNum type="arabicPeriod"/>
            </a:pPr>
            <a:r>
              <a:rPr lang="zh-CN" altLang="en-US" b="0" i="0" dirty="0">
                <a:solidFill>
                  <a:srgbClr val="1F1F1F"/>
                </a:solidFill>
                <a:effectLst/>
                <a:highlight>
                  <a:srgbClr val="FFFFFF"/>
                </a:highlight>
                <a:latin typeface="PingFangSC-Semibold"/>
                <a:ea typeface="微软雅黑" panose="020B0503020204020204" pitchFamily="34" charset="-122"/>
              </a:rPr>
              <a:t>强口令策略</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a:t>
            </a:r>
          </a:p>
          <a:p>
            <a:pPr algn="l">
              <a:buFont typeface="Arial" panose="020B0604020202020204" pitchFamily="34" charset="0"/>
              <a:buChar char="•"/>
            </a:pP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口令长度应足够长，通常至少为</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8</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位，系统最高权限账号的口令长度应至少为</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12</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位。</a:t>
            </a:r>
          </a:p>
          <a:p>
            <a:pPr algn="l">
              <a:buFont typeface="Arial" panose="020B0604020202020204" pitchFamily="34" charset="0"/>
              <a:buChar char="•"/>
            </a:pP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口令应包含数字、小写字母、大写字母、特殊符号四类中的至少三类，以增加口令的复杂性。</a:t>
            </a:r>
          </a:p>
          <a:p>
            <a:pPr algn="l">
              <a:buFont typeface="Arial" panose="020B0604020202020204" pitchFamily="34" charset="0"/>
              <a:buChar char="•"/>
            </a:pP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口令不得与用户名相关，并且不应包含账号的完整字符串、大小写变位或形似变换的字符串。</a:t>
            </a:r>
          </a:p>
          <a:p>
            <a:pPr algn="l">
              <a:buFont typeface="Arial" panose="020B0604020202020204" pitchFamily="34" charset="0"/>
              <a:buChar char="•"/>
            </a:pP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严禁使用出厂默认的、易被猜测的字符串作为口令，如“</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admin”</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root”</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123456”</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等。</a:t>
            </a:r>
          </a:p>
          <a:p>
            <a:pPr algn="l">
              <a:buFont typeface="Arial" panose="020B0604020202020204" pitchFamily="34" charset="0"/>
              <a:buChar char="•"/>
            </a:pP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定期更换口令，防止长时间使用同一口令被破解。</a:t>
            </a:r>
          </a:p>
          <a:p>
            <a:pPr algn="l">
              <a:buFont typeface="+mj-lt"/>
              <a:buAutoNum type="arabicPeriod" startAt="2"/>
            </a:pPr>
            <a:r>
              <a:rPr lang="zh-CN" altLang="en-US" b="0" i="0" dirty="0">
                <a:solidFill>
                  <a:srgbClr val="1F1F1F"/>
                </a:solidFill>
                <a:effectLst/>
                <a:highlight>
                  <a:srgbClr val="FFFFFF"/>
                </a:highlight>
                <a:latin typeface="PingFangSC-Semibold"/>
                <a:ea typeface="微软雅黑" panose="020B0503020204020204" pitchFamily="34" charset="-122"/>
              </a:rPr>
              <a:t>双因子验证</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：在用户登录时采用双因子验证，这包括除了口令之外的另一个验证因素，如手机验证码、指纹识别等，从而增加登录的安全性。</a:t>
            </a:r>
          </a:p>
          <a:p>
            <a:pPr algn="l">
              <a:buFont typeface="+mj-lt"/>
              <a:buAutoNum type="arabicPeriod" startAt="2"/>
            </a:pPr>
            <a:r>
              <a:rPr lang="zh-CN" altLang="en-US" b="0" i="0" dirty="0">
                <a:solidFill>
                  <a:srgbClr val="1F1F1F"/>
                </a:solidFill>
                <a:effectLst/>
                <a:highlight>
                  <a:srgbClr val="FFFFFF"/>
                </a:highlight>
                <a:latin typeface="PingFangSC-Semibold"/>
                <a:ea typeface="微软雅黑" panose="020B0503020204020204" pitchFamily="34" charset="-122"/>
              </a:rPr>
              <a:t>开启授权码功能</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：用户可以开启客户端授权码，为每个客户端设置专属的授权密码，代替邮箱密码登录客户端。这样即使邮箱密码被盗取，也无法用于客户端登录，从而避免邮件通过客户端泄露。</a:t>
            </a:r>
          </a:p>
          <a:p>
            <a:pPr algn="l">
              <a:buFont typeface="+mj-lt"/>
              <a:buAutoNum type="arabicPeriod" startAt="2"/>
            </a:pPr>
            <a:r>
              <a:rPr lang="zh-CN" altLang="en-US" b="0" i="0" dirty="0">
                <a:solidFill>
                  <a:srgbClr val="1F1F1F"/>
                </a:solidFill>
                <a:effectLst/>
                <a:highlight>
                  <a:srgbClr val="FFFFFF"/>
                </a:highlight>
                <a:latin typeface="PingFangSC-Semibold"/>
                <a:ea typeface="微软雅黑" panose="020B0503020204020204" pitchFamily="34" charset="-122"/>
              </a:rPr>
              <a:t>警惕陌生信件</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：陌生邮件中可能包含伪装的信息，如钓鱼邮件或带有危险附件的邮件，旨在骗取用户的个人信息或执行恶意操作。用户需要保持警惕，谨慎确认发件人的真实性，避免点击不明链接或下载未知附件。</a:t>
            </a:r>
          </a:p>
          <a:p>
            <a:pPr algn="l">
              <a:buFont typeface="+mj-lt"/>
              <a:buAutoNum type="arabicPeriod" startAt="2"/>
            </a:pPr>
            <a:r>
              <a:rPr lang="zh-CN" altLang="en-US" b="0" i="0" dirty="0">
                <a:solidFill>
                  <a:srgbClr val="1F1F1F"/>
                </a:solidFill>
                <a:effectLst/>
                <a:highlight>
                  <a:srgbClr val="FFFFFF"/>
                </a:highlight>
                <a:latin typeface="PingFangSC-Semibold"/>
                <a:ea typeface="微软雅黑" panose="020B0503020204020204" pitchFamily="34" charset="-122"/>
              </a:rPr>
              <a:t>定期杀毒</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：安装正版杀毒软件、反木马软件，并定期使用这些软件对电脑进行全盘杀毒，以防止恶意软件窃取或篡改用户的口令。</a:t>
            </a:r>
          </a:p>
          <a:p>
            <a:pPr algn="l">
              <a:buFont typeface="+mj-lt"/>
              <a:buAutoNum type="arabicPeriod" startAt="2"/>
            </a:pPr>
            <a:r>
              <a:rPr lang="zh-CN" altLang="en-US" b="0" i="0" dirty="0">
                <a:solidFill>
                  <a:srgbClr val="1F1F1F"/>
                </a:solidFill>
                <a:effectLst/>
                <a:highlight>
                  <a:srgbClr val="FFFFFF"/>
                </a:highlight>
                <a:latin typeface="PingFangSC-Semibold"/>
                <a:ea typeface="微软雅黑" panose="020B0503020204020204" pitchFamily="34" charset="-122"/>
              </a:rPr>
              <a:t>修改默认口令</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：对于设备、软件、应用系统部署上线时存在的默认账号和口令，用户应主动清查并修改，避免被黑客利用。</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通过采用这些防范措施，可以大大提高邮箱账号登录的安全性，减少用户口令被窃取或滥用的风险。然而，用户自身的安全意识也是至关重要的，需要时刻保持警惕，遵循最佳的安全实践。</a:t>
            </a:r>
          </a:p>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7"/>
          <p:cNvSpPr txBox="1">
            <a:spLocks noGrp="1" noChangeArrowheads="1"/>
          </p:cNvSpPr>
          <p:nvPr/>
        </p:nvSpPr>
        <p:spPr bwMode="auto">
          <a:xfrm>
            <a:off x="3884147" y="8684684"/>
            <a:ext cx="297273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b="1">
                <a:solidFill>
                  <a:schemeClr val="tx1"/>
                </a:solidFill>
                <a:latin typeface="Arial" charset="0"/>
                <a:ea typeface="幼圆" charset="0"/>
                <a:cs typeface="幼圆" charset="0"/>
              </a:defRPr>
            </a:lvl1pPr>
            <a:lvl2pPr marL="742950" indent="-285750" eaLnBrk="0" hangingPunct="0">
              <a:defRPr b="1">
                <a:solidFill>
                  <a:schemeClr val="tx1"/>
                </a:solidFill>
                <a:latin typeface="Arial" charset="0"/>
                <a:ea typeface="幼圆" charset="0"/>
                <a:cs typeface="幼圆" charset="0"/>
              </a:defRPr>
            </a:lvl2pPr>
            <a:lvl3pPr marL="1143000" indent="-228600" eaLnBrk="0" hangingPunct="0">
              <a:defRPr b="1">
                <a:solidFill>
                  <a:schemeClr val="tx1"/>
                </a:solidFill>
                <a:latin typeface="Arial" charset="0"/>
                <a:ea typeface="幼圆" charset="0"/>
                <a:cs typeface="幼圆" charset="0"/>
              </a:defRPr>
            </a:lvl3pPr>
            <a:lvl4pPr marL="1600200" indent="-228600" eaLnBrk="0" hangingPunct="0">
              <a:defRPr b="1">
                <a:solidFill>
                  <a:schemeClr val="tx1"/>
                </a:solidFill>
                <a:latin typeface="Arial" charset="0"/>
                <a:ea typeface="幼圆" charset="0"/>
                <a:cs typeface="幼圆" charset="0"/>
              </a:defRPr>
            </a:lvl4pPr>
            <a:lvl5pPr marL="2057400" indent="-228600" eaLnBrk="0" hangingPunct="0">
              <a:defRPr b="1">
                <a:solidFill>
                  <a:schemeClr val="tx1"/>
                </a:solidFill>
                <a:latin typeface="Arial" charset="0"/>
                <a:ea typeface="幼圆" charset="0"/>
                <a:cs typeface="幼圆" charset="0"/>
              </a:defRPr>
            </a:lvl5pPr>
            <a:lvl6pPr marL="2514600" indent="-228600" algn="ctr" eaLnBrk="0" fontAlgn="base" hangingPunct="0">
              <a:spcBef>
                <a:spcPct val="0"/>
              </a:spcBef>
              <a:spcAft>
                <a:spcPct val="0"/>
              </a:spcAft>
              <a:defRPr b="1">
                <a:solidFill>
                  <a:schemeClr val="tx1"/>
                </a:solidFill>
                <a:latin typeface="Arial" charset="0"/>
                <a:ea typeface="幼圆" charset="0"/>
                <a:cs typeface="幼圆" charset="0"/>
              </a:defRPr>
            </a:lvl6pPr>
            <a:lvl7pPr marL="2971800" indent="-228600" algn="ctr" eaLnBrk="0" fontAlgn="base" hangingPunct="0">
              <a:spcBef>
                <a:spcPct val="0"/>
              </a:spcBef>
              <a:spcAft>
                <a:spcPct val="0"/>
              </a:spcAft>
              <a:defRPr b="1">
                <a:solidFill>
                  <a:schemeClr val="tx1"/>
                </a:solidFill>
                <a:latin typeface="Arial" charset="0"/>
                <a:ea typeface="幼圆" charset="0"/>
                <a:cs typeface="幼圆" charset="0"/>
              </a:defRPr>
            </a:lvl7pPr>
            <a:lvl8pPr marL="3429000" indent="-228600" algn="ctr" eaLnBrk="0" fontAlgn="base" hangingPunct="0">
              <a:spcBef>
                <a:spcPct val="0"/>
              </a:spcBef>
              <a:spcAft>
                <a:spcPct val="0"/>
              </a:spcAft>
              <a:defRPr b="1">
                <a:solidFill>
                  <a:schemeClr val="tx1"/>
                </a:solidFill>
                <a:latin typeface="Arial" charset="0"/>
                <a:ea typeface="幼圆" charset="0"/>
                <a:cs typeface="幼圆" charset="0"/>
              </a:defRPr>
            </a:lvl8pPr>
            <a:lvl9pPr marL="3886200" indent="-228600" algn="ctr" eaLnBrk="0" fontAlgn="base" hangingPunct="0">
              <a:spcBef>
                <a:spcPct val="0"/>
              </a:spcBef>
              <a:spcAft>
                <a:spcPct val="0"/>
              </a:spcAft>
              <a:defRPr b="1">
                <a:solidFill>
                  <a:schemeClr val="tx1"/>
                </a:solidFill>
                <a:latin typeface="Arial" charset="0"/>
                <a:ea typeface="幼圆" charset="0"/>
                <a:cs typeface="幼圆" charset="0"/>
              </a:defRPr>
            </a:lvl9pPr>
          </a:lstStyle>
          <a:p>
            <a:pPr algn="r" eaLnBrk="1" hangingPunct="1"/>
            <a:fld id="{E077226D-3F48-8740-B509-E105487DCAAB}" type="slidenum">
              <a:rPr lang="zh-CN" altLang="en-US" sz="1200" b="0">
                <a:latin typeface="Segoe Semibold" charset="0"/>
                <a:ea typeface="黑体" charset="0"/>
                <a:cs typeface="黑体" charset="0"/>
              </a:rPr>
              <a:pPr algn="r" eaLnBrk="1" hangingPunct="1"/>
              <a:t>19</a:t>
            </a:fld>
            <a:endParaRPr lang="en-US" altLang="zh-CN" sz="1200" b="0">
              <a:latin typeface="Segoe Semibold" charset="0"/>
              <a:ea typeface="黑体" charset="0"/>
              <a:cs typeface="黑体" charset="0"/>
            </a:endParaRPr>
          </a:p>
        </p:txBody>
      </p:sp>
      <p:sp>
        <p:nvSpPr>
          <p:cNvPr id="248835" name="Rectangle 2"/>
          <p:cNvSpPr>
            <a:spLocks noGrp="1" noRot="1" noChangeAspect="1" noChangeArrowheads="1" noTextEdit="1"/>
          </p:cNvSpPr>
          <p:nvPr>
            <p:ph type="sldImg"/>
          </p:nvPr>
        </p:nvSpPr>
        <p:spPr>
          <a:xfrm>
            <a:off x="381000" y="685800"/>
            <a:ext cx="6094413" cy="3429000"/>
          </a:xfrm>
          <a:ln/>
        </p:spPr>
      </p:sp>
      <p:sp>
        <p:nvSpPr>
          <p:cNvPr id="248836" name="Rectangle 3"/>
          <p:cNvSpPr>
            <a:spLocks noGrp="1" noChangeArrowheads="1"/>
          </p:cNvSpPr>
          <p:nvPr>
            <p:ph type="body" idx="1"/>
          </p:nvPr>
        </p:nvSpPr>
        <p:spPr>
          <a:xfrm>
            <a:off x="686360" y="4343400"/>
            <a:ext cx="54864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强制访问控制（英语：</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mandatory access control</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，缩写</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MAC</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）在计算机安全领域是一种由操作系统约束的访问控制机制。其主要目标是限制主体（如进程或线程）对对象（如文件、目录、</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TCP/UDP</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端口、共享内存段、</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I/O</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设备等）进行访问或执行某种操作的能力。</a:t>
            </a:r>
            <a:endParaRPr lang="en-US" altLang="zh-CN" dirty="0">
              <a:ea typeface="宋体"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ASP</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Active Server Pages</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）是一种由微软开发的服务器端脚本环境，用于创建动态、交互式的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Web</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页面。</a:t>
            </a:r>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endPar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endParaRPr>
          </a:p>
          <a:p>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DNS</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，即域名系统（</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Domain Name System</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），是用于命名组织到域层次结构中的计算机和网络服务的系统。在</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Internet</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上，域名与</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IP</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地址之间是一一对应的。域名虽然便于人们记忆，但机器之间只能互相认识</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IP</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地址，因此需要一个系统来进行域名与</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IP</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地址之间的转换工作，这个系统就是</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DNS</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1727673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lgn="l"/>
            <a:r>
              <a:rPr lang="zh-CN" altLang="en-US" sz="3600" b="0" i="0" dirty="0">
                <a:solidFill>
                  <a:srgbClr val="1F1F1F"/>
                </a:solidFill>
                <a:effectLst/>
                <a:highlight>
                  <a:srgbClr val="FFFFFF"/>
                </a:highlight>
                <a:latin typeface="微软雅黑" panose="020B0503020204020204" pitchFamily="34" charset="-122"/>
                <a:ea typeface="微软雅黑" panose="020B0503020204020204" pitchFamily="34" charset="-122"/>
              </a:rPr>
              <a:t>身份鉴别，也称为身份认证或身份确认，是对用户、系统或实体的身份进行确认的过程，以确保其合法性和可信度。它是网络安全中的一个关键概念，能够防止攻击者假冒合法用户获得资源的访问权限，保护系统和数据的安全。身份鉴别的类型包括单向鉴别、双向鉴别和第三方鉴别，每种类型都有其特定的应用场景和优势。</a:t>
            </a:r>
          </a:p>
          <a:p>
            <a:pPr algn="l"/>
            <a:r>
              <a:rPr lang="zh-CN" altLang="en-US" sz="3600" b="0" i="0" dirty="0">
                <a:solidFill>
                  <a:srgbClr val="1F1F1F"/>
                </a:solidFill>
                <a:effectLst/>
                <a:highlight>
                  <a:srgbClr val="FFFFFF"/>
                </a:highlight>
                <a:latin typeface="微软雅黑" panose="020B0503020204020204" pitchFamily="34" charset="-122"/>
                <a:ea typeface="微软雅黑" panose="020B0503020204020204" pitchFamily="34" charset="-122"/>
              </a:rPr>
              <a:t>在实现系统安全和身份鉴别时，通常会采用多种技术和方法。例如，基于实体所知的方法（如密码、验证码等）成本低且实现简单，但面临的风险也较大；基于实体所有的方法（如</a:t>
            </a:r>
            <a:r>
              <a:rPr lang="en-US" altLang="zh-CN" sz="3600" b="0" i="0" dirty="0">
                <a:solidFill>
                  <a:srgbClr val="1F1F1F"/>
                </a:solidFill>
                <a:effectLst/>
                <a:highlight>
                  <a:srgbClr val="FFFFFF"/>
                </a:highlight>
                <a:latin typeface="微软雅黑" panose="020B0503020204020204" pitchFamily="34" charset="-122"/>
                <a:ea typeface="微软雅黑" panose="020B0503020204020204" pitchFamily="34" charset="-122"/>
              </a:rPr>
              <a:t>IC</a:t>
            </a:r>
            <a:r>
              <a:rPr lang="zh-CN" altLang="en-US" sz="3600" b="0" i="0" dirty="0">
                <a:solidFill>
                  <a:srgbClr val="1F1F1F"/>
                </a:solidFill>
                <a:effectLst/>
                <a:highlight>
                  <a:srgbClr val="FFFFFF"/>
                </a:highlight>
                <a:latin typeface="微软雅黑" panose="020B0503020204020204" pitchFamily="34" charset="-122"/>
                <a:ea typeface="微软雅黑" panose="020B0503020204020204" pitchFamily="34" charset="-122"/>
              </a:rPr>
              <a:t>卡、门禁卡等）安全性较高，但成本也较高，并可能面临损坏和被复制的风险；基于实体特性的方法（如指纹、虹膜、声波等生物识别技术）则是安全性最高的一种方式。</a:t>
            </a:r>
          </a:p>
          <a:p>
            <a:pPr marL="355600" lvl="1" indent="-355600" eaLnBrk="1" hangingPunct="1">
              <a:lnSpc>
                <a:spcPct val="130000"/>
              </a:lnSpc>
              <a:spcBef>
                <a:spcPts val="263"/>
              </a:spcBef>
              <a:buClr>
                <a:srgbClr val="91AC4E"/>
              </a:buClr>
              <a:buSzPct val="80000"/>
              <a:buFont typeface="Wingdings" charset="0"/>
              <a:buChar char="p"/>
            </a:pPr>
            <a:endParaRPr lang="en-US" altLang="zh-CN" sz="2400" dirty="0">
              <a:latin typeface="Arial" charset="0"/>
              <a:ea typeface="宋体" charset="0"/>
              <a:cs typeface="宋体" charset="0"/>
            </a:endParaRPr>
          </a:p>
          <a:p>
            <a:pPr marL="355600" lvl="1" indent="-355600" eaLnBrk="1" hangingPunct="1">
              <a:lnSpc>
                <a:spcPct val="130000"/>
              </a:lnSpc>
              <a:spcBef>
                <a:spcPts val="263"/>
              </a:spcBef>
              <a:buClr>
                <a:srgbClr val="91AC4E"/>
              </a:buClr>
              <a:buSzPct val="80000"/>
              <a:buFont typeface="Wingdings" charset="0"/>
              <a:buChar char="p"/>
            </a:pPr>
            <a:endParaRPr lang="en-US" altLang="zh-CN" sz="2400" dirty="0">
              <a:latin typeface="Arial" charset="0"/>
              <a:ea typeface="宋体" charset="0"/>
              <a:cs typeface="宋体" charset="0"/>
            </a:endParaRPr>
          </a:p>
          <a:p>
            <a:pPr marL="355600" lvl="1" indent="-355600" eaLnBrk="1" hangingPunct="1">
              <a:lnSpc>
                <a:spcPct val="130000"/>
              </a:lnSpc>
              <a:spcBef>
                <a:spcPts val="263"/>
              </a:spcBef>
              <a:buClr>
                <a:srgbClr val="91AC4E"/>
              </a:buClr>
              <a:buSzPct val="80000"/>
              <a:buFont typeface="Wingdings" charset="0"/>
              <a:buChar char="p"/>
            </a:pPr>
            <a:endParaRPr lang="en-US" altLang="zh-CN" sz="2400" dirty="0">
              <a:latin typeface="Arial" charset="0"/>
              <a:ea typeface="宋体" charset="0"/>
              <a:cs typeface="宋体" charset="0"/>
            </a:endParaRPr>
          </a:p>
          <a:p>
            <a:pPr marL="355600" lvl="1" indent="-355600" eaLnBrk="1" hangingPunct="1">
              <a:lnSpc>
                <a:spcPct val="130000"/>
              </a:lnSpc>
              <a:spcBef>
                <a:spcPts val="263"/>
              </a:spcBef>
              <a:buClr>
                <a:srgbClr val="91AC4E"/>
              </a:buClr>
              <a:buSzPct val="80000"/>
              <a:buFont typeface="Wingdings" charset="0"/>
              <a:buChar char="p"/>
            </a:pPr>
            <a:r>
              <a:rPr lang="zh-CN" altLang="en-US" sz="2400" dirty="0">
                <a:latin typeface="Arial" charset="0"/>
                <a:ea typeface="宋体" charset="0"/>
                <a:cs typeface="宋体" charset="0"/>
              </a:rPr>
              <a:t>内存溢出</a:t>
            </a:r>
          </a:p>
          <a:p>
            <a:pPr marL="355600" lvl="1" indent="-355600" eaLnBrk="1" hangingPunct="1">
              <a:lnSpc>
                <a:spcPct val="130000"/>
              </a:lnSpc>
              <a:spcBef>
                <a:spcPts val="263"/>
              </a:spcBef>
              <a:buClr>
                <a:srgbClr val="91AC4E"/>
              </a:buClr>
              <a:buSzPct val="80000"/>
              <a:buFont typeface="Wingdings" charset="0"/>
              <a:buChar char="p"/>
            </a:pPr>
            <a:r>
              <a:rPr lang="en-US" altLang="zh-CN" sz="2400" dirty="0">
                <a:latin typeface="Arial" charset="0"/>
                <a:ea typeface="宋体" charset="0"/>
                <a:cs typeface="宋体" charset="0"/>
              </a:rPr>
              <a:t>SQL injection/XSS</a:t>
            </a:r>
          </a:p>
          <a:p>
            <a:pPr marL="355600" lvl="1" indent="-355600" eaLnBrk="1" hangingPunct="1">
              <a:lnSpc>
                <a:spcPct val="130000"/>
              </a:lnSpc>
              <a:spcBef>
                <a:spcPts val="263"/>
              </a:spcBef>
              <a:buClr>
                <a:srgbClr val="91AC4E"/>
              </a:buClr>
              <a:buSzPct val="80000"/>
              <a:buFont typeface="Wingdings" charset="0"/>
              <a:buChar char="p"/>
            </a:pPr>
            <a:r>
              <a:rPr lang="zh-CN" altLang="en-US" sz="2400" dirty="0">
                <a:latin typeface="Arial" charset="0"/>
                <a:ea typeface="宋体" charset="0"/>
                <a:cs typeface="宋体" charset="0"/>
              </a:rPr>
              <a:t>各种输入验证型问题</a:t>
            </a:r>
            <a:endParaRPr lang="en-US" altLang="zh-CN" sz="2400" dirty="0">
              <a:latin typeface="Arial" charset="0"/>
              <a:ea typeface="宋体" charset="0"/>
              <a:cs typeface="宋体" charset="0"/>
            </a:endParaRPr>
          </a:p>
          <a:p>
            <a:pPr marL="355600" marR="0" lvl="1" indent="-355600" algn="l" defTabSz="914400" rtl="0" eaLnBrk="1" fontAlgn="base" latinLnBrk="0" hangingPunct="1">
              <a:lnSpc>
                <a:spcPct val="130000"/>
              </a:lnSpc>
              <a:spcBef>
                <a:spcPts val="263"/>
              </a:spcBef>
              <a:spcAft>
                <a:spcPct val="0"/>
              </a:spcAft>
              <a:buClr>
                <a:srgbClr val="91AC4E"/>
              </a:buClr>
              <a:buSzPct val="80000"/>
              <a:buFont typeface="Wingdings" charset="0"/>
              <a:buChar char="p"/>
              <a:tabLst/>
              <a:defRPr/>
            </a:pPr>
            <a:r>
              <a:rPr lang="zh-CN" altLang="en-US" sz="2400" dirty="0">
                <a:latin typeface="Arial" charset="0"/>
                <a:ea typeface="宋体" charset="0"/>
                <a:cs typeface="宋体" charset="0"/>
              </a:rPr>
              <a:t>不充分的随机数</a:t>
            </a:r>
            <a:endParaRPr lang="en-US" altLang="zh-CN" sz="2400" dirty="0">
              <a:latin typeface="Arial" charset="0"/>
              <a:ea typeface="宋体" charset="0"/>
              <a:cs typeface="宋体" charset="0"/>
            </a:endParaRPr>
          </a:p>
          <a:p>
            <a:pPr marL="0" marR="0" lvl="1" indent="0" algn="l" defTabSz="914400" rtl="0" eaLnBrk="1" fontAlgn="base" latinLnBrk="0" hangingPunct="1">
              <a:lnSpc>
                <a:spcPct val="130000"/>
              </a:lnSpc>
              <a:spcBef>
                <a:spcPts val="263"/>
              </a:spcBef>
              <a:spcAft>
                <a:spcPct val="0"/>
              </a:spcAft>
              <a:buClr>
                <a:srgbClr val="91AC4E"/>
              </a:buClr>
              <a:buSzPct val="80000"/>
              <a:buFont typeface="Wingdings" charset="0"/>
              <a:buNone/>
              <a:tabLst/>
              <a:defRPr/>
            </a:pPr>
            <a:r>
              <a:rPr lang="zh-CN" altLang="en-US" sz="1200" b="1" kern="1200" dirty="0">
                <a:solidFill>
                  <a:schemeClr val="tx1"/>
                </a:solidFill>
                <a:latin typeface="Arial" charset="0"/>
                <a:ea typeface="宋体" pitchFamily="2" charset="-122"/>
                <a:cs typeface="+mn-cs"/>
              </a:rPr>
              <a:t>完整性：数字签名，</a:t>
            </a:r>
            <a:r>
              <a:rPr lang="zh-CN" altLang="en-US" sz="1200" b="0" kern="1200" dirty="0">
                <a:solidFill>
                  <a:schemeClr val="tx1"/>
                </a:solidFill>
                <a:latin typeface="Arial" charset="0"/>
                <a:ea typeface="宋体" pitchFamily="2" charset="-122"/>
                <a:cs typeface="+mn-cs"/>
              </a:rPr>
              <a:t>可以判断发送的信息在传递的过程中是否被篡改过</a:t>
            </a:r>
            <a:endParaRPr lang="zh-CN" altLang="en-US" sz="2400" dirty="0">
              <a:latin typeface="Arial" charset="0"/>
              <a:ea typeface="宋体" charset="0"/>
              <a:cs typeface="宋体" charset="0"/>
            </a:endParaRPr>
          </a:p>
          <a:p>
            <a:pPr marL="0" lvl="1" indent="0" eaLnBrk="1" hangingPunct="1">
              <a:lnSpc>
                <a:spcPct val="130000"/>
              </a:lnSpc>
              <a:spcBef>
                <a:spcPts val="263"/>
              </a:spcBef>
              <a:buClr>
                <a:srgbClr val="91AC4E"/>
              </a:buClr>
              <a:buSzPct val="80000"/>
              <a:buFont typeface="Wingdings" charset="0"/>
              <a:buNone/>
            </a:pPr>
            <a:r>
              <a:rPr lang="zh-CN" altLang="en-US" sz="1200" kern="1200" dirty="0">
                <a:solidFill>
                  <a:schemeClr val="tx1"/>
                </a:solidFill>
                <a:latin typeface="Arial" charset="0"/>
                <a:ea typeface="宋体" pitchFamily="2" charset="-122"/>
                <a:cs typeface="+mn-cs"/>
              </a:rPr>
              <a:t>全性是保护数据库，以防止非法使用所造成数据的泄露、更改或破坏，安全性措施的防范对象是非法用户和非法操作；</a:t>
            </a:r>
            <a:r>
              <a:rPr lang="en-US" altLang="zh-CN" sz="1200" kern="1200" dirty="0">
                <a:solidFill>
                  <a:schemeClr val="tx1"/>
                </a:solidFill>
                <a:latin typeface="Arial" charset="0"/>
                <a:ea typeface="宋体" pitchFamily="2" charset="-122"/>
                <a:cs typeface="+mn-cs"/>
              </a:rPr>
              <a:t> </a:t>
            </a:r>
            <a:r>
              <a:rPr lang="zh-CN" altLang="en-US" sz="1200" kern="1200" dirty="0">
                <a:solidFill>
                  <a:schemeClr val="tx1"/>
                </a:solidFill>
                <a:latin typeface="Arial" charset="0"/>
                <a:ea typeface="宋体" pitchFamily="2" charset="-122"/>
                <a:cs typeface="+mn-cs"/>
              </a:rPr>
              <a:t>完整性是防止合法用户使用数据库时向数据库中加入不符合语义的数据，完整性措施的防范对象是不合语义的数据。</a:t>
            </a:r>
            <a:endParaRPr lang="zh-CN" altLang="en-US" sz="2400" dirty="0">
              <a:latin typeface="Arial" charset="0"/>
              <a:ea typeface="宋体" charset="0"/>
              <a:cs typeface="宋体" charset="0"/>
            </a:endParaRPr>
          </a:p>
          <a:p>
            <a:endParaRPr kumimoji="1" lang="zh-CN" altLang="en-US" dirty="0"/>
          </a:p>
        </p:txBody>
      </p:sp>
      <p:sp>
        <p:nvSpPr>
          <p:cNvPr id="4" name="幻灯片编号占位符 3"/>
          <p:cNvSpPr>
            <a:spLocks noGrp="1"/>
          </p:cNvSpPr>
          <p:nvPr>
            <p:ph type="sldNum" sz="quarter" idx="10"/>
          </p:nvPr>
        </p:nvSpPr>
        <p:spPr/>
        <p:txBody>
          <a:bodyPr/>
          <a:lstStyle/>
          <a:p>
            <a:fld id="{5F4297A3-37BD-8549-87CC-C7BC93A774B6}" type="slidenum">
              <a:rPr lang="en-US" altLang="zh-CN" smtClean="0"/>
              <a:pPr/>
              <a:t>22</a:t>
            </a:fld>
            <a:endParaRPr lang="en-US" altLang="zh-CN"/>
          </a:p>
        </p:txBody>
      </p:sp>
    </p:spTree>
    <p:extLst>
      <p:ext uri="{BB962C8B-B14F-4D97-AF65-F5344CB8AC3E}">
        <p14:creationId xmlns:p14="http://schemas.microsoft.com/office/powerpoint/2010/main" val="29635283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i="0" dirty="0"/>
              <a:t>还有什么安全测试任务吗？ 安全标准、规范规定的任务，需求、设计中没有描述的。</a:t>
            </a:r>
          </a:p>
        </p:txBody>
      </p:sp>
      <p:sp>
        <p:nvSpPr>
          <p:cNvPr id="4" name="幻灯片编号占位符 3"/>
          <p:cNvSpPr>
            <a:spLocks noGrp="1"/>
          </p:cNvSpPr>
          <p:nvPr>
            <p:ph type="sldNum" sz="quarter" idx="10"/>
          </p:nvPr>
        </p:nvSpPr>
        <p:spPr/>
        <p:txBody>
          <a:bodyPr/>
          <a:lstStyle/>
          <a:p>
            <a:fld id="{5F4297A3-37BD-8549-87CC-C7BC93A774B6}" type="slidenum">
              <a:rPr lang="en-US" altLang="zh-CN" smtClean="0"/>
              <a:pPr/>
              <a:t>25</a:t>
            </a:fld>
            <a:endParaRPr lang="en-US" altLang="zh-CN"/>
          </a:p>
        </p:txBody>
      </p:sp>
    </p:spTree>
    <p:extLst>
      <p:ext uri="{BB962C8B-B14F-4D97-AF65-F5344CB8AC3E}">
        <p14:creationId xmlns:p14="http://schemas.microsoft.com/office/powerpoint/2010/main" val="2397228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Rectangle 7"/>
          <p:cNvSpPr txBox="1">
            <a:spLocks noGrp="1" noChangeArrowheads="1"/>
          </p:cNvSpPr>
          <p:nvPr/>
        </p:nvSpPr>
        <p:spPr bwMode="auto">
          <a:xfrm>
            <a:off x="3884147" y="8684684"/>
            <a:ext cx="297273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chor="b"/>
          <a:lstStyle>
            <a:lvl1pPr eaLnBrk="0" hangingPunct="0">
              <a:defRPr b="1">
                <a:solidFill>
                  <a:schemeClr val="tx1"/>
                </a:solidFill>
                <a:latin typeface="Arial" charset="0"/>
                <a:ea typeface="幼圆" charset="0"/>
                <a:cs typeface="幼圆" charset="0"/>
              </a:defRPr>
            </a:lvl1pPr>
            <a:lvl2pPr marL="742950" indent="-285750" eaLnBrk="0" hangingPunct="0">
              <a:defRPr b="1">
                <a:solidFill>
                  <a:schemeClr val="tx1"/>
                </a:solidFill>
                <a:latin typeface="Arial" charset="0"/>
                <a:ea typeface="幼圆" charset="0"/>
                <a:cs typeface="幼圆" charset="0"/>
              </a:defRPr>
            </a:lvl2pPr>
            <a:lvl3pPr marL="1143000" indent="-228600" eaLnBrk="0" hangingPunct="0">
              <a:defRPr b="1">
                <a:solidFill>
                  <a:schemeClr val="tx1"/>
                </a:solidFill>
                <a:latin typeface="Arial" charset="0"/>
                <a:ea typeface="幼圆" charset="0"/>
                <a:cs typeface="幼圆" charset="0"/>
              </a:defRPr>
            </a:lvl3pPr>
            <a:lvl4pPr marL="1600200" indent="-228600" eaLnBrk="0" hangingPunct="0">
              <a:defRPr b="1">
                <a:solidFill>
                  <a:schemeClr val="tx1"/>
                </a:solidFill>
                <a:latin typeface="Arial" charset="0"/>
                <a:ea typeface="幼圆" charset="0"/>
                <a:cs typeface="幼圆" charset="0"/>
              </a:defRPr>
            </a:lvl4pPr>
            <a:lvl5pPr marL="2057400" indent="-228600" eaLnBrk="0" hangingPunct="0">
              <a:defRPr b="1">
                <a:solidFill>
                  <a:schemeClr val="tx1"/>
                </a:solidFill>
                <a:latin typeface="Arial" charset="0"/>
                <a:ea typeface="幼圆" charset="0"/>
                <a:cs typeface="幼圆" charset="0"/>
              </a:defRPr>
            </a:lvl5pPr>
            <a:lvl6pPr marL="2514600" indent="-228600" algn="ctr" eaLnBrk="0" fontAlgn="base" hangingPunct="0">
              <a:spcBef>
                <a:spcPct val="0"/>
              </a:spcBef>
              <a:spcAft>
                <a:spcPct val="0"/>
              </a:spcAft>
              <a:defRPr b="1">
                <a:solidFill>
                  <a:schemeClr val="tx1"/>
                </a:solidFill>
                <a:latin typeface="Arial" charset="0"/>
                <a:ea typeface="幼圆" charset="0"/>
                <a:cs typeface="幼圆" charset="0"/>
              </a:defRPr>
            </a:lvl6pPr>
            <a:lvl7pPr marL="2971800" indent="-228600" algn="ctr" eaLnBrk="0" fontAlgn="base" hangingPunct="0">
              <a:spcBef>
                <a:spcPct val="0"/>
              </a:spcBef>
              <a:spcAft>
                <a:spcPct val="0"/>
              </a:spcAft>
              <a:defRPr b="1">
                <a:solidFill>
                  <a:schemeClr val="tx1"/>
                </a:solidFill>
                <a:latin typeface="Arial" charset="0"/>
                <a:ea typeface="幼圆" charset="0"/>
                <a:cs typeface="幼圆" charset="0"/>
              </a:defRPr>
            </a:lvl7pPr>
            <a:lvl8pPr marL="3429000" indent="-228600" algn="ctr" eaLnBrk="0" fontAlgn="base" hangingPunct="0">
              <a:spcBef>
                <a:spcPct val="0"/>
              </a:spcBef>
              <a:spcAft>
                <a:spcPct val="0"/>
              </a:spcAft>
              <a:defRPr b="1">
                <a:solidFill>
                  <a:schemeClr val="tx1"/>
                </a:solidFill>
                <a:latin typeface="Arial" charset="0"/>
                <a:ea typeface="幼圆" charset="0"/>
                <a:cs typeface="幼圆" charset="0"/>
              </a:defRPr>
            </a:lvl8pPr>
            <a:lvl9pPr marL="3886200" indent="-228600" algn="ctr" eaLnBrk="0" fontAlgn="base" hangingPunct="0">
              <a:spcBef>
                <a:spcPct val="0"/>
              </a:spcBef>
              <a:spcAft>
                <a:spcPct val="0"/>
              </a:spcAft>
              <a:defRPr b="1">
                <a:solidFill>
                  <a:schemeClr val="tx1"/>
                </a:solidFill>
                <a:latin typeface="Arial" charset="0"/>
                <a:ea typeface="幼圆" charset="0"/>
                <a:cs typeface="幼圆" charset="0"/>
              </a:defRPr>
            </a:lvl9pPr>
          </a:lstStyle>
          <a:p>
            <a:pPr algn="r" eaLnBrk="1" hangingPunct="1"/>
            <a:fld id="{B406DE62-DAE4-3F4B-8383-1B875911E54A}" type="slidenum">
              <a:rPr lang="zh-CN" altLang="en-US" sz="1200" b="0">
                <a:latin typeface="Segoe Semibold" charset="0"/>
                <a:ea typeface="黑体" charset="0"/>
                <a:cs typeface="黑体" charset="0"/>
              </a:rPr>
              <a:pPr algn="r" eaLnBrk="1" hangingPunct="1"/>
              <a:t>27</a:t>
            </a:fld>
            <a:endParaRPr lang="en-US" altLang="zh-CN" sz="1200" b="0">
              <a:latin typeface="Segoe Semibold" charset="0"/>
              <a:ea typeface="黑体" charset="0"/>
              <a:cs typeface="黑体" charset="0"/>
            </a:endParaRPr>
          </a:p>
        </p:txBody>
      </p:sp>
      <p:sp>
        <p:nvSpPr>
          <p:cNvPr id="250883" name="Rectangle 2"/>
          <p:cNvSpPr>
            <a:spLocks noGrp="1" noRot="1" noChangeAspect="1" noChangeArrowheads="1" noTextEdit="1"/>
          </p:cNvSpPr>
          <p:nvPr>
            <p:ph type="sldImg"/>
          </p:nvPr>
        </p:nvSpPr>
        <p:spPr>
          <a:xfrm>
            <a:off x="381000" y="685800"/>
            <a:ext cx="6094413" cy="3429000"/>
          </a:xfrm>
          <a:ln/>
        </p:spPr>
      </p:sp>
      <p:sp>
        <p:nvSpPr>
          <p:cNvPr id="250884" name="Rectangle 3"/>
          <p:cNvSpPr>
            <a:spLocks noGrp="1" noChangeArrowheads="1"/>
          </p:cNvSpPr>
          <p:nvPr>
            <p:ph type="body" idx="1"/>
          </p:nvPr>
        </p:nvSpPr>
        <p:spPr>
          <a:xfrm>
            <a:off x="686360" y="4343400"/>
            <a:ext cx="5486400" cy="4114800"/>
          </a:xfr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tLang="zh-CN">
              <a:ea typeface="宋体" charset="0"/>
            </a:endParaRPr>
          </a:p>
        </p:txBody>
      </p:sp>
    </p:spTree>
    <p:extLst>
      <p:ext uri="{BB962C8B-B14F-4D97-AF65-F5344CB8AC3E}">
        <p14:creationId xmlns:p14="http://schemas.microsoft.com/office/powerpoint/2010/main" val="24019592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u="none" dirty="0"/>
              <a:t>Kerberos</a:t>
            </a:r>
            <a:r>
              <a:rPr lang="zh-CN" altLang="en-US" sz="1200" u="none" dirty="0"/>
              <a:t>是一种为网络通信提供可</a:t>
            </a:r>
            <a:r>
              <a:rPr lang="zh-CN" altLang="en-US" sz="1200" b="1" u="none" dirty="0">
                <a:solidFill>
                  <a:schemeClr val="accent2"/>
                </a:solidFill>
              </a:rPr>
              <a:t>靠第三方服务</a:t>
            </a:r>
            <a:r>
              <a:rPr lang="zh-CN" altLang="en-US" sz="1200" u="none" dirty="0"/>
              <a:t>的、面向开放系统的认证机制 </a:t>
            </a:r>
            <a:r>
              <a:rPr lang="en-US" altLang="zh-CN" sz="1200" u="none" dirty="0"/>
              <a:t>(</a:t>
            </a:r>
            <a:r>
              <a:rPr lang="zh-CN" altLang="en-US" sz="1200" u="none" dirty="0"/>
              <a:t>双向认证</a:t>
            </a:r>
            <a:r>
              <a:rPr lang="en-US" altLang="zh-CN" sz="1200" u="none" dirty="0"/>
              <a:t>)</a:t>
            </a:r>
            <a:endParaRPr kumimoji="1" lang="zh-CN" altLang="en-US" dirty="0"/>
          </a:p>
        </p:txBody>
      </p:sp>
      <p:sp>
        <p:nvSpPr>
          <p:cNvPr id="4" name="幻灯片编号占位符 3"/>
          <p:cNvSpPr>
            <a:spLocks noGrp="1"/>
          </p:cNvSpPr>
          <p:nvPr>
            <p:ph type="sldNum" sz="quarter" idx="10"/>
          </p:nvPr>
        </p:nvSpPr>
        <p:spPr/>
        <p:txBody>
          <a:bodyPr/>
          <a:lstStyle/>
          <a:p>
            <a:fld id="{5F4297A3-37BD-8549-87CC-C7BC93A774B6}" type="slidenum">
              <a:rPr lang="en-US" altLang="zh-CN" smtClean="0"/>
              <a:pPr/>
              <a:t>30</a:t>
            </a:fld>
            <a:endParaRPr lang="en-US" altLang="zh-CN"/>
          </a:p>
        </p:txBody>
      </p:sp>
    </p:spTree>
    <p:extLst>
      <p:ext uri="{BB962C8B-B14F-4D97-AF65-F5344CB8AC3E}">
        <p14:creationId xmlns:p14="http://schemas.microsoft.com/office/powerpoint/2010/main" val="24258769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模糊测试（</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Fuzzing</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是一种通过向目标系统提供非预期的输入并监视异常结果来发现软件漏洞的方法。它的基本原理是，通过向目标软件系统提供大量随机或异常的输入数据，模拟真实环境中各种可能的情况，以触发异常响应，如崩溃、异常行为或错误，从而发现潜在的安全问题。</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31</a:t>
            </a:fld>
            <a:endParaRPr lang="zh-CN" altLang="en-US"/>
          </a:p>
        </p:txBody>
      </p:sp>
    </p:spTree>
    <p:extLst>
      <p:ext uri="{BB962C8B-B14F-4D97-AF65-F5344CB8AC3E}">
        <p14:creationId xmlns:p14="http://schemas.microsoft.com/office/powerpoint/2010/main" val="10754858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基于语法的模糊测试尤其适用于需要输入特定格式文本的测试场景。例如，在测试一个解析</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XML</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格式数据的程序时，可以通过基于语法的模糊测试生成包含语法错误及合法属性值的</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XML</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样本，从而测试程序的稳定性和安全性。</a:t>
            </a:r>
          </a:p>
          <a:p>
            <a:pPr algn="l"/>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这种测试方法的核心优势在于其精确性和针对性。通过明确指定输入语法规则和模糊化策略，测试人员可以更有效地模拟出可能导致软件异常行为的输入数据。然而，这种方法的设置相对复杂，需要测试人员具备较高的专业知识和技能。</a:t>
            </a: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32</a:t>
            </a:fld>
            <a:endParaRPr lang="zh-CN" altLang="en-US"/>
          </a:p>
        </p:txBody>
      </p:sp>
    </p:spTree>
    <p:extLst>
      <p:ext uri="{BB962C8B-B14F-4D97-AF65-F5344CB8AC3E}">
        <p14:creationId xmlns:p14="http://schemas.microsoft.com/office/powerpoint/2010/main" val="38678633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kumimoji="1" lang="en-US" altLang="zh-CN" dirty="0"/>
              <a:t>Compromise: </a:t>
            </a:r>
            <a:r>
              <a:rPr kumimoji="1" lang="zh-CN" altLang="en-US" dirty="0"/>
              <a:t>违背、折衷</a:t>
            </a:r>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37</a:t>
            </a:fld>
            <a:endParaRPr lang="en-US" altLang="zh-CN"/>
          </a:p>
        </p:txBody>
      </p:sp>
    </p:spTree>
    <p:extLst>
      <p:ext uri="{BB962C8B-B14F-4D97-AF65-F5344CB8AC3E}">
        <p14:creationId xmlns:p14="http://schemas.microsoft.com/office/powerpoint/2010/main" val="3272899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355600" lvl="1" indent="-355600">
              <a:lnSpc>
                <a:spcPct val="130000"/>
              </a:lnSpc>
              <a:spcBef>
                <a:spcPts val="263"/>
              </a:spcBef>
              <a:buClr>
                <a:srgbClr val="91AC4E"/>
              </a:buClr>
              <a:buSzPct val="80000"/>
              <a:buFont typeface="Wingdings" charset="0"/>
              <a:buChar char="p"/>
              <a:tabLst>
                <a:tab pos="228600" algn="l"/>
              </a:tabLst>
            </a:pPr>
            <a:r>
              <a:rPr lang="zh-CN" altLang="en-US" sz="2800" dirty="0">
                <a:latin typeface="Arial" charset="0"/>
                <a:ea typeface="宋体" charset="0"/>
                <a:cs typeface="宋体" charset="0"/>
              </a:rPr>
              <a:t>无线测试</a:t>
            </a:r>
            <a:endParaRPr lang="en-US" altLang="zh-CN" sz="2800" dirty="0">
              <a:latin typeface="Arial" charset="0"/>
              <a:ea typeface="宋体" charset="0"/>
              <a:cs typeface="宋体" charset="0"/>
            </a:endParaRPr>
          </a:p>
          <a:p>
            <a:pPr marL="355600" lvl="1" indent="-355600">
              <a:lnSpc>
                <a:spcPct val="130000"/>
              </a:lnSpc>
              <a:spcBef>
                <a:spcPts val="263"/>
              </a:spcBef>
              <a:buClr>
                <a:srgbClr val="91AC4E"/>
              </a:buClr>
              <a:buSzPct val="80000"/>
              <a:buFont typeface="Wingdings" charset="0"/>
              <a:buChar char="p"/>
              <a:tabLst>
                <a:tab pos="228600" algn="l"/>
              </a:tabLst>
            </a:pPr>
            <a:r>
              <a:rPr lang="zh-CN" altLang="en-US" sz="2800" dirty="0">
                <a:latin typeface="Arial" charset="0"/>
                <a:ea typeface="宋体" charset="0"/>
                <a:cs typeface="宋体" charset="0"/>
              </a:rPr>
              <a:t>社交工程学</a:t>
            </a:r>
            <a:endParaRPr lang="en-US" altLang="zh-CN" sz="2800" dirty="0">
              <a:latin typeface="Arial" charset="0"/>
              <a:ea typeface="宋体" charset="0"/>
              <a:cs typeface="宋体" charset="0"/>
            </a:endParaRPr>
          </a:p>
          <a:p>
            <a:pPr marL="355600" lvl="1" indent="-355600">
              <a:lnSpc>
                <a:spcPct val="130000"/>
              </a:lnSpc>
              <a:spcBef>
                <a:spcPts val="263"/>
              </a:spcBef>
              <a:buClr>
                <a:srgbClr val="91AC4E"/>
              </a:buClr>
              <a:buSzPct val="80000"/>
              <a:buFont typeface="Wingdings" charset="0"/>
              <a:buChar char="p"/>
              <a:tabLst>
                <a:tab pos="228600" algn="l"/>
              </a:tabLst>
            </a:pPr>
            <a:r>
              <a:rPr lang="zh-CN" altLang="en-US" sz="2800" dirty="0">
                <a:latin typeface="Arial" charset="0"/>
                <a:ea typeface="宋体" charset="0"/>
                <a:cs typeface="宋体" charset="0"/>
              </a:rPr>
              <a:t>拒绝服务攻击</a:t>
            </a:r>
            <a:endParaRPr lang="en-US" altLang="zh-CN" sz="2800" dirty="0">
              <a:latin typeface="Arial" charset="0"/>
              <a:ea typeface="宋体" charset="0"/>
              <a:cs typeface="宋体" charset="0"/>
            </a:endParaRPr>
          </a:p>
          <a:p>
            <a:pPr marL="355600" lvl="1" indent="-355600">
              <a:lnSpc>
                <a:spcPct val="130000"/>
              </a:lnSpc>
              <a:spcBef>
                <a:spcPts val="263"/>
              </a:spcBef>
              <a:buClr>
                <a:srgbClr val="91AC4E"/>
              </a:buClr>
              <a:buSzPct val="80000"/>
              <a:buFont typeface="Wingdings" charset="0"/>
              <a:buChar char="p"/>
              <a:tabLst>
                <a:tab pos="228600" algn="l"/>
              </a:tabLst>
            </a:pPr>
            <a:r>
              <a:rPr lang="zh-CN" altLang="en-US" sz="2800" i="0" dirty="0">
                <a:solidFill>
                  <a:srgbClr val="0070C0"/>
                </a:solidFill>
              </a:rPr>
              <a:t>时间选择</a:t>
            </a:r>
            <a:endParaRPr lang="en-US" altLang="zh-CN" sz="2800" i="0" dirty="0">
              <a:solidFill>
                <a:srgbClr val="0070C0"/>
              </a:solidFill>
            </a:endParaRPr>
          </a:p>
          <a:p>
            <a:pPr marL="355600" lvl="1" indent="-355600">
              <a:lnSpc>
                <a:spcPct val="130000"/>
              </a:lnSpc>
              <a:spcBef>
                <a:spcPts val="263"/>
              </a:spcBef>
              <a:buClr>
                <a:srgbClr val="91AC4E"/>
              </a:buClr>
              <a:buSzPct val="80000"/>
              <a:buFont typeface="Wingdings" charset="0"/>
              <a:buChar char="p"/>
              <a:tabLst>
                <a:tab pos="228600" algn="l"/>
              </a:tabLst>
            </a:pPr>
            <a:r>
              <a:rPr lang="zh-CN" altLang="en-US" sz="2800" i="0" dirty="0">
                <a:solidFill>
                  <a:srgbClr val="0070C0"/>
                </a:solidFill>
              </a:rPr>
              <a:t>策略选择</a:t>
            </a:r>
          </a:p>
          <a:p>
            <a:endParaRPr lang="fr-FR" altLang="zh-CN" sz="1200" kern="1200" dirty="0">
              <a:solidFill>
                <a:schemeClr val="tx1"/>
              </a:solidFill>
              <a:effectLst/>
              <a:latin typeface="Arial" charset="0"/>
              <a:ea typeface="宋体" pitchFamily="2" charset="-122"/>
              <a:cs typeface="宋体" charset="0"/>
            </a:endParaRPr>
          </a:p>
          <a:p>
            <a:endParaRPr lang="fr-FR" altLang="zh-CN" sz="1200" kern="1200" dirty="0">
              <a:solidFill>
                <a:schemeClr val="tx1"/>
              </a:solidFill>
              <a:effectLst/>
              <a:latin typeface="Arial" charset="0"/>
              <a:ea typeface="宋体" pitchFamily="2" charset="-122"/>
              <a:cs typeface="宋体" charset="0"/>
            </a:endParaRPr>
          </a:p>
          <a:p>
            <a:r>
              <a:rPr lang="fr-FR" altLang="zh-CN" sz="1200" kern="1200" dirty="0" err="1">
                <a:solidFill>
                  <a:schemeClr val="tx1"/>
                </a:solidFill>
                <a:effectLst/>
                <a:latin typeface="Arial" charset="0"/>
                <a:ea typeface="宋体" pitchFamily="2" charset="-122"/>
                <a:cs typeface="宋体" charset="0"/>
              </a:rPr>
              <a:t>nc</a:t>
            </a:r>
            <a:r>
              <a:rPr lang="fr-FR" altLang="zh-CN" sz="1200" kern="1200" dirty="0">
                <a:solidFill>
                  <a:schemeClr val="tx1"/>
                </a:solidFill>
                <a:effectLst/>
                <a:latin typeface="Arial" charset="0"/>
                <a:ea typeface="宋体" pitchFamily="2" charset="-122"/>
                <a:cs typeface="宋体" charset="0"/>
              </a:rPr>
              <a:t> -l -p 40</a:t>
            </a:r>
          </a:p>
          <a:p>
            <a:r>
              <a:rPr lang="en-US" altLang="zh-CN" sz="1200" dirty="0">
                <a:solidFill>
                  <a:srgbClr val="C00000"/>
                </a:solidFill>
                <a:latin typeface="Arial" charset="0"/>
                <a:ea typeface="宋体" charset="0"/>
                <a:cs typeface="宋体" charset="0"/>
              </a:rPr>
              <a:t>SQL2.exe IP </a:t>
            </a:r>
          </a:p>
          <a:p>
            <a:r>
              <a:rPr lang="en-US" altLang="zh-CN" sz="1200" kern="1200" dirty="0">
                <a:solidFill>
                  <a:schemeClr val="tx1"/>
                </a:solidFill>
                <a:effectLst/>
                <a:latin typeface="Arial" charset="0"/>
                <a:ea typeface="宋体" pitchFamily="2" charset="-122"/>
                <a:cs typeface="宋体" charset="0"/>
              </a:rPr>
              <a:t>net user guest /</a:t>
            </a:r>
            <a:r>
              <a:rPr lang="en-US" altLang="zh-CN" sz="1200" kern="1200" dirty="0" err="1">
                <a:solidFill>
                  <a:schemeClr val="tx1"/>
                </a:solidFill>
                <a:effectLst/>
                <a:latin typeface="Arial" charset="0"/>
                <a:ea typeface="宋体" pitchFamily="2" charset="-122"/>
                <a:cs typeface="宋体" charset="0"/>
              </a:rPr>
              <a:t>active:yes</a:t>
            </a:r>
            <a:endParaRPr lang="en-US" altLang="zh-CN" sz="1200" kern="1200" dirty="0">
              <a:solidFill>
                <a:schemeClr val="tx1"/>
              </a:solidFill>
              <a:effectLst/>
              <a:latin typeface="Arial" charset="0"/>
              <a:ea typeface="宋体" pitchFamily="2" charset="-122"/>
              <a:cs typeface="宋体" charset="0"/>
            </a:endParaRPr>
          </a:p>
          <a:p>
            <a:r>
              <a:rPr lang="en-US" altLang="zh-CN" sz="1200" kern="1200" dirty="0">
                <a:solidFill>
                  <a:schemeClr val="tx1"/>
                </a:solidFill>
                <a:effectLst/>
                <a:latin typeface="Arial" charset="0"/>
                <a:ea typeface="宋体" pitchFamily="2" charset="-122"/>
                <a:cs typeface="宋体" charset="0"/>
              </a:rPr>
              <a:t>net user guest 123456</a:t>
            </a:r>
          </a:p>
          <a:p>
            <a:r>
              <a:rPr lang="en-US" altLang="zh-CN" sz="1200" kern="1200" dirty="0">
                <a:solidFill>
                  <a:schemeClr val="tx1"/>
                </a:solidFill>
                <a:effectLst/>
                <a:latin typeface="Arial" charset="0"/>
                <a:ea typeface="宋体" pitchFamily="2" charset="-122"/>
                <a:cs typeface="宋体" charset="0"/>
              </a:rPr>
              <a:t>net </a:t>
            </a:r>
            <a:r>
              <a:rPr lang="en-US" altLang="zh-CN" sz="1200" kern="1200" dirty="0" err="1">
                <a:solidFill>
                  <a:schemeClr val="tx1"/>
                </a:solidFill>
                <a:effectLst/>
                <a:latin typeface="Arial" charset="0"/>
                <a:ea typeface="宋体" pitchFamily="2" charset="-122"/>
                <a:cs typeface="宋体" charset="0"/>
              </a:rPr>
              <a:t>localgroup</a:t>
            </a:r>
            <a:r>
              <a:rPr lang="en-US" altLang="zh-CN" sz="1200" kern="1200" dirty="0">
                <a:solidFill>
                  <a:schemeClr val="tx1"/>
                </a:solidFill>
                <a:effectLst/>
                <a:latin typeface="Arial" charset="0"/>
                <a:ea typeface="宋体" pitchFamily="2" charset="-122"/>
                <a:cs typeface="宋体" charset="0"/>
              </a:rPr>
              <a:t> administrators guest /add</a:t>
            </a:r>
            <a:endParaRPr lang="en-US" altLang="zh-CN" dirty="0"/>
          </a:p>
          <a:p>
            <a:endParaRPr lang="en-US" altLang="zh-CN" dirty="0"/>
          </a:p>
          <a:p>
            <a:r>
              <a:rPr lang="zh-CN" altLang="en-US" dirty="0"/>
              <a:t>查看用户，执行“</a:t>
            </a:r>
            <a:r>
              <a:rPr lang="en-US" altLang="zh-CN" dirty="0"/>
              <a:t>net user”</a:t>
            </a:r>
            <a:r>
              <a:rPr lang="zh-CN" altLang="en-US" dirty="0"/>
              <a:t>命令，查看用户列表，一般</a:t>
            </a:r>
            <a:r>
              <a:rPr lang="en-US" altLang="zh-CN" dirty="0"/>
              <a:t>GUEST</a:t>
            </a:r>
            <a:r>
              <a:rPr lang="zh-CN" altLang="en-US" dirty="0"/>
              <a:t>为自己的用户，只有普通权限</a:t>
            </a:r>
          </a:p>
          <a:p>
            <a:r>
              <a:rPr lang="en-US" altLang="zh-CN" dirty="0"/>
              <a:t>PID=156 Process=</a:t>
            </a:r>
            <a:r>
              <a:rPr lang="en-US" altLang="zh-CN" dirty="0" err="1"/>
              <a:t>winlogon.exe</a:t>
            </a:r>
            <a:endParaRPr lang="en-US" altLang="zh-CN" dirty="0"/>
          </a:p>
          <a:p>
            <a:r>
              <a:rPr lang="en-US" altLang="zh-CN" dirty="0" err="1"/>
              <a:t>wincsrss.exe</a:t>
            </a:r>
            <a:r>
              <a:rPr lang="en-US" altLang="zh-CN" dirty="0"/>
              <a:t> 156</a:t>
            </a:r>
          </a:p>
          <a:p>
            <a:r>
              <a:rPr lang="zh-CN" altLang="en-US" dirty="0"/>
              <a:t>溢出，并会自动弹出一个新窗口，显示溢出进程。</a:t>
            </a:r>
          </a:p>
          <a:p>
            <a:r>
              <a:rPr lang="zh-CN" altLang="en-US" dirty="0"/>
              <a:t>溢出成功后，将会在系统中添加一个新的用户名为</a:t>
            </a:r>
            <a:r>
              <a:rPr lang="en-US" altLang="zh-CN" dirty="0"/>
              <a:t>“e”,</a:t>
            </a:r>
            <a:r>
              <a:rPr lang="zh-CN" altLang="en-US" dirty="0"/>
              <a:t>密码为“</a:t>
            </a:r>
            <a:r>
              <a:rPr lang="en-US" altLang="zh-CN" dirty="0"/>
              <a:t>asd#321”</a:t>
            </a:r>
            <a:r>
              <a:rPr lang="zh-CN" altLang="en-US" dirty="0"/>
              <a:t>的管理员账号</a:t>
            </a:r>
            <a:endParaRPr lang="en-US" altLang="zh-CN" dirty="0"/>
          </a:p>
          <a:p>
            <a:r>
              <a:rPr lang="zh-CN" altLang="en-US" dirty="0"/>
              <a:t>再次运行“</a:t>
            </a:r>
            <a:r>
              <a:rPr lang="en-US" altLang="zh-CN" dirty="0"/>
              <a:t>net user e”</a:t>
            </a:r>
            <a:r>
              <a:rPr lang="zh-CN" altLang="en-US" dirty="0"/>
              <a:t>命令，可以看到新账号属于</a:t>
            </a:r>
            <a:r>
              <a:rPr lang="en-US" altLang="zh-CN" dirty="0"/>
              <a:t>Administrators</a:t>
            </a:r>
            <a:r>
              <a:rPr lang="zh-CN" altLang="en-US" dirty="0"/>
              <a:t>组，已经具有管理权限了</a:t>
            </a:r>
          </a:p>
          <a:p>
            <a:endParaRPr kumimoji="1" lang="zh-CN" altLang="en-US" dirty="0"/>
          </a:p>
        </p:txBody>
      </p:sp>
      <p:sp>
        <p:nvSpPr>
          <p:cNvPr id="4" name="幻灯片编号占位符 3"/>
          <p:cNvSpPr>
            <a:spLocks noGrp="1"/>
          </p:cNvSpPr>
          <p:nvPr>
            <p:ph type="sldNum" sz="quarter" idx="10"/>
          </p:nvPr>
        </p:nvSpPr>
        <p:spPr/>
        <p:txBody>
          <a:bodyPr/>
          <a:lstStyle/>
          <a:p>
            <a:fld id="{5F4297A3-37BD-8549-87CC-C7BC93A774B6}" type="slidenum">
              <a:rPr lang="en-US" altLang="zh-CN" smtClean="0"/>
              <a:pPr/>
              <a:t>38</a:t>
            </a:fld>
            <a:endParaRPr lang="en-US" altLang="zh-CN"/>
          </a:p>
        </p:txBody>
      </p:sp>
    </p:spTree>
    <p:extLst>
      <p:ext uri="{BB962C8B-B14F-4D97-AF65-F5344CB8AC3E}">
        <p14:creationId xmlns:p14="http://schemas.microsoft.com/office/powerpoint/2010/main" val="1621114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SDLC</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Software Development Life Cycle</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，软件开发生命周期）</a:t>
            </a:r>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40</a:t>
            </a:fld>
            <a:endParaRPr lang="zh-CN" altLang="en-US"/>
          </a:p>
        </p:txBody>
      </p:sp>
    </p:spTree>
    <p:extLst>
      <p:ext uri="{BB962C8B-B14F-4D97-AF65-F5344CB8AC3E}">
        <p14:creationId xmlns:p14="http://schemas.microsoft.com/office/powerpoint/2010/main" val="36880788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 </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41</a:t>
            </a:fld>
            <a:endParaRPr lang="zh-CN" altLang="en-US"/>
          </a:p>
        </p:txBody>
      </p:sp>
    </p:spTree>
    <p:extLst>
      <p:ext uri="{BB962C8B-B14F-4D97-AF65-F5344CB8AC3E}">
        <p14:creationId xmlns:p14="http://schemas.microsoft.com/office/powerpoint/2010/main" val="25654524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47</a:t>
            </a:fld>
            <a:endParaRPr lang="en-US" altLang="zh-CN"/>
          </a:p>
        </p:txBody>
      </p:sp>
    </p:spTree>
    <p:extLst>
      <p:ext uri="{BB962C8B-B14F-4D97-AF65-F5344CB8AC3E}">
        <p14:creationId xmlns:p14="http://schemas.microsoft.com/office/powerpoint/2010/main" val="1173792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3200">
                <a:solidFill>
                  <a:srgbClr val="000000"/>
                </a:solidFill>
                <a:latin typeface="Arial" charset="0"/>
                <a:ea typeface="ヒラギノ角ゴ ProN W3" charset="0"/>
                <a:cs typeface="ヒラギノ角ゴ ProN W3" charset="0"/>
                <a:sym typeface="Gill Sans" charset="0"/>
              </a:defRPr>
            </a:lvl1pPr>
            <a:lvl2pPr marL="742950" indent="-285750" eaLnBrk="0" hangingPunct="0">
              <a:defRPr sz="3200">
                <a:solidFill>
                  <a:srgbClr val="000000"/>
                </a:solidFill>
                <a:latin typeface="Arial" charset="0"/>
                <a:ea typeface="ヒラギノ角ゴ ProN W3" charset="0"/>
                <a:cs typeface="ヒラギノ角ゴ ProN W3" charset="0"/>
                <a:sym typeface="Gill Sans" charset="0"/>
              </a:defRPr>
            </a:lvl2pPr>
            <a:lvl3pPr marL="1143000" indent="-228600" eaLnBrk="0" hangingPunct="0">
              <a:defRPr sz="3200">
                <a:solidFill>
                  <a:srgbClr val="000000"/>
                </a:solidFill>
                <a:latin typeface="Arial" charset="0"/>
                <a:ea typeface="ヒラギノ角ゴ ProN W3" charset="0"/>
                <a:cs typeface="ヒラギノ角ゴ ProN W3" charset="0"/>
                <a:sym typeface="Gill Sans" charset="0"/>
              </a:defRPr>
            </a:lvl3pPr>
            <a:lvl4pPr marL="1600200" indent="-228600" eaLnBrk="0" hangingPunct="0">
              <a:defRPr sz="3200">
                <a:solidFill>
                  <a:srgbClr val="000000"/>
                </a:solidFill>
                <a:latin typeface="Arial" charset="0"/>
                <a:ea typeface="ヒラギノ角ゴ ProN W3" charset="0"/>
                <a:cs typeface="ヒラギノ角ゴ ProN W3" charset="0"/>
                <a:sym typeface="Gill Sans" charset="0"/>
              </a:defRPr>
            </a:lvl4pPr>
            <a:lvl5pPr marL="2057400" indent="-228600" eaLnBrk="0" hangingPunct="0">
              <a:defRPr sz="3200">
                <a:solidFill>
                  <a:srgbClr val="000000"/>
                </a:solidFill>
                <a:latin typeface="Arial" charset="0"/>
                <a:ea typeface="ヒラギノ角ゴ ProN W3" charset="0"/>
                <a:cs typeface="ヒラギノ角ゴ ProN W3" charset="0"/>
                <a:sym typeface="Gill Sans" charset="0"/>
              </a:defRPr>
            </a:lvl5pPr>
            <a:lvl6pPr marL="2514600" indent="-228600" eaLnBrk="0" fontAlgn="base" hangingPunct="0">
              <a:spcBef>
                <a:spcPct val="0"/>
              </a:spcBef>
              <a:spcAft>
                <a:spcPct val="0"/>
              </a:spcAft>
              <a:defRPr sz="3200">
                <a:solidFill>
                  <a:srgbClr val="000000"/>
                </a:solidFill>
                <a:latin typeface="Arial" charset="0"/>
                <a:ea typeface="ヒラギノ角ゴ ProN W3" charset="0"/>
                <a:cs typeface="ヒラギノ角ゴ ProN W3" charset="0"/>
                <a:sym typeface="Gill Sans" charset="0"/>
              </a:defRPr>
            </a:lvl6pPr>
            <a:lvl7pPr marL="2971800" indent="-228600" eaLnBrk="0" fontAlgn="base" hangingPunct="0">
              <a:spcBef>
                <a:spcPct val="0"/>
              </a:spcBef>
              <a:spcAft>
                <a:spcPct val="0"/>
              </a:spcAft>
              <a:defRPr sz="3200">
                <a:solidFill>
                  <a:srgbClr val="000000"/>
                </a:solidFill>
                <a:latin typeface="Arial" charset="0"/>
                <a:ea typeface="ヒラギノ角ゴ ProN W3" charset="0"/>
                <a:cs typeface="ヒラギノ角ゴ ProN W3" charset="0"/>
                <a:sym typeface="Gill Sans" charset="0"/>
              </a:defRPr>
            </a:lvl7pPr>
            <a:lvl8pPr marL="3429000" indent="-228600" eaLnBrk="0" fontAlgn="base" hangingPunct="0">
              <a:spcBef>
                <a:spcPct val="0"/>
              </a:spcBef>
              <a:spcAft>
                <a:spcPct val="0"/>
              </a:spcAft>
              <a:defRPr sz="3200">
                <a:solidFill>
                  <a:srgbClr val="000000"/>
                </a:solidFill>
                <a:latin typeface="Arial" charset="0"/>
                <a:ea typeface="ヒラギノ角ゴ ProN W3" charset="0"/>
                <a:cs typeface="ヒラギノ角ゴ ProN W3" charset="0"/>
                <a:sym typeface="Gill Sans" charset="0"/>
              </a:defRPr>
            </a:lvl8pPr>
            <a:lvl9pPr marL="3886200" indent="-228600" eaLnBrk="0" fontAlgn="base" hangingPunct="0">
              <a:spcBef>
                <a:spcPct val="0"/>
              </a:spcBef>
              <a:spcAft>
                <a:spcPct val="0"/>
              </a:spcAft>
              <a:defRPr sz="3200">
                <a:solidFill>
                  <a:srgbClr val="000000"/>
                </a:solidFill>
                <a:latin typeface="Arial" charset="0"/>
                <a:ea typeface="ヒラギノ角ゴ ProN W3" charset="0"/>
                <a:cs typeface="ヒラギノ角ゴ ProN W3" charset="0"/>
                <a:sym typeface="Gill Sans" charset="0"/>
              </a:defRPr>
            </a:lvl9pPr>
          </a:lstStyle>
          <a:p>
            <a:pPr eaLnBrk="1" hangingPunct="1"/>
            <a:fld id="{C5C90082-3623-A948-A870-F87E0CCF6333}" type="slidenum">
              <a:rPr lang="en-US" altLang="zh-CN" sz="1200"/>
              <a:pPr eaLnBrk="1" hangingPunct="1"/>
              <a:t>49</a:t>
            </a:fld>
            <a:endParaRPr lang="en-US" altLang="zh-CN" sz="12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r>
              <a:rPr lang="en-US" altLang="zh-CN" sz="2400" dirty="0">
                <a:solidFill>
                  <a:srgbClr val="000000"/>
                </a:solidFill>
                <a:latin typeface="Arial" charset="0"/>
              </a:rPr>
              <a:t>Innocent</a:t>
            </a:r>
            <a:r>
              <a:rPr lang="zh-CN" altLang="en-US" sz="2400" dirty="0">
                <a:solidFill>
                  <a:srgbClr val="000000"/>
                </a:solidFill>
                <a:latin typeface="Arial" charset="0"/>
              </a:rPr>
              <a:t>：</a:t>
            </a:r>
            <a:r>
              <a:rPr lang="zh-CN" altLang="en-US" sz="2400" i="1" dirty="0"/>
              <a:t>无辜受害的</a:t>
            </a:r>
            <a:endParaRPr lang="en-US" altLang="zh-CN" sz="2400" i="1" dirty="0"/>
          </a:p>
          <a:p>
            <a:r>
              <a:rPr lang="en-US" altLang="zh-CN" sz="2400" dirty="0">
                <a:solidFill>
                  <a:srgbClr val="000000"/>
                </a:solidFill>
                <a:latin typeface="Arial" charset="0"/>
              </a:rPr>
              <a:t>Phishing</a:t>
            </a:r>
            <a:r>
              <a:rPr lang="zh-CN" altLang="en-US" sz="2400" dirty="0">
                <a:solidFill>
                  <a:srgbClr val="000000"/>
                </a:solidFill>
                <a:latin typeface="Arial" charset="0"/>
              </a:rPr>
              <a:t>：网络钓鱼</a:t>
            </a:r>
            <a:endParaRPr lang="en-US" altLang="zh-CN" sz="2400" dirty="0">
              <a:solidFill>
                <a:srgbClr val="000000"/>
              </a:solidFill>
              <a:latin typeface="Arial" charset="0"/>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sz="2400" dirty="0"/>
              <a:t>Malware</a:t>
            </a:r>
            <a:r>
              <a:rPr lang="zh-CN" altLang="en-US" sz="2400" dirty="0">
                <a:solidFill>
                  <a:srgbClr val="000000"/>
                </a:solidFill>
                <a:latin typeface="Arial" charset="0"/>
              </a:rPr>
              <a:t>：</a:t>
            </a:r>
            <a:r>
              <a:rPr lang="zh-CN" altLang="en-US" sz="2400" dirty="0"/>
              <a:t>恶意软件</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2210" name="Rectangle 2"/>
          <p:cNvSpPr>
            <a:spLocks noGrp="1" noRot="1" noChangeAspect="1" noChangeArrowheads="1" noTextEdit="1"/>
          </p:cNvSpPr>
          <p:nvPr>
            <p:ph type="sldImg"/>
          </p:nvPr>
        </p:nvSpPr>
        <p:spPr>
          <a:xfrm>
            <a:off x="-274638" y="406400"/>
            <a:ext cx="7407276" cy="4167188"/>
          </a:xfrm>
          <a:ln/>
        </p:spPr>
      </p:sp>
      <p:sp>
        <p:nvSpPr>
          <p:cNvPr id="2142211" name="Rectangle 3"/>
          <p:cNvSpPr>
            <a:spLocks noGrp="1" noChangeArrowheads="1"/>
          </p:cNvSpPr>
          <p:nvPr>
            <p:ph type="body" idx="1"/>
          </p:nvPr>
        </p:nvSpPr>
        <p:spPr bwMode="auto">
          <a:xfrm>
            <a:off x="686367" y="4344301"/>
            <a:ext cx="5486400" cy="4113423"/>
          </a:xfrm>
          <a:prstGeom prst="rect">
            <a:avLst/>
          </a:prstGeom>
          <a:noFill/>
          <a:ln>
            <a:miter lim="800000"/>
            <a:headEnd/>
            <a:tailEnd/>
          </a:ln>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lvl="1" indent="0">
              <a:lnSpc>
                <a:spcPct val="130000"/>
              </a:lnSpc>
              <a:spcBef>
                <a:spcPts val="238"/>
              </a:spcBef>
              <a:buClr>
                <a:srgbClr val="91AC4E"/>
              </a:buClr>
              <a:buSzPct val="80000"/>
              <a:buFont typeface="Wingdings" pitchFamily="2" charset="2"/>
              <a:buNone/>
              <a:tabLst>
                <a:tab pos="205740" algn="l"/>
              </a:tabLst>
            </a:pPr>
            <a:r>
              <a:rPr lang="zh-CN" altLang="en-US" sz="1600" dirty="0"/>
              <a:t>会话劫持类型</a:t>
            </a:r>
            <a:endParaRPr lang="en-US" altLang="zh-CN" sz="1600" dirty="0">
              <a:solidFill>
                <a:srgbClr val="C00000"/>
              </a:solidFill>
            </a:endParaRPr>
          </a:p>
          <a:p>
            <a:pPr marL="320040" lvl="1" indent="-320040">
              <a:lnSpc>
                <a:spcPct val="130000"/>
              </a:lnSpc>
              <a:spcBef>
                <a:spcPts val="238"/>
              </a:spcBef>
              <a:buClr>
                <a:srgbClr val="91AC4E"/>
              </a:buClr>
              <a:buSzPct val="80000"/>
              <a:buFont typeface="Wingdings" pitchFamily="2" charset="2"/>
              <a:buChar char="p"/>
              <a:tabLst>
                <a:tab pos="205740" algn="l"/>
              </a:tabLst>
            </a:pPr>
            <a:r>
              <a:rPr lang="zh-CN" altLang="en-US" sz="1600" dirty="0">
                <a:solidFill>
                  <a:srgbClr val="C00000"/>
                </a:solidFill>
              </a:rPr>
              <a:t>中间人攻击 </a:t>
            </a:r>
            <a:r>
              <a:rPr lang="en-US" altLang="zh-CN" sz="1100" dirty="0">
                <a:solidFill>
                  <a:srgbClr val="C00000"/>
                </a:solidFill>
              </a:rPr>
              <a:t>(Man In The Middle</a:t>
            </a:r>
            <a:r>
              <a:rPr lang="zh-CN" altLang="en-US" sz="1100" dirty="0">
                <a:solidFill>
                  <a:srgbClr val="C00000"/>
                </a:solidFill>
              </a:rPr>
              <a:t>，</a:t>
            </a:r>
            <a:r>
              <a:rPr lang="en-US" altLang="zh-CN" sz="1100" dirty="0">
                <a:solidFill>
                  <a:srgbClr val="C00000"/>
                </a:solidFill>
              </a:rPr>
              <a:t>MITM)</a:t>
            </a:r>
            <a:r>
              <a:rPr lang="zh-CN" altLang="en-US" dirty="0"/>
              <a:t>使用</a:t>
            </a:r>
            <a:r>
              <a:rPr lang="en-US" altLang="zh-CN" dirty="0"/>
              <a:t>ARP</a:t>
            </a:r>
            <a:r>
              <a:rPr lang="zh-CN" altLang="en-US" dirty="0"/>
              <a:t>欺骗或</a:t>
            </a:r>
            <a:r>
              <a:rPr lang="en-US" altLang="zh-CN" dirty="0"/>
              <a:t>DNS</a:t>
            </a:r>
            <a:r>
              <a:rPr lang="zh-CN" altLang="en-US" dirty="0"/>
              <a:t>欺骗</a:t>
            </a:r>
            <a:endParaRPr lang="en-US" altLang="zh-CN" sz="1100" dirty="0">
              <a:solidFill>
                <a:srgbClr val="C00000"/>
              </a:solidFill>
            </a:endParaRPr>
          </a:p>
          <a:p>
            <a:pPr marL="320040" lvl="1" indent="-320040">
              <a:lnSpc>
                <a:spcPct val="130000"/>
              </a:lnSpc>
              <a:spcBef>
                <a:spcPts val="238"/>
              </a:spcBef>
              <a:buClr>
                <a:srgbClr val="91AC4E"/>
              </a:buClr>
              <a:buSzPct val="80000"/>
              <a:buFont typeface="Wingdings" pitchFamily="2" charset="2"/>
              <a:buChar char="p"/>
              <a:tabLst>
                <a:tab pos="205740" algn="l"/>
              </a:tabLst>
            </a:pPr>
            <a:r>
              <a:rPr lang="zh-CN" altLang="en-US" sz="1600" dirty="0">
                <a:solidFill>
                  <a:srgbClr val="C00000"/>
                </a:solidFill>
              </a:rPr>
              <a:t>注射式攻击</a:t>
            </a:r>
            <a:r>
              <a:rPr lang="zh-CN" altLang="en-US" dirty="0">
                <a:solidFill>
                  <a:srgbClr val="C00000"/>
                </a:solidFill>
              </a:rPr>
              <a:t>（</a:t>
            </a:r>
            <a:r>
              <a:rPr lang="en-US" altLang="zh-CN" dirty="0">
                <a:solidFill>
                  <a:srgbClr val="C00000"/>
                </a:solidFill>
              </a:rPr>
              <a:t>Injection</a:t>
            </a:r>
            <a:r>
              <a:rPr lang="zh-CN" altLang="en-US" dirty="0">
                <a:solidFill>
                  <a:srgbClr val="C00000"/>
                </a:solidFill>
              </a:rPr>
              <a:t>）</a:t>
            </a:r>
            <a:r>
              <a:rPr lang="en-US" altLang="zh-CN" dirty="0"/>
              <a:t>1</a:t>
            </a:r>
            <a:r>
              <a:rPr lang="zh-CN" altLang="en-US" dirty="0"/>
              <a:t>）</a:t>
            </a:r>
            <a:r>
              <a:rPr lang="en-US" altLang="zh-CN" dirty="0"/>
              <a:t>IP</a:t>
            </a:r>
            <a:r>
              <a:rPr lang="zh-CN" altLang="en-US" dirty="0"/>
              <a:t>欺骗（特别是对</a:t>
            </a:r>
            <a:r>
              <a:rPr lang="en-US" altLang="zh-CN" dirty="0"/>
              <a:t>UDP</a:t>
            </a:r>
            <a:r>
              <a:rPr lang="zh-CN" altLang="en-US" dirty="0"/>
              <a:t>），</a:t>
            </a:r>
            <a:r>
              <a:rPr lang="en-US" altLang="zh-CN" dirty="0"/>
              <a:t>2</a:t>
            </a:r>
            <a:r>
              <a:rPr lang="zh-CN" altLang="en-US" dirty="0"/>
              <a:t>）预测</a:t>
            </a:r>
            <a:r>
              <a:rPr lang="en-US" altLang="zh-CN" dirty="0"/>
              <a:t>TCP</a:t>
            </a:r>
            <a:r>
              <a:rPr lang="zh-CN" altLang="en-US" dirty="0"/>
              <a:t>序列号</a:t>
            </a: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52</a:t>
            </a:fld>
            <a:endParaRPr lang="zh-CN" altLang="en-US"/>
          </a:p>
        </p:txBody>
      </p:sp>
    </p:spTree>
    <p:extLst>
      <p:ext uri="{BB962C8B-B14F-4D97-AF65-F5344CB8AC3E}">
        <p14:creationId xmlns:p14="http://schemas.microsoft.com/office/powerpoint/2010/main" val="22066165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latin typeface="Arial" charset="0"/>
                <a:ea typeface="宋体" pitchFamily="2" charset="-122"/>
                <a:cs typeface="+mn-cs"/>
              </a:rPr>
              <a:t>开发人员经常自己编写认证或</a:t>
            </a:r>
            <a:r>
              <a:rPr lang="en-US" altLang="zh-CN" sz="1200" kern="1200" dirty="0">
                <a:solidFill>
                  <a:schemeClr val="tx1"/>
                </a:solidFill>
                <a:latin typeface="Arial" charset="0"/>
                <a:ea typeface="宋体" pitchFamily="2" charset="-122"/>
                <a:cs typeface="+mn-cs"/>
              </a:rPr>
              <a:t>session</a:t>
            </a:r>
            <a:r>
              <a:rPr lang="zh-CN" altLang="en-US" sz="1200" kern="1200" dirty="0">
                <a:solidFill>
                  <a:schemeClr val="tx1"/>
                </a:solidFill>
                <a:latin typeface="Arial" charset="0"/>
                <a:ea typeface="宋体" pitchFamily="2" charset="-122"/>
                <a:cs typeface="+mn-cs"/>
              </a:rPr>
              <a:t>管理模块，但是这种模块需要考虑的因素众多，很难正确完整的实现。所以经常会在登入登出、密码管理、超时设置、安全问题、帐户更新等方面存在安全隐患，给攻击者以可乘之机。</a:t>
            </a:r>
          </a:p>
          <a:p>
            <a:r>
              <a:rPr lang="zh-CN" altLang="en-US" sz="1200" b="1" kern="1200" dirty="0">
                <a:solidFill>
                  <a:schemeClr val="tx1"/>
                </a:solidFill>
                <a:latin typeface="Arial" charset="0"/>
                <a:ea typeface="宋体" pitchFamily="2" charset="-122"/>
                <a:cs typeface="+mn-cs"/>
              </a:rPr>
              <a:t>示例</a:t>
            </a:r>
            <a:endParaRPr lang="zh-CN" altLang="en-US" sz="1200" b="0" kern="1200" dirty="0">
              <a:solidFill>
                <a:schemeClr val="tx1"/>
              </a:solidFill>
              <a:latin typeface="Arial" charset="0"/>
              <a:ea typeface="宋体" pitchFamily="2" charset="-122"/>
              <a:cs typeface="+mn-cs"/>
            </a:endParaRPr>
          </a:p>
          <a:p>
            <a:r>
              <a:rPr lang="zh-CN" altLang="en-US" sz="1200" b="0" kern="1200" dirty="0">
                <a:solidFill>
                  <a:schemeClr val="tx1"/>
                </a:solidFill>
                <a:latin typeface="Arial" charset="0"/>
                <a:ea typeface="宋体" pitchFamily="2" charset="-122"/>
                <a:cs typeface="+mn-cs"/>
              </a:rPr>
              <a:t>用户</a:t>
            </a:r>
            <a:r>
              <a:rPr lang="zh-CN" altLang="en-US" sz="1200" b="1" kern="1200" dirty="0">
                <a:solidFill>
                  <a:schemeClr val="tx1"/>
                </a:solidFill>
                <a:latin typeface="Arial" charset="0"/>
                <a:ea typeface="宋体" pitchFamily="2" charset="-122"/>
                <a:cs typeface="+mn-cs"/>
              </a:rPr>
              <a:t>密码用明文保存</a:t>
            </a:r>
            <a:r>
              <a:rPr lang="zh-CN" altLang="en-US" sz="1200" b="0" kern="1200" dirty="0">
                <a:solidFill>
                  <a:schemeClr val="tx1"/>
                </a:solidFill>
                <a:latin typeface="Arial" charset="0"/>
                <a:ea typeface="宋体" pitchFamily="2" charset="-122"/>
                <a:cs typeface="+mn-cs"/>
              </a:rPr>
              <a:t>，例如</a:t>
            </a:r>
            <a:r>
              <a:rPr lang="en-US" altLang="zh-CN" sz="1200" b="0" kern="1200" dirty="0">
                <a:solidFill>
                  <a:schemeClr val="tx1"/>
                </a:solidFill>
                <a:latin typeface="Arial" charset="0"/>
                <a:ea typeface="宋体" pitchFamily="2" charset="-122"/>
                <a:cs typeface="+mn-cs"/>
                <a:hlinkClick r:id="rId3"/>
              </a:rPr>
              <a:t>2011</a:t>
            </a:r>
            <a:r>
              <a:rPr lang="zh-CN" altLang="en-US" sz="1200" b="0" kern="1200" dirty="0">
                <a:solidFill>
                  <a:schemeClr val="tx1"/>
                </a:solidFill>
                <a:latin typeface="Arial" charset="0"/>
                <a:ea typeface="宋体" pitchFamily="2" charset="-122"/>
                <a:cs typeface="+mn-cs"/>
                <a:hlinkClick r:id="rId3"/>
              </a:rPr>
              <a:t>年</a:t>
            </a:r>
            <a:r>
              <a:rPr lang="en-US" altLang="zh-CN" sz="1200" b="0" kern="1200" dirty="0">
                <a:solidFill>
                  <a:schemeClr val="tx1"/>
                </a:solidFill>
                <a:latin typeface="Arial" charset="0"/>
                <a:ea typeface="宋体" pitchFamily="2" charset="-122"/>
                <a:cs typeface="+mn-cs"/>
                <a:hlinkClick r:id="rId3"/>
              </a:rPr>
              <a:t>12</a:t>
            </a:r>
            <a:r>
              <a:rPr lang="zh-CN" altLang="en-US" sz="1200" b="0" kern="1200" dirty="0">
                <a:solidFill>
                  <a:schemeClr val="tx1"/>
                </a:solidFill>
                <a:latin typeface="Arial" charset="0"/>
                <a:ea typeface="宋体" pitchFamily="2" charset="-122"/>
                <a:cs typeface="+mn-cs"/>
                <a:hlinkClick r:id="rId3"/>
              </a:rPr>
              <a:t>月多家网站数据泄露，其中就发现国内知名技术网站居然也用明文存储用户密码。单纯的客户密码复杂度高还是不够，服务器的坑爹的实现还是会导致客户裸奔。</a:t>
            </a:r>
          </a:p>
          <a:p>
            <a:r>
              <a:rPr lang="zh-CN" altLang="en-US" sz="1200" b="0" kern="1200" dirty="0">
                <a:solidFill>
                  <a:schemeClr val="tx1"/>
                </a:solidFill>
                <a:latin typeface="Arial" charset="0"/>
                <a:ea typeface="宋体" pitchFamily="2" charset="-122"/>
                <a:cs typeface="+mn-cs"/>
              </a:rPr>
              <a:t>用户</a:t>
            </a:r>
            <a:r>
              <a:rPr lang="zh-CN" altLang="en-US" sz="1200" b="1" kern="1200" dirty="0">
                <a:solidFill>
                  <a:schemeClr val="tx1"/>
                </a:solidFill>
                <a:latin typeface="Arial" charset="0"/>
                <a:ea typeface="宋体" pitchFamily="2" charset="-122"/>
                <a:cs typeface="+mn-cs"/>
              </a:rPr>
              <a:t>密码可以被特殊操作覆盖</a:t>
            </a:r>
            <a:r>
              <a:rPr lang="zh-CN" altLang="en-US" sz="1200" b="0" kern="1200" dirty="0">
                <a:solidFill>
                  <a:schemeClr val="tx1"/>
                </a:solidFill>
                <a:latin typeface="Arial" charset="0"/>
                <a:ea typeface="宋体" pitchFamily="2" charset="-122"/>
                <a:cs typeface="+mn-cs"/>
              </a:rPr>
              <a:t>。例如不正确的实现密码更改功能、恢复密码功能等都有可能造成密码被直接更改。</a:t>
            </a:r>
          </a:p>
          <a:p>
            <a:r>
              <a:rPr lang="zh-CN" altLang="en-US" sz="1200" b="0" kern="1200" dirty="0">
                <a:solidFill>
                  <a:schemeClr val="tx1"/>
                </a:solidFill>
                <a:latin typeface="Arial" charset="0"/>
                <a:ea typeface="宋体" pitchFamily="2" charset="-122"/>
                <a:cs typeface="+mn-cs"/>
              </a:rPr>
              <a:t>网页</a:t>
            </a:r>
            <a:r>
              <a:rPr lang="en-US" altLang="zh-CN" sz="1200" b="1" kern="1200" dirty="0">
                <a:solidFill>
                  <a:schemeClr val="tx1"/>
                </a:solidFill>
                <a:latin typeface="Arial" charset="0"/>
                <a:ea typeface="宋体" pitchFamily="2" charset="-122"/>
                <a:cs typeface="+mn-cs"/>
              </a:rPr>
              <a:t>URL</a:t>
            </a:r>
            <a:r>
              <a:rPr lang="zh-CN" altLang="en-US" sz="1200" b="1" kern="1200" dirty="0">
                <a:solidFill>
                  <a:schemeClr val="tx1"/>
                </a:solidFill>
                <a:latin typeface="Arial" charset="0"/>
                <a:ea typeface="宋体" pitchFamily="2" charset="-122"/>
                <a:cs typeface="+mn-cs"/>
              </a:rPr>
              <a:t>中包含</a:t>
            </a:r>
            <a:r>
              <a:rPr lang="en-US" altLang="zh-CN" sz="1200" b="1" kern="1200" dirty="0">
                <a:solidFill>
                  <a:schemeClr val="tx1"/>
                </a:solidFill>
                <a:latin typeface="Arial" charset="0"/>
                <a:ea typeface="宋体" pitchFamily="2" charset="-122"/>
                <a:cs typeface="+mn-cs"/>
              </a:rPr>
              <a:t>Session ID</a:t>
            </a:r>
            <a:r>
              <a:rPr lang="zh-CN" altLang="en-US" sz="1200" b="0" kern="1200" dirty="0">
                <a:solidFill>
                  <a:schemeClr val="tx1"/>
                </a:solidFill>
                <a:latin typeface="Arial" charset="0"/>
                <a:ea typeface="宋体" pitchFamily="2" charset="-122"/>
                <a:cs typeface="+mn-cs"/>
              </a:rPr>
              <a:t>。例如你发现一个有趣的网页，然后把链接通过聊天工具贴给其他人，但是这个链接中包含了你的</a:t>
            </a:r>
            <a:r>
              <a:rPr lang="en-US" altLang="zh-CN" sz="1200" b="0" kern="1200" dirty="0">
                <a:solidFill>
                  <a:schemeClr val="tx1"/>
                </a:solidFill>
                <a:latin typeface="Arial" charset="0"/>
                <a:ea typeface="宋体" pitchFamily="2" charset="-122"/>
                <a:cs typeface="+mn-cs"/>
              </a:rPr>
              <a:t>session id</a:t>
            </a:r>
            <a:r>
              <a:rPr lang="zh-CN" altLang="en-US" sz="1200" b="0" kern="1200" dirty="0">
                <a:solidFill>
                  <a:schemeClr val="tx1"/>
                </a:solidFill>
                <a:latin typeface="Arial" charset="0"/>
                <a:ea typeface="宋体" pitchFamily="2" charset="-122"/>
                <a:cs typeface="+mn-cs"/>
              </a:rPr>
              <a:t>，别人点击这个链接就直接使用了你的</a:t>
            </a:r>
            <a:r>
              <a:rPr lang="en-US" altLang="zh-CN" sz="1200" b="0" kern="1200" dirty="0">
                <a:solidFill>
                  <a:schemeClr val="tx1"/>
                </a:solidFill>
                <a:latin typeface="Arial" charset="0"/>
                <a:ea typeface="宋体" pitchFamily="2" charset="-122"/>
                <a:cs typeface="+mn-cs"/>
              </a:rPr>
              <a:t>session</a:t>
            </a:r>
            <a:r>
              <a:rPr lang="zh-CN" altLang="en-US" sz="1200" b="0" kern="1200" dirty="0">
                <a:solidFill>
                  <a:schemeClr val="tx1"/>
                </a:solidFill>
                <a:latin typeface="Arial" charset="0"/>
                <a:ea typeface="宋体" pitchFamily="2" charset="-122"/>
                <a:cs typeface="+mn-cs"/>
              </a:rPr>
              <a:t>，同时他也可以作任何你可以在该网站上允许的操作，例如买张手机冲值卡。</a:t>
            </a:r>
          </a:p>
          <a:p>
            <a:r>
              <a:rPr lang="en-US" altLang="zh-TW" sz="1200" b="0" kern="1200" dirty="0">
                <a:solidFill>
                  <a:schemeClr val="tx1"/>
                </a:solidFill>
                <a:latin typeface="Arial" charset="0"/>
                <a:ea typeface="宋体" pitchFamily="2" charset="-122"/>
                <a:cs typeface="+mn-cs"/>
              </a:rPr>
              <a:t>Session ID</a:t>
            </a:r>
            <a:r>
              <a:rPr lang="zh-TW" altLang="en-US" sz="1200" b="1" kern="1200" dirty="0">
                <a:solidFill>
                  <a:schemeClr val="tx1"/>
                </a:solidFill>
                <a:latin typeface="Arial" charset="0"/>
                <a:ea typeface="宋体" pitchFamily="2" charset="-122"/>
                <a:cs typeface="+mn-cs"/>
              </a:rPr>
              <a:t>不会</a:t>
            </a:r>
            <a:r>
              <a:rPr lang="en-US" altLang="zh-TW" sz="1200" b="1" kern="1200" dirty="0">
                <a:solidFill>
                  <a:schemeClr val="tx1"/>
                </a:solidFill>
                <a:latin typeface="Arial" charset="0"/>
                <a:ea typeface="宋体" pitchFamily="2" charset="-122"/>
                <a:cs typeface="+mn-cs"/>
              </a:rPr>
              <a:t>timeout</a:t>
            </a:r>
            <a:r>
              <a:rPr lang="zh-TW" altLang="en-US" sz="1200" b="0" kern="1200" dirty="0">
                <a:solidFill>
                  <a:schemeClr val="tx1"/>
                </a:solidFill>
                <a:latin typeface="Arial" charset="0"/>
                <a:ea typeface="宋体" pitchFamily="2" charset="-122"/>
                <a:cs typeface="+mn-cs"/>
              </a:rPr>
              <a:t>，或者</a:t>
            </a:r>
            <a:r>
              <a:rPr lang="en-US" altLang="zh-TW" sz="1200" b="0" kern="1200" dirty="0">
                <a:solidFill>
                  <a:schemeClr val="tx1"/>
                </a:solidFill>
                <a:latin typeface="Arial" charset="0"/>
                <a:ea typeface="宋体" pitchFamily="2" charset="-122"/>
                <a:cs typeface="+mn-cs"/>
              </a:rPr>
              <a:t>session/token/SSO token</a:t>
            </a:r>
            <a:r>
              <a:rPr lang="zh-TW" altLang="en-US" sz="1200" b="0" kern="1200" dirty="0">
                <a:solidFill>
                  <a:schemeClr val="tx1"/>
                </a:solidFill>
                <a:latin typeface="Arial" charset="0"/>
                <a:ea typeface="宋体" pitchFamily="2" charset="-122"/>
                <a:cs typeface="+mn-cs"/>
              </a:rPr>
              <a:t>在登出的时候没有将其失效。</a:t>
            </a:r>
          </a:p>
          <a:p>
            <a:r>
              <a:rPr lang="zh-TW" altLang="en-US" sz="1200" b="0" kern="1200" dirty="0">
                <a:solidFill>
                  <a:schemeClr val="tx1"/>
                </a:solidFill>
                <a:latin typeface="Arial" charset="0"/>
                <a:ea typeface="宋体" pitchFamily="2" charset="-122"/>
                <a:cs typeface="+mn-cs"/>
              </a:rPr>
              <a:t>用户认证信息、</a:t>
            </a:r>
            <a:r>
              <a:rPr lang="en-US" altLang="zh-TW" sz="1200" b="0" kern="1200" dirty="0">
                <a:solidFill>
                  <a:schemeClr val="tx1"/>
                </a:solidFill>
                <a:latin typeface="Arial" charset="0"/>
                <a:ea typeface="宋体" pitchFamily="2" charset="-122"/>
                <a:cs typeface="+mn-cs"/>
              </a:rPr>
              <a:t>Session ID</a:t>
            </a:r>
            <a:r>
              <a:rPr lang="zh-TW" altLang="en-US" sz="1200" b="0" kern="1200" dirty="0">
                <a:solidFill>
                  <a:schemeClr val="tx1"/>
                </a:solidFill>
                <a:latin typeface="Arial" charset="0"/>
                <a:ea typeface="宋体" pitchFamily="2" charset="-122"/>
                <a:cs typeface="+mn-cs"/>
              </a:rPr>
              <a:t>使用</a:t>
            </a:r>
            <a:r>
              <a:rPr lang="zh-TW" altLang="en-US" sz="1200" b="1" kern="1200" dirty="0">
                <a:solidFill>
                  <a:schemeClr val="tx1"/>
                </a:solidFill>
                <a:latin typeface="Arial" charset="0"/>
                <a:ea typeface="宋体" pitchFamily="2" charset="-122"/>
                <a:cs typeface="+mn-cs"/>
              </a:rPr>
              <a:t>未加密连接</a:t>
            </a:r>
            <a:r>
              <a:rPr lang="zh-TW" altLang="en-US" sz="1200" b="0" kern="1200" dirty="0">
                <a:solidFill>
                  <a:schemeClr val="tx1"/>
                </a:solidFill>
                <a:latin typeface="Arial" charset="0"/>
                <a:ea typeface="宋体" pitchFamily="2" charset="-122"/>
                <a:cs typeface="+mn-cs"/>
              </a:rPr>
              <a:t>传输。这里要提一下博客园的认证连接也是不加密的，通过抓报工具很容易抓到用户的密码信息。目前来说我们可以做的是为博客园专门设置一个密码，千万别用自己自己信用卡或支付宝密码。</a:t>
            </a:r>
          </a:p>
          <a:p>
            <a:r>
              <a:rPr lang="zh-TW" altLang="en-US" sz="1200" b="1" kern="1200" dirty="0">
                <a:solidFill>
                  <a:schemeClr val="tx1"/>
                </a:solidFill>
                <a:latin typeface="Arial" charset="0"/>
                <a:ea typeface="宋体" pitchFamily="2" charset="-122"/>
                <a:cs typeface="+mn-cs"/>
              </a:rPr>
              <a:t>防御</a:t>
            </a:r>
            <a:endParaRPr lang="zh-TW" altLang="en-US" sz="1200" b="0" kern="1200" dirty="0">
              <a:solidFill>
                <a:schemeClr val="tx1"/>
              </a:solidFill>
              <a:latin typeface="Arial" charset="0"/>
              <a:ea typeface="宋体" pitchFamily="2" charset="-122"/>
              <a:cs typeface="+mn-cs"/>
            </a:endParaRPr>
          </a:p>
          <a:p>
            <a:r>
              <a:rPr lang="zh-TW" altLang="en-US" sz="1200" b="0" kern="1200" dirty="0">
                <a:solidFill>
                  <a:schemeClr val="tx1"/>
                </a:solidFill>
                <a:latin typeface="Arial" charset="0"/>
                <a:ea typeface="宋体" pitchFamily="2" charset="-122"/>
                <a:cs typeface="+mn-cs"/>
              </a:rPr>
              <a:t>推荐直接使用被广泛应用的</a:t>
            </a:r>
            <a:r>
              <a:rPr lang="zh-TW" altLang="en-US" sz="1200" b="1" kern="1200" dirty="0">
                <a:solidFill>
                  <a:schemeClr val="tx1"/>
                </a:solidFill>
                <a:latin typeface="Arial" charset="0"/>
                <a:ea typeface="宋体" pitchFamily="2" charset="-122"/>
                <a:cs typeface="+mn-cs"/>
                <a:hlinkClick r:id="rId4"/>
              </a:rPr>
              <a:t>认证控件</a:t>
            </a:r>
            <a:r>
              <a:rPr lang="zh-TW" altLang="en-US" sz="1200" b="0" kern="1200" dirty="0">
                <a:solidFill>
                  <a:schemeClr val="tx1"/>
                </a:solidFill>
                <a:latin typeface="Arial" charset="0"/>
                <a:ea typeface="宋体" pitchFamily="2" charset="-122"/>
                <a:cs typeface="+mn-cs"/>
                <a:hlinkClick r:id="rId4"/>
              </a:rPr>
              <a:t>及</a:t>
            </a:r>
            <a:r>
              <a:rPr lang="en-US" altLang="zh-TW" sz="1200" b="1" kern="1200" dirty="0">
                <a:solidFill>
                  <a:schemeClr val="tx1"/>
                </a:solidFill>
                <a:latin typeface="Arial" charset="0"/>
                <a:ea typeface="宋体" pitchFamily="2" charset="-122"/>
                <a:cs typeface="+mn-cs"/>
                <a:hlinkClick r:id="rId5"/>
              </a:rPr>
              <a:t>Session</a:t>
            </a:r>
            <a:r>
              <a:rPr lang="zh-TW" altLang="en-US" sz="1200" b="1" kern="1200" dirty="0">
                <a:solidFill>
                  <a:schemeClr val="tx1"/>
                </a:solidFill>
                <a:latin typeface="Arial" charset="0"/>
                <a:ea typeface="宋体" pitchFamily="2" charset="-122"/>
                <a:cs typeface="+mn-cs"/>
                <a:hlinkClick r:id="rId5"/>
              </a:rPr>
              <a:t>管理模块</a:t>
            </a:r>
            <a:r>
              <a:rPr lang="zh-TW" altLang="en-US" sz="1200" b="0" kern="1200" dirty="0">
                <a:solidFill>
                  <a:schemeClr val="tx1"/>
                </a:solidFill>
                <a:latin typeface="Arial" charset="0"/>
                <a:ea typeface="宋体" pitchFamily="2" charset="-122"/>
                <a:cs typeface="+mn-cs"/>
                <a:hlinkClick r:id="rId5"/>
              </a:rPr>
              <a:t>。</a:t>
            </a:r>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53</a:t>
            </a:fld>
            <a:endParaRPr lang="en-US" altLang="zh-CN"/>
          </a:p>
        </p:txBody>
      </p:sp>
    </p:spTree>
    <p:extLst>
      <p:ext uri="{BB962C8B-B14F-4D97-AF65-F5344CB8AC3E}">
        <p14:creationId xmlns:p14="http://schemas.microsoft.com/office/powerpoint/2010/main" val="40471736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en-US" altLang="zh-CN" dirty="0" err="1"/>
              <a:t>Unvalidated</a:t>
            </a:r>
            <a:r>
              <a:rPr lang="en-US" altLang="zh-CN" dirty="0"/>
              <a:t> Redirects and Forwards)</a:t>
            </a:r>
          </a:p>
          <a:p>
            <a:r>
              <a:rPr lang="zh-CN" altLang="en-US" sz="1200" b="1" kern="1200" dirty="0">
                <a:solidFill>
                  <a:schemeClr val="tx1"/>
                </a:solidFill>
                <a:latin typeface="Arial" charset="0"/>
                <a:ea typeface="宋体" pitchFamily="2" charset="-122"/>
                <a:cs typeface="+mn-cs"/>
              </a:rPr>
              <a:t>防御</a:t>
            </a:r>
            <a:endParaRPr lang="zh-CN" altLang="en-US" sz="1200" b="0" kern="1200" dirty="0">
              <a:solidFill>
                <a:schemeClr val="tx1"/>
              </a:solidFill>
              <a:latin typeface="Arial" charset="0"/>
              <a:ea typeface="宋体" pitchFamily="2" charset="-122"/>
              <a:cs typeface="+mn-cs"/>
            </a:endParaRPr>
          </a:p>
          <a:p>
            <a:r>
              <a:rPr lang="zh-CN" altLang="en-US" sz="1200" b="0" kern="1200" dirty="0">
                <a:solidFill>
                  <a:schemeClr val="tx1"/>
                </a:solidFill>
                <a:latin typeface="Arial" charset="0"/>
                <a:ea typeface="宋体" pitchFamily="2" charset="-122"/>
                <a:cs typeface="+mn-cs"/>
              </a:rPr>
              <a:t>避免跳转</a:t>
            </a:r>
          </a:p>
          <a:p>
            <a:r>
              <a:rPr lang="zh-CN" altLang="en-US" sz="1200" b="0" kern="1200" dirty="0">
                <a:solidFill>
                  <a:schemeClr val="tx1"/>
                </a:solidFill>
                <a:latin typeface="Arial" charset="0"/>
                <a:ea typeface="宋体" pitchFamily="2" charset="-122"/>
                <a:cs typeface="+mn-cs"/>
              </a:rPr>
              <a:t>不要根据用户输入来跳转</a:t>
            </a:r>
          </a:p>
          <a:p>
            <a:r>
              <a:rPr lang="zh-CN" altLang="en-US" sz="1200" b="0" kern="1200" dirty="0">
                <a:solidFill>
                  <a:schemeClr val="tx1"/>
                </a:solidFill>
                <a:latin typeface="Arial" charset="0"/>
                <a:ea typeface="宋体" pitchFamily="2" charset="-122"/>
                <a:cs typeface="+mn-cs"/>
              </a:rPr>
              <a:t>如果必须根据输入跳转，验证该输入并且该用户具备访问该目标路径的权限</a:t>
            </a:r>
          </a:p>
          <a:p>
            <a:r>
              <a:rPr lang="zh-CN" altLang="en-US" sz="1200" b="0" kern="1200" dirty="0">
                <a:solidFill>
                  <a:schemeClr val="tx1"/>
                </a:solidFill>
                <a:latin typeface="Arial" charset="0"/>
                <a:ea typeface="宋体" pitchFamily="2" charset="-122"/>
                <a:cs typeface="+mn-cs"/>
              </a:rPr>
              <a:t>如果必须根据输入跳转，推荐根据用户输入来内部决定对应的跳转目标，不直接使用输入</a:t>
            </a:r>
            <a:endParaRPr lang="en-US" altLang="zh-CN" dirty="0"/>
          </a:p>
          <a:p>
            <a:endParaRPr kumimoji="1" lang="en-US" altLang="zh-CN" dirty="0"/>
          </a:p>
          <a:p>
            <a:r>
              <a:rPr lang="en-US" altLang="zh-CN" sz="2200" dirty="0">
                <a:latin typeface="Arial" charset="0"/>
                <a:ea typeface="ヒラギノ角ゴ ProN W3" charset="0"/>
                <a:cs typeface="ヒラギノ角ゴ ProN W3" charset="0"/>
              </a:rPr>
              <a:t>Verify your architecture</a:t>
            </a:r>
          </a:p>
          <a:p>
            <a:pPr lvl="1">
              <a:spcBef>
                <a:spcPts val="352"/>
              </a:spcBef>
            </a:pPr>
            <a:r>
              <a:rPr lang="en-US" altLang="zh-CN" sz="1700" dirty="0">
                <a:latin typeface="Arial" charset="0"/>
                <a:ea typeface="ヒラギノ角ゴ ProN W3" charset="0"/>
                <a:cs typeface="ヒラギノ角ゴ ProN W3" charset="0"/>
              </a:rPr>
              <a:t>Authentication should be simple, centralized, and </a:t>
            </a:r>
            <a:r>
              <a:rPr lang="en-US" altLang="zh-CN" sz="1700" u="sng" dirty="0">
                <a:latin typeface="Arial" charset="0"/>
                <a:ea typeface="ヒラギノ角ゴ ProN W3" charset="0"/>
                <a:cs typeface="ヒラギノ角ゴ ProN W3" charset="0"/>
              </a:rPr>
              <a:t>standardized</a:t>
            </a:r>
          </a:p>
          <a:p>
            <a:pPr lvl="1">
              <a:spcBef>
                <a:spcPts val="352"/>
              </a:spcBef>
            </a:pPr>
            <a:r>
              <a:rPr lang="en-US" altLang="zh-CN" sz="1700" dirty="0">
                <a:latin typeface="Arial" charset="0"/>
                <a:ea typeface="ヒラギノ角ゴ ProN W3" charset="0"/>
                <a:cs typeface="ヒラギノ角ゴ ProN W3" charset="0"/>
              </a:rPr>
              <a:t>Use the standard session id provided by your container</a:t>
            </a:r>
          </a:p>
          <a:p>
            <a:pPr lvl="1">
              <a:spcBef>
                <a:spcPts val="352"/>
              </a:spcBef>
            </a:pPr>
            <a:r>
              <a:rPr lang="en-US" altLang="zh-CN" sz="1700" dirty="0">
                <a:latin typeface="Arial" charset="0"/>
                <a:ea typeface="ヒラギノ角ゴ ProN W3" charset="0"/>
                <a:cs typeface="ヒラギノ角ゴ ProN W3" charset="0"/>
              </a:rPr>
              <a:t>Be sure SSL protects both credentials and session id </a:t>
            </a:r>
            <a:r>
              <a:rPr lang="en-US" altLang="zh-CN" sz="1700" u="sng" dirty="0">
                <a:latin typeface="Arial" charset="0"/>
                <a:ea typeface="ヒラギノ角ゴ ProN W3" charset="0"/>
                <a:cs typeface="ヒラギノ角ゴ ProN W3" charset="0"/>
              </a:rPr>
              <a:t>at all times</a:t>
            </a:r>
          </a:p>
          <a:p>
            <a:r>
              <a:rPr lang="en-US" altLang="zh-CN" sz="2200" dirty="0">
                <a:latin typeface="Arial" charset="0"/>
                <a:ea typeface="ヒラギノ角ゴ ProN W3" charset="0"/>
                <a:cs typeface="ヒラギノ角ゴ ProN W3" charset="0"/>
              </a:rPr>
              <a:t>Verify the implementation</a:t>
            </a:r>
          </a:p>
          <a:p>
            <a:pPr lvl="1">
              <a:spcBef>
                <a:spcPts val="352"/>
              </a:spcBef>
            </a:pPr>
            <a:r>
              <a:rPr lang="en-US" altLang="zh-CN" sz="1700" dirty="0">
                <a:latin typeface="Arial" charset="0"/>
                <a:ea typeface="ヒラギノ角ゴ ProN W3" charset="0"/>
                <a:cs typeface="ヒラギノ角ゴ ProN W3" charset="0"/>
              </a:rPr>
              <a:t>Forget automated analysis approaches</a:t>
            </a:r>
          </a:p>
          <a:p>
            <a:pPr lvl="1">
              <a:spcBef>
                <a:spcPts val="352"/>
              </a:spcBef>
            </a:pPr>
            <a:r>
              <a:rPr lang="en-US" altLang="zh-CN" sz="1700" dirty="0">
                <a:latin typeface="Arial" charset="0"/>
                <a:ea typeface="ヒラギノ角ゴ ProN W3" charset="0"/>
                <a:cs typeface="ヒラギノ角ゴ ProN W3" charset="0"/>
              </a:rPr>
              <a:t>Check your SSL certificate</a:t>
            </a:r>
          </a:p>
          <a:p>
            <a:pPr lvl="1">
              <a:spcBef>
                <a:spcPts val="352"/>
              </a:spcBef>
            </a:pPr>
            <a:r>
              <a:rPr lang="en-US" altLang="zh-CN" sz="1700" dirty="0">
                <a:latin typeface="Arial" charset="0"/>
                <a:ea typeface="ヒラギノ角ゴ ProN W3" charset="0"/>
                <a:cs typeface="ヒラギノ角ゴ ProN W3" charset="0"/>
              </a:rPr>
              <a:t>Examine all the authentication-related functions</a:t>
            </a:r>
          </a:p>
          <a:p>
            <a:pPr lvl="1">
              <a:spcBef>
                <a:spcPts val="352"/>
              </a:spcBef>
            </a:pPr>
            <a:r>
              <a:rPr lang="en-US" altLang="zh-CN" sz="1700" dirty="0">
                <a:latin typeface="Arial" charset="0"/>
                <a:ea typeface="ヒラギノ角ゴ ProN W3" charset="0"/>
                <a:cs typeface="ヒラギノ角ゴ ProN W3" charset="0"/>
              </a:rPr>
              <a:t>Verify that logoff actually destroys the session</a:t>
            </a:r>
          </a:p>
          <a:p>
            <a:pPr lvl="1">
              <a:spcBef>
                <a:spcPts val="352"/>
              </a:spcBef>
            </a:pPr>
            <a:r>
              <a:rPr lang="en-US" altLang="zh-CN" sz="1700" dirty="0">
                <a:latin typeface="Arial" charset="0"/>
                <a:ea typeface="ヒラギノ角ゴ ProN W3" charset="0"/>
                <a:cs typeface="ヒラギノ角ゴ ProN W3" charset="0"/>
              </a:rPr>
              <a:t>Use OWASP</a:t>
            </a:r>
            <a:r>
              <a:rPr lang="zh-CN" altLang="en-US" sz="1700" dirty="0">
                <a:latin typeface="Arial" charset="0"/>
                <a:ea typeface="ヒラギノ角ゴ ProN W3" charset="0"/>
                <a:cs typeface="ヒラギノ角ゴ ProN W3" charset="0"/>
              </a:rPr>
              <a:t>’</a:t>
            </a:r>
            <a:r>
              <a:rPr lang="en-US" altLang="zh-CN" sz="1700" dirty="0">
                <a:latin typeface="Arial" charset="0"/>
                <a:ea typeface="ヒラギノ角ゴ ProN W3" charset="0"/>
                <a:cs typeface="ヒラギノ角ゴ ProN W3" charset="0"/>
              </a:rPr>
              <a:t>s </a:t>
            </a:r>
            <a:r>
              <a:rPr lang="en-US" altLang="zh-CN" sz="1700" dirty="0" err="1">
                <a:latin typeface="Arial" charset="0"/>
                <a:ea typeface="ヒラギノ角ゴ ProN W3" charset="0"/>
                <a:cs typeface="ヒラギノ角ゴ ProN W3" charset="0"/>
              </a:rPr>
              <a:t>WebScarab</a:t>
            </a:r>
            <a:r>
              <a:rPr lang="en-US" altLang="zh-CN" sz="1700" dirty="0">
                <a:latin typeface="Arial" charset="0"/>
                <a:ea typeface="ヒラギノ角ゴ ProN W3" charset="0"/>
                <a:cs typeface="ヒラギノ角ゴ ProN W3" charset="0"/>
              </a:rPr>
              <a:t> to test the implementation</a:t>
            </a:r>
            <a:endParaRPr lang="en-US" altLang="zh-CN" sz="800" dirty="0">
              <a:latin typeface="Arial" charset="0"/>
              <a:ea typeface="ヒラギノ角ゴ ProN W3" charset="0"/>
              <a:cs typeface="ヒラギノ角ゴ ProN W3" charset="0"/>
            </a:endParaRPr>
          </a:p>
          <a:p>
            <a:r>
              <a:rPr lang="en-US" altLang="zh-CN" sz="2200" dirty="0">
                <a:latin typeface="Arial" charset="0"/>
                <a:ea typeface="ヒラギノ角ゴ ProN W3" charset="0"/>
                <a:cs typeface="ヒラギノ角ゴ ProN W3" charset="0"/>
              </a:rPr>
              <a:t>Follow the guidance from</a:t>
            </a:r>
          </a:p>
          <a:p>
            <a:pPr lvl="1">
              <a:spcBef>
                <a:spcPts val="352"/>
              </a:spcBef>
            </a:pPr>
            <a:r>
              <a:rPr lang="en-US" altLang="zh-CN" sz="1700" dirty="0">
                <a:latin typeface="Arial" charset="0"/>
                <a:ea typeface="ヒラギノ角ゴ ProN W3" charset="0"/>
                <a:cs typeface="ヒラギノ角ゴ ProN W3" charset="0"/>
                <a:hlinkClick r:id="rId3"/>
              </a:rPr>
              <a:t>http://www.owasp.org/index.php/Authentication_Cheat_Sheet</a:t>
            </a:r>
            <a:r>
              <a:rPr lang="en-US" altLang="zh-CN" sz="1700" dirty="0">
                <a:latin typeface="Arial" charset="0"/>
                <a:ea typeface="ヒラギノ角ゴ ProN W3" charset="0"/>
                <a:cs typeface="ヒラギノ角ゴ ProN W3" charset="0"/>
              </a:rPr>
              <a:t> </a:t>
            </a:r>
          </a:p>
          <a:p>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54</a:t>
            </a:fld>
            <a:endParaRPr lang="en-US" altLang="zh-CN"/>
          </a:p>
        </p:txBody>
      </p:sp>
    </p:spTree>
    <p:extLst>
      <p:ext uri="{BB962C8B-B14F-4D97-AF65-F5344CB8AC3E}">
        <p14:creationId xmlns:p14="http://schemas.microsoft.com/office/powerpoint/2010/main" val="5243321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latin typeface="Arial" charset="0"/>
                <a:ea typeface="宋体" pitchFamily="2" charset="-122"/>
                <a:cs typeface="+mn-cs"/>
              </a:rPr>
              <a:t>使用</a:t>
            </a:r>
            <a:r>
              <a:rPr lang="zh-CN" altLang="en-US" sz="1200" b="1" kern="1200" dirty="0">
                <a:solidFill>
                  <a:schemeClr val="tx1"/>
                </a:solidFill>
                <a:latin typeface="Arial" charset="0"/>
                <a:ea typeface="宋体" pitchFamily="2" charset="-122"/>
                <a:cs typeface="+mn-cs"/>
              </a:rPr>
              <a:t>用户级别</a:t>
            </a:r>
            <a:r>
              <a:rPr lang="zh-CN" altLang="en-US" sz="1200" b="0" kern="1200" dirty="0">
                <a:solidFill>
                  <a:schemeClr val="tx1"/>
                </a:solidFill>
                <a:latin typeface="Arial" charset="0"/>
                <a:ea typeface="宋体" pitchFamily="2" charset="-122"/>
                <a:cs typeface="+mn-cs"/>
              </a:rPr>
              <a:t>或</a:t>
            </a:r>
            <a:r>
              <a:rPr lang="en-US" altLang="zh-CN" sz="1200" b="1" kern="1200" dirty="0">
                <a:solidFill>
                  <a:schemeClr val="tx1"/>
                </a:solidFill>
                <a:latin typeface="Arial" charset="0"/>
                <a:ea typeface="宋体" pitchFamily="2" charset="-122"/>
                <a:cs typeface="+mn-cs"/>
              </a:rPr>
              <a:t>Session</a:t>
            </a:r>
            <a:r>
              <a:rPr lang="zh-CN" altLang="en-US" sz="1200" b="1" kern="1200" dirty="0">
                <a:solidFill>
                  <a:schemeClr val="tx1"/>
                </a:solidFill>
                <a:latin typeface="Arial" charset="0"/>
                <a:ea typeface="宋体" pitchFamily="2" charset="-122"/>
                <a:cs typeface="+mn-cs"/>
              </a:rPr>
              <a:t>级别</a:t>
            </a:r>
            <a:r>
              <a:rPr lang="zh-CN" altLang="en-US" sz="1200" b="0" kern="1200" dirty="0">
                <a:solidFill>
                  <a:schemeClr val="tx1"/>
                </a:solidFill>
                <a:latin typeface="Arial" charset="0"/>
                <a:ea typeface="宋体" pitchFamily="2" charset="-122"/>
                <a:cs typeface="+mn-cs"/>
              </a:rPr>
              <a:t>的</a:t>
            </a:r>
            <a:r>
              <a:rPr lang="zh-CN" altLang="en-US" sz="1200" b="1" kern="1200" dirty="0">
                <a:solidFill>
                  <a:schemeClr val="tx1"/>
                </a:solidFill>
                <a:latin typeface="Arial" charset="0"/>
                <a:ea typeface="宋体" pitchFamily="2" charset="-122"/>
                <a:cs typeface="+mn-cs"/>
              </a:rPr>
              <a:t>间接对象引用</a:t>
            </a:r>
            <a:r>
              <a:rPr lang="zh-CN" altLang="en-US" sz="1200" b="0" kern="1200" dirty="0">
                <a:solidFill>
                  <a:schemeClr val="tx1"/>
                </a:solidFill>
                <a:latin typeface="Arial" charset="0"/>
                <a:ea typeface="宋体" pitchFamily="2" charset="-122"/>
                <a:cs typeface="+mn-cs"/>
              </a:rPr>
              <a:t>，比如用户界面上下拉框中选项对应简单数字而不是对象的数据库键值，界面数字与对象键值之间的对应关系在用户级别或</a:t>
            </a:r>
            <a:r>
              <a:rPr lang="en-US" altLang="zh-CN" sz="1200" b="0" kern="1200" dirty="0">
                <a:solidFill>
                  <a:schemeClr val="tx1"/>
                </a:solidFill>
                <a:latin typeface="Arial" charset="0"/>
                <a:ea typeface="宋体" pitchFamily="2" charset="-122"/>
                <a:cs typeface="+mn-cs"/>
              </a:rPr>
              <a:t>session</a:t>
            </a:r>
            <a:r>
              <a:rPr lang="zh-CN" altLang="en-US" sz="1200" b="0" kern="1200" dirty="0">
                <a:solidFill>
                  <a:schemeClr val="tx1"/>
                </a:solidFill>
                <a:latin typeface="Arial" charset="0"/>
                <a:ea typeface="宋体" pitchFamily="2" charset="-122"/>
                <a:cs typeface="+mn-cs"/>
              </a:rPr>
              <a:t>级别维护。</a:t>
            </a:r>
          </a:p>
          <a:p>
            <a:r>
              <a:rPr lang="zh-CN" altLang="en-US" sz="1200" b="1" kern="1200" dirty="0">
                <a:solidFill>
                  <a:schemeClr val="tx1"/>
                </a:solidFill>
                <a:latin typeface="Arial" charset="0"/>
                <a:ea typeface="宋体" pitchFamily="2" charset="-122"/>
                <a:cs typeface="+mn-cs"/>
              </a:rPr>
              <a:t>控制访问</a:t>
            </a:r>
            <a:r>
              <a:rPr lang="zh-CN" altLang="en-US" sz="1200" b="0" kern="1200" dirty="0">
                <a:solidFill>
                  <a:schemeClr val="tx1"/>
                </a:solidFill>
                <a:latin typeface="Arial" charset="0"/>
                <a:ea typeface="宋体" pitchFamily="2" charset="-122"/>
                <a:cs typeface="+mn-cs"/>
              </a:rPr>
              <a:t>，在真正的操作之前判断用户是否有权限执行该操作或访问目标数据。</a:t>
            </a:r>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55</a:t>
            </a:fld>
            <a:endParaRPr lang="en-US" altLang="zh-CN"/>
          </a:p>
        </p:txBody>
      </p:sp>
    </p:spTree>
    <p:extLst>
      <p:ext uri="{BB962C8B-B14F-4D97-AF65-F5344CB8AC3E}">
        <p14:creationId xmlns:p14="http://schemas.microsoft.com/office/powerpoint/2010/main" val="41837032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latin typeface="Arial" charset="0"/>
                <a:ea typeface="宋体" pitchFamily="2" charset="-122"/>
                <a:cs typeface="+mn-cs"/>
              </a:rPr>
              <a:t>使用</a:t>
            </a:r>
            <a:r>
              <a:rPr lang="zh-CN" altLang="en-US" sz="1200" b="1" kern="1200" dirty="0">
                <a:solidFill>
                  <a:schemeClr val="tx1"/>
                </a:solidFill>
                <a:latin typeface="Arial" charset="0"/>
                <a:ea typeface="宋体" pitchFamily="2" charset="-122"/>
                <a:cs typeface="+mn-cs"/>
              </a:rPr>
              <a:t>用户级别</a:t>
            </a:r>
            <a:r>
              <a:rPr lang="zh-CN" altLang="en-US" sz="1200" b="0" kern="1200" dirty="0">
                <a:solidFill>
                  <a:schemeClr val="tx1"/>
                </a:solidFill>
                <a:latin typeface="Arial" charset="0"/>
                <a:ea typeface="宋体" pitchFamily="2" charset="-122"/>
                <a:cs typeface="+mn-cs"/>
              </a:rPr>
              <a:t>或</a:t>
            </a:r>
            <a:r>
              <a:rPr lang="en-US" altLang="zh-CN" sz="1200" b="1" kern="1200" dirty="0">
                <a:solidFill>
                  <a:schemeClr val="tx1"/>
                </a:solidFill>
                <a:latin typeface="Arial" charset="0"/>
                <a:ea typeface="宋体" pitchFamily="2" charset="-122"/>
                <a:cs typeface="+mn-cs"/>
              </a:rPr>
              <a:t>Session</a:t>
            </a:r>
            <a:r>
              <a:rPr lang="zh-CN" altLang="en-US" sz="1200" b="1" kern="1200" dirty="0">
                <a:solidFill>
                  <a:schemeClr val="tx1"/>
                </a:solidFill>
                <a:latin typeface="Arial" charset="0"/>
                <a:ea typeface="宋体" pitchFamily="2" charset="-122"/>
                <a:cs typeface="+mn-cs"/>
              </a:rPr>
              <a:t>级别</a:t>
            </a:r>
            <a:r>
              <a:rPr lang="zh-CN" altLang="en-US" sz="1200" b="0" kern="1200" dirty="0">
                <a:solidFill>
                  <a:schemeClr val="tx1"/>
                </a:solidFill>
                <a:latin typeface="Arial" charset="0"/>
                <a:ea typeface="宋体" pitchFamily="2" charset="-122"/>
                <a:cs typeface="+mn-cs"/>
              </a:rPr>
              <a:t>的</a:t>
            </a:r>
            <a:r>
              <a:rPr lang="zh-CN" altLang="en-US" sz="1200" b="1" kern="1200" dirty="0">
                <a:solidFill>
                  <a:schemeClr val="tx1"/>
                </a:solidFill>
                <a:latin typeface="Arial" charset="0"/>
                <a:ea typeface="宋体" pitchFamily="2" charset="-122"/>
                <a:cs typeface="+mn-cs"/>
              </a:rPr>
              <a:t>间接对象引用</a:t>
            </a:r>
            <a:r>
              <a:rPr lang="zh-CN" altLang="en-US" sz="1200" b="0" kern="1200" dirty="0">
                <a:solidFill>
                  <a:schemeClr val="tx1"/>
                </a:solidFill>
                <a:latin typeface="Arial" charset="0"/>
                <a:ea typeface="宋体" pitchFamily="2" charset="-122"/>
                <a:cs typeface="+mn-cs"/>
              </a:rPr>
              <a:t>，比如用户界面上下拉框中选项对应简单数字而不是对象的数据库键值，界面数字与对象键值之间的对应关系在用户级别或</a:t>
            </a:r>
            <a:r>
              <a:rPr lang="en-US" altLang="zh-CN" sz="1200" b="0" kern="1200" dirty="0">
                <a:solidFill>
                  <a:schemeClr val="tx1"/>
                </a:solidFill>
                <a:latin typeface="Arial" charset="0"/>
                <a:ea typeface="宋体" pitchFamily="2" charset="-122"/>
                <a:cs typeface="+mn-cs"/>
              </a:rPr>
              <a:t>session</a:t>
            </a:r>
            <a:r>
              <a:rPr lang="zh-CN" altLang="en-US" sz="1200" b="0" kern="1200" dirty="0">
                <a:solidFill>
                  <a:schemeClr val="tx1"/>
                </a:solidFill>
                <a:latin typeface="Arial" charset="0"/>
                <a:ea typeface="宋体" pitchFamily="2" charset="-122"/>
                <a:cs typeface="+mn-cs"/>
              </a:rPr>
              <a:t>级别维护。</a:t>
            </a:r>
          </a:p>
          <a:p>
            <a:r>
              <a:rPr lang="zh-CN" altLang="en-US" sz="1200" b="1" kern="1200" dirty="0">
                <a:solidFill>
                  <a:schemeClr val="tx1"/>
                </a:solidFill>
                <a:latin typeface="Arial" charset="0"/>
                <a:ea typeface="宋体" pitchFamily="2" charset="-122"/>
                <a:cs typeface="+mn-cs"/>
              </a:rPr>
              <a:t>控制访问</a:t>
            </a:r>
            <a:r>
              <a:rPr lang="zh-CN" altLang="en-US" sz="1200" b="0" kern="1200" dirty="0">
                <a:solidFill>
                  <a:schemeClr val="tx1"/>
                </a:solidFill>
                <a:latin typeface="Arial" charset="0"/>
                <a:ea typeface="宋体" pitchFamily="2" charset="-122"/>
                <a:cs typeface="+mn-cs"/>
              </a:rPr>
              <a:t>，在真正的操作之前判断用户是否有权限执行该操作或访问目标数据。</a:t>
            </a:r>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56</a:t>
            </a:fld>
            <a:endParaRPr lang="en-US" altLang="zh-CN"/>
          </a:p>
        </p:txBody>
      </p:sp>
    </p:spTree>
    <p:extLst>
      <p:ext uri="{BB962C8B-B14F-4D97-AF65-F5344CB8AC3E}">
        <p14:creationId xmlns:p14="http://schemas.microsoft.com/office/powerpoint/2010/main" val="41837032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TW" altLang="en-US" sz="1200" kern="1200" dirty="0">
                <a:solidFill>
                  <a:schemeClr val="tx1"/>
                </a:solidFill>
                <a:latin typeface="Arial" charset="0"/>
                <a:ea typeface="宋体" pitchFamily="2" charset="-122"/>
                <a:cs typeface="+mn-cs"/>
              </a:rPr>
              <a:t>功能级权限控制缺失</a:t>
            </a:r>
            <a:r>
              <a:rPr lang="en-US" altLang="zh-TW" sz="1200" kern="1200" dirty="0">
                <a:solidFill>
                  <a:schemeClr val="tx1"/>
                </a:solidFill>
                <a:latin typeface="Arial" charset="0"/>
                <a:ea typeface="宋体" pitchFamily="2" charset="-122"/>
                <a:cs typeface="+mn-cs"/>
              </a:rPr>
              <a:t>(Missing Function Level Access Control)</a:t>
            </a:r>
            <a:endParaRPr lang="en-US" altLang="zh-CN" sz="1200" b="0" kern="1200" dirty="0">
              <a:solidFill>
                <a:schemeClr val="tx1"/>
              </a:solidFill>
              <a:latin typeface="Arial" charset="0"/>
              <a:ea typeface="宋体" pitchFamily="2" charset="-122"/>
              <a:cs typeface="+mn-cs"/>
              <a:hlinkClick r:id="rId3"/>
            </a:endParaRPr>
          </a:p>
          <a:p>
            <a:r>
              <a:rPr lang="zh-CN" altLang="en-US" sz="1200" b="1" kern="1200" dirty="0">
                <a:solidFill>
                  <a:schemeClr val="tx1"/>
                </a:solidFill>
                <a:latin typeface="Arial" charset="0"/>
                <a:ea typeface="宋体" pitchFamily="2" charset="-122"/>
                <a:cs typeface="+mn-cs"/>
              </a:rPr>
              <a:t>防御</a:t>
            </a:r>
            <a:endParaRPr lang="zh-CN" altLang="en-US" sz="1200" b="0" kern="1200" dirty="0">
              <a:solidFill>
                <a:schemeClr val="tx1"/>
              </a:solidFill>
              <a:latin typeface="Arial" charset="0"/>
              <a:ea typeface="宋体" pitchFamily="2" charset="-122"/>
              <a:cs typeface="+mn-cs"/>
            </a:endParaRPr>
          </a:p>
          <a:p>
            <a:r>
              <a:rPr lang="zh-CN" altLang="en-US" sz="1200" b="1" kern="1200" dirty="0">
                <a:solidFill>
                  <a:schemeClr val="tx1"/>
                </a:solidFill>
                <a:latin typeface="Arial" charset="0"/>
                <a:ea typeface="宋体" pitchFamily="2" charset="-122"/>
                <a:cs typeface="+mn-cs"/>
              </a:rPr>
              <a:t>不要</a:t>
            </a:r>
            <a:r>
              <a:rPr lang="en-US" altLang="zh-CN" sz="1200" b="1" kern="1200" dirty="0">
                <a:solidFill>
                  <a:schemeClr val="tx1"/>
                </a:solidFill>
                <a:latin typeface="Arial" charset="0"/>
                <a:ea typeface="宋体" pitchFamily="2" charset="-122"/>
                <a:cs typeface="+mn-cs"/>
              </a:rPr>
              <a:t>hard code</a:t>
            </a:r>
            <a:r>
              <a:rPr lang="zh-CN" altLang="en-US" sz="1200" b="1" kern="1200" dirty="0">
                <a:solidFill>
                  <a:schemeClr val="tx1"/>
                </a:solidFill>
                <a:latin typeface="Arial" charset="0"/>
                <a:ea typeface="宋体" pitchFamily="2" charset="-122"/>
                <a:cs typeface="+mn-cs"/>
              </a:rPr>
              <a:t>权限控制</a:t>
            </a:r>
            <a:r>
              <a:rPr lang="zh-CN" altLang="en-US" sz="1200" b="0" kern="1200" dirty="0">
                <a:solidFill>
                  <a:schemeClr val="tx1"/>
                </a:solidFill>
                <a:latin typeface="Arial" charset="0"/>
                <a:ea typeface="宋体" pitchFamily="2" charset="-122"/>
                <a:cs typeface="+mn-cs"/>
              </a:rPr>
              <a:t>，需要建立一种可以比较容易更新和监测权限控制的机制</a:t>
            </a:r>
          </a:p>
          <a:p>
            <a:r>
              <a:rPr lang="zh-CN" altLang="en-US" sz="1200" b="0" kern="1200" dirty="0">
                <a:solidFill>
                  <a:schemeClr val="tx1"/>
                </a:solidFill>
                <a:latin typeface="Arial" charset="0"/>
                <a:ea typeface="宋体" pitchFamily="2" charset="-122"/>
                <a:cs typeface="+mn-cs"/>
              </a:rPr>
              <a:t>默认拒绝所有访问，访问任何功能都需要被赋予特定的权限</a:t>
            </a:r>
          </a:p>
          <a:p>
            <a:r>
              <a:rPr lang="zh-CN" altLang="en-US" sz="1200" b="0" kern="1200" dirty="0">
                <a:solidFill>
                  <a:schemeClr val="tx1"/>
                </a:solidFill>
                <a:latin typeface="Arial" charset="0"/>
                <a:ea typeface="宋体" pitchFamily="2" charset="-122"/>
                <a:cs typeface="+mn-cs"/>
              </a:rPr>
              <a:t>如果某功能在一个</a:t>
            </a:r>
            <a:r>
              <a:rPr lang="en-US" altLang="zh-CN" sz="1200" b="0" kern="1200" dirty="0">
                <a:solidFill>
                  <a:schemeClr val="tx1"/>
                </a:solidFill>
                <a:latin typeface="Arial" charset="0"/>
                <a:ea typeface="宋体" pitchFamily="2" charset="-122"/>
                <a:cs typeface="+mn-cs"/>
              </a:rPr>
              <a:t>workflow</a:t>
            </a:r>
            <a:r>
              <a:rPr lang="zh-CN" altLang="en-US" sz="1200" b="0" kern="1200" dirty="0">
                <a:solidFill>
                  <a:schemeClr val="tx1"/>
                </a:solidFill>
                <a:latin typeface="Arial" charset="0"/>
                <a:ea typeface="宋体" pitchFamily="2" charset="-122"/>
                <a:cs typeface="+mn-cs"/>
              </a:rPr>
              <a:t>中，需要确认所有的前提条件都在正确的状态，然后允许访问该功能</a:t>
            </a:r>
            <a:endParaRPr kumimoji="1" lang="zh-CN" altLang="en-US" dirty="0"/>
          </a:p>
        </p:txBody>
      </p:sp>
      <p:sp>
        <p:nvSpPr>
          <p:cNvPr id="4" name="幻灯片编号占位符 3"/>
          <p:cNvSpPr>
            <a:spLocks noGrp="1"/>
          </p:cNvSpPr>
          <p:nvPr>
            <p:ph type="sldNum" sz="quarter" idx="10"/>
          </p:nvPr>
        </p:nvSpPr>
        <p:spPr/>
        <p:txBody>
          <a:bodyPr/>
          <a:lstStyle/>
          <a:p>
            <a:fld id="{FC1E8347-1A91-44CB-BE93-8A70171D17A1}" type="slidenum">
              <a:rPr lang="en-US" altLang="zh-CN" smtClean="0"/>
              <a:pPr/>
              <a:t>57</a:t>
            </a:fld>
            <a:endParaRPr lang="en-US" altLang="zh-CN"/>
          </a:p>
        </p:txBody>
      </p:sp>
    </p:spTree>
    <p:extLst>
      <p:ext uri="{BB962C8B-B14F-4D97-AF65-F5344CB8AC3E}">
        <p14:creationId xmlns:p14="http://schemas.microsoft.com/office/powerpoint/2010/main" val="703436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微软雅黑" panose="020B0503020204020204" pitchFamily="34" charset="-122"/>
                <a:ea typeface="微软雅黑" panose="020B0503020204020204" pitchFamily="34" charset="-122"/>
              </a:rPr>
              <a:t>10. </a:t>
            </a:r>
            <a:r>
              <a:rPr lang="zh-CN" altLang="en-US" sz="1200" dirty="0">
                <a:latin typeface="微软雅黑" panose="020B0503020204020204" pitchFamily="34" charset="-122"/>
                <a:ea typeface="微软雅黑" panose="020B0503020204020204" pitchFamily="34" charset="-122"/>
              </a:rPr>
              <a:t>软件兼容性测试</a:t>
            </a:r>
          </a:p>
          <a:p>
            <a:r>
              <a:rPr lang="en-US" altLang="zh-CN" sz="1200" dirty="0">
                <a:latin typeface="微软雅黑" panose="020B0503020204020204" pitchFamily="34" charset="-122"/>
                <a:ea typeface="微软雅黑" panose="020B0503020204020204" pitchFamily="34" charset="-122"/>
              </a:rPr>
              <a:t>11. </a:t>
            </a:r>
            <a:r>
              <a:rPr lang="zh-CN" altLang="en-US" sz="1200" dirty="0">
                <a:latin typeface="微软雅黑" panose="020B0503020204020204" pitchFamily="34" charset="-122"/>
                <a:ea typeface="微软雅黑" panose="020B0503020204020204" pitchFamily="34" charset="-122"/>
              </a:rPr>
              <a:t>全链路压测</a:t>
            </a:r>
          </a:p>
          <a:p>
            <a:r>
              <a:rPr lang="en-US" altLang="zh-CN" sz="1200" dirty="0">
                <a:latin typeface="微软雅黑" panose="020B0503020204020204" pitchFamily="34" charset="-122"/>
                <a:ea typeface="微软雅黑" panose="020B0503020204020204" pitchFamily="34" charset="-122"/>
              </a:rPr>
              <a:t>12</a:t>
            </a:r>
            <a:r>
              <a:rPr lang="zh-CN" altLang="en-US" sz="1200" dirty="0">
                <a:latin typeface="微软雅黑" panose="020B0503020204020204" pitchFamily="34" charset="-122"/>
                <a:ea typeface="微软雅黑" panose="020B0503020204020204" pitchFamily="34" charset="-122"/>
              </a:rPr>
              <a:t> 混沌工程</a:t>
            </a:r>
          </a:p>
          <a:p>
            <a:r>
              <a:rPr lang="en-US" altLang="zh-CN" sz="1200" dirty="0">
                <a:latin typeface="微软雅黑" panose="020B0503020204020204" pitchFamily="34" charset="-122"/>
                <a:ea typeface="微软雅黑" panose="020B0503020204020204" pitchFamily="34" charset="-122"/>
              </a:rPr>
              <a:t>13. </a:t>
            </a:r>
            <a:r>
              <a:rPr lang="en" altLang="zh-CN" sz="1200" dirty="0">
                <a:latin typeface="微软雅黑" panose="020B0503020204020204" pitchFamily="34" charset="-122"/>
                <a:ea typeface="微软雅黑" panose="020B0503020204020204" pitchFamily="34" charset="-122"/>
              </a:rPr>
              <a:t>A/B</a:t>
            </a:r>
            <a:r>
              <a:rPr lang="zh-CN" altLang="en-US" sz="1200" dirty="0">
                <a:latin typeface="微软雅黑" panose="020B0503020204020204" pitchFamily="34" charset="-122"/>
                <a:ea typeface="微软雅黑" panose="020B0503020204020204" pitchFamily="34" charset="-122"/>
              </a:rPr>
              <a:t>测试</a:t>
            </a:r>
          </a:p>
          <a:p>
            <a:pPr marL="342900" lvl="0" indent="-342900" algn="just">
              <a:lnSpc>
                <a:spcPct val="120000"/>
              </a:lnSpc>
              <a:buClr>
                <a:srgbClr val="2E74B5"/>
              </a:buClr>
              <a:buFont typeface="+mj-lt"/>
              <a:buAutoNum type="arabicPeriod"/>
            </a:pP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58</a:t>
            </a:fld>
            <a:endParaRPr lang="zh-CN" altLang="en-US"/>
          </a:p>
        </p:txBody>
      </p:sp>
    </p:spTree>
    <p:extLst>
      <p:ext uri="{BB962C8B-B14F-4D97-AF65-F5344CB8AC3E}">
        <p14:creationId xmlns:p14="http://schemas.microsoft.com/office/powerpoint/2010/main" val="11678330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382588" y="685800"/>
            <a:ext cx="6094412" cy="3429000"/>
          </a:xfrm>
          <a:ln/>
        </p:spPr>
      </p:sp>
      <p:sp>
        <p:nvSpPr>
          <p:cNvPr id="57347"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1200" dirty="0">
                <a:latin typeface="Microsoft YaHei" panose="020B0503020204020204" pitchFamily="34" charset="-122"/>
                <a:ea typeface="Microsoft YaHei" panose="020B0503020204020204" pitchFamily="34" charset="-122"/>
              </a:rPr>
              <a:t>DB schema</a:t>
            </a:r>
            <a:r>
              <a:rPr kumimoji="1" lang="zh-CN" altLang="en-US" sz="1200" dirty="0">
                <a:latin typeface="Microsoft YaHei" panose="020B0503020204020204" pitchFamily="34" charset="-122"/>
                <a:ea typeface="Microsoft YaHei" panose="020B0503020204020204" pitchFamily="34" charset="-122"/>
              </a:rPr>
              <a:t>：</a:t>
            </a:r>
            <a:r>
              <a:rPr kumimoji="1" lang="en-US" altLang="zh-CN" sz="1200" dirty="0">
                <a:latin typeface="Microsoft YaHei" panose="020B0503020204020204" pitchFamily="34" charset="-122"/>
                <a:ea typeface="Microsoft YaHei" panose="020B0503020204020204" pitchFamily="34" charset="-122"/>
              </a:rPr>
              <a:t>DB</a:t>
            </a:r>
            <a:r>
              <a:rPr kumimoji="1" lang="zh-CN" altLang="en-US" sz="1200" dirty="0">
                <a:latin typeface="Microsoft YaHei" panose="020B0503020204020204" pitchFamily="34" charset="-122"/>
                <a:ea typeface="Microsoft YaHei" panose="020B0503020204020204" pitchFamily="34" charset="-122"/>
              </a:rPr>
              <a:t>架构</a:t>
            </a:r>
            <a:endParaRPr kumimoji="1" lang="en-US" altLang="zh-CN" sz="1200" dirty="0">
              <a:latin typeface="Microsoft YaHei" panose="020B0503020204020204" pitchFamily="34" charset="-122"/>
              <a:ea typeface="Microsoft YaHei" panose="020B0503020204020204" pitchFamily="34" charset="-122"/>
            </a:endParaRPr>
          </a:p>
          <a:p>
            <a:pPr eaLnBrk="1" hangingPunct="1"/>
            <a:endParaRPr lang="zh-CN" altLang="en-US" dirty="0">
              <a:ea typeface="宋体"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ChangeArrowheads="1" noTextEdit="1"/>
          </p:cNvSpPr>
          <p:nvPr>
            <p:ph type="sldImg"/>
          </p:nvPr>
        </p:nvSpPr>
        <p:spPr>
          <a:xfrm>
            <a:off x="382588" y="685800"/>
            <a:ext cx="6094412" cy="3429000"/>
          </a:xfrm>
          <a:ln/>
        </p:spPr>
      </p:sp>
      <p:sp>
        <p:nvSpPr>
          <p:cNvPr id="57347" name="Rectangle 3"/>
          <p:cNvSpPr>
            <a:spLocks noGrp="1" noChangeArrowheads="1"/>
          </p:cNvSpPr>
          <p:nvPr>
            <p:ph type="body" idx="1"/>
          </p:nvPr>
        </p:nvSpPr>
        <p:spPr bwMode="auto">
          <a:xfrm>
            <a:off x="686367" y="4344301"/>
            <a:ext cx="5486400" cy="4113423"/>
          </a:xfrm>
          <a:prstGeom prst="rect">
            <a:avLst/>
          </a:prstGeom>
          <a:solidFill>
            <a:srgbClr val="FFFFFF"/>
          </a:solidFill>
          <a:ln>
            <a:solidFill>
              <a:srgbClr val="000000"/>
            </a:solidFill>
            <a:miter lim="800000"/>
            <a:headEnd/>
            <a:tailEnd/>
          </a:ln>
        </p:spPr>
        <p:txBody>
          <a:bodyPr/>
          <a:lstStyle/>
          <a:p>
            <a:pPr eaLnBrk="1" hangingPunct="1"/>
            <a:endParaRPr lang="zh-CN" altLang="en-US">
              <a:ea typeface="宋体"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微软雅黑" panose="020B0503020204020204" pitchFamily="34" charset="-122"/>
                <a:ea typeface="微软雅黑" panose="020B0503020204020204" pitchFamily="34" charset="-122"/>
              </a:rPr>
              <a:t>10. </a:t>
            </a:r>
            <a:r>
              <a:rPr lang="zh-CN" altLang="en-US" sz="1200" dirty="0">
                <a:latin typeface="微软雅黑" panose="020B0503020204020204" pitchFamily="34" charset="-122"/>
                <a:ea typeface="微软雅黑" panose="020B0503020204020204" pitchFamily="34" charset="-122"/>
              </a:rPr>
              <a:t>软件兼容性测试</a:t>
            </a:r>
          </a:p>
          <a:p>
            <a:r>
              <a:rPr lang="en-US" altLang="zh-CN" sz="1200" dirty="0">
                <a:latin typeface="微软雅黑" panose="020B0503020204020204" pitchFamily="34" charset="-122"/>
                <a:ea typeface="微软雅黑" panose="020B0503020204020204" pitchFamily="34" charset="-122"/>
              </a:rPr>
              <a:t>11. </a:t>
            </a:r>
            <a:r>
              <a:rPr lang="zh-CN" altLang="en-US" sz="1200" dirty="0">
                <a:latin typeface="微软雅黑" panose="020B0503020204020204" pitchFamily="34" charset="-122"/>
                <a:ea typeface="微软雅黑" panose="020B0503020204020204" pitchFamily="34" charset="-122"/>
              </a:rPr>
              <a:t>全链路压测</a:t>
            </a:r>
          </a:p>
          <a:p>
            <a:r>
              <a:rPr lang="en-US" altLang="zh-CN" sz="1200" dirty="0">
                <a:latin typeface="微软雅黑" panose="020B0503020204020204" pitchFamily="34" charset="-122"/>
                <a:ea typeface="微软雅黑" panose="020B0503020204020204" pitchFamily="34" charset="-122"/>
              </a:rPr>
              <a:t>12</a:t>
            </a:r>
            <a:r>
              <a:rPr lang="zh-CN" altLang="en-US" sz="1200" dirty="0">
                <a:latin typeface="微软雅黑" panose="020B0503020204020204" pitchFamily="34" charset="-122"/>
                <a:ea typeface="微软雅黑" panose="020B0503020204020204" pitchFamily="34" charset="-122"/>
              </a:rPr>
              <a:t> 混沌工程</a:t>
            </a:r>
          </a:p>
          <a:p>
            <a:r>
              <a:rPr lang="en-US" altLang="zh-CN" sz="1200" dirty="0">
                <a:latin typeface="微软雅黑" panose="020B0503020204020204" pitchFamily="34" charset="-122"/>
                <a:ea typeface="微软雅黑" panose="020B0503020204020204" pitchFamily="34" charset="-122"/>
              </a:rPr>
              <a:t>13. </a:t>
            </a:r>
            <a:r>
              <a:rPr lang="en" altLang="zh-CN" sz="1200" dirty="0">
                <a:latin typeface="微软雅黑" panose="020B0503020204020204" pitchFamily="34" charset="-122"/>
                <a:ea typeface="微软雅黑" panose="020B0503020204020204" pitchFamily="34" charset="-122"/>
              </a:rPr>
              <a:t>A/B</a:t>
            </a:r>
            <a:r>
              <a:rPr lang="zh-CN" altLang="en-US" sz="1200" dirty="0">
                <a:latin typeface="微软雅黑" panose="020B0503020204020204" pitchFamily="34" charset="-122"/>
                <a:ea typeface="微软雅黑" panose="020B0503020204020204" pitchFamily="34" charset="-122"/>
              </a:rPr>
              <a:t>测试</a:t>
            </a:r>
          </a:p>
          <a:p>
            <a:pPr marL="342900" lvl="0" indent="-342900" algn="just">
              <a:lnSpc>
                <a:spcPct val="120000"/>
              </a:lnSpc>
              <a:buClr>
                <a:srgbClr val="2E74B5"/>
              </a:buClr>
              <a:buFont typeface="+mj-lt"/>
              <a:buAutoNum type="arabicPeriod"/>
            </a:pP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68</a:t>
            </a:fld>
            <a:endParaRPr lang="zh-CN" altLang="en-US"/>
          </a:p>
        </p:txBody>
      </p:sp>
    </p:spTree>
    <p:extLst>
      <p:ext uri="{BB962C8B-B14F-4D97-AF65-F5344CB8AC3E}">
        <p14:creationId xmlns:p14="http://schemas.microsoft.com/office/powerpoint/2010/main" val="35156757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DDP = </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测试发现的错误数量 </a:t>
            </a:r>
            <a:r>
              <a:rPr lang="en-US" altLang="zh-CN" b="0" i="0" dirty="0">
                <a:solidFill>
                  <a:srgbClr val="1F1F1F"/>
                </a:solidFill>
                <a:effectLst/>
                <a:highlight>
                  <a:srgbClr val="FFFFFF"/>
                </a:highlight>
                <a:latin typeface="微软雅黑" panose="020B0503020204020204" pitchFamily="34" charset="-122"/>
                <a:ea typeface="微软雅黑" panose="020B0503020204020204" pitchFamily="34" charset="-122"/>
              </a:rPr>
              <a:t>/ </a:t>
            </a:r>
            <a:r>
              <a:rPr lang="zh-CN" altLang="en-US" b="0" i="0" dirty="0">
                <a:solidFill>
                  <a:srgbClr val="1F1F1F"/>
                </a:solidFill>
                <a:effectLst/>
                <a:highlight>
                  <a:srgbClr val="FFFFFF"/>
                </a:highlight>
                <a:latin typeface="微软雅黑" panose="020B0503020204020204" pitchFamily="34" charset="-122"/>
                <a:ea typeface="微软雅黑" panose="020B0503020204020204" pitchFamily="34" charset="-122"/>
              </a:rPr>
              <a:t>已知的全部错误数量。其中，已知的全部错误数量是测试已发现的错误数量加上可能会发现的错误数量之和。</a:t>
            </a:r>
            <a:endParaRPr lang="zh-CN" altLang="en-US" sz="1200" kern="0" dirty="0">
              <a:solidFill>
                <a:schemeClr val="tx1">
                  <a:lumMod val="85000"/>
                  <a:lumOff val="15000"/>
                </a:schemeClr>
              </a:solidFill>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kern="0" dirty="0">
              <a:solidFill>
                <a:schemeClr val="tx1">
                  <a:lumMod val="85000"/>
                  <a:lumOff val="15000"/>
                </a:schemeClr>
              </a:solidFill>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kern="0" dirty="0">
              <a:solidFill>
                <a:schemeClr val="tx1">
                  <a:lumMod val="85000"/>
                  <a:lumOff val="15000"/>
                </a:schemeClr>
              </a:solidFill>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kern="0" dirty="0">
              <a:solidFill>
                <a:schemeClr val="tx1">
                  <a:lumMod val="85000"/>
                  <a:lumOff val="15000"/>
                </a:schemeClr>
              </a:solidFill>
              <a:latin typeface="Microsoft YaHei" panose="020B0503020204020204" pitchFamily="34" charset="-122"/>
              <a:ea typeface="Microsoft YaHei"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69</a:t>
            </a:fld>
            <a:endParaRPr lang="zh-CN" altLang="en-US"/>
          </a:p>
        </p:txBody>
      </p:sp>
    </p:spTree>
    <p:extLst>
      <p:ext uri="{BB962C8B-B14F-4D97-AF65-F5344CB8AC3E}">
        <p14:creationId xmlns:p14="http://schemas.microsoft.com/office/powerpoint/2010/main" val="26310505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a:latin typeface="微软雅黑" panose="020B0503020204020204" pitchFamily="34" charset="-122"/>
                <a:ea typeface="微软雅黑" panose="020B0503020204020204" pitchFamily="34" charset="-122"/>
              </a:rPr>
              <a:t>10. </a:t>
            </a:r>
            <a:r>
              <a:rPr lang="zh-CN" altLang="en-US" sz="1200" dirty="0">
                <a:latin typeface="微软雅黑" panose="020B0503020204020204" pitchFamily="34" charset="-122"/>
                <a:ea typeface="微软雅黑" panose="020B0503020204020204" pitchFamily="34" charset="-122"/>
              </a:rPr>
              <a:t>软件兼容性测试</a:t>
            </a:r>
          </a:p>
          <a:p>
            <a:r>
              <a:rPr lang="en-US" altLang="zh-CN" sz="1200" dirty="0">
                <a:latin typeface="微软雅黑" panose="020B0503020204020204" pitchFamily="34" charset="-122"/>
                <a:ea typeface="微软雅黑" panose="020B0503020204020204" pitchFamily="34" charset="-122"/>
              </a:rPr>
              <a:t>11. </a:t>
            </a:r>
            <a:r>
              <a:rPr lang="zh-CN" altLang="en-US" sz="1200" dirty="0">
                <a:latin typeface="微软雅黑" panose="020B0503020204020204" pitchFamily="34" charset="-122"/>
                <a:ea typeface="微软雅黑" panose="020B0503020204020204" pitchFamily="34" charset="-122"/>
              </a:rPr>
              <a:t>全链路压测</a:t>
            </a:r>
          </a:p>
          <a:p>
            <a:r>
              <a:rPr lang="en-US" altLang="zh-CN" sz="1200" dirty="0">
                <a:latin typeface="微软雅黑" panose="020B0503020204020204" pitchFamily="34" charset="-122"/>
                <a:ea typeface="微软雅黑" panose="020B0503020204020204" pitchFamily="34" charset="-122"/>
              </a:rPr>
              <a:t>12</a:t>
            </a:r>
            <a:r>
              <a:rPr lang="zh-CN" altLang="en-US" sz="1200" dirty="0">
                <a:latin typeface="微软雅黑" panose="020B0503020204020204" pitchFamily="34" charset="-122"/>
                <a:ea typeface="微软雅黑" panose="020B0503020204020204" pitchFamily="34" charset="-122"/>
              </a:rPr>
              <a:t> 混沌工程</a:t>
            </a:r>
          </a:p>
          <a:p>
            <a:r>
              <a:rPr lang="en-US" altLang="zh-CN" sz="1200" dirty="0">
                <a:latin typeface="微软雅黑" panose="020B0503020204020204" pitchFamily="34" charset="-122"/>
                <a:ea typeface="微软雅黑" panose="020B0503020204020204" pitchFamily="34" charset="-122"/>
              </a:rPr>
              <a:t>13. </a:t>
            </a:r>
            <a:r>
              <a:rPr lang="en" altLang="zh-CN" sz="1200" dirty="0">
                <a:latin typeface="微软雅黑" panose="020B0503020204020204" pitchFamily="34" charset="-122"/>
                <a:ea typeface="微软雅黑" panose="020B0503020204020204" pitchFamily="34" charset="-122"/>
              </a:rPr>
              <a:t>A/B</a:t>
            </a:r>
            <a:r>
              <a:rPr lang="zh-CN" altLang="en-US" sz="1200" dirty="0">
                <a:latin typeface="微软雅黑" panose="020B0503020204020204" pitchFamily="34" charset="-122"/>
                <a:ea typeface="微软雅黑" panose="020B0503020204020204" pitchFamily="34" charset="-122"/>
              </a:rPr>
              <a:t>测试</a:t>
            </a:r>
          </a:p>
          <a:p>
            <a:pPr marL="342900" lvl="0" indent="-342900" algn="just">
              <a:lnSpc>
                <a:spcPct val="120000"/>
              </a:lnSpc>
              <a:buClr>
                <a:srgbClr val="2E74B5"/>
              </a:buClr>
              <a:buFont typeface="+mj-lt"/>
              <a:buAutoNum type="arabicPeriod"/>
            </a:pPr>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74</a:t>
            </a:fld>
            <a:endParaRPr lang="zh-CN" altLang="en-US"/>
          </a:p>
        </p:txBody>
      </p:sp>
    </p:spTree>
    <p:extLst>
      <p:ext uri="{BB962C8B-B14F-4D97-AF65-F5344CB8AC3E}">
        <p14:creationId xmlns:p14="http://schemas.microsoft.com/office/powerpoint/2010/main" val="19561125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89</a:t>
            </a:fld>
            <a:endParaRPr lang="zh-CN" altLang="en-US"/>
          </a:p>
        </p:txBody>
      </p:sp>
    </p:spTree>
    <p:extLst>
      <p:ext uri="{BB962C8B-B14F-4D97-AF65-F5344CB8AC3E}">
        <p14:creationId xmlns:p14="http://schemas.microsoft.com/office/powerpoint/2010/main" val="40144089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000000"/>
                </a:solidFill>
                <a:effectLst/>
                <a:latin typeface="Microsoft Yahei" panose="020B0503020204020204" pitchFamily="34" charset="-122"/>
                <a:ea typeface="Microsoft Yahei" panose="020B0503020204020204" pitchFamily="34" charset="-122"/>
              </a:rPr>
              <a:t>的朋友戴比上学老是迟到，她想改变这个糟糕的情况，请你提建议。你需要从戴比那儿获得哪些信息才能给她一个好的建议？</a:t>
            </a:r>
          </a:p>
          <a:p>
            <a:pPr algn="l"/>
            <a:r>
              <a:rPr lang="zh-CN" altLang="en-US" b="0" i="0" dirty="0">
                <a:solidFill>
                  <a:srgbClr val="000000"/>
                </a:solidFill>
                <a:effectLst/>
                <a:latin typeface="Microsoft Yahei" panose="020B0503020204020204" pitchFamily="34" charset="-122"/>
                <a:ea typeface="Microsoft Yahei" panose="020B0503020204020204" pitchFamily="34" charset="-122"/>
              </a:rPr>
              <a:t>在老师引导下，孩子们会重点考虑：为什么戴比会经常迟到？或者说，让她迟到的因素有哪些，这些因素哪些能有改变，哪些无法改变？能改变的因素，改进方法有哪些</a:t>
            </a: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100</a:t>
            </a:fld>
            <a:endParaRPr lang="zh-CN" altLang="en-US"/>
          </a:p>
        </p:txBody>
      </p:sp>
    </p:spTree>
    <p:extLst>
      <p:ext uri="{BB962C8B-B14F-4D97-AF65-F5344CB8AC3E}">
        <p14:creationId xmlns:p14="http://schemas.microsoft.com/office/powerpoint/2010/main" val="28113415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每课</a:t>
            </a:r>
            <a:r>
              <a:rPr lang="zh-CN" altLang="en-US" sz="1200" dirty="0">
                <a:solidFill>
                  <a:srgbClr val="FF0000"/>
                </a:solidFill>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结束</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时使用“以上是本节课的内容”</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这一章讲到这里</a:t>
            </a:r>
            <a:r>
              <a:rPr lang="en-US" altLang="zh-CN"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2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endParaRPr kumimoji="1"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102</a:t>
            </a:fld>
            <a:endParaRPr lang="zh-CN" altLang="en-US"/>
          </a:p>
        </p:txBody>
      </p:sp>
    </p:spTree>
    <p:extLst>
      <p:ext uri="{BB962C8B-B14F-4D97-AF65-F5344CB8AC3E}">
        <p14:creationId xmlns:p14="http://schemas.microsoft.com/office/powerpoint/2010/main" val="20986674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jpe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封面2">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D31AA72A-FE2F-1F7F-B206-0A8214FA8C9F}"/>
              </a:ext>
            </a:extLst>
          </p:cNvPr>
          <p:cNvPicPr>
            <a:picLocks noChangeAspect="1"/>
          </p:cNvPicPr>
          <p:nvPr userDrawn="1"/>
        </p:nvPicPr>
        <p:blipFill rotWithShape="1">
          <a:blip r:embed="rId2">
            <a:duotone>
              <a:schemeClr val="accent2">
                <a:shade val="45000"/>
                <a:satMod val="135000"/>
              </a:schemeClr>
              <a:prstClr val="white"/>
            </a:duotone>
          </a:blip>
          <a:srcRect b="2308"/>
          <a:stretch/>
        </p:blipFill>
        <p:spPr>
          <a:xfrm>
            <a:off x="-2" y="6976"/>
            <a:ext cx="9144002" cy="5136524"/>
          </a:xfrm>
          <a:prstGeom prst="rect">
            <a:avLst/>
          </a:prstGeom>
        </p:spPr>
      </p:pic>
      <p:sp>
        <p:nvSpPr>
          <p:cNvPr id="15" name="文本占位符 14"/>
          <p:cNvSpPr>
            <a:spLocks noGrp="1"/>
          </p:cNvSpPr>
          <p:nvPr>
            <p:ph type="body" sz="quarter" idx="13"/>
          </p:nvPr>
        </p:nvSpPr>
        <p:spPr>
          <a:xfrm>
            <a:off x="628650" y="3333947"/>
            <a:ext cx="7886700" cy="685800"/>
          </a:xfrm>
        </p:spPr>
        <p:txBody>
          <a:bodyPr>
            <a:normAutofit/>
          </a:bodyPr>
          <a:lstStyle>
            <a:lvl1pPr marL="0" indent="0" algn="l">
              <a:buNone/>
              <a:defRPr sz="2400" b="0" i="0">
                <a:ln>
                  <a:noFill/>
                </a:ln>
                <a:solidFill>
                  <a:schemeClr val="accent1">
                    <a:lumMod val="60000"/>
                    <a:lumOff val="40000"/>
                  </a:schemeClr>
                </a:solidFill>
                <a:latin typeface="思源黑体 Medium" panose="020B0600000000000000" charset="-122"/>
                <a:ea typeface="思源黑体 Medium" panose="020B0600000000000000" charset="-122"/>
              </a:defRPr>
            </a:lvl1pPr>
            <a:lvl3pPr marL="685800" indent="0">
              <a:buNone/>
              <a:defRPr/>
            </a:lvl3pPr>
          </a:lstStyle>
          <a:p>
            <a:pPr lvl="0"/>
            <a:endParaRPr kumimoji="1" lang="zh-CN" altLang="en-US" dirty="0"/>
          </a:p>
        </p:txBody>
      </p:sp>
      <p:sp>
        <p:nvSpPr>
          <p:cNvPr id="19" name="标题 18"/>
          <p:cNvSpPr>
            <a:spLocks noGrp="1"/>
          </p:cNvSpPr>
          <p:nvPr>
            <p:ph type="title"/>
          </p:nvPr>
        </p:nvSpPr>
        <p:spPr>
          <a:xfrm>
            <a:off x="628650" y="2092075"/>
            <a:ext cx="7886700" cy="994172"/>
          </a:xfrm>
        </p:spPr>
        <p:txBody>
          <a:bodyPr>
            <a:normAutofit/>
          </a:bodyPr>
          <a:lstStyle>
            <a:lvl1pPr algn="l">
              <a:defRPr sz="4800" b="0" i="0">
                <a:solidFill>
                  <a:schemeClr val="bg1"/>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8" name="组合 10"/>
          <p:cNvGrpSpPr/>
          <p:nvPr userDrawn="1"/>
        </p:nvGrpSpPr>
        <p:grpSpPr>
          <a:xfrm>
            <a:off x="628651" y="1905306"/>
            <a:ext cx="4936937" cy="1363896"/>
            <a:chOff x="2666198" y="2543397"/>
            <a:chExt cx="7199697" cy="1316333"/>
          </a:xfrm>
        </p:grpSpPr>
        <p:cxnSp>
          <p:nvCxnSpPr>
            <p:cNvPr id="9" name="直线连接符 8"/>
            <p:cNvCxnSpPr/>
            <p:nvPr userDrawn="1"/>
          </p:nvCxnSpPr>
          <p:spPr>
            <a:xfrm>
              <a:off x="2666198" y="2543397"/>
              <a:ext cx="719969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直线连接符 9"/>
            <p:cNvCxnSpPr/>
            <p:nvPr userDrawn="1"/>
          </p:nvCxnSpPr>
          <p:spPr>
            <a:xfrm>
              <a:off x="2666198" y="3859730"/>
              <a:ext cx="7199697" cy="0"/>
            </a:xfrm>
            <a:prstGeom prst="line">
              <a:avLst/>
            </a:prstGeom>
            <a:ln>
              <a:solidFill>
                <a:srgbClr val="8FAADC"/>
              </a:solidFill>
            </a:ln>
          </p:spPr>
          <p:style>
            <a:lnRef idx="1">
              <a:schemeClr val="accent1"/>
            </a:lnRef>
            <a:fillRef idx="0">
              <a:schemeClr val="accent1"/>
            </a:fillRef>
            <a:effectRef idx="0">
              <a:schemeClr val="accent1"/>
            </a:effectRef>
            <a:fontRef idx="minor">
              <a:schemeClr val="tx1"/>
            </a:fontRef>
          </p:style>
        </p:cxnSp>
      </p:grpSp>
      <p:sp>
        <p:nvSpPr>
          <p:cNvPr id="13" name="文本占位符 14"/>
          <p:cNvSpPr>
            <a:spLocks noGrp="1"/>
          </p:cNvSpPr>
          <p:nvPr>
            <p:ph type="body" sz="quarter" idx="14"/>
          </p:nvPr>
        </p:nvSpPr>
        <p:spPr>
          <a:xfrm>
            <a:off x="628650" y="4357416"/>
            <a:ext cx="7886700" cy="326643"/>
          </a:xfrm>
        </p:spPr>
        <p:txBody>
          <a:bodyPr>
            <a:normAutofit/>
          </a:bodyPr>
          <a:lstStyle>
            <a:lvl1pPr marL="0" indent="0" algn="r">
              <a:buNone/>
              <a:defRPr sz="1400" b="0" i="0">
                <a:ln>
                  <a:noFill/>
                </a:ln>
                <a:solidFill>
                  <a:schemeClr val="accent1">
                    <a:lumMod val="60000"/>
                    <a:lumOff val="40000"/>
                  </a:schemeClr>
                </a:solidFill>
                <a:latin typeface="思源黑体 Medium" panose="020B0600000000000000" charset="-122"/>
                <a:ea typeface="思源黑体 Medium" panose="020B0600000000000000" charset="-122"/>
              </a:defRPr>
            </a:lvl1pPr>
            <a:lvl3pPr marL="685800" indent="0">
              <a:buNone/>
              <a:defRPr/>
            </a:lvl3pPr>
          </a:lstStyle>
          <a:p>
            <a:pPr lvl="0"/>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a:buClr>
                <a:schemeClr val="accent4"/>
              </a:buClr>
              <a:buFontTx/>
              <a:buNone/>
              <a:defRPr sz="2800" b="0" i="0">
                <a:solidFill>
                  <a:srgbClr val="242C52"/>
                </a:solidFill>
                <a:latin typeface="思源黑体 Medium" panose="020B0600000000000000" charset="-122"/>
                <a:ea typeface="思源黑体 Medium" panose="020B0600000000000000"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18" name="矩形 17"/>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pic>
        <p:nvPicPr>
          <p:cNvPr id="2" name="图片 1">
            <a:extLst>
              <a:ext uri="{FF2B5EF4-FFF2-40B4-BE49-F238E27FC236}">
                <a16:creationId xmlns:a16="http://schemas.microsoft.com/office/drawing/2014/main" id="{A277AB5A-2027-948E-5659-35FA3C398FC7}"/>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defTabSz="685800" rtl="0" eaLnBrk="1" latinLnBrk="0" hangingPunct="1">
              <a:lnSpc>
                <a:spcPct val="90000"/>
              </a:lnSpc>
              <a:spcBef>
                <a:spcPct val="0"/>
              </a:spcBef>
              <a:buClr>
                <a:schemeClr val="accent4"/>
              </a:buClr>
              <a:buFontTx/>
              <a:buNone/>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pic>
        <p:nvPicPr>
          <p:cNvPr id="2" name="图片 1">
            <a:extLst>
              <a:ext uri="{FF2B5EF4-FFF2-40B4-BE49-F238E27FC236}">
                <a16:creationId xmlns:a16="http://schemas.microsoft.com/office/drawing/2014/main" id="{2180E710-DC63-F434-40DE-02365645191E}"/>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8161119" cy="523875"/>
          </a:xfrm>
        </p:spPr>
        <p:txBody>
          <a:bodyPr>
            <a:noAutofit/>
          </a:bodyPr>
          <a:lstStyle>
            <a:lvl1pPr marL="0" indent="0" algn="l">
              <a:buClr>
                <a:schemeClr val="accent4"/>
              </a:buClr>
              <a:buFontTx/>
              <a:buNone/>
              <a:defRPr sz="2800" b="1" i="0">
                <a:solidFill>
                  <a:srgbClr val="0070C0"/>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8" name="文本占位符 26"/>
          <p:cNvSpPr>
            <a:spLocks noGrp="1"/>
          </p:cNvSpPr>
          <p:nvPr>
            <p:ph type="body" sz="quarter" idx="10" hasCustomPrompt="1"/>
          </p:nvPr>
        </p:nvSpPr>
        <p:spPr>
          <a:xfrm>
            <a:off x="582038" y="1278636"/>
            <a:ext cx="7128035" cy="2233865"/>
          </a:xfrm>
        </p:spPr>
        <p:txBody>
          <a:bodyPr/>
          <a:lstStyle>
            <a:lvl1pPr marL="171450" indent="-171450">
              <a:lnSpc>
                <a:spcPct val="150000"/>
              </a:lnSpc>
              <a:buClr>
                <a:srgbClr val="FFC600"/>
              </a:buClr>
              <a:buSzPct val="100000"/>
              <a:buFont typeface="Arial" panose="020B0604020202020204"/>
              <a:buChar char="•"/>
              <a:defRPr sz="2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
        <p:nvSpPr>
          <p:cNvPr id="11" name="矩形 10"/>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3" name="图片 2">
            <a:extLst>
              <a:ext uri="{FF2B5EF4-FFF2-40B4-BE49-F238E27FC236}">
                <a16:creationId xmlns:a16="http://schemas.microsoft.com/office/drawing/2014/main" id="{3AE9EF5C-CB56-40EE-620D-C8B40FB83375}"/>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章节页">
    <p:spTree>
      <p:nvGrpSpPr>
        <p:cNvPr id="1" name=""/>
        <p:cNvGrpSpPr/>
        <p:nvPr/>
      </p:nvGrpSpPr>
      <p:grpSpPr>
        <a:xfrm>
          <a:off x="0" y="0"/>
          <a:ext cx="0" cy="0"/>
          <a:chOff x="0" y="0"/>
          <a:chExt cx="0" cy="0"/>
        </a:xfrm>
      </p:grpSpPr>
      <p:sp>
        <p:nvSpPr>
          <p:cNvPr id="17" name="矩形 16"/>
          <p:cNvSpPr/>
          <p:nvPr userDrawn="1"/>
        </p:nvSpPr>
        <p:spPr>
          <a:xfrm>
            <a:off x="0" y="2124074"/>
            <a:ext cx="9144000" cy="886279"/>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sp>
        <p:nvSpPr>
          <p:cNvPr id="19" name="标题 18"/>
          <p:cNvSpPr>
            <a:spLocks noGrp="1"/>
          </p:cNvSpPr>
          <p:nvPr>
            <p:ph type="title"/>
          </p:nvPr>
        </p:nvSpPr>
        <p:spPr>
          <a:xfrm>
            <a:off x="1007986" y="2115004"/>
            <a:ext cx="7128035" cy="895350"/>
          </a:xfrm>
        </p:spPr>
        <p:txBody>
          <a:bodyPr>
            <a:normAutofit/>
          </a:bodyPr>
          <a:lstStyle>
            <a:lvl1pPr marL="0" indent="0" algn="ctr">
              <a:buClr>
                <a:schemeClr val="accent4"/>
              </a:buClr>
              <a:buFontTx/>
              <a:buNone/>
              <a:defRPr sz="3600" b="0" i="0">
                <a:solidFill>
                  <a:schemeClr val="bg1"/>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5" name="组 4"/>
          <p:cNvGrpSpPr/>
          <p:nvPr userDrawn="1"/>
        </p:nvGrpSpPr>
        <p:grpSpPr>
          <a:xfrm>
            <a:off x="-240" y="2307068"/>
            <a:ext cx="9149737" cy="529364"/>
            <a:chOff x="-240" y="2284885"/>
            <a:chExt cx="9149737" cy="529364"/>
          </a:xfrm>
        </p:grpSpPr>
        <p:grpSp>
          <p:nvGrpSpPr>
            <p:cNvPr id="3" name="组 2"/>
            <p:cNvGrpSpPr/>
            <p:nvPr userDrawn="1"/>
          </p:nvGrpSpPr>
          <p:grpSpPr>
            <a:xfrm>
              <a:off x="-240" y="2284885"/>
              <a:ext cx="263291" cy="529364"/>
              <a:chOff x="-240" y="2284885"/>
              <a:chExt cx="263291" cy="529364"/>
            </a:xfrm>
          </p:grpSpPr>
          <p:sp>
            <p:nvSpPr>
              <p:cNvPr id="13" name="五边形 12"/>
              <p:cNvSpPr/>
              <p:nvPr userDrawn="1"/>
            </p:nvSpPr>
            <p:spPr>
              <a:xfrm>
                <a:off x="-240" y="2284885"/>
                <a:ext cx="263291" cy="529364"/>
              </a:xfrm>
              <a:prstGeom prst="homePlate">
                <a:avLst>
                  <a:gd name="adj" fmla="val 100000"/>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lang="zh-CN" altLang="en-US" b="0" dirty="0">
                  <a:latin typeface="思源黑体" panose="020F0502020204030204" charset="-122"/>
                  <a:ea typeface="思源黑体" panose="020F0502020204030204" charset="-122"/>
                  <a:cs typeface="思源黑体" panose="020F0502020204030204" charset="-122"/>
                </a:endParaRPr>
              </a:p>
            </p:txBody>
          </p:sp>
          <p:sp>
            <p:nvSpPr>
              <p:cNvPr id="2" name="五边形 1"/>
              <p:cNvSpPr/>
              <p:nvPr userDrawn="1"/>
            </p:nvSpPr>
            <p:spPr>
              <a:xfrm>
                <a:off x="-240" y="2384919"/>
                <a:ext cx="163782" cy="329296"/>
              </a:xfrm>
              <a:prstGeom prst="homePlate">
                <a:avLst>
                  <a:gd name="adj" fmla="val 100000"/>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just"/>
                <a:endParaRPr kumimoji="1" lang="zh-CN" altLang="en-US" b="0" dirty="0">
                  <a:latin typeface="思源黑体" panose="020F0502020204030204" charset="-122"/>
                  <a:ea typeface="思源黑体" panose="020F0502020204030204" charset="-122"/>
                  <a:cs typeface="思源黑体" panose="020F0502020204030204" charset="-122"/>
                </a:endParaRPr>
              </a:p>
            </p:txBody>
          </p:sp>
        </p:grpSp>
        <p:grpSp>
          <p:nvGrpSpPr>
            <p:cNvPr id="4" name="组 3"/>
            <p:cNvGrpSpPr/>
            <p:nvPr userDrawn="1"/>
          </p:nvGrpSpPr>
          <p:grpSpPr>
            <a:xfrm>
              <a:off x="8890573" y="2284885"/>
              <a:ext cx="258924" cy="529364"/>
              <a:chOff x="8890573" y="2284885"/>
              <a:chExt cx="258924" cy="529364"/>
            </a:xfrm>
          </p:grpSpPr>
          <p:sp>
            <p:nvSpPr>
              <p:cNvPr id="18" name="五边形 17"/>
              <p:cNvSpPr/>
              <p:nvPr userDrawn="1"/>
            </p:nvSpPr>
            <p:spPr>
              <a:xfrm flipH="1">
                <a:off x="8890573" y="2284885"/>
                <a:ext cx="258924" cy="529364"/>
              </a:xfrm>
              <a:prstGeom prst="homePlate">
                <a:avLst>
                  <a:gd name="adj" fmla="val 100000"/>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20" name="五边形 19"/>
              <p:cNvSpPr/>
              <p:nvPr userDrawn="1"/>
            </p:nvSpPr>
            <p:spPr>
              <a:xfrm flipH="1">
                <a:off x="8988431" y="2384919"/>
                <a:ext cx="161066" cy="329296"/>
              </a:xfrm>
              <a:prstGeom prst="homePlate">
                <a:avLst>
                  <a:gd name="adj" fmla="val 100000"/>
                </a:avLst>
              </a:prstGeom>
              <a:solidFill>
                <a:schemeClr val="accent1">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重点强调标语">
    <p:spTree>
      <p:nvGrpSpPr>
        <p:cNvPr id="1" name=""/>
        <p:cNvGrpSpPr/>
        <p:nvPr/>
      </p:nvGrpSpPr>
      <p:grpSpPr>
        <a:xfrm>
          <a:off x="0" y="0"/>
          <a:ext cx="0" cy="0"/>
          <a:chOff x="0" y="0"/>
          <a:chExt cx="0" cy="0"/>
        </a:xfrm>
      </p:grpSpPr>
      <p:sp>
        <p:nvSpPr>
          <p:cNvPr id="19" name="标题 18"/>
          <p:cNvSpPr>
            <a:spLocks noGrp="1"/>
          </p:cNvSpPr>
          <p:nvPr>
            <p:ph type="title"/>
          </p:nvPr>
        </p:nvSpPr>
        <p:spPr>
          <a:xfrm>
            <a:off x="1007986" y="2124075"/>
            <a:ext cx="7128035" cy="895350"/>
          </a:xfrm>
        </p:spPr>
        <p:txBody>
          <a:bodyPr>
            <a:normAutofit/>
          </a:bodyPr>
          <a:lstStyle>
            <a:lvl1pPr marL="0" indent="0" algn="ctr">
              <a:buClr>
                <a:schemeClr val="accent4"/>
              </a:buClr>
              <a:buFontTx/>
              <a:buNone/>
              <a:defRPr sz="3600" b="0" i="0">
                <a:solidFill>
                  <a:srgbClr val="242C52"/>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10" name="组合 10"/>
          <p:cNvGrpSpPr/>
          <p:nvPr userDrawn="1"/>
        </p:nvGrpSpPr>
        <p:grpSpPr>
          <a:xfrm>
            <a:off x="1833613" y="2078125"/>
            <a:ext cx="5637998" cy="987250"/>
            <a:chOff x="2666198" y="2543397"/>
            <a:chExt cx="7199697" cy="1316333"/>
          </a:xfrm>
        </p:grpSpPr>
        <p:cxnSp>
          <p:nvCxnSpPr>
            <p:cNvPr id="11" name="直线连接符 10"/>
            <p:cNvCxnSpPr/>
            <p:nvPr userDrawn="1"/>
          </p:nvCxnSpPr>
          <p:spPr>
            <a:xfrm>
              <a:off x="2666198" y="2543397"/>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userDrawn="1"/>
          </p:nvCxnSpPr>
          <p:spPr>
            <a:xfrm>
              <a:off x="2666198" y="3859730"/>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grpSp>
      <p:sp>
        <p:nvSpPr>
          <p:cNvPr id="16" name="矩形 15"/>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pic>
        <p:nvPicPr>
          <p:cNvPr id="2" name="图片 1">
            <a:extLst>
              <a:ext uri="{FF2B5EF4-FFF2-40B4-BE49-F238E27FC236}">
                <a16:creationId xmlns:a16="http://schemas.microsoft.com/office/drawing/2014/main" id="{319C152E-C22C-B6CC-FB0A-FBCC5CB1A9A0}"/>
              </a:ext>
            </a:extLst>
          </p:cNvPr>
          <p:cNvPicPr>
            <a:picLocks noChangeAspect="1"/>
          </p:cNvPicPr>
          <p:nvPr userDrawn="1"/>
        </p:nvPicPr>
        <p:blipFill>
          <a:blip r:embed="rId2"/>
          <a:stretch>
            <a:fillRect/>
          </a:stretch>
        </p:blipFill>
        <p:spPr>
          <a:xfrm>
            <a:off x="7502253" y="4579468"/>
            <a:ext cx="1519827" cy="38694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重点强调标语">
    <p:spTree>
      <p:nvGrpSpPr>
        <p:cNvPr id="1" name=""/>
        <p:cNvGrpSpPr/>
        <p:nvPr/>
      </p:nvGrpSpPr>
      <p:grpSpPr>
        <a:xfrm>
          <a:off x="0" y="0"/>
          <a:ext cx="0" cy="0"/>
          <a:chOff x="0" y="0"/>
          <a:chExt cx="0" cy="0"/>
        </a:xfrm>
      </p:grpSpPr>
      <p:sp>
        <p:nvSpPr>
          <p:cNvPr id="19" name="标题 18"/>
          <p:cNvSpPr>
            <a:spLocks noGrp="1"/>
          </p:cNvSpPr>
          <p:nvPr>
            <p:ph type="title"/>
          </p:nvPr>
        </p:nvSpPr>
        <p:spPr>
          <a:xfrm>
            <a:off x="1007986" y="2124075"/>
            <a:ext cx="7128035" cy="895350"/>
          </a:xfrm>
        </p:spPr>
        <p:txBody>
          <a:bodyPr>
            <a:normAutofit/>
          </a:bodyPr>
          <a:lstStyle>
            <a:lvl1pPr marL="0" indent="0" algn="ctr">
              <a:buClr>
                <a:schemeClr val="accent4"/>
              </a:buClr>
              <a:buFontTx/>
              <a:buNone/>
              <a:defRPr sz="3600" b="0" i="0">
                <a:solidFill>
                  <a:srgbClr val="242C52"/>
                </a:solidFill>
                <a:latin typeface="思源黑体 Bold" panose="020B0800000000000000" charset="-122"/>
                <a:ea typeface="思源黑体 Bold" panose="020B0800000000000000" charset="-122"/>
              </a:defRPr>
            </a:lvl1pPr>
          </a:lstStyle>
          <a:p>
            <a:r>
              <a:rPr kumimoji="1" lang="zh-CN" altLang="en-US" dirty="0"/>
              <a:t>单击此处编辑母版标题样式</a:t>
            </a:r>
          </a:p>
        </p:txBody>
      </p:sp>
      <p:grpSp>
        <p:nvGrpSpPr>
          <p:cNvPr id="10" name="组合 10"/>
          <p:cNvGrpSpPr/>
          <p:nvPr userDrawn="1"/>
        </p:nvGrpSpPr>
        <p:grpSpPr>
          <a:xfrm>
            <a:off x="1833613" y="2078125"/>
            <a:ext cx="5637998" cy="987250"/>
            <a:chOff x="2666198" y="2543397"/>
            <a:chExt cx="7199697" cy="1316333"/>
          </a:xfrm>
        </p:grpSpPr>
        <p:cxnSp>
          <p:nvCxnSpPr>
            <p:cNvPr id="11" name="直线连接符 10"/>
            <p:cNvCxnSpPr/>
            <p:nvPr userDrawn="1"/>
          </p:nvCxnSpPr>
          <p:spPr>
            <a:xfrm>
              <a:off x="2666198" y="2543397"/>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userDrawn="1"/>
          </p:nvCxnSpPr>
          <p:spPr>
            <a:xfrm>
              <a:off x="2666198" y="3859730"/>
              <a:ext cx="7199697" cy="0"/>
            </a:xfrm>
            <a:prstGeom prst="line">
              <a:avLst/>
            </a:prstGeom>
            <a:ln>
              <a:solidFill>
                <a:srgbClr val="6880B1"/>
              </a:solidFill>
            </a:ln>
          </p:spPr>
          <p:style>
            <a:lnRef idx="1">
              <a:schemeClr val="accent1"/>
            </a:lnRef>
            <a:fillRef idx="0">
              <a:schemeClr val="accent1"/>
            </a:fillRef>
            <a:effectRef idx="0">
              <a:schemeClr val="accent1"/>
            </a:effectRef>
            <a:fontRef idx="minor">
              <a:schemeClr val="tx1"/>
            </a:fontRef>
          </p:style>
        </p:cxnSp>
      </p:grpSp>
      <p:sp>
        <p:nvSpPr>
          <p:cNvPr id="7" name="矩形 6"/>
          <p:cNvSpPr/>
          <p:nvPr userDrawn="1"/>
        </p:nvSpPr>
        <p:spPr>
          <a:xfrm>
            <a:off x="0" y="4235824"/>
            <a:ext cx="9144000" cy="907676"/>
          </a:xfrm>
          <a:prstGeom prst="rect">
            <a:avLst/>
          </a:prstGeom>
          <a:solidFill>
            <a:srgbClr val="242C5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8" name="图片 7" descr="形状 3.png"/>
          <p:cNvPicPr>
            <a:picLocks noChangeAspect="1"/>
          </p:cNvPicPr>
          <p:nvPr userDrawn="1"/>
        </p:nvPicPr>
        <p:blipFill>
          <a:blip r:embed="rId2">
            <a:alphaModFix amt="64000"/>
            <a:extLst>
              <a:ext uri="{28A0092B-C50C-407E-A947-70E740481C1C}">
                <a14:useLocalDpi xmlns:a14="http://schemas.microsoft.com/office/drawing/2010/main" val="0"/>
              </a:ext>
            </a:extLst>
          </a:blip>
          <a:stretch>
            <a:fillRect/>
          </a:stretch>
        </p:blipFill>
        <p:spPr>
          <a:xfrm>
            <a:off x="0" y="4235824"/>
            <a:ext cx="9144000" cy="907676"/>
          </a:xfrm>
          <a:prstGeom prst="rect">
            <a:avLst/>
          </a:prstGeom>
        </p:spPr>
      </p:pic>
      <p:pic>
        <p:nvPicPr>
          <p:cNvPr id="2" name="图片 1">
            <a:extLst>
              <a:ext uri="{FF2B5EF4-FFF2-40B4-BE49-F238E27FC236}">
                <a16:creationId xmlns:a16="http://schemas.microsoft.com/office/drawing/2014/main" id="{0D092D88-14E1-CBCB-42A3-ACAEF467D7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87379" y="4536170"/>
            <a:ext cx="1417284" cy="47242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案例">
    <p:spTree>
      <p:nvGrpSpPr>
        <p:cNvPr id="1" name=""/>
        <p:cNvGrpSpPr/>
        <p:nvPr/>
      </p:nvGrpSpPr>
      <p:grpSpPr>
        <a:xfrm>
          <a:off x="0" y="0"/>
          <a:ext cx="0" cy="0"/>
          <a:chOff x="0" y="0"/>
          <a:chExt cx="0" cy="0"/>
        </a:xfrm>
      </p:grpSpPr>
      <p:sp>
        <p:nvSpPr>
          <p:cNvPr id="7" name="矩形 6"/>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3" name="圆角矩形 2"/>
          <p:cNvSpPr/>
          <p:nvPr userDrawn="1"/>
        </p:nvSpPr>
        <p:spPr>
          <a:xfrm>
            <a:off x="-67310" y="357505"/>
            <a:ext cx="1522095" cy="341630"/>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案</a:t>
            </a: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例</a:t>
            </a:r>
          </a:p>
        </p:txBody>
      </p:sp>
      <p:sp>
        <p:nvSpPr>
          <p:cNvPr id="4" name="圆角矩形 3"/>
          <p:cNvSpPr/>
          <p:nvPr userDrawn="1"/>
        </p:nvSpPr>
        <p:spPr>
          <a:xfrm>
            <a:off x="1387552" y="357173"/>
            <a:ext cx="67456" cy="341703"/>
          </a:xfrm>
          <a:prstGeom prst="roundRect">
            <a:avLst>
              <a:gd name="adj" fmla="val 10047"/>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pic>
        <p:nvPicPr>
          <p:cNvPr id="2" name="图片 1" descr="32303038313139313b32303038313039333bb5e7c4d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740" y="395605"/>
            <a:ext cx="264795" cy="264795"/>
          </a:xfrm>
          <a:prstGeom prst="rect">
            <a:avLst/>
          </a:prstGeom>
        </p:spPr>
      </p:pic>
      <p:sp>
        <p:nvSpPr>
          <p:cNvPr id="9" name="流程图: 内部贮存 8"/>
          <p:cNvSpPr/>
          <p:nvPr userDrawn="1"/>
        </p:nvSpPr>
        <p:spPr>
          <a:xfrm>
            <a:off x="127000" y="450215"/>
            <a:ext cx="167640" cy="76200"/>
          </a:xfrm>
          <a:prstGeom prst="flowChartInternal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6FC06AE3-40B3-E8B3-FA9C-9A6C00352A7A}"/>
              </a:ext>
            </a:extLst>
          </p:cNvPr>
          <p:cNvPicPr>
            <a:picLocks noChangeAspect="1"/>
          </p:cNvPicPr>
          <p:nvPr userDrawn="1"/>
        </p:nvPicPr>
        <p:blipFill>
          <a:blip r:embed="rId4"/>
          <a:stretch>
            <a:fillRect/>
          </a:stretch>
        </p:blipFill>
        <p:spPr>
          <a:xfrm>
            <a:off x="7502253" y="4579468"/>
            <a:ext cx="1519827" cy="386943"/>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空白底">
    <p:spTree>
      <p:nvGrpSpPr>
        <p:cNvPr id="1" name=""/>
        <p:cNvGrpSpPr/>
        <p:nvPr/>
      </p:nvGrpSpPr>
      <p:grpSpPr>
        <a:xfrm>
          <a:off x="0" y="0"/>
          <a:ext cx="0" cy="0"/>
          <a:chOff x="0" y="0"/>
          <a:chExt cx="0" cy="0"/>
        </a:xfrm>
      </p:grpSpPr>
      <p:sp>
        <p:nvSpPr>
          <p:cNvPr id="5" name="矩形 4"/>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sp>
        <p:nvSpPr>
          <p:cNvPr id="11" name="圆角矩形 10"/>
          <p:cNvSpPr/>
          <p:nvPr userDrawn="1"/>
        </p:nvSpPr>
        <p:spPr>
          <a:xfrm>
            <a:off x="-67310" y="357505"/>
            <a:ext cx="1522095" cy="341630"/>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实</a:t>
            </a:r>
            <a:r>
              <a:rPr kumimoji="1" lang="en-US" altLang="zh-CN"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 </a:t>
            </a:r>
            <a:r>
              <a:rPr kumimoji="1" lang="zh-CN" altLang="en-US" sz="2400" b="1" i="0"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践</a:t>
            </a:r>
          </a:p>
        </p:txBody>
      </p:sp>
      <p:sp>
        <p:nvSpPr>
          <p:cNvPr id="15" name="圆角矩形 14"/>
          <p:cNvSpPr/>
          <p:nvPr userDrawn="1"/>
        </p:nvSpPr>
        <p:spPr>
          <a:xfrm>
            <a:off x="1387552" y="357173"/>
            <a:ext cx="67456" cy="341703"/>
          </a:xfrm>
          <a:prstGeom prst="roundRect">
            <a:avLst>
              <a:gd name="adj" fmla="val 10047"/>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pic>
        <p:nvPicPr>
          <p:cNvPr id="4" name="图片 3" descr="303b32303039333133313bb7c5b4f3"/>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105" y="381000"/>
            <a:ext cx="318135" cy="318135"/>
          </a:xfrm>
          <a:prstGeom prst="rect">
            <a:avLst/>
          </a:prstGeom>
        </p:spPr>
      </p:pic>
      <p:pic>
        <p:nvPicPr>
          <p:cNvPr id="2" name="图片 1">
            <a:extLst>
              <a:ext uri="{FF2B5EF4-FFF2-40B4-BE49-F238E27FC236}">
                <a16:creationId xmlns:a16="http://schemas.microsoft.com/office/drawing/2014/main" id="{B4D81FDB-2A3A-FEBF-FBCB-1476EFCE8329}"/>
              </a:ext>
            </a:extLst>
          </p:cNvPr>
          <p:cNvPicPr>
            <a:picLocks noChangeAspect="1"/>
          </p:cNvPicPr>
          <p:nvPr userDrawn="1"/>
        </p:nvPicPr>
        <p:blipFill>
          <a:blip r:embed="rId4"/>
          <a:stretch>
            <a:fillRect/>
          </a:stretch>
        </p:blipFill>
        <p:spPr>
          <a:xfrm>
            <a:off x="7502253" y="4579468"/>
            <a:ext cx="1519827" cy="386943"/>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1_空白底">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97E0749-825C-807E-623C-309EBA42149C}"/>
              </a:ext>
            </a:extLst>
          </p:cNvPr>
          <p:cNvPicPr>
            <a:picLocks noChangeAspect="1"/>
          </p:cNvPicPr>
          <p:nvPr userDrawn="1"/>
        </p:nvPicPr>
        <p:blipFill>
          <a:blip r:embed="rId2"/>
          <a:stretch>
            <a:fillRect/>
          </a:stretch>
        </p:blipFill>
        <p:spPr>
          <a:xfrm>
            <a:off x="7493707" y="4673472"/>
            <a:ext cx="1519827" cy="386943"/>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结束语页">
    <p:spTree>
      <p:nvGrpSpPr>
        <p:cNvPr id="1" name=""/>
        <p:cNvGrpSpPr/>
        <p:nvPr/>
      </p:nvGrpSpPr>
      <p:grpSpPr>
        <a:xfrm>
          <a:off x="0" y="0"/>
          <a:ext cx="0" cy="0"/>
          <a:chOff x="0" y="0"/>
          <a:chExt cx="0" cy="0"/>
        </a:xfrm>
      </p:grpSpPr>
      <p:pic>
        <p:nvPicPr>
          <p:cNvPr id="4" name="图片 3" descr="企业服务VI系统-19.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32773"/>
            <a:ext cx="9144000" cy="5200855"/>
          </a:xfrm>
          <a:prstGeom prst="rect">
            <a:avLst/>
          </a:prstGeom>
        </p:spPr>
      </p:pic>
      <p:grpSp>
        <p:nvGrpSpPr>
          <p:cNvPr id="5" name="组合 4"/>
          <p:cNvGrpSpPr/>
          <p:nvPr userDrawn="1"/>
        </p:nvGrpSpPr>
        <p:grpSpPr>
          <a:xfrm>
            <a:off x="2485330" y="1907549"/>
            <a:ext cx="4173344" cy="1338513"/>
            <a:chOff x="2666197" y="2543397"/>
            <a:chExt cx="7199698" cy="1784684"/>
          </a:xfrm>
        </p:grpSpPr>
        <p:cxnSp>
          <p:nvCxnSpPr>
            <p:cNvPr id="6" name="直线连接符 5"/>
            <p:cNvCxnSpPr/>
            <p:nvPr userDrawn="1"/>
          </p:nvCxnSpPr>
          <p:spPr>
            <a:xfrm>
              <a:off x="2666198" y="2543397"/>
              <a:ext cx="719969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userDrawn="1"/>
          </p:nvCxnSpPr>
          <p:spPr>
            <a:xfrm>
              <a:off x="2666197" y="4328081"/>
              <a:ext cx="7199697" cy="0"/>
            </a:xfrm>
            <a:prstGeom prst="line">
              <a:avLst/>
            </a:prstGeom>
            <a:ln>
              <a:solidFill>
                <a:srgbClr val="FFC000"/>
              </a:solidFill>
            </a:ln>
          </p:spPr>
          <p:style>
            <a:lnRef idx="1">
              <a:schemeClr val="accent1"/>
            </a:lnRef>
            <a:fillRef idx="0">
              <a:schemeClr val="accent1"/>
            </a:fillRef>
            <a:effectRef idx="0">
              <a:schemeClr val="accent1"/>
            </a:effectRef>
            <a:fontRef idx="minor">
              <a:schemeClr val="tx1"/>
            </a:fontRef>
          </p:style>
        </p:cxnSp>
      </p:grpSp>
      <p:sp>
        <p:nvSpPr>
          <p:cNvPr id="8" name="标题 18"/>
          <p:cNvSpPr>
            <a:spLocks noGrp="1"/>
          </p:cNvSpPr>
          <p:nvPr>
            <p:ph type="title"/>
          </p:nvPr>
        </p:nvSpPr>
        <p:spPr>
          <a:xfrm>
            <a:off x="688206" y="2074664"/>
            <a:ext cx="7886700" cy="994172"/>
          </a:xfrm>
        </p:spPr>
        <p:txBody>
          <a:bodyPr>
            <a:noAutofit/>
          </a:bodyPr>
          <a:lstStyle>
            <a:lvl1pPr algn="ctr">
              <a:defRPr sz="4800" b="0" i="0">
                <a:solidFill>
                  <a:schemeClr val="accent1">
                    <a:lumMod val="60000"/>
                    <a:lumOff val="40000"/>
                  </a:schemeClr>
                </a:solidFill>
                <a:latin typeface="思源黑体 Medium" panose="020B0600000000000000" charset="-122"/>
                <a:ea typeface="思源黑体 Medium" panose="020B0600000000000000" charset="-122"/>
              </a:defRPr>
            </a:lvl1pPr>
          </a:lstStyle>
          <a:p>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2_封面2">
    <p:spTree>
      <p:nvGrpSpPr>
        <p:cNvPr id="1" name=""/>
        <p:cNvGrpSpPr/>
        <p:nvPr/>
      </p:nvGrpSpPr>
      <p:grpSpPr>
        <a:xfrm>
          <a:off x="0" y="0"/>
          <a:ext cx="0" cy="0"/>
          <a:chOff x="0" y="0"/>
          <a:chExt cx="0" cy="0"/>
        </a:xfrm>
      </p:grpSpPr>
      <p:sp>
        <p:nvSpPr>
          <p:cNvPr id="2" name="矩形 1"/>
          <p:cNvSpPr/>
          <p:nvPr userDrawn="1"/>
        </p:nvSpPr>
        <p:spPr>
          <a:xfrm>
            <a:off x="-65548" y="-62094"/>
            <a:ext cx="9209548" cy="5205594"/>
          </a:xfrm>
          <a:prstGeom prst="rect">
            <a:avLst/>
          </a:prstGeom>
          <a:solidFill>
            <a:srgbClr val="202B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latin typeface="思源黑体" panose="020F0502020204030204" charset="-122"/>
              <a:ea typeface="思源黑体" panose="020F0502020204030204" charset="-122"/>
              <a:cs typeface="思源黑体" panose="020F0502020204030204" charset="-122"/>
            </a:endParaRPr>
          </a:p>
        </p:txBody>
      </p:sp>
      <p:sp>
        <p:nvSpPr>
          <p:cNvPr id="15" name="文本占位符 14"/>
          <p:cNvSpPr>
            <a:spLocks noGrp="1"/>
          </p:cNvSpPr>
          <p:nvPr>
            <p:ph type="body" sz="quarter" idx="13"/>
          </p:nvPr>
        </p:nvSpPr>
        <p:spPr>
          <a:xfrm>
            <a:off x="389965" y="3455341"/>
            <a:ext cx="8125385" cy="532981"/>
          </a:xfrm>
        </p:spPr>
        <p:txBody>
          <a:bodyPr>
            <a:normAutofit/>
          </a:bodyPr>
          <a:lstStyle>
            <a:lvl1pPr marL="0" indent="0" algn="l">
              <a:buNone/>
              <a:defRPr sz="2000" b="0" i="0">
                <a:ln>
                  <a:noFill/>
                </a:ln>
                <a:solidFill>
                  <a:srgbClr val="FFE1AA"/>
                </a:solidFill>
                <a:latin typeface="微软雅黑 Light" panose="020B0502040204020203" pitchFamily="34" charset="-122"/>
                <a:ea typeface="微软雅黑 Light" panose="020B0502040204020203" pitchFamily="34" charset="-122"/>
              </a:defRPr>
            </a:lvl1pPr>
            <a:lvl3pPr marL="685800" indent="0">
              <a:buNone/>
              <a:defRPr/>
            </a:lvl3pPr>
          </a:lstStyle>
          <a:p>
            <a:pPr lvl="0"/>
            <a:endParaRPr kumimoji="1" lang="zh-CN" altLang="en-US" dirty="0"/>
          </a:p>
        </p:txBody>
      </p:sp>
      <p:sp>
        <p:nvSpPr>
          <p:cNvPr id="19" name="标题 18"/>
          <p:cNvSpPr>
            <a:spLocks noGrp="1"/>
          </p:cNvSpPr>
          <p:nvPr>
            <p:ph type="title"/>
          </p:nvPr>
        </p:nvSpPr>
        <p:spPr>
          <a:xfrm>
            <a:off x="389965" y="2092075"/>
            <a:ext cx="8125385" cy="994172"/>
          </a:xfrm>
        </p:spPr>
        <p:txBody>
          <a:bodyPr>
            <a:normAutofit/>
          </a:bodyPr>
          <a:lstStyle>
            <a:lvl1pPr algn="l">
              <a:defRPr sz="4800" b="0" i="0" spc="300">
                <a:solidFill>
                  <a:schemeClr val="bg1"/>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p>
        </p:txBody>
      </p:sp>
      <p:sp>
        <p:nvSpPr>
          <p:cNvPr id="13" name="文本占位符 14"/>
          <p:cNvSpPr>
            <a:spLocks noGrp="1"/>
          </p:cNvSpPr>
          <p:nvPr>
            <p:ph type="body" sz="quarter" idx="14"/>
          </p:nvPr>
        </p:nvSpPr>
        <p:spPr>
          <a:xfrm>
            <a:off x="389965" y="4357416"/>
            <a:ext cx="8125385" cy="326643"/>
          </a:xfrm>
        </p:spPr>
        <p:txBody>
          <a:bodyPr>
            <a:normAutofit/>
          </a:bodyPr>
          <a:lstStyle>
            <a:lvl1pPr marL="0" indent="0" algn="r">
              <a:buNone/>
              <a:defRPr sz="1400" b="0" i="0">
                <a:ln>
                  <a:noFill/>
                </a:ln>
                <a:solidFill>
                  <a:schemeClr val="accent1">
                    <a:lumMod val="60000"/>
                    <a:lumOff val="40000"/>
                  </a:schemeClr>
                </a:solidFill>
                <a:latin typeface="微软雅黑 Light" panose="020B0502040204020203" pitchFamily="34" charset="-122"/>
                <a:ea typeface="微软雅黑 Light" panose="020B0502040204020203" pitchFamily="34" charset="-122"/>
              </a:defRPr>
            </a:lvl1pPr>
            <a:lvl3pPr marL="685800" indent="0">
              <a:buNone/>
              <a:defRPr/>
            </a:lvl3pPr>
          </a:lstStyle>
          <a:p>
            <a:pPr lvl="0"/>
            <a:endParaRPr kumimoji="1" lang="zh-CN" altLang="en-US" dirty="0"/>
          </a:p>
        </p:txBody>
      </p:sp>
      <p:pic>
        <p:nvPicPr>
          <p:cNvPr id="11" name="图片 10" descr="方块.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628291" y="516282"/>
            <a:ext cx="6887024" cy="414371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目录">
    <p:spTree>
      <p:nvGrpSpPr>
        <p:cNvPr id="1" name=""/>
        <p:cNvGrpSpPr/>
        <p:nvPr/>
      </p:nvGrpSpPr>
      <p:grpSpPr>
        <a:xfrm>
          <a:off x="0" y="0"/>
          <a:ext cx="0" cy="0"/>
          <a:chOff x="0" y="0"/>
          <a:chExt cx="0" cy="0"/>
        </a:xfrm>
      </p:grpSpPr>
      <p:sp>
        <p:nvSpPr>
          <p:cNvPr id="6" name="矩形 5"/>
          <p:cNvSpPr/>
          <p:nvPr userDrawn="1"/>
        </p:nvSpPr>
        <p:spPr>
          <a:xfrm>
            <a:off x="0" y="4235824"/>
            <a:ext cx="9144000" cy="907676"/>
          </a:xfrm>
          <a:prstGeom prst="rect">
            <a:avLst/>
          </a:prstGeom>
          <a:solidFill>
            <a:srgbClr val="202B8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7" name="图片 6" descr="形状 3.png"/>
          <p:cNvPicPr>
            <a:picLocks noChangeAspect="1"/>
          </p:cNvPicPr>
          <p:nvPr userDrawn="1"/>
        </p:nvPicPr>
        <p:blipFill>
          <a:blip r:embed="rId2">
            <a:alphaModFix amt="64000"/>
            <a:extLst>
              <a:ext uri="{28A0092B-C50C-407E-A947-70E740481C1C}">
                <a14:useLocalDpi xmlns:a14="http://schemas.microsoft.com/office/drawing/2010/main" val="0"/>
              </a:ext>
            </a:extLst>
          </a:blip>
          <a:stretch>
            <a:fillRect/>
          </a:stretch>
        </p:blipFill>
        <p:spPr>
          <a:xfrm>
            <a:off x="0" y="4244314"/>
            <a:ext cx="9144000" cy="907676"/>
          </a:xfrm>
          <a:prstGeom prst="rect">
            <a:avLst/>
          </a:prstGeom>
        </p:spPr>
      </p:pic>
      <p:pic>
        <p:nvPicPr>
          <p:cNvPr id="3" name="图片 2"/>
          <p:cNvPicPr>
            <a:picLocks noChangeAspect="1"/>
          </p:cNvPicPr>
          <p:nvPr userDrawn="1"/>
        </p:nvPicPr>
        <p:blipFill>
          <a:blip r:embed="rId3"/>
          <a:stretch>
            <a:fillRect/>
          </a:stretch>
        </p:blipFill>
        <p:spPr>
          <a:xfrm>
            <a:off x="1057275" y="2124075"/>
            <a:ext cx="7029450" cy="895350"/>
          </a:xfrm>
          <a:prstGeom prst="rect">
            <a:avLst/>
          </a:prstGeom>
        </p:spPr>
      </p:pic>
      <p:sp>
        <p:nvSpPr>
          <p:cNvPr id="27" name="文本占位符 26"/>
          <p:cNvSpPr>
            <a:spLocks noGrp="1"/>
          </p:cNvSpPr>
          <p:nvPr>
            <p:ph type="body" sz="quarter" idx="10" hasCustomPrompt="1"/>
          </p:nvPr>
        </p:nvSpPr>
        <p:spPr>
          <a:xfrm>
            <a:off x="1057275" y="1146724"/>
            <a:ext cx="6524474" cy="1954701"/>
          </a:xfrm>
        </p:spPr>
        <p:txBody>
          <a:bodyPr/>
          <a:lstStyle>
            <a:lvl1pPr marL="171450" indent="-171450">
              <a:lnSpc>
                <a:spcPct val="150000"/>
              </a:lnSpc>
              <a:buClr>
                <a:srgbClr val="CFA967"/>
              </a:buClr>
              <a:buSzPct val="100000"/>
              <a:buFont typeface="Arial" panose="020B0604020202020204"/>
              <a:buChar char="•"/>
              <a:defRPr sz="2400" b="0" i="0">
                <a:solidFill>
                  <a:srgbClr val="202B88"/>
                </a:solidFill>
                <a:latin typeface="微软雅黑" panose="020B0503020204020204" pitchFamily="34" charset="-122"/>
                <a:ea typeface="微软雅黑" panose="020B0503020204020204" pitchFamily="34" charset="-122"/>
                <a:cs typeface="微软雅黑" panose="020B0503020204020204" pitchFamily="34" charset="-122"/>
              </a:defRPr>
            </a:lvl1pPr>
            <a:lvl2pPr marL="342900" indent="0">
              <a:lnSpc>
                <a:spcPct val="150000"/>
              </a:lnSpc>
              <a:buClr>
                <a:schemeClr val="accent4"/>
              </a:buClr>
              <a:buFont typeface="Wingdings" panose="05000000000000000000" pitchFamily="2" charset="2"/>
              <a:buNone/>
              <a:defRPr b="0" i="0">
                <a:solidFill>
                  <a:schemeClr val="bg1"/>
                </a:solidFill>
                <a:latin typeface="思源黑体 CN Normal" panose="020B0400000000000000" pitchFamily="34" charset="-128"/>
                <a:ea typeface="思源黑体 CN Normal" panose="020B0400000000000000" pitchFamily="34" charset="-128"/>
              </a:defRPr>
            </a:lvl2pPr>
            <a:lvl3pPr marL="8572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3pPr>
            <a:lvl4pPr marL="12001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4pPr>
            <a:lvl5pPr marL="1543050" indent="-171450">
              <a:lnSpc>
                <a:spcPct val="150000"/>
              </a:lnSpc>
              <a:buClr>
                <a:schemeClr val="accent4"/>
              </a:buClr>
              <a:buFont typeface="Wingdings" panose="05000000000000000000" pitchFamily="2" charset="2"/>
              <a:buChar char="n"/>
              <a:defRPr b="0" i="0">
                <a:solidFill>
                  <a:schemeClr val="bg1"/>
                </a:solidFill>
                <a:latin typeface="思源黑体 CN Normal" panose="020B0400000000000000" pitchFamily="34" charset="-128"/>
                <a:ea typeface="思源黑体 CN Normal" panose="020B0400000000000000" pitchFamily="34" charset="-128"/>
              </a:defRPr>
            </a:lvl5pPr>
          </a:lstStyle>
          <a:p>
            <a:pPr lvl="0"/>
            <a:r>
              <a:rPr kumimoji="1" lang="zh-CN" altLang="en-US" dirty="0"/>
              <a:t> 单击此处编辑母版文本样式</a:t>
            </a:r>
            <a:endParaRPr kumimoji="1" lang="en-US" altLang="zh-CN" dirty="0"/>
          </a:p>
          <a:p>
            <a:pPr lvl="0"/>
            <a:r>
              <a:rPr kumimoji="1" lang="zh-CN" altLang="en-US" dirty="0"/>
              <a:t> 单击此处编辑母版文本样式</a:t>
            </a:r>
            <a:endParaRPr kumimoji="1" lang="en-US" altLang="zh-CN" dirty="0"/>
          </a:p>
          <a:p>
            <a:pPr lvl="0"/>
            <a:r>
              <a:rPr kumimoji="1" lang="zh-CN" altLang="en-US" dirty="0"/>
              <a:t> 单击此处编辑母版文本样式</a:t>
            </a:r>
          </a:p>
        </p:txBody>
      </p:sp>
      <p:grpSp>
        <p:nvGrpSpPr>
          <p:cNvPr id="2" name="组合 1"/>
          <p:cNvGrpSpPr/>
          <p:nvPr userDrawn="1"/>
        </p:nvGrpSpPr>
        <p:grpSpPr>
          <a:xfrm>
            <a:off x="-86810" y="357173"/>
            <a:ext cx="1058582" cy="341703"/>
            <a:chOff x="-86810" y="357173"/>
            <a:chExt cx="1058582" cy="341703"/>
          </a:xfrm>
        </p:grpSpPr>
        <p:sp>
          <p:nvSpPr>
            <p:cNvPr id="32" name="圆角矩形 31"/>
            <p:cNvSpPr/>
            <p:nvPr userDrawn="1"/>
          </p:nvSpPr>
          <p:spPr>
            <a:xfrm>
              <a:off x="-86810" y="357173"/>
              <a:ext cx="742758" cy="341703"/>
            </a:xfrm>
            <a:prstGeom prst="roundRect">
              <a:avLst>
                <a:gd name="adj" fmla="val 10047"/>
              </a:avLst>
            </a:prstGeom>
            <a:solidFill>
              <a:srgbClr val="202B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1D242E"/>
                </a:solidFill>
                <a:latin typeface="思源黑体" panose="020F0502020204030204" charset="-122"/>
                <a:ea typeface="思源黑体" panose="020F0502020204030204" charset="-122"/>
                <a:cs typeface="思源黑体" panose="020F0502020204030204" charset="-122"/>
              </a:endParaRPr>
            </a:p>
          </p:txBody>
        </p:sp>
        <p:sp>
          <p:nvSpPr>
            <p:cNvPr id="33" name="燕尾形 32"/>
            <p:cNvSpPr/>
            <p:nvPr userDrawn="1"/>
          </p:nvSpPr>
          <p:spPr>
            <a:xfrm>
              <a:off x="709555" y="357173"/>
              <a:ext cx="262217" cy="341703"/>
            </a:xfrm>
            <a:prstGeom prst="chevron">
              <a:avLst/>
            </a:prstGeom>
            <a:solidFill>
              <a:srgbClr val="CFA96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34" name="燕尾形 33"/>
            <p:cNvSpPr/>
            <p:nvPr userDrawn="1"/>
          </p:nvSpPr>
          <p:spPr>
            <a:xfrm>
              <a:off x="524839" y="357173"/>
              <a:ext cx="262217" cy="341703"/>
            </a:xfrm>
            <a:prstGeom prst="chevron">
              <a:avLst/>
            </a:prstGeom>
            <a:solidFill>
              <a:srgbClr val="202B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rgbClr val="FFC600"/>
                </a:solidFill>
                <a:latin typeface="思源黑体" panose="020F0502020204030204" charset="-122"/>
                <a:ea typeface="思源黑体" panose="020F0502020204030204" charset="-122"/>
                <a:cs typeface="思源黑体" panose="020F0502020204030204" charset="-122"/>
              </a:endParaRPr>
            </a:p>
          </p:txBody>
        </p:sp>
      </p:grpSp>
      <p:sp>
        <p:nvSpPr>
          <p:cNvPr id="35" name="文本框 34"/>
          <p:cNvSpPr txBox="1"/>
          <p:nvPr userDrawn="1"/>
        </p:nvSpPr>
        <p:spPr>
          <a:xfrm>
            <a:off x="0" y="328930"/>
            <a:ext cx="786130" cy="398780"/>
          </a:xfrm>
          <a:prstGeom prst="rect">
            <a:avLst/>
          </a:prstGeom>
          <a:noFill/>
        </p:spPr>
        <p:txBody>
          <a:bodyPr wrap="square" rtlCol="0">
            <a:spAutoFit/>
          </a:bodyPr>
          <a:lstStyle/>
          <a:p>
            <a:r>
              <a:rPr kumimoji="1" lang="zh-CN" altLang="en-US" sz="2000" b="1" i="0" dirty="0">
                <a:solidFill>
                  <a:schemeClr val="bg1"/>
                </a:solidFill>
                <a:latin typeface="思源黑体 Medium" panose="020B0600000000000000" charset="-122"/>
                <a:ea typeface="思源黑体 Medium" panose="020B0600000000000000" charset="-122"/>
                <a:cs typeface="思源黑体" panose="020F0502020204030204" charset="-122"/>
              </a:rPr>
              <a:t>目录</a:t>
            </a:r>
          </a:p>
        </p:txBody>
      </p:sp>
      <p:pic>
        <p:nvPicPr>
          <p:cNvPr id="4" name="图片 3">
            <a:extLst>
              <a:ext uri="{FF2B5EF4-FFF2-40B4-BE49-F238E27FC236}">
                <a16:creationId xmlns:a16="http://schemas.microsoft.com/office/drawing/2014/main" id="{EBC51939-329D-FAE7-273D-282F3641134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517710" y="4461938"/>
            <a:ext cx="1417284" cy="47242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4_内容页标准版式">
    <p:spTree>
      <p:nvGrpSpPr>
        <p:cNvPr id="1" name=""/>
        <p:cNvGrpSpPr/>
        <p:nvPr/>
      </p:nvGrpSpPr>
      <p:grpSpPr>
        <a:xfrm>
          <a:off x="0" y="0"/>
          <a:ext cx="0" cy="0"/>
          <a:chOff x="0" y="0"/>
          <a:chExt cx="0" cy="0"/>
        </a:xfrm>
      </p:grpSpPr>
      <p:sp>
        <p:nvSpPr>
          <p:cNvPr id="10" name="标题 18"/>
          <p:cNvSpPr>
            <a:spLocks noGrp="1"/>
          </p:cNvSpPr>
          <p:nvPr>
            <p:ph type="title"/>
          </p:nvPr>
        </p:nvSpPr>
        <p:spPr>
          <a:xfrm>
            <a:off x="582038" y="280792"/>
            <a:ext cx="7357005" cy="523875"/>
          </a:xfrm>
        </p:spPr>
        <p:txBody>
          <a:bodyPr>
            <a:noAutofit/>
          </a:bodyPr>
          <a:lstStyle>
            <a:lvl1pPr marL="0" indent="0" algn="l">
              <a:buClr>
                <a:schemeClr val="accent4"/>
              </a:buClr>
              <a:buFontTx/>
              <a:buNone/>
              <a:defRPr sz="2800" b="1" i="0">
                <a:solidFill>
                  <a:srgbClr val="0070C0"/>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grpSp>
        <p:nvGrpSpPr>
          <p:cNvPr id="13" name="组合 19"/>
          <p:cNvGrpSpPr/>
          <p:nvPr userDrawn="1"/>
        </p:nvGrpSpPr>
        <p:grpSpPr>
          <a:xfrm>
            <a:off x="-139481" y="372601"/>
            <a:ext cx="631650" cy="341703"/>
            <a:chOff x="883264" y="476230"/>
            <a:chExt cx="842200" cy="455604"/>
          </a:xfrm>
          <a:solidFill>
            <a:srgbClr val="FFC600"/>
          </a:solidFill>
        </p:grpSpPr>
        <p:sp>
          <p:nvSpPr>
            <p:cNvPr id="15" name="圆角矩形 14"/>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16" name="燕尾形 15"/>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17" name="燕尾形 16"/>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
        <p:nvSpPr>
          <p:cNvPr id="8" name="文本占位符 26"/>
          <p:cNvSpPr>
            <a:spLocks noGrp="1"/>
          </p:cNvSpPr>
          <p:nvPr>
            <p:ph type="body" sz="quarter" idx="10" hasCustomPrompt="1"/>
          </p:nvPr>
        </p:nvSpPr>
        <p:spPr>
          <a:xfrm>
            <a:off x="582038" y="1278636"/>
            <a:ext cx="7128035" cy="2233865"/>
          </a:xfrm>
        </p:spPr>
        <p:txBody>
          <a:bodyPr/>
          <a:lstStyle>
            <a:lvl1pPr marL="171450" indent="-171450">
              <a:lnSpc>
                <a:spcPct val="150000"/>
              </a:lnSpc>
              <a:buClr>
                <a:srgbClr val="FFC600"/>
              </a:buClr>
              <a:buSzPct val="100000"/>
              <a:buFont typeface="Arial" panose="020B0604020202020204"/>
              <a:buChar char="•"/>
              <a:defRPr sz="2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nSpc>
                <a:spcPct val="150000"/>
              </a:lnSpc>
              <a:buClr>
                <a:srgbClr val="FFC600"/>
              </a:buClr>
              <a:buFont typeface="Arial" panose="020B0604020202020204"/>
              <a:buChar char="•"/>
              <a:defRPr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nSpc>
                <a:spcPct val="150000"/>
              </a:lnSpc>
              <a:buClr>
                <a:srgbClr val="FFC600"/>
              </a:buClr>
              <a:buFont typeface="Arial" panose="020B0604020202020204"/>
              <a:buChar char="•"/>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nSpc>
                <a:spcPct val="150000"/>
              </a:lnSpc>
              <a:buClr>
                <a:srgbClr val="FFC600"/>
              </a:buClr>
              <a:buFont typeface="Arial" panose="020B0604020202020204"/>
              <a:buChar char="•"/>
              <a:defRPr sz="14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371600" indent="0">
              <a:lnSpc>
                <a:spcPct val="150000"/>
              </a:lnSpc>
              <a:buClr>
                <a:srgbClr val="FFC600"/>
              </a:buClr>
              <a:buFont typeface="Arial" panose="020B0604020202020204"/>
              <a:buNone/>
              <a:defRPr sz="1600" b="0" i="0">
                <a:solidFill>
                  <a:srgbClr val="242C52"/>
                </a:solidFill>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kumimoji="1" lang="zh-CN" altLang="en-US" dirty="0"/>
              <a:t> 单击此处编辑母版文本样式</a:t>
            </a:r>
          </a:p>
          <a:p>
            <a:pPr lvl="1"/>
            <a:r>
              <a:rPr kumimoji="1" lang="zh-CN" altLang="en-US" dirty="0"/>
              <a:t> 二级</a:t>
            </a:r>
          </a:p>
          <a:p>
            <a:pPr lvl="2"/>
            <a:r>
              <a:rPr kumimoji="1" lang="zh-CN" altLang="en-US" dirty="0"/>
              <a:t> 三级</a:t>
            </a:r>
          </a:p>
          <a:p>
            <a:pPr lvl="3"/>
            <a:r>
              <a:rPr kumimoji="1" lang="zh-CN" altLang="en-US" dirty="0"/>
              <a:t> 四级</a:t>
            </a:r>
          </a:p>
        </p:txBody>
      </p:sp>
      <p:sp>
        <p:nvSpPr>
          <p:cNvPr id="11" name="矩形 10"/>
          <p:cNvSpPr/>
          <p:nvPr userDrawn="1"/>
        </p:nvSpPr>
        <p:spPr>
          <a:xfrm flipV="1">
            <a:off x="0" y="5070928"/>
            <a:ext cx="9144000" cy="118287"/>
          </a:xfrm>
          <a:prstGeom prst="rect">
            <a:avLst/>
          </a:prstGeom>
          <a:solidFill>
            <a:srgbClr val="242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highlight>
                <a:srgbClr val="242C52"/>
              </a:highlight>
              <a:latin typeface="思源黑体" panose="020F0502020204030204" charset="-122"/>
              <a:ea typeface="思源黑体" panose="020F0502020204030204" charset="-122"/>
              <a:cs typeface="思源黑体" panose="020F0502020204030204" charset="-122"/>
            </a:endParaRPr>
          </a:p>
        </p:txBody>
      </p:sp>
      <p:pic>
        <p:nvPicPr>
          <p:cNvPr id="3" name="图片 2">
            <a:extLst>
              <a:ext uri="{FF2B5EF4-FFF2-40B4-BE49-F238E27FC236}">
                <a16:creationId xmlns:a16="http://schemas.microsoft.com/office/drawing/2014/main" id="{3AE9EF5C-CB56-40EE-620D-C8B40FB83375}"/>
              </a:ext>
            </a:extLst>
          </p:cNvPr>
          <p:cNvPicPr>
            <a:picLocks noChangeAspect="1"/>
          </p:cNvPicPr>
          <p:nvPr userDrawn="1"/>
        </p:nvPicPr>
        <p:blipFill>
          <a:blip r:embed="rId2"/>
          <a:stretch>
            <a:fillRect/>
          </a:stretch>
        </p:blipFill>
        <p:spPr>
          <a:xfrm>
            <a:off x="7502253" y="4579468"/>
            <a:ext cx="1519827" cy="386943"/>
          </a:xfrm>
          <a:prstGeom prst="rect">
            <a:avLst/>
          </a:prstGeom>
        </p:spPr>
      </p:pic>
    </p:spTree>
    <p:extLst>
      <p:ext uri="{BB962C8B-B14F-4D97-AF65-F5344CB8AC3E}">
        <p14:creationId xmlns:p14="http://schemas.microsoft.com/office/powerpoint/2010/main" val="33558531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9058"/>
            <a:ext cx="6215062" cy="421482"/>
          </a:xfrm>
        </p:spPr>
        <p:txBody>
          <a:bodyPr>
            <a:noAutofit/>
          </a:bodyPr>
          <a:lstStyle>
            <a:lvl1pPr algn="l">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zh-CN" altLang="en-US" dirty="0"/>
              <a:t>单击此处编辑母版标题样式</a:t>
            </a:r>
          </a:p>
        </p:txBody>
      </p:sp>
      <p:sp>
        <p:nvSpPr>
          <p:cNvPr id="3" name="内容占位符 2"/>
          <p:cNvSpPr>
            <a:spLocks noGrp="1"/>
          </p:cNvSpPr>
          <p:nvPr>
            <p:ph idx="1"/>
          </p:nvPr>
        </p:nvSpPr>
        <p:spPr/>
        <p:txBody>
          <a:bodyPr/>
          <a:lstStyle>
            <a:lvl1pPr>
              <a:lnSpc>
                <a:spcPct val="150000"/>
              </a:lnSpc>
              <a:defRPr>
                <a:latin typeface="Microsoft YaHei" panose="020B0503020204020204" pitchFamily="34" charset="-122"/>
                <a:ea typeface="Microsoft YaHei" panose="020B0503020204020204" pitchFamily="34" charset="-122"/>
                <a:cs typeface="Microsoft YaHei" panose="020B0503020204020204" pitchFamily="34" charset="-122"/>
              </a:defRPr>
            </a:lvl1pPr>
            <a:lvl2pPr>
              <a:lnSpc>
                <a:spcPct val="150000"/>
              </a:lnSpc>
              <a:defRPr>
                <a:latin typeface="Microsoft YaHei" panose="020B0503020204020204" pitchFamily="34" charset="-122"/>
                <a:ea typeface="Microsoft YaHei" panose="020B0503020204020204" pitchFamily="34" charset="-122"/>
                <a:cs typeface="Microsoft YaHei" panose="020B0503020204020204" pitchFamily="34" charset="-122"/>
              </a:defRPr>
            </a:lvl2pPr>
            <a:lvl3pPr>
              <a:lnSpc>
                <a:spcPct val="150000"/>
              </a:lnSpc>
              <a:defRPr>
                <a:latin typeface="Microsoft YaHei" panose="020B0503020204020204" pitchFamily="34" charset="-122"/>
                <a:ea typeface="Microsoft YaHei" panose="020B0503020204020204" pitchFamily="34" charset="-122"/>
                <a:cs typeface="Microsoft YaHei" panose="020B0503020204020204" pitchFamily="34" charset="-122"/>
              </a:defRPr>
            </a:lvl3pPr>
            <a:lvl4pPr>
              <a:lnSpc>
                <a:spcPct val="150000"/>
              </a:lnSpc>
              <a:defRPr>
                <a:latin typeface="Microsoft YaHei" panose="020B0503020204020204" pitchFamily="34" charset="-122"/>
                <a:ea typeface="Microsoft YaHei" panose="020B0503020204020204" pitchFamily="34" charset="-122"/>
                <a:cs typeface="Microsoft YaHei" panose="020B0503020204020204" pitchFamily="34" charset="-122"/>
              </a:defRPr>
            </a:lvl4pPr>
            <a:lvl5pPr>
              <a:lnSpc>
                <a:spcPct val="150000"/>
              </a:lnSpc>
              <a:defRPr>
                <a:latin typeface="Microsoft YaHei" panose="020B0503020204020204" pitchFamily="34" charset="-122"/>
                <a:ea typeface="Microsoft YaHei" panose="020B0503020204020204" pitchFamily="34" charset="-122"/>
                <a:cs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灯片编号占位符 4"/>
          <p:cNvSpPr>
            <a:spLocks noGrp="1"/>
          </p:cNvSpPr>
          <p:nvPr>
            <p:ph type="sldNum" sz="quarter" idx="10"/>
          </p:nvPr>
        </p:nvSpPr>
        <p:spPr>
          <a:xfrm>
            <a:off x="0" y="4924269"/>
            <a:ext cx="9144000" cy="201216"/>
          </a:xfrm>
        </p:spPr>
        <p:txBody>
          <a:bodyPr/>
          <a:lstStyle>
            <a:lvl1pPr algn="r">
              <a:defRPr sz="1000">
                <a:solidFill>
                  <a:schemeClr val="bg1">
                    <a:lumMod val="50000"/>
                  </a:schemeClr>
                </a:solidFill>
              </a:defRPr>
            </a:lvl1pPr>
          </a:lstStyle>
          <a:p>
            <a:pPr algn="l"/>
            <a:fld id="{465EFE0A-B425-5D4C-B2B5-64972D2E3BEB}" type="slidenum">
              <a:rPr lang="en-US" altLang="zh-CN" smtClean="0"/>
              <a:pPr algn="l"/>
              <a:t>‹#›</a:t>
            </a:fld>
            <a:endParaRPr lang="en-US" altLang="zh-CN" dirty="0"/>
          </a:p>
        </p:txBody>
      </p:sp>
      <p:grpSp>
        <p:nvGrpSpPr>
          <p:cNvPr id="5" name="组合 19">
            <a:extLst>
              <a:ext uri="{FF2B5EF4-FFF2-40B4-BE49-F238E27FC236}">
                <a16:creationId xmlns:a16="http://schemas.microsoft.com/office/drawing/2014/main" id="{3B24D1F9-423F-7B40-2FC8-D413FC3546F6}"/>
              </a:ext>
            </a:extLst>
          </p:cNvPr>
          <p:cNvGrpSpPr/>
          <p:nvPr userDrawn="1"/>
        </p:nvGrpSpPr>
        <p:grpSpPr>
          <a:xfrm>
            <a:off x="-139481" y="372601"/>
            <a:ext cx="631650" cy="341703"/>
            <a:chOff x="883264" y="476230"/>
            <a:chExt cx="842200" cy="455604"/>
          </a:xfrm>
          <a:solidFill>
            <a:srgbClr val="FFC600"/>
          </a:solidFill>
        </p:grpSpPr>
        <p:sp>
          <p:nvSpPr>
            <p:cNvPr id="6" name="圆角矩形 5">
              <a:extLst>
                <a:ext uri="{FF2B5EF4-FFF2-40B4-BE49-F238E27FC236}">
                  <a16:creationId xmlns:a16="http://schemas.microsoft.com/office/drawing/2014/main" id="{0749A9BD-42D7-5BAD-7CCA-EDF8DF18FF70}"/>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7" name="燕尾形 6">
              <a:extLst>
                <a:ext uri="{FF2B5EF4-FFF2-40B4-BE49-F238E27FC236}">
                  <a16:creationId xmlns:a16="http://schemas.microsoft.com/office/drawing/2014/main" id="{E18CE615-701A-00DB-42CC-6E6E4C3486EB}"/>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8" name="燕尾形 7">
              <a:extLst>
                <a:ext uri="{FF2B5EF4-FFF2-40B4-BE49-F238E27FC236}">
                  <a16:creationId xmlns:a16="http://schemas.microsoft.com/office/drawing/2014/main" id="{4EFD852C-EFFF-D88F-EB63-5D23755B17D5}"/>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pic>
        <p:nvPicPr>
          <p:cNvPr id="9" name="图片 8">
            <a:extLst>
              <a:ext uri="{FF2B5EF4-FFF2-40B4-BE49-F238E27FC236}">
                <a16:creationId xmlns:a16="http://schemas.microsoft.com/office/drawing/2014/main" id="{6B3BA59F-175D-B091-A24C-ADAA219A29D0}"/>
              </a:ext>
            </a:extLst>
          </p:cNvPr>
          <p:cNvPicPr>
            <a:picLocks noChangeAspect="1"/>
          </p:cNvPicPr>
          <p:nvPr userDrawn="1"/>
        </p:nvPicPr>
        <p:blipFill>
          <a:blip r:embed="rId2"/>
          <a:stretch>
            <a:fillRect/>
          </a:stretch>
        </p:blipFill>
        <p:spPr>
          <a:xfrm>
            <a:off x="7502253" y="4579468"/>
            <a:ext cx="1519827" cy="386943"/>
          </a:xfrm>
          <a:prstGeom prst="rect">
            <a:avLst/>
          </a:prstGeom>
        </p:spPr>
      </p:pic>
    </p:spTree>
    <p:extLst>
      <p:ext uri="{BB962C8B-B14F-4D97-AF65-F5344CB8AC3E}">
        <p14:creationId xmlns:p14="http://schemas.microsoft.com/office/powerpoint/2010/main" val="14785679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空白">
    <p:spTree>
      <p:nvGrpSpPr>
        <p:cNvPr id="1" name=""/>
        <p:cNvGrpSpPr/>
        <p:nvPr/>
      </p:nvGrpSpPr>
      <p:grpSpPr>
        <a:xfrm>
          <a:off x="0" y="0"/>
          <a:ext cx="0" cy="0"/>
          <a:chOff x="0" y="0"/>
          <a:chExt cx="0" cy="0"/>
        </a:xfrm>
      </p:grpSpPr>
      <p:sp>
        <p:nvSpPr>
          <p:cNvPr id="2" name="灯片编号占位符 4"/>
          <p:cNvSpPr>
            <a:spLocks noGrp="1"/>
          </p:cNvSpPr>
          <p:nvPr>
            <p:ph type="sldNum" sz="quarter" idx="10"/>
          </p:nvPr>
        </p:nvSpPr>
        <p:spPr>
          <a:xfrm>
            <a:off x="0" y="4829489"/>
            <a:ext cx="2057400" cy="273844"/>
          </a:xfrm>
        </p:spPr>
        <p:txBody>
          <a:bodyPr/>
          <a:lstStyle>
            <a:lvl1pPr algn="l">
              <a:defRPr/>
            </a:lvl1pPr>
          </a:lstStyle>
          <a:p>
            <a:fld id="{03B33FA8-1EB5-314D-828C-2F4984F9C684}" type="slidenum">
              <a:rPr lang="en-US" altLang="zh-CN" smtClean="0"/>
              <a:pPr/>
              <a:t>‹#›</a:t>
            </a:fld>
            <a:endParaRPr lang="en-US" altLang="zh-CN"/>
          </a:p>
        </p:txBody>
      </p:sp>
      <p:pic>
        <p:nvPicPr>
          <p:cNvPr id="3" name="图片 2">
            <a:extLst>
              <a:ext uri="{FF2B5EF4-FFF2-40B4-BE49-F238E27FC236}">
                <a16:creationId xmlns:a16="http://schemas.microsoft.com/office/drawing/2014/main" id="{F39B6082-6FEF-4C3F-CED3-9FD8FF7FFF93}"/>
              </a:ext>
            </a:extLst>
          </p:cNvPr>
          <p:cNvPicPr>
            <a:picLocks noChangeAspect="1"/>
          </p:cNvPicPr>
          <p:nvPr userDrawn="1"/>
        </p:nvPicPr>
        <p:blipFill>
          <a:blip r:embed="rId2"/>
          <a:stretch>
            <a:fillRect/>
          </a:stretch>
        </p:blipFill>
        <p:spPr>
          <a:xfrm>
            <a:off x="7519345" y="4716390"/>
            <a:ext cx="1519827" cy="386943"/>
          </a:xfrm>
          <a:prstGeom prst="rect">
            <a:avLst/>
          </a:prstGeom>
        </p:spPr>
      </p:pic>
      <p:sp>
        <p:nvSpPr>
          <p:cNvPr id="4" name="标题 1">
            <a:extLst>
              <a:ext uri="{FF2B5EF4-FFF2-40B4-BE49-F238E27FC236}">
                <a16:creationId xmlns:a16="http://schemas.microsoft.com/office/drawing/2014/main" id="{1C9922AC-9711-B965-253A-E7CB93A5F2A1}"/>
              </a:ext>
            </a:extLst>
          </p:cNvPr>
          <p:cNvSpPr>
            <a:spLocks noGrp="1"/>
          </p:cNvSpPr>
          <p:nvPr>
            <p:ph type="title"/>
          </p:nvPr>
        </p:nvSpPr>
        <p:spPr>
          <a:xfrm>
            <a:off x="628650" y="369058"/>
            <a:ext cx="6215062" cy="421482"/>
          </a:xfrm>
        </p:spPr>
        <p:txBody>
          <a:bodyPr>
            <a:noAutofit/>
          </a:bodyPr>
          <a:lstStyle>
            <a:lvl1pPr algn="l">
              <a:defRPr kumimoji="1" lang="zh-CN" altLang="en-US" sz="2800" b="1" i="0" kern="1200" dirty="0">
                <a:solidFill>
                  <a:srgbClr val="0070C0"/>
                </a:solidFill>
                <a:latin typeface="Microsoft YaHei" panose="020B0503020204020204" pitchFamily="34" charset="-122"/>
                <a:ea typeface="Microsoft YaHei" panose="020B0503020204020204" pitchFamily="34" charset="-122"/>
                <a:cs typeface="思源黑体" panose="020F0502020204030204" charset="-122"/>
              </a:defRPr>
            </a:lvl1pPr>
          </a:lstStyle>
          <a:p>
            <a:r>
              <a:rPr lang="zh-CN" altLang="en-US" dirty="0"/>
              <a:t>单击此处编辑母版标题样式</a:t>
            </a:r>
          </a:p>
        </p:txBody>
      </p:sp>
      <p:grpSp>
        <p:nvGrpSpPr>
          <p:cNvPr id="5" name="组合 19">
            <a:extLst>
              <a:ext uri="{FF2B5EF4-FFF2-40B4-BE49-F238E27FC236}">
                <a16:creationId xmlns:a16="http://schemas.microsoft.com/office/drawing/2014/main" id="{74D6ED2F-7316-127D-DF61-6CFAE7056C18}"/>
              </a:ext>
            </a:extLst>
          </p:cNvPr>
          <p:cNvGrpSpPr/>
          <p:nvPr userDrawn="1"/>
        </p:nvGrpSpPr>
        <p:grpSpPr>
          <a:xfrm>
            <a:off x="-139481" y="372601"/>
            <a:ext cx="631650" cy="341703"/>
            <a:chOff x="883264" y="476230"/>
            <a:chExt cx="842200" cy="455604"/>
          </a:xfrm>
          <a:solidFill>
            <a:srgbClr val="FFC600"/>
          </a:solidFill>
        </p:grpSpPr>
        <p:sp>
          <p:nvSpPr>
            <p:cNvPr id="6" name="圆角矩形 5">
              <a:extLst>
                <a:ext uri="{FF2B5EF4-FFF2-40B4-BE49-F238E27FC236}">
                  <a16:creationId xmlns:a16="http://schemas.microsoft.com/office/drawing/2014/main" id="{8100541F-00CC-BA2B-7E56-457183DD9C40}"/>
                </a:ext>
              </a:extLst>
            </p:cNvPr>
            <p:cNvSpPr/>
            <p:nvPr userDrawn="1"/>
          </p:nvSpPr>
          <p:spPr>
            <a:xfrm>
              <a:off x="883264" y="476230"/>
              <a:ext cx="421100" cy="455604"/>
            </a:xfrm>
            <a:prstGeom prst="roundRect">
              <a:avLst>
                <a:gd name="adj" fmla="val 10047"/>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100" b="0" i="0" dirty="0">
                <a:solidFill>
                  <a:srgbClr val="6880B1"/>
                </a:solidFill>
                <a:latin typeface="思源黑体" panose="020F0502020204030204" charset="-122"/>
                <a:ea typeface="思源黑体" panose="020F0502020204030204" charset="-122"/>
                <a:cs typeface="思源黑体" panose="020F0502020204030204" charset="-122"/>
              </a:endParaRPr>
            </a:p>
          </p:txBody>
        </p:sp>
        <p:sp>
          <p:nvSpPr>
            <p:cNvPr id="7" name="燕尾形 6">
              <a:extLst>
                <a:ext uri="{FF2B5EF4-FFF2-40B4-BE49-F238E27FC236}">
                  <a16:creationId xmlns:a16="http://schemas.microsoft.com/office/drawing/2014/main" id="{3B845117-F762-3C61-5D83-B6372580F47E}"/>
                </a:ext>
              </a:extLst>
            </p:cNvPr>
            <p:cNvSpPr/>
            <p:nvPr userDrawn="1"/>
          </p:nvSpPr>
          <p:spPr>
            <a:xfrm>
              <a:off x="1375841" y="476230"/>
              <a:ext cx="349623" cy="455604"/>
            </a:xfrm>
            <a:prstGeom prst="chevron">
              <a:avLst/>
            </a:prstGeom>
            <a:solidFill>
              <a:srgbClr val="6880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sp>
          <p:nvSpPr>
            <p:cNvPr id="8" name="燕尾形 7">
              <a:extLst>
                <a:ext uri="{FF2B5EF4-FFF2-40B4-BE49-F238E27FC236}">
                  <a16:creationId xmlns:a16="http://schemas.microsoft.com/office/drawing/2014/main" id="{B17A8DB3-A869-D882-2AC5-E59E3B1664DD}"/>
                </a:ext>
              </a:extLst>
            </p:cNvPr>
            <p:cNvSpPr/>
            <p:nvPr userDrawn="1"/>
          </p:nvSpPr>
          <p:spPr>
            <a:xfrm>
              <a:off x="1129553" y="476230"/>
              <a:ext cx="349623" cy="455604"/>
            </a:xfrm>
            <a:prstGeom prst="chevron">
              <a:avLst/>
            </a:prstGeom>
            <a:solidFill>
              <a:srgbClr val="242C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015">
                <a:solidFill>
                  <a:schemeClr val="tx1"/>
                </a:solidFill>
                <a:latin typeface="思源黑体" panose="020F0502020204030204" charset="-122"/>
                <a:ea typeface="思源黑体" panose="020F0502020204030204" charset="-122"/>
                <a:cs typeface="思源黑体" panose="020F0502020204030204" charset="-122"/>
              </a:endParaRPr>
            </a:p>
          </p:txBody>
        </p:sp>
      </p:grpSp>
    </p:spTree>
    <p:extLst>
      <p:ext uri="{BB962C8B-B14F-4D97-AF65-F5344CB8AC3E}">
        <p14:creationId xmlns:p14="http://schemas.microsoft.com/office/powerpoint/2010/main" val="6608543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secHead">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tretch>
            <a:fillRect/>
          </a:stretch>
        </p:blipFill>
        <p:spPr>
          <a:xfrm>
            <a:off x="0" y="1773460"/>
            <a:ext cx="9144000" cy="1171575"/>
          </a:xfrm>
          <a:prstGeom prst="rect">
            <a:avLst/>
          </a:prstGeom>
        </p:spPr>
      </p:pic>
      <p:sp>
        <p:nvSpPr>
          <p:cNvPr id="2" name="矩形 1">
            <a:extLst>
              <a:ext uri="{FF2B5EF4-FFF2-40B4-BE49-F238E27FC236}">
                <a16:creationId xmlns:a16="http://schemas.microsoft.com/office/drawing/2014/main" id="{4075B709-553C-2F31-0AC6-3CD7BEB5F72A}"/>
              </a:ext>
            </a:extLst>
          </p:cNvPr>
          <p:cNvSpPr/>
          <p:nvPr userDrawn="1"/>
        </p:nvSpPr>
        <p:spPr>
          <a:xfrm>
            <a:off x="0" y="4961614"/>
            <a:ext cx="9144000" cy="181886"/>
          </a:xfrm>
          <a:prstGeom prst="rect">
            <a:avLst/>
          </a:prstGeom>
          <a:solidFill>
            <a:srgbClr val="202B8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latin typeface="思源黑体" panose="020F0502020204030204" charset="-122"/>
              <a:ea typeface="思源黑体" panose="020F0502020204030204" charset="-122"/>
              <a:cs typeface="思源黑体" panose="020F0502020204030204" charset="-122"/>
            </a:endParaRPr>
          </a:p>
        </p:txBody>
      </p:sp>
      <p:pic>
        <p:nvPicPr>
          <p:cNvPr id="3" name="图片 2" descr="形状 3.png">
            <a:extLst>
              <a:ext uri="{FF2B5EF4-FFF2-40B4-BE49-F238E27FC236}">
                <a16:creationId xmlns:a16="http://schemas.microsoft.com/office/drawing/2014/main" id="{392AD8B5-C0BE-D767-84D9-E93FB6F13215}"/>
              </a:ext>
            </a:extLst>
          </p:cNvPr>
          <p:cNvPicPr>
            <a:picLocks noChangeAspect="1"/>
          </p:cNvPicPr>
          <p:nvPr userDrawn="1"/>
        </p:nvPicPr>
        <p:blipFill>
          <a:blip r:embed="rId3">
            <a:alphaModFix amt="64000"/>
            <a:extLst>
              <a:ext uri="{28A0092B-C50C-407E-A947-70E740481C1C}">
                <a14:useLocalDpi xmlns:a14="http://schemas.microsoft.com/office/drawing/2010/main" val="0"/>
              </a:ext>
            </a:extLst>
          </a:blip>
          <a:stretch>
            <a:fillRect/>
          </a:stretch>
        </p:blipFill>
        <p:spPr>
          <a:xfrm>
            <a:off x="0" y="1"/>
            <a:ext cx="9144000" cy="683812"/>
          </a:xfrm>
          <a:prstGeom prst="rect">
            <a:avLst/>
          </a:prstGeom>
        </p:spPr>
      </p:pic>
      <p:pic>
        <p:nvPicPr>
          <p:cNvPr id="4" name="图片 3">
            <a:extLst>
              <a:ext uri="{FF2B5EF4-FFF2-40B4-BE49-F238E27FC236}">
                <a16:creationId xmlns:a16="http://schemas.microsoft.com/office/drawing/2014/main" id="{A383A833-E148-B64F-D7B3-8453CEFD81CE}"/>
              </a:ext>
            </a:extLst>
          </p:cNvPr>
          <p:cNvPicPr>
            <a:picLocks noChangeAspect="1"/>
          </p:cNvPicPr>
          <p:nvPr userDrawn="1"/>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7501807" y="105693"/>
            <a:ext cx="1417284" cy="472428"/>
          </a:xfrm>
          <a:prstGeom prst="rect">
            <a:avLst/>
          </a:prstGeom>
        </p:spPr>
      </p:pic>
    </p:spTree>
    <p:extLst>
      <p:ext uri="{BB962C8B-B14F-4D97-AF65-F5344CB8AC3E}">
        <p14:creationId xmlns:p14="http://schemas.microsoft.com/office/powerpoint/2010/main" val="33745316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6" name="Slide Number Placeholder 5"/>
          <p:cNvSpPr>
            <a:spLocks noGrp="1"/>
          </p:cNvSpPr>
          <p:nvPr>
            <p:ph type="sldNum" sz="quarter" idx="4"/>
          </p:nvPr>
        </p:nvSpPr>
        <p:spPr>
          <a:xfrm>
            <a:off x="116970" y="4843108"/>
            <a:ext cx="2057400" cy="273844"/>
          </a:xfrm>
          <a:prstGeom prst="rect">
            <a:avLst/>
          </a:prstGeom>
        </p:spPr>
        <p:txBody>
          <a:bodyPr vert="horz" lIns="91440" tIns="45720" rIns="91440" bIns="45720" rtlCol="0" anchor="ctr"/>
          <a:lstStyle>
            <a:lvl1pPr algn="l">
              <a:defRPr sz="900">
                <a:solidFill>
                  <a:schemeClr val="tx1">
                    <a:tint val="75000"/>
                  </a:schemeClr>
                </a:solidFill>
                <a:latin typeface="思源黑体" panose="020F0502020204030204" charset="-122"/>
                <a:ea typeface="思源黑体" panose="020F0502020204030204" charset="-122"/>
                <a:cs typeface="思源黑体" panose="020F0502020204030204" charset="-122"/>
              </a:defRPr>
            </a:lvl1pPr>
          </a:lstStyle>
          <a:p>
            <a:fld id="{3A1E3D2E-B3F0-E849-A0C0-75DD48B3F946}" type="slidenum">
              <a:rPr kumimoji="1" lang="zh-CN" altLang="en-US" smtClean="0"/>
              <a:pPr/>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6" r:id="rId14"/>
    <p:sldLayoutId id="2147483667" r:id="rId15"/>
    <p:sldLayoutId id="2147483668" r:id="rId16"/>
    <p:sldLayoutId id="2147483670" r:id="rId17"/>
  </p:sldLayoutIdLst>
  <p:txStyles>
    <p:titleStyle>
      <a:lvl1pPr algn="l" defTabSz="685800" rtl="0" eaLnBrk="1" latinLnBrk="0" hangingPunct="1">
        <a:lnSpc>
          <a:spcPct val="90000"/>
        </a:lnSpc>
        <a:spcBef>
          <a:spcPct val="0"/>
        </a:spcBef>
        <a:buNone/>
        <a:defRPr sz="2800" b="1" kern="1200">
          <a:solidFill>
            <a:schemeClr val="accent1">
              <a:lumMod val="75000"/>
            </a:schemeClr>
          </a:solidFill>
          <a:latin typeface="Microsoft YaHei" panose="020B0503020204020204" pitchFamily="34" charset="-122"/>
          <a:ea typeface="Microsoft YaHei" panose="020B0503020204020204" pitchFamily="34" charset="-122"/>
          <a:cs typeface="Microsoft YaHei" panose="020B0503020204020204" pitchFamily="34" charset="-122"/>
        </a:defRPr>
      </a:lvl1pPr>
    </p:titleStyle>
    <p:bodyStyle>
      <a:lvl1pPr marL="171450" indent="-171450" algn="l" defTabSz="685800" rtl="0" eaLnBrk="1" latinLnBrk="0" hangingPunct="1">
        <a:lnSpc>
          <a:spcPct val="150000"/>
        </a:lnSpc>
        <a:spcBef>
          <a:spcPts val="750"/>
        </a:spcBef>
        <a:buFont typeface="Arial" panose="020B0604020202020204" pitchFamily="34" charset="0"/>
        <a:buChar char="•"/>
        <a:defRPr sz="21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gn="l" defTabSz="685800" rtl="0" eaLnBrk="1" latinLnBrk="0" hangingPunct="1">
        <a:lnSpc>
          <a:spcPct val="150000"/>
        </a:lnSpc>
        <a:spcBef>
          <a:spcPts val="375"/>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gn="l" defTabSz="685800" rtl="0" eaLnBrk="1" latinLnBrk="0" hangingPunct="1">
        <a:lnSpc>
          <a:spcPct val="150000"/>
        </a:lnSpc>
        <a:spcBef>
          <a:spcPts val="375"/>
        </a:spcBef>
        <a:buFont typeface="Arial" panose="020B0604020202020204" pitchFamily="34" charset="0"/>
        <a:buChar char="•"/>
        <a:defRPr sz="15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gn="l" defTabSz="685800" rtl="0" eaLnBrk="1" latinLnBrk="0" hangingPunct="1">
        <a:lnSpc>
          <a:spcPct val="150000"/>
        </a:lnSpc>
        <a:spcBef>
          <a:spcPts val="375"/>
        </a:spcBef>
        <a:buFont typeface="Arial" panose="020B0604020202020204" pitchFamily="34" charset="0"/>
        <a:buChar char="•"/>
        <a:defRPr sz="135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543050" indent="-171450" algn="l" defTabSz="685800" rtl="0" eaLnBrk="1" latinLnBrk="0" hangingPunct="1">
        <a:lnSpc>
          <a:spcPct val="150000"/>
        </a:lnSpc>
        <a:spcBef>
          <a:spcPts val="375"/>
        </a:spcBef>
        <a:buFont typeface="Arial" panose="020B0604020202020204" pitchFamily="34" charset="0"/>
        <a:buChar char="•"/>
        <a:defRPr sz="135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5.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hyperlink" Target="http://techdo.me/identity-spoofing-and-how-to-protect-yourself-from-it/" TargetMode="External"/><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25.jpe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18" Type="http://schemas.openxmlformats.org/officeDocument/2006/relationships/image" Target="../media/image42.png"/><Relationship Id="rId3" Type="http://schemas.openxmlformats.org/officeDocument/2006/relationships/image" Target="../media/image27.png"/><Relationship Id="rId21" Type="http://schemas.openxmlformats.org/officeDocument/2006/relationships/image" Target="../media/image45.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notesSlide" Target="../notesSlides/notesSlide15.xml"/><Relationship Id="rId16" Type="http://schemas.openxmlformats.org/officeDocument/2006/relationships/image" Target="../media/image40.png"/><Relationship Id="rId20" Type="http://schemas.openxmlformats.org/officeDocument/2006/relationships/image" Target="../media/image44.png"/><Relationship Id="rId1" Type="http://schemas.openxmlformats.org/officeDocument/2006/relationships/slideLayout" Target="../slideLayouts/slideLayout16.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19" Type="http://schemas.openxmlformats.org/officeDocument/2006/relationships/image" Target="../media/image43.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 Id="rId22" Type="http://schemas.openxmlformats.org/officeDocument/2006/relationships/image" Target="../media/image46.png"/></Relationships>
</file>

<file path=ppt/slides/_rels/slide2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hyperlink" Target="https://afl-1.readthedocs.io/en/latest/" TargetMode="External"/><Relationship Id="rId2" Type="http://schemas.openxmlformats.org/officeDocument/2006/relationships/hyperlink" Target="https://github.com/google/AFL" TargetMode="Externa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5.xml"/><Relationship Id="rId4" Type="http://schemas.openxmlformats.org/officeDocument/2006/relationships/image" Target="../media/image55.png"/></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hyperlink" Target="http://www.security-audit.com/" TargetMode="External"/><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3" Type="http://schemas.openxmlformats.org/officeDocument/2006/relationships/hyperlink" Target="http://baike.baidu.com/view/7167245.htm" TargetMode="External"/><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hyperlink" Target="http://example.com/app/admin_getappInfo" TargetMode="External"/><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hyperlink" Target="http://cdn.guru99.com/images/image001jpg.jpg" TargetMode="External"/><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7.png"/><Relationship Id="rId1" Type="http://schemas.openxmlformats.org/officeDocument/2006/relationships/slideLayout" Target="../slideLayouts/slideLayout15.xml"/><Relationship Id="rId4" Type="http://schemas.openxmlformats.org/officeDocument/2006/relationships/image" Target="../media/image68.png"/></Relationships>
</file>

<file path=ppt/slides/_rels/slide6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image" Target="../media/image71.jpeg"/></Relationships>
</file>

<file path=ppt/slides/_rels/slide6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jpeg"/><Relationship Id="rId3" Type="http://schemas.openxmlformats.org/officeDocument/2006/relationships/image" Target="../media/image74.jpeg"/><Relationship Id="rId7" Type="http://schemas.openxmlformats.org/officeDocument/2006/relationships/image" Target="../media/image78.png"/><Relationship Id="rId12" Type="http://schemas.openxmlformats.org/officeDocument/2006/relationships/image" Target="../media/image83.png"/><Relationship Id="rId2" Type="http://schemas.openxmlformats.org/officeDocument/2006/relationships/image" Target="../media/image73.png"/><Relationship Id="rId1" Type="http://schemas.openxmlformats.org/officeDocument/2006/relationships/slideLayout" Target="../slideLayouts/slideLayout15.xml"/><Relationship Id="rId6" Type="http://schemas.openxmlformats.org/officeDocument/2006/relationships/image" Target="../media/image77.jpeg"/><Relationship Id="rId11" Type="http://schemas.openxmlformats.org/officeDocument/2006/relationships/image" Target="../media/image82.png"/><Relationship Id="rId5" Type="http://schemas.openxmlformats.org/officeDocument/2006/relationships/image" Target="../media/image76.jpeg"/><Relationship Id="rId15" Type="http://schemas.openxmlformats.org/officeDocument/2006/relationships/image" Target="../media/image86.png"/><Relationship Id="rId10" Type="http://schemas.openxmlformats.org/officeDocument/2006/relationships/image" Target="../media/image81.pn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jpeg"/><Relationship Id="rId1" Type="http://schemas.openxmlformats.org/officeDocument/2006/relationships/slideLayout" Target="../slideLayouts/slideLayout4.xml"/><Relationship Id="rId4" Type="http://schemas.openxmlformats.org/officeDocument/2006/relationships/image" Target="../media/image9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92.tiff"/><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3.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8" Type="http://schemas.openxmlformats.org/officeDocument/2006/relationships/chart" Target="../charts/chart9.xml"/><Relationship Id="rId3" Type="http://schemas.openxmlformats.org/officeDocument/2006/relationships/chart" Target="../charts/chart4.xml"/><Relationship Id="rId7" Type="http://schemas.openxmlformats.org/officeDocument/2006/relationships/chart" Target="../charts/chart8.xml"/><Relationship Id="rId2" Type="http://schemas.openxmlformats.org/officeDocument/2006/relationships/chart" Target="../charts/chart3.xml"/><Relationship Id="rId1" Type="http://schemas.openxmlformats.org/officeDocument/2006/relationships/slideLayout" Target="../slideLayouts/slideLayout8.xml"/><Relationship Id="rId6" Type="http://schemas.openxmlformats.org/officeDocument/2006/relationships/chart" Target="../charts/chart7.xml"/><Relationship Id="rId5" Type="http://schemas.openxmlformats.org/officeDocument/2006/relationships/chart" Target="../charts/chart6.xml"/><Relationship Id="rId10" Type="http://schemas.openxmlformats.org/officeDocument/2006/relationships/chart" Target="../charts/chart11.xml"/><Relationship Id="rId4" Type="http://schemas.openxmlformats.org/officeDocument/2006/relationships/chart" Target="../charts/chart5.xml"/><Relationship Id="rId9" Type="http://schemas.openxmlformats.org/officeDocument/2006/relationships/chart" Target="../charts/chart10.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89890" y="1892935"/>
            <a:ext cx="7752624" cy="902513"/>
          </a:xfrm>
        </p:spPr>
        <p:txBody>
          <a:bodyPr>
            <a:noAutofit/>
          </a:bodyPr>
          <a:lstStyle/>
          <a:p>
            <a:pPr algn="l"/>
            <a:r>
              <a:rPr kumimoji="1" lang="zh-CN" altLang="en-US" sz="5400" b="1" dirty="0">
                <a:latin typeface="Tahoma" panose="020B0604030504040204" charset="0"/>
                <a:cs typeface="思源黑体 Bold" panose="020B0800000000000000" charset="-122"/>
              </a:rPr>
              <a:t>软件测试方法和技术</a:t>
            </a:r>
          </a:p>
        </p:txBody>
      </p:sp>
      <p:sp>
        <p:nvSpPr>
          <p:cNvPr id="4" name="文本占位符 3"/>
          <p:cNvSpPr>
            <a:spLocks noGrp="1"/>
          </p:cNvSpPr>
          <p:nvPr>
            <p:ph type="body" sz="quarter" idx="14"/>
          </p:nvPr>
        </p:nvSpPr>
        <p:spPr>
          <a:xfrm>
            <a:off x="4892361" y="4177487"/>
            <a:ext cx="2263140" cy="346710"/>
          </a:xfrm>
        </p:spPr>
        <p:txBody>
          <a:bodyPr>
            <a:noAutofit/>
          </a:bodyPr>
          <a:lstStyle/>
          <a:p>
            <a:r>
              <a:rPr kumimoji="1" lang="zh-CN" altLang="en-US" sz="1800" b="1" dirty="0">
                <a:solidFill>
                  <a:schemeClr val="bg1"/>
                </a:solidFill>
              </a:rPr>
              <a:t>河南大学 </a:t>
            </a:r>
            <a:r>
              <a:rPr kumimoji="1" sz="1800" b="1" dirty="0">
                <a:solidFill>
                  <a:schemeClr val="bg1"/>
                </a:solidFill>
              </a:rPr>
              <a:t> </a:t>
            </a:r>
            <a:r>
              <a:rPr kumimoji="1" lang="zh-CN" altLang="en-US" sz="1800" b="1" dirty="0">
                <a:solidFill>
                  <a:schemeClr val="bg1"/>
                </a:solidFill>
              </a:rPr>
              <a:t>冯东栋</a:t>
            </a:r>
            <a:endParaRPr kumimoji="1" sz="1800" b="1" dirty="0">
              <a:solidFill>
                <a:schemeClr val="bg1"/>
              </a:solidFill>
            </a:endParaRPr>
          </a:p>
        </p:txBody>
      </p:sp>
      <p:grpSp>
        <p:nvGrpSpPr>
          <p:cNvPr id="5" name="组合 10"/>
          <p:cNvGrpSpPr/>
          <p:nvPr/>
        </p:nvGrpSpPr>
        <p:grpSpPr>
          <a:xfrm>
            <a:off x="446405" y="1723390"/>
            <a:ext cx="6461760" cy="1363980"/>
            <a:chOff x="2666198" y="2543397"/>
            <a:chExt cx="7199697" cy="1316333"/>
          </a:xfrm>
        </p:grpSpPr>
        <p:cxnSp>
          <p:nvCxnSpPr>
            <p:cNvPr id="6" name="直线连接符 5"/>
            <p:cNvCxnSpPr/>
            <p:nvPr userDrawn="1"/>
          </p:nvCxnSpPr>
          <p:spPr>
            <a:xfrm>
              <a:off x="2666198" y="2543397"/>
              <a:ext cx="7199697" cy="0"/>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7" name="直线连接符 6"/>
            <p:cNvCxnSpPr/>
            <p:nvPr userDrawn="1"/>
          </p:nvCxnSpPr>
          <p:spPr>
            <a:xfrm>
              <a:off x="2666198" y="3859730"/>
              <a:ext cx="7199697" cy="0"/>
            </a:xfrm>
            <a:prstGeom prst="line">
              <a:avLst/>
            </a:prstGeom>
            <a:ln>
              <a:solidFill>
                <a:srgbClr val="8FAADC"/>
              </a:solidFill>
            </a:ln>
          </p:spPr>
          <p:style>
            <a:lnRef idx="1">
              <a:schemeClr val="accent1"/>
            </a:lnRef>
            <a:fillRef idx="0">
              <a:schemeClr val="accent1"/>
            </a:fillRef>
            <a:effectRef idx="0">
              <a:schemeClr val="accent1"/>
            </a:effectRef>
            <a:fontRef idx="minor">
              <a:schemeClr val="tx1"/>
            </a:fontRef>
          </p:style>
        </p:cxnSp>
      </p:grpSp>
      <p:sp>
        <p:nvSpPr>
          <p:cNvPr id="8" name="标题 2"/>
          <p:cNvSpPr>
            <a:spLocks noGrp="1"/>
          </p:cNvSpPr>
          <p:nvPr/>
        </p:nvSpPr>
        <p:spPr>
          <a:xfrm>
            <a:off x="446405" y="3142751"/>
            <a:ext cx="4950596" cy="814877"/>
          </a:xfrm>
          <a:prstGeom prst="rect">
            <a:avLst/>
          </a:prstGeom>
        </p:spPr>
        <p:txBody>
          <a:bodyPr vert="horz" lIns="91440" tIns="45720" rIns="91440" bIns="45720" rtlCol="0" anchor="ctr">
            <a:noAutofit/>
          </a:bodyPr>
          <a:lstStyle>
            <a:lvl1pPr algn="l" defTabSz="685800" rtl="0" eaLnBrk="1" latinLnBrk="0" hangingPunct="1">
              <a:lnSpc>
                <a:spcPct val="90000"/>
              </a:lnSpc>
              <a:spcBef>
                <a:spcPct val="0"/>
              </a:spcBef>
              <a:buNone/>
              <a:defRPr sz="4800" b="0" i="0" kern="1200" spc="300">
                <a:solidFill>
                  <a:schemeClr val="bg1"/>
                </a:solidFill>
                <a:latin typeface="微软雅黑" panose="020B0503020204020204" pitchFamily="34" charset="-122"/>
                <a:ea typeface="微软雅黑" panose="020B0503020204020204" pitchFamily="34" charset="-122"/>
                <a:cs typeface="思源黑体" panose="020F0502020204030204" charset="-122"/>
              </a:defRPr>
            </a:lvl1pPr>
          </a:lstStyle>
          <a:p>
            <a:pPr algn="l"/>
            <a:r>
              <a:rPr kumimoji="1" lang="zh-CN" altLang="en-US" sz="3600" b="1" dirty="0">
                <a:solidFill>
                  <a:srgbClr val="FFC000"/>
                </a:solidFill>
                <a:latin typeface="Tahoma" panose="020B0604030504040204" charset="0"/>
                <a:cs typeface="思源黑体 Bold" panose="020B0800000000000000" charset="-122"/>
              </a:rPr>
              <a:t>第</a:t>
            </a:r>
            <a:r>
              <a:rPr kumimoji="1" lang="en-US" altLang="zh-CN" sz="3600" b="1" dirty="0">
                <a:solidFill>
                  <a:srgbClr val="FFC000"/>
                </a:solidFill>
                <a:latin typeface="Tahoma" panose="020B0604030504040204" charset="0"/>
                <a:cs typeface="思源黑体 Bold" panose="020B0800000000000000" charset="-122"/>
              </a:rPr>
              <a:t>7</a:t>
            </a:r>
            <a:r>
              <a:rPr kumimoji="1" lang="zh-CN" altLang="en-US" sz="3600" b="1" dirty="0">
                <a:solidFill>
                  <a:srgbClr val="FFC000"/>
                </a:solidFill>
                <a:latin typeface="Tahoma" panose="020B0604030504040204" charset="0"/>
                <a:cs typeface="思源黑体 Bold" panose="020B0800000000000000" charset="-122"/>
              </a:rPr>
              <a:t>章 专项测试</a:t>
            </a:r>
          </a:p>
        </p:txBody>
      </p:sp>
      <p:sp>
        <p:nvSpPr>
          <p:cNvPr id="9" name="文本框 8">
            <a:extLst>
              <a:ext uri="{FF2B5EF4-FFF2-40B4-BE49-F238E27FC236}">
                <a16:creationId xmlns:a16="http://schemas.microsoft.com/office/drawing/2014/main" id="{FF1EEC69-5175-862D-3BE9-3F7C7F437663}"/>
              </a:ext>
            </a:extLst>
          </p:cNvPr>
          <p:cNvSpPr txBox="1"/>
          <p:nvPr/>
        </p:nvSpPr>
        <p:spPr>
          <a:xfrm>
            <a:off x="4572000" y="4744056"/>
            <a:ext cx="2669320" cy="338554"/>
          </a:xfrm>
          <a:prstGeom prst="rect">
            <a:avLst/>
          </a:prstGeom>
          <a:noFill/>
        </p:spPr>
        <p:txBody>
          <a:bodyPr wrap="none" rtlCol="0">
            <a:spAutoFit/>
          </a:bodyPr>
          <a:lstStyle/>
          <a:p>
            <a:r>
              <a:rPr kumimoji="1" lang="zh-CN" altLang="en-US" sz="1600" dirty="0">
                <a:solidFill>
                  <a:schemeClr val="bg1">
                    <a:lumMod val="65000"/>
                  </a:schemeClr>
                </a:solidFill>
              </a:rPr>
              <a:t>版权所有</a:t>
            </a:r>
            <a:r>
              <a:rPr kumimoji="1" lang="en-US" altLang="zh-CN" sz="1600" dirty="0">
                <a:solidFill>
                  <a:schemeClr val="bg1">
                    <a:lumMod val="65000"/>
                  </a:schemeClr>
                </a:solidFill>
              </a:rPr>
              <a:t>©️</a:t>
            </a:r>
            <a:r>
              <a:rPr kumimoji="1" lang="zh-CN" altLang="en-US" sz="1600" dirty="0">
                <a:solidFill>
                  <a:schemeClr val="bg1">
                    <a:lumMod val="65000"/>
                  </a:schemeClr>
                </a:solidFill>
              </a:rPr>
              <a:t> 仅限于教学使用</a:t>
            </a: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2661D26-85B6-511B-906D-F0CDFD6D980F}"/>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886367" y="853011"/>
            <a:ext cx="7732116" cy="895350"/>
          </a:xfrm>
        </p:spPr>
        <p:txBody>
          <a:bodyPr>
            <a:normAutofit/>
          </a:bodyPr>
          <a:lstStyle/>
          <a:p>
            <a:r>
              <a:rPr lang="en-US" altLang="zh-CN" sz="4800" b="1" dirty="0">
                <a:solidFill>
                  <a:schemeClr val="accent2">
                    <a:lumMod val="75000"/>
                  </a:schemeClr>
                </a:solidFill>
              </a:rPr>
              <a:t>7.2</a:t>
            </a:r>
            <a:r>
              <a:rPr lang="zh-CN" altLang="en-US" sz="4800" b="1" dirty="0">
                <a:solidFill>
                  <a:schemeClr val="accent2">
                    <a:lumMod val="75000"/>
                  </a:schemeClr>
                </a:solidFill>
              </a:rPr>
              <a:t> 安全性</a:t>
            </a:r>
            <a:r>
              <a:rPr lang="zh-CN" altLang="zh-CN" sz="4800" b="1" dirty="0">
                <a:solidFill>
                  <a:schemeClr val="accent2">
                    <a:lumMod val="75000"/>
                  </a:schemeClr>
                </a:solidFill>
              </a:rPr>
              <a:t>测试</a:t>
            </a:r>
            <a:endParaRPr lang="zh-CN" altLang="en-US" sz="4800" b="1" dirty="0">
              <a:solidFill>
                <a:schemeClr val="accent2">
                  <a:lumMod val="75000"/>
                </a:schemeClr>
              </a:solidFill>
            </a:endParaRPr>
          </a:p>
        </p:txBody>
      </p:sp>
    </p:spTree>
    <p:extLst>
      <p:ext uri="{BB962C8B-B14F-4D97-AF65-F5344CB8AC3E}">
        <p14:creationId xmlns:p14="http://schemas.microsoft.com/office/powerpoint/2010/main" val="3578716170"/>
      </p:ext>
    </p:extLst>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6"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eaLnBrk="1" hangingPunct="1"/>
            <a:fld id="{18C49F75-5B2C-C241-AC79-7C31A8B61480}" type="slidenum">
              <a:rPr lang="en-US" altLang="zh-CN"/>
              <a:pPr eaLnBrk="1" hangingPunct="1"/>
              <a:t>3</a:t>
            </a:fld>
            <a:endParaRPr lang="en-US" altLang="zh-CN"/>
          </a:p>
        </p:txBody>
      </p:sp>
      <p:sp>
        <p:nvSpPr>
          <p:cNvPr id="72709" name="TextBox 6"/>
          <p:cNvSpPr txBox="1">
            <a:spLocks noChangeArrowheads="1"/>
          </p:cNvSpPr>
          <p:nvPr/>
        </p:nvSpPr>
        <p:spPr bwMode="auto">
          <a:xfrm>
            <a:off x="464670" y="318217"/>
            <a:ext cx="3824763" cy="491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i="1">
                <a:solidFill>
                  <a:schemeClr val="tx1"/>
                </a:solidFill>
                <a:latin typeface="Arial" charset="0"/>
                <a:ea typeface="宋体" charset="0"/>
                <a:cs typeface="宋体" charset="0"/>
              </a:defRPr>
            </a:lvl1pPr>
            <a:lvl2pPr marL="742950" indent="-285750" eaLnBrk="0" hangingPunct="0">
              <a:defRPr i="1">
                <a:solidFill>
                  <a:schemeClr val="tx1"/>
                </a:solidFill>
                <a:latin typeface="Arial" charset="0"/>
                <a:ea typeface="宋体" charset="0"/>
              </a:defRPr>
            </a:lvl2pPr>
            <a:lvl3pPr marL="1143000" indent="-228600" eaLnBrk="0" hangingPunct="0">
              <a:defRPr i="1">
                <a:solidFill>
                  <a:schemeClr val="tx1"/>
                </a:solidFill>
                <a:latin typeface="Arial" charset="0"/>
                <a:ea typeface="宋体" charset="0"/>
              </a:defRPr>
            </a:lvl3pPr>
            <a:lvl4pPr marL="1600200" indent="-228600" eaLnBrk="0" hangingPunct="0">
              <a:defRPr i="1">
                <a:solidFill>
                  <a:schemeClr val="tx1"/>
                </a:solidFill>
                <a:latin typeface="Arial" charset="0"/>
                <a:ea typeface="宋体" charset="0"/>
              </a:defRPr>
            </a:lvl4pPr>
            <a:lvl5pPr marL="2057400" indent="-228600" eaLnBrk="0" hangingPunct="0">
              <a:defRPr i="1">
                <a:solidFill>
                  <a:schemeClr val="tx1"/>
                </a:solidFill>
                <a:latin typeface="Arial" charset="0"/>
                <a:ea typeface="宋体" charset="0"/>
              </a:defRPr>
            </a:lvl5pPr>
            <a:lvl6pPr marL="2514600" indent="-228600" eaLnBrk="0" fontAlgn="base" hangingPunct="0">
              <a:spcBef>
                <a:spcPct val="0"/>
              </a:spcBef>
              <a:spcAft>
                <a:spcPct val="0"/>
              </a:spcAft>
              <a:defRPr i="1">
                <a:solidFill>
                  <a:schemeClr val="tx1"/>
                </a:solidFill>
                <a:latin typeface="Arial" charset="0"/>
                <a:ea typeface="宋体" charset="0"/>
              </a:defRPr>
            </a:lvl6pPr>
            <a:lvl7pPr marL="2971800" indent="-228600" eaLnBrk="0" fontAlgn="base" hangingPunct="0">
              <a:spcBef>
                <a:spcPct val="0"/>
              </a:spcBef>
              <a:spcAft>
                <a:spcPct val="0"/>
              </a:spcAft>
              <a:defRPr i="1">
                <a:solidFill>
                  <a:schemeClr val="tx1"/>
                </a:solidFill>
                <a:latin typeface="Arial" charset="0"/>
                <a:ea typeface="宋体" charset="0"/>
              </a:defRPr>
            </a:lvl7pPr>
            <a:lvl8pPr marL="3429000" indent="-228600" eaLnBrk="0" fontAlgn="base" hangingPunct="0">
              <a:spcBef>
                <a:spcPct val="0"/>
              </a:spcBef>
              <a:spcAft>
                <a:spcPct val="0"/>
              </a:spcAft>
              <a:defRPr i="1">
                <a:solidFill>
                  <a:schemeClr val="tx1"/>
                </a:solidFill>
                <a:latin typeface="Arial" charset="0"/>
                <a:ea typeface="宋体" charset="0"/>
              </a:defRPr>
            </a:lvl8pPr>
            <a:lvl9pPr marL="3886200" indent="-228600" eaLnBrk="0" fontAlgn="base" hangingPunct="0">
              <a:spcBef>
                <a:spcPct val="0"/>
              </a:spcBef>
              <a:spcAft>
                <a:spcPct val="0"/>
              </a:spcAft>
              <a:defRPr i="1">
                <a:solidFill>
                  <a:schemeClr val="tx1"/>
                </a:solidFill>
                <a:latin typeface="Arial" charset="0"/>
                <a:ea typeface="宋体" charset="0"/>
              </a:defRPr>
            </a:lvl9pPr>
          </a:lstStyle>
          <a:p>
            <a:pPr defTabSz="685800" eaLnBrk="1" hangingPunct="1">
              <a:lnSpc>
                <a:spcPct val="90000"/>
              </a:lnSpc>
              <a:spcBef>
                <a:spcPct val="0"/>
              </a:spcBef>
              <a:buClr>
                <a:schemeClr val="accent4"/>
              </a:buClr>
            </a:pPr>
            <a:r>
              <a:rPr kumimoji="1" lang="zh-CN" altLang="en-US" sz="2800" b="1" i="0" dirty="0">
                <a:solidFill>
                  <a:srgbClr val="0070C0"/>
                </a:solidFill>
                <a:latin typeface="Microsoft YaHei" panose="020B0503020204020204" pitchFamily="34" charset="-122"/>
                <a:ea typeface="Microsoft YaHei" panose="020B0503020204020204" pitchFamily="34" charset="-122"/>
              </a:rPr>
              <a:t>知道它们的区分吗？</a:t>
            </a:r>
          </a:p>
        </p:txBody>
      </p:sp>
      <p:grpSp>
        <p:nvGrpSpPr>
          <p:cNvPr id="8" name="组 7"/>
          <p:cNvGrpSpPr/>
          <p:nvPr/>
        </p:nvGrpSpPr>
        <p:grpSpPr>
          <a:xfrm>
            <a:off x="4831229" y="1340413"/>
            <a:ext cx="3240360" cy="3110746"/>
            <a:chOff x="251520" y="1129308"/>
            <a:chExt cx="4248472" cy="4320480"/>
          </a:xfrm>
        </p:grpSpPr>
        <p:pic>
          <p:nvPicPr>
            <p:cNvPr id="5" name="图片 4"/>
            <p:cNvPicPr>
              <a:picLocks noChangeAspect="1"/>
            </p:cNvPicPr>
            <p:nvPr/>
          </p:nvPicPr>
          <p:blipFill>
            <a:blip r:embed="rId3"/>
            <a:stretch>
              <a:fillRect/>
            </a:stretch>
          </p:blipFill>
          <p:spPr>
            <a:xfrm>
              <a:off x="251520" y="1129308"/>
              <a:ext cx="4248472" cy="4320480"/>
            </a:xfrm>
            <a:prstGeom prst="rect">
              <a:avLst/>
            </a:prstGeom>
          </p:spPr>
        </p:pic>
        <p:sp>
          <p:nvSpPr>
            <p:cNvPr id="10" name="矩形 9"/>
            <p:cNvSpPr/>
            <p:nvPr/>
          </p:nvSpPr>
          <p:spPr>
            <a:xfrm>
              <a:off x="1979711" y="4729708"/>
              <a:ext cx="1335009" cy="474489"/>
            </a:xfrm>
            <a:prstGeom prst="rect">
              <a:avLst/>
            </a:prstGeom>
          </p:spPr>
          <p:txBody>
            <a:bodyPr wrap="none">
              <a:spAutoFit/>
            </a:bodyPr>
            <a:lstStyle/>
            <a:p>
              <a:pPr>
                <a:defRPr/>
              </a:pPr>
              <a:r>
                <a:rPr lang="zh-CN" altLang="en-US" sz="1620" dirty="0">
                  <a:solidFill>
                    <a:schemeClr val="bg1">
                      <a:lumMod val="95000"/>
                    </a:schemeClr>
                  </a:solidFill>
                  <a:ea typeface="宋体" charset="-122"/>
                </a:rPr>
                <a:t>黑帽黑客</a:t>
              </a:r>
            </a:p>
          </p:txBody>
        </p:sp>
      </p:grpSp>
      <p:grpSp>
        <p:nvGrpSpPr>
          <p:cNvPr id="7" name="组 6"/>
          <p:cNvGrpSpPr/>
          <p:nvPr/>
        </p:nvGrpSpPr>
        <p:grpSpPr>
          <a:xfrm>
            <a:off x="1202026" y="1340413"/>
            <a:ext cx="3175553" cy="3175553"/>
            <a:chOff x="4211960" y="-598884"/>
            <a:chExt cx="4360720" cy="4320480"/>
          </a:xfrm>
        </p:grpSpPr>
        <p:pic>
          <p:nvPicPr>
            <p:cNvPr id="4" name="图片 3"/>
            <p:cNvPicPr>
              <a:picLocks noChangeAspect="1"/>
            </p:cNvPicPr>
            <p:nvPr/>
          </p:nvPicPr>
          <p:blipFill>
            <a:blip r:embed="rId4"/>
            <a:stretch>
              <a:fillRect/>
            </a:stretch>
          </p:blipFill>
          <p:spPr>
            <a:xfrm>
              <a:off x="4211960" y="-598884"/>
              <a:ext cx="4360720" cy="4320480"/>
            </a:xfrm>
            <a:prstGeom prst="rect">
              <a:avLst/>
            </a:prstGeom>
          </p:spPr>
        </p:pic>
        <p:sp>
          <p:nvSpPr>
            <p:cNvPr id="72711" name="矩形 8"/>
            <p:cNvSpPr>
              <a:spLocks noChangeArrowheads="1"/>
            </p:cNvSpPr>
            <p:nvPr/>
          </p:nvSpPr>
          <p:spPr bwMode="auto">
            <a:xfrm rot="20646624">
              <a:off x="6549602" y="2286910"/>
              <a:ext cx="1398246" cy="4648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r>
                <a:rPr lang="zh-CN" altLang="en-US" sz="1620" dirty="0"/>
                <a:t>白帽黑客</a:t>
              </a:r>
            </a:p>
          </p:txBody>
        </p:sp>
      </p:grpSp>
    </p:spTree>
    <p:extLst>
      <p:ext uri="{BB962C8B-B14F-4D97-AF65-F5344CB8AC3E}">
        <p14:creationId xmlns:p14="http://schemas.microsoft.com/office/powerpoint/2010/main" val="65260738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674421" y="971773"/>
            <a:ext cx="4388467" cy="2712720"/>
          </a:xfrm>
        </p:spPr>
        <p:txBody>
          <a:bodyPr>
            <a:noAutofit/>
          </a:bodyPr>
          <a:lstStyle/>
          <a:p>
            <a:pPr marL="457200" lvl="0" indent="-457200">
              <a:buFont typeface="+mj-ea"/>
              <a:buAutoNum type="circleNumDbPlain"/>
            </a:pPr>
            <a:r>
              <a:rPr lang="zh-CN" altLang="zh-CN" sz="2000" dirty="0"/>
              <a:t>威胁模型与安全漏洞模式</a:t>
            </a:r>
          </a:p>
          <a:p>
            <a:pPr marL="457200" lvl="0" indent="-457200">
              <a:buFont typeface="+mj-ea"/>
              <a:buAutoNum type="circleNumDbPlain"/>
            </a:pPr>
            <a:r>
              <a:rPr lang="zh-CN" altLang="zh-CN" sz="2000" dirty="0"/>
              <a:t>安全性测试的范围与方法</a:t>
            </a:r>
            <a:r>
              <a:rPr lang="en-US" altLang="zh-CN" sz="2000" dirty="0"/>
              <a:t>	</a:t>
            </a:r>
            <a:endParaRPr lang="zh-CN" altLang="zh-CN" sz="2000" dirty="0"/>
          </a:p>
          <a:p>
            <a:pPr marL="457200" lvl="0" indent="-457200">
              <a:buFont typeface="+mj-ea"/>
              <a:buAutoNum type="circleNumDbPlain"/>
            </a:pPr>
            <a:r>
              <a:rPr lang="zh-CN" altLang="zh-CN" sz="2000" dirty="0"/>
              <a:t>贯穿研发生命周期的安全性测试</a:t>
            </a:r>
          </a:p>
          <a:p>
            <a:pPr marL="457200" lvl="0" indent="-457200">
              <a:buFont typeface="+mj-ea"/>
              <a:buAutoNum type="circleNumDbPlain"/>
            </a:pPr>
            <a:r>
              <a:rPr lang="en-US" altLang="zh-CN" sz="2000" dirty="0"/>
              <a:t>Web</a:t>
            </a:r>
            <a:r>
              <a:rPr lang="zh-CN" altLang="zh-CN" sz="2000" dirty="0"/>
              <a:t>安全性测试</a:t>
            </a:r>
            <a:endParaRPr lang="en-US" altLang="zh-CN" sz="2000" dirty="0"/>
          </a:p>
        </p:txBody>
      </p:sp>
      <p:sp>
        <p:nvSpPr>
          <p:cNvPr id="4" name="文本框 3">
            <a:extLst>
              <a:ext uri="{FF2B5EF4-FFF2-40B4-BE49-F238E27FC236}">
                <a16:creationId xmlns:a16="http://schemas.microsoft.com/office/drawing/2014/main" id="{0D3B18DF-8269-ACEE-EB0A-60D6518BFB70}"/>
              </a:ext>
            </a:extLst>
          </p:cNvPr>
          <p:cNvSpPr txBox="1"/>
          <p:nvPr/>
        </p:nvSpPr>
        <p:spPr>
          <a:xfrm>
            <a:off x="991403" y="335097"/>
            <a:ext cx="4620126" cy="480131"/>
          </a:xfrm>
          <a:prstGeom prst="rect">
            <a:avLst/>
          </a:prstGeom>
          <a:noFill/>
        </p:spPr>
        <p:txBody>
          <a:bodyPr wrap="square">
            <a:spAutoFit/>
          </a:bodyPr>
          <a:lstStyle/>
          <a:p>
            <a:pPr defTabSz="685800">
              <a:lnSpc>
                <a:spcPct val="90000"/>
              </a:lnSpc>
              <a:spcBef>
                <a:spcPct val="0"/>
              </a:spcBef>
              <a:buClr>
                <a:schemeClr val="accent4"/>
              </a:buClr>
            </a:pPr>
            <a:r>
              <a:rPr kumimoji="1" lang="zh-CN" altLang="en-US" sz="2800" b="1" dirty="0">
                <a:solidFill>
                  <a:srgbClr val="0070C0"/>
                </a:solidFill>
                <a:latin typeface="Microsoft YaHei" panose="020B0503020204020204" pitchFamily="34" charset="-122"/>
                <a:ea typeface="Microsoft YaHei" panose="020B0503020204020204" pitchFamily="34" charset="-122"/>
              </a:rPr>
              <a:t>安全性</a:t>
            </a:r>
            <a:r>
              <a:rPr kumimoji="1" lang="zh-CN" altLang="zh-CN" sz="2800" b="1" dirty="0">
                <a:solidFill>
                  <a:srgbClr val="0070C0"/>
                </a:solidFill>
                <a:latin typeface="Microsoft YaHei" panose="020B0503020204020204" pitchFamily="34" charset="-122"/>
                <a:ea typeface="Microsoft YaHei" panose="020B0503020204020204" pitchFamily="34" charset="-122"/>
              </a:rPr>
              <a:t>测试 </a:t>
            </a:r>
            <a:endParaRPr kumimoji="1" lang="en-US" altLang="zh-CN" sz="2800" b="1" dirty="0">
              <a:solidFill>
                <a:srgbClr val="0070C0"/>
              </a:solidFill>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2D778C33-C782-70AF-CC84-5EC402A15C44}"/>
              </a:ext>
            </a:extLst>
          </p:cNvPr>
          <p:cNvPicPr>
            <a:picLocks noChangeAspect="1"/>
          </p:cNvPicPr>
          <p:nvPr/>
        </p:nvPicPr>
        <p:blipFill>
          <a:blip r:embed="rId3"/>
          <a:stretch>
            <a:fillRect/>
          </a:stretch>
        </p:blipFill>
        <p:spPr>
          <a:xfrm>
            <a:off x="5467810" y="971773"/>
            <a:ext cx="3481746" cy="2871248"/>
          </a:xfrm>
          <a:prstGeom prst="rect">
            <a:avLst/>
          </a:prstGeom>
        </p:spPr>
      </p:pic>
    </p:spTree>
    <p:extLst>
      <p:ext uri="{BB962C8B-B14F-4D97-AF65-F5344CB8AC3E}">
        <p14:creationId xmlns:p14="http://schemas.microsoft.com/office/powerpoint/2010/main" val="3631415371"/>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1273947" y="1987998"/>
            <a:ext cx="6596106" cy="784830"/>
          </a:xfrm>
          <a:prstGeom prst="rect">
            <a:avLst/>
          </a:prstGeom>
        </p:spPr>
        <p:txBody>
          <a:bodyPr wrap="square">
            <a:spAutoFit/>
          </a:bodyPr>
          <a:lstStyle/>
          <a:p>
            <a:pPr algn="ctr"/>
            <a:r>
              <a:rPr lang="zh-CN" altLang="zh-CN" sz="4500" b="1" dirty="0">
                <a:ln w="19050">
                  <a:noFill/>
                </a:ln>
                <a:solidFill>
                  <a:srgbClr val="FFFFFF"/>
                </a:solidFill>
                <a:latin typeface="微软雅黑" panose="020B0503020204020204" charset="-122"/>
                <a:ea typeface="微软雅黑" panose="020B0503020204020204" charset="-122"/>
              </a:rPr>
              <a:t>威胁模型与安全漏洞模式</a:t>
            </a:r>
          </a:p>
        </p:txBody>
      </p:sp>
    </p:spTree>
    <p:extLst>
      <p:ext uri="{BB962C8B-B14F-4D97-AF65-F5344CB8AC3E}">
        <p14:creationId xmlns:p14="http://schemas.microsoft.com/office/powerpoint/2010/main" val="3058650282"/>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604954" y="370712"/>
            <a:ext cx="5357455" cy="421481"/>
          </a:xfrm>
        </p:spPr>
        <p:txBody>
          <a:bodyPr>
            <a:noAutofit/>
          </a:bodyPr>
          <a:lstStyle/>
          <a:p>
            <a:pPr>
              <a:buClr>
                <a:schemeClr val="accent4"/>
              </a:buClr>
            </a:pPr>
            <a:r>
              <a:rPr lang="zh-CN" altLang="en-US" dirty="0"/>
              <a:t>安全性缺陷</a:t>
            </a:r>
            <a:r>
              <a:rPr lang="en-US" altLang="zh-CN" dirty="0"/>
              <a:t> </a:t>
            </a:r>
            <a:r>
              <a:rPr lang="zh-CN" altLang="en-US" dirty="0"/>
              <a:t>－</a:t>
            </a:r>
            <a:r>
              <a:rPr lang="en-US" altLang="zh-CN" dirty="0"/>
              <a:t> </a:t>
            </a:r>
            <a:r>
              <a:rPr lang="zh-CN" altLang="en-US" dirty="0"/>
              <a:t>漏洞</a:t>
            </a:r>
          </a:p>
        </p:txBody>
      </p:sp>
      <p:sp>
        <p:nvSpPr>
          <p:cNvPr id="3" name="内容占位符 2"/>
          <p:cNvSpPr>
            <a:spLocks noGrp="1"/>
          </p:cNvSpPr>
          <p:nvPr>
            <p:ph idx="1"/>
          </p:nvPr>
        </p:nvSpPr>
        <p:spPr>
          <a:xfrm>
            <a:off x="1137218" y="1275606"/>
            <a:ext cx="6480720" cy="972108"/>
          </a:xfrm>
        </p:spPr>
        <p:txBody>
          <a:bodyPr>
            <a:normAutofit fontScale="62500" lnSpcReduction="20000"/>
          </a:bodyPr>
          <a:lstStyle/>
          <a:p>
            <a:r>
              <a:rPr lang="zh-CN" altLang="en-US" b="1" dirty="0">
                <a:solidFill>
                  <a:srgbClr val="0000FF"/>
                </a:solidFill>
                <a:ea typeface="楷体"/>
                <a:cs typeface="楷体"/>
              </a:rPr>
              <a:t>脆弱性</a:t>
            </a:r>
            <a:r>
              <a:rPr lang="zh-CN" altLang="en-US" dirty="0">
                <a:solidFill>
                  <a:srgbClr val="0000FF"/>
                </a:solidFill>
                <a:ea typeface="楷体"/>
                <a:cs typeface="楷体"/>
              </a:rPr>
              <a:t>（</a:t>
            </a:r>
            <a:r>
              <a:rPr lang="en-US" altLang="zh-CN" dirty="0">
                <a:solidFill>
                  <a:srgbClr val="0000FF"/>
                </a:solidFill>
                <a:ea typeface="楷体"/>
                <a:cs typeface="楷体"/>
              </a:rPr>
              <a:t>vulnerability</a:t>
            </a:r>
            <a:r>
              <a:rPr lang="zh-CN" altLang="en-US" dirty="0">
                <a:solidFill>
                  <a:srgbClr val="0000FF"/>
                </a:solidFill>
                <a:ea typeface="楷体"/>
                <a:cs typeface="楷体"/>
              </a:rPr>
              <a:t>），又称弱点或漏洞</a:t>
            </a:r>
            <a:r>
              <a:rPr lang="zh-CN" altLang="en-US" dirty="0">
                <a:ea typeface="楷体"/>
                <a:cs typeface="楷体"/>
              </a:rPr>
              <a:t>，是</a:t>
            </a:r>
            <a:r>
              <a:rPr lang="en-US" altLang="zh-CN" dirty="0">
                <a:ea typeface="楷体"/>
                <a:cs typeface="楷体"/>
              </a:rPr>
              <a:t>IT</a:t>
            </a:r>
            <a:r>
              <a:rPr lang="zh-CN" altLang="en-US" dirty="0">
                <a:ea typeface="楷体"/>
                <a:cs typeface="楷体"/>
              </a:rPr>
              <a:t>系统中存在的可能被威胁利用造成损害的薄弱环节，脆弱性一旦被威胁成功利用就可能违犯安全策略</a:t>
            </a:r>
            <a:r>
              <a:rPr lang="en-US" altLang="zh-CN" dirty="0">
                <a:ea typeface="楷体"/>
                <a:cs typeface="楷体"/>
              </a:rPr>
              <a:t>, </a:t>
            </a:r>
            <a:r>
              <a:rPr lang="zh-CN" altLang="en-US" dirty="0">
                <a:ea typeface="楷体"/>
                <a:cs typeface="楷体"/>
              </a:rPr>
              <a:t>对</a:t>
            </a:r>
            <a:r>
              <a:rPr lang="en-US" altLang="zh-CN" dirty="0">
                <a:ea typeface="楷体"/>
                <a:cs typeface="楷体"/>
              </a:rPr>
              <a:t>IT</a:t>
            </a:r>
            <a:r>
              <a:rPr lang="zh-CN" altLang="en-US" dirty="0">
                <a:ea typeface="楷体"/>
                <a:cs typeface="楷体"/>
              </a:rPr>
              <a:t>系统（资产）造成损害</a:t>
            </a:r>
            <a:endParaRPr lang="en-US" altLang="zh-CN" dirty="0">
              <a:ea typeface="楷体"/>
              <a:cs typeface="楷体"/>
            </a:endParaRPr>
          </a:p>
          <a:p>
            <a:endParaRPr kumimoji="1" lang="zh-CN" altLang="en-US" dirty="0"/>
          </a:p>
        </p:txBody>
      </p:sp>
      <p:sp>
        <p:nvSpPr>
          <p:cNvPr id="4" name="幻灯片编号占位符 3"/>
          <p:cNvSpPr>
            <a:spLocks noGrp="1"/>
          </p:cNvSpPr>
          <p:nvPr>
            <p:ph type="sldNum" sz="quarter" idx="10"/>
          </p:nvPr>
        </p:nvSpPr>
        <p:spPr>
          <a:xfrm>
            <a:off x="0" y="4924269"/>
            <a:ext cx="9144000" cy="201216"/>
          </a:xfrm>
        </p:spPr>
        <p:txBody>
          <a:bodyPr/>
          <a:lstStyle/>
          <a:p>
            <a:fld id="{DBE2DA07-CE19-4C9B-A0EC-06D3955056CF}" type="slidenum">
              <a:rPr lang="en-US" altLang="zh-CN" smtClean="0"/>
              <a:pPr/>
              <a:t>6</a:t>
            </a:fld>
            <a:endParaRPr lang="en-US" altLang="zh-CN"/>
          </a:p>
        </p:txBody>
      </p:sp>
      <p:pic>
        <p:nvPicPr>
          <p:cNvPr id="6" name="图片 5"/>
          <p:cNvPicPr>
            <a:picLocks noChangeAspect="1"/>
          </p:cNvPicPr>
          <p:nvPr/>
        </p:nvPicPr>
        <p:blipFill>
          <a:blip r:embed="rId3"/>
          <a:stretch>
            <a:fillRect/>
          </a:stretch>
        </p:blipFill>
        <p:spPr>
          <a:xfrm>
            <a:off x="4312771" y="2636557"/>
            <a:ext cx="3299276" cy="1814602"/>
          </a:xfrm>
          <a:prstGeom prst="rect">
            <a:avLst/>
          </a:prstGeom>
        </p:spPr>
      </p:pic>
      <p:pic>
        <p:nvPicPr>
          <p:cNvPr id="7" name="图片 6"/>
          <p:cNvPicPr>
            <a:picLocks noChangeAspect="1"/>
          </p:cNvPicPr>
          <p:nvPr/>
        </p:nvPicPr>
        <p:blipFill>
          <a:blip r:embed="rId4"/>
          <a:stretch>
            <a:fillRect/>
          </a:stretch>
        </p:blipFill>
        <p:spPr>
          <a:xfrm>
            <a:off x="1072411" y="2636557"/>
            <a:ext cx="3128623" cy="1814602"/>
          </a:xfrm>
          <a:prstGeom prst="rect">
            <a:avLst/>
          </a:prstGeom>
        </p:spPr>
      </p:pic>
    </p:spTree>
    <p:extLst>
      <p:ext uri="{BB962C8B-B14F-4D97-AF65-F5344CB8AC3E}">
        <p14:creationId xmlns:p14="http://schemas.microsoft.com/office/powerpoint/2010/main" val="732630902"/>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5499038" y="1981422"/>
            <a:ext cx="3601192" cy="2397866"/>
          </a:xfrm>
          <a:prstGeom prst="rect">
            <a:avLst/>
          </a:prstGeom>
        </p:spPr>
      </p:pic>
      <p:sp>
        <p:nvSpPr>
          <p:cNvPr id="2" name="标题 1"/>
          <p:cNvSpPr>
            <a:spLocks noGrp="1"/>
          </p:cNvSpPr>
          <p:nvPr>
            <p:ph type="title"/>
          </p:nvPr>
        </p:nvSpPr>
        <p:spPr>
          <a:xfrm>
            <a:off x="587736" y="367954"/>
            <a:ext cx="5227818" cy="421482"/>
          </a:xfrm>
        </p:spPr>
        <p:txBody>
          <a:bodyPr>
            <a:noAutofit/>
          </a:bodyPr>
          <a:lstStyle/>
          <a:p>
            <a:pPr>
              <a:buClr>
                <a:schemeClr val="accent4"/>
              </a:buClr>
            </a:pPr>
            <a:r>
              <a:rPr lang="zh-CN" altLang="en-US" dirty="0"/>
              <a:t>安全性：漏洞来源</a:t>
            </a:r>
          </a:p>
        </p:txBody>
      </p:sp>
      <p:sp>
        <p:nvSpPr>
          <p:cNvPr id="4" name="幻灯片编号占位符 3"/>
          <p:cNvSpPr>
            <a:spLocks noGrp="1"/>
          </p:cNvSpPr>
          <p:nvPr>
            <p:ph type="sldNum" sz="quarter" idx="10"/>
          </p:nvPr>
        </p:nvSpPr>
        <p:spPr/>
        <p:txBody>
          <a:bodyPr/>
          <a:lstStyle/>
          <a:p>
            <a:fld id="{465EFE0A-B425-5D4C-B2B5-64972D2E3BEB}" type="slidenum">
              <a:rPr lang="en-US" altLang="zh-CN" smtClean="0"/>
              <a:pPr/>
              <a:t>7</a:t>
            </a:fld>
            <a:endParaRPr lang="en-US" altLang="zh-CN"/>
          </a:p>
        </p:txBody>
      </p:sp>
      <p:sp>
        <p:nvSpPr>
          <p:cNvPr id="6" name="圆角矩形 5"/>
          <p:cNvSpPr/>
          <p:nvPr/>
        </p:nvSpPr>
        <p:spPr bwMode="gray">
          <a:xfrm>
            <a:off x="1797508" y="1599643"/>
            <a:ext cx="842494" cy="378042"/>
          </a:xfrm>
          <a:prstGeom prst="roundRect">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kumimoji="1" lang="zh-CN" altLang="en-US" sz="1620" dirty="0">
                <a:solidFill>
                  <a:srgbClr val="FF6600"/>
                </a:solidFill>
              </a:rPr>
              <a:t>故意</a:t>
            </a:r>
          </a:p>
        </p:txBody>
      </p:sp>
      <p:sp>
        <p:nvSpPr>
          <p:cNvPr id="8" name="圆角矩形 7"/>
          <p:cNvSpPr/>
          <p:nvPr/>
        </p:nvSpPr>
        <p:spPr bwMode="gray">
          <a:xfrm>
            <a:off x="1862315" y="3414244"/>
            <a:ext cx="842494" cy="378042"/>
          </a:xfrm>
          <a:prstGeom prst="roundRect">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kumimoji="1" lang="zh-CN" altLang="en-US" sz="1620" dirty="0"/>
              <a:t>无意</a:t>
            </a:r>
          </a:p>
        </p:txBody>
      </p:sp>
      <p:grpSp>
        <p:nvGrpSpPr>
          <p:cNvPr id="3" name="组 2"/>
          <p:cNvGrpSpPr/>
          <p:nvPr/>
        </p:nvGrpSpPr>
        <p:grpSpPr>
          <a:xfrm>
            <a:off x="2704809" y="1275607"/>
            <a:ext cx="4925347" cy="950505"/>
            <a:chOff x="2699792" y="1201316"/>
            <a:chExt cx="5472608" cy="1056117"/>
          </a:xfrm>
        </p:grpSpPr>
        <p:sp>
          <p:nvSpPr>
            <p:cNvPr id="11" name="左大括号 10"/>
            <p:cNvSpPr/>
            <p:nvPr/>
          </p:nvSpPr>
          <p:spPr bwMode="auto">
            <a:xfrm>
              <a:off x="2699792" y="1417340"/>
              <a:ext cx="360040" cy="840093"/>
            </a:xfrm>
            <a:prstGeom prst="leftBrace">
              <a:avLst>
                <a:gd name="adj1" fmla="val 28606"/>
                <a:gd name="adj2" fmla="val 50000"/>
              </a:avLst>
            </a:prstGeom>
            <a:noFill/>
            <a:ln w="19050" cap="flat" cmpd="sng" algn="ctr">
              <a:solidFill>
                <a:schemeClr val="accent1">
                  <a:lumMod val="50000"/>
                </a:schemeClr>
              </a:solid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pPr>
              <a:endParaRPr lang="zh-CN" altLang="en-US" sz="1620" i="1">
                <a:solidFill>
                  <a:srgbClr val="FF6600"/>
                </a:solidFill>
                <a:latin typeface="Arial" charset="0"/>
                <a:ea typeface="宋体" pitchFamily="2" charset="-122"/>
              </a:endParaRPr>
            </a:p>
          </p:txBody>
        </p:sp>
        <p:sp>
          <p:nvSpPr>
            <p:cNvPr id="12" name="文本框 11"/>
            <p:cNvSpPr txBox="1"/>
            <p:nvPr/>
          </p:nvSpPr>
          <p:spPr>
            <a:xfrm>
              <a:off x="3131840" y="1201316"/>
              <a:ext cx="5040560" cy="978830"/>
            </a:xfrm>
            <a:prstGeom prst="rect">
              <a:avLst/>
            </a:prstGeom>
            <a:noFill/>
          </p:spPr>
          <p:txBody>
            <a:bodyPr wrap="square" rtlCol="0">
              <a:spAutoFit/>
            </a:bodyPr>
            <a:lstStyle/>
            <a:p>
              <a:pPr marL="257175" indent="-257175">
                <a:lnSpc>
                  <a:spcPct val="150000"/>
                </a:lnSpc>
                <a:buFont typeface="Arial"/>
                <a:buChar char="•"/>
              </a:pPr>
              <a:r>
                <a:rPr kumimoji="1" lang="zh-CN" altLang="en-US" dirty="0">
                  <a:solidFill>
                    <a:srgbClr val="FF6600"/>
                  </a:solidFill>
                </a:rPr>
                <a:t>恶意：木马病毒、陷门、逻辑</a:t>
              </a:r>
              <a:r>
                <a:rPr kumimoji="1" lang="en-US" altLang="zh-CN" dirty="0">
                  <a:solidFill>
                    <a:srgbClr val="FF6600"/>
                  </a:solidFill>
                </a:rPr>
                <a:t>/</a:t>
              </a:r>
              <a:r>
                <a:rPr kumimoji="1" lang="zh-CN" altLang="en-US" dirty="0">
                  <a:solidFill>
                    <a:srgbClr val="FF6600"/>
                  </a:solidFill>
                </a:rPr>
                <a:t>定时炸弹</a:t>
              </a:r>
              <a:endParaRPr kumimoji="1" lang="en-US" altLang="zh-CN" dirty="0">
                <a:solidFill>
                  <a:srgbClr val="FF6600"/>
                </a:solidFill>
              </a:endParaRPr>
            </a:p>
            <a:p>
              <a:pPr marL="257175" indent="-257175">
                <a:lnSpc>
                  <a:spcPct val="150000"/>
                </a:lnSpc>
                <a:buFont typeface="Arial"/>
                <a:buChar char="•"/>
              </a:pPr>
              <a:r>
                <a:rPr kumimoji="1" lang="zh-CN" altLang="en-US" dirty="0">
                  <a:solidFill>
                    <a:srgbClr val="FF6600"/>
                  </a:solidFill>
                </a:rPr>
                <a:t>非恶意：如隐秘通道</a:t>
              </a:r>
              <a:endParaRPr kumimoji="1" lang="en-US" altLang="zh-CN" dirty="0">
                <a:solidFill>
                  <a:srgbClr val="FF6600"/>
                </a:solidFill>
              </a:endParaRPr>
            </a:p>
          </p:txBody>
        </p:sp>
      </p:grpSp>
      <p:grpSp>
        <p:nvGrpSpPr>
          <p:cNvPr id="16" name="组 15"/>
          <p:cNvGrpSpPr/>
          <p:nvPr/>
        </p:nvGrpSpPr>
        <p:grpSpPr>
          <a:xfrm>
            <a:off x="2769616" y="2442136"/>
            <a:ext cx="3045938" cy="2297873"/>
            <a:chOff x="2771800" y="2497460"/>
            <a:chExt cx="3384376" cy="2553192"/>
          </a:xfrm>
        </p:grpSpPr>
        <p:sp>
          <p:nvSpPr>
            <p:cNvPr id="10" name="文本框 9"/>
            <p:cNvSpPr txBox="1"/>
            <p:nvPr/>
          </p:nvSpPr>
          <p:spPr>
            <a:xfrm>
              <a:off x="3203848" y="2497460"/>
              <a:ext cx="2952328" cy="2553192"/>
            </a:xfrm>
            <a:prstGeom prst="rect">
              <a:avLst/>
            </a:prstGeom>
            <a:noFill/>
          </p:spPr>
          <p:txBody>
            <a:bodyPr wrap="square" rtlCol="0">
              <a:spAutoFit/>
            </a:bodyPr>
            <a:lstStyle/>
            <a:p>
              <a:pPr marL="257175" indent="-257175">
                <a:lnSpc>
                  <a:spcPct val="150000"/>
                </a:lnSpc>
                <a:buFont typeface="Arial"/>
                <a:buChar char="•"/>
              </a:pPr>
              <a:r>
                <a:rPr kumimoji="1" lang="zh-CN" altLang="en-US" sz="1620" dirty="0"/>
                <a:t>校验错误</a:t>
              </a:r>
              <a:endParaRPr kumimoji="1" lang="en-US" altLang="zh-CN" sz="1620" dirty="0"/>
            </a:p>
            <a:p>
              <a:pPr marL="257175" indent="-257175">
                <a:lnSpc>
                  <a:spcPct val="150000"/>
                </a:lnSpc>
                <a:buFont typeface="Arial"/>
                <a:buChar char="•"/>
              </a:pPr>
              <a:r>
                <a:rPr kumimoji="1" lang="zh-CN" altLang="en-US" sz="1620" dirty="0"/>
                <a:t>范围错误</a:t>
              </a:r>
              <a:endParaRPr kumimoji="1" lang="en-US" altLang="zh-CN" sz="1620" dirty="0"/>
            </a:p>
            <a:p>
              <a:pPr marL="257175" indent="-257175">
                <a:lnSpc>
                  <a:spcPct val="150000"/>
                </a:lnSpc>
                <a:buFont typeface="Arial"/>
                <a:buChar char="•"/>
              </a:pPr>
              <a:r>
                <a:rPr kumimoji="1" lang="zh-CN" altLang="en-US" sz="1620" dirty="0"/>
                <a:t>串行错误</a:t>
              </a:r>
              <a:endParaRPr kumimoji="1" lang="en-US" altLang="zh-CN" sz="1620" dirty="0"/>
            </a:p>
            <a:p>
              <a:pPr marL="257175" indent="-257175">
                <a:lnSpc>
                  <a:spcPct val="150000"/>
                </a:lnSpc>
                <a:buFont typeface="Arial"/>
                <a:buChar char="•"/>
              </a:pPr>
              <a:r>
                <a:rPr kumimoji="1" lang="zh-CN" altLang="en-US" sz="1620" dirty="0"/>
                <a:t>认证／鉴别错误</a:t>
              </a:r>
              <a:endParaRPr kumimoji="1" lang="en-US" altLang="zh-CN" sz="1620" dirty="0"/>
            </a:p>
            <a:p>
              <a:pPr marL="257175" indent="-257175">
                <a:lnSpc>
                  <a:spcPct val="150000"/>
                </a:lnSpc>
                <a:buFont typeface="Arial"/>
                <a:buChar char="•"/>
              </a:pPr>
              <a:r>
                <a:rPr kumimoji="1" lang="zh-CN" altLang="en-US" sz="1620" dirty="0"/>
                <a:t>边界条件错误</a:t>
              </a:r>
              <a:endParaRPr kumimoji="1" lang="en-US" altLang="zh-CN" sz="1620" dirty="0"/>
            </a:p>
            <a:p>
              <a:pPr marL="257175" indent="-257175">
                <a:lnSpc>
                  <a:spcPct val="150000"/>
                </a:lnSpc>
                <a:buFont typeface="Arial"/>
                <a:buChar char="•"/>
              </a:pPr>
              <a:r>
                <a:rPr kumimoji="1" lang="zh-CN" altLang="en-US" sz="1620" dirty="0"/>
                <a:t>其它可利用的逻辑错误</a:t>
              </a:r>
              <a:endParaRPr kumimoji="1" lang="en-US" altLang="zh-CN" sz="1620" dirty="0"/>
            </a:p>
          </p:txBody>
        </p:sp>
        <p:sp>
          <p:nvSpPr>
            <p:cNvPr id="13" name="左大括号 12"/>
            <p:cNvSpPr/>
            <p:nvPr/>
          </p:nvSpPr>
          <p:spPr bwMode="auto">
            <a:xfrm>
              <a:off x="2771800" y="2713484"/>
              <a:ext cx="360040" cy="2232248"/>
            </a:xfrm>
            <a:prstGeom prst="leftBrace">
              <a:avLst>
                <a:gd name="adj1" fmla="val 28606"/>
                <a:gd name="adj2" fmla="val 50000"/>
              </a:avLst>
            </a:prstGeom>
            <a:noFill/>
            <a:ln w="19050" cap="flat" cmpd="sng" algn="ctr">
              <a:solidFill>
                <a:schemeClr val="accent1">
                  <a:lumMod val="50000"/>
                </a:schemeClr>
              </a:solid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pPr>
              <a:endParaRPr lang="zh-CN" altLang="en-US" sz="1620" i="1">
                <a:latin typeface="Arial" charset="0"/>
                <a:ea typeface="宋体" pitchFamily="2" charset="-122"/>
              </a:endParaRPr>
            </a:p>
          </p:txBody>
        </p:sp>
      </p:grpSp>
      <p:sp>
        <p:nvSpPr>
          <p:cNvPr id="14" name="左大括号 13"/>
          <p:cNvSpPr/>
          <p:nvPr/>
        </p:nvSpPr>
        <p:spPr bwMode="auto">
          <a:xfrm>
            <a:off x="1343858" y="1718456"/>
            <a:ext cx="453650" cy="1890210"/>
          </a:xfrm>
          <a:prstGeom prst="leftBrace">
            <a:avLst>
              <a:gd name="adj1" fmla="val 28606"/>
              <a:gd name="adj2" fmla="val 50000"/>
            </a:avLst>
          </a:prstGeom>
          <a:noFill/>
          <a:ln w="19050" cap="flat" cmpd="sng" algn="ctr">
            <a:solidFill>
              <a:schemeClr val="accent1">
                <a:lumMod val="50000"/>
              </a:schemeClr>
            </a:solid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pPr>
            <a:endParaRPr lang="zh-CN" altLang="en-US" sz="1620" i="1">
              <a:latin typeface="Arial" charset="0"/>
              <a:ea typeface="宋体" pitchFamily="2" charset="-122"/>
            </a:endParaRPr>
          </a:p>
        </p:txBody>
      </p:sp>
      <p:sp>
        <p:nvSpPr>
          <p:cNvPr id="15" name="文本框 14"/>
          <p:cNvSpPr txBox="1"/>
          <p:nvPr/>
        </p:nvSpPr>
        <p:spPr>
          <a:xfrm>
            <a:off x="695786" y="2506943"/>
            <a:ext cx="739305" cy="424732"/>
          </a:xfrm>
          <a:prstGeom prst="rect">
            <a:avLst/>
          </a:prstGeom>
          <a:noFill/>
        </p:spPr>
        <p:txBody>
          <a:bodyPr wrap="none" rtlCol="0">
            <a:spAutoFit/>
          </a:bodyPr>
          <a:lstStyle/>
          <a:p>
            <a:r>
              <a:rPr kumimoji="1" lang="zh-CN" altLang="en-US" sz="2160" dirty="0">
                <a:solidFill>
                  <a:srgbClr val="800000"/>
                </a:solidFill>
              </a:rPr>
              <a:t>漏洞</a:t>
            </a:r>
          </a:p>
        </p:txBody>
      </p:sp>
    </p:spTree>
    <p:extLst>
      <p:ext uri="{BB962C8B-B14F-4D97-AF65-F5344CB8AC3E}">
        <p14:creationId xmlns:p14="http://schemas.microsoft.com/office/powerpoint/2010/main" val="362230445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down)">
                                      <p:cBhvr>
                                        <p:cTn id="8" dur="500"/>
                                        <p:tgtEl>
                                          <p:spTgt spid="3"/>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p:tgtEl>
                                          <p:spTgt spid="16"/>
                                        </p:tgtEl>
                                        <p:attrNameLst>
                                          <p:attrName>ppt_y</p:attrName>
                                        </p:attrNameLst>
                                      </p:cBhvr>
                                      <p:tavLst>
                                        <p:tav tm="0">
                                          <p:val>
                                            <p:strVal val="#ppt_y+#ppt_h*1.125000"/>
                                          </p:val>
                                        </p:tav>
                                        <p:tav tm="100000">
                                          <p:val>
                                            <p:strVal val="#ppt_y"/>
                                          </p:val>
                                        </p:tav>
                                      </p:tavLst>
                                    </p:anim>
                                    <p:animEffect transition="in" filter="wipe(up)">
                                      <p:cBhvr>
                                        <p:cTn id="1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618766" y="341068"/>
            <a:ext cx="5227818" cy="421482"/>
          </a:xfrm>
        </p:spPr>
        <p:txBody>
          <a:bodyPr>
            <a:noAutofit/>
          </a:bodyPr>
          <a:lstStyle/>
          <a:p>
            <a:r>
              <a:rPr kumimoji="1" lang="zh-CN" altLang="en-US" dirty="0"/>
              <a:t>危险、攻击手段</a:t>
            </a:r>
          </a:p>
        </p:txBody>
      </p:sp>
      <p:sp>
        <p:nvSpPr>
          <p:cNvPr id="4" name="幻灯片编号占位符 3"/>
          <p:cNvSpPr>
            <a:spLocks noGrp="1"/>
          </p:cNvSpPr>
          <p:nvPr>
            <p:ph type="sldNum" sz="quarter" idx="10"/>
          </p:nvPr>
        </p:nvSpPr>
        <p:spPr/>
        <p:txBody>
          <a:bodyPr/>
          <a:lstStyle/>
          <a:p>
            <a:fld id="{465EFE0A-B425-5D4C-B2B5-64972D2E3BEB}" type="slidenum">
              <a:rPr lang="en-US" altLang="zh-CN" smtClean="0"/>
              <a:pPr/>
              <a:t>8</a:t>
            </a:fld>
            <a:endParaRPr lang="en-US" altLang="zh-CN"/>
          </a:p>
        </p:txBody>
      </p:sp>
      <p:sp>
        <p:nvSpPr>
          <p:cNvPr id="5" name="圆角矩形 4"/>
          <p:cNvSpPr/>
          <p:nvPr/>
        </p:nvSpPr>
        <p:spPr bwMode="gray">
          <a:xfrm>
            <a:off x="1785290" y="2895788"/>
            <a:ext cx="842494" cy="378042"/>
          </a:xfrm>
          <a:prstGeom prst="roundRect">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kumimoji="1" lang="zh-CN" altLang="en-US" sz="1620" dirty="0">
                <a:solidFill>
                  <a:srgbClr val="FF6600"/>
                </a:solidFill>
              </a:rPr>
              <a:t>攻击</a:t>
            </a:r>
          </a:p>
        </p:txBody>
      </p:sp>
      <p:sp>
        <p:nvSpPr>
          <p:cNvPr id="6" name="圆角矩形 5"/>
          <p:cNvSpPr/>
          <p:nvPr/>
        </p:nvSpPr>
        <p:spPr bwMode="gray">
          <a:xfrm>
            <a:off x="1785290" y="1761662"/>
            <a:ext cx="1555373" cy="378042"/>
          </a:xfrm>
          <a:prstGeom prst="roundRect">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kumimoji="1" lang="zh-CN" altLang="en-US" sz="1620" dirty="0">
                <a:solidFill>
                  <a:schemeClr val="tx1">
                    <a:lumMod val="50000"/>
                    <a:lumOff val="50000"/>
                  </a:schemeClr>
                </a:solidFill>
              </a:rPr>
              <a:t>预攻击（扫描）</a:t>
            </a:r>
          </a:p>
        </p:txBody>
      </p:sp>
      <p:sp>
        <p:nvSpPr>
          <p:cNvPr id="7" name="圆角矩形 6"/>
          <p:cNvSpPr/>
          <p:nvPr/>
        </p:nvSpPr>
        <p:spPr bwMode="gray">
          <a:xfrm>
            <a:off x="1785290" y="4137924"/>
            <a:ext cx="842494" cy="378042"/>
          </a:xfrm>
          <a:prstGeom prst="roundRect">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kumimoji="1" lang="zh-CN" altLang="en-US" sz="1620" dirty="0"/>
              <a:t>后攻击</a:t>
            </a:r>
          </a:p>
        </p:txBody>
      </p:sp>
      <p:grpSp>
        <p:nvGrpSpPr>
          <p:cNvPr id="18" name="组 17"/>
          <p:cNvGrpSpPr/>
          <p:nvPr/>
        </p:nvGrpSpPr>
        <p:grpSpPr>
          <a:xfrm>
            <a:off x="3340663" y="1174322"/>
            <a:ext cx="2018731" cy="1549976"/>
            <a:chOff x="3203848" y="1824987"/>
            <a:chExt cx="2243034" cy="2066631"/>
          </a:xfrm>
        </p:grpSpPr>
        <p:sp>
          <p:nvSpPr>
            <p:cNvPr id="8" name="左大括号 7"/>
            <p:cNvSpPr/>
            <p:nvPr/>
          </p:nvSpPr>
          <p:spPr bwMode="auto">
            <a:xfrm>
              <a:off x="3203848" y="2046446"/>
              <a:ext cx="504056" cy="1656184"/>
            </a:xfrm>
            <a:prstGeom prst="leftBrace">
              <a:avLst>
                <a:gd name="adj1" fmla="val 28606"/>
                <a:gd name="adj2" fmla="val 50000"/>
              </a:avLst>
            </a:prstGeom>
            <a:noFill/>
            <a:ln w="19050" cap="flat" cmpd="sng" algn="ctr">
              <a:solidFill>
                <a:schemeClr val="accent1">
                  <a:lumMod val="50000"/>
                </a:schemeClr>
              </a:solid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pPr>
              <a:endParaRPr lang="zh-CN" altLang="en-US" sz="1620" i="1">
                <a:latin typeface="Arial" charset="0"/>
                <a:ea typeface="宋体" pitchFamily="2" charset="-122"/>
              </a:endParaRPr>
            </a:p>
          </p:txBody>
        </p:sp>
        <p:sp>
          <p:nvSpPr>
            <p:cNvPr id="9" name="文本框 8"/>
            <p:cNvSpPr txBox="1"/>
            <p:nvPr/>
          </p:nvSpPr>
          <p:spPr>
            <a:xfrm>
              <a:off x="3563888" y="1824987"/>
              <a:ext cx="1882994" cy="2066631"/>
            </a:xfrm>
            <a:prstGeom prst="rect">
              <a:avLst/>
            </a:prstGeom>
            <a:noFill/>
          </p:spPr>
          <p:txBody>
            <a:bodyPr wrap="none" rtlCol="0">
              <a:spAutoFit/>
            </a:bodyPr>
            <a:lstStyle/>
            <a:p>
              <a:pPr marL="257175" indent="-257175">
                <a:lnSpc>
                  <a:spcPct val="150000"/>
                </a:lnSpc>
                <a:buFont typeface="Arial"/>
                <a:buChar char="•"/>
              </a:pPr>
              <a:r>
                <a:rPr kumimoji="1" lang="zh-CN" altLang="en-US" sz="1620" dirty="0"/>
                <a:t>常规信息获取</a:t>
              </a:r>
              <a:endParaRPr kumimoji="1" lang="en-US" altLang="zh-CN" sz="1620" dirty="0"/>
            </a:p>
            <a:p>
              <a:pPr marL="257175" indent="-257175">
                <a:lnSpc>
                  <a:spcPct val="150000"/>
                </a:lnSpc>
                <a:buFont typeface="Arial"/>
                <a:buChar char="•"/>
              </a:pPr>
              <a:r>
                <a:rPr kumimoji="1" lang="zh-CN" altLang="en-US" sz="1620" dirty="0"/>
                <a:t>漏洞扫描</a:t>
              </a:r>
              <a:endParaRPr kumimoji="1" lang="en-US" altLang="zh-CN" sz="1620" dirty="0"/>
            </a:p>
            <a:p>
              <a:pPr marL="257175" indent="-257175">
                <a:lnSpc>
                  <a:spcPct val="150000"/>
                </a:lnSpc>
                <a:buFont typeface="Arial"/>
                <a:buChar char="•"/>
              </a:pPr>
              <a:r>
                <a:rPr kumimoji="1" lang="zh-CN" altLang="en-US" sz="1620" dirty="0"/>
                <a:t>社会工程学</a:t>
              </a:r>
              <a:endParaRPr kumimoji="1" lang="en-US" altLang="zh-CN" sz="1620" dirty="0"/>
            </a:p>
            <a:p>
              <a:pPr marL="257175" indent="-257175">
                <a:lnSpc>
                  <a:spcPct val="150000"/>
                </a:lnSpc>
                <a:buFont typeface="Arial"/>
                <a:buChar char="•"/>
              </a:pPr>
              <a:r>
                <a:rPr kumimoji="1" lang="zh-CN" altLang="en-US" sz="1620" dirty="0"/>
                <a:t>搜索引擎</a:t>
              </a:r>
            </a:p>
          </p:txBody>
        </p:sp>
      </p:grpSp>
      <p:sp>
        <p:nvSpPr>
          <p:cNvPr id="10" name="左大括号 9"/>
          <p:cNvSpPr/>
          <p:nvPr/>
        </p:nvSpPr>
        <p:spPr bwMode="auto">
          <a:xfrm>
            <a:off x="5284879" y="1113588"/>
            <a:ext cx="259229" cy="810090"/>
          </a:xfrm>
          <a:prstGeom prst="leftBrace">
            <a:avLst>
              <a:gd name="adj1" fmla="val 28606"/>
              <a:gd name="adj2" fmla="val 50000"/>
            </a:avLst>
          </a:prstGeom>
          <a:noFill/>
          <a:ln w="19050" cap="flat" cmpd="sng" algn="ctr">
            <a:solidFill>
              <a:schemeClr val="accent1">
                <a:lumMod val="50000"/>
              </a:schemeClr>
            </a:solid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pPr>
            <a:endParaRPr lang="zh-CN" altLang="en-US" sz="1620" i="1">
              <a:latin typeface="Arial" charset="0"/>
              <a:ea typeface="宋体" pitchFamily="2" charset="-122"/>
            </a:endParaRPr>
          </a:p>
        </p:txBody>
      </p:sp>
      <p:sp>
        <p:nvSpPr>
          <p:cNvPr id="11" name="文本框 10"/>
          <p:cNvSpPr txBox="1"/>
          <p:nvPr/>
        </p:nvSpPr>
        <p:spPr>
          <a:xfrm>
            <a:off x="5479300" y="886763"/>
            <a:ext cx="3359899" cy="1092928"/>
          </a:xfrm>
          <a:prstGeom prst="rect">
            <a:avLst/>
          </a:prstGeom>
          <a:noFill/>
        </p:spPr>
        <p:txBody>
          <a:bodyPr wrap="square" rtlCol="0">
            <a:spAutoFit/>
          </a:bodyPr>
          <a:lstStyle/>
          <a:p>
            <a:pPr marL="257175" indent="-257175">
              <a:lnSpc>
                <a:spcPct val="150000"/>
              </a:lnSpc>
              <a:buFont typeface="Arial"/>
              <a:buChar char="•"/>
            </a:pPr>
            <a:r>
              <a:rPr kumimoji="1" lang="zh-CN" altLang="en-US" sz="1620" dirty="0"/>
              <a:t>信息收集</a:t>
            </a:r>
            <a:endParaRPr kumimoji="1" lang="en-US" altLang="zh-CN" sz="1620" dirty="0"/>
          </a:p>
          <a:p>
            <a:pPr>
              <a:lnSpc>
                <a:spcPct val="150000"/>
              </a:lnSpc>
            </a:pPr>
            <a:r>
              <a:rPr kumimoji="1" lang="en-US" altLang="zh-CN" sz="1260" dirty="0">
                <a:solidFill>
                  <a:srgbClr val="7F7F7F"/>
                </a:solidFill>
              </a:rPr>
              <a:t>       Ping/telnet/</a:t>
            </a:r>
            <a:r>
              <a:rPr kumimoji="1" lang="en-US" altLang="zh-CN" sz="1260" dirty="0" err="1">
                <a:solidFill>
                  <a:srgbClr val="7F7F7F"/>
                </a:solidFill>
              </a:rPr>
              <a:t>whois</a:t>
            </a:r>
            <a:r>
              <a:rPr kumimoji="1" lang="en-US" altLang="zh-CN" sz="1260" dirty="0">
                <a:solidFill>
                  <a:srgbClr val="7F7F7F"/>
                </a:solidFill>
              </a:rPr>
              <a:t>/</a:t>
            </a:r>
            <a:r>
              <a:rPr kumimoji="1" lang="en-US" altLang="zh-CN" sz="1260" dirty="0" err="1">
                <a:solidFill>
                  <a:srgbClr val="7F7F7F"/>
                </a:solidFill>
              </a:rPr>
              <a:t>Traceoute</a:t>
            </a:r>
            <a:endParaRPr kumimoji="1" lang="en-US" altLang="zh-CN" sz="1260" dirty="0">
              <a:solidFill>
                <a:srgbClr val="7F7F7F"/>
              </a:solidFill>
            </a:endParaRPr>
          </a:p>
          <a:p>
            <a:pPr marL="257175" indent="-257175">
              <a:lnSpc>
                <a:spcPct val="150000"/>
              </a:lnSpc>
              <a:buFont typeface="Arial"/>
              <a:buChar char="•"/>
            </a:pPr>
            <a:r>
              <a:rPr kumimoji="1" lang="zh-CN" altLang="en-US" sz="1620" dirty="0"/>
              <a:t>端口扫描</a:t>
            </a:r>
            <a:r>
              <a:rPr kumimoji="1" lang="en-US" altLang="zh-CN" sz="1620" dirty="0"/>
              <a:t> </a:t>
            </a:r>
            <a:r>
              <a:rPr kumimoji="1" lang="en-US" altLang="zh-CN" sz="1260" dirty="0" err="1">
                <a:solidFill>
                  <a:srgbClr val="7F7F7F"/>
                </a:solidFill>
              </a:rPr>
              <a:t>snmp,superscan</a:t>
            </a:r>
            <a:endParaRPr kumimoji="1" lang="en-US" altLang="zh-CN" sz="1260" dirty="0">
              <a:solidFill>
                <a:srgbClr val="7F7F7F"/>
              </a:solidFill>
            </a:endParaRPr>
          </a:p>
        </p:txBody>
      </p:sp>
      <p:sp>
        <p:nvSpPr>
          <p:cNvPr id="12" name="左大括号 11"/>
          <p:cNvSpPr/>
          <p:nvPr/>
        </p:nvSpPr>
        <p:spPr bwMode="auto">
          <a:xfrm>
            <a:off x="2627784" y="2841781"/>
            <a:ext cx="324036" cy="594066"/>
          </a:xfrm>
          <a:prstGeom prst="leftBrace">
            <a:avLst>
              <a:gd name="adj1" fmla="val 28606"/>
              <a:gd name="adj2" fmla="val 50000"/>
            </a:avLst>
          </a:prstGeom>
          <a:noFill/>
          <a:ln w="19050" cap="flat" cmpd="sng" algn="ctr">
            <a:solidFill>
              <a:schemeClr val="accent1">
                <a:lumMod val="50000"/>
              </a:schemeClr>
            </a:solid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pPr>
            <a:endParaRPr lang="zh-CN" altLang="en-US" sz="1620" i="1">
              <a:solidFill>
                <a:srgbClr val="FF6600"/>
              </a:solidFill>
              <a:latin typeface="Arial" charset="0"/>
              <a:ea typeface="宋体" pitchFamily="2" charset="-122"/>
            </a:endParaRPr>
          </a:p>
        </p:txBody>
      </p:sp>
      <p:sp>
        <p:nvSpPr>
          <p:cNvPr id="13" name="文本框 12"/>
          <p:cNvSpPr txBox="1"/>
          <p:nvPr/>
        </p:nvSpPr>
        <p:spPr>
          <a:xfrm>
            <a:off x="2887013" y="2701365"/>
            <a:ext cx="1277914" cy="802079"/>
          </a:xfrm>
          <a:prstGeom prst="rect">
            <a:avLst/>
          </a:prstGeom>
          <a:noFill/>
        </p:spPr>
        <p:txBody>
          <a:bodyPr wrap="none" rtlCol="0">
            <a:spAutoFit/>
          </a:bodyPr>
          <a:lstStyle/>
          <a:p>
            <a:pPr marL="257175" indent="-257175">
              <a:lnSpc>
                <a:spcPct val="150000"/>
              </a:lnSpc>
              <a:buFont typeface="Arial"/>
              <a:buChar char="•"/>
            </a:pPr>
            <a:r>
              <a:rPr kumimoji="1" lang="en-US" altLang="zh-CN" sz="1620" dirty="0" err="1">
                <a:solidFill>
                  <a:srgbClr val="FF6600"/>
                </a:solidFill>
              </a:rPr>
              <a:t>DoS</a:t>
            </a:r>
            <a:endParaRPr kumimoji="1" lang="en-US" altLang="zh-CN" sz="1620" dirty="0">
              <a:solidFill>
                <a:srgbClr val="FF6600"/>
              </a:solidFill>
            </a:endParaRPr>
          </a:p>
          <a:p>
            <a:pPr marL="257175" indent="-257175">
              <a:lnSpc>
                <a:spcPct val="150000"/>
              </a:lnSpc>
              <a:buFont typeface="Arial"/>
              <a:buChar char="•"/>
            </a:pPr>
            <a:r>
              <a:rPr kumimoji="1" lang="zh-CN" altLang="en-US" sz="1620" dirty="0">
                <a:solidFill>
                  <a:srgbClr val="FF6600"/>
                </a:solidFill>
              </a:rPr>
              <a:t>远程渗透</a:t>
            </a:r>
          </a:p>
        </p:txBody>
      </p:sp>
      <p:sp>
        <p:nvSpPr>
          <p:cNvPr id="14" name="左大括号 13"/>
          <p:cNvSpPr/>
          <p:nvPr/>
        </p:nvSpPr>
        <p:spPr bwMode="auto">
          <a:xfrm>
            <a:off x="4118350" y="2960594"/>
            <a:ext cx="388843" cy="756084"/>
          </a:xfrm>
          <a:prstGeom prst="leftBrace">
            <a:avLst>
              <a:gd name="adj1" fmla="val 28606"/>
              <a:gd name="adj2" fmla="val 50000"/>
            </a:avLst>
          </a:prstGeom>
          <a:noFill/>
          <a:ln w="19050" cap="flat" cmpd="sng" algn="ctr">
            <a:solidFill>
              <a:schemeClr val="accent1">
                <a:lumMod val="50000"/>
              </a:schemeClr>
            </a:solid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pPr>
            <a:endParaRPr lang="zh-CN" altLang="en-US" sz="1620" i="1">
              <a:solidFill>
                <a:srgbClr val="FF6600"/>
              </a:solidFill>
              <a:latin typeface="Arial" charset="0"/>
              <a:ea typeface="宋体" pitchFamily="2" charset="-122"/>
            </a:endParaRPr>
          </a:p>
        </p:txBody>
      </p:sp>
      <p:sp>
        <p:nvSpPr>
          <p:cNvPr id="15" name="文本框 14"/>
          <p:cNvSpPr txBox="1"/>
          <p:nvPr/>
        </p:nvSpPr>
        <p:spPr>
          <a:xfrm>
            <a:off x="4377578" y="2766172"/>
            <a:ext cx="2267544" cy="1039002"/>
          </a:xfrm>
          <a:prstGeom prst="rect">
            <a:avLst/>
          </a:prstGeom>
          <a:noFill/>
        </p:spPr>
        <p:txBody>
          <a:bodyPr wrap="none" rtlCol="0">
            <a:spAutoFit/>
          </a:bodyPr>
          <a:lstStyle/>
          <a:p>
            <a:pPr marL="257175" indent="-257175">
              <a:lnSpc>
                <a:spcPct val="130000"/>
              </a:lnSpc>
              <a:buFont typeface="Arial"/>
              <a:buChar char="•"/>
            </a:pPr>
            <a:r>
              <a:rPr kumimoji="1" lang="zh-CN" altLang="en-US" sz="1620" dirty="0">
                <a:solidFill>
                  <a:srgbClr val="FF6600"/>
                </a:solidFill>
              </a:rPr>
              <a:t>口令猜测</a:t>
            </a:r>
            <a:endParaRPr kumimoji="1" lang="en-US" altLang="zh-CN" sz="1620" dirty="0">
              <a:solidFill>
                <a:srgbClr val="FF6600"/>
              </a:solidFill>
            </a:endParaRPr>
          </a:p>
          <a:p>
            <a:pPr marL="257175" indent="-257175">
              <a:lnSpc>
                <a:spcPct val="130000"/>
              </a:lnSpc>
              <a:buFont typeface="Arial"/>
              <a:buChar char="•"/>
            </a:pPr>
            <a:r>
              <a:rPr kumimoji="1" lang="zh-CN" altLang="en-US" sz="1620" dirty="0">
                <a:solidFill>
                  <a:srgbClr val="FF6600"/>
                </a:solidFill>
              </a:rPr>
              <a:t>远程溢出，</a:t>
            </a:r>
            <a:r>
              <a:rPr kumimoji="1" lang="zh-CN" altLang="en-US" sz="1260" dirty="0">
                <a:solidFill>
                  <a:srgbClr val="FF6600"/>
                </a:solidFill>
              </a:rPr>
              <a:t>如</a:t>
            </a:r>
            <a:r>
              <a:rPr kumimoji="1" lang="en-US" altLang="zh-CN" sz="1260" dirty="0" err="1">
                <a:solidFill>
                  <a:srgbClr val="FF6600"/>
                </a:solidFill>
              </a:rPr>
              <a:t>getadmin</a:t>
            </a:r>
            <a:endParaRPr kumimoji="1" lang="en-US" altLang="zh-CN" sz="1260" dirty="0">
              <a:solidFill>
                <a:srgbClr val="FF6600"/>
              </a:solidFill>
            </a:endParaRPr>
          </a:p>
          <a:p>
            <a:pPr marL="257175" indent="-257175">
              <a:lnSpc>
                <a:spcPct val="130000"/>
              </a:lnSpc>
              <a:buFont typeface="Arial"/>
              <a:buChar char="•"/>
            </a:pPr>
            <a:r>
              <a:rPr kumimoji="1" lang="zh-CN" altLang="en-US" sz="1620" dirty="0">
                <a:solidFill>
                  <a:srgbClr val="FF6600"/>
                </a:solidFill>
              </a:rPr>
              <a:t>应用攻击：</a:t>
            </a:r>
            <a:r>
              <a:rPr kumimoji="1" lang="zh-CN" altLang="en-US" sz="1260" dirty="0">
                <a:solidFill>
                  <a:srgbClr val="FF6600"/>
                </a:solidFill>
              </a:rPr>
              <a:t>如</a:t>
            </a:r>
            <a:r>
              <a:rPr kumimoji="1" lang="en-US" altLang="zh-CN" sz="1260" dirty="0">
                <a:solidFill>
                  <a:srgbClr val="FF6600"/>
                </a:solidFill>
              </a:rPr>
              <a:t>SQL</a:t>
            </a:r>
            <a:r>
              <a:rPr kumimoji="1" lang="zh-CN" altLang="en-US" sz="1260" dirty="0">
                <a:solidFill>
                  <a:srgbClr val="FF6600"/>
                </a:solidFill>
              </a:rPr>
              <a:t>注入</a:t>
            </a:r>
            <a:endParaRPr kumimoji="1" lang="en-US" altLang="zh-CN" sz="1260" dirty="0">
              <a:solidFill>
                <a:srgbClr val="FF6600"/>
              </a:solidFill>
            </a:endParaRPr>
          </a:p>
        </p:txBody>
      </p:sp>
      <p:sp>
        <p:nvSpPr>
          <p:cNvPr id="16" name="左大括号 15"/>
          <p:cNvSpPr/>
          <p:nvPr/>
        </p:nvSpPr>
        <p:spPr bwMode="auto">
          <a:xfrm>
            <a:off x="2822206" y="3975907"/>
            <a:ext cx="259229" cy="756084"/>
          </a:xfrm>
          <a:prstGeom prst="leftBrace">
            <a:avLst>
              <a:gd name="adj1" fmla="val 28606"/>
              <a:gd name="adj2" fmla="val 50000"/>
            </a:avLst>
          </a:prstGeom>
          <a:noFill/>
          <a:ln w="19050" cap="flat" cmpd="sng" algn="ctr">
            <a:solidFill>
              <a:schemeClr val="accent1">
                <a:lumMod val="50000"/>
              </a:schemeClr>
            </a:solid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pPr>
            <a:endParaRPr lang="zh-CN" altLang="en-US" sz="1620" i="1">
              <a:latin typeface="Arial" charset="0"/>
              <a:ea typeface="宋体" pitchFamily="2" charset="-122"/>
            </a:endParaRPr>
          </a:p>
        </p:txBody>
      </p:sp>
      <p:sp>
        <p:nvSpPr>
          <p:cNvPr id="17" name="文本框 16"/>
          <p:cNvSpPr txBox="1"/>
          <p:nvPr/>
        </p:nvSpPr>
        <p:spPr>
          <a:xfrm>
            <a:off x="3081435" y="3813890"/>
            <a:ext cx="4199898" cy="1038874"/>
          </a:xfrm>
          <a:prstGeom prst="rect">
            <a:avLst/>
          </a:prstGeom>
          <a:noFill/>
        </p:spPr>
        <p:txBody>
          <a:bodyPr wrap="square" rtlCol="0">
            <a:spAutoFit/>
          </a:bodyPr>
          <a:lstStyle/>
          <a:p>
            <a:pPr marL="257175" indent="-257175">
              <a:lnSpc>
                <a:spcPct val="130000"/>
              </a:lnSpc>
              <a:buFont typeface="Arial"/>
              <a:buChar char="•"/>
            </a:pPr>
            <a:r>
              <a:rPr kumimoji="1" lang="zh-CN" altLang="en-US" sz="1620" dirty="0"/>
              <a:t>权限提升（本地溢出、口令嗅探等）</a:t>
            </a:r>
          </a:p>
          <a:p>
            <a:pPr marL="257175" indent="-257175">
              <a:lnSpc>
                <a:spcPct val="130000"/>
              </a:lnSpc>
              <a:buFont typeface="Arial"/>
              <a:buChar char="•"/>
            </a:pPr>
            <a:r>
              <a:rPr kumimoji="1" lang="zh-CN" altLang="en-US" sz="1620" dirty="0"/>
              <a:t>后门</a:t>
            </a:r>
            <a:endParaRPr kumimoji="1" lang="en-US" altLang="zh-CN" sz="1620" dirty="0"/>
          </a:p>
          <a:p>
            <a:pPr marL="257175" indent="-257175">
              <a:lnSpc>
                <a:spcPct val="130000"/>
              </a:lnSpc>
              <a:buFont typeface="Arial"/>
              <a:buChar char="•"/>
            </a:pPr>
            <a:r>
              <a:rPr kumimoji="1" lang="zh-CN" altLang="en-US" sz="1620" dirty="0"/>
              <a:t>痕迹擦除</a:t>
            </a:r>
            <a:endParaRPr kumimoji="1" lang="en-US" altLang="zh-CN" sz="1620" dirty="0"/>
          </a:p>
        </p:txBody>
      </p:sp>
      <p:sp>
        <p:nvSpPr>
          <p:cNvPr id="20" name="左大括号 19"/>
          <p:cNvSpPr/>
          <p:nvPr/>
        </p:nvSpPr>
        <p:spPr bwMode="auto">
          <a:xfrm>
            <a:off x="1266833" y="1977684"/>
            <a:ext cx="453650" cy="2430270"/>
          </a:xfrm>
          <a:prstGeom prst="leftBrace">
            <a:avLst>
              <a:gd name="adj1" fmla="val 28606"/>
              <a:gd name="adj2" fmla="val 50000"/>
            </a:avLst>
          </a:prstGeom>
          <a:noFill/>
          <a:ln w="19050" cap="flat" cmpd="sng" algn="ctr">
            <a:solidFill>
              <a:schemeClr val="accent1">
                <a:lumMod val="50000"/>
              </a:schemeClr>
            </a:solidFill>
            <a:prstDash val="solid"/>
            <a:round/>
            <a:headEnd type="none" w="med" len="med"/>
            <a:tailEnd type="none" w="med" len="med"/>
          </a:ln>
          <a:effectLst/>
        </p:spPr>
        <p:txBody>
          <a:bodyPr vert="horz" wrap="square" lIns="82296" tIns="41148" rIns="82296" bIns="41148" numCol="1" rtlCol="0" anchor="t" anchorCtr="0" compatLnSpc="1">
            <a:prstTxWarp prst="textNoShape">
              <a:avLst/>
            </a:prstTxWarp>
          </a:bodyPr>
          <a:lstStyle/>
          <a:p>
            <a:pPr defTabSz="822960" fontAlgn="base">
              <a:spcBef>
                <a:spcPct val="0"/>
              </a:spcBef>
              <a:spcAft>
                <a:spcPct val="0"/>
              </a:spcAft>
            </a:pPr>
            <a:endParaRPr lang="zh-CN" altLang="en-US" sz="1620" i="1">
              <a:latin typeface="Arial" charset="0"/>
              <a:ea typeface="宋体" pitchFamily="2" charset="-122"/>
            </a:endParaRPr>
          </a:p>
        </p:txBody>
      </p:sp>
      <p:sp>
        <p:nvSpPr>
          <p:cNvPr id="3" name="文本框 2"/>
          <p:cNvSpPr txBox="1"/>
          <p:nvPr/>
        </p:nvSpPr>
        <p:spPr>
          <a:xfrm>
            <a:off x="618766" y="3003800"/>
            <a:ext cx="739305" cy="424732"/>
          </a:xfrm>
          <a:prstGeom prst="rect">
            <a:avLst/>
          </a:prstGeom>
          <a:noFill/>
        </p:spPr>
        <p:txBody>
          <a:bodyPr wrap="none" rtlCol="0">
            <a:spAutoFit/>
          </a:bodyPr>
          <a:lstStyle/>
          <a:p>
            <a:r>
              <a:rPr kumimoji="1" lang="zh-CN" altLang="en-US" sz="2160" dirty="0">
                <a:solidFill>
                  <a:srgbClr val="800000"/>
                </a:solidFill>
              </a:rPr>
              <a:t>攻击</a:t>
            </a:r>
          </a:p>
        </p:txBody>
      </p:sp>
    </p:spTree>
    <p:extLst>
      <p:ext uri="{BB962C8B-B14F-4D97-AF65-F5344CB8AC3E}">
        <p14:creationId xmlns:p14="http://schemas.microsoft.com/office/powerpoint/2010/main" val="294508880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p:tgtEl>
                                          <p:spTgt spid="18"/>
                                        </p:tgtEl>
                                        <p:attrNameLst>
                                          <p:attrName>ppt_x</p:attrName>
                                        </p:attrNameLst>
                                      </p:cBhvr>
                                      <p:tavLst>
                                        <p:tav tm="0">
                                          <p:val>
                                            <p:strVal val="#ppt_x-#ppt_w*1.125000"/>
                                          </p:val>
                                        </p:tav>
                                        <p:tav tm="100000">
                                          <p:val>
                                            <p:strVal val="#ppt_x"/>
                                          </p:val>
                                        </p:tav>
                                      </p:tavLst>
                                    </p:anim>
                                    <p:animEffect transition="in" filter="wipe(right)">
                                      <p:cBhvr>
                                        <p:cTn id="8" dur="500"/>
                                        <p:tgtEl>
                                          <p:spTgt spid="18"/>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p:tgtEl>
                                          <p:spTgt spid="10"/>
                                        </p:tgtEl>
                                        <p:attrNameLst>
                                          <p:attrName>ppt_x</p:attrName>
                                        </p:attrNameLst>
                                      </p:cBhvr>
                                      <p:tavLst>
                                        <p:tav tm="0">
                                          <p:val>
                                            <p:strVal val="#ppt_x-#ppt_w*1.125000"/>
                                          </p:val>
                                        </p:tav>
                                        <p:tav tm="100000">
                                          <p:val>
                                            <p:strVal val="#ppt_x"/>
                                          </p:val>
                                        </p:tav>
                                      </p:tavLst>
                                    </p:anim>
                                    <p:animEffect transition="in" filter="wipe(right)">
                                      <p:cBhvr>
                                        <p:cTn id="14" dur="500"/>
                                        <p:tgtEl>
                                          <p:spTgt spid="10"/>
                                        </p:tgtEl>
                                      </p:cBhvr>
                                    </p:animEffect>
                                  </p:childTnLst>
                                </p:cTn>
                              </p:par>
                              <p:par>
                                <p:cTn id="15" presetID="12" presetClass="entr" presetSubtype="8"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p:tgtEl>
                                          <p:spTgt spid="11"/>
                                        </p:tgtEl>
                                        <p:attrNameLst>
                                          <p:attrName>ppt_x</p:attrName>
                                        </p:attrNameLst>
                                      </p:cBhvr>
                                      <p:tavLst>
                                        <p:tav tm="0">
                                          <p:val>
                                            <p:strVal val="#ppt_x-#ppt_w*1.125000"/>
                                          </p:val>
                                        </p:tav>
                                        <p:tav tm="100000">
                                          <p:val>
                                            <p:strVal val="#ppt_x"/>
                                          </p:val>
                                        </p:tav>
                                      </p:tavLst>
                                    </p:anim>
                                    <p:animEffect transition="in" filter="wipe(right)">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8"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p:tgtEl>
                                          <p:spTgt spid="12"/>
                                        </p:tgtEl>
                                        <p:attrNameLst>
                                          <p:attrName>ppt_x</p:attrName>
                                        </p:attrNameLst>
                                      </p:cBhvr>
                                      <p:tavLst>
                                        <p:tav tm="0">
                                          <p:val>
                                            <p:strVal val="#ppt_x-#ppt_w*1.125000"/>
                                          </p:val>
                                        </p:tav>
                                        <p:tav tm="100000">
                                          <p:val>
                                            <p:strVal val="#ppt_x"/>
                                          </p:val>
                                        </p:tav>
                                      </p:tavLst>
                                    </p:anim>
                                    <p:animEffect transition="in" filter="wipe(right)">
                                      <p:cBhvr>
                                        <p:cTn id="24" dur="500"/>
                                        <p:tgtEl>
                                          <p:spTgt spid="12"/>
                                        </p:tgtEl>
                                      </p:cBhvr>
                                    </p:animEffect>
                                  </p:childTnLst>
                                </p:cTn>
                              </p:par>
                              <p:par>
                                <p:cTn id="25" presetID="12" presetClass="entr" presetSubtype="8"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p:tgtEl>
                                          <p:spTgt spid="13"/>
                                        </p:tgtEl>
                                        <p:attrNameLst>
                                          <p:attrName>ppt_x</p:attrName>
                                        </p:attrNameLst>
                                      </p:cBhvr>
                                      <p:tavLst>
                                        <p:tav tm="0">
                                          <p:val>
                                            <p:strVal val="#ppt_x-#ppt_w*1.125000"/>
                                          </p:val>
                                        </p:tav>
                                        <p:tav tm="100000">
                                          <p:val>
                                            <p:strVal val="#ppt_x"/>
                                          </p:val>
                                        </p:tav>
                                      </p:tavLst>
                                    </p:anim>
                                    <p:animEffect transition="in" filter="wipe(right)">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anim calcmode="lin" valueType="num">
                                      <p:cBhvr additive="base">
                                        <p:cTn id="33" dur="500"/>
                                        <p:tgtEl>
                                          <p:spTgt spid="14"/>
                                        </p:tgtEl>
                                        <p:attrNameLst>
                                          <p:attrName>ppt_x</p:attrName>
                                        </p:attrNameLst>
                                      </p:cBhvr>
                                      <p:tavLst>
                                        <p:tav tm="0">
                                          <p:val>
                                            <p:strVal val="#ppt_x-#ppt_w*1.125000"/>
                                          </p:val>
                                        </p:tav>
                                        <p:tav tm="100000">
                                          <p:val>
                                            <p:strVal val="#ppt_x"/>
                                          </p:val>
                                        </p:tav>
                                      </p:tavLst>
                                    </p:anim>
                                    <p:animEffect transition="in" filter="wipe(right)">
                                      <p:cBhvr>
                                        <p:cTn id="34" dur="500"/>
                                        <p:tgtEl>
                                          <p:spTgt spid="14"/>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p:tgtEl>
                                          <p:spTgt spid="15"/>
                                        </p:tgtEl>
                                        <p:attrNameLst>
                                          <p:attrName>ppt_x</p:attrName>
                                        </p:attrNameLst>
                                      </p:cBhvr>
                                      <p:tavLst>
                                        <p:tav tm="0">
                                          <p:val>
                                            <p:strVal val="#ppt_x-#ppt_w*1.125000"/>
                                          </p:val>
                                        </p:tav>
                                        <p:tav tm="100000">
                                          <p:val>
                                            <p:strVal val="#ppt_x"/>
                                          </p:val>
                                        </p:tav>
                                      </p:tavLst>
                                    </p:anim>
                                    <p:animEffect transition="in" filter="wipe(right)">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8"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p:tgtEl>
                                          <p:spTgt spid="16"/>
                                        </p:tgtEl>
                                        <p:attrNameLst>
                                          <p:attrName>ppt_x</p:attrName>
                                        </p:attrNameLst>
                                      </p:cBhvr>
                                      <p:tavLst>
                                        <p:tav tm="0">
                                          <p:val>
                                            <p:strVal val="#ppt_x-#ppt_w*1.125000"/>
                                          </p:val>
                                        </p:tav>
                                        <p:tav tm="100000">
                                          <p:val>
                                            <p:strVal val="#ppt_x"/>
                                          </p:val>
                                        </p:tav>
                                      </p:tavLst>
                                    </p:anim>
                                    <p:animEffect transition="in" filter="wipe(right)">
                                      <p:cBhvr>
                                        <p:cTn id="44" dur="500"/>
                                        <p:tgtEl>
                                          <p:spTgt spid="16"/>
                                        </p:tgtEl>
                                      </p:cBhvr>
                                    </p:animEffect>
                                  </p:childTnLst>
                                </p:cTn>
                              </p:par>
                              <p:par>
                                <p:cTn id="45" presetID="12" presetClass="entr" presetSubtype="8"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p:tgtEl>
                                          <p:spTgt spid="17"/>
                                        </p:tgtEl>
                                        <p:attrNameLst>
                                          <p:attrName>ppt_x</p:attrName>
                                        </p:attrNameLst>
                                      </p:cBhvr>
                                      <p:tavLst>
                                        <p:tav tm="0">
                                          <p:val>
                                            <p:strVal val="#ppt_x-#ppt_w*1.125000"/>
                                          </p:val>
                                        </p:tav>
                                        <p:tav tm="100000">
                                          <p:val>
                                            <p:strVal val="#ppt_x"/>
                                          </p:val>
                                        </p:tav>
                                      </p:tavLst>
                                    </p:anim>
                                    <p:animEffect transition="in" filter="wipe(right)">
                                      <p:cBhvr>
                                        <p:cTn id="4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animBg="1"/>
      <p:bldP spid="13" grpId="0"/>
      <p:bldP spid="14" grpId="0" animBg="1"/>
      <p:bldP spid="15" grpId="0"/>
      <p:bldP spid="16" grpId="0" animBg="1"/>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73602" name="Rectangle 2"/>
          <p:cNvSpPr>
            <a:spLocks noGrp="1" noChangeArrowheads="1"/>
          </p:cNvSpPr>
          <p:nvPr>
            <p:ph type="title"/>
          </p:nvPr>
        </p:nvSpPr>
        <p:spPr>
          <a:xfrm>
            <a:off x="585360" y="287179"/>
            <a:ext cx="5811083" cy="421482"/>
          </a:xfrm>
        </p:spPr>
        <p:txBody>
          <a:bodyPr>
            <a:normAutofit fontScale="90000"/>
          </a:bodyPr>
          <a:lstStyle/>
          <a:p>
            <a:r>
              <a:rPr lang="zh-CN" altLang="en-US" sz="3240" b="1" dirty="0">
                <a:latin typeface="+mj-ea"/>
                <a:cs typeface="+mn-cs"/>
              </a:rPr>
              <a:t>攻击带来的安全性问题</a:t>
            </a:r>
            <a:endParaRPr lang="en-US" altLang="zh-CN" sz="3240" b="1" dirty="0">
              <a:latin typeface="+mj-ea"/>
              <a:cs typeface="+mn-cs"/>
            </a:endParaRPr>
          </a:p>
        </p:txBody>
      </p:sp>
      <p:sp>
        <p:nvSpPr>
          <p:cNvPr id="2073634" name="Rectangle 34"/>
          <p:cNvSpPr>
            <a:spLocks noGrp="1" noChangeArrowheads="1"/>
          </p:cNvSpPr>
          <p:nvPr>
            <p:ph type="body" idx="1"/>
          </p:nvPr>
        </p:nvSpPr>
        <p:spPr>
          <a:xfrm>
            <a:off x="1396447" y="1081184"/>
            <a:ext cx="4601311" cy="3564396"/>
          </a:xfrm>
          <a:noFill/>
          <a:ln/>
        </p:spPr>
        <p:txBody>
          <a:bodyPr>
            <a:normAutofit fontScale="92500" lnSpcReduction="10000"/>
          </a:bodyPr>
          <a:lstStyle/>
          <a:p>
            <a:pPr>
              <a:lnSpc>
                <a:spcPct val="130000"/>
              </a:lnSpc>
              <a:spcBef>
                <a:spcPts val="238"/>
              </a:spcBef>
              <a:buClr>
                <a:srgbClr val="91AC4E"/>
              </a:buClr>
              <a:buSzPct val="80000"/>
              <a:buFont typeface="Wingdings" pitchFamily="2" charset="2"/>
              <a:buChar char="p"/>
            </a:pPr>
            <a:r>
              <a:rPr lang="zh-CN" altLang="en-US" kern="1200" dirty="0">
                <a:solidFill>
                  <a:srgbClr val="C00000"/>
                </a:solidFill>
                <a:latin typeface="楷体"/>
                <a:ea typeface="楷体"/>
                <a:cs typeface="楷体"/>
              </a:rPr>
              <a:t>信息泄露</a:t>
            </a:r>
            <a:r>
              <a:rPr lang="zh-CN" altLang="en-US" kern="1200" dirty="0">
                <a:latin typeface="楷体"/>
                <a:ea typeface="楷体"/>
                <a:cs typeface="楷体"/>
              </a:rPr>
              <a:t>、</a:t>
            </a:r>
            <a:r>
              <a:rPr lang="zh-CN" altLang="en-US" kern="1200" dirty="0">
                <a:solidFill>
                  <a:srgbClr val="C00000"/>
                </a:solidFill>
                <a:latin typeface="楷体"/>
                <a:ea typeface="楷体"/>
                <a:cs typeface="楷体"/>
              </a:rPr>
              <a:t>破坏信息的完整性</a:t>
            </a:r>
          </a:p>
          <a:p>
            <a:pPr>
              <a:lnSpc>
                <a:spcPct val="130000"/>
              </a:lnSpc>
              <a:spcBef>
                <a:spcPts val="238"/>
              </a:spcBef>
              <a:buClr>
                <a:srgbClr val="91AC4E"/>
              </a:buClr>
              <a:buSzPct val="80000"/>
              <a:buFont typeface="Wingdings" pitchFamily="2" charset="2"/>
              <a:buChar char="p"/>
            </a:pPr>
            <a:r>
              <a:rPr lang="zh-CN" altLang="en-US" kern="1200" dirty="0">
                <a:solidFill>
                  <a:srgbClr val="C00000"/>
                </a:solidFill>
                <a:latin typeface="楷体"/>
                <a:ea typeface="楷体"/>
                <a:cs typeface="楷体"/>
              </a:rPr>
              <a:t>拒绝服务（</a:t>
            </a:r>
            <a:r>
              <a:rPr lang="en-US" altLang="zh-CN" kern="1200" dirty="0">
                <a:solidFill>
                  <a:srgbClr val="C00000"/>
                </a:solidFill>
                <a:latin typeface="楷体"/>
                <a:ea typeface="楷体"/>
                <a:cs typeface="楷体"/>
              </a:rPr>
              <a:t>DoS</a:t>
            </a:r>
            <a:r>
              <a:rPr lang="zh-CN" altLang="en-US" kern="1200" dirty="0">
                <a:solidFill>
                  <a:srgbClr val="C00000"/>
                </a:solidFill>
                <a:latin typeface="楷体"/>
                <a:ea typeface="楷体"/>
                <a:cs typeface="楷体"/>
              </a:rPr>
              <a:t>、</a:t>
            </a:r>
            <a:r>
              <a:rPr lang="en-US" altLang="zh-CN" kern="1200" dirty="0">
                <a:solidFill>
                  <a:srgbClr val="C00000"/>
                </a:solidFill>
                <a:latin typeface="楷体"/>
                <a:ea typeface="楷体"/>
                <a:cs typeface="楷体"/>
              </a:rPr>
              <a:t>DDoS</a:t>
            </a:r>
            <a:r>
              <a:rPr lang="zh-CN" altLang="en-US" kern="1200" dirty="0">
                <a:solidFill>
                  <a:srgbClr val="C00000"/>
                </a:solidFill>
                <a:latin typeface="楷体"/>
                <a:ea typeface="楷体"/>
                <a:cs typeface="楷体"/>
              </a:rPr>
              <a:t>）</a:t>
            </a:r>
          </a:p>
          <a:p>
            <a:pPr>
              <a:lnSpc>
                <a:spcPct val="130000"/>
              </a:lnSpc>
              <a:spcBef>
                <a:spcPts val="238"/>
              </a:spcBef>
              <a:buClr>
                <a:srgbClr val="91AC4E"/>
              </a:buClr>
              <a:buSzPct val="80000"/>
              <a:buFont typeface="Wingdings" pitchFamily="2" charset="2"/>
              <a:buChar char="p"/>
            </a:pPr>
            <a:r>
              <a:rPr lang="zh-CN" altLang="en-US" kern="1200" dirty="0">
                <a:latin typeface="楷体"/>
                <a:ea typeface="楷体"/>
                <a:cs typeface="楷体"/>
              </a:rPr>
              <a:t>非法使用</a:t>
            </a:r>
            <a:r>
              <a:rPr lang="en-US" altLang="zh-CN" kern="1200" dirty="0">
                <a:latin typeface="楷体"/>
                <a:ea typeface="楷体"/>
                <a:cs typeface="楷体"/>
              </a:rPr>
              <a:t>(</a:t>
            </a:r>
            <a:r>
              <a:rPr lang="zh-CN" altLang="en-US" kern="1200" dirty="0">
                <a:latin typeface="楷体"/>
                <a:ea typeface="楷体"/>
                <a:cs typeface="楷体"/>
              </a:rPr>
              <a:t>非授权访问</a:t>
            </a:r>
            <a:r>
              <a:rPr lang="en-US" altLang="zh-CN" kern="1200" dirty="0">
                <a:latin typeface="楷体"/>
                <a:ea typeface="楷体"/>
                <a:cs typeface="楷体"/>
              </a:rPr>
              <a:t>)</a:t>
            </a:r>
            <a:r>
              <a:rPr lang="zh-CN" altLang="en-US" kern="1200" dirty="0">
                <a:latin typeface="楷体"/>
                <a:ea typeface="楷体"/>
                <a:cs typeface="楷体"/>
              </a:rPr>
              <a:t>、窃听</a:t>
            </a:r>
          </a:p>
          <a:p>
            <a:pPr>
              <a:lnSpc>
                <a:spcPct val="130000"/>
              </a:lnSpc>
              <a:spcBef>
                <a:spcPts val="238"/>
              </a:spcBef>
              <a:buClr>
                <a:srgbClr val="91AC4E"/>
              </a:buClr>
              <a:buSzPct val="80000"/>
              <a:buFont typeface="Wingdings" pitchFamily="2" charset="2"/>
              <a:buChar char="p"/>
            </a:pPr>
            <a:r>
              <a:rPr lang="zh-CN" altLang="en-US" kern="1200" dirty="0">
                <a:latin typeface="楷体"/>
                <a:ea typeface="楷体"/>
                <a:cs typeface="楷体"/>
              </a:rPr>
              <a:t>业务数据流分析</a:t>
            </a:r>
          </a:p>
          <a:p>
            <a:pPr>
              <a:lnSpc>
                <a:spcPct val="130000"/>
              </a:lnSpc>
              <a:spcBef>
                <a:spcPts val="238"/>
              </a:spcBef>
              <a:buClr>
                <a:srgbClr val="91AC4E"/>
              </a:buClr>
              <a:buSzPct val="80000"/>
              <a:buFont typeface="Wingdings" pitchFamily="2" charset="2"/>
              <a:buChar char="p"/>
            </a:pPr>
            <a:r>
              <a:rPr lang="zh-CN" altLang="en-US" kern="1200" dirty="0">
                <a:solidFill>
                  <a:srgbClr val="C00000"/>
                </a:solidFill>
                <a:latin typeface="楷体"/>
                <a:ea typeface="楷体"/>
                <a:cs typeface="楷体"/>
              </a:rPr>
              <a:t>假冒</a:t>
            </a:r>
            <a:r>
              <a:rPr lang="zh-CN" altLang="en-US" kern="1200" dirty="0">
                <a:latin typeface="楷体"/>
                <a:ea typeface="楷体"/>
                <a:cs typeface="楷体"/>
              </a:rPr>
              <a:t>、旁路控制</a:t>
            </a:r>
          </a:p>
          <a:p>
            <a:pPr>
              <a:lnSpc>
                <a:spcPct val="130000"/>
              </a:lnSpc>
              <a:spcBef>
                <a:spcPts val="238"/>
              </a:spcBef>
              <a:buClr>
                <a:srgbClr val="91AC4E"/>
              </a:buClr>
              <a:buSzPct val="80000"/>
              <a:buFont typeface="Wingdings" pitchFamily="2" charset="2"/>
              <a:buChar char="p"/>
            </a:pPr>
            <a:r>
              <a:rPr lang="zh-CN" altLang="en-US" kern="1200" dirty="0">
                <a:solidFill>
                  <a:srgbClr val="C00000"/>
                </a:solidFill>
                <a:latin typeface="楷体"/>
                <a:ea typeface="楷体"/>
                <a:cs typeface="楷体"/>
              </a:rPr>
              <a:t>授权侵犯 </a:t>
            </a:r>
            <a:r>
              <a:rPr lang="zh-CN" altLang="en-US" kern="1200" dirty="0">
                <a:latin typeface="楷体"/>
                <a:ea typeface="楷体"/>
                <a:cs typeface="楷体"/>
              </a:rPr>
              <a:t>（内部攻击）</a:t>
            </a:r>
          </a:p>
          <a:p>
            <a:pPr>
              <a:lnSpc>
                <a:spcPct val="130000"/>
              </a:lnSpc>
              <a:spcBef>
                <a:spcPts val="238"/>
              </a:spcBef>
              <a:buClr>
                <a:srgbClr val="91AC4E"/>
              </a:buClr>
              <a:buSzPct val="80000"/>
              <a:buFont typeface="Wingdings" pitchFamily="2" charset="2"/>
              <a:buChar char="p"/>
            </a:pPr>
            <a:r>
              <a:rPr lang="zh-CN" altLang="en-US" kern="1200" dirty="0">
                <a:solidFill>
                  <a:srgbClr val="C00000"/>
                </a:solidFill>
                <a:latin typeface="楷体"/>
                <a:ea typeface="楷体"/>
                <a:cs typeface="楷体"/>
              </a:rPr>
              <a:t>抵赖</a:t>
            </a:r>
            <a:r>
              <a:rPr lang="zh-CN" altLang="en-US" kern="1200" dirty="0">
                <a:latin typeface="楷体"/>
                <a:ea typeface="楷体"/>
                <a:cs typeface="楷体"/>
              </a:rPr>
              <a:t> （来自用户的攻击）</a:t>
            </a:r>
          </a:p>
          <a:p>
            <a:pPr>
              <a:lnSpc>
                <a:spcPct val="130000"/>
              </a:lnSpc>
              <a:spcBef>
                <a:spcPts val="238"/>
              </a:spcBef>
              <a:buClr>
                <a:srgbClr val="91AC4E"/>
              </a:buClr>
              <a:buSzPct val="80000"/>
              <a:buFont typeface="Wingdings" pitchFamily="2" charset="2"/>
              <a:buChar char="p"/>
            </a:pPr>
            <a:r>
              <a:rPr lang="zh-CN" altLang="en-US" kern="1200" dirty="0">
                <a:latin typeface="楷体"/>
                <a:ea typeface="楷体"/>
                <a:cs typeface="楷体"/>
              </a:rPr>
              <a:t>计算机病毒、恶意软件</a:t>
            </a:r>
          </a:p>
          <a:p>
            <a:pPr>
              <a:lnSpc>
                <a:spcPct val="130000"/>
              </a:lnSpc>
              <a:spcBef>
                <a:spcPts val="238"/>
              </a:spcBef>
              <a:buClr>
                <a:srgbClr val="91AC4E"/>
              </a:buClr>
              <a:buSzPct val="80000"/>
              <a:buFont typeface="Wingdings" pitchFamily="2" charset="2"/>
              <a:buChar char="p"/>
            </a:pPr>
            <a:r>
              <a:rPr lang="zh-CN" altLang="en-US" kern="1200" dirty="0">
                <a:latin typeface="楷体"/>
                <a:ea typeface="楷体"/>
                <a:cs typeface="楷体"/>
              </a:rPr>
              <a:t>信息安全法律法规不完善</a:t>
            </a:r>
            <a:endParaRPr lang="en-US" altLang="zh-CN" kern="1200" dirty="0">
              <a:latin typeface="楷体"/>
              <a:ea typeface="楷体"/>
              <a:cs typeface="楷体"/>
            </a:endParaRPr>
          </a:p>
        </p:txBody>
      </p:sp>
      <p:pic>
        <p:nvPicPr>
          <p:cNvPr id="73730" name="Picture 2" descr="http://images.pearsoned-ema.com/jpeg/large/9780321194336.jpg"/>
          <p:cNvPicPr>
            <a:picLocks noChangeAspect="1" noChangeArrowheads="1"/>
          </p:cNvPicPr>
          <p:nvPr/>
        </p:nvPicPr>
        <p:blipFill>
          <a:blip r:embed="rId3" cstate="print"/>
          <a:srcRect/>
          <a:stretch>
            <a:fillRect/>
          </a:stretch>
        </p:blipFill>
        <p:spPr bwMode="auto">
          <a:xfrm>
            <a:off x="5997759" y="1164566"/>
            <a:ext cx="2446871" cy="3165894"/>
          </a:xfrm>
          <a:prstGeom prst="rect">
            <a:avLst/>
          </a:prstGeom>
          <a:noFill/>
        </p:spPr>
      </p:pic>
    </p:spTree>
    <p:extLst>
      <p:ext uri="{BB962C8B-B14F-4D97-AF65-F5344CB8AC3E}">
        <p14:creationId xmlns:p14="http://schemas.microsoft.com/office/powerpoint/2010/main" val="230726737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073634">
                                            <p:txEl>
                                              <p:pRg st="1" end="1"/>
                                            </p:txEl>
                                          </p:spTgt>
                                        </p:tgtEl>
                                        <p:attrNameLst>
                                          <p:attrName>style.visibility</p:attrName>
                                        </p:attrNameLst>
                                      </p:cBhvr>
                                      <p:to>
                                        <p:strVal val="visible"/>
                                      </p:to>
                                    </p:set>
                                    <p:anim calcmode="lin" valueType="num">
                                      <p:cBhvr additive="base">
                                        <p:cTn id="7" dur="500"/>
                                        <p:tgtEl>
                                          <p:spTgt spid="2073634">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73634">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073634">
                                            <p:txEl>
                                              <p:pRg st="2" end="2"/>
                                            </p:txEl>
                                          </p:spTgt>
                                        </p:tgtEl>
                                        <p:attrNameLst>
                                          <p:attrName>style.visibility</p:attrName>
                                        </p:attrNameLst>
                                      </p:cBhvr>
                                      <p:to>
                                        <p:strVal val="visible"/>
                                      </p:to>
                                    </p:set>
                                    <p:anim calcmode="lin" valueType="num">
                                      <p:cBhvr additive="base">
                                        <p:cTn id="13" dur="500"/>
                                        <p:tgtEl>
                                          <p:spTgt spid="2073634">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2073634">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2073634">
                                            <p:txEl>
                                              <p:pRg st="3" end="3"/>
                                            </p:txEl>
                                          </p:spTgt>
                                        </p:tgtEl>
                                        <p:attrNameLst>
                                          <p:attrName>style.visibility</p:attrName>
                                        </p:attrNameLst>
                                      </p:cBhvr>
                                      <p:to>
                                        <p:strVal val="visible"/>
                                      </p:to>
                                    </p:set>
                                    <p:anim calcmode="lin" valueType="num">
                                      <p:cBhvr additive="base">
                                        <p:cTn id="19" dur="500"/>
                                        <p:tgtEl>
                                          <p:spTgt spid="2073634">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207363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2073634">
                                            <p:txEl>
                                              <p:pRg st="4" end="4"/>
                                            </p:txEl>
                                          </p:spTgt>
                                        </p:tgtEl>
                                        <p:attrNameLst>
                                          <p:attrName>style.visibility</p:attrName>
                                        </p:attrNameLst>
                                      </p:cBhvr>
                                      <p:to>
                                        <p:strVal val="visible"/>
                                      </p:to>
                                    </p:set>
                                    <p:anim calcmode="lin" valueType="num">
                                      <p:cBhvr additive="base">
                                        <p:cTn id="25" dur="500"/>
                                        <p:tgtEl>
                                          <p:spTgt spid="2073634">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2073634">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2073634">
                                            <p:txEl>
                                              <p:pRg st="5" end="5"/>
                                            </p:txEl>
                                          </p:spTgt>
                                        </p:tgtEl>
                                        <p:attrNameLst>
                                          <p:attrName>style.visibility</p:attrName>
                                        </p:attrNameLst>
                                      </p:cBhvr>
                                      <p:to>
                                        <p:strVal val="visible"/>
                                      </p:to>
                                    </p:set>
                                    <p:anim calcmode="lin" valueType="num">
                                      <p:cBhvr additive="base">
                                        <p:cTn id="31" dur="500"/>
                                        <p:tgtEl>
                                          <p:spTgt spid="2073634">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207363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2073634">
                                            <p:txEl>
                                              <p:pRg st="6" end="6"/>
                                            </p:txEl>
                                          </p:spTgt>
                                        </p:tgtEl>
                                        <p:attrNameLst>
                                          <p:attrName>style.visibility</p:attrName>
                                        </p:attrNameLst>
                                      </p:cBhvr>
                                      <p:to>
                                        <p:strVal val="visible"/>
                                      </p:to>
                                    </p:set>
                                    <p:anim calcmode="lin" valueType="num">
                                      <p:cBhvr additive="base">
                                        <p:cTn id="37" dur="500"/>
                                        <p:tgtEl>
                                          <p:spTgt spid="2073634">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2073634">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2073634">
                                            <p:txEl>
                                              <p:pRg st="7" end="7"/>
                                            </p:txEl>
                                          </p:spTgt>
                                        </p:tgtEl>
                                        <p:attrNameLst>
                                          <p:attrName>style.visibility</p:attrName>
                                        </p:attrNameLst>
                                      </p:cBhvr>
                                      <p:to>
                                        <p:strVal val="visible"/>
                                      </p:to>
                                    </p:set>
                                    <p:anim calcmode="lin" valueType="num">
                                      <p:cBhvr additive="base">
                                        <p:cTn id="43" dur="500"/>
                                        <p:tgtEl>
                                          <p:spTgt spid="2073634">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2073634">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nodeType="clickEffect">
                                  <p:stCondLst>
                                    <p:cond delay="0"/>
                                  </p:stCondLst>
                                  <p:childTnLst>
                                    <p:set>
                                      <p:cBhvr>
                                        <p:cTn id="48" dur="1" fill="hold">
                                          <p:stCondLst>
                                            <p:cond delay="0"/>
                                          </p:stCondLst>
                                        </p:cTn>
                                        <p:tgtEl>
                                          <p:spTgt spid="2073634">
                                            <p:txEl>
                                              <p:pRg st="8" end="8"/>
                                            </p:txEl>
                                          </p:spTgt>
                                        </p:tgtEl>
                                        <p:attrNameLst>
                                          <p:attrName>style.visibility</p:attrName>
                                        </p:attrNameLst>
                                      </p:cBhvr>
                                      <p:to>
                                        <p:strVal val="visible"/>
                                      </p:to>
                                    </p:set>
                                    <p:anim calcmode="lin" valueType="num">
                                      <p:cBhvr additive="base">
                                        <p:cTn id="49" dur="500"/>
                                        <p:tgtEl>
                                          <p:spTgt spid="2073634">
                                            <p:txEl>
                                              <p:pRg st="8" end="8"/>
                                            </p:txEl>
                                          </p:spTgt>
                                        </p:tgtEl>
                                        <p:attrNameLst>
                                          <p:attrName>ppt_y</p:attrName>
                                        </p:attrNameLst>
                                      </p:cBhvr>
                                      <p:tavLst>
                                        <p:tav tm="0">
                                          <p:val>
                                            <p:strVal val="#ppt_y+#ppt_h*1.125000"/>
                                          </p:val>
                                        </p:tav>
                                        <p:tav tm="100000">
                                          <p:val>
                                            <p:strVal val="#ppt_y"/>
                                          </p:val>
                                        </p:tav>
                                      </p:tavLst>
                                    </p:anim>
                                    <p:animEffect transition="in" filter="wipe(up)">
                                      <p:cBhvr>
                                        <p:cTn id="50" dur="500"/>
                                        <p:tgtEl>
                                          <p:spTgt spid="207363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9B9322-0E6D-05E5-449D-11F8635E3D00}"/>
              </a:ext>
            </a:extLst>
          </p:cNvPr>
          <p:cNvSpPr>
            <a:spLocks noGrp="1"/>
          </p:cNvSpPr>
          <p:nvPr>
            <p:ph type="title"/>
          </p:nvPr>
        </p:nvSpPr>
        <p:spPr/>
        <p:txBody>
          <a:bodyPr/>
          <a:lstStyle/>
          <a:p>
            <a:r>
              <a:rPr kumimoji="1" lang="zh-CN" altLang="en-US" dirty="0">
                <a:solidFill>
                  <a:srgbClr val="0070C0"/>
                </a:solidFill>
              </a:rPr>
              <a:t>软件系统安全威胁：</a:t>
            </a:r>
            <a:r>
              <a:rPr kumimoji="1" lang="en-US" altLang="zh-CN" dirty="0">
                <a:solidFill>
                  <a:srgbClr val="0070C0"/>
                </a:solidFill>
              </a:rPr>
              <a:t>STRIED</a:t>
            </a:r>
            <a:endParaRPr kumimoji="1" lang="zh-CN" altLang="en-US" dirty="0"/>
          </a:p>
        </p:txBody>
      </p:sp>
      <p:sp>
        <p:nvSpPr>
          <p:cNvPr id="3" name="内容占位符 2">
            <a:extLst>
              <a:ext uri="{FF2B5EF4-FFF2-40B4-BE49-F238E27FC236}">
                <a16:creationId xmlns:a16="http://schemas.microsoft.com/office/drawing/2014/main" id="{34967D7F-6AB7-562D-678A-F364834E1521}"/>
              </a:ext>
            </a:extLst>
          </p:cNvPr>
          <p:cNvSpPr>
            <a:spLocks noGrp="1"/>
          </p:cNvSpPr>
          <p:nvPr>
            <p:ph idx="1"/>
          </p:nvPr>
        </p:nvSpPr>
        <p:spPr>
          <a:xfrm>
            <a:off x="465020" y="1349968"/>
            <a:ext cx="5146508" cy="2846646"/>
          </a:xfrm>
        </p:spPr>
        <p:txBody>
          <a:bodyPr/>
          <a:lstStyle/>
          <a:p>
            <a:pPr marL="308610" indent="-308610">
              <a:lnSpc>
                <a:spcPct val="130000"/>
              </a:lnSpc>
              <a:spcBef>
                <a:spcPts val="238"/>
              </a:spcBef>
              <a:buClr>
                <a:srgbClr val="91AC4E"/>
              </a:buClr>
              <a:buSzPct val="80000"/>
              <a:buFont typeface="Wingdings" pitchFamily="2" charset="2"/>
              <a:buChar char="p"/>
            </a:pPr>
            <a:r>
              <a:rPr lang="zh-CN" altLang="en-US" b="1" dirty="0">
                <a:ea typeface="楷体"/>
                <a:cs typeface="楷体"/>
              </a:rPr>
              <a:t>假冒 </a:t>
            </a:r>
            <a:r>
              <a:rPr lang="en-US" altLang="zh-CN" b="1" dirty="0">
                <a:ea typeface="楷体"/>
                <a:cs typeface="楷体"/>
              </a:rPr>
              <a:t>ID </a:t>
            </a:r>
            <a:r>
              <a:rPr lang="zh-CN" altLang="en-US" b="1" dirty="0">
                <a:ea typeface="楷体"/>
                <a:cs typeface="楷体"/>
              </a:rPr>
              <a:t> </a:t>
            </a:r>
            <a:r>
              <a:rPr lang="en-US" altLang="zh-CN" dirty="0">
                <a:ea typeface="楷体"/>
                <a:cs typeface="楷体"/>
              </a:rPr>
              <a:t>(</a:t>
            </a:r>
            <a:r>
              <a:rPr lang="en-US" altLang="zh-CN" b="1" u="sng" dirty="0">
                <a:solidFill>
                  <a:srgbClr val="C00000"/>
                </a:solidFill>
                <a:ea typeface="楷体"/>
                <a:cs typeface="楷体"/>
              </a:rPr>
              <a:t>S</a:t>
            </a:r>
            <a:r>
              <a:rPr lang="en-US" altLang="zh-CN" sz="1800" dirty="0">
                <a:ea typeface="楷体"/>
                <a:cs typeface="楷体"/>
              </a:rPr>
              <a:t>poofing Identify)</a:t>
            </a:r>
          </a:p>
          <a:p>
            <a:pPr marL="308610" indent="-308610">
              <a:lnSpc>
                <a:spcPct val="130000"/>
              </a:lnSpc>
              <a:spcBef>
                <a:spcPts val="238"/>
              </a:spcBef>
              <a:buClr>
                <a:srgbClr val="91AC4E"/>
              </a:buClr>
              <a:buSzPct val="80000"/>
              <a:buFont typeface="Wingdings" pitchFamily="2" charset="2"/>
              <a:buChar char="p"/>
            </a:pPr>
            <a:r>
              <a:rPr lang="zh-CN" altLang="en-US" b="1" dirty="0">
                <a:ea typeface="楷体"/>
                <a:cs typeface="楷体"/>
              </a:rPr>
              <a:t>篡改</a:t>
            </a:r>
            <a:r>
              <a:rPr lang="zh-CN" altLang="en-US" dirty="0">
                <a:ea typeface="楷体"/>
                <a:cs typeface="楷体"/>
              </a:rPr>
              <a:t> </a:t>
            </a:r>
            <a:r>
              <a:rPr lang="en-US" altLang="zh-CN" dirty="0">
                <a:ea typeface="楷体"/>
                <a:cs typeface="楷体"/>
              </a:rPr>
              <a:t>(</a:t>
            </a:r>
            <a:r>
              <a:rPr lang="en-US" altLang="zh-CN" b="1" u="sng" dirty="0">
                <a:solidFill>
                  <a:srgbClr val="C00000"/>
                </a:solidFill>
                <a:ea typeface="楷体"/>
              </a:rPr>
              <a:t>T</a:t>
            </a:r>
            <a:r>
              <a:rPr lang="en-US" altLang="zh-CN" sz="1800" dirty="0">
                <a:ea typeface="楷体"/>
              </a:rPr>
              <a:t>ampering)</a:t>
            </a:r>
          </a:p>
          <a:p>
            <a:pPr marL="308610" indent="-308610">
              <a:lnSpc>
                <a:spcPct val="130000"/>
              </a:lnSpc>
              <a:spcBef>
                <a:spcPts val="238"/>
              </a:spcBef>
              <a:buClr>
                <a:srgbClr val="91AC4E"/>
              </a:buClr>
              <a:buSzPct val="80000"/>
              <a:buFont typeface="Wingdings" pitchFamily="2" charset="2"/>
              <a:buChar char="p"/>
            </a:pPr>
            <a:r>
              <a:rPr lang="zh-CN" altLang="en-US" b="1" dirty="0">
                <a:ea typeface="楷体"/>
                <a:cs typeface="楷体"/>
              </a:rPr>
              <a:t>抵赖</a:t>
            </a:r>
            <a:r>
              <a:rPr lang="zh-CN" altLang="en-US" dirty="0">
                <a:ea typeface="楷体"/>
                <a:cs typeface="楷体"/>
              </a:rPr>
              <a:t> </a:t>
            </a:r>
            <a:r>
              <a:rPr lang="en-US" altLang="zh-CN" dirty="0">
                <a:ea typeface="楷体"/>
                <a:cs typeface="楷体"/>
              </a:rPr>
              <a:t>(</a:t>
            </a:r>
            <a:r>
              <a:rPr lang="en-US" altLang="zh-CN" b="1" u="sng" dirty="0">
                <a:solidFill>
                  <a:srgbClr val="C00000"/>
                </a:solidFill>
                <a:ea typeface="楷体"/>
                <a:cs typeface="楷体"/>
              </a:rPr>
              <a:t>R</a:t>
            </a:r>
            <a:r>
              <a:rPr lang="en-US" altLang="zh-CN" sz="1800" dirty="0">
                <a:ea typeface="楷体"/>
              </a:rPr>
              <a:t>epudiation)</a:t>
            </a:r>
          </a:p>
          <a:p>
            <a:pPr marL="308610" indent="-308610">
              <a:lnSpc>
                <a:spcPct val="130000"/>
              </a:lnSpc>
              <a:spcBef>
                <a:spcPts val="238"/>
              </a:spcBef>
              <a:buClr>
                <a:srgbClr val="91AC4E"/>
              </a:buClr>
              <a:buSzPct val="80000"/>
              <a:buFont typeface="Wingdings" pitchFamily="2" charset="2"/>
              <a:buChar char="p"/>
            </a:pPr>
            <a:r>
              <a:rPr lang="zh-CN" altLang="en-US" b="1" dirty="0">
                <a:ea typeface="楷体"/>
                <a:cs typeface="楷体"/>
              </a:rPr>
              <a:t>信息泄露 </a:t>
            </a:r>
            <a:r>
              <a:rPr lang="en-US" altLang="zh-CN" dirty="0">
                <a:ea typeface="楷体"/>
                <a:cs typeface="楷体"/>
              </a:rPr>
              <a:t>(</a:t>
            </a:r>
            <a:r>
              <a:rPr lang="en-US" altLang="zh-CN" b="1" u="sng" dirty="0">
                <a:solidFill>
                  <a:srgbClr val="C00000"/>
                </a:solidFill>
                <a:ea typeface="楷体"/>
                <a:cs typeface="楷体"/>
              </a:rPr>
              <a:t>I</a:t>
            </a:r>
            <a:r>
              <a:rPr lang="en-US" altLang="zh-CN" sz="1800" dirty="0">
                <a:ea typeface="楷体"/>
              </a:rPr>
              <a:t>nformation)</a:t>
            </a:r>
          </a:p>
          <a:p>
            <a:pPr marL="308610" indent="-308610">
              <a:lnSpc>
                <a:spcPct val="130000"/>
              </a:lnSpc>
              <a:spcBef>
                <a:spcPts val="238"/>
              </a:spcBef>
              <a:buClr>
                <a:srgbClr val="91AC4E"/>
              </a:buClr>
              <a:buSzPct val="80000"/>
              <a:buFont typeface="Wingdings" pitchFamily="2" charset="2"/>
              <a:buChar char="p"/>
            </a:pPr>
            <a:r>
              <a:rPr lang="zh-CN" altLang="en-US" b="1" dirty="0">
                <a:ea typeface="楷体"/>
                <a:cs typeface="楷体"/>
              </a:rPr>
              <a:t>拒绝服务 </a:t>
            </a:r>
            <a:r>
              <a:rPr lang="en-US" altLang="zh-CN" dirty="0">
                <a:ea typeface="楷体"/>
                <a:cs typeface="楷体"/>
              </a:rPr>
              <a:t>(</a:t>
            </a:r>
            <a:r>
              <a:rPr lang="en-US" altLang="zh-CN" b="1" u="sng" dirty="0">
                <a:solidFill>
                  <a:srgbClr val="C00000"/>
                </a:solidFill>
                <a:ea typeface="楷体"/>
                <a:cs typeface="楷体"/>
              </a:rPr>
              <a:t>D</a:t>
            </a:r>
            <a:r>
              <a:rPr lang="en-US" altLang="zh-CN" sz="1800" dirty="0">
                <a:ea typeface="楷体"/>
              </a:rPr>
              <a:t>enial of Service, DoS )</a:t>
            </a:r>
          </a:p>
          <a:p>
            <a:pPr marL="308610" indent="-308610">
              <a:lnSpc>
                <a:spcPct val="130000"/>
              </a:lnSpc>
              <a:spcBef>
                <a:spcPts val="238"/>
              </a:spcBef>
              <a:buClr>
                <a:srgbClr val="91AC4E"/>
              </a:buClr>
              <a:buSzPct val="80000"/>
              <a:buFont typeface="Wingdings" pitchFamily="2" charset="2"/>
              <a:buChar char="p"/>
            </a:pPr>
            <a:r>
              <a:rPr lang="zh-CN" altLang="en-US" b="1" dirty="0">
                <a:ea typeface="楷体"/>
                <a:cs typeface="楷体"/>
              </a:rPr>
              <a:t>特权升级 </a:t>
            </a:r>
            <a:r>
              <a:rPr lang="en-US" altLang="zh-CN" dirty="0">
                <a:ea typeface="楷体"/>
                <a:cs typeface="楷体"/>
              </a:rPr>
              <a:t>(</a:t>
            </a:r>
            <a:r>
              <a:rPr lang="en-US" altLang="zh-CN" b="1" u="sng" dirty="0">
                <a:solidFill>
                  <a:srgbClr val="C00000"/>
                </a:solidFill>
                <a:ea typeface="楷体"/>
                <a:cs typeface="楷体"/>
              </a:rPr>
              <a:t>E</a:t>
            </a:r>
            <a:r>
              <a:rPr lang="en-US" altLang="zh-CN" sz="1800" dirty="0">
                <a:ea typeface="楷体"/>
              </a:rPr>
              <a:t>levation of Privilege, </a:t>
            </a:r>
            <a:r>
              <a:rPr lang="en-US" altLang="zh-CN" sz="1800" dirty="0" err="1">
                <a:ea typeface="楷体"/>
              </a:rPr>
              <a:t>EoP</a:t>
            </a:r>
            <a:r>
              <a:rPr lang="en-US" altLang="zh-CN" sz="1800" dirty="0">
                <a:ea typeface="楷体"/>
              </a:rPr>
              <a:t>)</a:t>
            </a:r>
          </a:p>
        </p:txBody>
      </p:sp>
      <p:pic>
        <p:nvPicPr>
          <p:cNvPr id="4" name="图片 3">
            <a:extLst>
              <a:ext uri="{FF2B5EF4-FFF2-40B4-BE49-F238E27FC236}">
                <a16:creationId xmlns:a16="http://schemas.microsoft.com/office/drawing/2014/main" id="{62806524-CCD4-5E9A-B8C9-F9DCA8CD499F}"/>
              </a:ext>
            </a:extLst>
          </p:cNvPr>
          <p:cNvPicPr>
            <a:picLocks noChangeAspect="1"/>
          </p:cNvPicPr>
          <p:nvPr/>
        </p:nvPicPr>
        <p:blipFill>
          <a:blip r:embed="rId2"/>
          <a:stretch>
            <a:fillRect/>
          </a:stretch>
        </p:blipFill>
        <p:spPr>
          <a:xfrm>
            <a:off x="5427081" y="1630803"/>
            <a:ext cx="3528551" cy="1881894"/>
          </a:xfrm>
          <a:prstGeom prst="rect">
            <a:avLst/>
          </a:prstGeom>
        </p:spPr>
      </p:pic>
      <p:sp>
        <p:nvSpPr>
          <p:cNvPr id="5" name="矩形 4">
            <a:extLst>
              <a:ext uri="{FF2B5EF4-FFF2-40B4-BE49-F238E27FC236}">
                <a16:creationId xmlns:a16="http://schemas.microsoft.com/office/drawing/2014/main" id="{97656766-F7C1-C088-A410-717CB140F3BB}"/>
              </a:ext>
            </a:extLst>
          </p:cNvPr>
          <p:cNvSpPr/>
          <p:nvPr/>
        </p:nvSpPr>
        <p:spPr>
          <a:xfrm>
            <a:off x="5237755" y="3461194"/>
            <a:ext cx="4114800" cy="244682"/>
          </a:xfrm>
          <a:prstGeom prst="rect">
            <a:avLst/>
          </a:prstGeom>
        </p:spPr>
        <p:txBody>
          <a:bodyPr>
            <a:spAutoFit/>
          </a:bodyPr>
          <a:lstStyle/>
          <a:p>
            <a:r>
              <a:rPr lang="en-US" altLang="zh-CN" sz="990" dirty="0">
                <a:hlinkClick r:id="rId3"/>
              </a:rPr>
              <a:t>http://techdo.me/identity-spoofing-and-how-to-protect-yourself-from-it/</a:t>
            </a:r>
            <a:r>
              <a:rPr lang="en-US" altLang="zh-CN" sz="990" dirty="0"/>
              <a:t> </a:t>
            </a:r>
            <a:endParaRPr lang="zh-CN" altLang="en-US" sz="990" dirty="0"/>
          </a:p>
        </p:txBody>
      </p:sp>
    </p:spTree>
    <p:extLst>
      <p:ext uri="{BB962C8B-B14F-4D97-AF65-F5344CB8AC3E}">
        <p14:creationId xmlns:p14="http://schemas.microsoft.com/office/powerpoint/2010/main" val="2848121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609092" y="271096"/>
            <a:ext cx="5703034" cy="571500"/>
          </a:xfrm>
        </p:spPr>
        <p:txBody>
          <a:bodyPr/>
          <a:lstStyle/>
          <a:p>
            <a:r>
              <a:rPr lang="zh-CN" altLang="en-US" dirty="0">
                <a:latin typeface="+mj-ea"/>
              </a:rPr>
              <a:t>一些常见的安全漏洞模式</a:t>
            </a:r>
            <a:endParaRPr lang="en-US" altLang="zh-CN" dirty="0">
              <a:latin typeface="+mj-ea"/>
            </a:endParaRPr>
          </a:p>
        </p:txBody>
      </p:sp>
      <p:sp>
        <p:nvSpPr>
          <p:cNvPr id="78851" name="Rectangle 3"/>
          <p:cNvSpPr>
            <a:spLocks noGrp="1" noChangeArrowheads="1"/>
          </p:cNvSpPr>
          <p:nvPr>
            <p:ph type="body" idx="1"/>
          </p:nvPr>
        </p:nvSpPr>
        <p:spPr>
          <a:xfrm>
            <a:off x="1068536" y="1017872"/>
            <a:ext cx="4225360" cy="3854532"/>
          </a:xfrm>
        </p:spPr>
        <p:txBody>
          <a:bodyPr>
            <a:normAutofit/>
          </a:bodyPr>
          <a:lstStyle/>
          <a:p>
            <a:pPr marL="320040" indent="-320040" eaLnBrk="0" hangingPunct="0">
              <a:lnSpc>
                <a:spcPct val="150000"/>
              </a:lnSpc>
              <a:spcBef>
                <a:spcPct val="0"/>
              </a:spcBef>
              <a:buClr>
                <a:srgbClr val="91AC4E"/>
              </a:buClr>
              <a:buSzPct val="80000"/>
              <a:buFont typeface="Wingdings" pitchFamily="2" charset="2"/>
              <a:buChar char="p"/>
              <a:defRPr/>
            </a:pPr>
            <a:r>
              <a:rPr lang="zh-CN" altLang="en-US" sz="1800" kern="1200" dirty="0">
                <a:effectLst>
                  <a:outerShdw blurRad="38100" dist="38100" dir="2700000" algn="tl">
                    <a:srgbClr val="FFFFFF"/>
                  </a:outerShdw>
                </a:effectLst>
                <a:latin typeface="宋体"/>
                <a:ea typeface="宋体"/>
                <a:cs typeface="宋体"/>
              </a:rPr>
              <a:t>缓冲区溢出漏洞</a:t>
            </a:r>
            <a:endParaRPr lang="en-US" altLang="zh-CN" sz="1800" kern="1200" dirty="0">
              <a:effectLst>
                <a:outerShdw blurRad="38100" dist="38100" dir="2700000" algn="tl">
                  <a:srgbClr val="FFFFFF"/>
                </a:outerShdw>
              </a:effectLst>
              <a:latin typeface="宋体"/>
              <a:ea typeface="宋体"/>
              <a:cs typeface="宋体"/>
            </a:endParaRPr>
          </a:p>
          <a:p>
            <a:pPr marL="320040" indent="-320040" eaLnBrk="0" hangingPunct="0">
              <a:lnSpc>
                <a:spcPct val="150000"/>
              </a:lnSpc>
              <a:spcBef>
                <a:spcPct val="0"/>
              </a:spcBef>
              <a:buClr>
                <a:srgbClr val="91AC4E"/>
              </a:buClr>
              <a:buSzPct val="80000"/>
              <a:buFont typeface="Wingdings" pitchFamily="2" charset="2"/>
              <a:buChar char="p"/>
              <a:defRPr/>
            </a:pPr>
            <a:r>
              <a:rPr lang="zh-CN" altLang="en-US" sz="1800" kern="1200" dirty="0">
                <a:effectLst>
                  <a:outerShdw blurRad="38100" dist="38100" dir="2700000" algn="tl">
                    <a:srgbClr val="FFFFFF"/>
                  </a:outerShdw>
                </a:effectLst>
                <a:latin typeface="宋体"/>
                <a:ea typeface="宋体"/>
                <a:cs typeface="宋体"/>
              </a:rPr>
              <a:t>图像格式</a:t>
            </a:r>
            <a:r>
              <a:rPr lang="en-US" altLang="zh-CN" sz="1800" dirty="0">
                <a:effectLst>
                  <a:outerShdw blurRad="38100" dist="38100" dir="2700000" algn="tl">
                    <a:srgbClr val="FFFFFF"/>
                  </a:outerShdw>
                </a:effectLst>
                <a:ea typeface="宋体"/>
                <a:cs typeface="宋体"/>
              </a:rPr>
              <a:t>(WWF/TIFF/PNG)</a:t>
            </a:r>
            <a:r>
              <a:rPr lang="zh-CN" altLang="en-US" sz="1800" kern="1200" dirty="0">
                <a:effectLst>
                  <a:outerShdw blurRad="38100" dist="38100" dir="2700000" algn="tl">
                    <a:srgbClr val="FFFFFF"/>
                  </a:outerShdw>
                </a:effectLst>
                <a:latin typeface="宋体"/>
                <a:ea typeface="宋体"/>
                <a:cs typeface="宋体"/>
              </a:rPr>
              <a:t>漏洞</a:t>
            </a:r>
            <a:endParaRPr lang="en-US" altLang="zh-CN" sz="1800" kern="1200" dirty="0">
              <a:effectLst>
                <a:outerShdw blurRad="38100" dist="38100" dir="2700000" algn="tl">
                  <a:srgbClr val="FFFFFF"/>
                </a:outerShdw>
              </a:effectLst>
              <a:latin typeface="宋体"/>
              <a:ea typeface="宋体"/>
              <a:cs typeface="宋体"/>
            </a:endParaRPr>
          </a:p>
          <a:p>
            <a:pPr marL="320040" indent="-320040" eaLnBrk="0" hangingPunct="0">
              <a:lnSpc>
                <a:spcPct val="150000"/>
              </a:lnSpc>
              <a:spcBef>
                <a:spcPct val="0"/>
              </a:spcBef>
              <a:buClr>
                <a:srgbClr val="91AC4E"/>
              </a:buClr>
              <a:buSzPct val="80000"/>
              <a:buFont typeface="Wingdings" pitchFamily="2" charset="2"/>
              <a:buChar char="p"/>
              <a:defRPr/>
            </a:pPr>
            <a:r>
              <a:rPr lang="zh-CN" altLang="en-US" sz="1800" kern="1200" dirty="0">
                <a:effectLst>
                  <a:outerShdw blurRad="38100" dist="38100" dir="2700000" algn="tl">
                    <a:srgbClr val="FFFFFF"/>
                  </a:outerShdw>
                </a:effectLst>
                <a:latin typeface="宋体"/>
                <a:ea typeface="宋体"/>
                <a:cs typeface="宋体"/>
              </a:rPr>
              <a:t>竞争条件漏洞模式</a:t>
            </a:r>
            <a:endParaRPr lang="zh-CN" sz="1800" kern="1200" dirty="0">
              <a:effectLst>
                <a:outerShdw blurRad="38100" dist="38100" dir="2700000" algn="tl">
                  <a:srgbClr val="FFFFFF"/>
                </a:outerShdw>
              </a:effectLst>
              <a:latin typeface="宋体"/>
              <a:ea typeface="宋体"/>
              <a:cs typeface="宋体"/>
            </a:endParaRPr>
          </a:p>
          <a:p>
            <a:pPr marL="320040" indent="-320040">
              <a:lnSpc>
                <a:spcPct val="150000"/>
              </a:lnSpc>
              <a:spcBef>
                <a:spcPct val="0"/>
              </a:spcBef>
              <a:buClr>
                <a:srgbClr val="91AC4E"/>
              </a:buClr>
              <a:buSzPct val="80000"/>
              <a:buFont typeface="Wingdings" pitchFamily="2" charset="2"/>
              <a:buChar char="p"/>
              <a:defRPr/>
            </a:pPr>
            <a:r>
              <a:rPr lang="en-US" altLang="zh-CN" sz="1800" kern="1200" dirty="0">
                <a:effectLst>
                  <a:outerShdw blurRad="38100" dist="38100" dir="2700000" algn="tl">
                    <a:srgbClr val="FFFFFF"/>
                  </a:outerShdw>
                </a:effectLst>
                <a:latin typeface="宋体"/>
                <a:ea typeface="宋体"/>
                <a:cs typeface="宋体"/>
              </a:rPr>
              <a:t>SQL</a:t>
            </a:r>
            <a:r>
              <a:rPr lang="zh-CN" altLang="zh-CN" sz="1800" kern="1200" dirty="0">
                <a:effectLst>
                  <a:outerShdw blurRad="38100" dist="38100" dir="2700000" algn="tl">
                    <a:srgbClr val="FFFFFF"/>
                  </a:outerShdw>
                </a:effectLst>
                <a:latin typeface="宋体"/>
                <a:ea typeface="宋体"/>
                <a:cs typeface="宋体"/>
              </a:rPr>
              <a:t>注入</a:t>
            </a:r>
            <a:r>
              <a:rPr lang="zh-CN" altLang="en-US" sz="1800" kern="1200" dirty="0">
                <a:effectLst>
                  <a:outerShdw blurRad="38100" dist="38100" dir="2700000" algn="tl">
                    <a:srgbClr val="FFFFFF"/>
                  </a:outerShdw>
                </a:effectLst>
                <a:latin typeface="宋体"/>
                <a:ea typeface="宋体"/>
                <a:cs typeface="宋体"/>
              </a:rPr>
              <a:t>漏洞</a:t>
            </a:r>
            <a:endParaRPr lang="zh-CN" altLang="zh-CN" sz="1800" kern="1200" dirty="0">
              <a:effectLst>
                <a:outerShdw blurRad="38100" dist="38100" dir="2700000" algn="tl">
                  <a:srgbClr val="FFFFFF"/>
                </a:outerShdw>
              </a:effectLst>
              <a:latin typeface="宋体"/>
              <a:ea typeface="宋体"/>
              <a:cs typeface="宋体"/>
            </a:endParaRPr>
          </a:p>
          <a:p>
            <a:pPr marL="320040" indent="-320040">
              <a:lnSpc>
                <a:spcPct val="150000"/>
              </a:lnSpc>
              <a:spcBef>
                <a:spcPct val="0"/>
              </a:spcBef>
              <a:buClr>
                <a:srgbClr val="91AC4E"/>
              </a:buClr>
              <a:buSzPct val="80000"/>
              <a:buFont typeface="Wingdings" pitchFamily="2" charset="2"/>
              <a:buChar char="p"/>
              <a:defRPr/>
            </a:pPr>
            <a:r>
              <a:rPr lang="zh-CN" altLang="zh-CN" sz="1800" kern="1200" dirty="0">
                <a:effectLst>
                  <a:outerShdw blurRad="38100" dist="38100" dir="2700000" algn="tl">
                    <a:srgbClr val="FFFFFF"/>
                  </a:outerShdw>
                </a:effectLst>
                <a:latin typeface="宋体"/>
                <a:ea typeface="宋体"/>
                <a:cs typeface="宋体"/>
              </a:rPr>
              <a:t>跨站脚本攻击（</a:t>
            </a:r>
            <a:r>
              <a:rPr lang="en-US" altLang="zh-CN" sz="1800" kern="1200" dirty="0">
                <a:effectLst>
                  <a:outerShdw blurRad="38100" dist="38100" dir="2700000" algn="tl">
                    <a:srgbClr val="FFFFFF"/>
                  </a:outerShdw>
                </a:effectLst>
                <a:latin typeface="宋体"/>
                <a:ea typeface="宋体"/>
                <a:cs typeface="宋体"/>
              </a:rPr>
              <a:t>XSS</a:t>
            </a:r>
            <a:r>
              <a:rPr lang="zh-CN" altLang="zh-CN" sz="1800" kern="1200" dirty="0">
                <a:effectLst>
                  <a:outerShdw blurRad="38100" dist="38100" dir="2700000" algn="tl">
                    <a:srgbClr val="FFFFFF"/>
                  </a:outerShdw>
                </a:effectLst>
                <a:latin typeface="宋体"/>
                <a:ea typeface="宋体"/>
                <a:cs typeface="宋体"/>
              </a:rPr>
              <a:t>）</a:t>
            </a:r>
          </a:p>
          <a:p>
            <a:pPr marL="320040" indent="-320040">
              <a:lnSpc>
                <a:spcPct val="150000"/>
              </a:lnSpc>
              <a:spcBef>
                <a:spcPct val="0"/>
              </a:spcBef>
              <a:buClr>
                <a:srgbClr val="91AC4E"/>
              </a:buClr>
              <a:buSzPct val="80000"/>
              <a:buFont typeface="Wingdings" pitchFamily="2" charset="2"/>
              <a:buChar char="p"/>
              <a:defRPr/>
            </a:pPr>
            <a:r>
              <a:rPr lang="zh-CN" altLang="zh-CN" sz="1800" kern="1200" dirty="0">
                <a:effectLst>
                  <a:outerShdw blurRad="38100" dist="38100" dir="2700000" algn="tl">
                    <a:srgbClr val="FFFFFF"/>
                  </a:outerShdw>
                </a:effectLst>
                <a:latin typeface="宋体"/>
                <a:ea typeface="宋体"/>
                <a:cs typeface="宋体"/>
              </a:rPr>
              <a:t>跨站请求伪造攻击（</a:t>
            </a:r>
            <a:r>
              <a:rPr lang="en-US" altLang="zh-CN" sz="1800" kern="1200" dirty="0">
                <a:effectLst>
                  <a:outerShdw blurRad="38100" dist="38100" dir="2700000" algn="tl">
                    <a:srgbClr val="FFFFFF"/>
                  </a:outerShdw>
                </a:effectLst>
                <a:latin typeface="宋体"/>
                <a:ea typeface="宋体"/>
                <a:cs typeface="宋体"/>
              </a:rPr>
              <a:t>CSRF</a:t>
            </a:r>
            <a:r>
              <a:rPr lang="zh-CN" altLang="zh-CN" sz="1800" kern="1200" dirty="0">
                <a:effectLst>
                  <a:outerShdw blurRad="38100" dist="38100" dir="2700000" algn="tl">
                    <a:srgbClr val="FFFFFF"/>
                  </a:outerShdw>
                </a:effectLst>
                <a:latin typeface="宋体"/>
                <a:ea typeface="宋体"/>
                <a:cs typeface="宋体"/>
              </a:rPr>
              <a:t>）</a:t>
            </a:r>
            <a:endParaRPr lang="en-US" altLang="zh-CN" sz="1800" kern="1200" dirty="0">
              <a:effectLst>
                <a:outerShdw blurRad="38100" dist="38100" dir="2700000" algn="tl">
                  <a:srgbClr val="FFFFFF"/>
                </a:outerShdw>
              </a:effectLst>
              <a:latin typeface="宋体"/>
              <a:ea typeface="宋体"/>
              <a:cs typeface="宋体"/>
            </a:endParaRPr>
          </a:p>
          <a:p>
            <a:pPr marL="320040" indent="-320040">
              <a:lnSpc>
                <a:spcPct val="150000"/>
              </a:lnSpc>
              <a:spcBef>
                <a:spcPct val="0"/>
              </a:spcBef>
              <a:buClr>
                <a:srgbClr val="91AC4E"/>
              </a:buClr>
              <a:buSzPct val="80000"/>
              <a:buFont typeface="Wingdings" pitchFamily="2" charset="2"/>
              <a:buChar char="p"/>
              <a:defRPr/>
            </a:pPr>
            <a:r>
              <a:rPr lang="en-US" altLang="zh-TW" sz="1800" kern="1200" dirty="0">
                <a:effectLst>
                  <a:outerShdw blurRad="38100" dist="38100" dir="2700000" algn="tl">
                    <a:srgbClr val="FFFFFF"/>
                  </a:outerShdw>
                </a:effectLst>
                <a:latin typeface="宋体"/>
                <a:ea typeface="宋体"/>
                <a:cs typeface="宋体"/>
              </a:rPr>
              <a:t>Frame-proxy</a:t>
            </a:r>
            <a:r>
              <a:rPr lang="zh-TW" altLang="en-US" sz="1800" kern="1200" dirty="0">
                <a:effectLst>
                  <a:outerShdw blurRad="38100" dist="38100" dir="2700000" algn="tl">
                    <a:srgbClr val="FFFFFF"/>
                  </a:outerShdw>
                </a:effectLst>
                <a:latin typeface="宋体"/>
                <a:ea typeface="宋体"/>
                <a:cs typeface="宋体"/>
              </a:rPr>
              <a:t>攻击漏洞</a:t>
            </a:r>
            <a:endParaRPr lang="en-US" altLang="zh-TW" sz="1800" kern="1200" dirty="0">
              <a:effectLst>
                <a:outerShdw blurRad="38100" dist="38100" dir="2700000" algn="tl">
                  <a:srgbClr val="FFFFFF"/>
                </a:outerShdw>
              </a:effectLst>
              <a:latin typeface="宋体"/>
              <a:ea typeface="宋体"/>
              <a:cs typeface="宋体"/>
            </a:endParaRPr>
          </a:p>
          <a:p>
            <a:pPr marL="320040" indent="-320040">
              <a:lnSpc>
                <a:spcPct val="150000"/>
              </a:lnSpc>
              <a:spcBef>
                <a:spcPct val="0"/>
              </a:spcBef>
              <a:buClr>
                <a:srgbClr val="91AC4E"/>
              </a:buClr>
              <a:buSzPct val="80000"/>
              <a:buFont typeface="Wingdings" pitchFamily="2" charset="2"/>
              <a:buChar char="p"/>
              <a:defRPr/>
            </a:pPr>
            <a:r>
              <a:rPr lang="zh-CN" altLang="en-US" sz="1800" kern="1200" dirty="0">
                <a:effectLst>
                  <a:outerShdw blurRad="38100" dist="38100" dir="2700000" algn="tl">
                    <a:srgbClr val="FFFFFF"/>
                  </a:outerShdw>
                </a:effectLst>
                <a:latin typeface="宋体"/>
                <a:ea typeface="宋体"/>
                <a:cs typeface="宋体"/>
              </a:rPr>
              <a:t>并发漏洞</a:t>
            </a:r>
            <a:endParaRPr lang="en-US" altLang="zh-CN" sz="1800" kern="1200" dirty="0">
              <a:effectLst>
                <a:outerShdw blurRad="38100" dist="38100" dir="2700000" algn="tl">
                  <a:srgbClr val="FFFFFF"/>
                </a:outerShdw>
              </a:effectLst>
              <a:latin typeface="宋体"/>
              <a:ea typeface="宋体"/>
              <a:cs typeface="宋体"/>
            </a:endParaRPr>
          </a:p>
          <a:p>
            <a:pPr marL="320040" indent="-320040">
              <a:lnSpc>
                <a:spcPct val="150000"/>
              </a:lnSpc>
              <a:spcBef>
                <a:spcPct val="0"/>
              </a:spcBef>
              <a:buClr>
                <a:srgbClr val="91AC4E"/>
              </a:buClr>
              <a:buSzPct val="80000"/>
              <a:buFont typeface="Wingdings" pitchFamily="2" charset="2"/>
              <a:buChar char="p"/>
              <a:defRPr/>
            </a:pPr>
            <a:r>
              <a:rPr lang="en-US" altLang="zh-CN" sz="1800" kern="1200" dirty="0">
                <a:effectLst>
                  <a:outerShdw blurRad="38100" dist="38100" dir="2700000" algn="tl">
                    <a:srgbClr val="FFFFFF"/>
                  </a:outerShdw>
                </a:effectLst>
                <a:latin typeface="宋体"/>
                <a:ea typeface="宋体"/>
                <a:cs typeface="宋体"/>
              </a:rPr>
              <a:t>……</a:t>
            </a:r>
            <a:r>
              <a:rPr lang="zh-CN" altLang="en-US" sz="1800" kern="1200" dirty="0">
                <a:effectLst>
                  <a:outerShdw blurRad="38100" dist="38100" dir="2700000" algn="tl">
                    <a:srgbClr val="FFFFFF"/>
                  </a:outerShdw>
                </a:effectLst>
                <a:latin typeface="宋体"/>
                <a:ea typeface="宋体"/>
                <a:cs typeface="宋体"/>
              </a:rPr>
              <a:t> </a:t>
            </a:r>
            <a:endParaRPr lang="zh-CN" altLang="zh-CN" sz="1800" kern="1200" dirty="0">
              <a:effectLst>
                <a:outerShdw blurRad="38100" dist="38100" dir="2700000" algn="tl">
                  <a:srgbClr val="FFFFFF"/>
                </a:outerShdw>
              </a:effectLst>
              <a:latin typeface="宋体"/>
              <a:ea typeface="宋体"/>
              <a:cs typeface="宋体"/>
            </a:endParaRPr>
          </a:p>
        </p:txBody>
      </p:sp>
      <p:pic>
        <p:nvPicPr>
          <p:cNvPr id="140292" name="Picture 4" descr="http://vif.tugraz.at/uploads/pics/model-based_02.jpg"/>
          <p:cNvPicPr>
            <a:picLocks noChangeAspect="1" noChangeArrowheads="1"/>
          </p:cNvPicPr>
          <p:nvPr/>
        </p:nvPicPr>
        <p:blipFill>
          <a:blip r:embed="rId3" cstate="print"/>
          <a:srcRect/>
          <a:stretch>
            <a:fillRect/>
          </a:stretch>
        </p:blipFill>
        <p:spPr bwMode="auto">
          <a:xfrm>
            <a:off x="5768059" y="1102665"/>
            <a:ext cx="2916324" cy="2938170"/>
          </a:xfrm>
          <a:prstGeom prst="rect">
            <a:avLst/>
          </a:prstGeom>
          <a:noFill/>
        </p:spPr>
      </p:pic>
    </p:spTree>
    <p:extLst>
      <p:ext uri="{BB962C8B-B14F-4D97-AF65-F5344CB8AC3E}">
        <p14:creationId xmlns:p14="http://schemas.microsoft.com/office/powerpoint/2010/main" val="696299836"/>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标题 1"/>
          <p:cNvSpPr>
            <a:spLocks noGrp="1"/>
          </p:cNvSpPr>
          <p:nvPr>
            <p:ph type="title"/>
          </p:nvPr>
        </p:nvSpPr>
        <p:spPr>
          <a:xfrm>
            <a:off x="582634" y="270827"/>
            <a:ext cx="5746433" cy="421482"/>
          </a:xfrm>
        </p:spPr>
        <p:txBody>
          <a:bodyPr>
            <a:normAutofit fontScale="90000"/>
          </a:bodyPr>
          <a:lstStyle/>
          <a:p>
            <a:pPr>
              <a:buClr>
                <a:schemeClr val="accent4"/>
              </a:buClr>
            </a:pPr>
            <a:r>
              <a:rPr lang="zh-CN" altLang="en-US" dirty="0"/>
              <a:t>常见的 </a:t>
            </a:r>
            <a:r>
              <a:rPr lang="en-US" altLang="zh-CN" dirty="0"/>
              <a:t>C/</a:t>
            </a:r>
            <a:r>
              <a:rPr lang="zh-CN" altLang="en-US" dirty="0"/>
              <a:t> </a:t>
            </a:r>
            <a:r>
              <a:rPr lang="en-US" altLang="zh-CN" dirty="0"/>
              <a:t>C++</a:t>
            </a:r>
            <a:r>
              <a:rPr lang="zh-CN" altLang="en-US" dirty="0"/>
              <a:t>缓冲区溢出问题</a:t>
            </a:r>
          </a:p>
        </p:txBody>
      </p:sp>
      <p:sp>
        <p:nvSpPr>
          <p:cNvPr id="35843"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eaLnBrk="1" hangingPunct="1"/>
            <a:fld id="{78BC8644-7B00-A945-B25C-3D601DE057C6}" type="slidenum">
              <a:rPr lang="en-US" altLang="zh-CN"/>
              <a:pPr eaLnBrk="1" hangingPunct="1"/>
              <a:t>12</a:t>
            </a:fld>
            <a:endParaRPr lang="en-US" altLang="zh-CN"/>
          </a:p>
        </p:txBody>
      </p:sp>
      <p:graphicFrame>
        <p:nvGraphicFramePr>
          <p:cNvPr id="19523" name="Group 67"/>
          <p:cNvGraphicFramePr>
            <a:graphicFrameLocks noGrp="1"/>
          </p:cNvGraphicFramePr>
          <p:nvPr/>
        </p:nvGraphicFramePr>
        <p:xfrm>
          <a:off x="848680" y="1109584"/>
          <a:ext cx="7446640" cy="3401617"/>
        </p:xfrm>
        <a:graphic>
          <a:graphicData uri="http://schemas.openxmlformats.org/drawingml/2006/table">
            <a:tbl>
              <a:tblPr/>
              <a:tblGrid>
                <a:gridCol w="4664938">
                  <a:extLst>
                    <a:ext uri="{9D8B030D-6E8A-4147-A177-3AD203B41FA5}">
                      <a16:colId xmlns:a16="http://schemas.microsoft.com/office/drawing/2014/main" val="20000"/>
                    </a:ext>
                  </a:extLst>
                </a:gridCol>
                <a:gridCol w="2781702">
                  <a:extLst>
                    <a:ext uri="{9D8B030D-6E8A-4147-A177-3AD203B41FA5}">
                      <a16:colId xmlns:a16="http://schemas.microsoft.com/office/drawing/2014/main" val="20001"/>
                    </a:ext>
                  </a:extLst>
                </a:gridCol>
              </a:tblGrid>
              <a:tr h="50125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err="1">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strcpy</a:t>
                      </a:r>
                      <a:r>
                        <a:rPr kumimoji="0" lang="en-US" altLang="zh-CN"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(char *</a:t>
                      </a:r>
                      <a:r>
                        <a:rPr kumimoji="0" lang="en-US" altLang="zh-CN" sz="1600" b="0" i="0" u="none" strike="noStrike" cap="none" normalizeH="0" baseline="0" dirty="0" err="1">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dest</a:t>
                      </a:r>
                      <a:r>
                        <a:rPr kumimoji="0" lang="en-US" altLang="zh-CN"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 const char *</a:t>
                      </a:r>
                      <a:r>
                        <a:rPr kumimoji="0" lang="en-US" altLang="zh-CN" sz="1600" b="0" i="0" u="none" strike="noStrike" cap="none" normalizeH="0" baseline="0" dirty="0" err="1">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src</a:t>
                      </a:r>
                      <a:r>
                        <a:rPr kumimoji="0" lang="en-US" altLang="zh-CN"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 </a:t>
                      </a:r>
                      <a:endParaRPr kumimoji="0" lang="zh-CN" altLang="en-US"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endParaRPr>
                    </a:p>
                  </a:txBody>
                  <a:tcPr marL="82296" marR="82296"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可导致</a:t>
                      </a:r>
                      <a:r>
                        <a:rPr kumimoji="0" lang="en-US" altLang="zh-CN"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dest</a:t>
                      </a:r>
                      <a:r>
                        <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缓冲区溢出 </a:t>
                      </a:r>
                    </a:p>
                  </a:txBody>
                  <a:tcPr marL="82296" marR="82296"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244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strcat(char *dest, const char *src) </a:t>
                      </a:r>
                      <a:endPar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endParaRPr>
                    </a:p>
                  </a:txBody>
                  <a:tcPr marL="82296" marR="82296"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可导致</a:t>
                      </a:r>
                      <a:r>
                        <a:rPr kumimoji="0" lang="en-US" altLang="zh-CN"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dest</a:t>
                      </a:r>
                      <a:r>
                        <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缓冲区溢出 </a:t>
                      </a:r>
                    </a:p>
                  </a:txBody>
                  <a:tcPr marL="82296" marR="82296"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err="1">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getwd</a:t>
                      </a:r>
                      <a:r>
                        <a:rPr kumimoji="0" lang="en-US" altLang="zh-CN"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(char *</a:t>
                      </a:r>
                      <a:r>
                        <a:rPr kumimoji="0" lang="en-US" altLang="zh-CN" sz="1600" b="0" i="0" u="none" strike="noStrike" cap="none" normalizeH="0" baseline="0" dirty="0" err="1">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buf</a:t>
                      </a:r>
                      <a:r>
                        <a:rPr kumimoji="0" lang="en-US" altLang="zh-CN"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 </a:t>
                      </a:r>
                      <a:endParaRPr kumimoji="0" lang="zh-CN" altLang="en-US"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endParaRPr>
                    </a:p>
                  </a:txBody>
                  <a:tcPr marL="82296" marR="82296"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可导致</a:t>
                      </a:r>
                      <a:r>
                        <a:rPr kumimoji="0" lang="en-US" altLang="zh-CN"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buf</a:t>
                      </a:r>
                      <a:r>
                        <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缓冲区溢出 </a:t>
                      </a:r>
                    </a:p>
                  </a:txBody>
                  <a:tcPr marL="82296" marR="82296"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172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gets(char *s) </a:t>
                      </a:r>
                      <a:endPar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endParaRPr>
                    </a:p>
                  </a:txBody>
                  <a:tcPr marL="82296" marR="82296"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可导致</a:t>
                      </a:r>
                      <a:r>
                        <a:rPr kumimoji="0" lang="en-US" altLang="zh-CN"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s</a:t>
                      </a:r>
                      <a:r>
                        <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缓冲区溢出 </a:t>
                      </a:r>
                    </a:p>
                  </a:txBody>
                  <a:tcPr marL="82296" marR="82296"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762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[vf]scanf(const char *format, ...) </a:t>
                      </a:r>
                      <a:endPar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endParaRPr>
                    </a:p>
                  </a:txBody>
                  <a:tcPr marL="82296" marR="82296"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可导致参数溢出 </a:t>
                      </a:r>
                    </a:p>
                  </a:txBody>
                  <a:tcPr marL="82296" marR="82296"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0244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realpath(char *path, char resolved_path[]) </a:t>
                      </a:r>
                      <a:endPar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endParaRPr>
                    </a:p>
                  </a:txBody>
                  <a:tcPr marL="82296" marR="82296"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可导致</a:t>
                      </a:r>
                      <a:r>
                        <a:rPr kumimoji="0" lang="en-US" altLang="zh-CN"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path</a:t>
                      </a:r>
                      <a:r>
                        <a:rPr kumimoji="0" lang="zh-CN" altLang="en-US" sz="1600" b="0" i="0" u="none" strike="noStrike" cap="none" normalizeH="0" baseline="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缓冲区溢出 </a:t>
                      </a:r>
                    </a:p>
                  </a:txBody>
                  <a:tcPr marL="82296" marR="82296"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0125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[v]</a:t>
                      </a:r>
                      <a:r>
                        <a:rPr kumimoji="0" lang="en-US" altLang="zh-CN" sz="1600" b="0" i="0" u="none" strike="noStrike" cap="none" normalizeH="0" baseline="0" dirty="0" err="1">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sprintf</a:t>
                      </a:r>
                      <a:r>
                        <a:rPr kumimoji="0" lang="en-US" altLang="zh-CN"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(char *str, const char *format, ...) </a:t>
                      </a:r>
                      <a:endParaRPr kumimoji="0" lang="zh-CN" altLang="en-US"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endParaRPr>
                    </a:p>
                  </a:txBody>
                  <a:tcPr marL="82296" marR="82296" marT="34290" marB="342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可导致</a:t>
                      </a:r>
                      <a:r>
                        <a:rPr kumimoji="0" lang="en-US" altLang="zh-CN" sz="1600" b="0" i="0" u="none" strike="noStrike" cap="none" normalizeH="0" baseline="0" dirty="0" err="1">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str</a:t>
                      </a:r>
                      <a:r>
                        <a:rPr kumimoji="0" lang="zh-CN" altLang="en-US" sz="1600" b="0" i="0" u="none" strike="noStrike" cap="none" normalizeH="0" baseline="0" dirty="0">
                          <a:ln>
                            <a:noFill/>
                          </a:ln>
                          <a:solidFill>
                            <a:schemeClr val="tx1"/>
                          </a:solidFill>
                          <a:effectLst/>
                          <a:latin typeface="Arial" panose="020B0604020202020204" pitchFamily="34" charset="0"/>
                          <a:ea typeface="KaiTi" panose="02010609060101010101" pitchFamily="49" charset="-122"/>
                          <a:cs typeface="Arial" panose="020B0604020202020204" pitchFamily="34" charset="0"/>
                        </a:rPr>
                        <a:t>缓冲区溢出 </a:t>
                      </a:r>
                    </a:p>
                  </a:txBody>
                  <a:tcPr marL="82296" marR="82296" marT="34290" marB="342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050321703"/>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27286" y="356059"/>
            <a:ext cx="5292644" cy="421482"/>
          </a:xfrm>
        </p:spPr>
        <p:txBody>
          <a:bodyPr>
            <a:noAutofit/>
          </a:bodyPr>
          <a:lstStyle/>
          <a:p>
            <a:pPr>
              <a:buClr>
                <a:schemeClr val="accent4"/>
              </a:buClr>
            </a:pPr>
            <a:r>
              <a:rPr lang="en-US" altLang="zh-CN" dirty="0"/>
              <a:t>OWASP Top10</a:t>
            </a:r>
            <a:r>
              <a:rPr lang="zh-CN" altLang="en-US" dirty="0"/>
              <a:t> 漏洞模式</a:t>
            </a:r>
          </a:p>
        </p:txBody>
      </p:sp>
      <p:sp>
        <p:nvSpPr>
          <p:cNvPr id="4" name="灯片编号占位符 3"/>
          <p:cNvSpPr>
            <a:spLocks noGrp="1"/>
          </p:cNvSpPr>
          <p:nvPr>
            <p:ph type="sldNum" sz="quarter" idx="10"/>
          </p:nvPr>
        </p:nvSpPr>
        <p:spPr/>
        <p:txBody>
          <a:bodyPr/>
          <a:lstStyle/>
          <a:p>
            <a:fld id="{DBE2DA07-CE19-4C9B-A0EC-06D3955056CF}" type="slidenum">
              <a:rPr lang="en-US" altLang="zh-CN" smtClean="0"/>
              <a:pPr/>
              <a:t>13</a:t>
            </a:fld>
            <a:endParaRPr lang="en-US" altLang="zh-CN" dirty="0"/>
          </a:p>
        </p:txBody>
      </p:sp>
      <p:sp>
        <p:nvSpPr>
          <p:cNvPr id="6" name="矩形 5"/>
          <p:cNvSpPr/>
          <p:nvPr/>
        </p:nvSpPr>
        <p:spPr>
          <a:xfrm>
            <a:off x="527286" y="817849"/>
            <a:ext cx="3840218" cy="313932"/>
          </a:xfrm>
          <a:prstGeom prst="rect">
            <a:avLst/>
          </a:prstGeom>
        </p:spPr>
        <p:txBody>
          <a:bodyPr wrap="none">
            <a:spAutoFit/>
          </a:bodyPr>
          <a:lstStyle/>
          <a:p>
            <a:r>
              <a:rPr lang="en-US" altLang="zh-CN" sz="1440" dirty="0">
                <a:solidFill>
                  <a:srgbClr val="008000"/>
                </a:solidFill>
              </a:rPr>
              <a:t>OWASP</a:t>
            </a:r>
            <a:r>
              <a:rPr lang="zh-CN" altLang="en-US" sz="1440" dirty="0">
                <a:solidFill>
                  <a:srgbClr val="008000"/>
                </a:solidFill>
              </a:rPr>
              <a:t>：</a:t>
            </a:r>
            <a:r>
              <a:rPr lang="en-US" altLang="zh-CN" sz="1440" dirty="0">
                <a:solidFill>
                  <a:srgbClr val="008000"/>
                </a:solidFill>
              </a:rPr>
              <a:t>Open Web Application Security Project</a:t>
            </a:r>
            <a:endParaRPr lang="zh-CN" altLang="en-US" sz="1440" dirty="0">
              <a:solidFill>
                <a:srgbClr val="008000"/>
              </a:solidFill>
            </a:endParaRPr>
          </a:p>
        </p:txBody>
      </p:sp>
      <p:pic>
        <p:nvPicPr>
          <p:cNvPr id="1026" name="Picture 2" descr="Mapping">
            <a:extLst>
              <a:ext uri="{FF2B5EF4-FFF2-40B4-BE49-F238E27FC236}">
                <a16:creationId xmlns:a16="http://schemas.microsoft.com/office/drawing/2014/main" id="{7E8E211D-1257-3C3F-751A-DC13C16EAF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23031"/>
            <a:ext cx="9144000" cy="252095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91887E94-B669-CC5D-4495-2196475F2B42}"/>
              </a:ext>
            </a:extLst>
          </p:cNvPr>
          <p:cNvSpPr txBox="1"/>
          <p:nvPr/>
        </p:nvSpPr>
        <p:spPr>
          <a:xfrm>
            <a:off x="5467322" y="4207125"/>
            <a:ext cx="1973006" cy="276999"/>
          </a:xfrm>
          <a:prstGeom prst="rect">
            <a:avLst/>
          </a:prstGeom>
          <a:noFill/>
        </p:spPr>
        <p:txBody>
          <a:bodyPr wrap="square">
            <a:spAutoFit/>
          </a:bodyPr>
          <a:lstStyle/>
          <a:p>
            <a:r>
              <a:rPr lang="zh-CN" altLang="en-US" sz="1200" dirty="0">
                <a:latin typeface="Arial" panose="020B0604020202020204" pitchFamily="34" charset="0"/>
                <a:cs typeface="Arial" panose="020B0604020202020204" pitchFamily="34" charset="0"/>
              </a:rPr>
              <a:t>https://owasp.org/Top10/</a:t>
            </a:r>
          </a:p>
        </p:txBody>
      </p:sp>
    </p:spTree>
    <p:extLst>
      <p:ext uri="{BB962C8B-B14F-4D97-AF65-F5344CB8AC3E}">
        <p14:creationId xmlns:p14="http://schemas.microsoft.com/office/powerpoint/2010/main" val="1469402386"/>
      </p:ext>
    </p:extLst>
  </p:cSld>
  <p:clrMapOvr>
    <a:masterClrMapping/>
  </p:clrMapOvr>
  <p:transition spd="slow">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1273947" y="1987998"/>
            <a:ext cx="6596106" cy="784830"/>
          </a:xfrm>
          <a:prstGeom prst="rect">
            <a:avLst/>
          </a:prstGeom>
        </p:spPr>
        <p:txBody>
          <a:bodyPr wrap="square">
            <a:spAutoFit/>
          </a:bodyPr>
          <a:lstStyle/>
          <a:p>
            <a:pPr algn="ctr"/>
            <a:r>
              <a:rPr lang="zh-CN" altLang="zh-CN" sz="4500" b="1" dirty="0">
                <a:ln w="19050">
                  <a:noFill/>
                </a:ln>
                <a:solidFill>
                  <a:srgbClr val="FFFFFF"/>
                </a:solidFill>
                <a:latin typeface="微软雅黑" panose="020B0503020204020204" charset="-122"/>
                <a:ea typeface="微软雅黑" panose="020B0503020204020204" charset="-122"/>
              </a:rPr>
              <a:t>安全性测试的范围与方法</a:t>
            </a:r>
          </a:p>
        </p:txBody>
      </p:sp>
    </p:spTree>
    <p:extLst>
      <p:ext uri="{BB962C8B-B14F-4D97-AF65-F5344CB8AC3E}">
        <p14:creationId xmlns:p14="http://schemas.microsoft.com/office/powerpoint/2010/main" val="1402084339"/>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570591" y="336196"/>
            <a:ext cx="5443805" cy="421482"/>
          </a:xfrm>
        </p:spPr>
        <p:txBody>
          <a:bodyPr>
            <a:noAutofit/>
          </a:bodyPr>
          <a:lstStyle/>
          <a:p>
            <a:pPr>
              <a:buClr>
                <a:schemeClr val="accent4"/>
              </a:buClr>
            </a:pPr>
            <a:r>
              <a:rPr lang="zh-CN" altLang="en-US" dirty="0"/>
              <a:t>安全目标</a:t>
            </a:r>
          </a:p>
        </p:txBody>
      </p:sp>
      <p:sp>
        <p:nvSpPr>
          <p:cNvPr id="5" name="矩形 4"/>
          <p:cNvSpPr/>
          <p:nvPr/>
        </p:nvSpPr>
        <p:spPr>
          <a:xfrm>
            <a:off x="422794" y="873796"/>
            <a:ext cx="8233606" cy="2300951"/>
          </a:xfrm>
          <a:prstGeom prst="rect">
            <a:avLst/>
          </a:prstGeom>
        </p:spPr>
        <p:txBody>
          <a:bodyPr wrap="square">
            <a:spAutoFit/>
          </a:bodyPr>
          <a:lstStyle/>
          <a:p>
            <a:pPr marL="245745" indent="-245745">
              <a:lnSpc>
                <a:spcPct val="130000"/>
              </a:lnSpc>
              <a:spcBef>
                <a:spcPct val="30000"/>
              </a:spcBef>
              <a:buClr>
                <a:srgbClr val="91AC4E"/>
              </a:buClr>
              <a:buSzPct val="80000"/>
              <a:buFont typeface="Wingdings" pitchFamily="2" charset="2"/>
              <a:buChar char="p"/>
            </a:pPr>
            <a:r>
              <a:rPr lang="zh-CN" altLang="en-US" b="1" dirty="0">
                <a:latin typeface="Microsoft YaHei" panose="020B0503020204020204" pitchFamily="34" charset="-122"/>
                <a:ea typeface="Microsoft YaHei" panose="020B0503020204020204" pitchFamily="34" charset="-122"/>
                <a:cs typeface="楷体"/>
              </a:rPr>
              <a:t>安全目标</a:t>
            </a:r>
            <a:r>
              <a:rPr lang="zh-CN" altLang="en-US" dirty="0">
                <a:latin typeface="Microsoft YaHei" panose="020B0503020204020204" pitchFamily="34" charset="-122"/>
                <a:ea typeface="Microsoft YaHei" panose="020B0503020204020204" pitchFamily="34" charset="-122"/>
                <a:cs typeface="楷体"/>
              </a:rPr>
              <a:t>是指能够满足一个组织或者个人的所有安全需求，通常强调</a:t>
            </a:r>
            <a:r>
              <a:rPr lang="en-US" altLang="zh-CN" dirty="0">
                <a:latin typeface="Microsoft YaHei" panose="020B0503020204020204" pitchFamily="34" charset="-122"/>
                <a:ea typeface="Microsoft YaHei" panose="020B0503020204020204" pitchFamily="34" charset="-122"/>
                <a:cs typeface="楷体"/>
              </a:rPr>
              <a:t>CIA</a:t>
            </a:r>
            <a:r>
              <a:rPr lang="zh-CN" altLang="en-US" dirty="0">
                <a:latin typeface="Microsoft YaHei" panose="020B0503020204020204" pitchFamily="34" charset="-122"/>
                <a:ea typeface="Microsoft YaHei" panose="020B0503020204020204" pitchFamily="34" charset="-122"/>
                <a:cs typeface="楷体"/>
              </a:rPr>
              <a:t>三元组的目标，即</a:t>
            </a:r>
            <a:r>
              <a:rPr lang="zh-CN" altLang="en-US" b="1" dirty="0">
                <a:solidFill>
                  <a:srgbClr val="C00000"/>
                </a:solidFill>
                <a:latin typeface="Microsoft YaHei" panose="020B0503020204020204" pitchFamily="34" charset="-122"/>
                <a:ea typeface="Microsoft YaHei" panose="020B0503020204020204" pitchFamily="34" charset="-122"/>
                <a:cs typeface="楷体"/>
              </a:rPr>
              <a:t>保密性</a:t>
            </a:r>
            <a:r>
              <a:rPr lang="en-US" altLang="zh-CN" dirty="0">
                <a:latin typeface="Microsoft YaHei" panose="020B0503020204020204" pitchFamily="34" charset="-122"/>
                <a:ea typeface="Microsoft YaHei" panose="020B0503020204020204" pitchFamily="34" charset="-122"/>
                <a:cs typeface="楷体"/>
              </a:rPr>
              <a:t>(</a:t>
            </a:r>
            <a:r>
              <a:rPr lang="en-US" altLang="zh-CN" b="1" dirty="0">
                <a:solidFill>
                  <a:srgbClr val="C00000"/>
                </a:solidFill>
                <a:latin typeface="Microsoft YaHei" panose="020B0503020204020204" pitchFamily="34" charset="-122"/>
                <a:ea typeface="Microsoft YaHei" panose="020B0503020204020204" pitchFamily="34" charset="-122"/>
                <a:cs typeface="楷体"/>
              </a:rPr>
              <a:t>C</a:t>
            </a:r>
            <a:r>
              <a:rPr lang="en-US" altLang="zh-CN" dirty="0">
                <a:latin typeface="Microsoft YaHei" panose="020B0503020204020204" pitchFamily="34" charset="-122"/>
                <a:ea typeface="Microsoft YaHei" panose="020B0503020204020204" pitchFamily="34" charset="-122"/>
                <a:cs typeface="楷体"/>
              </a:rPr>
              <a:t>onfidentiality)</a:t>
            </a:r>
            <a:r>
              <a:rPr lang="zh-CN" altLang="en-US" dirty="0">
                <a:latin typeface="Microsoft YaHei" panose="020B0503020204020204" pitchFamily="34" charset="-122"/>
                <a:ea typeface="Microsoft YaHei" panose="020B0503020204020204" pitchFamily="34" charset="-122"/>
                <a:cs typeface="楷体"/>
              </a:rPr>
              <a:t>、</a:t>
            </a:r>
            <a:r>
              <a:rPr lang="zh-CN" altLang="en-US" b="1" dirty="0">
                <a:solidFill>
                  <a:srgbClr val="C00000"/>
                </a:solidFill>
                <a:latin typeface="Microsoft YaHei" panose="020B0503020204020204" pitchFamily="34" charset="-122"/>
                <a:ea typeface="Microsoft YaHei" panose="020B0503020204020204" pitchFamily="34" charset="-122"/>
                <a:cs typeface="楷体"/>
              </a:rPr>
              <a:t>完整性</a:t>
            </a:r>
            <a:r>
              <a:rPr lang="en-US" altLang="zh-CN" dirty="0">
                <a:latin typeface="Microsoft YaHei" panose="020B0503020204020204" pitchFamily="34" charset="-122"/>
                <a:ea typeface="Microsoft YaHei" panose="020B0503020204020204" pitchFamily="34" charset="-122"/>
                <a:cs typeface="楷体"/>
              </a:rPr>
              <a:t>(</a:t>
            </a:r>
            <a:r>
              <a:rPr lang="en-US" altLang="zh-CN" b="1" dirty="0">
                <a:solidFill>
                  <a:srgbClr val="C00000"/>
                </a:solidFill>
                <a:latin typeface="Microsoft YaHei" panose="020B0503020204020204" pitchFamily="34" charset="-122"/>
                <a:ea typeface="Microsoft YaHei" panose="020B0503020204020204" pitchFamily="34" charset="-122"/>
                <a:cs typeface="楷体"/>
              </a:rPr>
              <a:t>I</a:t>
            </a:r>
            <a:r>
              <a:rPr lang="en-US" altLang="zh-CN" dirty="0">
                <a:latin typeface="Microsoft YaHei" panose="020B0503020204020204" pitchFamily="34" charset="-122"/>
                <a:ea typeface="Microsoft YaHei" panose="020B0503020204020204" pitchFamily="34" charset="-122"/>
                <a:cs typeface="楷体"/>
              </a:rPr>
              <a:t>ntegrity)</a:t>
            </a:r>
            <a:r>
              <a:rPr lang="zh-CN" altLang="en-US" dirty="0">
                <a:latin typeface="Microsoft YaHei" panose="020B0503020204020204" pitchFamily="34" charset="-122"/>
                <a:ea typeface="Microsoft YaHei" panose="020B0503020204020204" pitchFamily="34" charset="-122"/>
                <a:cs typeface="楷体"/>
              </a:rPr>
              <a:t>和</a:t>
            </a:r>
            <a:r>
              <a:rPr lang="zh-CN" altLang="en-US" b="1" dirty="0">
                <a:solidFill>
                  <a:srgbClr val="C00000"/>
                </a:solidFill>
                <a:latin typeface="Microsoft YaHei" panose="020B0503020204020204" pitchFamily="34" charset="-122"/>
                <a:ea typeface="Microsoft YaHei" panose="020B0503020204020204" pitchFamily="34" charset="-122"/>
                <a:cs typeface="楷体"/>
              </a:rPr>
              <a:t>可用性</a:t>
            </a:r>
            <a:r>
              <a:rPr lang="en-US" altLang="zh-CN" dirty="0">
                <a:latin typeface="Microsoft YaHei" panose="020B0503020204020204" pitchFamily="34" charset="-122"/>
                <a:ea typeface="Microsoft YaHei" panose="020B0503020204020204" pitchFamily="34" charset="-122"/>
                <a:cs typeface="楷体"/>
              </a:rPr>
              <a:t>(</a:t>
            </a:r>
            <a:r>
              <a:rPr lang="en-US" altLang="zh-CN" b="1" dirty="0">
                <a:solidFill>
                  <a:srgbClr val="C00000"/>
                </a:solidFill>
                <a:latin typeface="Microsoft YaHei" panose="020B0503020204020204" pitchFamily="34" charset="-122"/>
                <a:ea typeface="Microsoft YaHei" panose="020B0503020204020204" pitchFamily="34" charset="-122"/>
                <a:cs typeface="楷体"/>
              </a:rPr>
              <a:t>A</a:t>
            </a:r>
            <a:r>
              <a:rPr lang="en-US" altLang="zh-CN" dirty="0">
                <a:latin typeface="Microsoft YaHei" panose="020B0503020204020204" pitchFamily="34" charset="-122"/>
                <a:ea typeface="Microsoft YaHei" panose="020B0503020204020204" pitchFamily="34" charset="-122"/>
                <a:cs typeface="楷体"/>
              </a:rPr>
              <a:t>vailability)</a:t>
            </a:r>
          </a:p>
          <a:p>
            <a:pPr marL="245745" indent="-245745">
              <a:lnSpc>
                <a:spcPct val="130000"/>
              </a:lnSpc>
              <a:spcBef>
                <a:spcPct val="30000"/>
              </a:spcBef>
              <a:buClr>
                <a:srgbClr val="91AC4E"/>
              </a:buClr>
              <a:buSzPct val="80000"/>
              <a:buFont typeface="Wingdings" pitchFamily="2" charset="2"/>
              <a:buChar char="p"/>
            </a:pPr>
            <a:r>
              <a:rPr lang="zh-CN" altLang="en-US" dirty="0">
                <a:latin typeface="Microsoft YaHei" panose="020B0503020204020204" pitchFamily="34" charset="-122"/>
                <a:ea typeface="Microsoft YaHei" panose="020B0503020204020204" pitchFamily="34" charset="-122"/>
                <a:cs typeface="楷体"/>
              </a:rPr>
              <a:t>由于这些目标常常是互相矛盾的，因此需要在这些目标中达到最佳平衡。例如，简单地阻止所有人访问一个资源，就可以实现该资源的保密性，但这样就不满足可用性。 </a:t>
            </a:r>
          </a:p>
        </p:txBody>
      </p:sp>
      <p:grpSp>
        <p:nvGrpSpPr>
          <p:cNvPr id="2" name="组合 27"/>
          <p:cNvGrpSpPr/>
          <p:nvPr/>
        </p:nvGrpSpPr>
        <p:grpSpPr>
          <a:xfrm>
            <a:off x="1674927" y="2954955"/>
            <a:ext cx="4082854" cy="2073041"/>
            <a:chOff x="1907704" y="4293096"/>
            <a:chExt cx="4536504" cy="2232248"/>
          </a:xfrm>
        </p:grpSpPr>
        <p:sp>
          <p:nvSpPr>
            <p:cNvPr id="17" name="椭圆 16"/>
            <p:cNvSpPr/>
            <p:nvPr/>
          </p:nvSpPr>
          <p:spPr bwMode="gray">
            <a:xfrm>
              <a:off x="1907704" y="4293096"/>
              <a:ext cx="4536504" cy="2232248"/>
            </a:xfrm>
            <a:prstGeom prst="ellipse">
              <a:avLst/>
            </a:prstGeom>
            <a:solidFill>
              <a:schemeClr val="accent6">
                <a:lumMod val="20000"/>
                <a:lumOff val="80000"/>
              </a:schemeClr>
            </a:solidFill>
            <a:ln w="12700" algn="ctr">
              <a:solidFill>
                <a:srgbClr val="333333"/>
              </a:solidFill>
              <a:prstDash val="dash"/>
              <a:miter lim="800000"/>
              <a:headEnd/>
              <a:tailEnd/>
            </a:ln>
            <a:effectLst/>
          </p:spPr>
          <p:txBody>
            <a:bodyPr wrap="none" rtlCol="0" anchor="ctr"/>
            <a:lstStyle/>
            <a:p>
              <a:pPr algn="ctr"/>
              <a:endParaRPr lang="zh-CN" altLang="en-US" sz="1620"/>
            </a:p>
          </p:txBody>
        </p:sp>
        <p:sp>
          <p:nvSpPr>
            <p:cNvPr id="6" name="圆角矩形 5"/>
            <p:cNvSpPr/>
            <p:nvPr/>
          </p:nvSpPr>
          <p:spPr bwMode="gray">
            <a:xfrm>
              <a:off x="3491880" y="4437112"/>
              <a:ext cx="1080120" cy="432048"/>
            </a:xfrm>
            <a:prstGeom prst="roundRect">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lang="zh-CN" altLang="en-US" sz="1620" dirty="0"/>
                <a:t>可用性</a:t>
              </a:r>
            </a:p>
          </p:txBody>
        </p:sp>
        <p:sp>
          <p:nvSpPr>
            <p:cNvPr id="7" name="圆角矩形 6"/>
            <p:cNvSpPr/>
            <p:nvPr/>
          </p:nvSpPr>
          <p:spPr bwMode="gray">
            <a:xfrm>
              <a:off x="2483768" y="5661248"/>
              <a:ext cx="1080120" cy="432048"/>
            </a:xfrm>
            <a:prstGeom prst="roundRect">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lang="zh-CN" altLang="en-US" sz="1620" dirty="0"/>
                <a:t>保密性</a:t>
              </a:r>
            </a:p>
          </p:txBody>
        </p:sp>
        <p:sp>
          <p:nvSpPr>
            <p:cNvPr id="8" name="圆角矩形 7"/>
            <p:cNvSpPr/>
            <p:nvPr/>
          </p:nvSpPr>
          <p:spPr bwMode="gray">
            <a:xfrm>
              <a:off x="4572000" y="5661248"/>
              <a:ext cx="1080120" cy="432048"/>
            </a:xfrm>
            <a:prstGeom prst="roundRect">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lang="zh-CN" altLang="en-US" sz="1620" dirty="0"/>
                <a:t>完整性</a:t>
              </a:r>
            </a:p>
          </p:txBody>
        </p:sp>
        <p:cxnSp>
          <p:nvCxnSpPr>
            <p:cNvPr id="10" name="直接箭头连接符 9"/>
            <p:cNvCxnSpPr>
              <a:stCxn id="6" idx="2"/>
              <a:endCxn id="7" idx="0"/>
            </p:cNvCxnSpPr>
            <p:nvPr/>
          </p:nvCxnSpPr>
          <p:spPr bwMode="auto">
            <a:xfrm flipH="1">
              <a:off x="3023828" y="4869160"/>
              <a:ext cx="1008112" cy="792088"/>
            </a:xfrm>
            <a:prstGeom prst="straightConnector1">
              <a:avLst/>
            </a:prstGeom>
            <a:solidFill>
              <a:schemeClr val="accent1"/>
            </a:solidFill>
            <a:ln w="19050" cap="flat" cmpd="sng" algn="ctr">
              <a:solidFill>
                <a:schemeClr val="tx1"/>
              </a:solidFill>
              <a:prstDash val="solid"/>
              <a:round/>
              <a:headEnd type="arrow"/>
              <a:tailEnd type="none"/>
            </a:ln>
            <a:effectLst/>
          </p:spPr>
        </p:cxnSp>
        <p:cxnSp>
          <p:nvCxnSpPr>
            <p:cNvPr id="11" name="直接箭头连接符 10"/>
            <p:cNvCxnSpPr>
              <a:stCxn id="6" idx="2"/>
              <a:endCxn id="8" idx="0"/>
            </p:cNvCxnSpPr>
            <p:nvPr/>
          </p:nvCxnSpPr>
          <p:spPr bwMode="auto">
            <a:xfrm>
              <a:off x="4031940" y="4869160"/>
              <a:ext cx="1080120" cy="792088"/>
            </a:xfrm>
            <a:prstGeom prst="straightConnector1">
              <a:avLst/>
            </a:prstGeom>
            <a:solidFill>
              <a:schemeClr val="accent1"/>
            </a:solidFill>
            <a:ln w="19050" cap="flat" cmpd="sng" algn="ctr">
              <a:solidFill>
                <a:schemeClr val="tx1"/>
              </a:solidFill>
              <a:prstDash val="solid"/>
              <a:round/>
              <a:headEnd type="arrow"/>
              <a:tailEnd type="none"/>
            </a:ln>
            <a:effectLst/>
          </p:spPr>
        </p:cxnSp>
        <p:cxnSp>
          <p:nvCxnSpPr>
            <p:cNvPr id="14" name="直接箭头连接符 13"/>
            <p:cNvCxnSpPr>
              <a:stCxn id="8" idx="1"/>
              <a:endCxn id="7" idx="3"/>
            </p:cNvCxnSpPr>
            <p:nvPr/>
          </p:nvCxnSpPr>
          <p:spPr bwMode="auto">
            <a:xfrm flipH="1">
              <a:off x="3563888" y="5877272"/>
              <a:ext cx="1008112" cy="0"/>
            </a:xfrm>
            <a:prstGeom prst="straightConnector1">
              <a:avLst/>
            </a:prstGeom>
            <a:solidFill>
              <a:schemeClr val="accent1"/>
            </a:solidFill>
            <a:ln w="19050" cap="flat" cmpd="sng" algn="ctr">
              <a:solidFill>
                <a:schemeClr val="tx1"/>
              </a:solidFill>
              <a:prstDash val="solid"/>
              <a:round/>
              <a:headEnd type="arrow"/>
              <a:tailEnd type="arrow"/>
            </a:ln>
            <a:effectLst/>
          </p:spPr>
        </p:cxnSp>
      </p:grpSp>
      <p:sp>
        <p:nvSpPr>
          <p:cNvPr id="29" name="右箭头 28"/>
          <p:cNvSpPr/>
          <p:nvPr/>
        </p:nvSpPr>
        <p:spPr bwMode="gray">
          <a:xfrm>
            <a:off x="5822588" y="3882005"/>
            <a:ext cx="842494" cy="324036"/>
          </a:xfrm>
          <a:prstGeom prst="rightArrow">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endParaRPr lang="zh-CN" altLang="en-US" sz="1620"/>
          </a:p>
        </p:txBody>
      </p:sp>
      <p:sp>
        <p:nvSpPr>
          <p:cNvPr id="30" name="圆角矩形 29"/>
          <p:cNvSpPr/>
          <p:nvPr/>
        </p:nvSpPr>
        <p:spPr bwMode="gray">
          <a:xfrm>
            <a:off x="6729889" y="3752391"/>
            <a:ext cx="777686" cy="594066"/>
          </a:xfrm>
          <a:prstGeom prst="roundRect">
            <a:avLst/>
          </a:prstGeom>
          <a:solidFill>
            <a:schemeClr val="accent6">
              <a:lumMod val="20000"/>
              <a:lumOff val="80000"/>
            </a:schemeClr>
          </a:solidFill>
          <a:ln w="12700" algn="ctr">
            <a:solidFill>
              <a:srgbClr val="333333"/>
            </a:solidFill>
            <a:miter lim="800000"/>
            <a:headEnd/>
            <a:tailEnd/>
          </a:ln>
          <a:effectLst/>
        </p:spPr>
        <p:txBody>
          <a:bodyPr wrap="none" rtlCol="0" anchor="ctr"/>
          <a:lstStyle/>
          <a:p>
            <a:pPr algn="ctr"/>
            <a:r>
              <a:rPr lang="zh-CN" altLang="en-US" sz="1620" dirty="0"/>
              <a:t>安全</a:t>
            </a:r>
            <a:endParaRPr lang="en-US" altLang="zh-CN" sz="1620" dirty="0"/>
          </a:p>
          <a:p>
            <a:pPr algn="ctr"/>
            <a:r>
              <a:rPr lang="zh-CN" altLang="en-US" sz="1620" dirty="0"/>
              <a:t>保障</a:t>
            </a:r>
          </a:p>
        </p:txBody>
      </p:sp>
    </p:spTree>
    <p:extLst>
      <p:ext uri="{BB962C8B-B14F-4D97-AF65-F5344CB8AC3E}">
        <p14:creationId xmlns:p14="http://schemas.microsoft.com/office/powerpoint/2010/main" val="192397358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p:tgtEl>
                                          <p:spTgt spid="2"/>
                                        </p:tgtEl>
                                        <p:attrNameLst>
                                          <p:attrName>ppt_y</p:attrName>
                                        </p:attrNameLst>
                                      </p:cBhvr>
                                      <p:tavLst>
                                        <p:tav tm="0">
                                          <p:val>
                                            <p:strVal val="#ppt_y+#ppt_h*1.125000"/>
                                          </p:val>
                                        </p:tav>
                                        <p:tav tm="100000">
                                          <p:val>
                                            <p:strVal val="#ppt_y"/>
                                          </p:val>
                                        </p:tav>
                                      </p:tavLst>
                                    </p:anim>
                                    <p:animEffect transition="in" filter="wipe(up)">
                                      <p:cBhvr>
                                        <p:cTn id="14" dur="500"/>
                                        <p:tgtEl>
                                          <p:spTgt spid="2"/>
                                        </p:tgtEl>
                                      </p:cBhvr>
                                    </p:animEffect>
                                  </p:childTnLst>
                                </p:cTn>
                              </p:par>
                              <p:par>
                                <p:cTn id="15" presetID="12" presetClass="entr" presetSubtype="4"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additive="base">
                                        <p:cTn id="17" dur="500"/>
                                        <p:tgtEl>
                                          <p:spTgt spid="29"/>
                                        </p:tgtEl>
                                        <p:attrNameLst>
                                          <p:attrName>ppt_y</p:attrName>
                                        </p:attrNameLst>
                                      </p:cBhvr>
                                      <p:tavLst>
                                        <p:tav tm="0">
                                          <p:val>
                                            <p:strVal val="#ppt_y+#ppt_h*1.125000"/>
                                          </p:val>
                                        </p:tav>
                                        <p:tav tm="100000">
                                          <p:val>
                                            <p:strVal val="#ppt_y"/>
                                          </p:val>
                                        </p:tav>
                                      </p:tavLst>
                                    </p:anim>
                                    <p:animEffect transition="in" filter="wipe(up)">
                                      <p:cBhvr>
                                        <p:cTn id="18" dur="500"/>
                                        <p:tgtEl>
                                          <p:spTgt spid="29"/>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additive="base">
                                        <p:cTn id="21" dur="500"/>
                                        <p:tgtEl>
                                          <p:spTgt spid="30"/>
                                        </p:tgtEl>
                                        <p:attrNameLst>
                                          <p:attrName>ppt_y</p:attrName>
                                        </p:attrNameLst>
                                      </p:cBhvr>
                                      <p:tavLst>
                                        <p:tav tm="0">
                                          <p:val>
                                            <p:strVal val="#ppt_y+#ppt_h*1.125000"/>
                                          </p:val>
                                        </p:tav>
                                        <p:tav tm="100000">
                                          <p:val>
                                            <p:strVal val="#ppt_y"/>
                                          </p:val>
                                        </p:tav>
                                      </p:tavLst>
                                    </p:anim>
                                    <p:animEffect transition="in" filter="wipe(up)">
                                      <p:cBhvr>
                                        <p:cTn id="2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73602" name="Rectangle 2"/>
          <p:cNvSpPr>
            <a:spLocks noGrp="1" noChangeArrowheads="1"/>
          </p:cNvSpPr>
          <p:nvPr>
            <p:ph type="title"/>
          </p:nvPr>
        </p:nvSpPr>
        <p:spPr>
          <a:xfrm>
            <a:off x="558401" y="292696"/>
            <a:ext cx="5767149" cy="421482"/>
          </a:xfrm>
        </p:spPr>
        <p:txBody>
          <a:bodyPr>
            <a:normAutofit fontScale="90000"/>
          </a:bodyPr>
          <a:lstStyle/>
          <a:p>
            <a:r>
              <a:rPr lang="zh-CN" altLang="en-US" sz="3240" b="1" dirty="0">
                <a:latin typeface="+mj-ea"/>
                <a:cs typeface="+mn-cs"/>
              </a:rPr>
              <a:t>安全性要求</a:t>
            </a:r>
            <a:endParaRPr lang="en-US" altLang="zh-CN" sz="3240" b="1" dirty="0">
              <a:latin typeface="+mj-ea"/>
              <a:cs typeface="+mn-cs"/>
            </a:endParaRPr>
          </a:p>
        </p:txBody>
      </p:sp>
      <p:sp>
        <p:nvSpPr>
          <p:cNvPr id="2073634" name="Rectangle 34"/>
          <p:cNvSpPr>
            <a:spLocks noGrp="1" noChangeArrowheads="1"/>
          </p:cNvSpPr>
          <p:nvPr>
            <p:ph type="body" idx="1"/>
          </p:nvPr>
        </p:nvSpPr>
        <p:spPr>
          <a:xfrm>
            <a:off x="785570" y="900875"/>
            <a:ext cx="7376653" cy="3834426"/>
          </a:xfrm>
          <a:noFill/>
          <a:ln/>
        </p:spPr>
        <p:txBody>
          <a:bodyPr>
            <a:normAutofit/>
          </a:bodyPr>
          <a:lstStyle/>
          <a:p>
            <a:pPr>
              <a:lnSpc>
                <a:spcPct val="120000"/>
              </a:lnSpc>
              <a:spcBef>
                <a:spcPts val="238"/>
              </a:spcBef>
              <a:buClr>
                <a:srgbClr val="91AC4E"/>
              </a:buClr>
              <a:buSzPct val="80000"/>
              <a:buFont typeface="Wingdings" pitchFamily="2" charset="2"/>
              <a:buChar char="p"/>
            </a:pPr>
            <a:r>
              <a:rPr lang="zh-CN" altLang="en-US" sz="1800" b="1" kern="1200" dirty="0">
                <a:latin typeface="Arial" panose="020B0604020202020204" pitchFamily="34" charset="0"/>
                <a:ea typeface="KaiTi" panose="02010609060101010101" pitchFamily="49" charset="-122"/>
                <a:cs typeface="Arial" panose="020B0604020202020204" pitchFamily="34" charset="0"/>
              </a:rPr>
              <a:t>保密性 </a:t>
            </a:r>
            <a:r>
              <a:rPr lang="zh-CN" altLang="en-US" sz="1800" dirty="0">
                <a:latin typeface="Arial" panose="020B0604020202020204" pitchFamily="34" charset="0"/>
                <a:ea typeface="KaiTi" panose="02010609060101010101" pitchFamily="49" charset="-122"/>
                <a:cs typeface="Arial" panose="020B0604020202020204" pitchFamily="34" charset="0"/>
              </a:rPr>
              <a:t>：</a:t>
            </a:r>
            <a:r>
              <a:rPr lang="zh-CN" altLang="en-US" sz="1800" dirty="0">
                <a:solidFill>
                  <a:schemeClr val="tx1">
                    <a:lumMod val="65000"/>
                    <a:lumOff val="35000"/>
                  </a:schemeClr>
                </a:solidFill>
                <a:latin typeface="Arial" panose="020B0604020202020204" pitchFamily="34" charset="0"/>
                <a:ea typeface="KaiTi" panose="02010609060101010101" pitchFamily="49" charset="-122"/>
                <a:cs typeface="Arial" panose="020B0604020202020204" pitchFamily="34" charset="0"/>
              </a:rPr>
              <a:t>确保信息只被授权人访问，信息即使被截取也不能了解信息的真实含义</a:t>
            </a:r>
          </a:p>
          <a:p>
            <a:pPr>
              <a:lnSpc>
                <a:spcPct val="120000"/>
              </a:lnSpc>
              <a:spcBef>
                <a:spcPts val="238"/>
              </a:spcBef>
              <a:buClr>
                <a:srgbClr val="91AC4E"/>
              </a:buClr>
              <a:buSzPct val="80000"/>
              <a:buFont typeface="Wingdings" pitchFamily="2" charset="2"/>
              <a:buChar char="p"/>
            </a:pPr>
            <a:r>
              <a:rPr lang="zh-CN" altLang="en-US" sz="1800" b="1" kern="1200" dirty="0">
                <a:latin typeface="Arial" panose="020B0604020202020204" pitchFamily="34" charset="0"/>
                <a:ea typeface="KaiTi" panose="02010609060101010101" pitchFamily="49" charset="-122"/>
                <a:cs typeface="Arial" panose="020B0604020202020204" pitchFamily="34" charset="0"/>
              </a:rPr>
              <a:t>完整性</a:t>
            </a:r>
            <a:r>
              <a:rPr lang="zh-CN" altLang="en-US" sz="1800" dirty="0">
                <a:latin typeface="Arial" panose="020B0604020202020204" pitchFamily="34" charset="0"/>
                <a:ea typeface="KaiTi" panose="02010609060101010101" pitchFamily="49" charset="-122"/>
                <a:cs typeface="Arial" panose="020B0604020202020204" pitchFamily="34" charset="0"/>
              </a:rPr>
              <a:t>： </a:t>
            </a:r>
            <a:r>
              <a:rPr lang="zh-CN" altLang="en-US" sz="1800" dirty="0">
                <a:solidFill>
                  <a:schemeClr val="tx1">
                    <a:lumMod val="65000"/>
                    <a:lumOff val="35000"/>
                  </a:schemeClr>
                </a:solidFill>
                <a:latin typeface="Arial" panose="020B0604020202020204" pitchFamily="34" charset="0"/>
                <a:ea typeface="KaiTi" panose="02010609060101010101" pitchFamily="49" charset="-122"/>
                <a:cs typeface="Arial" panose="020B0604020202020204" pitchFamily="34" charset="0"/>
              </a:rPr>
              <a:t>保护信息和信息处理方法的准确性和原始性，包括数据的一致性，防止数据被非法用户篡改</a:t>
            </a:r>
          </a:p>
          <a:p>
            <a:pPr>
              <a:lnSpc>
                <a:spcPct val="120000"/>
              </a:lnSpc>
              <a:spcBef>
                <a:spcPts val="238"/>
              </a:spcBef>
              <a:buClr>
                <a:srgbClr val="91AC4E"/>
              </a:buClr>
              <a:buSzPct val="80000"/>
              <a:buFont typeface="Wingdings" pitchFamily="2" charset="2"/>
              <a:buChar char="p"/>
            </a:pPr>
            <a:r>
              <a:rPr lang="zh-CN" altLang="en-US" sz="1800" b="1" kern="1200" dirty="0">
                <a:solidFill>
                  <a:srgbClr val="000000"/>
                </a:solidFill>
                <a:latin typeface="Arial" panose="020B0604020202020204" pitchFamily="34" charset="0"/>
                <a:ea typeface="KaiTi" panose="02010609060101010101" pitchFamily="49" charset="-122"/>
                <a:cs typeface="Arial" panose="020B0604020202020204" pitchFamily="34" charset="0"/>
              </a:rPr>
              <a:t>可用性</a:t>
            </a:r>
            <a:r>
              <a:rPr lang="zh-CN" altLang="en-US" sz="1800" dirty="0">
                <a:solidFill>
                  <a:schemeClr val="tx1">
                    <a:lumMod val="65000"/>
                    <a:lumOff val="35000"/>
                  </a:schemeClr>
                </a:solidFill>
                <a:latin typeface="Arial" panose="020B0604020202020204" pitchFamily="34" charset="0"/>
                <a:ea typeface="KaiTi" panose="02010609060101010101" pitchFamily="49" charset="-122"/>
                <a:cs typeface="Arial" panose="020B0604020202020204" pitchFamily="34" charset="0"/>
              </a:rPr>
              <a:t>： 确保授权的用户在需要时可以访问信息</a:t>
            </a:r>
            <a:r>
              <a:rPr lang="zh-CN" altLang="en-US" sz="1800" dirty="0">
                <a:solidFill>
                  <a:srgbClr val="000000"/>
                </a:solidFill>
                <a:latin typeface="Arial" panose="020B0604020202020204" pitchFamily="34" charset="0"/>
                <a:ea typeface="KaiTi" panose="02010609060101010101" pitchFamily="49" charset="-122"/>
                <a:cs typeface="Arial" panose="020B0604020202020204" pitchFamily="34" charset="0"/>
              </a:rPr>
              <a:t> </a:t>
            </a:r>
            <a:endParaRPr lang="en-US" altLang="zh-CN" sz="1800" dirty="0">
              <a:solidFill>
                <a:srgbClr val="000000"/>
              </a:solidFill>
              <a:latin typeface="Arial" panose="020B0604020202020204" pitchFamily="34" charset="0"/>
              <a:ea typeface="KaiTi" panose="02010609060101010101" pitchFamily="49" charset="-122"/>
              <a:cs typeface="Arial" panose="020B0604020202020204" pitchFamily="34" charset="0"/>
            </a:endParaRPr>
          </a:p>
          <a:p>
            <a:pPr>
              <a:lnSpc>
                <a:spcPct val="120000"/>
              </a:lnSpc>
              <a:spcBef>
                <a:spcPts val="238"/>
              </a:spcBef>
              <a:buClr>
                <a:srgbClr val="91AC4E"/>
              </a:buClr>
              <a:buSzPct val="80000"/>
              <a:buFont typeface="Wingdings" pitchFamily="2" charset="2"/>
              <a:buChar char="p"/>
            </a:pPr>
            <a:r>
              <a:rPr lang="zh-CN" altLang="en-US" sz="1800" b="1" kern="1200" dirty="0">
                <a:solidFill>
                  <a:srgbClr val="0000FF"/>
                </a:solidFill>
                <a:latin typeface="Arial" panose="020B0604020202020204" pitchFamily="34" charset="0"/>
                <a:ea typeface="KaiTi" panose="02010609060101010101" pitchFamily="49" charset="-122"/>
                <a:cs typeface="Arial" panose="020B0604020202020204" pitchFamily="34" charset="0"/>
              </a:rPr>
              <a:t>真实性</a:t>
            </a:r>
            <a:r>
              <a:rPr lang="zh-CN" altLang="en-US" sz="1800" kern="1200" dirty="0">
                <a:latin typeface="Arial" panose="020B0604020202020204" pitchFamily="34" charset="0"/>
                <a:ea typeface="KaiTi" panose="02010609060101010101" pitchFamily="49" charset="-122"/>
                <a:cs typeface="Arial" panose="020B0604020202020204" pitchFamily="34" charset="0"/>
              </a:rPr>
              <a:t>：保证信息来源真实可靠</a:t>
            </a:r>
          </a:p>
          <a:p>
            <a:pPr>
              <a:lnSpc>
                <a:spcPct val="120000"/>
              </a:lnSpc>
              <a:spcBef>
                <a:spcPts val="238"/>
              </a:spcBef>
              <a:buClr>
                <a:srgbClr val="91AC4E"/>
              </a:buClr>
              <a:buSzPct val="80000"/>
              <a:buFont typeface="Wingdings" pitchFamily="2" charset="2"/>
              <a:buChar char="p"/>
            </a:pPr>
            <a:r>
              <a:rPr lang="zh-CN" altLang="en-US" sz="1800" b="1" kern="1200" dirty="0">
                <a:solidFill>
                  <a:srgbClr val="0000FF"/>
                </a:solidFill>
                <a:latin typeface="Arial" panose="020B0604020202020204" pitchFamily="34" charset="0"/>
                <a:ea typeface="KaiTi" panose="02010609060101010101" pitchFamily="49" charset="-122"/>
                <a:cs typeface="Arial" panose="020B0604020202020204" pitchFamily="34" charset="0"/>
              </a:rPr>
              <a:t>不可抵赖性</a:t>
            </a:r>
            <a:r>
              <a:rPr lang="zh-CN" altLang="en-US" sz="1800" kern="1200" dirty="0">
                <a:latin typeface="Arial" panose="020B0604020202020204" pitchFamily="34" charset="0"/>
                <a:ea typeface="KaiTi" panose="02010609060101010101" pitchFamily="49" charset="-122"/>
                <a:cs typeface="Arial" panose="020B0604020202020204" pitchFamily="34" charset="0"/>
              </a:rPr>
              <a:t>：用户对其行为不可否定</a:t>
            </a:r>
            <a:endParaRPr lang="en-US" altLang="zh-CN" sz="1800" kern="1200" dirty="0">
              <a:latin typeface="Arial" panose="020B0604020202020204" pitchFamily="34" charset="0"/>
              <a:ea typeface="KaiTi" panose="02010609060101010101" pitchFamily="49" charset="-122"/>
              <a:cs typeface="Arial" panose="020B0604020202020204" pitchFamily="34" charset="0"/>
            </a:endParaRPr>
          </a:p>
          <a:p>
            <a:pPr>
              <a:lnSpc>
                <a:spcPct val="120000"/>
              </a:lnSpc>
              <a:spcBef>
                <a:spcPts val="238"/>
              </a:spcBef>
              <a:buClr>
                <a:srgbClr val="91AC4E"/>
              </a:buClr>
              <a:buSzPct val="80000"/>
              <a:buFont typeface="Wingdings" pitchFamily="2" charset="2"/>
              <a:buChar char="p"/>
            </a:pPr>
            <a:r>
              <a:rPr lang="zh-CN" altLang="en-US" sz="1800" b="1" dirty="0">
                <a:solidFill>
                  <a:srgbClr val="0000FF"/>
                </a:solidFill>
                <a:latin typeface="Arial" panose="020B0604020202020204" pitchFamily="34" charset="0"/>
                <a:ea typeface="KaiTi" panose="02010609060101010101" pitchFamily="49" charset="-122"/>
                <a:cs typeface="Arial" panose="020B0604020202020204" pitchFamily="34" charset="0"/>
              </a:rPr>
              <a:t>可追溯性</a:t>
            </a:r>
            <a:r>
              <a:rPr lang="zh-CN" altLang="en-US" sz="1800" b="1" dirty="0">
                <a:latin typeface="Arial" panose="020B0604020202020204" pitchFamily="34" charset="0"/>
                <a:ea typeface="KaiTi" panose="02010609060101010101" pitchFamily="49" charset="-122"/>
                <a:cs typeface="Arial" panose="020B0604020202020204" pitchFamily="34" charset="0"/>
              </a:rPr>
              <a:t> </a:t>
            </a:r>
            <a:r>
              <a:rPr lang="en-US" altLang="zh-CN" sz="1800" dirty="0">
                <a:solidFill>
                  <a:schemeClr val="tx1">
                    <a:lumMod val="65000"/>
                    <a:lumOff val="35000"/>
                  </a:schemeClr>
                </a:solidFill>
                <a:latin typeface="Arial" panose="020B0604020202020204" pitchFamily="34" charset="0"/>
                <a:ea typeface="KaiTi" panose="02010609060101010101" pitchFamily="49" charset="-122"/>
                <a:cs typeface="Arial" panose="020B0604020202020204" pitchFamily="34" charset="0"/>
              </a:rPr>
              <a:t>(</a:t>
            </a:r>
            <a:r>
              <a:rPr lang="en-US" altLang="zh-CN" sz="1800" b="1" dirty="0">
                <a:solidFill>
                  <a:schemeClr val="tx1">
                    <a:lumMod val="65000"/>
                    <a:lumOff val="35000"/>
                  </a:schemeClr>
                </a:solidFill>
                <a:latin typeface="Arial" panose="020B0604020202020204" pitchFamily="34" charset="0"/>
                <a:ea typeface="KaiTi" panose="02010609060101010101" pitchFamily="49" charset="-122"/>
                <a:cs typeface="Arial" panose="020B0604020202020204" pitchFamily="34" charset="0"/>
              </a:rPr>
              <a:t>A</a:t>
            </a:r>
            <a:r>
              <a:rPr lang="en-US" altLang="zh-CN" sz="1800" dirty="0">
                <a:solidFill>
                  <a:schemeClr val="tx1">
                    <a:lumMod val="65000"/>
                    <a:lumOff val="35000"/>
                  </a:schemeClr>
                </a:solidFill>
                <a:latin typeface="Arial" panose="020B0604020202020204" pitchFamily="34" charset="0"/>
                <a:ea typeface="KaiTi" panose="02010609060101010101" pitchFamily="49" charset="-122"/>
                <a:cs typeface="Arial" panose="020B0604020202020204" pitchFamily="34" charset="0"/>
              </a:rPr>
              <a:t>ccountability)</a:t>
            </a:r>
            <a:r>
              <a:rPr lang="zh-CN" altLang="en-US" sz="1800" dirty="0">
                <a:solidFill>
                  <a:schemeClr val="tx1">
                    <a:lumMod val="65000"/>
                    <a:lumOff val="35000"/>
                  </a:schemeClr>
                </a:solidFill>
                <a:latin typeface="Arial" panose="020B0604020202020204" pitchFamily="34" charset="0"/>
                <a:ea typeface="KaiTi" panose="02010609060101010101" pitchFamily="49" charset="-122"/>
                <a:cs typeface="Arial" panose="020B0604020202020204" pitchFamily="34" charset="0"/>
              </a:rPr>
              <a:t>：</a:t>
            </a:r>
            <a:r>
              <a:rPr lang="zh-CN" altLang="en-US" sz="1800" dirty="0">
                <a:latin typeface="Arial" panose="020B0604020202020204" pitchFamily="34" charset="0"/>
                <a:ea typeface="KaiTi" panose="02010609060101010101" pitchFamily="49" charset="-122"/>
                <a:cs typeface="Arial" panose="020B0604020202020204" pitchFamily="34" charset="0"/>
              </a:rPr>
              <a:t>确保实体的行动可被跟踪 </a:t>
            </a:r>
          </a:p>
          <a:p>
            <a:pPr>
              <a:lnSpc>
                <a:spcPct val="120000"/>
              </a:lnSpc>
              <a:spcBef>
                <a:spcPts val="238"/>
              </a:spcBef>
              <a:buClr>
                <a:srgbClr val="91AC4E"/>
              </a:buClr>
              <a:buSzPct val="80000"/>
              <a:buFont typeface="Wingdings" pitchFamily="2" charset="2"/>
              <a:buChar char="p"/>
            </a:pPr>
            <a:r>
              <a:rPr lang="zh-CN" altLang="en-US" sz="1800" b="1" kern="1200" dirty="0">
                <a:solidFill>
                  <a:srgbClr val="0000FF"/>
                </a:solidFill>
                <a:latin typeface="Arial" panose="020B0604020202020204" pitchFamily="34" charset="0"/>
                <a:ea typeface="KaiTi" panose="02010609060101010101" pitchFamily="49" charset="-122"/>
                <a:cs typeface="Arial" panose="020B0604020202020204" pitchFamily="34" charset="0"/>
              </a:rPr>
              <a:t>可控制性</a:t>
            </a:r>
            <a:r>
              <a:rPr lang="zh-CN" altLang="en-US" sz="1800" kern="1200" dirty="0">
                <a:latin typeface="Arial" panose="020B0604020202020204" pitchFamily="34" charset="0"/>
                <a:ea typeface="KaiTi" panose="02010609060101010101" pitchFamily="49" charset="-122"/>
                <a:cs typeface="Arial" panose="020B0604020202020204" pitchFamily="34" charset="0"/>
              </a:rPr>
              <a:t>：对信息的传播及内容具有控制能力</a:t>
            </a:r>
          </a:p>
          <a:p>
            <a:pPr>
              <a:lnSpc>
                <a:spcPct val="120000"/>
              </a:lnSpc>
              <a:spcBef>
                <a:spcPts val="238"/>
              </a:spcBef>
              <a:buClr>
                <a:srgbClr val="91AC4E"/>
              </a:buClr>
              <a:buSzPct val="80000"/>
              <a:buFont typeface="Wingdings" pitchFamily="2" charset="2"/>
              <a:buChar char="p"/>
            </a:pPr>
            <a:r>
              <a:rPr lang="zh-CN" altLang="en-US" sz="1800" b="1" kern="1200" dirty="0">
                <a:solidFill>
                  <a:srgbClr val="0000FF"/>
                </a:solidFill>
                <a:latin typeface="Arial" panose="020B0604020202020204" pitchFamily="34" charset="0"/>
                <a:ea typeface="KaiTi" panose="02010609060101010101" pitchFamily="49" charset="-122"/>
                <a:cs typeface="Arial" panose="020B0604020202020204" pitchFamily="34" charset="0"/>
              </a:rPr>
              <a:t>可审查性</a:t>
            </a:r>
            <a:r>
              <a:rPr lang="zh-CN" altLang="en-US" sz="1800" kern="1200" dirty="0">
                <a:latin typeface="Arial" panose="020B0604020202020204" pitchFamily="34" charset="0"/>
                <a:ea typeface="KaiTi" panose="02010609060101010101" pitchFamily="49" charset="-122"/>
                <a:cs typeface="Arial" panose="020B0604020202020204" pitchFamily="34" charset="0"/>
              </a:rPr>
              <a:t>：对出现的网络安全问题提供调查的依据和手段</a:t>
            </a:r>
            <a:endParaRPr lang="en-US" altLang="zh-CN" sz="1800" kern="1200" dirty="0">
              <a:latin typeface="Arial" panose="020B0604020202020204" pitchFamily="34" charset="0"/>
              <a:ea typeface="KaiTi" panose="02010609060101010101" pitchFamily="49" charset="-122"/>
              <a:cs typeface="Arial" panose="020B0604020202020204" pitchFamily="34" charset="0"/>
            </a:endParaRPr>
          </a:p>
        </p:txBody>
      </p:sp>
    </p:spTree>
    <p:extLst>
      <p:ext uri="{BB962C8B-B14F-4D97-AF65-F5344CB8AC3E}">
        <p14:creationId xmlns:p14="http://schemas.microsoft.com/office/powerpoint/2010/main" val="426496833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073634">
                                            <p:txEl>
                                              <p:pRg st="0" end="0"/>
                                            </p:txEl>
                                          </p:spTgt>
                                        </p:tgtEl>
                                        <p:attrNameLst>
                                          <p:attrName>style.visibility</p:attrName>
                                        </p:attrNameLst>
                                      </p:cBhvr>
                                      <p:to>
                                        <p:strVal val="visible"/>
                                      </p:to>
                                    </p:set>
                                    <p:anim calcmode="lin" valueType="num">
                                      <p:cBhvr additive="base">
                                        <p:cTn id="7" dur="500"/>
                                        <p:tgtEl>
                                          <p:spTgt spid="2073634">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2073634">
                                            <p:txEl>
                                              <p:pRg st="0" end="0"/>
                                            </p:txEl>
                                          </p:spTgt>
                                        </p:tgtEl>
                                      </p:cBhvr>
                                    </p:animEffect>
                                  </p:childTnLst>
                                </p:cTn>
                              </p:par>
                            </p:childTnLst>
                          </p:cTn>
                        </p:par>
                        <p:par>
                          <p:cTn id="9" fill="hold">
                            <p:stCondLst>
                              <p:cond delay="500"/>
                            </p:stCondLst>
                            <p:childTnLst>
                              <p:par>
                                <p:cTn id="10" presetID="12" presetClass="entr" presetSubtype="4" fill="hold" nodeType="afterEffect">
                                  <p:stCondLst>
                                    <p:cond delay="0"/>
                                  </p:stCondLst>
                                  <p:childTnLst>
                                    <p:set>
                                      <p:cBhvr>
                                        <p:cTn id="11" dur="1" fill="hold">
                                          <p:stCondLst>
                                            <p:cond delay="0"/>
                                          </p:stCondLst>
                                        </p:cTn>
                                        <p:tgtEl>
                                          <p:spTgt spid="2073634">
                                            <p:txEl>
                                              <p:pRg st="1" end="1"/>
                                            </p:txEl>
                                          </p:spTgt>
                                        </p:tgtEl>
                                        <p:attrNameLst>
                                          <p:attrName>style.visibility</p:attrName>
                                        </p:attrNameLst>
                                      </p:cBhvr>
                                      <p:to>
                                        <p:strVal val="visible"/>
                                      </p:to>
                                    </p:set>
                                    <p:anim calcmode="lin" valueType="num">
                                      <p:cBhvr additive="base">
                                        <p:cTn id="12" dur="500"/>
                                        <p:tgtEl>
                                          <p:spTgt spid="2073634">
                                            <p:txEl>
                                              <p:pRg st="1" end="1"/>
                                            </p:txEl>
                                          </p:spTgt>
                                        </p:tgtEl>
                                        <p:attrNameLst>
                                          <p:attrName>ppt_y</p:attrName>
                                        </p:attrNameLst>
                                      </p:cBhvr>
                                      <p:tavLst>
                                        <p:tav tm="0">
                                          <p:val>
                                            <p:strVal val="#ppt_y+#ppt_h*1.125000"/>
                                          </p:val>
                                        </p:tav>
                                        <p:tav tm="100000">
                                          <p:val>
                                            <p:strVal val="#ppt_y"/>
                                          </p:val>
                                        </p:tav>
                                      </p:tavLst>
                                    </p:anim>
                                    <p:animEffect transition="in" filter="wipe(up)">
                                      <p:cBhvr>
                                        <p:cTn id="13" dur="500"/>
                                        <p:tgtEl>
                                          <p:spTgt spid="2073634">
                                            <p:txEl>
                                              <p:pRg st="1" end="1"/>
                                            </p:txEl>
                                          </p:spTgt>
                                        </p:tgtEl>
                                      </p:cBhvr>
                                    </p:animEffect>
                                  </p:childTnLst>
                                </p:cTn>
                              </p:par>
                            </p:childTnLst>
                          </p:cTn>
                        </p:par>
                        <p:par>
                          <p:cTn id="14" fill="hold">
                            <p:stCondLst>
                              <p:cond delay="1000"/>
                            </p:stCondLst>
                            <p:childTnLst>
                              <p:par>
                                <p:cTn id="15" presetID="12" presetClass="entr" presetSubtype="4" fill="hold" nodeType="afterEffect">
                                  <p:stCondLst>
                                    <p:cond delay="0"/>
                                  </p:stCondLst>
                                  <p:childTnLst>
                                    <p:set>
                                      <p:cBhvr>
                                        <p:cTn id="16" dur="1" fill="hold">
                                          <p:stCondLst>
                                            <p:cond delay="0"/>
                                          </p:stCondLst>
                                        </p:cTn>
                                        <p:tgtEl>
                                          <p:spTgt spid="2073634">
                                            <p:txEl>
                                              <p:pRg st="2" end="2"/>
                                            </p:txEl>
                                          </p:spTgt>
                                        </p:tgtEl>
                                        <p:attrNameLst>
                                          <p:attrName>style.visibility</p:attrName>
                                        </p:attrNameLst>
                                      </p:cBhvr>
                                      <p:to>
                                        <p:strVal val="visible"/>
                                      </p:to>
                                    </p:set>
                                    <p:anim calcmode="lin" valueType="num">
                                      <p:cBhvr additive="base">
                                        <p:cTn id="17" dur="500"/>
                                        <p:tgtEl>
                                          <p:spTgt spid="2073634">
                                            <p:txEl>
                                              <p:pRg st="2" end="2"/>
                                            </p:txEl>
                                          </p:spTgt>
                                        </p:tgtEl>
                                        <p:attrNameLst>
                                          <p:attrName>ppt_y</p:attrName>
                                        </p:attrNameLst>
                                      </p:cBhvr>
                                      <p:tavLst>
                                        <p:tav tm="0">
                                          <p:val>
                                            <p:strVal val="#ppt_y+#ppt_h*1.125000"/>
                                          </p:val>
                                        </p:tav>
                                        <p:tav tm="100000">
                                          <p:val>
                                            <p:strVal val="#ppt_y"/>
                                          </p:val>
                                        </p:tav>
                                      </p:tavLst>
                                    </p:anim>
                                    <p:animEffect transition="in" filter="wipe(up)">
                                      <p:cBhvr>
                                        <p:cTn id="18" dur="500"/>
                                        <p:tgtEl>
                                          <p:spTgt spid="2073634">
                                            <p:txEl>
                                              <p:pRg st="2" end="2"/>
                                            </p:txEl>
                                          </p:spTgt>
                                        </p:tgtEl>
                                      </p:cBhvr>
                                    </p:animEffect>
                                  </p:childTnLst>
                                </p:cTn>
                              </p:par>
                            </p:childTnLst>
                          </p:cTn>
                        </p:par>
                        <p:par>
                          <p:cTn id="19" fill="hold">
                            <p:stCondLst>
                              <p:cond delay="1500"/>
                            </p:stCondLst>
                            <p:childTnLst>
                              <p:par>
                                <p:cTn id="20" presetID="12" presetClass="entr" presetSubtype="4" fill="hold" nodeType="afterEffect">
                                  <p:stCondLst>
                                    <p:cond delay="0"/>
                                  </p:stCondLst>
                                  <p:childTnLst>
                                    <p:set>
                                      <p:cBhvr>
                                        <p:cTn id="21" dur="1" fill="hold">
                                          <p:stCondLst>
                                            <p:cond delay="0"/>
                                          </p:stCondLst>
                                        </p:cTn>
                                        <p:tgtEl>
                                          <p:spTgt spid="2073634">
                                            <p:txEl>
                                              <p:pRg st="3" end="3"/>
                                            </p:txEl>
                                          </p:spTgt>
                                        </p:tgtEl>
                                        <p:attrNameLst>
                                          <p:attrName>style.visibility</p:attrName>
                                        </p:attrNameLst>
                                      </p:cBhvr>
                                      <p:to>
                                        <p:strVal val="visible"/>
                                      </p:to>
                                    </p:set>
                                    <p:anim calcmode="lin" valueType="num">
                                      <p:cBhvr additive="base">
                                        <p:cTn id="22" dur="500"/>
                                        <p:tgtEl>
                                          <p:spTgt spid="2073634">
                                            <p:txEl>
                                              <p:pRg st="3" end="3"/>
                                            </p:txEl>
                                          </p:spTgt>
                                        </p:tgtEl>
                                        <p:attrNameLst>
                                          <p:attrName>ppt_y</p:attrName>
                                        </p:attrNameLst>
                                      </p:cBhvr>
                                      <p:tavLst>
                                        <p:tav tm="0">
                                          <p:val>
                                            <p:strVal val="#ppt_y+#ppt_h*1.125000"/>
                                          </p:val>
                                        </p:tav>
                                        <p:tav tm="100000">
                                          <p:val>
                                            <p:strVal val="#ppt_y"/>
                                          </p:val>
                                        </p:tav>
                                      </p:tavLst>
                                    </p:anim>
                                    <p:animEffect transition="in" filter="wipe(up)">
                                      <p:cBhvr>
                                        <p:cTn id="23" dur="500"/>
                                        <p:tgtEl>
                                          <p:spTgt spid="2073634">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nodeType="clickEffect">
                                  <p:stCondLst>
                                    <p:cond delay="0"/>
                                  </p:stCondLst>
                                  <p:childTnLst>
                                    <p:set>
                                      <p:cBhvr>
                                        <p:cTn id="27" dur="1" fill="hold">
                                          <p:stCondLst>
                                            <p:cond delay="0"/>
                                          </p:stCondLst>
                                        </p:cTn>
                                        <p:tgtEl>
                                          <p:spTgt spid="2073634">
                                            <p:txEl>
                                              <p:pRg st="4" end="4"/>
                                            </p:txEl>
                                          </p:spTgt>
                                        </p:tgtEl>
                                        <p:attrNameLst>
                                          <p:attrName>style.visibility</p:attrName>
                                        </p:attrNameLst>
                                      </p:cBhvr>
                                      <p:to>
                                        <p:strVal val="visible"/>
                                      </p:to>
                                    </p:set>
                                    <p:anim calcmode="lin" valueType="num">
                                      <p:cBhvr additive="base">
                                        <p:cTn id="28" dur="500"/>
                                        <p:tgtEl>
                                          <p:spTgt spid="2073634">
                                            <p:txEl>
                                              <p:pRg st="4" end="4"/>
                                            </p:txEl>
                                          </p:spTgt>
                                        </p:tgtEl>
                                        <p:attrNameLst>
                                          <p:attrName>ppt_y</p:attrName>
                                        </p:attrNameLst>
                                      </p:cBhvr>
                                      <p:tavLst>
                                        <p:tav tm="0">
                                          <p:val>
                                            <p:strVal val="#ppt_y+#ppt_h*1.125000"/>
                                          </p:val>
                                        </p:tav>
                                        <p:tav tm="100000">
                                          <p:val>
                                            <p:strVal val="#ppt_y"/>
                                          </p:val>
                                        </p:tav>
                                      </p:tavLst>
                                    </p:anim>
                                    <p:animEffect transition="in" filter="wipe(up)">
                                      <p:cBhvr>
                                        <p:cTn id="29" dur="500"/>
                                        <p:tgtEl>
                                          <p:spTgt spid="2073634">
                                            <p:txEl>
                                              <p:pRg st="4" end="4"/>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2073634">
                                            <p:txEl>
                                              <p:pRg st="5" end="5"/>
                                            </p:txEl>
                                          </p:spTgt>
                                        </p:tgtEl>
                                        <p:attrNameLst>
                                          <p:attrName>style.visibility</p:attrName>
                                        </p:attrNameLst>
                                      </p:cBhvr>
                                      <p:to>
                                        <p:strVal val="visible"/>
                                      </p:to>
                                    </p:set>
                                    <p:anim calcmode="lin" valueType="num">
                                      <p:cBhvr additive="base">
                                        <p:cTn id="34" dur="500"/>
                                        <p:tgtEl>
                                          <p:spTgt spid="2073634">
                                            <p:txEl>
                                              <p:pRg st="5" end="5"/>
                                            </p:txEl>
                                          </p:spTgt>
                                        </p:tgtEl>
                                        <p:attrNameLst>
                                          <p:attrName>ppt_y</p:attrName>
                                        </p:attrNameLst>
                                      </p:cBhvr>
                                      <p:tavLst>
                                        <p:tav tm="0">
                                          <p:val>
                                            <p:strVal val="#ppt_y+#ppt_h*1.125000"/>
                                          </p:val>
                                        </p:tav>
                                        <p:tav tm="100000">
                                          <p:val>
                                            <p:strVal val="#ppt_y"/>
                                          </p:val>
                                        </p:tav>
                                      </p:tavLst>
                                    </p:anim>
                                    <p:animEffect transition="in" filter="wipe(up)">
                                      <p:cBhvr>
                                        <p:cTn id="35" dur="500"/>
                                        <p:tgtEl>
                                          <p:spTgt spid="2073634">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4" fill="hold" nodeType="clickEffect">
                                  <p:stCondLst>
                                    <p:cond delay="0"/>
                                  </p:stCondLst>
                                  <p:childTnLst>
                                    <p:set>
                                      <p:cBhvr>
                                        <p:cTn id="39" dur="1" fill="hold">
                                          <p:stCondLst>
                                            <p:cond delay="0"/>
                                          </p:stCondLst>
                                        </p:cTn>
                                        <p:tgtEl>
                                          <p:spTgt spid="2073634">
                                            <p:txEl>
                                              <p:pRg st="6" end="6"/>
                                            </p:txEl>
                                          </p:spTgt>
                                        </p:tgtEl>
                                        <p:attrNameLst>
                                          <p:attrName>style.visibility</p:attrName>
                                        </p:attrNameLst>
                                      </p:cBhvr>
                                      <p:to>
                                        <p:strVal val="visible"/>
                                      </p:to>
                                    </p:set>
                                    <p:anim calcmode="lin" valueType="num">
                                      <p:cBhvr additive="base">
                                        <p:cTn id="40" dur="500"/>
                                        <p:tgtEl>
                                          <p:spTgt spid="2073634">
                                            <p:txEl>
                                              <p:pRg st="6" end="6"/>
                                            </p:txEl>
                                          </p:spTgt>
                                        </p:tgtEl>
                                        <p:attrNameLst>
                                          <p:attrName>ppt_y</p:attrName>
                                        </p:attrNameLst>
                                      </p:cBhvr>
                                      <p:tavLst>
                                        <p:tav tm="0">
                                          <p:val>
                                            <p:strVal val="#ppt_y+#ppt_h*1.125000"/>
                                          </p:val>
                                        </p:tav>
                                        <p:tav tm="100000">
                                          <p:val>
                                            <p:strVal val="#ppt_y"/>
                                          </p:val>
                                        </p:tav>
                                      </p:tavLst>
                                    </p:anim>
                                    <p:animEffect transition="in" filter="wipe(up)">
                                      <p:cBhvr>
                                        <p:cTn id="41" dur="500"/>
                                        <p:tgtEl>
                                          <p:spTgt spid="2073634">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nodeType="clickEffect">
                                  <p:stCondLst>
                                    <p:cond delay="0"/>
                                  </p:stCondLst>
                                  <p:childTnLst>
                                    <p:set>
                                      <p:cBhvr>
                                        <p:cTn id="45" dur="1" fill="hold">
                                          <p:stCondLst>
                                            <p:cond delay="0"/>
                                          </p:stCondLst>
                                        </p:cTn>
                                        <p:tgtEl>
                                          <p:spTgt spid="2073634">
                                            <p:txEl>
                                              <p:pRg st="7" end="7"/>
                                            </p:txEl>
                                          </p:spTgt>
                                        </p:tgtEl>
                                        <p:attrNameLst>
                                          <p:attrName>style.visibility</p:attrName>
                                        </p:attrNameLst>
                                      </p:cBhvr>
                                      <p:to>
                                        <p:strVal val="visible"/>
                                      </p:to>
                                    </p:set>
                                    <p:anim calcmode="lin" valueType="num">
                                      <p:cBhvr additive="base">
                                        <p:cTn id="46" dur="500"/>
                                        <p:tgtEl>
                                          <p:spTgt spid="2073634">
                                            <p:txEl>
                                              <p:pRg st="7" end="7"/>
                                            </p:txEl>
                                          </p:spTgt>
                                        </p:tgtEl>
                                        <p:attrNameLst>
                                          <p:attrName>ppt_y</p:attrName>
                                        </p:attrNameLst>
                                      </p:cBhvr>
                                      <p:tavLst>
                                        <p:tav tm="0">
                                          <p:val>
                                            <p:strVal val="#ppt_y+#ppt_h*1.125000"/>
                                          </p:val>
                                        </p:tav>
                                        <p:tav tm="100000">
                                          <p:val>
                                            <p:strVal val="#ppt_y"/>
                                          </p:val>
                                        </p:tav>
                                      </p:tavLst>
                                    </p:anim>
                                    <p:animEffect transition="in" filter="wipe(up)">
                                      <p:cBhvr>
                                        <p:cTn id="47" dur="500"/>
                                        <p:tgtEl>
                                          <p:spTgt spid="207363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68834" name="Rectangle 2"/>
          <p:cNvSpPr>
            <a:spLocks noGrp="1" noChangeArrowheads="1"/>
          </p:cNvSpPr>
          <p:nvPr>
            <p:ph type="title"/>
          </p:nvPr>
        </p:nvSpPr>
        <p:spPr>
          <a:xfrm>
            <a:off x="520553" y="177908"/>
            <a:ext cx="5809298" cy="716756"/>
          </a:xfrm>
        </p:spPr>
        <p:txBody>
          <a:bodyPr/>
          <a:lstStyle/>
          <a:p>
            <a:r>
              <a:rPr lang="zh-CN" altLang="en-US" sz="3240" b="1" dirty="0">
                <a:latin typeface="+mj-ea"/>
                <a:cs typeface="+mn-cs"/>
              </a:rPr>
              <a:t>软件安全性需求</a:t>
            </a:r>
            <a:endParaRPr lang="zh-CN" altLang="en-US" sz="3240" b="1" i="1" dirty="0">
              <a:latin typeface="Arial" charset="0"/>
              <a:ea typeface="宋体" pitchFamily="2" charset="-122"/>
              <a:cs typeface="+mn-cs"/>
            </a:endParaRPr>
          </a:p>
        </p:txBody>
      </p:sp>
      <p:sp>
        <p:nvSpPr>
          <p:cNvPr id="2168835" name="Rectangle 3"/>
          <p:cNvSpPr>
            <a:spLocks noGrp="1" noChangeArrowheads="1"/>
          </p:cNvSpPr>
          <p:nvPr>
            <p:ph type="body" idx="1"/>
          </p:nvPr>
        </p:nvSpPr>
        <p:spPr>
          <a:xfrm>
            <a:off x="868680" y="1428749"/>
            <a:ext cx="7406640" cy="3152875"/>
          </a:xfrm>
        </p:spPr>
        <p:txBody>
          <a:bodyPr/>
          <a:lstStyle/>
          <a:p>
            <a:pPr>
              <a:buFont typeface="Wingdings" pitchFamily="2" charset="2"/>
              <a:buNone/>
            </a:pPr>
            <a:endParaRPr lang="zh-CN" altLang="en-US" sz="2700" dirty="0">
              <a:ea typeface="宋体" charset="-122"/>
            </a:endParaRPr>
          </a:p>
          <a:p>
            <a:pPr>
              <a:buFont typeface="Wingdings" pitchFamily="2" charset="2"/>
              <a:buNone/>
            </a:pPr>
            <a:endParaRPr lang="zh-CN" altLang="en-US" dirty="0">
              <a:ea typeface="宋体" charset="-122"/>
            </a:endParaRPr>
          </a:p>
        </p:txBody>
      </p:sp>
      <p:sp>
        <p:nvSpPr>
          <p:cNvPr id="7" name="TextBox 6"/>
          <p:cNvSpPr txBox="1"/>
          <p:nvPr/>
        </p:nvSpPr>
        <p:spPr>
          <a:xfrm>
            <a:off x="6062566" y="1210799"/>
            <a:ext cx="1879409" cy="480131"/>
          </a:xfrm>
          <a:prstGeom prst="rect">
            <a:avLst/>
          </a:prstGeom>
          <a:noFill/>
        </p:spPr>
        <p:txBody>
          <a:bodyPr wrap="square" rtlCol="0">
            <a:spAutoFit/>
          </a:bodyPr>
          <a:lstStyle/>
          <a:p>
            <a:r>
              <a:rPr lang="zh-CN" altLang="en-US" sz="2520" b="1" dirty="0">
                <a:solidFill>
                  <a:srgbClr val="00B0F0"/>
                </a:solidFill>
              </a:rPr>
              <a:t>数据安全性</a:t>
            </a:r>
          </a:p>
        </p:txBody>
      </p:sp>
      <p:pic>
        <p:nvPicPr>
          <p:cNvPr id="8" name="图片 7" descr="data-security.jpg"/>
          <p:cNvPicPr>
            <a:picLocks noChangeAspect="1"/>
          </p:cNvPicPr>
          <p:nvPr/>
        </p:nvPicPr>
        <p:blipFill>
          <a:blip r:embed="rId3" cstate="print"/>
          <a:stretch>
            <a:fillRect/>
          </a:stretch>
        </p:blipFill>
        <p:spPr>
          <a:xfrm>
            <a:off x="5025651" y="1275607"/>
            <a:ext cx="1103299" cy="1092670"/>
          </a:xfrm>
          <a:prstGeom prst="rect">
            <a:avLst/>
          </a:prstGeom>
        </p:spPr>
      </p:pic>
      <p:sp>
        <p:nvSpPr>
          <p:cNvPr id="9" name="Rectangle 34"/>
          <p:cNvSpPr txBox="1">
            <a:spLocks noChangeArrowheads="1"/>
          </p:cNvSpPr>
          <p:nvPr/>
        </p:nvSpPr>
        <p:spPr bwMode="auto">
          <a:xfrm>
            <a:off x="6192180" y="1858871"/>
            <a:ext cx="1814602" cy="2829914"/>
          </a:xfrm>
          <a:prstGeom prst="rect">
            <a:avLst/>
          </a:prstGeom>
          <a:noFill/>
          <a:ln w="9525">
            <a:noFill/>
            <a:miter lim="800000"/>
            <a:headEnd/>
            <a:tailEnd/>
          </a:ln>
          <a:effectLst/>
        </p:spPr>
        <p:txBody>
          <a:bodyPr vert="horz" wrap="square" lIns="82296" tIns="41148" rIns="82296" bIns="41148" numCol="1" anchor="t" anchorCtr="0" compatLnSpc="1">
            <a:prstTxWarp prst="textNoShape">
              <a:avLst/>
            </a:prstTxWarp>
          </a:bodyPr>
          <a:lstStyle/>
          <a:p>
            <a:pPr marL="308610" indent="-308610">
              <a:lnSpc>
                <a:spcPct val="120000"/>
              </a:lnSpc>
              <a:spcBef>
                <a:spcPct val="30000"/>
              </a:spcBef>
              <a:buClr>
                <a:srgbClr val="91AC4E"/>
              </a:buClr>
              <a:buSzPct val="80000"/>
              <a:buFont typeface="Wingdings" pitchFamily="2" charset="2"/>
              <a:buChar char="p"/>
            </a:pPr>
            <a:r>
              <a:rPr lang="zh-CN" altLang="zh-CN" sz="2160" dirty="0">
                <a:latin typeface="楷体"/>
                <a:ea typeface="楷体"/>
                <a:cs typeface="楷体"/>
              </a:rPr>
              <a:t>加密</a:t>
            </a:r>
            <a:endParaRPr lang="en-US" altLang="zh-CN" sz="2160" dirty="0">
              <a:latin typeface="楷体"/>
              <a:ea typeface="楷体"/>
              <a:cs typeface="楷体"/>
            </a:endParaRPr>
          </a:p>
          <a:p>
            <a:pPr marL="308610" indent="-30861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数据结构</a:t>
            </a:r>
            <a:endParaRPr lang="en-US" altLang="zh-CN" sz="2160" dirty="0">
              <a:latin typeface="楷体"/>
              <a:ea typeface="楷体"/>
              <a:cs typeface="楷体"/>
            </a:endParaRPr>
          </a:p>
          <a:p>
            <a:pPr marL="308610" indent="-308610">
              <a:lnSpc>
                <a:spcPct val="110000"/>
              </a:lnSpc>
              <a:spcBef>
                <a:spcPct val="30000"/>
              </a:spcBef>
              <a:buClr>
                <a:srgbClr val="91AC4E"/>
              </a:buClr>
              <a:buSzPct val="80000"/>
              <a:buFont typeface="Wingdings" pitchFamily="2" charset="2"/>
              <a:buChar char="p"/>
            </a:pPr>
            <a:r>
              <a:rPr lang="zh-CN" altLang="en-US" sz="2160" dirty="0">
                <a:latin typeface="楷体"/>
                <a:ea typeface="楷体"/>
                <a:cs typeface="楷体"/>
              </a:rPr>
              <a:t>安全存储</a:t>
            </a:r>
            <a:endParaRPr lang="en-US" altLang="zh-CN" sz="2160" dirty="0">
              <a:latin typeface="楷体"/>
              <a:ea typeface="楷体"/>
              <a:cs typeface="楷体"/>
            </a:endParaRPr>
          </a:p>
          <a:p>
            <a:pPr marL="308610" indent="-30861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安全访问</a:t>
            </a:r>
            <a:endParaRPr lang="en-US" altLang="zh-CN" sz="2160" dirty="0">
              <a:latin typeface="楷体"/>
              <a:ea typeface="楷体"/>
              <a:cs typeface="楷体"/>
            </a:endParaRPr>
          </a:p>
          <a:p>
            <a:pPr marL="308610" indent="-308610">
              <a:lnSpc>
                <a:spcPct val="120000"/>
              </a:lnSpc>
              <a:spcBef>
                <a:spcPct val="30000"/>
              </a:spcBef>
              <a:buClr>
                <a:srgbClr val="91AC4E"/>
              </a:buClr>
              <a:buSzPct val="80000"/>
              <a:buFont typeface="Wingdings" pitchFamily="2" charset="2"/>
              <a:buChar char="p"/>
            </a:pPr>
            <a:r>
              <a:rPr lang="zh-CN" altLang="zh-CN" sz="2160" dirty="0">
                <a:latin typeface="楷体"/>
                <a:ea typeface="楷体"/>
                <a:cs typeface="楷体"/>
              </a:rPr>
              <a:t>认证</a:t>
            </a:r>
            <a:endParaRPr lang="en-US" altLang="zh-CN" sz="2160" dirty="0">
              <a:latin typeface="楷体"/>
              <a:ea typeface="楷体"/>
              <a:cs typeface="楷体"/>
            </a:endParaRPr>
          </a:p>
          <a:p>
            <a:pPr marL="308610" indent="-30861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备份</a:t>
            </a:r>
            <a:endParaRPr lang="en-US" altLang="zh-CN" sz="2160" dirty="0">
              <a:latin typeface="楷体"/>
              <a:ea typeface="楷体"/>
              <a:cs typeface="楷体"/>
            </a:endParaRPr>
          </a:p>
        </p:txBody>
      </p:sp>
      <p:sp>
        <p:nvSpPr>
          <p:cNvPr id="10" name="TextBox 6"/>
          <p:cNvSpPr txBox="1"/>
          <p:nvPr/>
        </p:nvSpPr>
        <p:spPr>
          <a:xfrm>
            <a:off x="1785290" y="1340414"/>
            <a:ext cx="1814602" cy="480131"/>
          </a:xfrm>
          <a:prstGeom prst="rect">
            <a:avLst/>
          </a:prstGeom>
          <a:noFill/>
        </p:spPr>
        <p:txBody>
          <a:bodyPr wrap="square" rtlCol="0">
            <a:spAutoFit/>
          </a:bodyPr>
          <a:lstStyle/>
          <a:p>
            <a:r>
              <a:rPr lang="zh-CN" altLang="en-US" sz="2520" b="1" dirty="0">
                <a:solidFill>
                  <a:srgbClr val="00B0F0"/>
                </a:solidFill>
              </a:rPr>
              <a:t>系统安全性</a:t>
            </a:r>
          </a:p>
        </p:txBody>
      </p:sp>
      <p:pic>
        <p:nvPicPr>
          <p:cNvPr id="11" name="Picture 2" descr="http://www.fiberoptics4sale.com/wordpress/wp-content/uploads/2010/12/fire-alarm-systems-2-wire-figure-1-large.jpg"/>
          <p:cNvPicPr>
            <a:picLocks noChangeAspect="1" noChangeArrowheads="1"/>
          </p:cNvPicPr>
          <p:nvPr/>
        </p:nvPicPr>
        <p:blipFill>
          <a:blip r:embed="rId4" cstate="print"/>
          <a:srcRect/>
          <a:stretch>
            <a:fillRect/>
          </a:stretch>
        </p:blipFill>
        <p:spPr bwMode="auto">
          <a:xfrm>
            <a:off x="877995" y="1329613"/>
            <a:ext cx="913582" cy="898186"/>
          </a:xfrm>
          <a:prstGeom prst="rect">
            <a:avLst/>
          </a:prstGeom>
          <a:noFill/>
        </p:spPr>
      </p:pic>
      <p:sp>
        <p:nvSpPr>
          <p:cNvPr id="12" name="Rectangle 34"/>
          <p:cNvSpPr txBox="1">
            <a:spLocks noChangeArrowheads="1"/>
          </p:cNvSpPr>
          <p:nvPr/>
        </p:nvSpPr>
        <p:spPr bwMode="auto">
          <a:xfrm>
            <a:off x="1914905" y="2118100"/>
            <a:ext cx="2462674" cy="2592288"/>
          </a:xfrm>
          <a:prstGeom prst="rect">
            <a:avLst/>
          </a:prstGeom>
          <a:noFill/>
          <a:ln w="9525">
            <a:noFill/>
            <a:miter lim="800000"/>
            <a:headEnd/>
            <a:tailEnd/>
          </a:ln>
          <a:effectLst/>
        </p:spPr>
        <p:txBody>
          <a:bodyPr vert="horz" wrap="square" lIns="82296" tIns="41148" rIns="82296" bIns="41148" numCol="1" anchor="t" anchorCtr="0" compatLnSpc="1">
            <a:prstTxWarp prst="textNoShape">
              <a:avLst/>
            </a:prstTxWarp>
          </a:bodyPr>
          <a:lstStyle/>
          <a:p>
            <a:pPr marL="308610" indent="-30861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用户身份认证</a:t>
            </a:r>
            <a:endParaRPr lang="en-US" altLang="zh-CN" sz="2160" dirty="0">
              <a:latin typeface="楷体"/>
              <a:ea typeface="楷体"/>
              <a:cs typeface="楷体"/>
            </a:endParaRPr>
          </a:p>
          <a:p>
            <a:pPr marL="308610" indent="-30861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用户权限限制</a:t>
            </a:r>
            <a:endParaRPr lang="en-US" altLang="zh-CN" sz="2160" dirty="0">
              <a:latin typeface="楷体"/>
              <a:ea typeface="楷体"/>
              <a:cs typeface="楷体"/>
            </a:endParaRPr>
          </a:p>
          <a:p>
            <a:pPr marL="308610" indent="-30861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异常处理</a:t>
            </a:r>
            <a:endParaRPr lang="en-US" altLang="zh-CN" sz="2160" dirty="0">
              <a:latin typeface="楷体"/>
              <a:ea typeface="楷体"/>
              <a:cs typeface="楷体"/>
            </a:endParaRPr>
          </a:p>
          <a:p>
            <a:pPr marL="308610" indent="-30861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入口验证机制</a:t>
            </a:r>
            <a:endParaRPr lang="en-US" altLang="zh-CN" sz="2160" dirty="0">
              <a:latin typeface="楷体"/>
              <a:ea typeface="楷体"/>
              <a:cs typeface="楷体"/>
            </a:endParaRPr>
          </a:p>
          <a:p>
            <a:pPr marL="308610" indent="-308610">
              <a:lnSpc>
                <a:spcPct val="120000"/>
              </a:lnSpc>
              <a:spcBef>
                <a:spcPct val="30000"/>
              </a:spcBef>
              <a:buClr>
                <a:srgbClr val="91AC4E"/>
              </a:buClr>
              <a:buSzPct val="80000"/>
              <a:buFont typeface="Wingdings" pitchFamily="2" charset="2"/>
              <a:buChar char="p"/>
            </a:pPr>
            <a:r>
              <a:rPr lang="zh-CN" altLang="en-US" sz="2160" dirty="0">
                <a:latin typeface="楷体"/>
                <a:ea typeface="楷体"/>
                <a:cs typeface="楷体"/>
              </a:rPr>
              <a:t>系统强壮性设计</a:t>
            </a:r>
            <a:endParaRPr lang="en-US" altLang="zh-CN" sz="2160" dirty="0">
              <a:latin typeface="楷体"/>
              <a:ea typeface="楷体"/>
              <a:cs typeface="楷体"/>
            </a:endParaRPr>
          </a:p>
        </p:txBody>
      </p:sp>
    </p:spTree>
    <p:extLst>
      <p:ext uri="{BB962C8B-B14F-4D97-AF65-F5344CB8AC3E}">
        <p14:creationId xmlns:p14="http://schemas.microsoft.com/office/powerpoint/2010/main" val="357840085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p:tgtEl>
                                          <p:spTgt spid="9"/>
                                        </p:tgtEl>
                                        <p:attrNameLst>
                                          <p:attrName>ppt_y</p:attrName>
                                        </p:attrNameLst>
                                      </p:cBhvr>
                                      <p:tavLst>
                                        <p:tav tm="0">
                                          <p:val>
                                            <p:strVal val="#ppt_y+#ppt_h*1.125000"/>
                                          </p:val>
                                        </p:tav>
                                        <p:tav tm="100000">
                                          <p:val>
                                            <p:strVal val="#ppt_y"/>
                                          </p:val>
                                        </p:tav>
                                      </p:tavLst>
                                    </p:anim>
                                    <p:animEffect transition="in" filter="wipe(up)">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68834" name="Rectangle 2"/>
          <p:cNvSpPr>
            <a:spLocks noGrp="1" noChangeArrowheads="1"/>
          </p:cNvSpPr>
          <p:nvPr>
            <p:ph type="title"/>
          </p:nvPr>
        </p:nvSpPr>
        <p:spPr>
          <a:xfrm>
            <a:off x="500826" y="249214"/>
            <a:ext cx="5809298" cy="716756"/>
          </a:xfrm>
        </p:spPr>
        <p:txBody>
          <a:bodyPr/>
          <a:lstStyle/>
          <a:p>
            <a:r>
              <a:rPr lang="zh-CN" altLang="en-US" b="1" dirty="0">
                <a:latin typeface="+mj-ea"/>
                <a:cs typeface="+mn-cs"/>
              </a:rPr>
              <a:t>示例：系统安全性问题</a:t>
            </a:r>
          </a:p>
        </p:txBody>
      </p:sp>
      <p:sp>
        <p:nvSpPr>
          <p:cNvPr id="6" name="Rectangle 34"/>
          <p:cNvSpPr txBox="1">
            <a:spLocks noChangeArrowheads="1"/>
          </p:cNvSpPr>
          <p:nvPr/>
        </p:nvSpPr>
        <p:spPr bwMode="auto">
          <a:xfrm>
            <a:off x="2035856" y="4177529"/>
            <a:ext cx="4471697" cy="486054"/>
          </a:xfrm>
          <a:prstGeom prst="rect">
            <a:avLst/>
          </a:prstGeom>
          <a:noFill/>
          <a:ln w="9525">
            <a:noFill/>
            <a:miter lim="800000"/>
            <a:headEnd/>
            <a:tailEnd/>
          </a:ln>
          <a:effectLst/>
        </p:spPr>
        <p:txBody>
          <a:bodyPr vert="horz" wrap="square" lIns="82296" tIns="41148" rIns="82296" bIns="41148" numCol="1" anchor="t" anchorCtr="0" compatLnSpc="1">
            <a:prstTxWarp prst="textNoShape">
              <a:avLst/>
            </a:prstTxWarp>
          </a:bodyPr>
          <a:lstStyle/>
          <a:p>
            <a:pPr marL="308610" indent="-308610" algn="ctr" defTabSz="822960" fontAlgn="base">
              <a:lnSpc>
                <a:spcPct val="120000"/>
              </a:lnSpc>
              <a:spcBef>
                <a:spcPct val="30000"/>
              </a:spcBef>
              <a:spcAft>
                <a:spcPct val="0"/>
              </a:spcAft>
              <a:buClr>
                <a:srgbClr val="91AC4E"/>
              </a:buClr>
              <a:buSzPct val="80000"/>
              <a:defRPr/>
            </a:pPr>
            <a:r>
              <a:rPr lang="zh-CN" altLang="en-US" sz="2400" dirty="0">
                <a:solidFill>
                  <a:srgbClr val="C00000"/>
                </a:solidFill>
                <a:latin typeface="Microsoft YaHei" panose="020B0503020204020204" pitchFamily="34" charset="-122"/>
                <a:ea typeface="Microsoft YaHei" panose="020B0503020204020204" pitchFamily="34" charset="-122"/>
              </a:rPr>
              <a:t>对用户口令有多少防范措施 ？</a:t>
            </a:r>
            <a:endParaRPr lang="en-US" altLang="zh-CN" sz="2400" dirty="0">
              <a:solidFill>
                <a:srgbClr val="C00000"/>
              </a:solidFill>
              <a:latin typeface="Microsoft YaHei" panose="020B0503020204020204" pitchFamily="34" charset="-122"/>
              <a:ea typeface="Microsoft YaHei" panose="020B0503020204020204" pitchFamily="34" charset="-122"/>
            </a:endParaRPr>
          </a:p>
        </p:txBody>
      </p:sp>
      <p:pic>
        <p:nvPicPr>
          <p:cNvPr id="5" name="图片 4">
            <a:extLst>
              <a:ext uri="{FF2B5EF4-FFF2-40B4-BE49-F238E27FC236}">
                <a16:creationId xmlns:a16="http://schemas.microsoft.com/office/drawing/2014/main" id="{49173702-C3A1-C2D9-F6AB-8E837152B2EF}"/>
              </a:ext>
            </a:extLst>
          </p:cNvPr>
          <p:cNvPicPr>
            <a:picLocks noChangeAspect="1"/>
          </p:cNvPicPr>
          <p:nvPr/>
        </p:nvPicPr>
        <p:blipFill rotWithShape="1">
          <a:blip r:embed="rId3"/>
          <a:srcRect b="23041"/>
          <a:stretch/>
        </p:blipFill>
        <p:spPr>
          <a:xfrm>
            <a:off x="2430113" y="1110431"/>
            <a:ext cx="3683184" cy="2922637"/>
          </a:xfrm>
          <a:prstGeom prst="rect">
            <a:avLst/>
          </a:prstGeom>
        </p:spPr>
      </p:pic>
    </p:spTree>
    <p:extLst>
      <p:ext uri="{BB962C8B-B14F-4D97-AF65-F5344CB8AC3E}">
        <p14:creationId xmlns:p14="http://schemas.microsoft.com/office/powerpoint/2010/main" val="2215173875"/>
      </p:ext>
    </p:extLst>
  </p:cSld>
  <p:clrMapOvr>
    <a:masterClrMapping/>
  </p:clrMapOvr>
  <p:transition spd="slow">
    <p:wipe dir="r"/>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a:xfrm>
            <a:off x="586527" y="263267"/>
            <a:ext cx="5054918" cy="521494"/>
          </a:xfrm>
        </p:spPr>
        <p:txBody>
          <a:bodyPr>
            <a:normAutofit/>
          </a:bodyPr>
          <a:lstStyle/>
          <a:p>
            <a:pPr>
              <a:buClr>
                <a:schemeClr val="accent4"/>
              </a:buClr>
            </a:pPr>
            <a:r>
              <a:rPr lang="zh-CN" altLang="en-US" dirty="0"/>
              <a:t>系统安全的基本机制</a:t>
            </a:r>
          </a:p>
        </p:txBody>
      </p:sp>
      <p:grpSp>
        <p:nvGrpSpPr>
          <p:cNvPr id="247811" name="Group 3"/>
          <p:cNvGrpSpPr>
            <a:grpSpLocks/>
          </p:cNvGrpSpPr>
          <p:nvPr/>
        </p:nvGrpSpPr>
        <p:grpSpPr bwMode="auto">
          <a:xfrm>
            <a:off x="780943" y="1027179"/>
            <a:ext cx="2268252" cy="2624693"/>
            <a:chOff x="113" y="973"/>
            <a:chExt cx="1970" cy="2351"/>
          </a:xfrm>
        </p:grpSpPr>
        <p:grpSp>
          <p:nvGrpSpPr>
            <p:cNvPr id="247812" name="Group 4"/>
            <p:cNvGrpSpPr>
              <a:grpSpLocks/>
            </p:cNvGrpSpPr>
            <p:nvPr/>
          </p:nvGrpSpPr>
          <p:grpSpPr bwMode="auto">
            <a:xfrm>
              <a:off x="113" y="1354"/>
              <a:ext cx="1970" cy="1970"/>
              <a:chOff x="113" y="1354"/>
              <a:chExt cx="1970" cy="1970"/>
            </a:xfrm>
          </p:grpSpPr>
          <p:pic>
            <p:nvPicPr>
              <p:cNvPr id="247813" name="Picture 5" descr="GEL-Circle-steel-gr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 y="1354"/>
                <a:ext cx="1970" cy="1970"/>
              </a:xfrm>
              <a:prstGeom prst="rect">
                <a:avLst/>
              </a:prstGeom>
              <a:noFill/>
              <a:extLst>
                <a:ext uri="{909E8E84-426E-40dd-AFC4-6F175D3DCCD1}">
                  <a14:hiddenFill xmlns="" xmlns:a14="http://schemas.microsoft.com/office/drawing/2010/main">
                    <a:solidFill>
                      <a:srgbClr val="FFFFFF"/>
                    </a:solidFill>
                  </a14:hiddenFill>
                </a:ext>
              </a:extLst>
            </p:spPr>
          </p:pic>
          <p:sp>
            <p:nvSpPr>
              <p:cNvPr id="247814" name="Text Box 6"/>
              <p:cNvSpPr txBox="1">
                <a:spLocks noChangeArrowheads="1"/>
              </p:cNvSpPr>
              <p:nvPr/>
            </p:nvSpPr>
            <p:spPr bwMode="auto">
              <a:xfrm>
                <a:off x="492" y="2654"/>
                <a:ext cx="1249" cy="579"/>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zh-CN" altLang="en-US" dirty="0">
                    <a:solidFill>
                      <a:srgbClr val="000000"/>
                    </a:solidFill>
                    <a:effectLst>
                      <a:outerShdw blurRad="38100" dist="38100" dir="2700000" algn="tl">
                        <a:srgbClr val="DDDDDD"/>
                      </a:outerShdw>
                    </a:effectLst>
                    <a:latin typeface="Microsoft YaHei" panose="020B0503020204020204" pitchFamily="34" charset="-122"/>
                    <a:ea typeface="Microsoft YaHei" panose="020B0503020204020204" pitchFamily="34" charset="-122"/>
                    <a:cs typeface="宋体" charset="0"/>
                  </a:rPr>
                  <a:t>主动用户、</a:t>
                </a:r>
                <a:endParaRPr lang="en-US" altLang="zh-CN" dirty="0">
                  <a:solidFill>
                    <a:srgbClr val="000000"/>
                  </a:solidFill>
                  <a:effectLst>
                    <a:outerShdw blurRad="38100" dist="38100" dir="2700000" algn="tl">
                      <a:srgbClr val="DDDDDD"/>
                    </a:outerShdw>
                  </a:effectLst>
                  <a:latin typeface="Microsoft YaHei" panose="020B0503020204020204" pitchFamily="34" charset="-122"/>
                  <a:ea typeface="Microsoft YaHei" panose="020B0503020204020204" pitchFamily="34" charset="-122"/>
                  <a:cs typeface="宋体" charset="0"/>
                </a:endParaRPr>
              </a:p>
              <a:p>
                <a:pPr algn="ctr"/>
                <a:r>
                  <a:rPr lang="zh-CN" altLang="en-US" dirty="0">
                    <a:solidFill>
                      <a:srgbClr val="000000"/>
                    </a:solidFill>
                    <a:effectLst>
                      <a:outerShdw blurRad="38100" dist="38100" dir="2700000" algn="tl">
                        <a:srgbClr val="DDDDDD"/>
                      </a:outerShdw>
                    </a:effectLst>
                    <a:latin typeface="Microsoft YaHei" panose="020B0503020204020204" pitchFamily="34" charset="-122"/>
                    <a:ea typeface="Microsoft YaHei" panose="020B0503020204020204" pitchFamily="34" charset="-122"/>
                    <a:cs typeface="宋体" charset="0"/>
                  </a:rPr>
                  <a:t>进程</a:t>
                </a:r>
              </a:p>
            </p:txBody>
          </p:sp>
          <p:grpSp>
            <p:nvGrpSpPr>
              <p:cNvPr id="247815" name="Group 7"/>
              <p:cNvGrpSpPr>
                <a:grpSpLocks/>
              </p:cNvGrpSpPr>
              <p:nvPr/>
            </p:nvGrpSpPr>
            <p:grpSpPr bwMode="auto">
              <a:xfrm>
                <a:off x="684" y="1898"/>
                <a:ext cx="823" cy="728"/>
                <a:chOff x="3064" y="2760"/>
                <a:chExt cx="823" cy="728"/>
              </a:xfrm>
            </p:grpSpPr>
            <p:pic>
              <p:nvPicPr>
                <p:cNvPr id="247816" name="Picture 8" descr="user1"/>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64" y="2760"/>
                  <a:ext cx="386" cy="432"/>
                </a:xfrm>
                <a:prstGeom prst="rect">
                  <a:avLst/>
                </a:prstGeom>
                <a:noFill/>
                <a:extLst>
                  <a:ext uri="{909E8E84-426E-40dd-AFC4-6F175D3DCCD1}">
                    <a14:hiddenFill xmlns="" xmlns:a14="http://schemas.microsoft.com/office/drawing/2010/main">
                      <a:solidFill>
                        <a:srgbClr val="FFFFFF"/>
                      </a:solidFill>
                    </a14:hiddenFill>
                  </a:ext>
                </a:extLst>
              </p:spPr>
            </p:pic>
            <p:pic>
              <p:nvPicPr>
                <p:cNvPr id="247817" name="Picture 9" descr="user2"/>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128" y="2952"/>
                  <a:ext cx="398" cy="444"/>
                </a:xfrm>
                <a:prstGeom prst="rect">
                  <a:avLst/>
                </a:prstGeom>
                <a:noFill/>
                <a:extLst>
                  <a:ext uri="{909E8E84-426E-40dd-AFC4-6F175D3DCCD1}">
                    <a14:hiddenFill xmlns="" xmlns:a14="http://schemas.microsoft.com/office/drawing/2010/main">
                      <a:solidFill>
                        <a:srgbClr val="FFFFFF"/>
                      </a:solidFill>
                    </a14:hiddenFill>
                  </a:ext>
                </a:extLst>
              </p:spPr>
            </p:pic>
            <p:pic>
              <p:nvPicPr>
                <p:cNvPr id="247818" name="Picture 10" descr="user3"/>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04" y="3056"/>
                  <a:ext cx="401" cy="432"/>
                </a:xfrm>
                <a:prstGeom prst="rect">
                  <a:avLst/>
                </a:prstGeom>
                <a:noFill/>
                <a:extLst>
                  <a:ext uri="{909E8E84-426E-40dd-AFC4-6F175D3DCCD1}">
                    <a14:hiddenFill xmlns="" xmlns:a14="http://schemas.microsoft.com/office/drawing/2010/main">
                      <a:solidFill>
                        <a:srgbClr val="FFFFFF"/>
                      </a:solidFill>
                    </a14:hiddenFill>
                  </a:ext>
                </a:extLst>
              </p:spPr>
            </p:pic>
            <p:pic>
              <p:nvPicPr>
                <p:cNvPr id="247819" name="Picture 11" descr="tools"/>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52" y="2784"/>
                  <a:ext cx="335" cy="432"/>
                </a:xfrm>
                <a:prstGeom prst="rect">
                  <a:avLst/>
                </a:prstGeom>
                <a:noFill/>
                <a:extLst>
                  <a:ext uri="{909E8E84-426E-40dd-AFC4-6F175D3DCCD1}">
                    <a14:hiddenFill xmlns="" xmlns:a14="http://schemas.microsoft.com/office/drawing/2010/main">
                      <a:solidFill>
                        <a:srgbClr val="FFFFFF"/>
                      </a:solidFill>
                    </a14:hiddenFill>
                  </a:ext>
                </a:extLst>
              </p:spPr>
            </p:pic>
          </p:grpSp>
        </p:grpSp>
        <p:sp>
          <p:nvSpPr>
            <p:cNvPr id="247820" name="Text Box 12"/>
            <p:cNvSpPr txBox="1">
              <a:spLocks noChangeArrowheads="1"/>
            </p:cNvSpPr>
            <p:nvPr/>
          </p:nvSpPr>
          <p:spPr bwMode="auto">
            <a:xfrm>
              <a:off x="599" y="973"/>
              <a:ext cx="992" cy="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zh-CN" altLang="en-US" dirty="0">
                  <a:solidFill>
                    <a:schemeClr val="accent1">
                      <a:lumMod val="50000"/>
                    </a:schemeClr>
                  </a:solidFill>
                  <a:effectLst>
                    <a:outerShdw blurRad="38100" dist="38100" dir="2700000" algn="tl">
                      <a:srgbClr val="DDDDDD"/>
                    </a:outerShdw>
                  </a:effectLst>
                  <a:latin typeface="Microsoft YaHei" panose="020B0503020204020204" pitchFamily="34" charset="-122"/>
                  <a:ea typeface="Microsoft YaHei" panose="020B0503020204020204" pitchFamily="34" charset="-122"/>
                  <a:cs typeface="宋体" charset="0"/>
                </a:rPr>
                <a:t>主体</a:t>
              </a:r>
            </a:p>
          </p:txBody>
        </p:sp>
      </p:grpSp>
      <p:grpSp>
        <p:nvGrpSpPr>
          <p:cNvPr id="247821" name="Group 13"/>
          <p:cNvGrpSpPr>
            <a:grpSpLocks/>
          </p:cNvGrpSpPr>
          <p:nvPr/>
        </p:nvGrpSpPr>
        <p:grpSpPr bwMode="auto">
          <a:xfrm>
            <a:off x="5706290" y="1167596"/>
            <a:ext cx="2203445" cy="2487941"/>
            <a:chOff x="3803" y="992"/>
            <a:chExt cx="1957" cy="2335"/>
          </a:xfrm>
        </p:grpSpPr>
        <p:grpSp>
          <p:nvGrpSpPr>
            <p:cNvPr id="247822" name="Group 14"/>
            <p:cNvGrpSpPr>
              <a:grpSpLocks/>
            </p:cNvGrpSpPr>
            <p:nvPr/>
          </p:nvGrpSpPr>
          <p:grpSpPr bwMode="auto">
            <a:xfrm>
              <a:off x="3803" y="1370"/>
              <a:ext cx="1957" cy="1957"/>
              <a:chOff x="3803" y="1370"/>
              <a:chExt cx="1957" cy="1957"/>
            </a:xfrm>
          </p:grpSpPr>
          <p:pic>
            <p:nvPicPr>
              <p:cNvPr id="247823" name="Picture 15" descr="GEL-Circle-sand"/>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03" y="1370"/>
                <a:ext cx="1957" cy="1957"/>
              </a:xfrm>
              <a:prstGeom prst="rect">
                <a:avLst/>
              </a:prstGeom>
              <a:noFill/>
              <a:extLst>
                <a:ext uri="{909E8E84-426E-40dd-AFC4-6F175D3DCCD1}">
                  <a14:hiddenFill xmlns="" xmlns:a14="http://schemas.microsoft.com/office/drawing/2010/main">
                    <a:solidFill>
                      <a:srgbClr val="FFFFFF"/>
                    </a:solidFill>
                  </a14:hiddenFill>
                </a:ext>
              </a:extLst>
            </p:spPr>
          </p:pic>
          <p:grpSp>
            <p:nvGrpSpPr>
              <p:cNvPr id="247824" name="Group 16"/>
              <p:cNvGrpSpPr>
                <a:grpSpLocks/>
              </p:cNvGrpSpPr>
              <p:nvPr/>
            </p:nvGrpSpPr>
            <p:grpSpPr bwMode="auto">
              <a:xfrm>
                <a:off x="4324" y="1867"/>
                <a:ext cx="912" cy="627"/>
                <a:chOff x="3112" y="1881"/>
                <a:chExt cx="912" cy="627"/>
              </a:xfrm>
            </p:grpSpPr>
            <p:pic>
              <p:nvPicPr>
                <p:cNvPr id="247825" name="Picture 17" descr="generic-app"/>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52" y="2231"/>
                  <a:ext cx="167" cy="190"/>
                </a:xfrm>
                <a:prstGeom prst="rect">
                  <a:avLst/>
                </a:prstGeom>
                <a:noFill/>
                <a:extLst>
                  <a:ext uri="{909E8E84-426E-40dd-AFC4-6F175D3DCCD1}">
                    <a14:hiddenFill xmlns="" xmlns:a14="http://schemas.microsoft.com/office/drawing/2010/main">
                      <a:solidFill>
                        <a:srgbClr val="FFFFFF"/>
                      </a:solidFill>
                    </a14:hiddenFill>
                  </a:ext>
                </a:extLst>
              </p:spPr>
            </p:pic>
            <p:pic>
              <p:nvPicPr>
                <p:cNvPr id="247826" name="Picture 18" descr="code"/>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12" y="1979"/>
                  <a:ext cx="121" cy="172"/>
                </a:xfrm>
                <a:prstGeom prst="rect">
                  <a:avLst/>
                </a:prstGeom>
                <a:noFill/>
                <a:extLst>
                  <a:ext uri="{909E8E84-426E-40dd-AFC4-6F175D3DCCD1}">
                    <a14:hiddenFill xmlns="" xmlns:a14="http://schemas.microsoft.com/office/drawing/2010/main">
                      <a:solidFill>
                        <a:srgbClr val="FFFFFF"/>
                      </a:solidFill>
                    </a14:hiddenFill>
                  </a:ext>
                </a:extLst>
              </p:spPr>
            </p:pic>
            <p:pic>
              <p:nvPicPr>
                <p:cNvPr id="247827" name="Picture 19" descr="BizTalk1"/>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06" y="1958"/>
                  <a:ext cx="175" cy="196"/>
                </a:xfrm>
                <a:prstGeom prst="rect">
                  <a:avLst/>
                </a:prstGeom>
                <a:noFill/>
                <a:extLst>
                  <a:ext uri="{909E8E84-426E-40dd-AFC4-6F175D3DCCD1}">
                    <a14:hiddenFill xmlns="" xmlns:a14="http://schemas.microsoft.com/office/drawing/2010/main">
                      <a:solidFill>
                        <a:srgbClr val="FFFFFF"/>
                      </a:solidFill>
                    </a14:hiddenFill>
                  </a:ext>
                </a:extLst>
              </p:spPr>
            </p:pic>
            <p:pic>
              <p:nvPicPr>
                <p:cNvPr id="247828" name="Picture 20" descr="BizTalk2"/>
                <p:cNvPicPr>
                  <a:picLocks noChangeAspect="1" noChangeArrowheads="1"/>
                </p:cNvPicPr>
                <p:nvPr/>
              </p:nvPicPr>
              <p:blipFill>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643" y="2216"/>
                  <a:ext cx="182" cy="204"/>
                </a:xfrm>
                <a:prstGeom prst="rect">
                  <a:avLst/>
                </a:prstGeom>
                <a:noFill/>
                <a:extLst>
                  <a:ext uri="{909E8E84-426E-40dd-AFC4-6F175D3DCCD1}">
                    <a14:hiddenFill xmlns="" xmlns:a14="http://schemas.microsoft.com/office/drawing/2010/main">
                      <a:solidFill>
                        <a:srgbClr val="FFFFFF"/>
                      </a:solidFill>
                    </a14:hiddenFill>
                  </a:ext>
                </a:extLst>
              </p:spPr>
            </p:pic>
            <p:pic>
              <p:nvPicPr>
                <p:cNvPr id="247829" name="Picture 21" descr="GEL-honeycomb-MS-re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05" y="1881"/>
                  <a:ext cx="323" cy="368"/>
                </a:xfrm>
                <a:prstGeom prst="rect">
                  <a:avLst/>
                </a:prstGeom>
                <a:noFill/>
                <a:extLst>
                  <a:ext uri="{909E8E84-426E-40dd-AFC4-6F175D3DCCD1}">
                    <a14:hiddenFill xmlns="" xmlns:a14="http://schemas.microsoft.com/office/drawing/2010/main">
                      <a:solidFill>
                        <a:srgbClr val="FFFFFF"/>
                      </a:solidFill>
                    </a14:hiddenFill>
                  </a:ext>
                </a:extLst>
              </p:spPr>
            </p:pic>
            <p:pic>
              <p:nvPicPr>
                <p:cNvPr id="247830" name="Picture 22" descr="GEL-honeycomb-amethyst"/>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76" y="2150"/>
                  <a:ext cx="301" cy="342"/>
                </a:xfrm>
                <a:prstGeom prst="rect">
                  <a:avLst/>
                </a:prstGeom>
                <a:noFill/>
                <a:extLst>
                  <a:ext uri="{909E8E84-426E-40dd-AFC4-6F175D3DCCD1}">
                    <a14:hiddenFill xmlns="" xmlns:a14="http://schemas.microsoft.com/office/drawing/2010/main">
                      <a:solidFill>
                        <a:srgbClr val="FFFFFF"/>
                      </a:solidFill>
                    </a14:hiddenFill>
                  </a:ext>
                </a:extLst>
              </p:spPr>
            </p:pic>
            <p:pic>
              <p:nvPicPr>
                <p:cNvPr id="247831" name="Picture 23" descr="GEL-honeycomb-fuchsia"/>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57" y="2150"/>
                  <a:ext cx="314" cy="358"/>
                </a:xfrm>
                <a:prstGeom prst="rect">
                  <a:avLst/>
                </a:prstGeom>
                <a:noFill/>
                <a:extLst>
                  <a:ext uri="{909E8E84-426E-40dd-AFC4-6F175D3DCCD1}">
                    <a14:hiddenFill xmlns="" xmlns:a14="http://schemas.microsoft.com/office/drawing/2010/main">
                      <a:solidFill>
                        <a:srgbClr val="FFFFFF"/>
                      </a:solidFill>
                    </a14:hiddenFill>
                  </a:ext>
                </a:extLst>
              </p:spPr>
            </p:pic>
            <p:pic>
              <p:nvPicPr>
                <p:cNvPr id="247832" name="Picture 24" descr="GEL-honeycomb-MS-green"/>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12" y="1881"/>
                  <a:ext cx="314" cy="358"/>
                </a:xfrm>
                <a:prstGeom prst="rect">
                  <a:avLst/>
                </a:prstGeom>
                <a:noFill/>
                <a:extLst>
                  <a:ext uri="{909E8E84-426E-40dd-AFC4-6F175D3DCCD1}">
                    <a14:hiddenFill xmlns="" xmlns:a14="http://schemas.microsoft.com/office/drawing/2010/main">
                      <a:solidFill>
                        <a:srgbClr val="FFFFFF"/>
                      </a:solidFill>
                    </a14:hiddenFill>
                  </a:ext>
                </a:extLst>
              </p:spPr>
            </p:pic>
            <p:pic>
              <p:nvPicPr>
                <p:cNvPr id="247833" name="Picture 25" descr="GEL-honeycomb-cobalt"/>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16" y="1881"/>
                  <a:ext cx="308" cy="352"/>
                </a:xfrm>
                <a:prstGeom prst="rect">
                  <a:avLst/>
                </a:prstGeom>
                <a:noFill/>
                <a:extLst>
                  <a:ext uri="{909E8E84-426E-40dd-AFC4-6F175D3DCCD1}">
                    <a14:hiddenFill xmlns="" xmlns:a14="http://schemas.microsoft.com/office/drawing/2010/main">
                      <a:solidFill>
                        <a:srgbClr val="FFFFFF"/>
                      </a:solidFill>
                    </a14:hiddenFill>
                  </a:ext>
                </a:extLst>
              </p:spPr>
            </p:pic>
            <p:pic>
              <p:nvPicPr>
                <p:cNvPr id="247834" name="Picture 26" descr="databases"/>
                <p:cNvPicPr>
                  <a:picLocks noChangeAspect="1" noChangeArrowheads="1"/>
                </p:cNvPicPr>
                <p:nvPr/>
              </p:nvPicPr>
              <p:blipFill>
                <a:blip r:embed="rId1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777" y="1983"/>
                  <a:ext cx="228" cy="1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247835" name="Text Box 27"/>
              <p:cNvSpPr txBox="1">
                <a:spLocks noChangeArrowheads="1"/>
              </p:cNvSpPr>
              <p:nvPr/>
            </p:nvSpPr>
            <p:spPr bwMode="auto">
              <a:xfrm>
                <a:off x="4080" y="2602"/>
                <a:ext cx="1516" cy="60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zh-CN" altLang="en-US" dirty="0">
                    <a:solidFill>
                      <a:srgbClr val="000000"/>
                    </a:solidFill>
                    <a:effectLst>
                      <a:outerShdw blurRad="38100" dist="38100" dir="2700000" algn="tl">
                        <a:srgbClr val="DDDDDD"/>
                      </a:outerShdw>
                    </a:effectLst>
                    <a:latin typeface="Microsoft YaHei" panose="020B0503020204020204" pitchFamily="34" charset="-122"/>
                    <a:ea typeface="Microsoft YaHei" panose="020B0503020204020204" pitchFamily="34" charset="-122"/>
                    <a:cs typeface="宋体" charset="0"/>
                  </a:rPr>
                  <a:t>被动文件、</a:t>
                </a:r>
                <a:endParaRPr lang="en-US" altLang="zh-CN" dirty="0">
                  <a:solidFill>
                    <a:srgbClr val="000000"/>
                  </a:solidFill>
                  <a:effectLst>
                    <a:outerShdw blurRad="38100" dist="38100" dir="2700000" algn="tl">
                      <a:srgbClr val="DDDDDD"/>
                    </a:outerShdw>
                  </a:effectLst>
                  <a:latin typeface="Microsoft YaHei" panose="020B0503020204020204" pitchFamily="34" charset="-122"/>
                  <a:ea typeface="Microsoft YaHei" panose="020B0503020204020204" pitchFamily="34" charset="-122"/>
                  <a:cs typeface="宋体" charset="0"/>
                </a:endParaRPr>
              </a:p>
              <a:p>
                <a:pPr algn="ctr"/>
                <a:r>
                  <a:rPr lang="zh-CN" altLang="en-US" dirty="0">
                    <a:solidFill>
                      <a:srgbClr val="000000"/>
                    </a:solidFill>
                    <a:effectLst>
                      <a:outerShdw blurRad="38100" dist="38100" dir="2700000" algn="tl">
                        <a:srgbClr val="DDDDDD"/>
                      </a:outerShdw>
                    </a:effectLst>
                    <a:latin typeface="Microsoft YaHei" panose="020B0503020204020204" pitchFamily="34" charset="-122"/>
                    <a:ea typeface="Microsoft YaHei" panose="020B0503020204020204" pitchFamily="34" charset="-122"/>
                    <a:cs typeface="宋体" charset="0"/>
                  </a:rPr>
                  <a:t>存储设备</a:t>
                </a:r>
              </a:p>
            </p:txBody>
          </p:sp>
        </p:grpSp>
        <p:sp>
          <p:nvSpPr>
            <p:cNvPr id="247836" name="Text Box 28"/>
            <p:cNvSpPr txBox="1">
              <a:spLocks noChangeArrowheads="1"/>
            </p:cNvSpPr>
            <p:nvPr/>
          </p:nvSpPr>
          <p:spPr bwMode="auto">
            <a:xfrm>
              <a:off x="4292" y="992"/>
              <a:ext cx="992" cy="34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zh-CN" altLang="en-US" dirty="0">
                  <a:solidFill>
                    <a:srgbClr val="3C8C93"/>
                  </a:solidFill>
                  <a:effectLst>
                    <a:outerShdw blurRad="38100" dist="38100" dir="2700000" algn="tl">
                      <a:srgbClr val="DDDDDD"/>
                    </a:outerShdw>
                  </a:effectLst>
                  <a:latin typeface="Microsoft YaHei" panose="020B0503020204020204" pitchFamily="34" charset="-122"/>
                  <a:ea typeface="Microsoft YaHei" panose="020B0503020204020204" pitchFamily="34" charset="-122"/>
                  <a:cs typeface="宋体" charset="0"/>
                </a:rPr>
                <a:t>客体</a:t>
              </a:r>
            </a:p>
          </p:txBody>
        </p:sp>
      </p:grpSp>
      <p:grpSp>
        <p:nvGrpSpPr>
          <p:cNvPr id="247837" name="Group 29"/>
          <p:cNvGrpSpPr>
            <a:grpSpLocks/>
          </p:cNvGrpSpPr>
          <p:nvPr/>
        </p:nvGrpSpPr>
        <p:grpSpPr bwMode="auto">
          <a:xfrm>
            <a:off x="2463904" y="2195775"/>
            <a:ext cx="3372006" cy="1073944"/>
            <a:chOff x="1689" y="3037"/>
            <a:chExt cx="2518" cy="902"/>
          </a:xfrm>
        </p:grpSpPr>
        <p:pic>
          <p:nvPicPr>
            <p:cNvPr id="247838" name="Picture 30" descr="large gold skewed arrow"/>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689" y="3037"/>
              <a:ext cx="2518" cy="902"/>
            </a:xfrm>
            <a:prstGeom prst="rect">
              <a:avLst/>
            </a:prstGeom>
            <a:noFill/>
            <a:extLst>
              <a:ext uri="{909E8E84-426E-40dd-AFC4-6F175D3DCCD1}">
                <a14:hiddenFill xmlns="" xmlns:a14="http://schemas.microsoft.com/office/drawing/2010/main">
                  <a:solidFill>
                    <a:srgbClr val="FFFFFF"/>
                  </a:solidFill>
                </a14:hiddenFill>
              </a:ext>
            </a:extLst>
          </p:spPr>
        </p:pic>
        <p:sp>
          <p:nvSpPr>
            <p:cNvPr id="247839" name="Text Box 31"/>
            <p:cNvSpPr txBox="1">
              <a:spLocks noChangeArrowheads="1"/>
            </p:cNvSpPr>
            <p:nvPr/>
          </p:nvSpPr>
          <p:spPr bwMode="gray">
            <a:xfrm>
              <a:off x="2589" y="3339"/>
              <a:ext cx="1396" cy="259"/>
            </a:xfrm>
            <a:prstGeom prst="rect">
              <a:avLst/>
            </a:prstGeom>
            <a:noFill/>
            <a:ln>
              <a:noFill/>
            </a:ln>
            <a:effectLst/>
            <a:extLst>
              <a:ext uri="{909E8E84-426E-40dd-AFC4-6F175D3DCCD1}">
                <a14:hiddenFill xmlns="" xmlns:a14="http://schemas.microsoft.com/office/drawing/2010/main">
                  <a:solidFill>
                    <a:schemeClr val="tx1">
                      <a:alpha val="50000"/>
                    </a:schemeClr>
                  </a:solidFill>
                </a14:hiddenFill>
              </a:ext>
              <a:ext uri="{91240B29-F687-4f45-9708-019B960494DF}">
                <a14:hiddenLine xmlns="" xmlns:a14="http://schemas.microsoft.com/office/drawing/2010/main" w="127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spcBef>
                  <a:spcPct val="50000"/>
                </a:spcBef>
              </a:pPr>
              <a:r>
                <a:rPr lang="zh-CN" altLang="en-US" sz="1400" dirty="0">
                  <a:latin typeface="Microsoft YaHei" panose="020B0503020204020204" pitchFamily="34" charset="-122"/>
                  <a:ea typeface="Microsoft YaHei" panose="020B0503020204020204" pitchFamily="34" charset="-122"/>
                </a:rPr>
                <a:t>访问：读、写、执行</a:t>
              </a:r>
            </a:p>
          </p:txBody>
        </p:sp>
      </p:grpSp>
      <p:sp>
        <p:nvSpPr>
          <p:cNvPr id="247840" name="Freeform 32"/>
          <p:cNvSpPr>
            <a:spLocks/>
          </p:cNvSpPr>
          <p:nvPr/>
        </p:nvSpPr>
        <p:spPr bwMode="gray">
          <a:xfrm rot="703981" flipV="1">
            <a:off x="4749902" y="1919549"/>
            <a:ext cx="1277303" cy="478632"/>
          </a:xfrm>
          <a:custGeom>
            <a:avLst/>
            <a:gdLst>
              <a:gd name="T0" fmla="*/ 1405 w 1717"/>
              <a:gd name="T1" fmla="*/ 102 h 484"/>
              <a:gd name="T2" fmla="*/ 1540 w 1717"/>
              <a:gd name="T3" fmla="*/ 395 h 484"/>
              <a:gd name="T4" fmla="*/ 1472 w 1717"/>
              <a:gd name="T5" fmla="*/ 369 h 484"/>
              <a:gd name="T6" fmla="*/ 1373 w 1717"/>
              <a:gd name="T7" fmla="*/ 403 h 484"/>
              <a:gd name="T8" fmla="*/ 1274 w 1717"/>
              <a:gd name="T9" fmla="*/ 433 h 484"/>
              <a:gd name="T10" fmla="*/ 1160 w 1717"/>
              <a:gd name="T11" fmla="*/ 458 h 484"/>
              <a:gd name="T12" fmla="*/ 1062 w 1717"/>
              <a:gd name="T13" fmla="*/ 472 h 484"/>
              <a:gd name="T14" fmla="*/ 968 w 1717"/>
              <a:gd name="T15" fmla="*/ 479 h 484"/>
              <a:gd name="T16" fmla="*/ 872 w 1717"/>
              <a:gd name="T17" fmla="*/ 479 h 484"/>
              <a:gd name="T18" fmla="*/ 766 w 1717"/>
              <a:gd name="T19" fmla="*/ 468 h 484"/>
              <a:gd name="T20" fmla="*/ 634 w 1717"/>
              <a:gd name="T21" fmla="*/ 439 h 484"/>
              <a:gd name="T22" fmla="*/ 524 w 1717"/>
              <a:gd name="T23" fmla="*/ 407 h 484"/>
              <a:gd name="T24" fmla="*/ 435 w 1717"/>
              <a:gd name="T25" fmla="*/ 373 h 484"/>
              <a:gd name="T26" fmla="*/ 344 w 1717"/>
              <a:gd name="T27" fmla="*/ 326 h 484"/>
              <a:gd name="T28" fmla="*/ 242 w 1717"/>
              <a:gd name="T29" fmla="*/ 256 h 484"/>
              <a:gd name="T30" fmla="*/ 157 w 1717"/>
              <a:gd name="T31" fmla="*/ 186 h 484"/>
              <a:gd name="T32" fmla="*/ 102 w 1717"/>
              <a:gd name="T33" fmla="*/ 132 h 484"/>
              <a:gd name="T34" fmla="*/ 0 w 1717"/>
              <a:gd name="T35" fmla="*/ 0 h 484"/>
              <a:gd name="T36" fmla="*/ 135 w 1717"/>
              <a:gd name="T37" fmla="*/ 124 h 484"/>
              <a:gd name="T38" fmla="*/ 219 w 1717"/>
              <a:gd name="T39" fmla="*/ 186 h 484"/>
              <a:gd name="T40" fmla="*/ 307 w 1717"/>
              <a:gd name="T41" fmla="*/ 231 h 484"/>
              <a:gd name="T42" fmla="*/ 395 w 1717"/>
              <a:gd name="T43" fmla="*/ 267 h 484"/>
              <a:gd name="T44" fmla="*/ 487 w 1717"/>
              <a:gd name="T45" fmla="*/ 293 h 484"/>
              <a:gd name="T46" fmla="*/ 571 w 1717"/>
              <a:gd name="T47" fmla="*/ 309 h 484"/>
              <a:gd name="T48" fmla="*/ 673 w 1717"/>
              <a:gd name="T49" fmla="*/ 318 h 484"/>
              <a:gd name="T50" fmla="*/ 766 w 1717"/>
              <a:gd name="T51" fmla="*/ 318 h 484"/>
              <a:gd name="T52" fmla="*/ 890 w 1717"/>
              <a:gd name="T53" fmla="*/ 311 h 484"/>
              <a:gd name="T54" fmla="*/ 1000 w 1717"/>
              <a:gd name="T55" fmla="*/ 296 h 484"/>
              <a:gd name="T56" fmla="*/ 1106 w 1717"/>
              <a:gd name="T57" fmla="*/ 274 h 484"/>
              <a:gd name="T58" fmla="*/ 1212 w 1717"/>
              <a:gd name="T59" fmla="*/ 245 h 484"/>
              <a:gd name="T60" fmla="*/ 1318 w 1717"/>
              <a:gd name="T61" fmla="*/ 209 h 484"/>
              <a:gd name="T62" fmla="*/ 1427 w 1717"/>
              <a:gd name="T63" fmla="*/ 15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17" h="484">
                <a:moveTo>
                  <a:pt x="1427" y="153"/>
                </a:moveTo>
                <a:lnTo>
                  <a:pt x="1405" y="102"/>
                </a:lnTo>
                <a:lnTo>
                  <a:pt x="1716" y="132"/>
                </a:lnTo>
                <a:lnTo>
                  <a:pt x="1540" y="395"/>
                </a:lnTo>
                <a:lnTo>
                  <a:pt x="1519" y="344"/>
                </a:lnTo>
                <a:lnTo>
                  <a:pt x="1472" y="369"/>
                </a:lnTo>
                <a:lnTo>
                  <a:pt x="1413" y="391"/>
                </a:lnTo>
                <a:lnTo>
                  <a:pt x="1373" y="403"/>
                </a:lnTo>
                <a:lnTo>
                  <a:pt x="1328" y="418"/>
                </a:lnTo>
                <a:lnTo>
                  <a:pt x="1274" y="433"/>
                </a:lnTo>
                <a:lnTo>
                  <a:pt x="1219" y="447"/>
                </a:lnTo>
                <a:lnTo>
                  <a:pt x="1160" y="458"/>
                </a:lnTo>
                <a:lnTo>
                  <a:pt x="1117" y="464"/>
                </a:lnTo>
                <a:lnTo>
                  <a:pt x="1062" y="472"/>
                </a:lnTo>
                <a:lnTo>
                  <a:pt x="1007" y="479"/>
                </a:lnTo>
                <a:lnTo>
                  <a:pt x="968" y="479"/>
                </a:lnTo>
                <a:lnTo>
                  <a:pt x="916" y="483"/>
                </a:lnTo>
                <a:lnTo>
                  <a:pt x="872" y="479"/>
                </a:lnTo>
                <a:lnTo>
                  <a:pt x="817" y="475"/>
                </a:lnTo>
                <a:lnTo>
                  <a:pt x="766" y="468"/>
                </a:lnTo>
                <a:lnTo>
                  <a:pt x="701" y="453"/>
                </a:lnTo>
                <a:lnTo>
                  <a:pt x="634" y="439"/>
                </a:lnTo>
                <a:lnTo>
                  <a:pt x="576" y="424"/>
                </a:lnTo>
                <a:lnTo>
                  <a:pt x="524" y="407"/>
                </a:lnTo>
                <a:lnTo>
                  <a:pt x="476" y="391"/>
                </a:lnTo>
                <a:lnTo>
                  <a:pt x="435" y="373"/>
                </a:lnTo>
                <a:lnTo>
                  <a:pt x="384" y="349"/>
                </a:lnTo>
                <a:lnTo>
                  <a:pt x="344" y="326"/>
                </a:lnTo>
                <a:lnTo>
                  <a:pt x="293" y="293"/>
                </a:lnTo>
                <a:lnTo>
                  <a:pt x="242" y="256"/>
                </a:lnTo>
                <a:lnTo>
                  <a:pt x="205" y="226"/>
                </a:lnTo>
                <a:lnTo>
                  <a:pt x="157" y="186"/>
                </a:lnTo>
                <a:lnTo>
                  <a:pt x="124" y="158"/>
                </a:lnTo>
                <a:lnTo>
                  <a:pt x="102" y="132"/>
                </a:lnTo>
                <a:lnTo>
                  <a:pt x="62" y="88"/>
                </a:lnTo>
                <a:lnTo>
                  <a:pt x="0" y="0"/>
                </a:lnTo>
                <a:lnTo>
                  <a:pt x="91" y="88"/>
                </a:lnTo>
                <a:lnTo>
                  <a:pt x="135" y="124"/>
                </a:lnTo>
                <a:lnTo>
                  <a:pt x="175" y="158"/>
                </a:lnTo>
                <a:lnTo>
                  <a:pt x="219" y="186"/>
                </a:lnTo>
                <a:lnTo>
                  <a:pt x="263" y="209"/>
                </a:lnTo>
                <a:lnTo>
                  <a:pt x="307" y="231"/>
                </a:lnTo>
                <a:lnTo>
                  <a:pt x="355" y="253"/>
                </a:lnTo>
                <a:lnTo>
                  <a:pt x="395" y="267"/>
                </a:lnTo>
                <a:lnTo>
                  <a:pt x="439" y="282"/>
                </a:lnTo>
                <a:lnTo>
                  <a:pt x="487" y="293"/>
                </a:lnTo>
                <a:lnTo>
                  <a:pt x="534" y="301"/>
                </a:lnTo>
                <a:lnTo>
                  <a:pt x="571" y="309"/>
                </a:lnTo>
                <a:lnTo>
                  <a:pt x="622" y="312"/>
                </a:lnTo>
                <a:lnTo>
                  <a:pt x="673" y="318"/>
                </a:lnTo>
                <a:lnTo>
                  <a:pt x="718" y="318"/>
                </a:lnTo>
                <a:lnTo>
                  <a:pt x="766" y="318"/>
                </a:lnTo>
                <a:lnTo>
                  <a:pt x="828" y="318"/>
                </a:lnTo>
                <a:lnTo>
                  <a:pt x="890" y="311"/>
                </a:lnTo>
                <a:lnTo>
                  <a:pt x="949" y="304"/>
                </a:lnTo>
                <a:lnTo>
                  <a:pt x="1000" y="296"/>
                </a:lnTo>
                <a:lnTo>
                  <a:pt x="1058" y="285"/>
                </a:lnTo>
                <a:lnTo>
                  <a:pt x="1106" y="274"/>
                </a:lnTo>
                <a:lnTo>
                  <a:pt x="1156" y="260"/>
                </a:lnTo>
                <a:lnTo>
                  <a:pt x="1212" y="245"/>
                </a:lnTo>
                <a:lnTo>
                  <a:pt x="1259" y="231"/>
                </a:lnTo>
                <a:lnTo>
                  <a:pt x="1318" y="209"/>
                </a:lnTo>
                <a:lnTo>
                  <a:pt x="1362" y="190"/>
                </a:lnTo>
                <a:lnTo>
                  <a:pt x="1427" y="153"/>
                </a:lnTo>
              </a:path>
            </a:pathLst>
          </a:custGeom>
          <a:solidFill>
            <a:srgbClr val="99CC00"/>
          </a:solidFill>
          <a:ln>
            <a:noFill/>
          </a:ln>
          <a:effectLst/>
          <a:extLst>
            <a:ext uri="{91240B29-F687-4f45-9708-019B960494DF}">
              <a14:hiddenLine xmlns="" xmlns:a14="http://schemas.microsoft.com/office/drawing/2010/main" w="12700" cap="rnd" cmpd="sng">
                <a:solidFill>
                  <a:srgbClr val="000000"/>
                </a:solidFill>
                <a:prstDash val="solid"/>
                <a:round/>
                <a:headEnd type="none" w="med" len="med"/>
                <a:tailEnd type="none" w="med" len="me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latin typeface="Microsoft YaHei" panose="020B0503020204020204" pitchFamily="34" charset="-122"/>
              <a:ea typeface="Microsoft YaHei" panose="020B0503020204020204" pitchFamily="34" charset="-122"/>
            </a:endParaRPr>
          </a:p>
        </p:txBody>
      </p:sp>
      <p:sp>
        <p:nvSpPr>
          <p:cNvPr id="247841" name="Freeform 33"/>
          <p:cNvSpPr>
            <a:spLocks/>
          </p:cNvSpPr>
          <p:nvPr/>
        </p:nvSpPr>
        <p:spPr bwMode="gray">
          <a:xfrm rot="383985" flipH="1">
            <a:off x="2848237" y="3170894"/>
            <a:ext cx="1180148" cy="527447"/>
          </a:xfrm>
          <a:custGeom>
            <a:avLst/>
            <a:gdLst>
              <a:gd name="T0" fmla="*/ 1405 w 1717"/>
              <a:gd name="T1" fmla="*/ 102 h 484"/>
              <a:gd name="T2" fmla="*/ 1540 w 1717"/>
              <a:gd name="T3" fmla="*/ 395 h 484"/>
              <a:gd name="T4" fmla="*/ 1472 w 1717"/>
              <a:gd name="T5" fmla="*/ 369 h 484"/>
              <a:gd name="T6" fmla="*/ 1373 w 1717"/>
              <a:gd name="T7" fmla="*/ 403 h 484"/>
              <a:gd name="T8" fmla="*/ 1274 w 1717"/>
              <a:gd name="T9" fmla="*/ 433 h 484"/>
              <a:gd name="T10" fmla="*/ 1160 w 1717"/>
              <a:gd name="T11" fmla="*/ 458 h 484"/>
              <a:gd name="T12" fmla="*/ 1062 w 1717"/>
              <a:gd name="T13" fmla="*/ 472 h 484"/>
              <a:gd name="T14" fmla="*/ 968 w 1717"/>
              <a:gd name="T15" fmla="*/ 479 h 484"/>
              <a:gd name="T16" fmla="*/ 872 w 1717"/>
              <a:gd name="T17" fmla="*/ 479 h 484"/>
              <a:gd name="T18" fmla="*/ 766 w 1717"/>
              <a:gd name="T19" fmla="*/ 468 h 484"/>
              <a:gd name="T20" fmla="*/ 634 w 1717"/>
              <a:gd name="T21" fmla="*/ 439 h 484"/>
              <a:gd name="T22" fmla="*/ 524 w 1717"/>
              <a:gd name="T23" fmla="*/ 407 h 484"/>
              <a:gd name="T24" fmla="*/ 435 w 1717"/>
              <a:gd name="T25" fmla="*/ 373 h 484"/>
              <a:gd name="T26" fmla="*/ 344 w 1717"/>
              <a:gd name="T27" fmla="*/ 326 h 484"/>
              <a:gd name="T28" fmla="*/ 242 w 1717"/>
              <a:gd name="T29" fmla="*/ 256 h 484"/>
              <a:gd name="T30" fmla="*/ 157 w 1717"/>
              <a:gd name="T31" fmla="*/ 186 h 484"/>
              <a:gd name="T32" fmla="*/ 102 w 1717"/>
              <a:gd name="T33" fmla="*/ 132 h 484"/>
              <a:gd name="T34" fmla="*/ 0 w 1717"/>
              <a:gd name="T35" fmla="*/ 0 h 484"/>
              <a:gd name="T36" fmla="*/ 135 w 1717"/>
              <a:gd name="T37" fmla="*/ 124 h 484"/>
              <a:gd name="T38" fmla="*/ 219 w 1717"/>
              <a:gd name="T39" fmla="*/ 186 h 484"/>
              <a:gd name="T40" fmla="*/ 307 w 1717"/>
              <a:gd name="T41" fmla="*/ 231 h 484"/>
              <a:gd name="T42" fmla="*/ 395 w 1717"/>
              <a:gd name="T43" fmla="*/ 267 h 484"/>
              <a:gd name="T44" fmla="*/ 487 w 1717"/>
              <a:gd name="T45" fmla="*/ 293 h 484"/>
              <a:gd name="T46" fmla="*/ 571 w 1717"/>
              <a:gd name="T47" fmla="*/ 309 h 484"/>
              <a:gd name="T48" fmla="*/ 673 w 1717"/>
              <a:gd name="T49" fmla="*/ 318 h 484"/>
              <a:gd name="T50" fmla="*/ 766 w 1717"/>
              <a:gd name="T51" fmla="*/ 318 h 484"/>
              <a:gd name="T52" fmla="*/ 890 w 1717"/>
              <a:gd name="T53" fmla="*/ 311 h 484"/>
              <a:gd name="T54" fmla="*/ 1000 w 1717"/>
              <a:gd name="T55" fmla="*/ 296 h 484"/>
              <a:gd name="T56" fmla="*/ 1106 w 1717"/>
              <a:gd name="T57" fmla="*/ 274 h 484"/>
              <a:gd name="T58" fmla="*/ 1212 w 1717"/>
              <a:gd name="T59" fmla="*/ 245 h 484"/>
              <a:gd name="T60" fmla="*/ 1318 w 1717"/>
              <a:gd name="T61" fmla="*/ 209 h 484"/>
              <a:gd name="T62" fmla="*/ 1427 w 1717"/>
              <a:gd name="T63" fmla="*/ 15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717" h="484">
                <a:moveTo>
                  <a:pt x="1427" y="153"/>
                </a:moveTo>
                <a:lnTo>
                  <a:pt x="1405" y="102"/>
                </a:lnTo>
                <a:lnTo>
                  <a:pt x="1716" y="132"/>
                </a:lnTo>
                <a:lnTo>
                  <a:pt x="1540" y="395"/>
                </a:lnTo>
                <a:lnTo>
                  <a:pt x="1519" y="344"/>
                </a:lnTo>
                <a:lnTo>
                  <a:pt x="1472" y="369"/>
                </a:lnTo>
                <a:lnTo>
                  <a:pt x="1413" y="391"/>
                </a:lnTo>
                <a:lnTo>
                  <a:pt x="1373" y="403"/>
                </a:lnTo>
                <a:lnTo>
                  <a:pt x="1328" y="418"/>
                </a:lnTo>
                <a:lnTo>
                  <a:pt x="1274" y="433"/>
                </a:lnTo>
                <a:lnTo>
                  <a:pt x="1219" y="447"/>
                </a:lnTo>
                <a:lnTo>
                  <a:pt x="1160" y="458"/>
                </a:lnTo>
                <a:lnTo>
                  <a:pt x="1117" y="464"/>
                </a:lnTo>
                <a:lnTo>
                  <a:pt x="1062" y="472"/>
                </a:lnTo>
                <a:lnTo>
                  <a:pt x="1007" y="479"/>
                </a:lnTo>
                <a:lnTo>
                  <a:pt x="968" y="479"/>
                </a:lnTo>
                <a:lnTo>
                  <a:pt x="916" y="483"/>
                </a:lnTo>
                <a:lnTo>
                  <a:pt x="872" y="479"/>
                </a:lnTo>
                <a:lnTo>
                  <a:pt x="817" y="475"/>
                </a:lnTo>
                <a:lnTo>
                  <a:pt x="766" y="468"/>
                </a:lnTo>
                <a:lnTo>
                  <a:pt x="701" y="453"/>
                </a:lnTo>
                <a:lnTo>
                  <a:pt x="634" y="439"/>
                </a:lnTo>
                <a:lnTo>
                  <a:pt x="576" y="424"/>
                </a:lnTo>
                <a:lnTo>
                  <a:pt x="524" y="407"/>
                </a:lnTo>
                <a:lnTo>
                  <a:pt x="476" y="391"/>
                </a:lnTo>
                <a:lnTo>
                  <a:pt x="435" y="373"/>
                </a:lnTo>
                <a:lnTo>
                  <a:pt x="384" y="349"/>
                </a:lnTo>
                <a:lnTo>
                  <a:pt x="344" y="326"/>
                </a:lnTo>
                <a:lnTo>
                  <a:pt x="293" y="293"/>
                </a:lnTo>
                <a:lnTo>
                  <a:pt x="242" y="256"/>
                </a:lnTo>
                <a:lnTo>
                  <a:pt x="205" y="226"/>
                </a:lnTo>
                <a:lnTo>
                  <a:pt x="157" y="186"/>
                </a:lnTo>
                <a:lnTo>
                  <a:pt x="124" y="158"/>
                </a:lnTo>
                <a:lnTo>
                  <a:pt x="102" y="132"/>
                </a:lnTo>
                <a:lnTo>
                  <a:pt x="62" y="88"/>
                </a:lnTo>
                <a:lnTo>
                  <a:pt x="0" y="0"/>
                </a:lnTo>
                <a:lnTo>
                  <a:pt x="91" y="88"/>
                </a:lnTo>
                <a:lnTo>
                  <a:pt x="135" y="124"/>
                </a:lnTo>
                <a:lnTo>
                  <a:pt x="175" y="158"/>
                </a:lnTo>
                <a:lnTo>
                  <a:pt x="219" y="186"/>
                </a:lnTo>
                <a:lnTo>
                  <a:pt x="263" y="209"/>
                </a:lnTo>
                <a:lnTo>
                  <a:pt x="307" y="231"/>
                </a:lnTo>
                <a:lnTo>
                  <a:pt x="355" y="253"/>
                </a:lnTo>
                <a:lnTo>
                  <a:pt x="395" y="267"/>
                </a:lnTo>
                <a:lnTo>
                  <a:pt x="439" y="282"/>
                </a:lnTo>
                <a:lnTo>
                  <a:pt x="487" y="293"/>
                </a:lnTo>
                <a:lnTo>
                  <a:pt x="534" y="301"/>
                </a:lnTo>
                <a:lnTo>
                  <a:pt x="571" y="309"/>
                </a:lnTo>
                <a:lnTo>
                  <a:pt x="622" y="312"/>
                </a:lnTo>
                <a:lnTo>
                  <a:pt x="673" y="318"/>
                </a:lnTo>
                <a:lnTo>
                  <a:pt x="718" y="318"/>
                </a:lnTo>
                <a:lnTo>
                  <a:pt x="766" y="318"/>
                </a:lnTo>
                <a:lnTo>
                  <a:pt x="828" y="318"/>
                </a:lnTo>
                <a:lnTo>
                  <a:pt x="890" y="311"/>
                </a:lnTo>
                <a:lnTo>
                  <a:pt x="949" y="304"/>
                </a:lnTo>
                <a:lnTo>
                  <a:pt x="1000" y="296"/>
                </a:lnTo>
                <a:lnTo>
                  <a:pt x="1058" y="285"/>
                </a:lnTo>
                <a:lnTo>
                  <a:pt x="1106" y="274"/>
                </a:lnTo>
                <a:lnTo>
                  <a:pt x="1156" y="260"/>
                </a:lnTo>
                <a:lnTo>
                  <a:pt x="1212" y="245"/>
                </a:lnTo>
                <a:lnTo>
                  <a:pt x="1259" y="231"/>
                </a:lnTo>
                <a:lnTo>
                  <a:pt x="1318" y="209"/>
                </a:lnTo>
                <a:lnTo>
                  <a:pt x="1362" y="190"/>
                </a:lnTo>
                <a:lnTo>
                  <a:pt x="1427" y="153"/>
                </a:lnTo>
              </a:path>
            </a:pathLst>
          </a:custGeom>
          <a:solidFill>
            <a:srgbClr val="FF0000"/>
          </a:solidFill>
          <a:ln>
            <a:noFill/>
          </a:ln>
          <a:effectLst/>
          <a:extLst>
            <a:ext uri="{91240B29-F687-4f45-9708-019B960494DF}">
              <a14:hiddenLine xmlns="" xmlns:a14="http://schemas.microsoft.com/office/drawing/2010/main" w="12700" cap="rnd" cmpd="sng">
                <a:solidFill>
                  <a:srgbClr val="000000"/>
                </a:solidFill>
                <a:prstDash val="solid"/>
                <a:round/>
                <a:headEnd type="none" w="med" len="med"/>
                <a:tailEnd type="none" w="med" len="me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latin typeface="Microsoft YaHei" panose="020B0503020204020204" pitchFamily="34" charset="-122"/>
              <a:ea typeface="Microsoft YaHei" panose="020B0503020204020204" pitchFamily="34" charset="-122"/>
            </a:endParaRPr>
          </a:p>
        </p:txBody>
      </p:sp>
      <p:pic>
        <p:nvPicPr>
          <p:cNvPr id="247842" name="Picture 34" descr="small wide blue gradient arrow"/>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73942" y="2171960"/>
            <a:ext cx="1221582" cy="1143000"/>
          </a:xfrm>
          <a:prstGeom prst="rect">
            <a:avLst/>
          </a:prstGeom>
          <a:noFill/>
          <a:extLst>
            <a:ext uri="{909E8E84-426E-40dd-AFC4-6F175D3DCCD1}">
              <a14:hiddenFill xmlns="" xmlns:a14="http://schemas.microsoft.com/office/drawing/2010/main">
                <a:solidFill>
                  <a:srgbClr val="FFFFFF"/>
                </a:solidFill>
              </a14:hiddenFill>
            </a:ext>
          </a:extLst>
        </p:spPr>
      </p:pic>
      <p:grpSp>
        <p:nvGrpSpPr>
          <p:cNvPr id="247843" name="Group 35"/>
          <p:cNvGrpSpPr>
            <a:grpSpLocks/>
          </p:cNvGrpSpPr>
          <p:nvPr/>
        </p:nvGrpSpPr>
        <p:grpSpPr bwMode="auto">
          <a:xfrm>
            <a:off x="2178027" y="1052401"/>
            <a:ext cx="4976336" cy="2707482"/>
            <a:chOff x="2733" y="1895"/>
            <a:chExt cx="3483" cy="2274"/>
          </a:xfrm>
        </p:grpSpPr>
        <p:grpSp>
          <p:nvGrpSpPr>
            <p:cNvPr id="247844" name="Group 36"/>
            <p:cNvGrpSpPr>
              <a:grpSpLocks/>
            </p:cNvGrpSpPr>
            <p:nvPr/>
          </p:nvGrpSpPr>
          <p:grpSpPr bwMode="auto">
            <a:xfrm>
              <a:off x="2733" y="2380"/>
              <a:ext cx="3483" cy="1789"/>
              <a:chOff x="2684" y="2301"/>
              <a:chExt cx="3483" cy="1789"/>
            </a:xfrm>
          </p:grpSpPr>
          <p:sp>
            <p:nvSpPr>
              <p:cNvPr id="247845" name="Oval 37"/>
              <p:cNvSpPr>
                <a:spLocks noChangeArrowheads="1"/>
              </p:cNvSpPr>
              <p:nvPr/>
            </p:nvSpPr>
            <p:spPr bwMode="auto">
              <a:xfrm>
                <a:off x="3705" y="2347"/>
                <a:ext cx="1170" cy="1743"/>
              </a:xfrm>
              <a:prstGeom prst="ellipse">
                <a:avLst/>
              </a:prstGeom>
              <a:solidFill>
                <a:schemeClr val="accent2">
                  <a:alpha val="30000"/>
                </a:schemeClr>
              </a:solidFill>
              <a:ln w="9525">
                <a:solidFill>
                  <a:schemeClr val="tx1"/>
                </a:solidFill>
                <a:prstDash val="sysDot"/>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sz="1600">
                  <a:effectLst>
                    <a:outerShdw blurRad="38100" dist="38100" dir="2700000" algn="tl">
                      <a:srgbClr val="000000"/>
                    </a:outerShdw>
                  </a:effectLst>
                  <a:latin typeface="Microsoft YaHei" panose="020B0503020204020204" pitchFamily="34" charset="-122"/>
                  <a:ea typeface="Microsoft YaHei" panose="020B0503020204020204" pitchFamily="34" charset="-122"/>
                  <a:cs typeface="宋体" charset="0"/>
                </a:endParaRPr>
              </a:p>
            </p:txBody>
          </p:sp>
          <p:pic>
            <p:nvPicPr>
              <p:cNvPr id="247846" name="Picture 38" descr="20090204_1e54d7448d02811bc9149qm7EO6243yQ"/>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684" y="2467"/>
                <a:ext cx="441" cy="441"/>
              </a:xfrm>
              <a:prstGeom prst="rect">
                <a:avLst/>
              </a:prstGeom>
              <a:noFill/>
              <a:extLst>
                <a:ext uri="{909E8E84-426E-40dd-AFC4-6F175D3DCCD1}">
                  <a14:hiddenFill xmlns="" xmlns:a14="http://schemas.microsoft.com/office/drawing/2010/main">
                    <a:solidFill>
                      <a:srgbClr val="FFFFFF"/>
                    </a:solidFill>
                  </a14:hiddenFill>
                </a:ext>
              </a:extLst>
            </p:spPr>
          </p:pic>
          <p:pic>
            <p:nvPicPr>
              <p:cNvPr id="247847" name="Picture 39" descr="20090204_5934235763730be5afabG2SLCdcesSBY"/>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74" y="2423"/>
                <a:ext cx="511" cy="511"/>
              </a:xfrm>
              <a:prstGeom prst="rect">
                <a:avLst/>
              </a:prstGeom>
              <a:noFill/>
              <a:extLst>
                <a:ext uri="{909E8E84-426E-40dd-AFC4-6F175D3DCCD1}">
                  <a14:hiddenFill xmlns="" xmlns:a14="http://schemas.microsoft.com/office/drawing/2010/main">
                    <a:solidFill>
                      <a:srgbClr val="FFFFFF"/>
                    </a:solidFill>
                  </a14:hiddenFill>
                </a:ext>
              </a:extLst>
            </p:spPr>
          </p:pic>
          <p:sp>
            <p:nvSpPr>
              <p:cNvPr id="247848" name="Text Box 40"/>
              <p:cNvSpPr txBox="1">
                <a:spLocks noChangeArrowheads="1"/>
              </p:cNvSpPr>
              <p:nvPr/>
            </p:nvSpPr>
            <p:spPr bwMode="gray">
              <a:xfrm>
                <a:off x="4992" y="2301"/>
                <a:ext cx="1175" cy="284"/>
              </a:xfrm>
              <a:prstGeom prst="rect">
                <a:avLst/>
              </a:prstGeom>
              <a:noFill/>
              <a:ln>
                <a:noFill/>
              </a:ln>
              <a:effectLst/>
              <a:extLst>
                <a:ext uri="{909E8E84-426E-40dd-AFC4-6F175D3DCCD1}">
                  <a14:hiddenFill xmlns="" xmlns:a14="http://schemas.microsoft.com/office/drawing/2010/main">
                    <a:solidFill>
                      <a:schemeClr val="tx1">
                        <a:alpha val="50000"/>
                      </a:schemeClr>
                    </a:solidFill>
                  </a14:hiddenFill>
                </a:ext>
                <a:ext uri="{91240B29-F687-4f45-9708-019B960494DF}">
                  <a14:hiddenLine xmlns="" xmlns:a14="http://schemas.microsoft.com/office/drawing/2010/main" w="127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square">
                <a:spAutoFit/>
              </a:bodyPr>
              <a:lstStyle/>
              <a:p>
                <a:pPr>
                  <a:spcBef>
                    <a:spcPct val="50000"/>
                  </a:spcBef>
                </a:pPr>
                <a:endParaRPr lang="zh-CN" altLang="en-US" sz="1600" dirty="0">
                  <a:solidFill>
                    <a:srgbClr val="FFCC00"/>
                  </a:solidFill>
                  <a:latin typeface="Microsoft YaHei" panose="020B0503020204020204" pitchFamily="34" charset="-122"/>
                  <a:ea typeface="Microsoft YaHei" panose="020B0503020204020204" pitchFamily="34" charset="-122"/>
                </a:endParaRPr>
              </a:p>
            </p:txBody>
          </p:sp>
        </p:grpSp>
        <p:sp>
          <p:nvSpPr>
            <p:cNvPr id="247849" name="Text Box 41"/>
            <p:cNvSpPr txBox="1">
              <a:spLocks noChangeArrowheads="1"/>
            </p:cNvSpPr>
            <p:nvPr/>
          </p:nvSpPr>
          <p:spPr bwMode="gray">
            <a:xfrm>
              <a:off x="3802" y="1895"/>
              <a:ext cx="1074" cy="310"/>
            </a:xfrm>
            <a:prstGeom prst="rect">
              <a:avLst/>
            </a:prstGeom>
            <a:noFill/>
            <a:ln>
              <a:noFill/>
            </a:ln>
            <a:effectLst/>
            <a:extLst>
              <a:ext uri="{909E8E84-426E-40dd-AFC4-6F175D3DCCD1}">
                <a14:hiddenFill xmlns="" xmlns:a14="http://schemas.microsoft.com/office/drawing/2010/main">
                  <a:solidFill>
                    <a:schemeClr val="tx1">
                      <a:alpha val="50000"/>
                    </a:schemeClr>
                  </a:solidFill>
                </a14:hiddenFill>
              </a:ext>
              <a:ext uri="{91240B29-F687-4f45-9708-019B960494DF}">
                <a14:hiddenLine xmlns="" xmlns:a14="http://schemas.microsoft.com/office/drawing/2010/main" w="12700">
                  <a:solidFill>
                    <a:srgbClr val="000000"/>
                  </a:solidFill>
                  <a:miter lim="800000"/>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a:spAutoFit/>
            </a:bodyPr>
            <a:lstStyle/>
            <a:p>
              <a:pPr algn="ctr">
                <a:spcBef>
                  <a:spcPct val="50000"/>
                </a:spcBef>
              </a:pPr>
              <a:r>
                <a:rPr lang="zh-CN" altLang="en-US" dirty="0">
                  <a:solidFill>
                    <a:srgbClr val="3C8C93"/>
                  </a:solidFill>
                  <a:effectLst>
                    <a:outerShdw blurRad="38100" dist="38100" dir="2700000" algn="tl">
                      <a:srgbClr val="DDDDDD"/>
                    </a:outerShdw>
                  </a:effectLst>
                  <a:latin typeface="Microsoft YaHei" panose="020B0503020204020204" pitchFamily="34" charset="-122"/>
                  <a:ea typeface="Microsoft YaHei" panose="020B0503020204020204" pitchFamily="34" charset="-122"/>
                  <a:cs typeface="宋体" charset="0"/>
                </a:rPr>
                <a:t>权限</a:t>
              </a:r>
            </a:p>
          </p:txBody>
        </p:sp>
      </p:grpSp>
      <p:sp>
        <p:nvSpPr>
          <p:cNvPr id="247850" name="Rectangle 42"/>
          <p:cNvSpPr>
            <a:spLocks noChangeArrowheads="1"/>
          </p:cNvSpPr>
          <p:nvPr/>
        </p:nvSpPr>
        <p:spPr bwMode="gray">
          <a:xfrm>
            <a:off x="586527" y="951570"/>
            <a:ext cx="7528083" cy="3240360"/>
          </a:xfrm>
          <a:prstGeom prst="rect">
            <a:avLst/>
          </a:prstGeom>
          <a:noFill/>
          <a:ln w="19050" cmpd="sng">
            <a:solidFill>
              <a:srgbClr val="0000FF"/>
            </a:solidFill>
            <a:prstDash val="dash"/>
            <a:miter lim="800000"/>
            <a:headEnd/>
            <a:tailEnd/>
          </a:ln>
          <a:effectLst>
            <a:prstShdw prst="shdw17" dist="17961" dir="2700000">
              <a:srgbClr val="4D0000">
                <a:alpha val="74998"/>
              </a:srgbClr>
            </a:prstShdw>
          </a:effectLst>
          <a:extLst>
            <a:ext uri="{909E8E84-426E-40dd-AFC4-6F175D3DCCD1}">
              <a14:hiddenFill xmlns="" xmlns:a14="http://schemas.microsoft.com/office/drawing/2010/main">
                <a:solidFill>
                  <a:srgbClr val="FFFFFF"/>
                </a:solidFill>
              </a14:hiddenFill>
            </a:ext>
          </a:extLst>
        </p:spPr>
        <p:txBody>
          <a:bodyPr wrap="none" anchor="ctr"/>
          <a:lstStyle/>
          <a:p>
            <a:endParaRPr lang="zh-CN" altLang="en-US">
              <a:latin typeface="Microsoft YaHei" panose="020B0503020204020204" pitchFamily="34" charset="-122"/>
              <a:ea typeface="Microsoft YaHei" panose="020B0503020204020204" pitchFamily="34" charset="-122"/>
            </a:endParaRPr>
          </a:p>
        </p:txBody>
      </p:sp>
      <p:sp>
        <p:nvSpPr>
          <p:cNvPr id="247851" name="Text Box 43"/>
          <p:cNvSpPr txBox="1">
            <a:spLocks noChangeArrowheads="1"/>
          </p:cNvSpPr>
          <p:nvPr/>
        </p:nvSpPr>
        <p:spPr bwMode="gray">
          <a:xfrm>
            <a:off x="2077087" y="4191931"/>
            <a:ext cx="1680210" cy="369332"/>
          </a:xfrm>
          <a:prstGeom prst="rect">
            <a:avLst/>
          </a:prstGeom>
          <a:noFill/>
          <a:ln>
            <a:noFill/>
          </a:ln>
          <a:effectLst>
            <a:prstShdw prst="shdw17" dist="17961" dir="2700000">
              <a:srgbClr val="4D0000">
                <a:alpha val="74998"/>
              </a:srgbClr>
            </a:prst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FF"/>
                </a:solidFill>
                <a:prstDash val="dash"/>
                <a:miter lim="800000"/>
                <a:headEnd/>
                <a:tailEnd/>
              </a14:hiddenLine>
            </a:ext>
          </a:extLst>
        </p:spPr>
        <p:txBody>
          <a:bodyPr>
            <a:spAutoFit/>
          </a:bodyPr>
          <a:lstStyle/>
          <a:p>
            <a:pPr>
              <a:spcBef>
                <a:spcPct val="50000"/>
              </a:spcBef>
            </a:pPr>
            <a:r>
              <a:rPr lang="zh-CN" altLang="en-US" dirty="0">
                <a:solidFill>
                  <a:srgbClr val="0000FF"/>
                </a:solidFill>
                <a:latin typeface="Microsoft YaHei" panose="020B0503020204020204" pitchFamily="34" charset="-122"/>
                <a:ea typeface="Microsoft YaHei" panose="020B0503020204020204" pitchFamily="34" charset="-122"/>
              </a:rPr>
              <a:t>安全策略</a:t>
            </a:r>
          </a:p>
        </p:txBody>
      </p:sp>
      <p:sp>
        <p:nvSpPr>
          <p:cNvPr id="247852" name="Text Box 44"/>
          <p:cNvSpPr txBox="1">
            <a:spLocks noChangeArrowheads="1"/>
          </p:cNvSpPr>
          <p:nvPr/>
        </p:nvSpPr>
        <p:spPr bwMode="gray">
          <a:xfrm>
            <a:off x="4798990" y="4191931"/>
            <a:ext cx="1680210" cy="369332"/>
          </a:xfrm>
          <a:prstGeom prst="rect">
            <a:avLst/>
          </a:prstGeom>
          <a:noFill/>
          <a:ln>
            <a:noFill/>
          </a:ln>
          <a:effectLst>
            <a:prstShdw prst="shdw17" dist="17961" dir="2700000">
              <a:srgbClr val="4D0000">
                <a:alpha val="74998"/>
              </a:srgbClr>
            </a:prst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FF"/>
                </a:solidFill>
                <a:prstDash val="dash"/>
                <a:miter lim="800000"/>
                <a:headEnd/>
                <a:tailEnd/>
              </a14:hiddenLine>
            </a:ext>
          </a:extLst>
        </p:spPr>
        <p:txBody>
          <a:bodyPr>
            <a:spAutoFit/>
          </a:bodyPr>
          <a:lstStyle/>
          <a:p>
            <a:pPr>
              <a:spcBef>
                <a:spcPct val="50000"/>
              </a:spcBef>
            </a:pPr>
            <a:r>
              <a:rPr lang="zh-CN" altLang="en-US" dirty="0">
                <a:solidFill>
                  <a:srgbClr val="0000FF"/>
                </a:solidFill>
                <a:latin typeface="Microsoft YaHei" panose="020B0503020204020204" pitchFamily="34" charset="-122"/>
                <a:ea typeface="Microsoft YaHei" panose="020B0503020204020204" pitchFamily="34" charset="-122"/>
              </a:rPr>
              <a:t>安全审计</a:t>
            </a:r>
          </a:p>
        </p:txBody>
      </p:sp>
      <p:sp>
        <p:nvSpPr>
          <p:cNvPr id="247853" name="Text Box 45"/>
          <p:cNvSpPr txBox="1">
            <a:spLocks noChangeArrowheads="1"/>
          </p:cNvSpPr>
          <p:nvPr/>
        </p:nvSpPr>
        <p:spPr bwMode="gray">
          <a:xfrm>
            <a:off x="3502846" y="3759883"/>
            <a:ext cx="2185988" cy="369332"/>
          </a:xfrm>
          <a:prstGeom prst="rect">
            <a:avLst/>
          </a:prstGeom>
          <a:noFill/>
          <a:ln>
            <a:noFill/>
          </a:ln>
          <a:effectLst>
            <a:prstShdw prst="shdw17" dist="17961" dir="2700000">
              <a:srgbClr val="4D0000">
                <a:alpha val="74998"/>
              </a:srgbClr>
            </a:prstShdw>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FF"/>
                </a:solidFill>
                <a:prstDash val="dash"/>
                <a:miter lim="800000"/>
                <a:headEnd/>
                <a:tailEnd/>
              </a14:hiddenLine>
            </a:ext>
          </a:extLst>
        </p:spPr>
        <p:txBody>
          <a:bodyPr>
            <a:spAutoFit/>
          </a:bodyPr>
          <a:lstStyle/>
          <a:p>
            <a:pPr>
              <a:spcBef>
                <a:spcPct val="50000"/>
              </a:spcBef>
            </a:pPr>
            <a:r>
              <a:rPr lang="zh-CN" altLang="en-US" dirty="0">
                <a:solidFill>
                  <a:srgbClr val="0000FF"/>
                </a:solidFill>
                <a:latin typeface="Microsoft YaHei" panose="020B0503020204020204" pitchFamily="34" charset="-122"/>
                <a:ea typeface="Microsoft YaHei" panose="020B0503020204020204" pitchFamily="34" charset="-122"/>
              </a:rPr>
              <a:t>强制访问控制</a:t>
            </a:r>
          </a:p>
        </p:txBody>
      </p:sp>
    </p:spTree>
    <p:extLst>
      <p:ext uri="{BB962C8B-B14F-4D97-AF65-F5344CB8AC3E}">
        <p14:creationId xmlns:p14="http://schemas.microsoft.com/office/powerpoint/2010/main" val="31870923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47811"/>
                                        </p:tgtEl>
                                        <p:attrNameLst>
                                          <p:attrName>style.visibility</p:attrName>
                                        </p:attrNameLst>
                                      </p:cBhvr>
                                      <p:to>
                                        <p:strVal val="visible"/>
                                      </p:to>
                                    </p:set>
                                    <p:animEffect transition="in" filter="blinds(horizontal)">
                                      <p:cBhvr>
                                        <p:cTn id="7" dur="500"/>
                                        <p:tgtEl>
                                          <p:spTgt spid="2478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47821"/>
                                        </p:tgtEl>
                                        <p:attrNameLst>
                                          <p:attrName>style.visibility</p:attrName>
                                        </p:attrNameLst>
                                      </p:cBhvr>
                                      <p:to>
                                        <p:strVal val="visible"/>
                                      </p:to>
                                    </p:set>
                                    <p:animEffect transition="in" filter="blinds(horizontal)">
                                      <p:cBhvr>
                                        <p:cTn id="12" dur="500"/>
                                        <p:tgtEl>
                                          <p:spTgt spid="2478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247837"/>
                                        </p:tgtEl>
                                        <p:attrNameLst>
                                          <p:attrName>style.visibility</p:attrName>
                                        </p:attrNameLst>
                                      </p:cBhvr>
                                      <p:to>
                                        <p:strVal val="visible"/>
                                      </p:to>
                                    </p:set>
                                    <p:animEffect transition="in" filter="slide(fromLeft)">
                                      <p:cBhvr>
                                        <p:cTn id="17" dur="500"/>
                                        <p:tgtEl>
                                          <p:spTgt spid="2478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xit" presetSubtype="0" fill="hold" nodeType="clickEffect">
                                  <p:stCondLst>
                                    <p:cond delay="0"/>
                                  </p:stCondLst>
                                  <p:childTnLst>
                                    <p:animEffect transition="out" filter="fade">
                                      <p:cBhvr>
                                        <p:cTn id="21" dur="2000"/>
                                        <p:tgtEl>
                                          <p:spTgt spid="247837"/>
                                        </p:tgtEl>
                                      </p:cBhvr>
                                    </p:animEffect>
                                    <p:set>
                                      <p:cBhvr>
                                        <p:cTn id="22" dur="1" fill="hold">
                                          <p:stCondLst>
                                            <p:cond delay="1999"/>
                                          </p:stCondLst>
                                        </p:cTn>
                                        <p:tgtEl>
                                          <p:spTgt spid="247837"/>
                                        </p:tgtEl>
                                        <p:attrNameLst>
                                          <p:attrName>style.visibility</p:attrName>
                                        </p:attrNameLst>
                                      </p:cBhvr>
                                      <p:to>
                                        <p:strVal val="hidden"/>
                                      </p:to>
                                    </p:set>
                                  </p:childTnLst>
                                </p:cTn>
                              </p:par>
                              <p:par>
                                <p:cTn id="23" presetID="3" presetClass="entr" presetSubtype="10" fill="hold" nodeType="withEffect">
                                  <p:stCondLst>
                                    <p:cond delay="0"/>
                                  </p:stCondLst>
                                  <p:childTnLst>
                                    <p:set>
                                      <p:cBhvr>
                                        <p:cTn id="24" dur="1" fill="hold">
                                          <p:stCondLst>
                                            <p:cond delay="0"/>
                                          </p:stCondLst>
                                        </p:cTn>
                                        <p:tgtEl>
                                          <p:spTgt spid="247843"/>
                                        </p:tgtEl>
                                        <p:attrNameLst>
                                          <p:attrName>style.visibility</p:attrName>
                                        </p:attrNameLst>
                                      </p:cBhvr>
                                      <p:to>
                                        <p:strVal val="visible"/>
                                      </p:to>
                                    </p:set>
                                    <p:animEffect transition="in" filter="blinds(horizontal)">
                                      <p:cBhvr>
                                        <p:cTn id="25" dur="500"/>
                                        <p:tgtEl>
                                          <p:spTgt spid="247843"/>
                                        </p:tgtEl>
                                      </p:cBhvr>
                                    </p:animEffect>
                                  </p:childTnLst>
                                </p:cTn>
                              </p:par>
                            </p:childTnLst>
                          </p:cTn>
                        </p:par>
                        <p:par>
                          <p:cTn id="26" fill="hold" nodeType="afterGroup">
                            <p:stCondLst>
                              <p:cond delay="2000"/>
                            </p:stCondLst>
                            <p:childTnLst>
                              <p:par>
                                <p:cTn id="27" presetID="12" presetClass="entr" presetSubtype="8" fill="hold" nodeType="afterEffect">
                                  <p:stCondLst>
                                    <p:cond delay="0"/>
                                  </p:stCondLst>
                                  <p:childTnLst>
                                    <p:set>
                                      <p:cBhvr>
                                        <p:cTn id="28" dur="1" fill="hold">
                                          <p:stCondLst>
                                            <p:cond delay="0"/>
                                          </p:stCondLst>
                                        </p:cTn>
                                        <p:tgtEl>
                                          <p:spTgt spid="247842"/>
                                        </p:tgtEl>
                                        <p:attrNameLst>
                                          <p:attrName>style.visibility</p:attrName>
                                        </p:attrNameLst>
                                      </p:cBhvr>
                                      <p:to>
                                        <p:strVal val="visible"/>
                                      </p:to>
                                    </p:set>
                                    <p:animEffect transition="in" filter="slide(fromLeft)">
                                      <p:cBhvr>
                                        <p:cTn id="29" dur="500"/>
                                        <p:tgtEl>
                                          <p:spTgt spid="247842"/>
                                        </p:tgtEl>
                                      </p:cBhvr>
                                    </p:animEffect>
                                  </p:childTnLst>
                                </p:cTn>
                              </p:par>
                            </p:childTnLst>
                          </p:cTn>
                        </p:par>
                        <p:par>
                          <p:cTn id="30" fill="hold" nodeType="afterGroup">
                            <p:stCondLst>
                              <p:cond delay="2500"/>
                            </p:stCondLst>
                            <p:childTnLst>
                              <p:par>
                                <p:cTn id="31" presetID="10" presetClass="entr" presetSubtype="0" fill="hold" grpId="0" nodeType="afterEffect">
                                  <p:stCondLst>
                                    <p:cond delay="0"/>
                                  </p:stCondLst>
                                  <p:childTnLst>
                                    <p:set>
                                      <p:cBhvr>
                                        <p:cTn id="32" dur="1" fill="hold">
                                          <p:stCondLst>
                                            <p:cond delay="0"/>
                                          </p:stCondLst>
                                        </p:cTn>
                                        <p:tgtEl>
                                          <p:spTgt spid="247840"/>
                                        </p:tgtEl>
                                        <p:attrNameLst>
                                          <p:attrName>style.visibility</p:attrName>
                                        </p:attrNameLst>
                                      </p:cBhvr>
                                      <p:to>
                                        <p:strVal val="visible"/>
                                      </p:to>
                                    </p:set>
                                    <p:animEffect transition="in" filter="fade">
                                      <p:cBhvr>
                                        <p:cTn id="33" dur="500"/>
                                        <p:tgtEl>
                                          <p:spTgt spid="247840"/>
                                        </p:tgtEl>
                                      </p:cBhvr>
                                    </p:animEffect>
                                  </p:childTnLst>
                                </p:cTn>
                              </p:par>
                            </p:childTnLst>
                          </p:cTn>
                        </p:par>
                        <p:par>
                          <p:cTn id="34" fill="hold" nodeType="afterGroup">
                            <p:stCondLst>
                              <p:cond delay="3000"/>
                            </p:stCondLst>
                            <p:childTnLst>
                              <p:par>
                                <p:cTn id="35" presetID="10" presetClass="entr" presetSubtype="0" fill="hold" grpId="0" nodeType="afterEffect">
                                  <p:stCondLst>
                                    <p:cond delay="0"/>
                                  </p:stCondLst>
                                  <p:childTnLst>
                                    <p:set>
                                      <p:cBhvr>
                                        <p:cTn id="36" dur="1" fill="hold">
                                          <p:stCondLst>
                                            <p:cond delay="0"/>
                                          </p:stCondLst>
                                        </p:cTn>
                                        <p:tgtEl>
                                          <p:spTgt spid="247841"/>
                                        </p:tgtEl>
                                        <p:attrNameLst>
                                          <p:attrName>style.visibility</p:attrName>
                                        </p:attrNameLst>
                                      </p:cBhvr>
                                      <p:to>
                                        <p:strVal val="visible"/>
                                      </p:to>
                                    </p:set>
                                    <p:animEffect transition="in" filter="fade">
                                      <p:cBhvr>
                                        <p:cTn id="37" dur="500"/>
                                        <p:tgtEl>
                                          <p:spTgt spid="247841"/>
                                        </p:tgtEl>
                                      </p:cBhvr>
                                    </p:animEffect>
                                  </p:childTnLst>
                                </p:cTn>
                              </p:par>
                            </p:childTnLst>
                          </p:cTn>
                        </p:par>
                        <p:par>
                          <p:cTn id="38" fill="hold" nodeType="afterGroup">
                            <p:stCondLst>
                              <p:cond delay="3500"/>
                            </p:stCondLst>
                            <p:childTnLst>
                              <p:par>
                                <p:cTn id="39" presetID="1" presetClass="entr" presetSubtype="0" fill="hold" nodeType="afterEffect">
                                  <p:stCondLst>
                                    <p:cond delay="0"/>
                                  </p:stCondLst>
                                  <p:childTnLst>
                                    <p:set>
                                      <p:cBhvr>
                                        <p:cTn id="40" dur="1" fill="hold">
                                          <p:stCondLst>
                                            <p:cond delay="0"/>
                                          </p:stCondLst>
                                        </p:cTn>
                                        <p:tgtEl>
                                          <p:spTgt spid="247853"/>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4785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7851"/>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78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7840" grpId="0" animBg="1"/>
      <p:bldP spid="247841" grpId="0" animBg="1"/>
      <p:bldP spid="247850" grpId="0" animBg="1"/>
      <p:bldP spid="247851" grpId="0"/>
      <p:bldP spid="247852"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0D9770-97DC-9CFB-FB6C-35DCCDC39AE8}"/>
              </a:ext>
            </a:extLst>
          </p:cNvPr>
          <p:cNvSpPr>
            <a:spLocks noGrp="1"/>
          </p:cNvSpPr>
          <p:nvPr>
            <p:ph type="title"/>
          </p:nvPr>
        </p:nvSpPr>
        <p:spPr>
          <a:xfrm>
            <a:off x="628649" y="369058"/>
            <a:ext cx="6590297" cy="421482"/>
          </a:xfrm>
        </p:spPr>
        <p:txBody>
          <a:bodyPr/>
          <a:lstStyle/>
          <a:p>
            <a:r>
              <a:rPr kumimoji="1" lang="zh-CN" altLang="en-US" dirty="0">
                <a:solidFill>
                  <a:srgbClr val="0070C0"/>
                </a:solidFill>
              </a:rPr>
              <a:t>安全三大保障机制</a:t>
            </a:r>
            <a:r>
              <a:rPr lang="zh-CN" altLang="en-US" dirty="0"/>
              <a:t>：</a:t>
            </a:r>
            <a:r>
              <a:rPr kumimoji="1" lang="zh-CN" altLang="en-US" dirty="0">
                <a:solidFill>
                  <a:srgbClr val="0070C0"/>
                </a:solidFill>
              </a:rPr>
              <a:t>预防</a:t>
            </a:r>
            <a:r>
              <a:rPr lang="zh-CN" altLang="en-US" dirty="0"/>
              <a:t>、</a:t>
            </a:r>
            <a:r>
              <a:rPr kumimoji="1" lang="zh-CN" altLang="en-US" dirty="0">
                <a:solidFill>
                  <a:srgbClr val="0070C0"/>
                </a:solidFill>
              </a:rPr>
              <a:t>恢复</a:t>
            </a:r>
            <a:r>
              <a:rPr lang="zh-CN" altLang="en-US" dirty="0"/>
              <a:t>、</a:t>
            </a:r>
            <a:r>
              <a:rPr kumimoji="1" lang="zh-CN" altLang="en-US" dirty="0">
                <a:solidFill>
                  <a:srgbClr val="0070C0"/>
                </a:solidFill>
              </a:rPr>
              <a:t>支撑</a:t>
            </a:r>
            <a:endParaRPr kumimoji="1" lang="zh-CN" altLang="en-US" dirty="0"/>
          </a:p>
        </p:txBody>
      </p:sp>
      <p:pic>
        <p:nvPicPr>
          <p:cNvPr id="3" name="Picture 2">
            <a:extLst>
              <a:ext uri="{FF2B5EF4-FFF2-40B4-BE49-F238E27FC236}">
                <a16:creationId xmlns:a16="http://schemas.microsoft.com/office/drawing/2014/main" id="{9561483D-F087-FD03-B998-C0C616D64FEE}"/>
              </a:ext>
            </a:extLst>
          </p:cNvPr>
          <p:cNvPicPr>
            <a:picLocks noChangeAspect="1" noChangeArrowheads="1"/>
          </p:cNvPicPr>
          <p:nvPr/>
        </p:nvPicPr>
        <p:blipFill>
          <a:blip r:embed="rId2" cstate="print">
            <a:lum contrast="24000"/>
          </a:blip>
          <a:srcRect/>
          <a:stretch>
            <a:fillRect/>
          </a:stretch>
        </p:blipFill>
        <p:spPr bwMode="auto">
          <a:xfrm>
            <a:off x="1655681" y="984526"/>
            <a:ext cx="5785116" cy="4071499"/>
          </a:xfrm>
          <a:prstGeom prst="rect">
            <a:avLst/>
          </a:prstGeom>
          <a:noFill/>
          <a:ln w="9525">
            <a:noFill/>
            <a:miter lim="800000"/>
            <a:headEnd/>
            <a:tailEnd/>
          </a:ln>
        </p:spPr>
      </p:pic>
    </p:spTree>
    <p:extLst>
      <p:ext uri="{BB962C8B-B14F-4D97-AF65-F5344CB8AC3E}">
        <p14:creationId xmlns:p14="http://schemas.microsoft.com/office/powerpoint/2010/main" val="2485556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761412-49DC-EE56-7D65-F213EBDAA593}"/>
              </a:ext>
            </a:extLst>
          </p:cNvPr>
          <p:cNvSpPr>
            <a:spLocks noGrp="1"/>
          </p:cNvSpPr>
          <p:nvPr>
            <p:ph type="title"/>
          </p:nvPr>
        </p:nvSpPr>
        <p:spPr>
          <a:xfrm>
            <a:off x="580523" y="340183"/>
            <a:ext cx="6215062" cy="421482"/>
          </a:xfrm>
        </p:spPr>
        <p:txBody>
          <a:bodyPr/>
          <a:lstStyle/>
          <a:p>
            <a:r>
              <a:rPr kumimoji="1" lang="zh-CN" altLang="en-US" sz="2800" b="1" dirty="0">
                <a:solidFill>
                  <a:srgbClr val="0070C0"/>
                </a:solidFill>
                <a:latin typeface="Microsoft YaHei" panose="020B0503020204020204" pitchFamily="34" charset="-122"/>
                <a:ea typeface="Microsoft YaHei" panose="020B0503020204020204" pitchFamily="34" charset="-122"/>
              </a:rPr>
              <a:t>完整的安全策略示例</a:t>
            </a:r>
            <a:endParaRPr kumimoji="1" lang="zh-CN" altLang="en-US" dirty="0"/>
          </a:p>
        </p:txBody>
      </p:sp>
      <p:sp>
        <p:nvSpPr>
          <p:cNvPr id="3" name="Rectangle 3">
            <a:extLst>
              <a:ext uri="{FF2B5EF4-FFF2-40B4-BE49-F238E27FC236}">
                <a16:creationId xmlns:a16="http://schemas.microsoft.com/office/drawing/2014/main" id="{BC4E8FFC-5ED2-BD80-32BE-F5AA1E9709C4}"/>
              </a:ext>
            </a:extLst>
          </p:cNvPr>
          <p:cNvSpPr txBox="1">
            <a:spLocks noChangeArrowheads="1"/>
          </p:cNvSpPr>
          <p:nvPr/>
        </p:nvSpPr>
        <p:spPr bwMode="auto">
          <a:xfrm>
            <a:off x="877994" y="1113590"/>
            <a:ext cx="3633312" cy="3618402"/>
          </a:xfrm>
          <a:prstGeom prst="rect">
            <a:avLst/>
          </a:prstGeom>
          <a:noFill/>
          <a:ln>
            <a:solidFill>
              <a:srgbClr val="FFC000"/>
            </a:solidFill>
            <a:prstDash val="sysDot"/>
            <a:miter lim="800000"/>
            <a:headEnd/>
            <a:tailEnd/>
          </a:ln>
        </p:spPr>
        <p:txBody>
          <a:bodyPr vert="horz" wrap="square" lIns="82296" tIns="41148" rIns="82296" bIns="41148" numCol="1" rtlCol="0" anchor="t" anchorCtr="0" compatLnSpc="1">
            <a:prstTxWarp prst="textNoShape">
              <a:avLst/>
            </a:prstTxWarp>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21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gn="l" defTabSz="685800" rtl="0" eaLnBrk="1" latinLnBrk="0" hangingPunct="1">
              <a:lnSpc>
                <a:spcPct val="150000"/>
              </a:lnSpc>
              <a:spcBef>
                <a:spcPts val="375"/>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gn="l" defTabSz="685800" rtl="0" eaLnBrk="1" latinLnBrk="0" hangingPunct="1">
              <a:lnSpc>
                <a:spcPct val="150000"/>
              </a:lnSpc>
              <a:spcBef>
                <a:spcPts val="375"/>
              </a:spcBef>
              <a:buFont typeface="Arial" panose="020B0604020202020204" pitchFamily="34" charset="0"/>
              <a:buChar char="•"/>
              <a:defRPr sz="15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gn="l" defTabSz="685800" rtl="0" eaLnBrk="1" latinLnBrk="0" hangingPunct="1">
              <a:lnSpc>
                <a:spcPct val="150000"/>
              </a:lnSpc>
              <a:spcBef>
                <a:spcPts val="375"/>
              </a:spcBef>
              <a:buFont typeface="Arial" panose="020B0604020202020204" pitchFamily="34" charset="0"/>
              <a:buChar char="•"/>
              <a:defRPr sz="135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543050" indent="-171450" algn="l" defTabSz="685800" rtl="0" eaLnBrk="1" latinLnBrk="0" hangingPunct="1">
              <a:lnSpc>
                <a:spcPct val="150000"/>
              </a:lnSpc>
              <a:spcBef>
                <a:spcPts val="375"/>
              </a:spcBef>
              <a:buFont typeface="Arial" panose="020B0604020202020204" pitchFamily="34" charset="0"/>
              <a:buChar char="•"/>
              <a:defRPr sz="135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可接受的加密控制</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可接受的使用控制</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模拟线路和拨入访问控制</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防病毒流程</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应用程序提供上（</a:t>
            </a:r>
            <a:r>
              <a:rPr lang="en-US" altLang="zh-CN" dirty="0">
                <a:ea typeface="宋体" pitchFamily="2" charset="-122"/>
                <a:cs typeface="+mn-cs"/>
              </a:rPr>
              <a:t>ASP</a:t>
            </a:r>
            <a:r>
              <a:rPr lang="zh-CN" altLang="en-US" dirty="0">
                <a:ea typeface="宋体" pitchFamily="2" charset="-122"/>
                <a:cs typeface="+mn-cs"/>
              </a:rPr>
              <a:t>）控制</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引入评估控制</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审核和风险评估</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自动转发电子邮件控制</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数据库信任编码</a:t>
            </a:r>
          </a:p>
        </p:txBody>
      </p:sp>
      <p:sp>
        <p:nvSpPr>
          <p:cNvPr id="4" name="Rectangle 4">
            <a:extLst>
              <a:ext uri="{FF2B5EF4-FFF2-40B4-BE49-F238E27FC236}">
                <a16:creationId xmlns:a16="http://schemas.microsoft.com/office/drawing/2014/main" id="{C19DF1BD-F7CC-42EB-754E-7B22B1748205}"/>
              </a:ext>
            </a:extLst>
          </p:cNvPr>
          <p:cNvSpPr txBox="1">
            <a:spLocks noChangeArrowheads="1"/>
          </p:cNvSpPr>
          <p:nvPr/>
        </p:nvSpPr>
        <p:spPr bwMode="auto">
          <a:xfrm>
            <a:off x="4766422" y="1113590"/>
            <a:ext cx="3299965" cy="3618402"/>
          </a:xfrm>
          <a:prstGeom prst="rect">
            <a:avLst/>
          </a:prstGeom>
          <a:noFill/>
          <a:ln>
            <a:solidFill>
              <a:srgbClr val="FFC000"/>
            </a:solidFill>
            <a:prstDash val="sysDot"/>
            <a:miter lim="800000"/>
            <a:headEnd/>
            <a:tailEnd/>
          </a:ln>
        </p:spPr>
        <p:txBody>
          <a:bodyPr vert="horz" wrap="square" lIns="82296" tIns="41148" rIns="82296" bIns="41148" numCol="1" rtlCol="0" anchor="t" anchorCtr="0" compatLnSpc="1">
            <a:prstTxWarp prst="textNoShape">
              <a:avLst/>
            </a:prstTxWarp>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21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gn="l" defTabSz="685800" rtl="0" eaLnBrk="1" latinLnBrk="0" hangingPunct="1">
              <a:lnSpc>
                <a:spcPct val="150000"/>
              </a:lnSpc>
              <a:spcBef>
                <a:spcPts val="375"/>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gn="l" defTabSz="685800" rtl="0" eaLnBrk="1" latinLnBrk="0" hangingPunct="1">
              <a:lnSpc>
                <a:spcPct val="150000"/>
              </a:lnSpc>
              <a:spcBef>
                <a:spcPts val="375"/>
              </a:spcBef>
              <a:buFont typeface="Arial" panose="020B0604020202020204" pitchFamily="34" charset="0"/>
              <a:buChar char="•"/>
              <a:defRPr sz="15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gn="l" defTabSz="685800" rtl="0" eaLnBrk="1" latinLnBrk="0" hangingPunct="1">
              <a:lnSpc>
                <a:spcPct val="150000"/>
              </a:lnSpc>
              <a:spcBef>
                <a:spcPts val="375"/>
              </a:spcBef>
              <a:buFont typeface="Arial" panose="020B0604020202020204" pitchFamily="34" charset="0"/>
              <a:buChar char="•"/>
              <a:defRPr sz="135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543050" indent="-171450" algn="l" defTabSz="685800" rtl="0" eaLnBrk="1" latinLnBrk="0" hangingPunct="1">
              <a:lnSpc>
                <a:spcPct val="150000"/>
              </a:lnSpc>
              <a:spcBef>
                <a:spcPts val="375"/>
              </a:spcBef>
              <a:buFont typeface="Arial" panose="020B0604020202020204" pitchFamily="34" charset="0"/>
              <a:buChar char="•"/>
              <a:defRPr sz="135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外部网络访问控制</a:t>
            </a:r>
            <a:endParaRPr lang="en-US" altLang="zh-CN" dirty="0">
              <a:ea typeface="宋体" pitchFamily="2" charset="-122"/>
              <a:cs typeface="+mn-cs"/>
            </a:endParaRP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远程访问和</a:t>
            </a:r>
            <a:r>
              <a:rPr lang="en-US" altLang="zh-CN" dirty="0">
                <a:ea typeface="宋体" pitchFamily="2" charset="-122"/>
                <a:cs typeface="+mn-cs"/>
              </a:rPr>
              <a:t>VPN</a:t>
            </a:r>
            <a:r>
              <a:rPr lang="zh-CN" altLang="en-US" dirty="0">
                <a:ea typeface="宋体" pitchFamily="2" charset="-122"/>
                <a:cs typeface="+mn-cs"/>
              </a:rPr>
              <a:t>安全控制</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敏感信息控制</a:t>
            </a:r>
          </a:p>
          <a:p>
            <a:pPr marL="320040" lvl="1" indent="-320040">
              <a:lnSpc>
                <a:spcPct val="120000"/>
              </a:lnSpc>
              <a:spcBef>
                <a:spcPts val="238"/>
              </a:spcBef>
              <a:buClr>
                <a:srgbClr val="91AC4E"/>
              </a:buClr>
              <a:buSzPct val="80000"/>
              <a:buFont typeface="Wingdings" pitchFamily="2" charset="2"/>
              <a:buChar char="p"/>
            </a:pPr>
            <a:r>
              <a:rPr lang="en-US" altLang="zh-CN" dirty="0">
                <a:ea typeface="宋体" pitchFamily="2" charset="-122"/>
                <a:cs typeface="+mn-cs"/>
              </a:rPr>
              <a:t>Internet  DNS</a:t>
            </a:r>
            <a:r>
              <a:rPr lang="zh-CN" altLang="en-US" dirty="0">
                <a:ea typeface="宋体" pitchFamily="2" charset="-122"/>
                <a:cs typeface="+mn-cs"/>
              </a:rPr>
              <a:t>设备控制</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口令保护</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路由器安全管理</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服务器安全管理</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第三方网络连接协议</a:t>
            </a:r>
          </a:p>
          <a:p>
            <a:pPr marL="320040" lvl="1" indent="-320040">
              <a:lnSpc>
                <a:spcPct val="120000"/>
              </a:lnSpc>
              <a:spcBef>
                <a:spcPts val="238"/>
              </a:spcBef>
              <a:buClr>
                <a:srgbClr val="91AC4E"/>
              </a:buClr>
              <a:buSzPct val="80000"/>
              <a:buFont typeface="Wingdings" pitchFamily="2" charset="2"/>
              <a:buChar char="p"/>
            </a:pPr>
            <a:r>
              <a:rPr lang="zh-CN" altLang="en-US" dirty="0">
                <a:ea typeface="宋体" pitchFamily="2" charset="-122"/>
                <a:cs typeface="+mn-cs"/>
              </a:rPr>
              <a:t>无线通信控制</a:t>
            </a:r>
          </a:p>
          <a:p>
            <a:pPr>
              <a:lnSpc>
                <a:spcPct val="90000"/>
              </a:lnSpc>
            </a:pPr>
            <a:endParaRPr lang="en-US" altLang="zh-CN" sz="1800" dirty="0"/>
          </a:p>
        </p:txBody>
      </p:sp>
    </p:spTree>
    <p:extLst>
      <p:ext uri="{BB962C8B-B14F-4D97-AF65-F5344CB8AC3E}">
        <p14:creationId xmlns:p14="http://schemas.microsoft.com/office/powerpoint/2010/main" val="37664787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4663" y="352693"/>
            <a:ext cx="5746276" cy="421482"/>
          </a:xfrm>
        </p:spPr>
        <p:txBody>
          <a:bodyPr>
            <a:normAutofit fontScale="90000"/>
          </a:bodyPr>
          <a:lstStyle/>
          <a:p>
            <a:pPr eaLnBrk="1" hangingPunct="1"/>
            <a:r>
              <a:rPr lang="zh-CN" altLang="en-US" sz="3240" b="1" dirty="0">
                <a:latin typeface="+mj-ea"/>
                <a:cs typeface="宋体" charset="0"/>
              </a:rPr>
              <a:t>安全性测试的目标</a:t>
            </a:r>
          </a:p>
        </p:txBody>
      </p:sp>
      <p:sp>
        <p:nvSpPr>
          <p:cNvPr id="3" name="内容占位符 2"/>
          <p:cNvSpPr>
            <a:spLocks noGrp="1"/>
          </p:cNvSpPr>
          <p:nvPr>
            <p:ph idx="1"/>
          </p:nvPr>
        </p:nvSpPr>
        <p:spPr>
          <a:xfrm>
            <a:off x="1461254" y="951570"/>
            <a:ext cx="3564396" cy="3888432"/>
          </a:xfrm>
        </p:spPr>
        <p:txBody>
          <a:bodyPr>
            <a:normAutofit fontScale="92500" lnSpcReduction="10000"/>
          </a:bodyPr>
          <a:lstStyle/>
          <a:p>
            <a:pPr eaLnBrk="1" hangingPunct="1"/>
            <a:r>
              <a:rPr lang="zh-CN" altLang="en-US" sz="2160" dirty="0">
                <a:latin typeface="Arial" charset="0"/>
                <a:ea typeface="黑体" charset="0"/>
              </a:rPr>
              <a:t>通常的目标</a:t>
            </a:r>
          </a:p>
          <a:p>
            <a:pPr marL="320040" lvl="1" indent="-320040">
              <a:lnSpc>
                <a:spcPct val="130000"/>
              </a:lnSpc>
              <a:spcBef>
                <a:spcPts val="237"/>
              </a:spcBef>
              <a:buClr>
                <a:srgbClr val="91AC4E"/>
              </a:buClr>
              <a:buSzPct val="80000"/>
              <a:buFont typeface="Wingdings" charset="0"/>
              <a:buChar char="p"/>
            </a:pPr>
            <a:r>
              <a:rPr lang="zh-CN" altLang="en-US" dirty="0">
                <a:latin typeface="Arial" charset="0"/>
                <a:ea typeface="宋体" charset="0"/>
                <a:cs typeface="宋体" charset="0"/>
              </a:rPr>
              <a:t>（强制）访问控制</a:t>
            </a:r>
          </a:p>
          <a:p>
            <a:pPr marL="320040" lvl="1" indent="-320040">
              <a:lnSpc>
                <a:spcPct val="130000"/>
              </a:lnSpc>
              <a:spcBef>
                <a:spcPts val="237"/>
              </a:spcBef>
              <a:buClr>
                <a:srgbClr val="91AC4E"/>
              </a:buClr>
              <a:buSzPct val="80000"/>
              <a:buFont typeface="Wingdings" charset="0"/>
              <a:buChar char="p"/>
            </a:pPr>
            <a:r>
              <a:rPr lang="zh-CN" altLang="en-US" dirty="0">
                <a:latin typeface="Arial" charset="0"/>
                <a:ea typeface="宋体" charset="0"/>
                <a:cs typeface="宋体" charset="0"/>
              </a:rPr>
              <a:t>身份鉴别</a:t>
            </a:r>
            <a:endParaRPr lang="en-US" altLang="zh-CN" dirty="0">
              <a:latin typeface="Arial" charset="0"/>
              <a:ea typeface="宋体" charset="0"/>
              <a:cs typeface="宋体" charset="0"/>
            </a:endParaRPr>
          </a:p>
          <a:p>
            <a:pPr marL="320040" lvl="1" indent="-320040">
              <a:lnSpc>
                <a:spcPct val="130000"/>
              </a:lnSpc>
              <a:spcBef>
                <a:spcPts val="237"/>
              </a:spcBef>
              <a:buClr>
                <a:srgbClr val="91AC4E"/>
              </a:buClr>
              <a:buSzPct val="80000"/>
              <a:buFont typeface="Wingdings" charset="0"/>
              <a:buChar char="p"/>
            </a:pPr>
            <a:r>
              <a:rPr lang="zh-CN" altLang="en-US" dirty="0">
                <a:solidFill>
                  <a:srgbClr val="3366FF"/>
                </a:solidFill>
                <a:latin typeface="Arial" charset="0"/>
                <a:ea typeface="宋体" charset="0"/>
                <a:cs typeface="宋体" charset="0"/>
              </a:rPr>
              <a:t>完整性保护</a:t>
            </a:r>
          </a:p>
          <a:p>
            <a:pPr eaLnBrk="1" hangingPunct="1"/>
            <a:endParaRPr lang="en-US" altLang="zh-CN" dirty="0">
              <a:latin typeface="Arial" charset="0"/>
              <a:ea typeface="黑体" charset="0"/>
            </a:endParaRPr>
          </a:p>
          <a:p>
            <a:pPr eaLnBrk="1" hangingPunct="1"/>
            <a:r>
              <a:rPr lang="zh-CN" altLang="en-US" sz="2160" dirty="0">
                <a:latin typeface="Arial" charset="0"/>
                <a:ea typeface="黑体" charset="0"/>
              </a:rPr>
              <a:t>进一步的目标</a:t>
            </a:r>
          </a:p>
          <a:p>
            <a:pPr marL="320040" lvl="1" indent="-320040">
              <a:lnSpc>
                <a:spcPct val="130000"/>
              </a:lnSpc>
              <a:spcBef>
                <a:spcPts val="237"/>
              </a:spcBef>
              <a:buClr>
                <a:srgbClr val="91AC4E"/>
              </a:buClr>
              <a:buSzPct val="80000"/>
              <a:buFont typeface="Wingdings" charset="0"/>
              <a:buChar char="p"/>
            </a:pPr>
            <a:r>
              <a:rPr lang="en-US" altLang="en-US" dirty="0">
                <a:latin typeface="Arial" charset="0"/>
                <a:ea typeface="宋体" charset="0"/>
                <a:cs typeface="宋体" charset="0"/>
              </a:rPr>
              <a:t>隐蔽</a:t>
            </a:r>
            <a:r>
              <a:rPr lang="zh-CN" altLang="en-US" dirty="0">
                <a:latin typeface="Arial" charset="0"/>
                <a:ea typeface="宋体" charset="0"/>
                <a:cs typeface="宋体" charset="0"/>
              </a:rPr>
              <a:t>通道分析</a:t>
            </a:r>
          </a:p>
          <a:p>
            <a:pPr marL="320040" lvl="1" indent="-320040">
              <a:lnSpc>
                <a:spcPct val="130000"/>
              </a:lnSpc>
              <a:spcBef>
                <a:spcPts val="237"/>
              </a:spcBef>
              <a:buClr>
                <a:srgbClr val="91AC4E"/>
              </a:buClr>
              <a:buSzPct val="80000"/>
              <a:buFont typeface="Wingdings" charset="0"/>
              <a:buChar char="p"/>
            </a:pPr>
            <a:r>
              <a:rPr lang="zh-CN" altLang="en-US" dirty="0">
                <a:latin typeface="Arial" charset="0"/>
                <a:ea typeface="宋体" charset="0"/>
                <a:cs typeface="宋体" charset="0"/>
              </a:rPr>
              <a:t>可信路径</a:t>
            </a:r>
          </a:p>
          <a:p>
            <a:pPr marL="320040" lvl="1" indent="-320040">
              <a:lnSpc>
                <a:spcPct val="130000"/>
              </a:lnSpc>
              <a:spcBef>
                <a:spcPts val="237"/>
              </a:spcBef>
              <a:buClr>
                <a:srgbClr val="91AC4E"/>
              </a:buClr>
              <a:buSzPct val="80000"/>
              <a:buFont typeface="Wingdings" charset="0"/>
              <a:buChar char="p"/>
            </a:pPr>
            <a:r>
              <a:rPr lang="zh-CN" altLang="en-US" dirty="0">
                <a:latin typeface="Arial" charset="0"/>
                <a:ea typeface="宋体" charset="0"/>
                <a:cs typeface="宋体" charset="0"/>
              </a:rPr>
              <a:t>加密算法、代码规范</a:t>
            </a:r>
            <a:endParaRPr lang="en-US" altLang="zh-CN" dirty="0">
              <a:latin typeface="Arial" charset="0"/>
              <a:ea typeface="宋体" charset="0"/>
              <a:cs typeface="宋体" charset="0"/>
            </a:endParaRPr>
          </a:p>
          <a:p>
            <a:pPr marL="320040" lvl="1" indent="-320040">
              <a:lnSpc>
                <a:spcPct val="130000"/>
              </a:lnSpc>
              <a:spcBef>
                <a:spcPts val="237"/>
              </a:spcBef>
              <a:buClr>
                <a:srgbClr val="91AC4E"/>
              </a:buClr>
              <a:buSzPct val="80000"/>
              <a:buFont typeface="Wingdings" charset="0"/>
              <a:buChar char="p"/>
            </a:pPr>
            <a:r>
              <a:rPr lang="zh-CN" altLang="en-US" dirty="0">
                <a:latin typeface="Arial" charset="0"/>
                <a:ea typeface="宋体" charset="0"/>
                <a:cs typeface="宋体" charset="0"/>
              </a:rPr>
              <a:t>潜在的安全漏洞</a:t>
            </a:r>
          </a:p>
        </p:txBody>
      </p:sp>
      <p:sp>
        <p:nvSpPr>
          <p:cNvPr id="11268"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algn="l" eaLnBrk="1" hangingPunct="1"/>
            <a:fld id="{898B9934-AF2F-B442-BF37-6C8FD16D5A30}" type="slidenum">
              <a:rPr lang="en-US" altLang="zh-CN"/>
              <a:pPr algn="l" eaLnBrk="1" hangingPunct="1"/>
              <a:t>22</a:t>
            </a:fld>
            <a:endParaRPr lang="en-US" altLang="zh-CN" dirty="0"/>
          </a:p>
        </p:txBody>
      </p:sp>
      <p:pic>
        <p:nvPicPr>
          <p:cNvPr id="11269" name="Picture 2" descr="http://ts1.cn.mm.bing.net/images/thumbnail.aspx?q=1280709963820&amp;id=967a8d654d464d4a930ed3f22d6868a5&amp;url=http%3a%2f%2fwww.telesalesmagic.com%2fwp-content%2fuploads%2f2009%2f09%2fgoal-targe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767" y="1389843"/>
            <a:ext cx="2916324" cy="20964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 name="矩形 3"/>
          <p:cNvSpPr/>
          <p:nvPr/>
        </p:nvSpPr>
        <p:spPr>
          <a:xfrm>
            <a:off x="5903640" y="3426582"/>
            <a:ext cx="3240360" cy="341632"/>
          </a:xfrm>
          <a:prstGeom prst="rect">
            <a:avLst/>
          </a:prstGeom>
        </p:spPr>
        <p:txBody>
          <a:bodyPr wrap="square">
            <a:spAutoFit/>
          </a:bodyPr>
          <a:lstStyle/>
          <a:p>
            <a:pPr algn="ctr"/>
            <a:r>
              <a:rPr lang="zh-CN" altLang="en-US" sz="1600" dirty="0">
                <a:solidFill>
                  <a:srgbClr val="FF6600"/>
                </a:solidFill>
                <a:latin typeface="Microsoft YaHei" panose="020B0503020204020204" pitchFamily="34" charset="-122"/>
                <a:ea typeface="Microsoft YaHei" panose="020B0503020204020204" pitchFamily="34" charset="-122"/>
              </a:rPr>
              <a:t>数据的机密性、完整性、可用性</a:t>
            </a:r>
          </a:p>
        </p:txBody>
      </p:sp>
      <p:sp>
        <p:nvSpPr>
          <p:cNvPr id="5" name="矩形 4"/>
          <p:cNvSpPr/>
          <p:nvPr/>
        </p:nvSpPr>
        <p:spPr>
          <a:xfrm>
            <a:off x="3016627" y="2182907"/>
            <a:ext cx="2140330" cy="313932"/>
          </a:xfrm>
          <a:prstGeom prst="rect">
            <a:avLst/>
          </a:prstGeom>
        </p:spPr>
        <p:txBody>
          <a:bodyPr wrap="none">
            <a:spAutoFit/>
          </a:bodyPr>
          <a:lstStyle/>
          <a:p>
            <a:r>
              <a:rPr lang="en-US" altLang="zh-CN" sz="1440" dirty="0">
                <a:solidFill>
                  <a:schemeClr val="accent1">
                    <a:lumMod val="50000"/>
                  </a:schemeClr>
                </a:solidFill>
              </a:rPr>
              <a:t>(</a:t>
            </a:r>
            <a:r>
              <a:rPr lang="zh-CN" altLang="en-US" sz="1440" dirty="0">
                <a:solidFill>
                  <a:schemeClr val="accent1">
                    <a:lumMod val="50000"/>
                  </a:schemeClr>
                </a:solidFill>
              </a:rPr>
              <a:t>数据存储、传输和处理</a:t>
            </a:r>
            <a:r>
              <a:rPr lang="en-US" altLang="zh-CN" sz="1440" dirty="0">
                <a:solidFill>
                  <a:schemeClr val="accent1">
                    <a:lumMod val="50000"/>
                  </a:schemeClr>
                </a:solidFill>
              </a:rPr>
              <a:t>)</a:t>
            </a:r>
            <a:endParaRPr lang="zh-CN" altLang="en-US" sz="1440" dirty="0">
              <a:solidFill>
                <a:schemeClr val="accent1">
                  <a:lumMod val="50000"/>
                </a:schemeClr>
              </a:solidFill>
            </a:endParaRPr>
          </a:p>
        </p:txBody>
      </p:sp>
    </p:spTree>
    <p:extLst>
      <p:ext uri="{BB962C8B-B14F-4D97-AF65-F5344CB8AC3E}">
        <p14:creationId xmlns:p14="http://schemas.microsoft.com/office/powerpoint/2010/main" val="3666346130"/>
      </p:ext>
    </p:extLst>
  </p:cSld>
  <p:clrMapOvr>
    <a:masterClrMapping/>
  </p:clrMapOvr>
  <p:transition spd="slow">
    <p:wipe dir="r"/>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601880" y="385226"/>
            <a:ext cx="5573554" cy="421482"/>
          </a:xfrm>
        </p:spPr>
        <p:txBody>
          <a:bodyPr>
            <a:noAutofit/>
          </a:bodyPr>
          <a:lstStyle/>
          <a:p>
            <a:pPr>
              <a:buClr>
                <a:schemeClr val="accent4"/>
              </a:buClr>
            </a:pPr>
            <a:r>
              <a:rPr lang="zh-CN" altLang="en-US" dirty="0"/>
              <a:t>软件安全性测试的范围</a:t>
            </a:r>
          </a:p>
        </p:txBody>
      </p:sp>
      <p:sp>
        <p:nvSpPr>
          <p:cNvPr id="3" name="内容占位符 2"/>
          <p:cNvSpPr>
            <a:spLocks noGrp="1"/>
          </p:cNvSpPr>
          <p:nvPr>
            <p:ph idx="1"/>
          </p:nvPr>
        </p:nvSpPr>
        <p:spPr>
          <a:xfrm>
            <a:off x="877989" y="1133797"/>
            <a:ext cx="7388021" cy="3326769"/>
          </a:xfrm>
        </p:spPr>
        <p:txBody>
          <a:bodyPr/>
          <a:lstStyle/>
          <a:p>
            <a:pPr marL="320040" lvl="1" indent="-320040">
              <a:lnSpc>
                <a:spcPct val="130000"/>
              </a:lnSpc>
              <a:spcBef>
                <a:spcPts val="237"/>
              </a:spcBef>
              <a:buClr>
                <a:srgbClr val="91AC4E"/>
              </a:buClr>
              <a:buSzPct val="80000"/>
              <a:buFont typeface="Wingdings" charset="0"/>
              <a:buChar char="p"/>
              <a:tabLst>
                <a:tab pos="205740" algn="l"/>
              </a:tabLst>
            </a:pPr>
            <a:r>
              <a:rPr lang="zh-CN" altLang="en-US" sz="2160" b="1" dirty="0">
                <a:solidFill>
                  <a:srgbClr val="3366FF"/>
                </a:solidFill>
                <a:latin typeface="Arial" charset="0"/>
                <a:ea typeface="宋体" charset="0"/>
                <a:cs typeface="宋体" charset="0"/>
              </a:rPr>
              <a:t>安全功能测试 </a:t>
            </a:r>
            <a:r>
              <a:rPr lang="en-US" altLang="zh-CN" dirty="0">
                <a:latin typeface="Arial" charset="0"/>
                <a:ea typeface="宋体" charset="0"/>
                <a:cs typeface="宋体" charset="0"/>
              </a:rPr>
              <a:t>(Security Functional Testing)</a:t>
            </a:r>
            <a:r>
              <a:rPr lang="zh-CN" altLang="en-US" sz="2160" dirty="0">
                <a:latin typeface="Arial" charset="0"/>
                <a:ea typeface="宋体" charset="0"/>
                <a:cs typeface="宋体" charset="0"/>
              </a:rPr>
              <a:t>：</a:t>
            </a:r>
            <a:r>
              <a:rPr lang="zh-CN" altLang="en-US" sz="2000" dirty="0">
                <a:latin typeface="Arial" charset="0"/>
                <a:ea typeface="宋体" charset="0"/>
                <a:cs typeface="宋体" charset="0"/>
              </a:rPr>
              <a:t>数据机密性、完整性、可用性、不可否认性、身份认证、授权、访问控制、审计跟踪、委托、隐私保护、安全管理等</a:t>
            </a:r>
            <a:endParaRPr lang="en-US" altLang="zh-CN" sz="2000" dirty="0">
              <a:latin typeface="Arial" charset="0"/>
              <a:ea typeface="宋体" charset="0"/>
              <a:cs typeface="宋体" charset="0"/>
            </a:endParaRPr>
          </a:p>
          <a:p>
            <a:pPr marL="0" lvl="1" indent="0">
              <a:lnSpc>
                <a:spcPct val="130000"/>
              </a:lnSpc>
              <a:spcBef>
                <a:spcPts val="237"/>
              </a:spcBef>
              <a:buClr>
                <a:srgbClr val="91AC4E"/>
              </a:buClr>
              <a:buSzPct val="80000"/>
              <a:tabLst>
                <a:tab pos="205740" algn="l"/>
              </a:tabLst>
            </a:pPr>
            <a:endParaRPr lang="zh-CN" altLang="en-US" sz="2160" dirty="0">
              <a:latin typeface="Arial" charset="0"/>
              <a:ea typeface="宋体" charset="0"/>
              <a:cs typeface="宋体" charset="0"/>
            </a:endParaRPr>
          </a:p>
          <a:p>
            <a:pPr marL="320040" lvl="1" indent="-320040">
              <a:lnSpc>
                <a:spcPct val="130000"/>
              </a:lnSpc>
              <a:spcBef>
                <a:spcPts val="237"/>
              </a:spcBef>
              <a:buClr>
                <a:srgbClr val="91AC4E"/>
              </a:buClr>
              <a:buSzPct val="80000"/>
              <a:buFont typeface="Wingdings" charset="0"/>
              <a:buChar char="p"/>
              <a:tabLst>
                <a:tab pos="205740" algn="l"/>
              </a:tabLst>
            </a:pPr>
            <a:r>
              <a:rPr lang="zh-CN" altLang="en-US" sz="2160" dirty="0">
                <a:solidFill>
                  <a:srgbClr val="3366FF"/>
                </a:solidFill>
                <a:latin typeface="Arial" charset="0"/>
                <a:ea typeface="宋体" charset="0"/>
                <a:cs typeface="宋体" charset="0"/>
              </a:rPr>
              <a:t>安全漏洞测试</a:t>
            </a:r>
            <a:r>
              <a:rPr lang="zh-CN" altLang="en-US" sz="2160" dirty="0">
                <a:latin typeface="Arial" charset="0"/>
                <a:ea typeface="宋体" charset="0"/>
                <a:cs typeface="宋体" charset="0"/>
              </a:rPr>
              <a:t> </a:t>
            </a:r>
            <a:r>
              <a:rPr lang="en-US" altLang="zh-CN" dirty="0">
                <a:latin typeface="Arial" charset="0"/>
                <a:ea typeface="宋体" charset="0"/>
                <a:cs typeface="宋体" charset="0"/>
              </a:rPr>
              <a:t>(Security Vulnerability Testing)</a:t>
            </a:r>
            <a:r>
              <a:rPr lang="zh-CN" altLang="en-US" sz="2160" dirty="0">
                <a:latin typeface="Arial" charset="0"/>
                <a:ea typeface="宋体" charset="0"/>
                <a:cs typeface="宋体" charset="0"/>
              </a:rPr>
              <a:t>：</a:t>
            </a:r>
            <a:r>
              <a:rPr lang="zh-CN" altLang="en-US" sz="2000" dirty="0">
                <a:latin typeface="Arial" charset="0"/>
                <a:ea typeface="宋体" charset="0"/>
              </a:rPr>
              <a:t>从攻击者的角度</a:t>
            </a:r>
            <a:r>
              <a:rPr lang="en-US" altLang="zh-CN" sz="2000" dirty="0">
                <a:latin typeface="Arial" charset="0"/>
                <a:ea typeface="宋体" charset="0"/>
              </a:rPr>
              <a:t>,</a:t>
            </a:r>
            <a:r>
              <a:rPr lang="zh-CN" altLang="en-US" sz="2000" dirty="0">
                <a:latin typeface="Arial" charset="0"/>
                <a:ea typeface="宋体" charset="0"/>
              </a:rPr>
              <a:t> 以发现软件的安全漏洞为目的。安全漏洞是指系统在设计、实现、操作、管理上存在的可被利用的缺陷或弱点</a:t>
            </a:r>
          </a:p>
        </p:txBody>
      </p:sp>
      <p:sp>
        <p:nvSpPr>
          <p:cNvPr id="9220"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algn="l" eaLnBrk="1" hangingPunct="1"/>
            <a:fld id="{B35DEECE-C388-5D48-8DD6-BDCFEF5A218C}" type="slidenum">
              <a:rPr lang="en-US" altLang="zh-CN"/>
              <a:pPr algn="l" eaLnBrk="1" hangingPunct="1"/>
              <a:t>23</a:t>
            </a:fld>
            <a:endParaRPr lang="en-US" altLang="zh-CN" dirty="0"/>
          </a:p>
        </p:txBody>
      </p:sp>
    </p:spTree>
    <p:extLst>
      <p:ext uri="{BB962C8B-B14F-4D97-AF65-F5344CB8AC3E}">
        <p14:creationId xmlns:p14="http://schemas.microsoft.com/office/powerpoint/2010/main" val="2698545315"/>
      </p:ext>
    </p:extLst>
  </p:cSld>
  <p:clrMapOvr>
    <a:masterClrMapping/>
  </p:clrMapOvr>
  <p:transition spd="slow">
    <p:wipe dir="r"/>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96001" y="385225"/>
            <a:ext cx="5573554" cy="421482"/>
          </a:xfrm>
        </p:spPr>
        <p:txBody>
          <a:bodyPr>
            <a:normAutofit fontScale="90000"/>
          </a:bodyPr>
          <a:lstStyle/>
          <a:p>
            <a:pPr>
              <a:buClr>
                <a:schemeClr val="accent4"/>
              </a:buClr>
            </a:pPr>
            <a:r>
              <a:rPr lang="zh-CN" altLang="en-US" dirty="0"/>
              <a:t>功能性测试  </a:t>
            </a:r>
            <a:r>
              <a:rPr lang="en-US" altLang="zh-CN" dirty="0"/>
              <a:t>vs.</a:t>
            </a:r>
            <a:r>
              <a:rPr lang="zh-CN" altLang="en-US" dirty="0"/>
              <a:t> 安全性测试</a:t>
            </a:r>
          </a:p>
        </p:txBody>
      </p:sp>
      <p:sp>
        <p:nvSpPr>
          <p:cNvPr id="3" name="内容占位符 2"/>
          <p:cNvSpPr>
            <a:spLocks noGrp="1"/>
          </p:cNvSpPr>
          <p:nvPr>
            <p:ph idx="1"/>
          </p:nvPr>
        </p:nvSpPr>
        <p:spPr>
          <a:xfrm>
            <a:off x="740667" y="1265328"/>
            <a:ext cx="7508184" cy="2354660"/>
          </a:xfrm>
        </p:spPr>
        <p:txBody>
          <a:bodyPr>
            <a:noAutofit/>
          </a:bodyPr>
          <a:lstStyle/>
          <a:p>
            <a:pPr marL="320040" lvl="1" indent="-320040">
              <a:lnSpc>
                <a:spcPct val="130000"/>
              </a:lnSpc>
              <a:spcBef>
                <a:spcPts val="237"/>
              </a:spcBef>
              <a:buClr>
                <a:srgbClr val="91AC4E"/>
              </a:buClr>
              <a:buSzPct val="80000"/>
              <a:buFont typeface="Wingdings" charset="0"/>
              <a:buChar char="p"/>
              <a:tabLst>
                <a:tab pos="205740" algn="l"/>
              </a:tabLst>
            </a:pPr>
            <a:r>
              <a:rPr lang="zh-CN" altLang="en-US" sz="2000" b="1" dirty="0">
                <a:solidFill>
                  <a:srgbClr val="3366FF"/>
                </a:solidFill>
                <a:cs typeface="宋体" charset="0"/>
              </a:rPr>
              <a:t>功能性测试</a:t>
            </a:r>
            <a:r>
              <a:rPr lang="zh-CN" altLang="en-US" dirty="0">
                <a:cs typeface="宋体" charset="0"/>
              </a:rPr>
              <a:t>：</a:t>
            </a:r>
            <a:r>
              <a:rPr lang="zh-CN" altLang="en-US" dirty="0">
                <a:solidFill>
                  <a:srgbClr val="FF6600"/>
                </a:solidFill>
                <a:cs typeface="宋体" charset="0"/>
              </a:rPr>
              <a:t>软件做它应该做的事，</a:t>
            </a:r>
            <a:r>
              <a:rPr lang="zh-CN" altLang="en-US" dirty="0">
                <a:cs typeface="宋体" charset="0"/>
              </a:rPr>
              <a:t>验证正确的输出</a:t>
            </a:r>
          </a:p>
          <a:p>
            <a:pPr marL="317500" lvl="1" indent="0">
              <a:lnSpc>
                <a:spcPct val="130000"/>
              </a:lnSpc>
              <a:spcBef>
                <a:spcPts val="237"/>
              </a:spcBef>
              <a:buClr>
                <a:srgbClr val="91AC4E"/>
              </a:buClr>
              <a:buSzPct val="80000"/>
              <a:buNone/>
              <a:tabLst>
                <a:tab pos="204788" algn="l"/>
              </a:tabLst>
            </a:pPr>
            <a:r>
              <a:rPr lang="zh-CN" altLang="en-US" dirty="0">
                <a:cs typeface="宋体" charset="0"/>
              </a:rPr>
              <a:t>发现不正确的输出 </a:t>
            </a:r>
            <a:r>
              <a:rPr lang="en-US" altLang="zh-CN" dirty="0">
                <a:cs typeface="宋体" charset="0"/>
              </a:rPr>
              <a:t>/</a:t>
            </a:r>
            <a:r>
              <a:rPr lang="zh-CN" altLang="en-US" dirty="0">
                <a:cs typeface="宋体" charset="0"/>
              </a:rPr>
              <a:t>行为 </a:t>
            </a:r>
            <a:r>
              <a:rPr lang="en-US" altLang="zh-CN" dirty="0">
                <a:cs typeface="宋体" charset="0"/>
              </a:rPr>
              <a:t>/ </a:t>
            </a:r>
            <a:r>
              <a:rPr lang="zh-CN" altLang="en-US" dirty="0">
                <a:cs typeface="宋体" charset="0"/>
              </a:rPr>
              <a:t>缺陷</a:t>
            </a:r>
            <a:r>
              <a:rPr lang="en-US" altLang="zh-CN" dirty="0">
                <a:cs typeface="宋体" charset="0"/>
              </a:rPr>
              <a:t>(Bug)</a:t>
            </a:r>
          </a:p>
          <a:p>
            <a:pPr marL="320040" lvl="1" indent="-320040">
              <a:lnSpc>
                <a:spcPct val="130000"/>
              </a:lnSpc>
              <a:spcBef>
                <a:spcPts val="237"/>
              </a:spcBef>
              <a:buClr>
                <a:srgbClr val="91AC4E"/>
              </a:buClr>
              <a:buSzPct val="80000"/>
              <a:tabLst>
                <a:tab pos="205740" algn="l"/>
              </a:tabLst>
            </a:pPr>
            <a:endParaRPr lang="en-US" altLang="zh-CN" dirty="0">
              <a:cs typeface="宋体" charset="0"/>
            </a:endParaRPr>
          </a:p>
          <a:p>
            <a:pPr marL="320040" lvl="1" indent="-320040">
              <a:lnSpc>
                <a:spcPct val="130000"/>
              </a:lnSpc>
              <a:spcBef>
                <a:spcPts val="237"/>
              </a:spcBef>
              <a:buClr>
                <a:srgbClr val="91AC4E"/>
              </a:buClr>
              <a:buSzPct val="80000"/>
              <a:buFont typeface="Wingdings" charset="0"/>
              <a:buChar char="p"/>
              <a:tabLst>
                <a:tab pos="205740" algn="l"/>
              </a:tabLst>
            </a:pPr>
            <a:r>
              <a:rPr lang="zh-CN" altLang="en-US" sz="2000" b="1" dirty="0">
                <a:solidFill>
                  <a:srgbClr val="3366FF"/>
                </a:solidFill>
              </a:rPr>
              <a:t>安全性测试</a:t>
            </a:r>
            <a:r>
              <a:rPr lang="zh-CN" altLang="en-US" dirty="0">
                <a:cs typeface="宋体" charset="0"/>
              </a:rPr>
              <a:t>：</a:t>
            </a:r>
            <a:r>
              <a:rPr lang="zh-CN" altLang="en-US" dirty="0">
                <a:solidFill>
                  <a:srgbClr val="FF6600"/>
                </a:solidFill>
                <a:cs typeface="宋体" charset="0"/>
              </a:rPr>
              <a:t>软件不做它不应该做的事</a:t>
            </a:r>
            <a:r>
              <a:rPr lang="zh-CN" altLang="en-US" dirty="0">
                <a:cs typeface="宋体" charset="0"/>
              </a:rPr>
              <a:t>，应用输入的验证</a:t>
            </a:r>
            <a:r>
              <a:rPr lang="en-US" altLang="zh-CN" dirty="0">
                <a:cs typeface="宋体" charset="0"/>
              </a:rPr>
              <a:t>, </a:t>
            </a:r>
            <a:r>
              <a:rPr lang="zh-CN" altLang="en-US" dirty="0">
                <a:cs typeface="宋体" charset="0"/>
              </a:rPr>
              <a:t>以避免不安全的事情发生</a:t>
            </a:r>
            <a:r>
              <a:rPr lang="zh-CN" altLang="zh-CN" dirty="0">
                <a:cs typeface="宋体" charset="0"/>
              </a:rPr>
              <a:t>。</a:t>
            </a:r>
            <a:r>
              <a:rPr lang="zh-CN" altLang="en-US" dirty="0">
                <a:cs typeface="宋体" charset="0"/>
              </a:rPr>
              <a:t>在测试软件系统中对危险防止和危险处理设施进行的测试，以验证其是否有效</a:t>
            </a:r>
            <a:endParaRPr lang="en-US" altLang="zh-CN" dirty="0">
              <a:cs typeface="宋体" charset="0"/>
            </a:endParaRPr>
          </a:p>
        </p:txBody>
      </p:sp>
      <p:sp>
        <p:nvSpPr>
          <p:cNvPr id="9220"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algn="l" eaLnBrk="1" hangingPunct="1"/>
            <a:fld id="{B35DEECE-C388-5D48-8DD6-BDCFEF5A218C}" type="slidenum">
              <a:rPr lang="en-US" altLang="zh-CN"/>
              <a:pPr algn="l" eaLnBrk="1" hangingPunct="1"/>
              <a:t>24</a:t>
            </a:fld>
            <a:endParaRPr lang="en-US" altLang="zh-CN" dirty="0"/>
          </a:p>
        </p:txBody>
      </p:sp>
    </p:spTree>
    <p:extLst>
      <p:ext uri="{BB962C8B-B14F-4D97-AF65-F5344CB8AC3E}">
        <p14:creationId xmlns:p14="http://schemas.microsoft.com/office/powerpoint/2010/main" val="3849821174"/>
      </p:ext>
    </p:extLst>
  </p:cSld>
  <p:clrMapOvr>
    <a:masterClrMapping/>
  </p:clrMapOvr>
  <p:transition spd="slow">
    <p:wipe dir="r"/>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95510" y="331099"/>
            <a:ext cx="5487047" cy="421482"/>
          </a:xfrm>
        </p:spPr>
        <p:txBody>
          <a:bodyPr>
            <a:noAutofit/>
          </a:bodyPr>
          <a:lstStyle/>
          <a:p>
            <a:pPr>
              <a:buClr>
                <a:schemeClr val="accent4"/>
              </a:buClr>
            </a:pPr>
            <a:r>
              <a:rPr lang="zh-CN" altLang="en-US" dirty="0"/>
              <a:t>安全性测试的任务</a:t>
            </a:r>
          </a:p>
        </p:txBody>
      </p:sp>
      <p:sp>
        <p:nvSpPr>
          <p:cNvPr id="3" name="内容占位符 2"/>
          <p:cNvSpPr>
            <a:spLocks noGrp="1"/>
          </p:cNvSpPr>
          <p:nvPr>
            <p:ph idx="1"/>
          </p:nvPr>
        </p:nvSpPr>
        <p:spPr>
          <a:xfrm>
            <a:off x="649139" y="978693"/>
            <a:ext cx="8003973" cy="3525930"/>
          </a:xfrm>
        </p:spPr>
        <p:txBody>
          <a:bodyPr>
            <a:normAutofit lnSpcReduction="10000"/>
          </a:bodyPr>
          <a:lstStyle/>
          <a:p>
            <a:pPr marL="320040" lvl="1" indent="-320040">
              <a:lnSpc>
                <a:spcPct val="160000"/>
              </a:lnSpc>
              <a:spcBef>
                <a:spcPts val="237"/>
              </a:spcBef>
              <a:buClr>
                <a:srgbClr val="91AC4E"/>
              </a:buClr>
              <a:buSzPct val="80000"/>
              <a:buFont typeface="Wingdings" charset="0"/>
              <a:buChar char="p"/>
              <a:tabLst>
                <a:tab pos="205740" algn="l"/>
              </a:tabLst>
            </a:pPr>
            <a:r>
              <a:rPr lang="zh-CN" altLang="en-US" dirty="0">
                <a:latin typeface="Arial" charset="0"/>
                <a:ea typeface="宋体" charset="0"/>
                <a:cs typeface="宋体" charset="0"/>
              </a:rPr>
              <a:t>全面检验软件在</a:t>
            </a:r>
            <a:r>
              <a:rPr lang="zh-CN" altLang="en-US" b="1" u="sng" dirty="0">
                <a:solidFill>
                  <a:srgbClr val="3366FF"/>
                </a:solidFill>
                <a:latin typeface="Arial" charset="0"/>
                <a:ea typeface="宋体" charset="0"/>
                <a:cs typeface="宋体" charset="0"/>
              </a:rPr>
              <a:t>需求</a:t>
            </a:r>
            <a:r>
              <a:rPr lang="zh-CN" altLang="en-US" dirty="0">
                <a:latin typeface="Arial" charset="0"/>
                <a:ea typeface="宋体" charset="0"/>
                <a:cs typeface="宋体" charset="0"/>
              </a:rPr>
              <a:t>规格说明中规定的防止危险状态措施的有效性和在每一个危险状态下的反应</a:t>
            </a:r>
          </a:p>
          <a:p>
            <a:pPr marL="320040" lvl="1" indent="-320040">
              <a:lnSpc>
                <a:spcPct val="160000"/>
              </a:lnSpc>
              <a:spcBef>
                <a:spcPts val="237"/>
              </a:spcBef>
              <a:buClr>
                <a:srgbClr val="91AC4E"/>
              </a:buClr>
              <a:buSzPct val="80000"/>
              <a:buFont typeface="Wingdings" charset="0"/>
              <a:buChar char="p"/>
              <a:tabLst>
                <a:tab pos="205740" algn="l"/>
              </a:tabLst>
            </a:pPr>
            <a:r>
              <a:rPr lang="zh-CN" altLang="en-US" dirty="0">
                <a:latin typeface="Arial" charset="0"/>
                <a:ea typeface="宋体" charset="0"/>
                <a:cs typeface="宋体" charset="0"/>
              </a:rPr>
              <a:t>对软件</a:t>
            </a:r>
            <a:r>
              <a:rPr lang="zh-CN" altLang="en-US" b="1" u="sng" dirty="0">
                <a:solidFill>
                  <a:srgbClr val="3366FF"/>
                </a:solidFill>
                <a:latin typeface="Arial" charset="0"/>
                <a:ea typeface="宋体" charset="0"/>
                <a:cs typeface="宋体" charset="0"/>
              </a:rPr>
              <a:t>设计</a:t>
            </a:r>
            <a:r>
              <a:rPr lang="zh-CN" altLang="en-US" dirty="0">
                <a:latin typeface="Arial" charset="0"/>
                <a:ea typeface="宋体" charset="0"/>
                <a:cs typeface="宋体" charset="0"/>
              </a:rPr>
              <a:t>中用于提高安全性的结构、算法、容错、冗余、中断处理等方案，进行针对性测试</a:t>
            </a:r>
          </a:p>
          <a:p>
            <a:pPr marL="320040" lvl="1" indent="-320040">
              <a:lnSpc>
                <a:spcPct val="160000"/>
              </a:lnSpc>
              <a:spcBef>
                <a:spcPts val="237"/>
              </a:spcBef>
              <a:buClr>
                <a:srgbClr val="91AC4E"/>
              </a:buClr>
              <a:buSzPct val="80000"/>
              <a:buFont typeface="Wingdings" charset="0"/>
              <a:buChar char="p"/>
              <a:tabLst>
                <a:tab pos="205740" algn="l"/>
              </a:tabLst>
            </a:pPr>
            <a:r>
              <a:rPr lang="zh-CN" altLang="en-US" dirty="0">
                <a:latin typeface="Arial" charset="0"/>
                <a:ea typeface="宋体" charset="0"/>
                <a:cs typeface="宋体" charset="0"/>
              </a:rPr>
              <a:t>在</a:t>
            </a:r>
            <a:r>
              <a:rPr lang="zh-CN" altLang="en-US" b="1" u="sng" dirty="0">
                <a:solidFill>
                  <a:srgbClr val="3366FF"/>
                </a:solidFill>
                <a:latin typeface="Arial" charset="0"/>
                <a:ea typeface="宋体" charset="0"/>
                <a:cs typeface="宋体" charset="0"/>
              </a:rPr>
              <a:t>异常</a:t>
            </a:r>
            <a:r>
              <a:rPr lang="zh-CN" altLang="en-US" dirty="0">
                <a:latin typeface="Arial" charset="0"/>
                <a:ea typeface="宋体" charset="0"/>
                <a:cs typeface="宋体" charset="0"/>
              </a:rPr>
              <a:t>条件下测试软件，以表明不会因可能的单个或多个输入错误而导致不安全状态</a:t>
            </a:r>
          </a:p>
          <a:p>
            <a:pPr marL="320040" lvl="1" indent="-320040">
              <a:lnSpc>
                <a:spcPct val="160000"/>
              </a:lnSpc>
              <a:spcBef>
                <a:spcPts val="237"/>
              </a:spcBef>
              <a:buClr>
                <a:srgbClr val="91AC4E"/>
              </a:buClr>
              <a:buSzPct val="80000"/>
              <a:buFont typeface="Wingdings" charset="0"/>
              <a:buChar char="p"/>
              <a:tabLst>
                <a:tab pos="205740" algn="l"/>
              </a:tabLst>
            </a:pPr>
            <a:r>
              <a:rPr lang="zh-CN" altLang="en-US" dirty="0">
                <a:latin typeface="Arial" charset="0"/>
                <a:ea typeface="宋体" charset="0"/>
                <a:cs typeface="宋体" charset="0"/>
              </a:rPr>
              <a:t>对安全性</a:t>
            </a:r>
            <a:r>
              <a:rPr lang="zh-CN" altLang="en-US" b="1" u="sng" dirty="0">
                <a:solidFill>
                  <a:srgbClr val="3366FF"/>
                </a:solidFill>
                <a:latin typeface="Arial" charset="0"/>
                <a:ea typeface="宋体" charset="0"/>
                <a:cs typeface="宋体" charset="0"/>
              </a:rPr>
              <a:t>关键的软件单元、组件</a:t>
            </a:r>
            <a:r>
              <a:rPr lang="zh-CN" altLang="en-US" dirty="0">
                <a:latin typeface="Arial" charset="0"/>
                <a:ea typeface="宋体" charset="0"/>
                <a:cs typeface="宋体" charset="0"/>
              </a:rPr>
              <a:t>，单独进行加强的测试，以确认其满足安全性需求</a:t>
            </a:r>
          </a:p>
        </p:txBody>
      </p:sp>
      <p:sp>
        <p:nvSpPr>
          <p:cNvPr id="10244"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algn="l" eaLnBrk="1" hangingPunct="1"/>
            <a:fld id="{B6901119-2479-2341-AAA6-0FAB4226D128}" type="slidenum">
              <a:rPr lang="en-US" altLang="zh-CN"/>
              <a:pPr algn="l" eaLnBrk="1" hangingPunct="1"/>
              <a:t>25</a:t>
            </a:fld>
            <a:endParaRPr lang="en-US" altLang="zh-CN" dirty="0"/>
          </a:p>
        </p:txBody>
      </p:sp>
    </p:spTree>
    <p:extLst>
      <p:ext uri="{BB962C8B-B14F-4D97-AF65-F5344CB8AC3E}">
        <p14:creationId xmlns:p14="http://schemas.microsoft.com/office/powerpoint/2010/main" val="6036602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p:tgtEl>
                                          <p:spTgt spid="3">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768A603-B700-9E35-6DA9-E458E8A800EE}"/>
              </a:ext>
            </a:extLst>
          </p:cNvPr>
          <p:cNvSpPr>
            <a:spLocks noGrp="1"/>
          </p:cNvSpPr>
          <p:nvPr>
            <p:ph type="title"/>
          </p:nvPr>
        </p:nvSpPr>
        <p:spPr/>
        <p:txBody>
          <a:bodyPr/>
          <a:lstStyle/>
          <a:p>
            <a:r>
              <a:rPr kumimoji="1" lang="zh-CN" altLang="en-US" dirty="0">
                <a:solidFill>
                  <a:srgbClr val="0070C0"/>
                </a:solidFill>
              </a:rPr>
              <a:t>安全等级</a:t>
            </a:r>
            <a:endParaRPr kumimoji="1" lang="zh-CN" altLang="en-US" dirty="0"/>
          </a:p>
        </p:txBody>
      </p:sp>
      <p:sp>
        <p:nvSpPr>
          <p:cNvPr id="4" name="Rectangle 3">
            <a:extLst>
              <a:ext uri="{FF2B5EF4-FFF2-40B4-BE49-F238E27FC236}">
                <a16:creationId xmlns:a16="http://schemas.microsoft.com/office/drawing/2014/main" id="{EE2DEAAE-34BD-8141-57A4-2CC01967DD89}"/>
              </a:ext>
            </a:extLst>
          </p:cNvPr>
          <p:cNvSpPr txBox="1">
            <a:spLocks noChangeArrowheads="1"/>
          </p:cNvSpPr>
          <p:nvPr/>
        </p:nvSpPr>
        <p:spPr>
          <a:xfrm>
            <a:off x="813183" y="1356615"/>
            <a:ext cx="3564396" cy="2430270"/>
          </a:xfrm>
          <a:prstGeom prst="rect">
            <a:avLst/>
          </a:prstGeom>
        </p:spPr>
        <p:txBody>
          <a:bodyPr vert="horz" lIns="91440" tIns="45720" rIns="91440" bIns="45720" rtlCol="0">
            <a:normAutofit/>
          </a:bodyPr>
          <a:lstStyle>
            <a:lvl1pPr marL="171450" indent="-171450" algn="l" defTabSz="685800" rtl="0" eaLnBrk="1" latinLnBrk="0" hangingPunct="1">
              <a:lnSpc>
                <a:spcPct val="150000"/>
              </a:lnSpc>
              <a:spcBef>
                <a:spcPts val="750"/>
              </a:spcBef>
              <a:buFont typeface="Arial" panose="020B0604020202020204" pitchFamily="34" charset="0"/>
              <a:buChar char="•"/>
              <a:defRPr sz="21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1pPr>
            <a:lvl2pPr marL="514350" indent="-171450" algn="l" defTabSz="685800" rtl="0" eaLnBrk="1" latinLnBrk="0" hangingPunct="1">
              <a:lnSpc>
                <a:spcPct val="150000"/>
              </a:lnSpc>
              <a:spcBef>
                <a:spcPts val="375"/>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2pPr>
            <a:lvl3pPr marL="857250" indent="-171450" algn="l" defTabSz="685800" rtl="0" eaLnBrk="1" latinLnBrk="0" hangingPunct="1">
              <a:lnSpc>
                <a:spcPct val="150000"/>
              </a:lnSpc>
              <a:spcBef>
                <a:spcPts val="375"/>
              </a:spcBef>
              <a:buFont typeface="Arial" panose="020B0604020202020204" pitchFamily="34" charset="0"/>
              <a:buChar char="•"/>
              <a:defRPr sz="150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3pPr>
            <a:lvl4pPr marL="1200150" indent="-171450" algn="l" defTabSz="685800" rtl="0" eaLnBrk="1" latinLnBrk="0" hangingPunct="1">
              <a:lnSpc>
                <a:spcPct val="150000"/>
              </a:lnSpc>
              <a:spcBef>
                <a:spcPts val="375"/>
              </a:spcBef>
              <a:buFont typeface="Arial" panose="020B0604020202020204" pitchFamily="34" charset="0"/>
              <a:buChar char="•"/>
              <a:defRPr sz="135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4pPr>
            <a:lvl5pPr marL="1543050" indent="-171450" algn="l" defTabSz="685800" rtl="0" eaLnBrk="1" latinLnBrk="0" hangingPunct="1">
              <a:lnSpc>
                <a:spcPct val="150000"/>
              </a:lnSpc>
              <a:spcBef>
                <a:spcPts val="375"/>
              </a:spcBef>
              <a:buFont typeface="Arial" panose="020B0604020202020204" pitchFamily="34" charset="0"/>
              <a:buChar char="•"/>
              <a:defRPr sz="1350" kern="1200">
                <a:solidFill>
                  <a:schemeClr val="tx1"/>
                </a:solidFill>
                <a:latin typeface="Microsoft YaHei" panose="020B0503020204020204" pitchFamily="34" charset="-122"/>
                <a:ea typeface="Microsoft YaHei" panose="020B0503020204020204" pitchFamily="34" charset="-122"/>
                <a:cs typeface="Microsoft YaHei" panose="020B0503020204020204" pitchFamily="3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62915" lvl="1" indent="-462915">
              <a:lnSpc>
                <a:spcPct val="130000"/>
              </a:lnSpc>
              <a:spcBef>
                <a:spcPts val="237"/>
              </a:spcBef>
              <a:buClr>
                <a:srgbClr val="91AC4E"/>
              </a:buClr>
              <a:buSzPct val="80000"/>
              <a:buFont typeface="+mj-lt"/>
              <a:buAutoNum type="romanUcPeriod"/>
              <a:tabLst>
                <a:tab pos="205740" algn="l"/>
              </a:tabLst>
            </a:pPr>
            <a:r>
              <a:rPr lang="zh-CN" altLang="en-US" sz="2160" dirty="0">
                <a:latin typeface="Arial"/>
                <a:ea typeface="宋体" charset="0"/>
                <a:cs typeface="Arial"/>
              </a:rPr>
              <a:t>用户自主保护级</a:t>
            </a:r>
          </a:p>
          <a:p>
            <a:pPr marL="462915" lvl="1" indent="-462915">
              <a:lnSpc>
                <a:spcPct val="130000"/>
              </a:lnSpc>
              <a:spcBef>
                <a:spcPts val="237"/>
              </a:spcBef>
              <a:buClr>
                <a:srgbClr val="91AC4E"/>
              </a:buClr>
              <a:buSzPct val="80000"/>
              <a:buFont typeface="+mj-lt"/>
              <a:buAutoNum type="romanUcPeriod"/>
              <a:tabLst>
                <a:tab pos="205740" algn="l"/>
              </a:tabLst>
            </a:pPr>
            <a:r>
              <a:rPr lang="zh-CN" altLang="en-US" sz="2160" dirty="0">
                <a:latin typeface="Arial"/>
                <a:ea typeface="宋体" charset="0"/>
                <a:cs typeface="Arial"/>
              </a:rPr>
              <a:t>系统审计保护级</a:t>
            </a:r>
          </a:p>
          <a:p>
            <a:pPr marL="462915" lvl="1" indent="-462915">
              <a:lnSpc>
                <a:spcPct val="130000"/>
              </a:lnSpc>
              <a:spcBef>
                <a:spcPts val="237"/>
              </a:spcBef>
              <a:buClr>
                <a:srgbClr val="91AC4E"/>
              </a:buClr>
              <a:buSzPct val="80000"/>
              <a:buFont typeface="+mj-lt"/>
              <a:buAutoNum type="romanUcPeriod"/>
              <a:tabLst>
                <a:tab pos="205740" algn="l"/>
              </a:tabLst>
            </a:pPr>
            <a:r>
              <a:rPr lang="zh-CN" altLang="en-US" sz="2160" dirty="0">
                <a:latin typeface="Arial"/>
                <a:ea typeface="宋体" charset="0"/>
                <a:cs typeface="Arial"/>
              </a:rPr>
              <a:t>安全标记保护级</a:t>
            </a:r>
          </a:p>
          <a:p>
            <a:pPr marL="462915" lvl="1" indent="-462915">
              <a:lnSpc>
                <a:spcPct val="130000"/>
              </a:lnSpc>
              <a:spcBef>
                <a:spcPts val="237"/>
              </a:spcBef>
              <a:buClr>
                <a:srgbClr val="91AC4E"/>
              </a:buClr>
              <a:buSzPct val="80000"/>
              <a:buFont typeface="+mj-lt"/>
              <a:buAutoNum type="romanUcPeriod"/>
              <a:tabLst>
                <a:tab pos="205740" algn="l"/>
              </a:tabLst>
            </a:pPr>
            <a:r>
              <a:rPr lang="zh-CN" altLang="en-US" sz="2160" dirty="0">
                <a:latin typeface="Arial"/>
                <a:ea typeface="宋体" charset="0"/>
                <a:cs typeface="Arial"/>
              </a:rPr>
              <a:t>结构化保护级</a:t>
            </a:r>
          </a:p>
          <a:p>
            <a:pPr marL="462915" lvl="1" indent="-462915">
              <a:lnSpc>
                <a:spcPct val="130000"/>
              </a:lnSpc>
              <a:spcBef>
                <a:spcPts val="237"/>
              </a:spcBef>
              <a:buClr>
                <a:srgbClr val="91AC4E"/>
              </a:buClr>
              <a:buSzPct val="80000"/>
              <a:buFont typeface="+mj-lt"/>
              <a:buAutoNum type="romanUcPeriod"/>
              <a:tabLst>
                <a:tab pos="205740" algn="l"/>
              </a:tabLst>
            </a:pPr>
            <a:r>
              <a:rPr lang="zh-CN" altLang="en-US" sz="2160" dirty="0">
                <a:latin typeface="Arial"/>
                <a:ea typeface="宋体" charset="0"/>
                <a:cs typeface="Arial"/>
              </a:rPr>
              <a:t>访问验证保护级</a:t>
            </a:r>
          </a:p>
        </p:txBody>
      </p:sp>
      <p:pic>
        <p:nvPicPr>
          <p:cNvPr id="5" name="图片 4" descr="屏幕快照 2014-04-12 下午9.31.58.png">
            <a:extLst>
              <a:ext uri="{FF2B5EF4-FFF2-40B4-BE49-F238E27FC236}">
                <a16:creationId xmlns:a16="http://schemas.microsoft.com/office/drawing/2014/main" id="{3DDF50B3-8B8B-22DC-FB86-96B5DB6198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6422" y="369058"/>
            <a:ext cx="3492563" cy="4231818"/>
          </a:xfrm>
          <a:prstGeom prst="rect">
            <a:avLst/>
          </a:prstGeom>
        </p:spPr>
      </p:pic>
    </p:spTree>
    <p:extLst>
      <p:ext uri="{BB962C8B-B14F-4D97-AF65-F5344CB8AC3E}">
        <p14:creationId xmlns:p14="http://schemas.microsoft.com/office/powerpoint/2010/main" val="25594666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9917" name="Rectangle 2"/>
          <p:cNvSpPr>
            <a:spLocks noChangeArrowheads="1"/>
          </p:cNvSpPr>
          <p:nvPr/>
        </p:nvSpPr>
        <p:spPr bwMode="auto">
          <a:xfrm>
            <a:off x="557094" y="331438"/>
            <a:ext cx="4860541" cy="4801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defTabSz="685800">
              <a:lnSpc>
                <a:spcPct val="90000"/>
              </a:lnSpc>
              <a:spcBef>
                <a:spcPct val="0"/>
              </a:spcBef>
              <a:buClr>
                <a:schemeClr val="accent4"/>
              </a:buClr>
            </a:pPr>
            <a:r>
              <a:rPr kumimoji="1" lang="zh-CN" altLang="en-US" sz="2800" b="1" dirty="0">
                <a:solidFill>
                  <a:srgbClr val="0070C0"/>
                </a:solidFill>
                <a:latin typeface="Microsoft YaHei" panose="020B0503020204020204" pitchFamily="34" charset="-122"/>
                <a:ea typeface="Microsoft YaHei" panose="020B0503020204020204" pitchFamily="34" charset="-122"/>
              </a:rPr>
              <a:t>不同等级的安全要求</a:t>
            </a:r>
          </a:p>
        </p:txBody>
      </p:sp>
      <p:pic>
        <p:nvPicPr>
          <p:cNvPr id="4" name="图片 3" descr="屏幕快照 2017-04-25 下午10.19.4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0291" y="989418"/>
            <a:ext cx="7290353" cy="3361197"/>
          </a:xfrm>
          <a:prstGeom prst="rect">
            <a:avLst/>
          </a:prstGeom>
        </p:spPr>
      </p:pic>
    </p:spTree>
    <p:extLst>
      <p:ext uri="{BB962C8B-B14F-4D97-AF65-F5344CB8AC3E}">
        <p14:creationId xmlns:p14="http://schemas.microsoft.com/office/powerpoint/2010/main" val="516211940"/>
      </p:ext>
    </p:extLst>
  </p:cSld>
  <p:clrMapOvr>
    <a:masterClrMapping/>
  </p:clrMapOvr>
  <p:transition spd="slow">
    <p:wipe dir="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63536" y="312784"/>
            <a:ext cx="5746275" cy="421482"/>
          </a:xfrm>
        </p:spPr>
        <p:txBody>
          <a:bodyPr>
            <a:noAutofit/>
          </a:bodyPr>
          <a:lstStyle/>
          <a:p>
            <a:pPr>
              <a:buClr>
                <a:schemeClr val="accent4"/>
              </a:buClr>
            </a:pPr>
            <a:r>
              <a:rPr lang="zh-CN" altLang="en-US" dirty="0"/>
              <a:t>不同安全级别的安全功能测试</a:t>
            </a:r>
          </a:p>
        </p:txBody>
      </p:sp>
      <p:sp>
        <p:nvSpPr>
          <p:cNvPr id="4" name="幻灯片编号占位符 3"/>
          <p:cNvSpPr>
            <a:spLocks noGrp="1"/>
          </p:cNvSpPr>
          <p:nvPr>
            <p:ph type="sldNum" sz="quarter" idx="10"/>
          </p:nvPr>
        </p:nvSpPr>
        <p:spPr/>
        <p:txBody>
          <a:bodyPr/>
          <a:lstStyle/>
          <a:p>
            <a:fld id="{465EFE0A-B425-5D4C-B2B5-64972D2E3BEB}" type="slidenum">
              <a:rPr lang="en-US" altLang="zh-CN" smtClean="0"/>
              <a:pPr/>
              <a:t>28</a:t>
            </a:fld>
            <a:endParaRPr lang="en-US" altLang="zh-CN" dirty="0"/>
          </a:p>
        </p:txBody>
      </p:sp>
      <p:pic>
        <p:nvPicPr>
          <p:cNvPr id="19" name="图片 18" descr="屏幕快照 2017-04-25 下午10.20.36.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7701" y="852747"/>
            <a:ext cx="6749035" cy="3765152"/>
          </a:xfrm>
          <a:prstGeom prst="rect">
            <a:avLst/>
          </a:prstGeom>
        </p:spPr>
      </p:pic>
    </p:spTree>
    <p:extLst>
      <p:ext uri="{BB962C8B-B14F-4D97-AF65-F5344CB8AC3E}">
        <p14:creationId xmlns:p14="http://schemas.microsoft.com/office/powerpoint/2010/main" val="1057085898"/>
      </p:ext>
    </p:extLst>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73857" y="339719"/>
            <a:ext cx="5443805" cy="421481"/>
          </a:xfrm>
        </p:spPr>
        <p:txBody>
          <a:bodyPr>
            <a:noAutofit/>
          </a:bodyPr>
          <a:lstStyle/>
          <a:p>
            <a:pPr>
              <a:buClr>
                <a:schemeClr val="accent4"/>
              </a:buClr>
            </a:pPr>
            <a:r>
              <a:rPr lang="zh-CN" altLang="en-US" dirty="0"/>
              <a:t>安全性测试方法</a:t>
            </a:r>
          </a:p>
        </p:txBody>
      </p:sp>
      <p:sp>
        <p:nvSpPr>
          <p:cNvPr id="13315"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eaLnBrk="1" hangingPunct="1"/>
            <a:fld id="{8B567B61-5153-764A-9703-2F965272F31D}" type="slidenum">
              <a:rPr lang="en-US" altLang="zh-CN"/>
              <a:pPr eaLnBrk="1" hangingPunct="1"/>
              <a:t>29</a:t>
            </a:fld>
            <a:endParaRPr lang="en-US" altLang="zh-CN"/>
          </a:p>
        </p:txBody>
      </p:sp>
      <p:sp>
        <p:nvSpPr>
          <p:cNvPr id="5" name="矩形 4"/>
          <p:cNvSpPr/>
          <p:nvPr/>
        </p:nvSpPr>
        <p:spPr>
          <a:xfrm>
            <a:off x="5525548" y="1034194"/>
            <a:ext cx="2703836" cy="3385542"/>
          </a:xfrm>
          <a:prstGeom prst="rect">
            <a:avLst/>
          </a:prstGeom>
          <a:solidFill>
            <a:srgbClr val="E3C96C">
              <a:alpha val="51000"/>
            </a:srgbClr>
          </a:solidFill>
        </p:spPr>
        <p:txBody>
          <a:bodyPr wrap="square">
            <a:spAutoFit/>
          </a:bodyPr>
          <a:lstStyle/>
          <a:p>
            <a:pPr marL="0" lvl="1" indent="-320040">
              <a:lnSpc>
                <a:spcPct val="130000"/>
              </a:lnSpc>
              <a:buClr>
                <a:srgbClr val="91AC4E"/>
              </a:buClr>
              <a:buSzPct val="80000"/>
              <a:tabLst>
                <a:tab pos="205740" algn="l"/>
              </a:tabLst>
            </a:pPr>
            <a:r>
              <a:rPr lang="zh-CN" altLang="en-US" sz="2160" b="1" dirty="0">
                <a:solidFill>
                  <a:srgbClr val="C00000"/>
                </a:solidFill>
                <a:latin typeface="Microsoft YaHei" panose="020B0503020204020204" pitchFamily="34" charset="-122"/>
                <a:ea typeface="Microsoft YaHei" panose="020B0503020204020204" pitchFamily="34" charset="-122"/>
              </a:rPr>
              <a:t>静态测试方法</a:t>
            </a:r>
            <a:endParaRPr lang="en-US" altLang="zh-CN" sz="2160" b="1" dirty="0">
              <a:solidFill>
                <a:srgbClr val="C00000"/>
              </a:solidFill>
              <a:latin typeface="Microsoft YaHei" panose="020B0503020204020204" pitchFamily="34" charset="-122"/>
              <a:ea typeface="Microsoft YaHei" panose="020B0503020204020204" pitchFamily="34" charset="-122"/>
            </a:endParaRPr>
          </a:p>
          <a:p>
            <a:pPr marL="0" lvl="1" indent="-320040">
              <a:lnSpc>
                <a:spcPct val="130000"/>
              </a:lnSpc>
              <a:spcBef>
                <a:spcPts val="237"/>
              </a:spcBef>
              <a:buClr>
                <a:srgbClr val="91AC4E"/>
              </a:buClr>
              <a:buSzPct val="80000"/>
              <a:buFont typeface="Wingdings" charset="0"/>
              <a:buChar char="p"/>
              <a:tabLst>
                <a:tab pos="205740" algn="l"/>
              </a:tabLst>
            </a:pPr>
            <a:r>
              <a:rPr kumimoji="1" lang="zh-CN" altLang="en-US" dirty="0">
                <a:latin typeface="Microsoft YaHei" panose="020B0503020204020204" pitchFamily="34" charset="-122"/>
                <a:ea typeface="Microsoft YaHei" panose="020B0503020204020204" pitchFamily="34" charset="-122"/>
              </a:rPr>
              <a:t>工具扫描</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分析代码</a:t>
            </a:r>
            <a:endParaRPr kumimoji="1" lang="en-US" altLang="zh-CN" dirty="0">
              <a:latin typeface="Microsoft YaHei" panose="020B0503020204020204" pitchFamily="34" charset="-122"/>
              <a:ea typeface="Microsoft YaHei" panose="020B0503020204020204" pitchFamily="34" charset="-122"/>
            </a:endParaRPr>
          </a:p>
          <a:p>
            <a:pPr marL="0" lvl="1" indent="-320040">
              <a:lnSpc>
                <a:spcPct val="130000"/>
              </a:lnSpc>
              <a:spcBef>
                <a:spcPts val="237"/>
              </a:spcBef>
              <a:buClr>
                <a:srgbClr val="91AC4E"/>
              </a:buClr>
              <a:buSzPct val="80000"/>
              <a:buFont typeface="Wingdings" charset="0"/>
              <a:buChar char="p"/>
              <a:tabLst>
                <a:tab pos="205740" algn="l"/>
              </a:tabLst>
            </a:pPr>
            <a:r>
              <a:rPr kumimoji="1" lang="zh-CN" altLang="en-US" dirty="0">
                <a:latin typeface="Microsoft YaHei" panose="020B0503020204020204" pitchFamily="34" charset="-122"/>
                <a:ea typeface="Microsoft YaHei" panose="020B0503020204020204" pitchFamily="34" charset="-122"/>
              </a:rPr>
              <a:t>人工评审：架构</a:t>
            </a:r>
            <a:r>
              <a:rPr kumimoji="1" lang="en-US" altLang="zh-CN"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代码</a:t>
            </a:r>
            <a:endParaRPr kumimoji="1" lang="en-US" altLang="zh-CN" dirty="0">
              <a:latin typeface="Microsoft YaHei" panose="020B0503020204020204" pitchFamily="34" charset="-122"/>
              <a:ea typeface="Microsoft YaHei" panose="020B0503020204020204" pitchFamily="34" charset="-122"/>
            </a:endParaRPr>
          </a:p>
          <a:p>
            <a:pPr marL="0" lvl="1" indent="-320040">
              <a:lnSpc>
                <a:spcPct val="130000"/>
              </a:lnSpc>
              <a:spcBef>
                <a:spcPts val="237"/>
              </a:spcBef>
              <a:buClr>
                <a:srgbClr val="91AC4E"/>
              </a:buClr>
              <a:buSzPct val="80000"/>
              <a:buFont typeface="Wingdings" charset="0"/>
              <a:buChar char="p"/>
              <a:tabLst>
                <a:tab pos="205740" algn="l"/>
              </a:tabLst>
            </a:pPr>
            <a:r>
              <a:rPr kumimoji="1" lang="zh-CN" altLang="en-US" dirty="0">
                <a:latin typeface="Microsoft YaHei" panose="020B0503020204020204" pitchFamily="34" charset="-122"/>
                <a:ea typeface="Microsoft YaHei" panose="020B0503020204020204" pitchFamily="34" charset="-122"/>
              </a:rPr>
              <a:t>专家安全风险评估</a:t>
            </a:r>
            <a:endParaRPr kumimoji="1" lang="en-US" altLang="zh-CN" dirty="0">
              <a:latin typeface="Microsoft YaHei" panose="020B0503020204020204" pitchFamily="34" charset="-122"/>
              <a:ea typeface="Microsoft YaHei" panose="020B0503020204020204" pitchFamily="34" charset="-122"/>
            </a:endParaRPr>
          </a:p>
          <a:p>
            <a:pPr>
              <a:tabLst>
                <a:tab pos="205740" algn="l"/>
              </a:tabLst>
            </a:pPr>
            <a:endParaRPr lang="en-US" altLang="zh-CN" sz="1620" dirty="0">
              <a:latin typeface="Microsoft YaHei" panose="020B0503020204020204" pitchFamily="34" charset="-122"/>
              <a:ea typeface="Microsoft YaHei" panose="020B0503020204020204" pitchFamily="34" charset="-122"/>
            </a:endParaRPr>
          </a:p>
          <a:p>
            <a:pPr marL="0" lvl="1" indent="-320040">
              <a:tabLst>
                <a:tab pos="205740" algn="l"/>
              </a:tabLst>
            </a:pPr>
            <a:r>
              <a:rPr lang="zh-CN" altLang="en-US" sz="2160" b="1" dirty="0">
                <a:solidFill>
                  <a:srgbClr val="C00000"/>
                </a:solidFill>
                <a:latin typeface="Microsoft YaHei" panose="020B0503020204020204" pitchFamily="34" charset="-122"/>
                <a:ea typeface="Microsoft YaHei" panose="020B0503020204020204" pitchFamily="34" charset="-122"/>
              </a:rPr>
              <a:t>动态测试方法</a:t>
            </a:r>
            <a:endParaRPr lang="en-US" altLang="zh-CN" sz="2160" b="1" dirty="0">
              <a:solidFill>
                <a:srgbClr val="C00000"/>
              </a:solidFill>
              <a:latin typeface="Microsoft YaHei" panose="020B0503020204020204" pitchFamily="34" charset="-122"/>
              <a:ea typeface="Microsoft YaHei" panose="020B0503020204020204" pitchFamily="34" charset="-122"/>
            </a:endParaRPr>
          </a:p>
          <a:p>
            <a:pPr marL="0" lvl="1" indent="-320040">
              <a:lnSpc>
                <a:spcPct val="130000"/>
              </a:lnSpc>
              <a:spcBef>
                <a:spcPts val="237"/>
              </a:spcBef>
              <a:buClr>
                <a:srgbClr val="91AC4E"/>
              </a:buClr>
              <a:buSzPct val="80000"/>
              <a:buFont typeface="Wingdings" charset="0"/>
              <a:buChar char="p"/>
              <a:tabLst>
                <a:tab pos="205740" algn="l"/>
              </a:tabLst>
            </a:pPr>
            <a:r>
              <a:rPr lang="zh-CN" altLang="en-US" dirty="0">
                <a:latin typeface="Microsoft YaHei" panose="020B0503020204020204" pitchFamily="34" charset="-122"/>
                <a:ea typeface="Microsoft YaHei" panose="020B0503020204020204" pitchFamily="34" charset="-122"/>
              </a:rPr>
              <a:t>功能测试方法</a:t>
            </a:r>
            <a:endParaRPr lang="en-US" altLang="zh-CN" dirty="0">
              <a:latin typeface="Microsoft YaHei" panose="020B0503020204020204" pitchFamily="34" charset="-122"/>
              <a:ea typeface="Microsoft YaHei" panose="020B0503020204020204" pitchFamily="34" charset="-122"/>
            </a:endParaRPr>
          </a:p>
          <a:p>
            <a:pPr marL="0" lvl="1" indent="-320040">
              <a:lnSpc>
                <a:spcPct val="130000"/>
              </a:lnSpc>
              <a:spcBef>
                <a:spcPts val="237"/>
              </a:spcBef>
              <a:buClr>
                <a:srgbClr val="91AC4E"/>
              </a:buClr>
              <a:buSzPct val="80000"/>
              <a:buFont typeface="Wingdings" charset="0"/>
              <a:buChar char="p"/>
              <a:tabLst>
                <a:tab pos="205740" algn="l"/>
              </a:tabLst>
            </a:pPr>
            <a:r>
              <a:rPr lang="zh-CN" altLang="en-US" dirty="0">
                <a:latin typeface="Microsoft YaHei" panose="020B0503020204020204" pitchFamily="34" charset="-122"/>
                <a:ea typeface="Microsoft YaHei" panose="020B0503020204020204" pitchFamily="34" charset="-122"/>
              </a:rPr>
              <a:t>模糊测试方法</a:t>
            </a:r>
            <a:endParaRPr lang="en-US" altLang="zh-CN" dirty="0">
              <a:latin typeface="Microsoft YaHei" panose="020B0503020204020204" pitchFamily="34" charset="-122"/>
              <a:ea typeface="Microsoft YaHei" panose="020B0503020204020204" pitchFamily="34" charset="-122"/>
            </a:endParaRPr>
          </a:p>
          <a:p>
            <a:pPr marL="0" lvl="1" indent="-320040">
              <a:lnSpc>
                <a:spcPct val="130000"/>
              </a:lnSpc>
              <a:spcBef>
                <a:spcPts val="237"/>
              </a:spcBef>
              <a:buClr>
                <a:srgbClr val="91AC4E"/>
              </a:buClr>
              <a:buSzPct val="80000"/>
              <a:buFont typeface="Wingdings" charset="0"/>
              <a:buChar char="p"/>
              <a:tabLst>
                <a:tab pos="205740" algn="l"/>
              </a:tabLst>
            </a:pPr>
            <a:r>
              <a:rPr lang="zh-CN" altLang="en-US" dirty="0">
                <a:latin typeface="Microsoft YaHei" panose="020B0503020204020204" pitchFamily="34" charset="-122"/>
                <a:ea typeface="Microsoft YaHei" panose="020B0503020204020204" pitchFamily="34" charset="-122"/>
              </a:rPr>
              <a:t>渗透测试方法</a:t>
            </a:r>
            <a:endParaRPr lang="en-US" altLang="zh-CN" dirty="0">
              <a:latin typeface="Microsoft YaHei" panose="020B0503020204020204" pitchFamily="34" charset="-122"/>
              <a:ea typeface="Microsoft YaHei" panose="020B0503020204020204" pitchFamily="34" charset="-122"/>
            </a:endParaRPr>
          </a:p>
        </p:txBody>
      </p:sp>
      <p:sp>
        <p:nvSpPr>
          <p:cNvPr id="6" name="矩形 5"/>
          <p:cNvSpPr/>
          <p:nvPr/>
        </p:nvSpPr>
        <p:spPr>
          <a:xfrm>
            <a:off x="753888" y="1265733"/>
            <a:ext cx="3818112" cy="2921377"/>
          </a:xfrm>
          <a:prstGeom prst="rect">
            <a:avLst/>
          </a:prstGeom>
          <a:solidFill>
            <a:schemeClr val="accent4">
              <a:lumMod val="20000"/>
              <a:lumOff val="80000"/>
              <a:alpha val="50000"/>
            </a:schemeClr>
          </a:solidFill>
        </p:spPr>
        <p:txBody>
          <a:bodyPr wrap="square">
            <a:spAutoFit/>
          </a:bodyPr>
          <a:lstStyle/>
          <a:p>
            <a:pPr marL="0" lvl="1" indent="-320040">
              <a:lnSpc>
                <a:spcPct val="150000"/>
              </a:lnSpc>
              <a:spcBef>
                <a:spcPts val="237"/>
              </a:spcBef>
              <a:buClr>
                <a:srgbClr val="91AC4E"/>
              </a:buClr>
              <a:buSzPct val="80000"/>
              <a:buFont typeface="Wingdings" charset="0"/>
              <a:buChar char="p"/>
              <a:tabLst>
                <a:tab pos="205740" algn="l"/>
              </a:tabLst>
            </a:pPr>
            <a:r>
              <a:rPr lang="zh-CN" altLang="en-US" sz="2000" b="1" dirty="0">
                <a:solidFill>
                  <a:srgbClr val="3366FF"/>
                </a:solidFill>
                <a:latin typeface="Microsoft YaHei" panose="020B0503020204020204" pitchFamily="34" charset="-122"/>
                <a:ea typeface="Microsoft YaHei" panose="020B0503020204020204" pitchFamily="34" charset="-122"/>
              </a:rPr>
              <a:t>基于威胁的方法</a:t>
            </a:r>
            <a:endParaRPr lang="en-US" altLang="zh-CN" sz="2000" b="1" dirty="0">
              <a:solidFill>
                <a:srgbClr val="3366FF"/>
              </a:solidFill>
              <a:latin typeface="Microsoft YaHei" panose="020B0503020204020204" pitchFamily="34" charset="-122"/>
              <a:ea typeface="Microsoft YaHei" panose="020B0503020204020204" pitchFamily="34" charset="-122"/>
            </a:endParaRPr>
          </a:p>
          <a:p>
            <a:pPr marL="0" lvl="1">
              <a:lnSpc>
                <a:spcPct val="150000"/>
              </a:lnSpc>
              <a:spcBef>
                <a:spcPts val="237"/>
              </a:spcBef>
              <a:buClr>
                <a:srgbClr val="91AC4E"/>
              </a:buClr>
              <a:buSzPct val="80000"/>
              <a:tabLst>
                <a:tab pos="205740" algn="l"/>
              </a:tabLst>
            </a:pPr>
            <a:r>
              <a:rPr lang="zh-CN" altLang="en-US" sz="1600" dirty="0">
                <a:latin typeface="Microsoft YaHei" panose="020B0503020204020204" pitchFamily="34" charset="-122"/>
                <a:ea typeface="Microsoft YaHei" panose="020B0503020204020204" pitchFamily="34" charset="-122"/>
              </a:rPr>
              <a:t>从软件</a:t>
            </a:r>
            <a:r>
              <a:rPr lang="zh-CN" altLang="en-US" sz="1600" dirty="0">
                <a:solidFill>
                  <a:srgbClr val="FF6600"/>
                </a:solidFill>
                <a:latin typeface="Microsoft YaHei" panose="020B0503020204020204" pitchFamily="34" charset="-122"/>
                <a:ea typeface="Microsoft YaHei" panose="020B0503020204020204" pitchFamily="34" charset="-122"/>
              </a:rPr>
              <a:t>外部</a:t>
            </a:r>
            <a:r>
              <a:rPr lang="zh-CN" altLang="en-US" sz="1600" dirty="0">
                <a:latin typeface="Microsoft YaHei" panose="020B0503020204020204" pitchFamily="34" charset="-122"/>
                <a:ea typeface="Microsoft YaHei" panose="020B0503020204020204" pitchFamily="34" charset="-122"/>
              </a:rPr>
              <a:t>考察其安全性，识别软件面临的安全威胁并测试其是否能够发生</a:t>
            </a:r>
            <a:endParaRPr lang="en-US" altLang="zh-CN" sz="1600" dirty="0">
              <a:latin typeface="Microsoft YaHei" panose="020B0503020204020204" pitchFamily="34" charset="-122"/>
              <a:ea typeface="Microsoft YaHei" panose="020B0503020204020204" pitchFamily="34" charset="-122"/>
            </a:endParaRPr>
          </a:p>
          <a:p>
            <a:pPr marL="0" lvl="1">
              <a:lnSpc>
                <a:spcPct val="150000"/>
              </a:lnSpc>
              <a:spcBef>
                <a:spcPts val="237"/>
              </a:spcBef>
              <a:buClr>
                <a:srgbClr val="91AC4E"/>
              </a:buClr>
              <a:buSzPct val="80000"/>
              <a:tabLst>
                <a:tab pos="205740" algn="l"/>
              </a:tabLst>
            </a:pPr>
            <a:endParaRPr lang="en-US" altLang="zh-CN" sz="1600" dirty="0">
              <a:latin typeface="Microsoft YaHei" panose="020B0503020204020204" pitchFamily="34" charset="-122"/>
              <a:ea typeface="Microsoft YaHei" panose="020B0503020204020204" pitchFamily="34" charset="-122"/>
            </a:endParaRPr>
          </a:p>
          <a:p>
            <a:pPr marL="0" lvl="1" indent="-320040">
              <a:lnSpc>
                <a:spcPct val="150000"/>
              </a:lnSpc>
              <a:spcBef>
                <a:spcPts val="237"/>
              </a:spcBef>
              <a:buClr>
                <a:srgbClr val="91AC4E"/>
              </a:buClr>
              <a:buSzPct val="80000"/>
              <a:buFont typeface="Wingdings" charset="0"/>
              <a:buChar char="p"/>
              <a:tabLst>
                <a:tab pos="205740" algn="l"/>
              </a:tabLst>
            </a:pPr>
            <a:r>
              <a:rPr lang="zh-CN" altLang="en-US" sz="2000" b="1" dirty="0">
                <a:solidFill>
                  <a:srgbClr val="3366FF"/>
                </a:solidFill>
                <a:latin typeface="Microsoft YaHei" panose="020B0503020204020204" pitchFamily="34" charset="-122"/>
                <a:ea typeface="Microsoft YaHei" panose="020B0503020204020204" pitchFamily="34" charset="-122"/>
              </a:rPr>
              <a:t>基于漏洞的方法</a:t>
            </a:r>
            <a:r>
              <a:rPr lang="zh-CN" altLang="en-US" sz="2000" dirty="0">
                <a:latin typeface="Microsoft YaHei" panose="020B0503020204020204" pitchFamily="34" charset="-122"/>
                <a:ea typeface="Microsoft YaHei" panose="020B0503020204020204" pitchFamily="34" charset="-122"/>
              </a:rPr>
              <a:t> </a:t>
            </a:r>
            <a:endParaRPr lang="en-US" altLang="zh-CN" sz="2000" dirty="0">
              <a:latin typeface="Microsoft YaHei" panose="020B0503020204020204" pitchFamily="34" charset="-122"/>
              <a:ea typeface="Microsoft YaHei" panose="020B0503020204020204" pitchFamily="34" charset="-122"/>
            </a:endParaRPr>
          </a:p>
          <a:p>
            <a:pPr marL="0" lvl="1">
              <a:lnSpc>
                <a:spcPct val="150000"/>
              </a:lnSpc>
              <a:spcBef>
                <a:spcPts val="237"/>
              </a:spcBef>
              <a:buClr>
                <a:srgbClr val="91AC4E"/>
              </a:buClr>
              <a:buSzPct val="80000"/>
              <a:tabLst>
                <a:tab pos="205740" algn="l"/>
              </a:tabLst>
            </a:pPr>
            <a:r>
              <a:rPr lang="zh-CN" altLang="en-US" sz="1600" dirty="0">
                <a:latin typeface="Microsoft YaHei" panose="020B0503020204020204" pitchFamily="34" charset="-122"/>
                <a:ea typeface="Microsoft YaHei" panose="020B0503020204020204" pitchFamily="34" charset="-122"/>
              </a:rPr>
              <a:t>从软件</a:t>
            </a:r>
            <a:r>
              <a:rPr lang="zh-CN" altLang="en-US" sz="1600" dirty="0">
                <a:solidFill>
                  <a:srgbClr val="FF6600"/>
                </a:solidFill>
                <a:latin typeface="Microsoft YaHei" panose="020B0503020204020204" pitchFamily="34" charset="-122"/>
                <a:ea typeface="Microsoft YaHei" panose="020B0503020204020204" pitchFamily="34" charset="-122"/>
              </a:rPr>
              <a:t>内部</a:t>
            </a:r>
            <a:r>
              <a:rPr lang="zh-CN" altLang="en-US" sz="1600" dirty="0">
                <a:latin typeface="Microsoft YaHei" panose="020B0503020204020204" pitchFamily="34" charset="-122"/>
                <a:ea typeface="Microsoft YaHei" panose="020B0503020204020204" pitchFamily="34" charset="-122"/>
              </a:rPr>
              <a:t>考虑其安全性，识别软件的安全漏洞，如借助特定的漏洞扫描工具</a:t>
            </a:r>
            <a:r>
              <a:rPr lang="en-US" altLang="zh-CN" sz="1600" dirty="0">
                <a:latin typeface="Microsoft YaHei" panose="020B0503020204020204" pitchFamily="34" charset="-122"/>
                <a:ea typeface="Microsoft YaHei" panose="020B0503020204020204" pitchFamily="34" charset="-122"/>
              </a:rPr>
              <a:t> </a:t>
            </a:r>
          </a:p>
        </p:txBody>
      </p:sp>
    </p:spTree>
    <p:extLst>
      <p:ext uri="{BB962C8B-B14F-4D97-AF65-F5344CB8AC3E}">
        <p14:creationId xmlns:p14="http://schemas.microsoft.com/office/powerpoint/2010/main" val="84816719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ppt_x</p:attrName>
                                        </p:attrNameLst>
                                      </p:cBhvr>
                                      <p:tavLst>
                                        <p:tav tm="0">
                                          <p:val>
                                            <p:strVal val="#ppt_x+#ppt_w*1.125000"/>
                                          </p:val>
                                        </p:tav>
                                        <p:tav tm="100000">
                                          <p:val>
                                            <p:strVal val="#ppt_x"/>
                                          </p:val>
                                        </p:tav>
                                      </p:tavLst>
                                    </p:anim>
                                    <p:animEffect transition="in" filter="wipe(left)">
                                      <p:cBhvr>
                                        <p:cTn id="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0"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eaLnBrk="1" hangingPunct="1"/>
            <a:fld id="{116E5C3D-881C-1949-AE48-231F2215500E}" type="slidenum">
              <a:rPr lang="en-US" altLang="zh-CN"/>
              <a:pPr eaLnBrk="1" hangingPunct="1"/>
              <a:t>30</a:t>
            </a:fld>
            <a:endParaRPr lang="en-US" altLang="zh-CN"/>
          </a:p>
        </p:txBody>
      </p:sp>
      <p:sp>
        <p:nvSpPr>
          <p:cNvPr id="58371" name="标题 1"/>
          <p:cNvSpPr>
            <a:spLocks noGrp="1"/>
          </p:cNvSpPr>
          <p:nvPr>
            <p:ph type="title"/>
          </p:nvPr>
        </p:nvSpPr>
        <p:spPr>
          <a:xfrm>
            <a:off x="279609" y="304564"/>
            <a:ext cx="5552123" cy="457826"/>
          </a:xfrm>
        </p:spPr>
        <p:txBody>
          <a:bodyPr>
            <a:noAutofit/>
          </a:bodyPr>
          <a:lstStyle/>
          <a:p>
            <a:pPr marL="255747">
              <a:buClr>
                <a:schemeClr val="accent4"/>
              </a:buClr>
              <a:tabLst>
                <a:tab pos="205740" algn="l"/>
              </a:tabLst>
            </a:pPr>
            <a:r>
              <a:rPr lang="zh-CN" altLang="en-US" dirty="0"/>
              <a:t>安全性功能测试</a:t>
            </a:r>
          </a:p>
        </p:txBody>
      </p:sp>
      <p:sp>
        <p:nvSpPr>
          <p:cNvPr id="6" name="矩形 5"/>
          <p:cNvSpPr/>
          <p:nvPr/>
        </p:nvSpPr>
        <p:spPr>
          <a:xfrm>
            <a:off x="1396447" y="1599642"/>
            <a:ext cx="2721902" cy="2419701"/>
          </a:xfrm>
          <a:prstGeom prst="rect">
            <a:avLst/>
          </a:prstGeom>
          <a:solidFill>
            <a:srgbClr val="E3C96C">
              <a:alpha val="53000"/>
            </a:srgbClr>
          </a:solidFill>
        </p:spPr>
        <p:txBody>
          <a:bodyPr wrap="square">
            <a:spAutoFit/>
          </a:bodyPr>
          <a:lstStyle/>
          <a:p>
            <a:pPr marL="320040" indent="-320040">
              <a:lnSpc>
                <a:spcPct val="130000"/>
              </a:lnSpc>
              <a:spcBef>
                <a:spcPts val="237"/>
              </a:spcBef>
              <a:buClr>
                <a:srgbClr val="91AC4E"/>
              </a:buClr>
              <a:buSzPct val="80000"/>
              <a:buFont typeface="Wingdings" charset="0"/>
              <a:buChar char="p"/>
            </a:pPr>
            <a:r>
              <a:rPr lang="zh-CN" altLang="en-US" sz="2160" b="1" dirty="0"/>
              <a:t>身份认证测试</a:t>
            </a:r>
            <a:endParaRPr lang="en-US" altLang="zh-CN" sz="2160" b="1" dirty="0"/>
          </a:p>
          <a:p>
            <a:pPr marL="245745">
              <a:lnSpc>
                <a:spcPct val="130000"/>
              </a:lnSpc>
              <a:spcBef>
                <a:spcPts val="237"/>
              </a:spcBef>
              <a:buClr>
                <a:srgbClr val="91AC4E"/>
              </a:buClr>
              <a:buSzPct val="80000"/>
            </a:pPr>
            <a:r>
              <a:rPr lang="zh-CN" altLang="en-US" dirty="0">
                <a:solidFill>
                  <a:schemeClr val="tx1">
                    <a:lumMod val="65000"/>
                    <a:lumOff val="35000"/>
                  </a:schemeClr>
                </a:solidFill>
              </a:rPr>
              <a:t>（如</a:t>
            </a:r>
            <a:r>
              <a:rPr lang="en-US" altLang="zh-CN" dirty="0">
                <a:solidFill>
                  <a:schemeClr val="tx1">
                    <a:lumMod val="65000"/>
                    <a:lumOff val="35000"/>
                  </a:schemeClr>
                </a:solidFill>
              </a:rPr>
              <a:t>DCE/Kerberos</a:t>
            </a:r>
            <a:r>
              <a:rPr lang="zh-CN" altLang="en-US" dirty="0">
                <a:solidFill>
                  <a:schemeClr val="tx1">
                    <a:lumMod val="65000"/>
                    <a:lumOff val="35000"/>
                  </a:schemeClr>
                </a:solidFill>
              </a:rPr>
              <a:t>、基于公共密钥等认证机制） </a:t>
            </a:r>
          </a:p>
          <a:p>
            <a:pPr marL="320040" lvl="1" indent="-320040">
              <a:lnSpc>
                <a:spcPct val="130000"/>
              </a:lnSpc>
              <a:spcBef>
                <a:spcPts val="237"/>
              </a:spcBef>
              <a:buClr>
                <a:srgbClr val="91AC4E"/>
              </a:buClr>
              <a:buSzPct val="80000"/>
              <a:buFont typeface="Wingdings" charset="0"/>
              <a:buChar char="p"/>
            </a:pPr>
            <a:r>
              <a:rPr lang="zh-CN" altLang="zh-CN" sz="2160" b="1" dirty="0"/>
              <a:t>访问控制策略验证</a:t>
            </a:r>
            <a:r>
              <a:rPr lang="zh-CN" altLang="en-US" dirty="0">
                <a:solidFill>
                  <a:schemeClr val="tx1">
                    <a:lumMod val="65000"/>
                    <a:lumOff val="35000"/>
                  </a:schemeClr>
                </a:solidFill>
              </a:rPr>
              <a:t>（如入口访问、权限、目录等控制）</a:t>
            </a:r>
            <a:endParaRPr lang="en-US" altLang="zh-CN" dirty="0">
              <a:solidFill>
                <a:schemeClr val="tx1">
                  <a:lumMod val="65000"/>
                  <a:lumOff val="35000"/>
                </a:schemeClr>
              </a:solidFill>
            </a:endParaRPr>
          </a:p>
        </p:txBody>
      </p:sp>
      <p:grpSp>
        <p:nvGrpSpPr>
          <p:cNvPr id="3" name="组 2"/>
          <p:cNvGrpSpPr/>
          <p:nvPr/>
        </p:nvGrpSpPr>
        <p:grpSpPr>
          <a:xfrm>
            <a:off x="5025650" y="1405221"/>
            <a:ext cx="2268252" cy="2975889"/>
            <a:chOff x="5076056" y="1561356"/>
            <a:chExt cx="2520280" cy="3306543"/>
          </a:xfrm>
        </p:grpSpPr>
        <p:sp>
          <p:nvSpPr>
            <p:cNvPr id="8" name="Rectangle 1"/>
            <p:cNvSpPr>
              <a:spLocks noChangeArrowheads="1"/>
            </p:cNvSpPr>
            <p:nvPr/>
          </p:nvSpPr>
          <p:spPr bwMode="auto">
            <a:xfrm>
              <a:off x="5076056" y="1810153"/>
              <a:ext cx="2520280" cy="3057746"/>
            </a:xfrm>
            <a:prstGeom prst="rect">
              <a:avLst/>
            </a:prstGeom>
            <a:solidFill>
              <a:schemeClr val="accent4">
                <a:lumMod val="20000"/>
                <a:lumOff val="80000"/>
              </a:schemeClr>
            </a:solidFill>
            <a:ln>
              <a:solidFill>
                <a:schemeClr val="accent1">
                  <a:lumMod val="50000"/>
                </a:schemeClr>
              </a:solidFill>
              <a:prstDash val="dash"/>
            </a:ln>
          </p:spPr>
          <p:txBody>
            <a:bodyPr wrap="square" anchor="ctr">
              <a:spAutoFit/>
            </a:bodyPr>
            <a:lstStyle/>
            <a:p>
              <a:pPr marL="564357" indent="-308610" eaLnBrk="0" hangingPunct="0">
                <a:lnSpc>
                  <a:spcPct val="130000"/>
                </a:lnSpc>
                <a:spcBef>
                  <a:spcPts val="237"/>
                </a:spcBef>
                <a:buClr>
                  <a:srgbClr val="91AC4E"/>
                </a:buClr>
                <a:buSzPct val="80000"/>
                <a:buFont typeface="Wingdings" charset="0"/>
                <a:buChar char="p"/>
                <a:tabLst>
                  <a:tab pos="205740" algn="l"/>
                </a:tabLst>
              </a:pPr>
              <a:r>
                <a:rPr lang="zh-CN" altLang="en-US" sz="2160" b="1" dirty="0">
                  <a:latin typeface="楷体"/>
                  <a:ea typeface="楷体"/>
                  <a:cs typeface="楷体"/>
                </a:rPr>
                <a:t>规则验证</a:t>
              </a:r>
              <a:endParaRPr lang="en-US" altLang="zh-CN" sz="2160" b="1" dirty="0">
                <a:latin typeface="楷体"/>
                <a:ea typeface="楷体"/>
                <a:cs typeface="楷体"/>
              </a:endParaRPr>
            </a:p>
            <a:p>
              <a:pPr marL="564357" indent="-308610" eaLnBrk="0" hangingPunct="0">
                <a:lnSpc>
                  <a:spcPct val="130000"/>
                </a:lnSpc>
                <a:spcBef>
                  <a:spcPts val="237"/>
                </a:spcBef>
                <a:buClr>
                  <a:srgbClr val="91AC4E"/>
                </a:buClr>
                <a:buSzPct val="80000"/>
                <a:buFont typeface="Wingdings" charset="0"/>
                <a:buChar char="p"/>
                <a:tabLst>
                  <a:tab pos="205740" algn="l"/>
                </a:tabLst>
              </a:pPr>
              <a:r>
                <a:rPr lang="zh-CN" altLang="en-US" sz="2160" b="1" dirty="0">
                  <a:latin typeface="楷体"/>
                  <a:ea typeface="楷体"/>
                  <a:cs typeface="楷体"/>
                </a:rPr>
                <a:t>负面测试</a:t>
              </a:r>
              <a:endParaRPr lang="en-US" altLang="zh-CN" sz="2160" b="1" dirty="0">
                <a:latin typeface="楷体"/>
                <a:ea typeface="楷体"/>
                <a:cs typeface="楷体"/>
              </a:endParaRPr>
            </a:p>
            <a:p>
              <a:pPr marL="564357" indent="-308610" eaLnBrk="0" hangingPunct="0">
                <a:lnSpc>
                  <a:spcPct val="130000"/>
                </a:lnSpc>
                <a:spcBef>
                  <a:spcPts val="237"/>
                </a:spcBef>
                <a:buClr>
                  <a:srgbClr val="91AC4E"/>
                </a:buClr>
                <a:buSzPct val="80000"/>
                <a:buFont typeface="Wingdings" charset="0"/>
                <a:buChar char="p"/>
                <a:tabLst>
                  <a:tab pos="205740" algn="l"/>
                </a:tabLst>
              </a:pPr>
              <a:r>
                <a:rPr lang="zh-CN" altLang="en-US" sz="2160" b="1" dirty="0">
                  <a:latin typeface="楷体"/>
                  <a:ea typeface="楷体"/>
                  <a:cs typeface="楷体"/>
                </a:rPr>
                <a:t>传输检查</a:t>
              </a:r>
              <a:endParaRPr lang="en-US" altLang="zh-CN" sz="2160" b="1" dirty="0">
                <a:latin typeface="楷体"/>
                <a:ea typeface="楷体"/>
                <a:cs typeface="楷体"/>
              </a:endParaRPr>
            </a:p>
            <a:p>
              <a:pPr marL="564357" indent="-308610" eaLnBrk="0" hangingPunct="0">
                <a:lnSpc>
                  <a:spcPct val="130000"/>
                </a:lnSpc>
                <a:spcBef>
                  <a:spcPts val="237"/>
                </a:spcBef>
                <a:buClr>
                  <a:srgbClr val="91AC4E"/>
                </a:buClr>
                <a:buSzPct val="80000"/>
                <a:buFont typeface="Wingdings" charset="0"/>
                <a:buChar char="p"/>
                <a:tabLst>
                  <a:tab pos="205740" algn="l"/>
                </a:tabLst>
              </a:pPr>
              <a:r>
                <a:rPr lang="zh-CN" altLang="en-US" sz="2160" b="1" dirty="0">
                  <a:latin typeface="楷体"/>
                  <a:ea typeface="楷体"/>
                  <a:cs typeface="楷体"/>
                </a:rPr>
                <a:t>存储检查</a:t>
              </a:r>
              <a:endParaRPr lang="en-US" altLang="zh-CN" sz="2160" b="1" dirty="0">
                <a:latin typeface="楷体"/>
                <a:ea typeface="楷体"/>
                <a:cs typeface="楷体"/>
              </a:endParaRPr>
            </a:p>
            <a:p>
              <a:pPr marL="564357" indent="-308610" eaLnBrk="0" hangingPunct="0">
                <a:lnSpc>
                  <a:spcPct val="130000"/>
                </a:lnSpc>
                <a:spcBef>
                  <a:spcPts val="237"/>
                </a:spcBef>
                <a:buClr>
                  <a:srgbClr val="91AC4E"/>
                </a:buClr>
                <a:buSzPct val="80000"/>
                <a:buFont typeface="Wingdings" charset="0"/>
                <a:buChar char="p"/>
                <a:tabLst>
                  <a:tab pos="205740" algn="l"/>
                </a:tabLst>
              </a:pPr>
              <a:r>
                <a:rPr lang="zh-CN" altLang="en-US" sz="2160" b="1" dirty="0">
                  <a:latin typeface="楷体"/>
                  <a:ea typeface="楷体"/>
                  <a:cs typeface="楷体"/>
                </a:rPr>
                <a:t>控件兼容性</a:t>
              </a:r>
              <a:endParaRPr lang="en-US" altLang="zh-CN" sz="2160" b="1" dirty="0">
                <a:latin typeface="楷体"/>
                <a:ea typeface="楷体"/>
                <a:cs typeface="楷体"/>
              </a:endParaRPr>
            </a:p>
            <a:p>
              <a:pPr marL="564357" indent="-308610" eaLnBrk="0" hangingPunct="0">
                <a:lnSpc>
                  <a:spcPct val="130000"/>
                </a:lnSpc>
                <a:spcBef>
                  <a:spcPts val="237"/>
                </a:spcBef>
                <a:buClr>
                  <a:srgbClr val="91AC4E"/>
                </a:buClr>
                <a:buSzPct val="80000"/>
                <a:buFont typeface="Wingdings" charset="0"/>
                <a:buChar char="p"/>
                <a:tabLst>
                  <a:tab pos="205740" algn="l"/>
                </a:tabLst>
              </a:pPr>
              <a:r>
                <a:rPr lang="en-US" altLang="zh-CN" sz="2160" b="1" dirty="0">
                  <a:latin typeface="楷体"/>
                  <a:ea typeface="楷体"/>
                  <a:cs typeface="楷体"/>
                </a:rPr>
                <a:t>……</a:t>
              </a:r>
            </a:p>
          </p:txBody>
        </p:sp>
        <p:sp>
          <p:nvSpPr>
            <p:cNvPr id="2" name="文本框 1"/>
            <p:cNvSpPr txBox="1"/>
            <p:nvPr/>
          </p:nvSpPr>
          <p:spPr>
            <a:xfrm>
              <a:off x="5652120" y="1561356"/>
              <a:ext cx="1368152" cy="379591"/>
            </a:xfrm>
            <a:prstGeom prst="rect">
              <a:avLst/>
            </a:prstGeom>
            <a:solidFill>
              <a:schemeClr val="accent1">
                <a:lumMod val="50000"/>
              </a:schemeClr>
            </a:solidFill>
            <a:ln>
              <a:solidFill>
                <a:schemeClr val="accent5">
                  <a:lumMod val="75000"/>
                </a:schemeClr>
              </a:solidFill>
            </a:ln>
          </p:spPr>
          <p:txBody>
            <a:bodyPr wrap="square" rtlCol="0">
              <a:spAutoFit/>
            </a:bodyPr>
            <a:lstStyle/>
            <a:p>
              <a:r>
                <a:rPr kumimoji="1" lang="zh-CN" altLang="en-US" sz="1620" dirty="0">
                  <a:solidFill>
                    <a:schemeClr val="bg1">
                      <a:lumMod val="95000"/>
                    </a:schemeClr>
                  </a:solidFill>
                </a:rPr>
                <a:t>示例：口令</a:t>
              </a:r>
            </a:p>
          </p:txBody>
        </p:sp>
      </p:grpSp>
    </p:spTree>
    <p:extLst>
      <p:ext uri="{BB962C8B-B14F-4D97-AF65-F5344CB8AC3E}">
        <p14:creationId xmlns:p14="http://schemas.microsoft.com/office/powerpoint/2010/main" val="296856741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ppt_x</p:attrName>
                                        </p:attrNameLst>
                                      </p:cBhvr>
                                      <p:tavLst>
                                        <p:tav tm="0">
                                          <p:val>
                                            <p:strVal val="#ppt_x+#ppt_w*1.125000"/>
                                          </p:val>
                                        </p:tav>
                                        <p:tav tm="100000">
                                          <p:val>
                                            <p:strVal val="#ppt_x"/>
                                          </p:val>
                                        </p:tav>
                                      </p:tavLst>
                                    </p:anim>
                                    <p:animEffect transition="in" filter="wipe(left)">
                                      <p:cBhvr>
                                        <p:cTn id="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22" name="标题 1"/>
          <p:cNvSpPr>
            <a:spLocks noGrp="1"/>
          </p:cNvSpPr>
          <p:nvPr>
            <p:ph type="title"/>
          </p:nvPr>
        </p:nvSpPr>
        <p:spPr>
          <a:xfrm>
            <a:off x="510925" y="332572"/>
            <a:ext cx="5422244" cy="421482"/>
          </a:xfrm>
        </p:spPr>
        <p:txBody>
          <a:bodyPr>
            <a:normAutofit fontScale="90000"/>
          </a:bodyPr>
          <a:lstStyle/>
          <a:p>
            <a:pPr>
              <a:buClr>
                <a:schemeClr val="accent4"/>
              </a:buClr>
            </a:pPr>
            <a:r>
              <a:rPr lang="zh-CN" altLang="en-US" dirty="0"/>
              <a:t>模糊测试方法</a:t>
            </a:r>
          </a:p>
        </p:txBody>
      </p:sp>
      <p:sp>
        <p:nvSpPr>
          <p:cNvPr id="7171" name="内容占位符 2"/>
          <p:cNvSpPr>
            <a:spLocks noGrp="1"/>
          </p:cNvSpPr>
          <p:nvPr>
            <p:ph idx="1"/>
          </p:nvPr>
        </p:nvSpPr>
        <p:spPr>
          <a:xfrm>
            <a:off x="464301" y="1470028"/>
            <a:ext cx="5234267" cy="2534176"/>
          </a:xfrm>
        </p:spPr>
        <p:txBody>
          <a:bodyPr>
            <a:normAutofit/>
          </a:bodyPr>
          <a:lstStyle/>
          <a:p>
            <a:pPr marL="320040" lvl="1" indent="-320040">
              <a:spcBef>
                <a:spcPts val="237"/>
              </a:spcBef>
              <a:buClr>
                <a:srgbClr val="91AC4E"/>
              </a:buClr>
              <a:buSzPct val="80000"/>
              <a:buFont typeface="Wingdings" charset="0"/>
              <a:buChar char="p"/>
              <a:tabLst>
                <a:tab pos="205740" algn="l"/>
              </a:tabLst>
            </a:pPr>
            <a:r>
              <a:rPr lang="zh-CN" altLang="en-US" b="1" dirty="0">
                <a:solidFill>
                  <a:srgbClr val="0000FF"/>
                </a:solidFill>
                <a:latin typeface="Arial" charset="0"/>
                <a:ea typeface="宋体" charset="0"/>
                <a:cs typeface="宋体" charset="0"/>
              </a:rPr>
              <a:t>模糊测试</a:t>
            </a:r>
            <a:r>
              <a:rPr lang="zh-CN" altLang="en-US" dirty="0">
                <a:latin typeface="Arial" charset="0"/>
                <a:ea typeface="宋体" charset="0"/>
                <a:cs typeface="宋体" charset="0"/>
              </a:rPr>
              <a:t>：在一个被测试程序中附加上随机数据（</a:t>
            </a:r>
            <a:r>
              <a:rPr lang="en-US" altLang="zh-CN" dirty="0">
                <a:latin typeface="Arial" charset="0"/>
                <a:ea typeface="宋体" charset="0"/>
                <a:cs typeface="宋体" charset="0"/>
              </a:rPr>
              <a:t>fuzz</a:t>
            </a:r>
            <a:r>
              <a:rPr lang="zh-CN" altLang="en-US" dirty="0">
                <a:latin typeface="Arial" charset="0"/>
                <a:ea typeface="宋体" charset="0"/>
                <a:cs typeface="宋体" charset="0"/>
              </a:rPr>
              <a:t>）作为程序的输入。如果被测试程序出现问题（例如 </a:t>
            </a:r>
            <a:r>
              <a:rPr lang="en-US" altLang="zh-CN" dirty="0">
                <a:latin typeface="Arial" charset="0"/>
                <a:ea typeface="宋体" charset="0"/>
                <a:cs typeface="宋体" charset="0"/>
              </a:rPr>
              <a:t>Crush ,</a:t>
            </a:r>
            <a:r>
              <a:rPr lang="zh-CN" altLang="en-US" dirty="0">
                <a:latin typeface="Arial" charset="0"/>
                <a:ea typeface="宋体" charset="0"/>
                <a:cs typeface="宋体" charset="0"/>
              </a:rPr>
              <a:t>或者异常退出），就可以定位程序的缺陷。</a:t>
            </a:r>
          </a:p>
          <a:p>
            <a:pPr marL="320040" lvl="1" indent="-320040">
              <a:spcBef>
                <a:spcPts val="237"/>
              </a:spcBef>
              <a:buClr>
                <a:srgbClr val="91AC4E"/>
              </a:buClr>
              <a:buSzPct val="80000"/>
              <a:buFont typeface="Wingdings" charset="0"/>
              <a:buChar char="p"/>
              <a:tabLst>
                <a:tab pos="205740" algn="l"/>
              </a:tabLst>
            </a:pPr>
            <a:r>
              <a:rPr lang="zh-CN" altLang="en-US" dirty="0">
                <a:latin typeface="Arial" charset="0"/>
                <a:ea typeface="宋体" charset="0"/>
                <a:cs typeface="宋体" charset="0"/>
              </a:rPr>
              <a:t>模糊测试的巨大优势：测试设计极其简单，系统的行为先入为主。</a:t>
            </a:r>
            <a:endParaRPr lang="en-US" altLang="zh-CN" dirty="0">
              <a:latin typeface="Arial" charset="0"/>
              <a:ea typeface="宋体" charset="0"/>
              <a:cs typeface="宋体" charset="0"/>
            </a:endParaRPr>
          </a:p>
        </p:txBody>
      </p:sp>
      <p:sp>
        <p:nvSpPr>
          <p:cNvPr id="81924"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eaLnBrk="1" hangingPunct="1"/>
            <a:fld id="{B5F15DFA-F1A8-A547-AE4A-54BB6B21DFFB}" type="slidenum">
              <a:rPr lang="en-US" altLang="zh-CN"/>
              <a:pPr eaLnBrk="1" hangingPunct="1"/>
              <a:t>31</a:t>
            </a:fld>
            <a:endParaRPr lang="en-US" altLang="zh-CN"/>
          </a:p>
        </p:txBody>
      </p:sp>
      <p:pic>
        <p:nvPicPr>
          <p:cNvPr id="81925" name="Picture 4" descr="http://fuzzing.org/wp-content/book_cov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0974" y="1237115"/>
            <a:ext cx="2333059" cy="287409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文本框 2">
            <a:extLst>
              <a:ext uri="{FF2B5EF4-FFF2-40B4-BE49-F238E27FC236}">
                <a16:creationId xmlns:a16="http://schemas.microsoft.com/office/drawing/2014/main" id="{C29AE23B-898E-60DE-6797-E610BCF5C9BE}"/>
              </a:ext>
            </a:extLst>
          </p:cNvPr>
          <p:cNvSpPr txBox="1"/>
          <p:nvPr/>
        </p:nvSpPr>
        <p:spPr>
          <a:xfrm>
            <a:off x="510925" y="773539"/>
            <a:ext cx="1645679" cy="369332"/>
          </a:xfrm>
          <a:prstGeom prst="rect">
            <a:avLst/>
          </a:prstGeom>
          <a:noFill/>
        </p:spPr>
        <p:txBody>
          <a:bodyPr wrap="square">
            <a:spAutoFit/>
          </a:bodyPr>
          <a:lstStyle/>
          <a:p>
            <a:r>
              <a:rPr lang="en-US" altLang="zh-CN" dirty="0"/>
              <a:t>Fuzz Testing</a:t>
            </a:r>
            <a:endParaRPr lang="zh-CN" altLang="en-US" dirty="0"/>
          </a:p>
        </p:txBody>
      </p:sp>
    </p:spTree>
    <p:extLst>
      <p:ext uri="{BB962C8B-B14F-4D97-AF65-F5344CB8AC3E}">
        <p14:creationId xmlns:p14="http://schemas.microsoft.com/office/powerpoint/2010/main" val="1136846636"/>
      </p:ext>
    </p:extLst>
  </p:cSld>
  <p:clrMapOvr>
    <a:masterClrMapping/>
  </p:clrMapOvr>
  <p:transition spd="slow">
    <p:wipe dir="r"/>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3970" name="标题 1"/>
          <p:cNvSpPr>
            <a:spLocks noGrp="1"/>
          </p:cNvSpPr>
          <p:nvPr>
            <p:ph type="title"/>
          </p:nvPr>
        </p:nvSpPr>
        <p:spPr>
          <a:xfrm>
            <a:off x="465449" y="328730"/>
            <a:ext cx="5487070" cy="421481"/>
          </a:xfrm>
        </p:spPr>
        <p:txBody>
          <a:bodyPr>
            <a:noAutofit/>
          </a:bodyPr>
          <a:lstStyle/>
          <a:p>
            <a:pPr>
              <a:buClr>
                <a:schemeClr val="accent4"/>
              </a:buClr>
            </a:pPr>
            <a:r>
              <a:rPr lang="zh-CN" altLang="en-US" dirty="0"/>
              <a:t>几种不同模糊器的构造</a:t>
            </a:r>
          </a:p>
        </p:txBody>
      </p:sp>
      <p:sp>
        <p:nvSpPr>
          <p:cNvPr id="83971"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eaLnBrk="1" hangingPunct="1"/>
            <a:fld id="{6FD90BFC-4C22-BD48-8B3F-B1DD3536E6B3}" type="slidenum">
              <a:rPr lang="en-US" altLang="zh-CN"/>
              <a:pPr eaLnBrk="1" hangingPunct="1"/>
              <a:t>32</a:t>
            </a:fld>
            <a:endParaRPr lang="en-US" altLang="zh-CN"/>
          </a:p>
        </p:txBody>
      </p:sp>
      <p:sp>
        <p:nvSpPr>
          <p:cNvPr id="83972" name="矩形 2"/>
          <p:cNvSpPr>
            <a:spLocks noChangeArrowheads="1"/>
          </p:cNvSpPr>
          <p:nvPr/>
        </p:nvSpPr>
        <p:spPr bwMode="auto">
          <a:xfrm>
            <a:off x="599347" y="978541"/>
            <a:ext cx="7945306" cy="33494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320040" lvl="1" indent="-320040">
              <a:lnSpc>
                <a:spcPct val="130000"/>
              </a:lnSpc>
              <a:spcBef>
                <a:spcPts val="237"/>
              </a:spcBef>
              <a:buClr>
                <a:srgbClr val="91AC4E"/>
              </a:buClr>
              <a:buSzPct val="80000"/>
              <a:buFont typeface="Wingdings" charset="0"/>
              <a:buChar char="p"/>
              <a:tabLst>
                <a:tab pos="205740" algn="l"/>
              </a:tabLst>
            </a:pPr>
            <a:r>
              <a:rPr lang="zh-CN" altLang="en-US" dirty="0">
                <a:latin typeface="Microsoft YaHei" panose="020B0503020204020204" pitchFamily="34" charset="-122"/>
                <a:ea typeface="Microsoft YaHei" panose="020B0503020204020204" pitchFamily="34" charset="-122"/>
              </a:rPr>
              <a:t>黑盒随机模糊，</a:t>
            </a:r>
            <a:r>
              <a:rPr lang="zh-CN" altLang="en-US" dirty="0">
                <a:latin typeface="KaiTi" panose="02010609060101010101" pitchFamily="49" charset="-122"/>
                <a:ea typeface="KaiTi" panose="02010609060101010101" pitchFamily="49" charset="-122"/>
              </a:rPr>
              <a:t>对正确格式的输入数据进行随机变异，然后用这些变异的输入运行程序，看是否能够触发异常。</a:t>
            </a:r>
            <a:endParaRPr lang="en-US" altLang="zh-CN" dirty="0">
              <a:latin typeface="KaiTi" panose="02010609060101010101" pitchFamily="49" charset="-122"/>
              <a:ea typeface="KaiTi" panose="02010609060101010101" pitchFamily="49" charset="-122"/>
            </a:endParaRPr>
          </a:p>
          <a:p>
            <a:pPr marL="320040" lvl="1" indent="-320040">
              <a:lnSpc>
                <a:spcPct val="130000"/>
              </a:lnSpc>
              <a:spcBef>
                <a:spcPts val="237"/>
              </a:spcBef>
              <a:buClr>
                <a:srgbClr val="91AC4E"/>
              </a:buClr>
              <a:buSzPct val="80000"/>
              <a:buFont typeface="Wingdings" charset="0"/>
              <a:buChar char="p"/>
              <a:tabLst>
                <a:tab pos="205740" algn="l"/>
              </a:tabLst>
            </a:pPr>
            <a:r>
              <a:rPr lang="zh-CN" altLang="en-US" dirty="0">
                <a:latin typeface="Microsoft YaHei" panose="020B0503020204020204" pitchFamily="34" charset="-122"/>
                <a:ea typeface="Microsoft YaHei" panose="020B0503020204020204" pitchFamily="34" charset="-122"/>
              </a:rPr>
              <a:t>基于语法的模糊，</a:t>
            </a:r>
            <a:r>
              <a:rPr lang="zh-CN" altLang="en-US" dirty="0">
                <a:latin typeface="KaiTi" panose="02010609060101010101" pitchFamily="49" charset="-122"/>
                <a:ea typeface="KaiTi" panose="02010609060101010101" pitchFamily="49" charset="-122"/>
              </a:rPr>
              <a:t>是模糊复杂格式输入的替代方法，需要指定输入格式的输入语法、哪些输入部分要进行模糊化以及如何模糊化</a:t>
            </a:r>
            <a:r>
              <a:rPr lang="zh-CN" altLang="en-US" dirty="0">
                <a:latin typeface="Microsoft YaHei" panose="020B0503020204020204" pitchFamily="34" charset="-122"/>
                <a:ea typeface="Microsoft YaHei" panose="020B0503020204020204" pitchFamily="34" charset="-122"/>
              </a:rPr>
              <a:t>。</a:t>
            </a:r>
          </a:p>
          <a:p>
            <a:pPr marL="320040" lvl="1" indent="-320040">
              <a:lnSpc>
                <a:spcPct val="130000"/>
              </a:lnSpc>
              <a:spcBef>
                <a:spcPts val="237"/>
              </a:spcBef>
              <a:buClr>
                <a:srgbClr val="91AC4E"/>
              </a:buClr>
              <a:buSzPct val="80000"/>
              <a:buFont typeface="Wingdings" charset="0"/>
              <a:buChar char="p"/>
              <a:tabLst>
                <a:tab pos="205740" algn="l"/>
              </a:tabLst>
            </a:pPr>
            <a:r>
              <a:rPr lang="zh-CN" altLang="en-US" dirty="0">
                <a:latin typeface="Microsoft YaHei" panose="020B0503020204020204" pitchFamily="34" charset="-122"/>
                <a:ea typeface="Microsoft YaHei" panose="020B0503020204020204" pitchFamily="34" charset="-122"/>
              </a:rPr>
              <a:t>白盒模糊处理，</a:t>
            </a:r>
            <a:r>
              <a:rPr lang="zh-CN" altLang="en-US" dirty="0">
                <a:latin typeface="KaiTi" panose="02010609060101010101" pitchFamily="49" charset="-122"/>
                <a:ea typeface="KaiTi" panose="02010609060101010101" pitchFamily="49" charset="-122"/>
              </a:rPr>
              <a:t>由微软研究院于</a:t>
            </a:r>
            <a:r>
              <a:rPr lang="en-US" altLang="zh-CN" dirty="0">
                <a:latin typeface="KaiTi" panose="02010609060101010101" pitchFamily="49" charset="-122"/>
                <a:ea typeface="KaiTi" panose="02010609060101010101" pitchFamily="49" charset="-122"/>
              </a:rPr>
              <a:t>2008</a:t>
            </a:r>
            <a:r>
              <a:rPr lang="zh-CN" altLang="en-US" dirty="0">
                <a:latin typeface="KaiTi" panose="02010609060101010101" pitchFamily="49" charset="-122"/>
                <a:ea typeface="KaiTi" panose="02010609060101010101" pitchFamily="49" charset="-122"/>
              </a:rPr>
              <a:t>年首创，这种方法包括：动态地执行被测程序，从执行过程中遇到的条件分支收集输入约束。然后，系统地逐个否定所有这些约束，并使用约束求解器求解，其解被映射到执行不同程序执行路径的新输入。使用系统搜索技术重复这个过程，试图扫描程序的所有可行的执行路径。</a:t>
            </a:r>
          </a:p>
        </p:txBody>
      </p:sp>
    </p:spTree>
    <p:extLst>
      <p:ext uri="{BB962C8B-B14F-4D97-AF65-F5344CB8AC3E}">
        <p14:creationId xmlns:p14="http://schemas.microsoft.com/office/powerpoint/2010/main" val="4267578465"/>
      </p:ext>
    </p:extLst>
  </p:cSld>
  <p:clrMapOvr>
    <a:masterClrMapping/>
  </p:clrMapOvr>
  <p:transition spd="slow">
    <p:wipe dir="r"/>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15CE3A8-C031-6037-7C67-68334D0F0A59}"/>
              </a:ext>
            </a:extLst>
          </p:cNvPr>
          <p:cNvSpPr>
            <a:spLocks noGrp="1"/>
          </p:cNvSpPr>
          <p:nvPr>
            <p:ph type="title"/>
          </p:nvPr>
        </p:nvSpPr>
        <p:spPr>
          <a:xfrm>
            <a:off x="507880" y="300036"/>
            <a:ext cx="6215062" cy="421482"/>
          </a:xfrm>
        </p:spPr>
        <p:txBody>
          <a:bodyPr/>
          <a:lstStyle/>
          <a:p>
            <a:pPr>
              <a:buClr>
                <a:schemeClr val="accent4"/>
              </a:buClr>
            </a:pPr>
            <a:r>
              <a:rPr lang="en" altLang="zh-CN" dirty="0"/>
              <a:t>American fuzzy lop</a:t>
            </a:r>
            <a:r>
              <a:rPr lang="zh-CN" altLang="en" dirty="0"/>
              <a:t>方法</a:t>
            </a:r>
            <a:endParaRPr lang="zh-CN" altLang="en-US" dirty="0"/>
          </a:p>
        </p:txBody>
      </p:sp>
      <p:sp>
        <p:nvSpPr>
          <p:cNvPr id="3" name="内容占位符 2">
            <a:extLst>
              <a:ext uri="{FF2B5EF4-FFF2-40B4-BE49-F238E27FC236}">
                <a16:creationId xmlns:a16="http://schemas.microsoft.com/office/drawing/2014/main" id="{2CD8B198-AC29-D806-7BA7-1BBC1C2952DA}"/>
              </a:ext>
            </a:extLst>
          </p:cNvPr>
          <p:cNvSpPr>
            <a:spLocks noGrp="1"/>
          </p:cNvSpPr>
          <p:nvPr>
            <p:ph idx="1"/>
          </p:nvPr>
        </p:nvSpPr>
        <p:spPr>
          <a:xfrm>
            <a:off x="507880" y="939997"/>
            <a:ext cx="8049524" cy="3485353"/>
          </a:xfrm>
        </p:spPr>
        <p:txBody>
          <a:bodyPr>
            <a:normAutofit fontScale="62500" lnSpcReduction="20000"/>
          </a:bodyPr>
          <a:lstStyle/>
          <a:p>
            <a:pPr marL="0" indent="0">
              <a:buNone/>
            </a:pPr>
            <a:r>
              <a:rPr kumimoji="1" lang="en" altLang="zh-CN" dirty="0"/>
              <a:t>AFL</a:t>
            </a:r>
            <a:r>
              <a:rPr kumimoji="1" lang="zh-CN" altLang="en-US" dirty="0"/>
              <a:t>是一款开源的模糊测试工具，是当今使用最广泛的</a:t>
            </a:r>
            <a:r>
              <a:rPr kumimoji="1" lang="en" altLang="zh-CN" dirty="0" err="1"/>
              <a:t>Fuzzer</a:t>
            </a:r>
            <a:r>
              <a:rPr kumimoji="1" lang="zh-CN" altLang="en" dirty="0"/>
              <a:t>，</a:t>
            </a:r>
            <a:r>
              <a:rPr kumimoji="1" lang="zh-CN" altLang="en-US" dirty="0"/>
              <a:t>这个工具在程序执行前对程序源码进行</a:t>
            </a:r>
            <a:r>
              <a:rPr kumimoji="1" lang="zh-CN" altLang="en-US" b="1" dirty="0"/>
              <a:t>插桩</a:t>
            </a:r>
            <a:r>
              <a:rPr kumimoji="1" lang="zh-CN" altLang="en-US" dirty="0"/>
              <a:t>（</a:t>
            </a:r>
            <a:r>
              <a:rPr kumimoji="1" lang="en" altLang="zh-CN" dirty="0"/>
              <a:t>instrumentation</a:t>
            </a:r>
            <a:r>
              <a:rPr kumimoji="1" lang="zh-CN" altLang="en" dirty="0"/>
              <a:t>），</a:t>
            </a:r>
            <a:r>
              <a:rPr kumimoji="1" lang="zh-CN" altLang="en-US" dirty="0"/>
              <a:t>以便在程序执行过程中实时获取程序的执行情况。</a:t>
            </a:r>
            <a:r>
              <a:rPr kumimoji="1" lang="en" altLang="zh-CN" dirty="0"/>
              <a:t>AFL</a:t>
            </a:r>
            <a:r>
              <a:rPr kumimoji="1" lang="zh-CN" altLang="en-US" dirty="0"/>
              <a:t>采用</a:t>
            </a:r>
            <a:r>
              <a:rPr kumimoji="1" lang="zh-CN" altLang="en-US" b="1" dirty="0"/>
              <a:t>遗传算法</a:t>
            </a:r>
            <a:r>
              <a:rPr kumimoji="1" lang="zh-CN" altLang="en-US" dirty="0"/>
              <a:t>对程序的输入进行变异能够在程序运行的时候注入自己的代码， 然后自动产生测试用例进行模糊测试。简化一下，整个算法可以总结为：</a:t>
            </a:r>
          </a:p>
          <a:p>
            <a:pPr marL="457200" indent="-457200">
              <a:buFont typeface="+mj-ea"/>
              <a:buAutoNum type="circleNumDbPlain"/>
            </a:pPr>
            <a:r>
              <a:rPr kumimoji="1" lang="zh-CN" altLang="en-US" dirty="0"/>
              <a:t>将用户提供的初始测试用例加载到队列中。</a:t>
            </a:r>
          </a:p>
          <a:p>
            <a:pPr marL="457200" indent="-457200">
              <a:buFont typeface="+mj-ea"/>
              <a:buAutoNum type="circleNumDbPlain"/>
            </a:pPr>
            <a:r>
              <a:rPr kumimoji="1" lang="zh-CN" altLang="en-US" dirty="0"/>
              <a:t>从队列中获取下一个输入文件。</a:t>
            </a:r>
          </a:p>
          <a:p>
            <a:pPr marL="457200" indent="-457200">
              <a:buFont typeface="+mj-ea"/>
              <a:buAutoNum type="circleNumDbPlain"/>
            </a:pPr>
            <a:r>
              <a:rPr kumimoji="1" lang="zh-CN" altLang="en-US" dirty="0"/>
              <a:t>试图将测试用例修剪到不改变程序测量行为的最小尺寸。</a:t>
            </a:r>
          </a:p>
          <a:p>
            <a:pPr marL="457200" indent="-457200">
              <a:buFont typeface="+mj-ea"/>
              <a:buAutoNum type="circleNumDbPlain"/>
            </a:pPr>
            <a:r>
              <a:rPr kumimoji="1" lang="zh-CN" altLang="en-US" dirty="0"/>
              <a:t>使用均衡的、经过充分研究的各种传统模糊策略，重复地对文件进行变异。</a:t>
            </a:r>
          </a:p>
          <a:p>
            <a:pPr marL="457200" indent="-457200">
              <a:buFont typeface="+mj-ea"/>
              <a:buAutoNum type="circleNumDbPlain"/>
            </a:pPr>
            <a:r>
              <a:rPr kumimoji="1" lang="zh-CN" altLang="en-US" dirty="0"/>
              <a:t>如果任何产生的变异导致</a:t>
            </a:r>
            <a:r>
              <a:rPr kumimoji="1" lang="zh-CN" altLang="en-US" b="1" dirty="0"/>
              <a:t>插桩记录</a:t>
            </a:r>
            <a:r>
              <a:rPr kumimoji="1" lang="zh-CN" altLang="en-US" dirty="0"/>
              <a:t>新的状态转换，将变异的输出作为一个新的条目添加到队列中。</a:t>
            </a:r>
            <a:endParaRPr kumimoji="1" lang="en-US" altLang="zh-CN" dirty="0"/>
          </a:p>
          <a:p>
            <a:pPr marL="457200" indent="-457200">
              <a:buFont typeface="+mj-ea"/>
              <a:buAutoNum type="circleNumDbPlain"/>
            </a:pPr>
            <a:r>
              <a:rPr kumimoji="1" lang="zh-CN" altLang="en-US" dirty="0"/>
              <a:t>转到第</a:t>
            </a:r>
            <a:r>
              <a:rPr kumimoji="1" lang="en-US" altLang="zh-CN" dirty="0"/>
              <a:t>2</a:t>
            </a:r>
            <a:r>
              <a:rPr kumimoji="1" lang="zh-CN" altLang="en-US" dirty="0"/>
              <a:t>步</a:t>
            </a:r>
          </a:p>
        </p:txBody>
      </p:sp>
      <p:sp>
        <p:nvSpPr>
          <p:cNvPr id="5" name="文本框 4">
            <a:extLst>
              <a:ext uri="{FF2B5EF4-FFF2-40B4-BE49-F238E27FC236}">
                <a16:creationId xmlns:a16="http://schemas.microsoft.com/office/drawing/2014/main" id="{991736A9-4A55-29B5-2FBE-24C4B570A7A4}"/>
              </a:ext>
            </a:extLst>
          </p:cNvPr>
          <p:cNvSpPr txBox="1"/>
          <p:nvPr/>
        </p:nvSpPr>
        <p:spPr>
          <a:xfrm>
            <a:off x="507880" y="4459163"/>
            <a:ext cx="4641010" cy="307777"/>
          </a:xfrm>
          <a:prstGeom prst="rect">
            <a:avLst/>
          </a:prstGeom>
          <a:noFill/>
        </p:spPr>
        <p:txBody>
          <a:bodyPr wrap="square">
            <a:spAutoFit/>
          </a:bodyPr>
          <a:lstStyle/>
          <a:p>
            <a:r>
              <a:rPr lang="zh-CN" altLang="en-US" sz="1400" dirty="0">
                <a:hlinkClick r:id="rId2"/>
              </a:rPr>
              <a:t>https://github.com/google/AFL</a:t>
            </a:r>
            <a:r>
              <a:rPr lang="zh-CN" altLang="en-US" sz="1400" dirty="0"/>
              <a:t> </a:t>
            </a:r>
          </a:p>
        </p:txBody>
      </p:sp>
      <p:sp>
        <p:nvSpPr>
          <p:cNvPr id="7" name="文本框 6">
            <a:extLst>
              <a:ext uri="{FF2B5EF4-FFF2-40B4-BE49-F238E27FC236}">
                <a16:creationId xmlns:a16="http://schemas.microsoft.com/office/drawing/2014/main" id="{2B1D6546-51A8-4C74-6F7E-5AD75A2D549F}"/>
              </a:ext>
            </a:extLst>
          </p:cNvPr>
          <p:cNvSpPr txBox="1"/>
          <p:nvPr/>
        </p:nvSpPr>
        <p:spPr>
          <a:xfrm>
            <a:off x="3615411" y="4425350"/>
            <a:ext cx="3225336" cy="307777"/>
          </a:xfrm>
          <a:prstGeom prst="rect">
            <a:avLst/>
          </a:prstGeom>
          <a:noFill/>
        </p:spPr>
        <p:txBody>
          <a:bodyPr wrap="square">
            <a:spAutoFit/>
          </a:bodyPr>
          <a:lstStyle/>
          <a:p>
            <a:r>
              <a:rPr lang="zh-CN" altLang="en-US" sz="1400" dirty="0">
                <a:hlinkClick r:id="rId3"/>
              </a:rPr>
              <a:t>https://afl-1.readthedocs.io/en/latest/</a:t>
            </a:r>
            <a:r>
              <a:rPr lang="zh-CN" altLang="en-US" sz="1400" dirty="0"/>
              <a:t> </a:t>
            </a:r>
          </a:p>
        </p:txBody>
      </p:sp>
    </p:spTree>
    <p:extLst>
      <p:ext uri="{BB962C8B-B14F-4D97-AF65-F5344CB8AC3E}">
        <p14:creationId xmlns:p14="http://schemas.microsoft.com/office/powerpoint/2010/main" val="21689234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24EBC4-B498-826E-9FA1-7D0FD94DB3FC}"/>
              </a:ext>
            </a:extLst>
          </p:cNvPr>
          <p:cNvSpPr>
            <a:spLocks noGrp="1"/>
          </p:cNvSpPr>
          <p:nvPr>
            <p:ph type="title"/>
          </p:nvPr>
        </p:nvSpPr>
        <p:spPr/>
        <p:txBody>
          <a:bodyPr/>
          <a:lstStyle/>
          <a:p>
            <a:r>
              <a:rPr kumimoji="1" lang="zh-CN" altLang="en-US" dirty="0"/>
              <a:t>变异测试</a:t>
            </a:r>
          </a:p>
        </p:txBody>
      </p:sp>
      <p:sp>
        <p:nvSpPr>
          <p:cNvPr id="5" name="文本框 4">
            <a:extLst>
              <a:ext uri="{FF2B5EF4-FFF2-40B4-BE49-F238E27FC236}">
                <a16:creationId xmlns:a16="http://schemas.microsoft.com/office/drawing/2014/main" id="{3400257A-6C0D-CCD6-7138-7B1417874911}"/>
              </a:ext>
            </a:extLst>
          </p:cNvPr>
          <p:cNvSpPr txBox="1"/>
          <p:nvPr/>
        </p:nvSpPr>
        <p:spPr>
          <a:xfrm>
            <a:off x="2215910" y="447853"/>
            <a:ext cx="1924769" cy="369332"/>
          </a:xfrm>
          <a:prstGeom prst="rect">
            <a:avLst/>
          </a:prstGeom>
          <a:noFill/>
        </p:spPr>
        <p:txBody>
          <a:bodyPr wrap="square">
            <a:spAutoFit/>
          </a:bodyPr>
          <a:lstStyle/>
          <a:p>
            <a:r>
              <a:rPr lang="zh-CN" altLang="en-US" dirty="0"/>
              <a:t>mutation testing</a:t>
            </a:r>
          </a:p>
        </p:txBody>
      </p:sp>
      <p:sp>
        <p:nvSpPr>
          <p:cNvPr id="7" name="文本框 6">
            <a:extLst>
              <a:ext uri="{FF2B5EF4-FFF2-40B4-BE49-F238E27FC236}">
                <a16:creationId xmlns:a16="http://schemas.microsoft.com/office/drawing/2014/main" id="{E4038666-14FF-CAFF-65F7-BD9559405ABB}"/>
              </a:ext>
            </a:extLst>
          </p:cNvPr>
          <p:cNvSpPr txBox="1"/>
          <p:nvPr/>
        </p:nvSpPr>
        <p:spPr>
          <a:xfrm>
            <a:off x="595222" y="832538"/>
            <a:ext cx="7729267" cy="787460"/>
          </a:xfrm>
          <a:prstGeom prst="rect">
            <a:avLst/>
          </a:prstGeom>
          <a:noFill/>
        </p:spPr>
        <p:txBody>
          <a:bodyPr wrap="square">
            <a:spAutoFit/>
          </a:bodyPr>
          <a:lstStyle/>
          <a:p>
            <a:pPr>
              <a:lnSpc>
                <a:spcPct val="150000"/>
              </a:lnSpc>
            </a:pPr>
            <a:r>
              <a:rPr lang="zh-CN" altLang="en-US" sz="1600" dirty="0">
                <a:latin typeface="Microsoft YaHei" panose="020B0503020204020204" pitchFamily="34" charset="-122"/>
                <a:ea typeface="Microsoft YaHei" panose="020B0503020204020204" pitchFamily="34" charset="-122"/>
              </a:rPr>
              <a:t>变异测试（Mutation Testing）是一种在细节方面改进程序源代码的软件测试方法。变异操作是模拟典型应用错误（定位代码的弱点）、或强制产生有效地测试</a:t>
            </a:r>
          </a:p>
        </p:txBody>
      </p:sp>
      <p:pic>
        <p:nvPicPr>
          <p:cNvPr id="9" name="图片 8">
            <a:extLst>
              <a:ext uri="{FF2B5EF4-FFF2-40B4-BE49-F238E27FC236}">
                <a16:creationId xmlns:a16="http://schemas.microsoft.com/office/drawing/2014/main" id="{A67A3DF7-4970-4C0F-5AD2-501D00EC740E}"/>
              </a:ext>
            </a:extLst>
          </p:cNvPr>
          <p:cNvPicPr>
            <a:picLocks noChangeAspect="1"/>
          </p:cNvPicPr>
          <p:nvPr/>
        </p:nvPicPr>
        <p:blipFill>
          <a:blip r:embed="rId2"/>
          <a:stretch>
            <a:fillRect/>
          </a:stretch>
        </p:blipFill>
        <p:spPr>
          <a:xfrm>
            <a:off x="819512" y="3360875"/>
            <a:ext cx="3812386" cy="1475227"/>
          </a:xfrm>
          <a:prstGeom prst="rect">
            <a:avLst/>
          </a:prstGeom>
        </p:spPr>
      </p:pic>
      <p:pic>
        <p:nvPicPr>
          <p:cNvPr id="11" name="图片 10">
            <a:extLst>
              <a:ext uri="{FF2B5EF4-FFF2-40B4-BE49-F238E27FC236}">
                <a16:creationId xmlns:a16="http://schemas.microsoft.com/office/drawing/2014/main" id="{E2C3B1E9-6978-EEF7-EE0B-7742C0B0F531}"/>
              </a:ext>
            </a:extLst>
          </p:cNvPr>
          <p:cNvPicPr>
            <a:picLocks noChangeAspect="1"/>
          </p:cNvPicPr>
          <p:nvPr/>
        </p:nvPicPr>
        <p:blipFill rotWithShape="1">
          <a:blip r:embed="rId3"/>
          <a:srcRect b="26971"/>
          <a:stretch/>
        </p:blipFill>
        <p:spPr>
          <a:xfrm>
            <a:off x="819512" y="1781350"/>
            <a:ext cx="4051868" cy="1367045"/>
          </a:xfrm>
          <a:prstGeom prst="rect">
            <a:avLst/>
          </a:prstGeom>
        </p:spPr>
      </p:pic>
      <p:pic>
        <p:nvPicPr>
          <p:cNvPr id="12" name="图片 11">
            <a:extLst>
              <a:ext uri="{FF2B5EF4-FFF2-40B4-BE49-F238E27FC236}">
                <a16:creationId xmlns:a16="http://schemas.microsoft.com/office/drawing/2014/main" id="{A587C821-2A10-3F11-47C4-E3B38A74862A}"/>
              </a:ext>
            </a:extLst>
          </p:cNvPr>
          <p:cNvPicPr>
            <a:picLocks noChangeAspect="1"/>
          </p:cNvPicPr>
          <p:nvPr/>
        </p:nvPicPr>
        <p:blipFill>
          <a:blip r:embed="rId4"/>
          <a:stretch>
            <a:fillRect/>
          </a:stretch>
        </p:blipFill>
        <p:spPr>
          <a:xfrm>
            <a:off x="5075309" y="1619998"/>
            <a:ext cx="3249179" cy="3099701"/>
          </a:xfrm>
          <a:prstGeom prst="rect">
            <a:avLst/>
          </a:prstGeom>
        </p:spPr>
      </p:pic>
    </p:spTree>
    <p:extLst>
      <p:ext uri="{BB962C8B-B14F-4D97-AF65-F5344CB8AC3E}">
        <p14:creationId xmlns:p14="http://schemas.microsoft.com/office/powerpoint/2010/main" val="4012818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24EBC4-B498-826E-9FA1-7D0FD94DB3FC}"/>
              </a:ext>
            </a:extLst>
          </p:cNvPr>
          <p:cNvSpPr>
            <a:spLocks noGrp="1"/>
          </p:cNvSpPr>
          <p:nvPr>
            <p:ph type="title"/>
          </p:nvPr>
        </p:nvSpPr>
        <p:spPr/>
        <p:txBody>
          <a:bodyPr/>
          <a:lstStyle/>
          <a:p>
            <a:r>
              <a:rPr kumimoji="1" lang="zh-CN" altLang="en-US" dirty="0"/>
              <a:t>变异测试的方法与流程</a:t>
            </a:r>
          </a:p>
        </p:txBody>
      </p:sp>
      <p:pic>
        <p:nvPicPr>
          <p:cNvPr id="8" name="图片 7">
            <a:extLst>
              <a:ext uri="{FF2B5EF4-FFF2-40B4-BE49-F238E27FC236}">
                <a16:creationId xmlns:a16="http://schemas.microsoft.com/office/drawing/2014/main" id="{EAE2E530-46ED-CBE2-6B00-C3E7E174FD34}"/>
              </a:ext>
            </a:extLst>
          </p:cNvPr>
          <p:cNvPicPr>
            <a:picLocks noChangeAspect="1"/>
          </p:cNvPicPr>
          <p:nvPr/>
        </p:nvPicPr>
        <p:blipFill>
          <a:blip r:embed="rId2"/>
          <a:stretch>
            <a:fillRect/>
          </a:stretch>
        </p:blipFill>
        <p:spPr>
          <a:xfrm>
            <a:off x="4634609" y="1448702"/>
            <a:ext cx="4418205" cy="2786868"/>
          </a:xfrm>
          <a:prstGeom prst="rect">
            <a:avLst/>
          </a:prstGeom>
          <a:ln>
            <a:solidFill>
              <a:schemeClr val="accent2"/>
            </a:solidFill>
          </a:ln>
        </p:spPr>
      </p:pic>
      <p:pic>
        <p:nvPicPr>
          <p:cNvPr id="12" name="图片 11">
            <a:extLst>
              <a:ext uri="{FF2B5EF4-FFF2-40B4-BE49-F238E27FC236}">
                <a16:creationId xmlns:a16="http://schemas.microsoft.com/office/drawing/2014/main" id="{5618F35B-0407-518A-47DC-B7B8A86FF676}"/>
              </a:ext>
            </a:extLst>
          </p:cNvPr>
          <p:cNvPicPr>
            <a:picLocks noChangeAspect="1"/>
          </p:cNvPicPr>
          <p:nvPr/>
        </p:nvPicPr>
        <p:blipFill>
          <a:blip r:embed="rId3"/>
          <a:stretch>
            <a:fillRect/>
          </a:stretch>
        </p:blipFill>
        <p:spPr>
          <a:xfrm>
            <a:off x="412760" y="850925"/>
            <a:ext cx="4005446" cy="4120710"/>
          </a:xfrm>
          <a:prstGeom prst="rect">
            <a:avLst/>
          </a:prstGeom>
          <a:ln>
            <a:solidFill>
              <a:schemeClr val="accent2"/>
            </a:solidFill>
          </a:ln>
        </p:spPr>
      </p:pic>
    </p:spTree>
    <p:extLst>
      <p:ext uri="{BB962C8B-B14F-4D97-AF65-F5344CB8AC3E}">
        <p14:creationId xmlns:p14="http://schemas.microsoft.com/office/powerpoint/2010/main" val="21577229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601338" y="303470"/>
            <a:ext cx="5486400" cy="421482"/>
          </a:xfrm>
        </p:spPr>
        <p:txBody>
          <a:bodyPr>
            <a:noAutofit/>
          </a:bodyPr>
          <a:lstStyle/>
          <a:p>
            <a:pPr algn="l">
              <a:buClr>
                <a:schemeClr val="accent4"/>
              </a:buClr>
            </a:pPr>
            <a:r>
              <a:rPr kumimoji="1" lang="zh-CN" altLang="en-US" sz="2800" b="1" dirty="0">
                <a:solidFill>
                  <a:srgbClr val="0070C0"/>
                </a:solidFill>
                <a:latin typeface="Microsoft YaHei" panose="020B0503020204020204" pitchFamily="34" charset="-122"/>
                <a:ea typeface="Microsoft YaHei" panose="020B0503020204020204" pitchFamily="34" charset="-122"/>
              </a:rPr>
              <a:t>渗透测试</a:t>
            </a:r>
          </a:p>
        </p:txBody>
      </p:sp>
      <p:sp>
        <p:nvSpPr>
          <p:cNvPr id="3075" name="Rectangle 3"/>
          <p:cNvSpPr>
            <a:spLocks noGrp="1" noChangeArrowheads="1"/>
          </p:cNvSpPr>
          <p:nvPr>
            <p:ph type="body" idx="1"/>
          </p:nvPr>
        </p:nvSpPr>
        <p:spPr>
          <a:xfrm>
            <a:off x="653682" y="824557"/>
            <a:ext cx="7671762" cy="795386"/>
          </a:xfrm>
        </p:spPr>
        <p:txBody>
          <a:bodyPr/>
          <a:lstStyle/>
          <a:p>
            <a:pPr marL="0" lvl="1" indent="0">
              <a:lnSpc>
                <a:spcPct val="130000"/>
              </a:lnSpc>
              <a:spcBef>
                <a:spcPts val="237"/>
              </a:spcBef>
              <a:buClr>
                <a:srgbClr val="91AC4E"/>
              </a:buClr>
              <a:buSzPct val="80000"/>
              <a:tabLst>
                <a:tab pos="205740" algn="l"/>
              </a:tabLst>
            </a:pPr>
            <a:r>
              <a:rPr lang="zh-CN" altLang="en-US" dirty="0">
                <a:latin typeface="Microsoft YaHei" panose="020B0503020204020204" pitchFamily="34" charset="-122"/>
                <a:ea typeface="Microsoft YaHei" panose="020B0503020204020204" pitchFamily="34" charset="-122"/>
                <a:cs typeface="宋体" charset="0"/>
              </a:rPr>
              <a:t>采用探索式测试方式，模拟黑客可能使用的攻击技术和漏洞发现技术，对目标系统的安全做深入的探测，发现系统最脆弱的环节，直观地发现问题</a:t>
            </a:r>
            <a:endParaRPr lang="en-US" altLang="zh-CN" dirty="0">
              <a:latin typeface="Microsoft YaHei" panose="020B0503020204020204" pitchFamily="34" charset="-122"/>
              <a:ea typeface="Microsoft YaHei" panose="020B0503020204020204" pitchFamily="34" charset="-122"/>
              <a:cs typeface="宋体" charset="0"/>
            </a:endParaRPr>
          </a:p>
        </p:txBody>
      </p:sp>
      <p:sp>
        <p:nvSpPr>
          <p:cNvPr id="73732" name="AutoShape 4" descr="http://preview.filesonic.com/img/1053541.jpeg"/>
          <p:cNvSpPr>
            <a:spLocks noChangeAspect="1" noChangeArrowheads="1"/>
          </p:cNvSpPr>
          <p:nvPr/>
        </p:nvSpPr>
        <p:spPr bwMode="auto">
          <a:xfrm>
            <a:off x="514350" y="-102394"/>
            <a:ext cx="27432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ltLang="en-US" sz="1620"/>
          </a:p>
        </p:txBody>
      </p:sp>
      <p:sp>
        <p:nvSpPr>
          <p:cNvPr id="73735" name="AutoShape 10" descr="http://preview.filesonic.com/img/1053541.jpeg"/>
          <p:cNvSpPr>
            <a:spLocks noChangeAspect="1" noChangeArrowheads="1"/>
          </p:cNvSpPr>
          <p:nvPr/>
        </p:nvSpPr>
        <p:spPr bwMode="auto">
          <a:xfrm>
            <a:off x="514350" y="-102394"/>
            <a:ext cx="27432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ltLang="en-US" sz="1620"/>
          </a:p>
        </p:txBody>
      </p:sp>
      <p:sp>
        <p:nvSpPr>
          <p:cNvPr id="73736" name="AutoShape 12" descr="http://preview.filesonic.com/img/1053541.jpeg"/>
          <p:cNvSpPr>
            <a:spLocks noChangeAspect="1" noChangeArrowheads="1"/>
          </p:cNvSpPr>
          <p:nvPr/>
        </p:nvSpPr>
        <p:spPr bwMode="auto">
          <a:xfrm>
            <a:off x="514350" y="-102394"/>
            <a:ext cx="27432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ltLang="en-US" sz="1620"/>
          </a:p>
        </p:txBody>
      </p:sp>
      <p:sp>
        <p:nvSpPr>
          <p:cNvPr id="73737" name="AutoShape 14" descr="http://preview.filesonic.com/img/1053541.jpeg"/>
          <p:cNvSpPr>
            <a:spLocks noChangeAspect="1" noChangeArrowheads="1"/>
          </p:cNvSpPr>
          <p:nvPr/>
        </p:nvSpPr>
        <p:spPr bwMode="auto">
          <a:xfrm>
            <a:off x="514350" y="-102394"/>
            <a:ext cx="27432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zh-CN" altLang="en-US" sz="1620"/>
          </a:p>
        </p:txBody>
      </p:sp>
      <p:sp>
        <p:nvSpPr>
          <p:cNvPr id="4" name="圆角矩形 3">
            <a:extLst>
              <a:ext uri="{FF2B5EF4-FFF2-40B4-BE49-F238E27FC236}">
                <a16:creationId xmlns:a16="http://schemas.microsoft.com/office/drawing/2014/main" id="{37DA8EF3-0582-4992-1AF6-8DA9E710DC6B}"/>
              </a:ext>
            </a:extLst>
          </p:cNvPr>
          <p:cNvSpPr/>
          <p:nvPr/>
        </p:nvSpPr>
        <p:spPr>
          <a:xfrm>
            <a:off x="1793107" y="1820996"/>
            <a:ext cx="1093904" cy="2819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80" dirty="0">
                <a:solidFill>
                  <a:srgbClr val="FFFF00"/>
                </a:solidFill>
                <a:latin typeface="Microsoft YaHei" panose="020B0503020204020204" pitchFamily="34" charset="-122"/>
                <a:ea typeface="Microsoft YaHei" panose="020B0503020204020204" pitchFamily="34" charset="-122"/>
              </a:rPr>
              <a:t>利用搜索引擎</a:t>
            </a:r>
          </a:p>
        </p:txBody>
      </p:sp>
      <p:sp>
        <p:nvSpPr>
          <p:cNvPr id="5" name="圆角矩形 4">
            <a:extLst>
              <a:ext uri="{FF2B5EF4-FFF2-40B4-BE49-F238E27FC236}">
                <a16:creationId xmlns:a16="http://schemas.microsoft.com/office/drawing/2014/main" id="{BF828011-B0CA-1474-9A41-C055A4EA9E7C}"/>
              </a:ext>
            </a:extLst>
          </p:cNvPr>
          <p:cNvSpPr/>
          <p:nvPr/>
        </p:nvSpPr>
        <p:spPr>
          <a:xfrm>
            <a:off x="1793109" y="2172134"/>
            <a:ext cx="1093904" cy="2819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80" dirty="0">
                <a:solidFill>
                  <a:srgbClr val="FFFF00"/>
                </a:solidFill>
                <a:latin typeface="Microsoft YaHei" panose="020B0503020204020204" pitchFamily="34" charset="-122"/>
                <a:ea typeface="Microsoft YaHei" panose="020B0503020204020204" pitchFamily="34" charset="-122"/>
              </a:rPr>
              <a:t>利用开源平台</a:t>
            </a:r>
          </a:p>
        </p:txBody>
      </p:sp>
      <p:sp>
        <p:nvSpPr>
          <p:cNvPr id="6" name="圆角矩形 5">
            <a:extLst>
              <a:ext uri="{FF2B5EF4-FFF2-40B4-BE49-F238E27FC236}">
                <a16:creationId xmlns:a16="http://schemas.microsoft.com/office/drawing/2014/main" id="{374CA3A5-9EA0-F9DD-03E6-6DC62AB9632F}"/>
              </a:ext>
            </a:extLst>
          </p:cNvPr>
          <p:cNvSpPr/>
          <p:nvPr/>
        </p:nvSpPr>
        <p:spPr>
          <a:xfrm>
            <a:off x="1793108" y="2504032"/>
            <a:ext cx="1093904" cy="2819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80" dirty="0">
                <a:solidFill>
                  <a:srgbClr val="FFFF00"/>
                </a:solidFill>
                <a:latin typeface="Microsoft YaHei" panose="020B0503020204020204" pitchFamily="34" charset="-122"/>
                <a:ea typeface="Microsoft YaHei" panose="020B0503020204020204" pitchFamily="34" charset="-122"/>
              </a:rPr>
              <a:t>收集产品资料</a:t>
            </a:r>
          </a:p>
        </p:txBody>
      </p:sp>
      <p:sp>
        <p:nvSpPr>
          <p:cNvPr id="7" name="椭圆 6">
            <a:extLst>
              <a:ext uri="{FF2B5EF4-FFF2-40B4-BE49-F238E27FC236}">
                <a16:creationId xmlns:a16="http://schemas.microsoft.com/office/drawing/2014/main" id="{FF9FD671-7FFF-45F5-3D16-5459423D6253}"/>
              </a:ext>
            </a:extLst>
          </p:cNvPr>
          <p:cNvSpPr/>
          <p:nvPr/>
        </p:nvSpPr>
        <p:spPr bwMode="gray">
          <a:xfrm>
            <a:off x="1316867" y="2995959"/>
            <a:ext cx="777686" cy="777686"/>
          </a:xfrm>
          <a:prstGeom prst="ellipse">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kumimoji="1" lang="zh-CN" altLang="en-US" sz="1620" dirty="0">
                <a:latin typeface="Microsoft YaHei" panose="020B0503020204020204" pitchFamily="34" charset="-122"/>
                <a:ea typeface="Microsoft YaHei" panose="020B0503020204020204" pitchFamily="34" charset="-122"/>
              </a:rPr>
              <a:t>信息</a:t>
            </a:r>
            <a:endParaRPr kumimoji="1" lang="en-US" altLang="zh-CN" sz="1620" dirty="0">
              <a:latin typeface="Microsoft YaHei" panose="020B0503020204020204" pitchFamily="34" charset="-122"/>
              <a:ea typeface="Microsoft YaHei" panose="020B0503020204020204" pitchFamily="34" charset="-122"/>
            </a:endParaRPr>
          </a:p>
          <a:p>
            <a:pPr algn="ctr"/>
            <a:r>
              <a:rPr kumimoji="1" lang="zh-CN" altLang="en-US" sz="1620" dirty="0">
                <a:latin typeface="Microsoft YaHei" panose="020B0503020204020204" pitchFamily="34" charset="-122"/>
                <a:ea typeface="Microsoft YaHei" panose="020B0503020204020204" pitchFamily="34" charset="-122"/>
              </a:rPr>
              <a:t>收集</a:t>
            </a:r>
          </a:p>
        </p:txBody>
      </p:sp>
      <p:sp>
        <p:nvSpPr>
          <p:cNvPr id="8" name="椭圆 7">
            <a:extLst>
              <a:ext uri="{FF2B5EF4-FFF2-40B4-BE49-F238E27FC236}">
                <a16:creationId xmlns:a16="http://schemas.microsoft.com/office/drawing/2014/main" id="{10411B8F-E2B9-0885-AE38-44E798B8A8DE}"/>
              </a:ext>
            </a:extLst>
          </p:cNvPr>
          <p:cNvSpPr/>
          <p:nvPr/>
        </p:nvSpPr>
        <p:spPr bwMode="gray">
          <a:xfrm>
            <a:off x="2964401" y="3056458"/>
            <a:ext cx="777686" cy="777686"/>
          </a:xfrm>
          <a:prstGeom prst="ellipse">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kumimoji="1" lang="zh-CN" altLang="en-US" sz="1620" dirty="0">
                <a:latin typeface="Microsoft YaHei" panose="020B0503020204020204" pitchFamily="34" charset="-122"/>
                <a:ea typeface="Microsoft YaHei" panose="020B0503020204020204" pitchFamily="34" charset="-122"/>
              </a:rPr>
              <a:t>威胁</a:t>
            </a:r>
            <a:endParaRPr kumimoji="1" lang="en-US" altLang="zh-CN" sz="1620" dirty="0">
              <a:latin typeface="Microsoft YaHei" panose="020B0503020204020204" pitchFamily="34" charset="-122"/>
              <a:ea typeface="Microsoft YaHei" panose="020B0503020204020204" pitchFamily="34" charset="-122"/>
            </a:endParaRPr>
          </a:p>
          <a:p>
            <a:pPr algn="ctr"/>
            <a:r>
              <a:rPr kumimoji="1" lang="zh-CN" altLang="en-US" sz="1620" dirty="0">
                <a:latin typeface="Microsoft YaHei" panose="020B0503020204020204" pitchFamily="34" charset="-122"/>
                <a:ea typeface="Microsoft YaHei" panose="020B0503020204020204" pitchFamily="34" charset="-122"/>
              </a:rPr>
              <a:t>分析</a:t>
            </a:r>
          </a:p>
        </p:txBody>
      </p:sp>
      <p:sp>
        <p:nvSpPr>
          <p:cNvPr id="9" name="椭圆 8">
            <a:extLst>
              <a:ext uri="{FF2B5EF4-FFF2-40B4-BE49-F238E27FC236}">
                <a16:creationId xmlns:a16="http://schemas.microsoft.com/office/drawing/2014/main" id="{35BB167C-8540-41A1-414A-056EFD94A35C}"/>
              </a:ext>
            </a:extLst>
          </p:cNvPr>
          <p:cNvSpPr/>
          <p:nvPr/>
        </p:nvSpPr>
        <p:spPr bwMode="gray">
          <a:xfrm>
            <a:off x="4881848" y="3014311"/>
            <a:ext cx="777686" cy="777686"/>
          </a:xfrm>
          <a:prstGeom prst="ellipse">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kumimoji="1" lang="zh-CN" altLang="en-US" sz="1620" dirty="0">
                <a:latin typeface="Microsoft YaHei" panose="020B0503020204020204" pitchFamily="34" charset="-122"/>
                <a:ea typeface="Microsoft YaHei" panose="020B0503020204020204" pitchFamily="34" charset="-122"/>
              </a:rPr>
              <a:t>渗透</a:t>
            </a:r>
            <a:endParaRPr kumimoji="1" lang="en-US" altLang="zh-CN" sz="1620" dirty="0">
              <a:latin typeface="Microsoft YaHei" panose="020B0503020204020204" pitchFamily="34" charset="-122"/>
              <a:ea typeface="Microsoft YaHei" panose="020B0503020204020204" pitchFamily="34" charset="-122"/>
            </a:endParaRPr>
          </a:p>
          <a:p>
            <a:pPr algn="ctr"/>
            <a:r>
              <a:rPr kumimoji="1" lang="zh-CN" altLang="en-US" sz="1620" dirty="0">
                <a:latin typeface="Microsoft YaHei" panose="020B0503020204020204" pitchFamily="34" charset="-122"/>
                <a:ea typeface="Microsoft YaHei" panose="020B0503020204020204" pitchFamily="34" charset="-122"/>
              </a:rPr>
              <a:t>攻击</a:t>
            </a:r>
          </a:p>
        </p:txBody>
      </p:sp>
      <p:sp>
        <p:nvSpPr>
          <p:cNvPr id="10" name="椭圆 9">
            <a:extLst>
              <a:ext uri="{FF2B5EF4-FFF2-40B4-BE49-F238E27FC236}">
                <a16:creationId xmlns:a16="http://schemas.microsoft.com/office/drawing/2014/main" id="{D702A9D2-924C-4BE9-EA45-C14EA38F6EBD}"/>
              </a:ext>
            </a:extLst>
          </p:cNvPr>
          <p:cNvSpPr/>
          <p:nvPr/>
        </p:nvSpPr>
        <p:spPr bwMode="gray">
          <a:xfrm>
            <a:off x="6824053" y="2933112"/>
            <a:ext cx="849659" cy="886940"/>
          </a:xfrm>
          <a:prstGeom prst="ellipse">
            <a:avLst/>
          </a:prstGeom>
          <a:gradFill>
            <a:gsLst>
              <a:gs pos="0">
                <a:srgbClr val="FFEFD1"/>
              </a:gs>
              <a:gs pos="64999">
                <a:srgbClr val="F0EBD5"/>
              </a:gs>
              <a:gs pos="100000">
                <a:srgbClr val="D1C39F"/>
              </a:gs>
            </a:gsLst>
            <a:lin ang="5400000" scaled="0"/>
          </a:gradFill>
          <a:ln w="12700" algn="ctr">
            <a:solidFill>
              <a:srgbClr val="333333"/>
            </a:solidFill>
            <a:miter lim="800000"/>
            <a:headEnd/>
            <a:tailEnd/>
          </a:ln>
          <a:effectLst/>
        </p:spPr>
        <p:txBody>
          <a:bodyPr wrap="none" rtlCol="0" anchor="ctr"/>
          <a:lstStyle/>
          <a:p>
            <a:pPr algn="ctr"/>
            <a:r>
              <a:rPr kumimoji="1" lang="zh-CN" altLang="en-US" sz="1440" dirty="0">
                <a:latin typeface="Microsoft YaHei" panose="020B0503020204020204" pitchFamily="34" charset="-122"/>
                <a:ea typeface="Microsoft YaHei" panose="020B0503020204020204" pitchFamily="34" charset="-122"/>
              </a:rPr>
              <a:t>风险评估</a:t>
            </a:r>
            <a:endParaRPr kumimoji="1" lang="en-US" altLang="zh-CN" sz="1440" dirty="0">
              <a:latin typeface="Microsoft YaHei" panose="020B0503020204020204" pitchFamily="34" charset="-122"/>
              <a:ea typeface="Microsoft YaHei" panose="020B0503020204020204" pitchFamily="34" charset="-122"/>
            </a:endParaRPr>
          </a:p>
          <a:p>
            <a:pPr algn="ctr"/>
            <a:r>
              <a:rPr kumimoji="1" lang="zh-CN" altLang="en-US" sz="1440" dirty="0">
                <a:latin typeface="Microsoft YaHei" panose="020B0503020204020204" pitchFamily="34" charset="-122"/>
                <a:ea typeface="Microsoft YaHei" panose="020B0503020204020204" pitchFamily="34" charset="-122"/>
              </a:rPr>
              <a:t>与总结</a:t>
            </a:r>
          </a:p>
        </p:txBody>
      </p:sp>
      <p:sp>
        <p:nvSpPr>
          <p:cNvPr id="12" name="圆角矩形 11">
            <a:extLst>
              <a:ext uri="{FF2B5EF4-FFF2-40B4-BE49-F238E27FC236}">
                <a16:creationId xmlns:a16="http://schemas.microsoft.com/office/drawing/2014/main" id="{A19E3381-4054-2E37-DBDF-12A318E2E71A}"/>
              </a:ext>
            </a:extLst>
          </p:cNvPr>
          <p:cNvSpPr/>
          <p:nvPr/>
        </p:nvSpPr>
        <p:spPr>
          <a:xfrm>
            <a:off x="3455515" y="4116989"/>
            <a:ext cx="849659" cy="2819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80" dirty="0">
                <a:solidFill>
                  <a:srgbClr val="FFFF00"/>
                </a:solidFill>
                <a:latin typeface="Microsoft YaHei" panose="020B0503020204020204" pitchFamily="34" charset="-122"/>
                <a:ea typeface="Microsoft YaHei" panose="020B0503020204020204" pitchFamily="34" charset="-122"/>
              </a:rPr>
              <a:t>价值资产</a:t>
            </a:r>
          </a:p>
        </p:txBody>
      </p:sp>
      <p:sp>
        <p:nvSpPr>
          <p:cNvPr id="13" name="圆角矩形 12">
            <a:extLst>
              <a:ext uri="{FF2B5EF4-FFF2-40B4-BE49-F238E27FC236}">
                <a16:creationId xmlns:a16="http://schemas.microsoft.com/office/drawing/2014/main" id="{E4A12D20-CD16-219A-F802-09387871F6EE}"/>
              </a:ext>
            </a:extLst>
          </p:cNvPr>
          <p:cNvSpPr/>
          <p:nvPr/>
        </p:nvSpPr>
        <p:spPr>
          <a:xfrm>
            <a:off x="3470278" y="4460283"/>
            <a:ext cx="958904" cy="2819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80" dirty="0">
                <a:solidFill>
                  <a:srgbClr val="FFFF00"/>
                </a:solidFill>
                <a:latin typeface="Microsoft YaHei" panose="020B0503020204020204" pitchFamily="34" charset="-122"/>
                <a:ea typeface="Microsoft YaHei" panose="020B0503020204020204" pitchFamily="34" charset="-122"/>
              </a:rPr>
              <a:t>高风险模块</a:t>
            </a:r>
          </a:p>
        </p:txBody>
      </p:sp>
      <p:sp>
        <p:nvSpPr>
          <p:cNvPr id="14" name="圆角矩形 13">
            <a:extLst>
              <a:ext uri="{FF2B5EF4-FFF2-40B4-BE49-F238E27FC236}">
                <a16:creationId xmlns:a16="http://schemas.microsoft.com/office/drawing/2014/main" id="{D4BB8E93-63C3-8D04-8E8E-57119C2AB90D}"/>
              </a:ext>
            </a:extLst>
          </p:cNvPr>
          <p:cNvSpPr/>
          <p:nvPr/>
        </p:nvSpPr>
        <p:spPr>
          <a:xfrm>
            <a:off x="5025652" y="4303441"/>
            <a:ext cx="849659" cy="28190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80" dirty="0">
                <a:solidFill>
                  <a:schemeClr val="accent2">
                    <a:lumMod val="50000"/>
                  </a:schemeClr>
                </a:solidFill>
                <a:latin typeface="Microsoft YaHei" panose="020B0503020204020204" pitchFamily="34" charset="-122"/>
                <a:ea typeface="Microsoft YaHei" panose="020B0503020204020204" pitchFamily="34" charset="-122"/>
              </a:rPr>
              <a:t>攻击目标</a:t>
            </a:r>
          </a:p>
        </p:txBody>
      </p:sp>
      <p:sp>
        <p:nvSpPr>
          <p:cNvPr id="15" name="圆角矩形 14">
            <a:extLst>
              <a:ext uri="{FF2B5EF4-FFF2-40B4-BE49-F238E27FC236}">
                <a16:creationId xmlns:a16="http://schemas.microsoft.com/office/drawing/2014/main" id="{05CE097E-12F9-F129-CD50-CDA29169B852}"/>
              </a:ext>
            </a:extLst>
          </p:cNvPr>
          <p:cNvSpPr/>
          <p:nvPr/>
        </p:nvSpPr>
        <p:spPr>
          <a:xfrm>
            <a:off x="5435150" y="1806625"/>
            <a:ext cx="849659" cy="2202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80" dirty="0">
                <a:solidFill>
                  <a:srgbClr val="FFFF00"/>
                </a:solidFill>
                <a:latin typeface="Microsoft YaHei" panose="020B0503020204020204" pitchFamily="34" charset="-122"/>
                <a:ea typeface="Microsoft YaHei" panose="020B0503020204020204" pitchFamily="34" charset="-122"/>
              </a:rPr>
              <a:t>漏洞挖掘</a:t>
            </a:r>
          </a:p>
        </p:txBody>
      </p:sp>
      <p:sp>
        <p:nvSpPr>
          <p:cNvPr id="16" name="圆角矩形 15">
            <a:extLst>
              <a:ext uri="{FF2B5EF4-FFF2-40B4-BE49-F238E27FC236}">
                <a16:creationId xmlns:a16="http://schemas.microsoft.com/office/drawing/2014/main" id="{54F9EB6A-1939-9337-0162-DD0A502BB0F3}"/>
              </a:ext>
            </a:extLst>
          </p:cNvPr>
          <p:cNvSpPr/>
          <p:nvPr/>
        </p:nvSpPr>
        <p:spPr>
          <a:xfrm>
            <a:off x="5427088" y="2075583"/>
            <a:ext cx="849659" cy="2202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80" dirty="0">
                <a:solidFill>
                  <a:srgbClr val="FFFF00"/>
                </a:solidFill>
                <a:latin typeface="Microsoft YaHei" panose="020B0503020204020204" pitchFamily="34" charset="-122"/>
                <a:ea typeface="Microsoft YaHei" panose="020B0503020204020204" pitchFamily="34" charset="-122"/>
              </a:rPr>
              <a:t>漏洞利用</a:t>
            </a:r>
          </a:p>
        </p:txBody>
      </p:sp>
      <p:sp>
        <p:nvSpPr>
          <p:cNvPr id="17" name="圆角矩形 16">
            <a:extLst>
              <a:ext uri="{FF2B5EF4-FFF2-40B4-BE49-F238E27FC236}">
                <a16:creationId xmlns:a16="http://schemas.microsoft.com/office/drawing/2014/main" id="{FBCABB10-3831-96A1-ACB5-42288E7AB9E4}"/>
              </a:ext>
            </a:extLst>
          </p:cNvPr>
          <p:cNvSpPr/>
          <p:nvPr/>
        </p:nvSpPr>
        <p:spPr>
          <a:xfrm>
            <a:off x="5428665" y="2384860"/>
            <a:ext cx="849659" cy="2202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80" dirty="0">
                <a:solidFill>
                  <a:srgbClr val="FFFF00"/>
                </a:solidFill>
                <a:latin typeface="Microsoft YaHei" panose="020B0503020204020204" pitchFamily="34" charset="-122"/>
                <a:ea typeface="Microsoft YaHei" panose="020B0503020204020204" pitchFamily="34" charset="-122"/>
              </a:rPr>
              <a:t>权限提升</a:t>
            </a:r>
          </a:p>
        </p:txBody>
      </p:sp>
      <p:sp>
        <p:nvSpPr>
          <p:cNvPr id="18" name="圆角矩形 17">
            <a:extLst>
              <a:ext uri="{FF2B5EF4-FFF2-40B4-BE49-F238E27FC236}">
                <a16:creationId xmlns:a16="http://schemas.microsoft.com/office/drawing/2014/main" id="{3BA74B20-8059-373B-47B8-25CA145AE5C0}"/>
              </a:ext>
            </a:extLst>
          </p:cNvPr>
          <p:cNvSpPr/>
          <p:nvPr/>
        </p:nvSpPr>
        <p:spPr>
          <a:xfrm>
            <a:off x="5429853" y="2677816"/>
            <a:ext cx="659677" cy="21624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80" dirty="0">
                <a:solidFill>
                  <a:srgbClr val="FFFF00"/>
                </a:solidFill>
                <a:latin typeface="Microsoft YaHei" panose="020B0503020204020204" pitchFamily="34" charset="-122"/>
                <a:ea typeface="Microsoft YaHei" panose="020B0503020204020204" pitchFamily="34" charset="-122"/>
              </a:rPr>
              <a:t>持久化</a:t>
            </a:r>
          </a:p>
        </p:txBody>
      </p:sp>
      <p:sp>
        <p:nvSpPr>
          <p:cNvPr id="19" name="圆角矩形 18">
            <a:extLst>
              <a:ext uri="{FF2B5EF4-FFF2-40B4-BE49-F238E27FC236}">
                <a16:creationId xmlns:a16="http://schemas.microsoft.com/office/drawing/2014/main" id="{057BCDEB-8560-1B0F-DD9C-140A96618C30}"/>
              </a:ext>
            </a:extLst>
          </p:cNvPr>
          <p:cNvSpPr/>
          <p:nvPr/>
        </p:nvSpPr>
        <p:spPr>
          <a:xfrm>
            <a:off x="7585824" y="4052627"/>
            <a:ext cx="980206" cy="2819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60" dirty="0">
                <a:solidFill>
                  <a:srgbClr val="FFFF00"/>
                </a:solidFill>
                <a:latin typeface="Microsoft YaHei" panose="020B0503020204020204" pitchFamily="34" charset="-122"/>
                <a:ea typeface="Microsoft YaHei" panose="020B0503020204020204" pitchFamily="34" charset="-122"/>
              </a:rPr>
              <a:t>测试报告</a:t>
            </a:r>
          </a:p>
        </p:txBody>
      </p:sp>
      <p:cxnSp>
        <p:nvCxnSpPr>
          <p:cNvPr id="21" name="曲线连接符 20">
            <a:extLst>
              <a:ext uri="{FF2B5EF4-FFF2-40B4-BE49-F238E27FC236}">
                <a16:creationId xmlns:a16="http://schemas.microsoft.com/office/drawing/2014/main" id="{9CD0C3AF-63D8-5930-A45D-09CCB0267C9C}"/>
              </a:ext>
            </a:extLst>
          </p:cNvPr>
          <p:cNvCxnSpPr>
            <a:stCxn id="9" idx="1"/>
            <a:endCxn id="7" idx="7"/>
          </p:cNvCxnSpPr>
          <p:nvPr/>
        </p:nvCxnSpPr>
        <p:spPr bwMode="auto">
          <a:xfrm rot="16200000" flipV="1">
            <a:off x="3479025" y="1611488"/>
            <a:ext cx="18352" cy="3015074"/>
          </a:xfrm>
          <a:prstGeom prst="curvedConnector3">
            <a:avLst>
              <a:gd name="adj1" fmla="val 1841670"/>
            </a:avLst>
          </a:prstGeom>
          <a:solidFill>
            <a:schemeClr val="accent1"/>
          </a:solidFill>
          <a:ln w="9525" cap="flat" cmpd="sng" algn="ctr">
            <a:solidFill>
              <a:schemeClr val="tx1"/>
            </a:solidFill>
            <a:prstDash val="solid"/>
            <a:round/>
            <a:headEnd type="none" w="med" len="med"/>
            <a:tailEnd type="triangle"/>
          </a:ln>
          <a:effectLst/>
        </p:spPr>
      </p:cxnSp>
      <p:cxnSp>
        <p:nvCxnSpPr>
          <p:cNvPr id="22" name="曲线连接符 21">
            <a:extLst>
              <a:ext uri="{FF2B5EF4-FFF2-40B4-BE49-F238E27FC236}">
                <a16:creationId xmlns:a16="http://schemas.microsoft.com/office/drawing/2014/main" id="{AFA02E91-0573-2B47-95B5-270AD2C9E7A9}"/>
              </a:ext>
            </a:extLst>
          </p:cNvPr>
          <p:cNvCxnSpPr>
            <a:cxnSpLocks/>
            <a:stCxn id="9" idx="4"/>
            <a:endCxn id="10" idx="3"/>
          </p:cNvCxnSpPr>
          <p:nvPr/>
        </p:nvCxnSpPr>
        <p:spPr bwMode="auto">
          <a:xfrm rot="5400000" flipH="1" flipV="1">
            <a:off x="6058669" y="2902184"/>
            <a:ext cx="101835" cy="1677792"/>
          </a:xfrm>
          <a:prstGeom prst="curvedConnector3">
            <a:avLst>
              <a:gd name="adj1" fmla="val -229582"/>
            </a:avLst>
          </a:prstGeom>
          <a:solidFill>
            <a:schemeClr val="accent1"/>
          </a:solidFill>
          <a:ln w="9525" cap="flat" cmpd="sng" algn="ctr">
            <a:solidFill>
              <a:schemeClr val="tx1"/>
            </a:solidFill>
            <a:prstDash val="solid"/>
            <a:round/>
            <a:headEnd type="none" w="med" len="med"/>
            <a:tailEnd type="triangle"/>
          </a:ln>
          <a:effectLst/>
        </p:spPr>
      </p:cxnSp>
      <p:sp>
        <p:nvSpPr>
          <p:cNvPr id="24" name="圆角矩形 23">
            <a:extLst>
              <a:ext uri="{FF2B5EF4-FFF2-40B4-BE49-F238E27FC236}">
                <a16:creationId xmlns:a16="http://schemas.microsoft.com/office/drawing/2014/main" id="{7AFC9BDD-1A50-68B8-E049-894975F53664}"/>
              </a:ext>
            </a:extLst>
          </p:cNvPr>
          <p:cNvSpPr/>
          <p:nvPr/>
        </p:nvSpPr>
        <p:spPr>
          <a:xfrm>
            <a:off x="3470278" y="4785972"/>
            <a:ext cx="1019285" cy="2819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80" dirty="0">
                <a:solidFill>
                  <a:srgbClr val="FFFF00"/>
                </a:solidFill>
                <a:latin typeface="Microsoft YaHei" panose="020B0503020204020204" pitchFamily="34" charset="-122"/>
                <a:ea typeface="Microsoft YaHei" panose="020B0503020204020204" pitchFamily="34" charset="-122"/>
              </a:rPr>
              <a:t>攻击树分析</a:t>
            </a:r>
          </a:p>
        </p:txBody>
      </p:sp>
      <p:cxnSp>
        <p:nvCxnSpPr>
          <p:cNvPr id="25" name="曲线连接符 24">
            <a:extLst>
              <a:ext uri="{FF2B5EF4-FFF2-40B4-BE49-F238E27FC236}">
                <a16:creationId xmlns:a16="http://schemas.microsoft.com/office/drawing/2014/main" id="{4CF45D6B-AE7D-1A6F-4326-6759267D6BF2}"/>
              </a:ext>
            </a:extLst>
          </p:cNvPr>
          <p:cNvCxnSpPr>
            <a:cxnSpLocks/>
            <a:stCxn id="7" idx="5"/>
            <a:endCxn id="8" idx="3"/>
          </p:cNvCxnSpPr>
          <p:nvPr/>
        </p:nvCxnSpPr>
        <p:spPr bwMode="auto">
          <a:xfrm rot="16200000" flipH="1">
            <a:off x="2499228" y="3141191"/>
            <a:ext cx="60499" cy="1097627"/>
          </a:xfrm>
          <a:prstGeom prst="curvedConnector3">
            <a:avLst>
              <a:gd name="adj1" fmla="val 628323"/>
            </a:avLst>
          </a:prstGeom>
          <a:solidFill>
            <a:schemeClr val="accent1"/>
          </a:solidFill>
          <a:ln w="9525" cap="flat" cmpd="sng" algn="ctr">
            <a:solidFill>
              <a:schemeClr val="tx1"/>
            </a:solidFill>
            <a:prstDash val="solid"/>
            <a:round/>
            <a:headEnd type="none" w="med" len="med"/>
            <a:tailEnd type="triangle"/>
          </a:ln>
          <a:effectLst/>
        </p:spPr>
      </p:cxnSp>
      <p:cxnSp>
        <p:nvCxnSpPr>
          <p:cNvPr id="26" name="曲线连接符 25">
            <a:extLst>
              <a:ext uri="{FF2B5EF4-FFF2-40B4-BE49-F238E27FC236}">
                <a16:creationId xmlns:a16="http://schemas.microsoft.com/office/drawing/2014/main" id="{645F532B-E116-6B98-FC2F-0710926659F2}"/>
              </a:ext>
            </a:extLst>
          </p:cNvPr>
          <p:cNvCxnSpPr>
            <a:cxnSpLocks/>
            <a:stCxn id="14" idx="1"/>
            <a:endCxn id="12" idx="3"/>
          </p:cNvCxnSpPr>
          <p:nvPr/>
        </p:nvCxnSpPr>
        <p:spPr bwMode="auto">
          <a:xfrm rot="10800000">
            <a:off x="4305175" y="4257942"/>
            <a:ext cx="720478" cy="186451"/>
          </a:xfrm>
          <a:prstGeom prst="curvedConnector3">
            <a:avLst>
              <a:gd name="adj1" fmla="val 50000"/>
            </a:avLst>
          </a:prstGeom>
          <a:solidFill>
            <a:schemeClr val="accent1"/>
          </a:solidFill>
          <a:ln w="9525" cap="flat" cmpd="sng" algn="ctr">
            <a:solidFill>
              <a:schemeClr val="tx1"/>
            </a:solidFill>
            <a:prstDash val="solid"/>
            <a:round/>
            <a:headEnd type="none" w="med" len="med"/>
            <a:tailEnd type="triangle"/>
          </a:ln>
          <a:effectLst/>
        </p:spPr>
      </p:cxnSp>
      <p:cxnSp>
        <p:nvCxnSpPr>
          <p:cNvPr id="34" name="曲线连接符 33">
            <a:extLst>
              <a:ext uri="{FF2B5EF4-FFF2-40B4-BE49-F238E27FC236}">
                <a16:creationId xmlns:a16="http://schemas.microsoft.com/office/drawing/2014/main" id="{5CB80288-FF50-2CE1-C522-77A3B15CB36E}"/>
              </a:ext>
            </a:extLst>
          </p:cNvPr>
          <p:cNvCxnSpPr>
            <a:cxnSpLocks/>
            <a:stCxn id="8" idx="5"/>
            <a:endCxn id="9" idx="3"/>
          </p:cNvCxnSpPr>
          <p:nvPr/>
        </p:nvCxnSpPr>
        <p:spPr bwMode="auto">
          <a:xfrm rot="5400000" flipH="1" flipV="1">
            <a:off x="4290894" y="3015411"/>
            <a:ext cx="42147" cy="1367539"/>
          </a:xfrm>
          <a:prstGeom prst="curvedConnector3">
            <a:avLst>
              <a:gd name="adj1" fmla="val -758369"/>
            </a:avLst>
          </a:prstGeom>
          <a:solidFill>
            <a:schemeClr val="accent1"/>
          </a:solidFill>
          <a:ln w="9525" cap="flat" cmpd="sng" algn="ctr">
            <a:solidFill>
              <a:schemeClr val="tx1"/>
            </a:solidFill>
            <a:prstDash val="solid"/>
            <a:round/>
            <a:headEnd type="none" w="med" len="med"/>
            <a:tailEnd type="triangle"/>
          </a:ln>
          <a:effectLst/>
        </p:spPr>
      </p:cxnSp>
      <p:sp>
        <p:nvSpPr>
          <p:cNvPr id="37" name="文本框 36">
            <a:extLst>
              <a:ext uri="{FF2B5EF4-FFF2-40B4-BE49-F238E27FC236}">
                <a16:creationId xmlns:a16="http://schemas.microsoft.com/office/drawing/2014/main" id="{CBCAAC38-0FA2-E91F-6B45-47C024E8530E}"/>
              </a:ext>
            </a:extLst>
          </p:cNvPr>
          <p:cNvSpPr txBox="1"/>
          <p:nvPr/>
        </p:nvSpPr>
        <p:spPr>
          <a:xfrm>
            <a:off x="3729508" y="3728038"/>
            <a:ext cx="1149674" cy="258532"/>
          </a:xfrm>
          <a:prstGeom prst="rect">
            <a:avLst/>
          </a:prstGeom>
          <a:noFill/>
        </p:spPr>
        <p:txBody>
          <a:bodyPr wrap="none" rtlCol="0">
            <a:spAutoFit/>
          </a:bodyPr>
          <a:lstStyle/>
          <a:p>
            <a:r>
              <a:rPr kumimoji="1" lang="zh-CN" altLang="en-US" sz="1080" dirty="0"/>
              <a:t>结合攻击模式库</a:t>
            </a:r>
          </a:p>
        </p:txBody>
      </p:sp>
      <p:cxnSp>
        <p:nvCxnSpPr>
          <p:cNvPr id="43" name="肘形连接符 42">
            <a:extLst>
              <a:ext uri="{FF2B5EF4-FFF2-40B4-BE49-F238E27FC236}">
                <a16:creationId xmlns:a16="http://schemas.microsoft.com/office/drawing/2014/main" id="{BB667FBD-AB91-1BC5-218D-37CAAD86A48A}"/>
              </a:ext>
            </a:extLst>
          </p:cNvPr>
          <p:cNvCxnSpPr>
            <a:cxnSpLocks/>
            <a:stCxn id="8" idx="4"/>
            <a:endCxn id="12" idx="1"/>
          </p:cNvCxnSpPr>
          <p:nvPr/>
        </p:nvCxnSpPr>
        <p:spPr bwMode="auto">
          <a:xfrm rot="16200000" flipH="1">
            <a:off x="3192481" y="3994907"/>
            <a:ext cx="423797" cy="102271"/>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44" name="肘形连接符 43">
            <a:extLst>
              <a:ext uri="{FF2B5EF4-FFF2-40B4-BE49-F238E27FC236}">
                <a16:creationId xmlns:a16="http://schemas.microsoft.com/office/drawing/2014/main" id="{CF14C7CB-876A-A304-6BDE-D5F70F28CBAB}"/>
              </a:ext>
            </a:extLst>
          </p:cNvPr>
          <p:cNvCxnSpPr>
            <a:cxnSpLocks/>
            <a:endCxn id="24" idx="1"/>
          </p:cNvCxnSpPr>
          <p:nvPr/>
        </p:nvCxnSpPr>
        <p:spPr bwMode="auto">
          <a:xfrm rot="16200000" flipH="1">
            <a:off x="2888595" y="4345241"/>
            <a:ext cx="1046332" cy="117033"/>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52" name="肘形连接符 51">
            <a:extLst>
              <a:ext uri="{FF2B5EF4-FFF2-40B4-BE49-F238E27FC236}">
                <a16:creationId xmlns:a16="http://schemas.microsoft.com/office/drawing/2014/main" id="{4B4A5170-5065-140A-F5D1-07A2CAF5F352}"/>
              </a:ext>
            </a:extLst>
          </p:cNvPr>
          <p:cNvCxnSpPr>
            <a:cxnSpLocks/>
            <a:stCxn id="8" idx="4"/>
            <a:endCxn id="13" idx="1"/>
          </p:cNvCxnSpPr>
          <p:nvPr/>
        </p:nvCxnSpPr>
        <p:spPr bwMode="auto">
          <a:xfrm rot="16200000" flipH="1">
            <a:off x="3028216" y="4159172"/>
            <a:ext cx="767091" cy="117033"/>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55" name="肘形连接符 54">
            <a:extLst>
              <a:ext uri="{FF2B5EF4-FFF2-40B4-BE49-F238E27FC236}">
                <a16:creationId xmlns:a16="http://schemas.microsoft.com/office/drawing/2014/main" id="{69B2203D-FB7B-1428-91A7-CC51CF935B81}"/>
              </a:ext>
            </a:extLst>
          </p:cNvPr>
          <p:cNvCxnSpPr>
            <a:cxnSpLocks/>
            <a:stCxn id="6" idx="1"/>
            <a:endCxn id="7" idx="0"/>
          </p:cNvCxnSpPr>
          <p:nvPr/>
        </p:nvCxnSpPr>
        <p:spPr bwMode="auto">
          <a:xfrm rot="10800000" flipV="1">
            <a:off x="1705711" y="2644984"/>
            <a:ext cx="87398" cy="350975"/>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58" name="肘形连接符 57">
            <a:extLst>
              <a:ext uri="{FF2B5EF4-FFF2-40B4-BE49-F238E27FC236}">
                <a16:creationId xmlns:a16="http://schemas.microsoft.com/office/drawing/2014/main" id="{66343B21-85DB-C941-AC1A-2A3D484BEA81}"/>
              </a:ext>
            </a:extLst>
          </p:cNvPr>
          <p:cNvCxnSpPr>
            <a:cxnSpLocks/>
            <a:stCxn id="4" idx="1"/>
            <a:endCxn id="7" idx="0"/>
          </p:cNvCxnSpPr>
          <p:nvPr/>
        </p:nvCxnSpPr>
        <p:spPr bwMode="auto">
          <a:xfrm rot="10800000" flipV="1">
            <a:off x="1705710" y="1961947"/>
            <a:ext cx="87397" cy="1034011"/>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59" name="肘形连接符 58">
            <a:extLst>
              <a:ext uri="{FF2B5EF4-FFF2-40B4-BE49-F238E27FC236}">
                <a16:creationId xmlns:a16="http://schemas.microsoft.com/office/drawing/2014/main" id="{A99BDA5A-99D0-6AF0-53C5-86872432C5E2}"/>
              </a:ext>
            </a:extLst>
          </p:cNvPr>
          <p:cNvCxnSpPr>
            <a:cxnSpLocks/>
            <a:stCxn id="5" idx="1"/>
            <a:endCxn id="7" idx="0"/>
          </p:cNvCxnSpPr>
          <p:nvPr/>
        </p:nvCxnSpPr>
        <p:spPr bwMode="auto">
          <a:xfrm rot="10800000" flipV="1">
            <a:off x="1705710" y="2313086"/>
            <a:ext cx="87399" cy="682872"/>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73728" name="肘形连接符 73727">
            <a:extLst>
              <a:ext uri="{FF2B5EF4-FFF2-40B4-BE49-F238E27FC236}">
                <a16:creationId xmlns:a16="http://schemas.microsoft.com/office/drawing/2014/main" id="{5B92CF99-67FE-5E62-BA90-A7F7942BBCC7}"/>
              </a:ext>
            </a:extLst>
          </p:cNvPr>
          <p:cNvCxnSpPr>
            <a:cxnSpLocks/>
            <a:stCxn id="18" idx="1"/>
            <a:endCxn id="9" idx="0"/>
          </p:cNvCxnSpPr>
          <p:nvPr/>
        </p:nvCxnSpPr>
        <p:spPr bwMode="auto">
          <a:xfrm rot="10800000" flipV="1">
            <a:off x="5270692" y="2785936"/>
            <a:ext cx="159162" cy="228375"/>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73739" name="肘形连接符 73738">
            <a:extLst>
              <a:ext uri="{FF2B5EF4-FFF2-40B4-BE49-F238E27FC236}">
                <a16:creationId xmlns:a16="http://schemas.microsoft.com/office/drawing/2014/main" id="{F676A4D3-DFDF-E805-6D65-D7D18BB56A79}"/>
              </a:ext>
            </a:extLst>
          </p:cNvPr>
          <p:cNvCxnSpPr>
            <a:cxnSpLocks/>
            <a:stCxn id="15" idx="1"/>
            <a:endCxn id="17" idx="1"/>
          </p:cNvCxnSpPr>
          <p:nvPr/>
        </p:nvCxnSpPr>
        <p:spPr bwMode="auto">
          <a:xfrm rot="10800000" flipV="1">
            <a:off x="5428666" y="1916762"/>
            <a:ext cx="6485" cy="578235"/>
          </a:xfrm>
          <a:prstGeom prst="bentConnector3">
            <a:avLst>
              <a:gd name="adj1" fmla="val 2534934"/>
            </a:avLst>
          </a:prstGeom>
          <a:solidFill>
            <a:schemeClr val="accent1"/>
          </a:solidFill>
          <a:ln w="9525" cap="flat" cmpd="sng" algn="ctr">
            <a:solidFill>
              <a:schemeClr val="tx1"/>
            </a:solidFill>
            <a:prstDash val="solid"/>
            <a:round/>
            <a:headEnd type="none" w="med" len="med"/>
            <a:tailEnd type="none" w="med" len="med"/>
          </a:ln>
          <a:effectLst/>
        </p:spPr>
      </p:cxnSp>
      <p:cxnSp>
        <p:nvCxnSpPr>
          <p:cNvPr id="73743" name="肘形连接符 73742">
            <a:extLst>
              <a:ext uri="{FF2B5EF4-FFF2-40B4-BE49-F238E27FC236}">
                <a16:creationId xmlns:a16="http://schemas.microsoft.com/office/drawing/2014/main" id="{D5671E07-FFF9-AAE2-FB11-A273971F320A}"/>
              </a:ext>
            </a:extLst>
          </p:cNvPr>
          <p:cNvCxnSpPr>
            <a:cxnSpLocks/>
            <a:stCxn id="16" idx="1"/>
            <a:endCxn id="9" idx="0"/>
          </p:cNvCxnSpPr>
          <p:nvPr/>
        </p:nvCxnSpPr>
        <p:spPr bwMode="auto">
          <a:xfrm rot="10800000" flipV="1">
            <a:off x="5270692" y="2185720"/>
            <a:ext cx="156398" cy="828590"/>
          </a:xfrm>
          <a:prstGeom prst="bentConnector2">
            <a:avLst/>
          </a:prstGeom>
          <a:solidFill>
            <a:schemeClr val="accent1"/>
          </a:solidFill>
          <a:ln w="9525" cap="flat" cmpd="sng" algn="ctr">
            <a:solidFill>
              <a:schemeClr val="tx1"/>
            </a:solidFill>
            <a:prstDash val="solid"/>
            <a:round/>
            <a:headEnd type="none" w="med" len="med"/>
            <a:tailEnd type="none" w="med" len="med"/>
          </a:ln>
          <a:effectLst/>
        </p:spPr>
      </p:cxnSp>
      <p:cxnSp>
        <p:nvCxnSpPr>
          <p:cNvPr id="73753" name="曲线连接符 73752">
            <a:extLst>
              <a:ext uri="{FF2B5EF4-FFF2-40B4-BE49-F238E27FC236}">
                <a16:creationId xmlns:a16="http://schemas.microsoft.com/office/drawing/2014/main" id="{DCD4B00B-F606-C2A5-4A35-23C278484E84}"/>
              </a:ext>
            </a:extLst>
          </p:cNvPr>
          <p:cNvCxnSpPr>
            <a:cxnSpLocks/>
            <a:stCxn id="10" idx="4"/>
            <a:endCxn id="19" idx="1"/>
          </p:cNvCxnSpPr>
          <p:nvPr/>
        </p:nvCxnSpPr>
        <p:spPr bwMode="auto">
          <a:xfrm rot="16200000" flipH="1">
            <a:off x="7230590" y="3838344"/>
            <a:ext cx="373527" cy="336941"/>
          </a:xfrm>
          <a:prstGeom prst="curvedConnector2">
            <a:avLst/>
          </a:prstGeom>
          <a:solidFill>
            <a:schemeClr val="accent1"/>
          </a:solidFill>
          <a:ln w="95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961388076"/>
      </p:ext>
    </p:extLst>
  </p:cSld>
  <p:clrMapOvr>
    <a:masterClrMapping/>
  </p:clrMapOvr>
  <p:transition spd="slow">
    <p:wipe dir="r"/>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10286" y="309244"/>
            <a:ext cx="5573419" cy="421482"/>
          </a:xfrm>
        </p:spPr>
        <p:txBody>
          <a:bodyPr>
            <a:noAutofit/>
          </a:bodyPr>
          <a:lstStyle/>
          <a:p>
            <a:pPr>
              <a:buClr>
                <a:schemeClr val="accent4"/>
              </a:buClr>
            </a:pPr>
            <a:r>
              <a:rPr lang="zh-CN" altLang="en-US" dirty="0"/>
              <a:t>渗透测试－概览</a:t>
            </a:r>
          </a:p>
        </p:txBody>
      </p:sp>
      <p:sp>
        <p:nvSpPr>
          <p:cNvPr id="4" name="灯片编号占位符 3"/>
          <p:cNvSpPr>
            <a:spLocks noGrp="1"/>
          </p:cNvSpPr>
          <p:nvPr>
            <p:ph type="sldNum" sz="quarter" idx="10"/>
          </p:nvPr>
        </p:nvSpPr>
        <p:spPr>
          <a:xfrm>
            <a:off x="553954" y="4942285"/>
            <a:ext cx="8229600" cy="201215"/>
          </a:xfrm>
        </p:spPr>
        <p:txBody>
          <a:bodyPr/>
          <a:lstStyle/>
          <a:p>
            <a:fld id="{DBE2DA07-CE19-4C9B-A0EC-06D3955056CF}" type="slidenum">
              <a:rPr lang="en-US" altLang="zh-CN" smtClean="0"/>
              <a:pPr/>
              <a:t>37</a:t>
            </a:fld>
            <a:endParaRPr lang="en-US" altLang="zh-CN" dirty="0"/>
          </a:p>
        </p:txBody>
      </p:sp>
      <p:sp>
        <p:nvSpPr>
          <p:cNvPr id="8" name="矩形 7"/>
          <p:cNvSpPr/>
          <p:nvPr/>
        </p:nvSpPr>
        <p:spPr>
          <a:xfrm>
            <a:off x="3351470" y="4569261"/>
            <a:ext cx="2634567" cy="313932"/>
          </a:xfrm>
          <a:prstGeom prst="rect">
            <a:avLst/>
          </a:prstGeom>
        </p:spPr>
        <p:txBody>
          <a:bodyPr wrap="none">
            <a:spAutoFit/>
          </a:bodyPr>
          <a:lstStyle/>
          <a:p>
            <a:r>
              <a:rPr lang="en-US" altLang="zh-CN" sz="1440" dirty="0">
                <a:hlinkClick r:id="rId3"/>
              </a:rPr>
              <a:t>http://www.security-audit.com/</a:t>
            </a:r>
            <a:r>
              <a:rPr lang="en-US" altLang="zh-CN" sz="1440" dirty="0"/>
              <a:t> </a:t>
            </a:r>
            <a:endParaRPr lang="zh-CN" altLang="en-US" sz="1440" dirty="0"/>
          </a:p>
        </p:txBody>
      </p:sp>
      <p:sp>
        <p:nvSpPr>
          <p:cNvPr id="3" name="圆角矩形 2"/>
          <p:cNvSpPr/>
          <p:nvPr/>
        </p:nvSpPr>
        <p:spPr>
          <a:xfrm>
            <a:off x="707304" y="1901190"/>
            <a:ext cx="1231337" cy="453650"/>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宋体"/>
                <a:ea typeface="宋体"/>
                <a:cs typeface="宋体"/>
              </a:rPr>
              <a:t>网络发现</a:t>
            </a:r>
          </a:p>
        </p:txBody>
      </p:sp>
      <p:sp>
        <p:nvSpPr>
          <p:cNvPr id="9" name="圆角矩形 8"/>
          <p:cNvSpPr/>
          <p:nvPr/>
        </p:nvSpPr>
        <p:spPr>
          <a:xfrm>
            <a:off x="2262677" y="1836383"/>
            <a:ext cx="1231337" cy="518458"/>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宋体"/>
                <a:ea typeface="宋体"/>
                <a:cs typeface="宋体"/>
              </a:rPr>
              <a:t>探索</a:t>
            </a:r>
            <a:endParaRPr kumimoji="1" lang="en-US" altLang="zh-CN" dirty="0">
              <a:latin typeface="宋体"/>
              <a:ea typeface="宋体"/>
              <a:cs typeface="宋体"/>
            </a:endParaRPr>
          </a:p>
          <a:p>
            <a:pPr algn="ctr"/>
            <a:r>
              <a:rPr kumimoji="1" lang="en-US" altLang="zh-CN" sz="1440" dirty="0">
                <a:ea typeface="宋体"/>
                <a:cs typeface="宋体"/>
              </a:rPr>
              <a:t>exploration</a:t>
            </a:r>
            <a:endParaRPr kumimoji="1" lang="zh-CN" altLang="en-US" sz="1440" dirty="0">
              <a:ea typeface="宋体"/>
              <a:cs typeface="宋体"/>
            </a:endParaRPr>
          </a:p>
        </p:txBody>
      </p:sp>
      <p:sp>
        <p:nvSpPr>
          <p:cNvPr id="10" name="圆角矩形 9"/>
          <p:cNvSpPr/>
          <p:nvPr/>
        </p:nvSpPr>
        <p:spPr>
          <a:xfrm>
            <a:off x="3818050" y="1901190"/>
            <a:ext cx="1231337" cy="453650"/>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宋体"/>
                <a:ea typeface="宋体"/>
                <a:cs typeface="宋体"/>
              </a:rPr>
              <a:t>漏洞评估</a:t>
            </a:r>
          </a:p>
        </p:txBody>
      </p:sp>
      <p:sp>
        <p:nvSpPr>
          <p:cNvPr id="11" name="圆角矩形 10"/>
          <p:cNvSpPr/>
          <p:nvPr/>
        </p:nvSpPr>
        <p:spPr>
          <a:xfrm>
            <a:off x="5438230" y="1836383"/>
            <a:ext cx="1231337" cy="518458"/>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宋体"/>
                <a:ea typeface="宋体"/>
                <a:cs typeface="宋体"/>
              </a:rPr>
              <a:t>利用</a:t>
            </a:r>
            <a:endParaRPr kumimoji="1" lang="en-US" altLang="zh-CN" dirty="0">
              <a:latin typeface="宋体"/>
              <a:ea typeface="宋体"/>
              <a:cs typeface="宋体"/>
            </a:endParaRPr>
          </a:p>
          <a:p>
            <a:pPr algn="ctr"/>
            <a:r>
              <a:rPr kumimoji="1" lang="en-US" altLang="zh-CN" sz="1440" dirty="0">
                <a:ea typeface="宋体"/>
                <a:cs typeface="宋体"/>
              </a:rPr>
              <a:t>exploitation</a:t>
            </a:r>
            <a:endParaRPr kumimoji="1" lang="zh-CN" altLang="en-US" sz="1440" dirty="0">
              <a:ea typeface="宋体"/>
              <a:cs typeface="宋体"/>
            </a:endParaRPr>
          </a:p>
        </p:txBody>
      </p:sp>
      <p:sp>
        <p:nvSpPr>
          <p:cNvPr id="12" name="圆角矩形 11"/>
          <p:cNvSpPr/>
          <p:nvPr/>
        </p:nvSpPr>
        <p:spPr>
          <a:xfrm>
            <a:off x="7123217" y="1836383"/>
            <a:ext cx="1231337" cy="518458"/>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ea typeface="宋体"/>
                <a:cs typeface="宋体"/>
              </a:rPr>
              <a:t>修复</a:t>
            </a:r>
            <a:endParaRPr kumimoji="1" lang="en-US" altLang="zh-CN" sz="1620" dirty="0">
              <a:ea typeface="宋体"/>
              <a:cs typeface="宋体"/>
            </a:endParaRPr>
          </a:p>
          <a:p>
            <a:pPr algn="ctr"/>
            <a:r>
              <a:rPr kumimoji="1" lang="zh-CN" altLang="en-US" sz="1620" dirty="0">
                <a:ea typeface="宋体"/>
                <a:cs typeface="宋体"/>
              </a:rPr>
              <a:t>与报告</a:t>
            </a:r>
          </a:p>
        </p:txBody>
      </p:sp>
      <p:sp>
        <p:nvSpPr>
          <p:cNvPr id="13" name="圆角矩形 12"/>
          <p:cNvSpPr/>
          <p:nvPr/>
        </p:nvSpPr>
        <p:spPr>
          <a:xfrm>
            <a:off x="642497" y="2743683"/>
            <a:ext cx="388843" cy="116653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latin typeface="宋体"/>
                <a:ea typeface="宋体"/>
                <a:cs typeface="宋体"/>
              </a:rPr>
              <a:t>指纹识别</a:t>
            </a:r>
          </a:p>
        </p:txBody>
      </p:sp>
      <p:sp>
        <p:nvSpPr>
          <p:cNvPr id="14" name="圆角矩形 13"/>
          <p:cNvSpPr/>
          <p:nvPr/>
        </p:nvSpPr>
        <p:spPr>
          <a:xfrm>
            <a:off x="1096148" y="2743683"/>
            <a:ext cx="388843" cy="116653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latin typeface="宋体"/>
                <a:ea typeface="宋体"/>
                <a:cs typeface="宋体"/>
              </a:rPr>
              <a:t>端口扫描</a:t>
            </a:r>
          </a:p>
        </p:txBody>
      </p:sp>
      <p:sp>
        <p:nvSpPr>
          <p:cNvPr id="15" name="圆角矩形 14"/>
          <p:cNvSpPr/>
          <p:nvPr/>
        </p:nvSpPr>
        <p:spPr>
          <a:xfrm>
            <a:off x="1549798" y="2743683"/>
            <a:ext cx="388843" cy="116653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latin typeface="宋体"/>
                <a:ea typeface="宋体"/>
                <a:cs typeface="宋体"/>
              </a:rPr>
              <a:t>网络映射</a:t>
            </a:r>
          </a:p>
        </p:txBody>
      </p:sp>
      <p:sp>
        <p:nvSpPr>
          <p:cNvPr id="16" name="圆角矩形 15"/>
          <p:cNvSpPr/>
          <p:nvPr/>
        </p:nvSpPr>
        <p:spPr>
          <a:xfrm>
            <a:off x="2197870" y="2743683"/>
            <a:ext cx="388843" cy="1166530"/>
          </a:xfrm>
          <a:prstGeom prst="roundRect">
            <a:avLst/>
          </a:prstGeom>
          <a:solidFill>
            <a:schemeClr val="accent1">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solidFill>
                  <a:schemeClr val="bg1"/>
                </a:solidFill>
                <a:latin typeface="宋体"/>
                <a:ea typeface="宋体"/>
                <a:cs typeface="宋体"/>
              </a:rPr>
              <a:t>主机探索</a:t>
            </a:r>
          </a:p>
        </p:txBody>
      </p:sp>
      <p:sp>
        <p:nvSpPr>
          <p:cNvPr id="17" name="圆角矩形 16"/>
          <p:cNvSpPr/>
          <p:nvPr/>
        </p:nvSpPr>
        <p:spPr>
          <a:xfrm>
            <a:off x="2651521" y="2743683"/>
            <a:ext cx="388843" cy="1166530"/>
          </a:xfrm>
          <a:prstGeom prst="roundRect">
            <a:avLst/>
          </a:prstGeom>
          <a:solidFill>
            <a:schemeClr val="accent1">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solidFill>
                  <a:schemeClr val="bg1"/>
                </a:solidFill>
                <a:latin typeface="宋体"/>
                <a:ea typeface="宋体"/>
                <a:cs typeface="宋体"/>
              </a:rPr>
              <a:t>服务识别</a:t>
            </a:r>
          </a:p>
        </p:txBody>
      </p:sp>
      <p:sp>
        <p:nvSpPr>
          <p:cNvPr id="18" name="圆角矩形 17"/>
          <p:cNvSpPr/>
          <p:nvPr/>
        </p:nvSpPr>
        <p:spPr>
          <a:xfrm>
            <a:off x="3105171" y="2743683"/>
            <a:ext cx="388843" cy="1166530"/>
          </a:xfrm>
          <a:prstGeom prst="roundRect">
            <a:avLst/>
          </a:prstGeom>
          <a:solidFill>
            <a:schemeClr val="accent1">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solidFill>
                  <a:schemeClr val="bg1"/>
                </a:solidFill>
                <a:latin typeface="宋体"/>
                <a:ea typeface="宋体"/>
                <a:cs typeface="宋体"/>
              </a:rPr>
              <a:t>平台识别</a:t>
            </a:r>
          </a:p>
        </p:txBody>
      </p:sp>
      <p:sp>
        <p:nvSpPr>
          <p:cNvPr id="19" name="圆角矩形 18"/>
          <p:cNvSpPr/>
          <p:nvPr/>
        </p:nvSpPr>
        <p:spPr>
          <a:xfrm>
            <a:off x="3818050" y="2743683"/>
            <a:ext cx="388843" cy="116653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latin typeface="宋体"/>
                <a:ea typeface="宋体"/>
                <a:cs typeface="宋体"/>
              </a:rPr>
              <a:t>漏洞研究</a:t>
            </a:r>
          </a:p>
        </p:txBody>
      </p:sp>
      <p:sp>
        <p:nvSpPr>
          <p:cNvPr id="20" name="圆角矩形 19"/>
          <p:cNvSpPr/>
          <p:nvPr/>
        </p:nvSpPr>
        <p:spPr>
          <a:xfrm>
            <a:off x="4271701" y="2743683"/>
            <a:ext cx="388843" cy="116653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latin typeface="宋体"/>
                <a:ea typeface="宋体"/>
                <a:cs typeface="宋体"/>
              </a:rPr>
              <a:t>漏洞发现</a:t>
            </a:r>
          </a:p>
        </p:txBody>
      </p:sp>
      <p:sp>
        <p:nvSpPr>
          <p:cNvPr id="21" name="圆角矩形 20"/>
          <p:cNvSpPr/>
          <p:nvPr/>
        </p:nvSpPr>
        <p:spPr>
          <a:xfrm>
            <a:off x="4725351" y="2743683"/>
            <a:ext cx="388843" cy="116653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latin typeface="宋体"/>
                <a:ea typeface="宋体"/>
                <a:cs typeface="宋体"/>
              </a:rPr>
              <a:t>威胁分类</a:t>
            </a:r>
          </a:p>
        </p:txBody>
      </p:sp>
      <p:sp>
        <p:nvSpPr>
          <p:cNvPr id="22" name="圆角矩形 21"/>
          <p:cNvSpPr/>
          <p:nvPr/>
        </p:nvSpPr>
        <p:spPr>
          <a:xfrm>
            <a:off x="5438230" y="2743683"/>
            <a:ext cx="388843" cy="1166530"/>
          </a:xfrm>
          <a:prstGeom prst="roundRect">
            <a:avLst/>
          </a:prstGeom>
          <a:solidFill>
            <a:srgbClr val="9ED3D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solidFill>
                  <a:srgbClr val="000000"/>
                </a:solidFill>
                <a:latin typeface="宋体"/>
                <a:ea typeface="宋体"/>
                <a:cs typeface="宋体"/>
              </a:rPr>
              <a:t>利用开发</a:t>
            </a:r>
          </a:p>
        </p:txBody>
      </p:sp>
      <p:sp>
        <p:nvSpPr>
          <p:cNvPr id="23" name="圆角矩形 22"/>
          <p:cNvSpPr/>
          <p:nvPr/>
        </p:nvSpPr>
        <p:spPr>
          <a:xfrm>
            <a:off x="5891881" y="2743684"/>
            <a:ext cx="388843" cy="1360951"/>
          </a:xfrm>
          <a:prstGeom prst="roundRect">
            <a:avLst/>
          </a:prstGeom>
          <a:solidFill>
            <a:srgbClr val="9ED3D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solidFill>
                  <a:srgbClr val="000000"/>
                </a:solidFill>
                <a:latin typeface="宋体"/>
                <a:ea typeface="宋体"/>
                <a:cs typeface="宋体"/>
              </a:rPr>
              <a:t>概念性证明</a:t>
            </a:r>
          </a:p>
        </p:txBody>
      </p:sp>
      <p:sp>
        <p:nvSpPr>
          <p:cNvPr id="24" name="圆角矩形 23"/>
          <p:cNvSpPr/>
          <p:nvPr/>
        </p:nvSpPr>
        <p:spPr>
          <a:xfrm>
            <a:off x="6345531" y="2743683"/>
            <a:ext cx="388843" cy="1166530"/>
          </a:xfrm>
          <a:prstGeom prst="roundRect">
            <a:avLst/>
          </a:prstGeom>
          <a:solidFill>
            <a:srgbClr val="9ED3D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solidFill>
                  <a:srgbClr val="000000"/>
                </a:solidFill>
                <a:latin typeface="宋体"/>
                <a:ea typeface="宋体"/>
                <a:cs typeface="宋体"/>
              </a:rPr>
              <a:t>权限提升</a:t>
            </a:r>
          </a:p>
        </p:txBody>
      </p:sp>
      <p:sp>
        <p:nvSpPr>
          <p:cNvPr id="25" name="圆角矩形 24"/>
          <p:cNvSpPr/>
          <p:nvPr/>
        </p:nvSpPr>
        <p:spPr>
          <a:xfrm>
            <a:off x="7058410" y="2743683"/>
            <a:ext cx="388843" cy="116653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latin typeface="宋体"/>
                <a:ea typeface="宋体"/>
                <a:cs typeface="宋体"/>
              </a:rPr>
              <a:t>威胁消除</a:t>
            </a:r>
          </a:p>
        </p:txBody>
      </p:sp>
      <p:sp>
        <p:nvSpPr>
          <p:cNvPr id="26" name="圆角矩形 25"/>
          <p:cNvSpPr/>
          <p:nvPr/>
        </p:nvSpPr>
        <p:spPr>
          <a:xfrm>
            <a:off x="7576868" y="2743683"/>
            <a:ext cx="388843" cy="116653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latin typeface="宋体"/>
                <a:ea typeface="宋体"/>
                <a:cs typeface="宋体"/>
              </a:rPr>
              <a:t>未来计划</a:t>
            </a:r>
          </a:p>
        </p:txBody>
      </p:sp>
      <p:sp>
        <p:nvSpPr>
          <p:cNvPr id="27" name="圆角矩形 26"/>
          <p:cNvSpPr/>
          <p:nvPr/>
        </p:nvSpPr>
        <p:spPr>
          <a:xfrm>
            <a:off x="8062464" y="2743683"/>
            <a:ext cx="356897" cy="1166530"/>
          </a:xfrm>
          <a:prstGeom prst="roundRec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20" dirty="0">
                <a:latin typeface="宋体"/>
                <a:ea typeface="宋体"/>
                <a:cs typeface="宋体"/>
              </a:rPr>
              <a:t>报告</a:t>
            </a:r>
          </a:p>
        </p:txBody>
      </p:sp>
      <p:sp>
        <p:nvSpPr>
          <p:cNvPr id="28" name="圆角矩形 27"/>
          <p:cNvSpPr/>
          <p:nvPr/>
        </p:nvSpPr>
        <p:spPr>
          <a:xfrm>
            <a:off x="3818050" y="929082"/>
            <a:ext cx="1231337" cy="453650"/>
          </a:xfrm>
          <a:prstGeom prst="roundRect">
            <a:avLst/>
          </a:prstGeom>
          <a:solidFill>
            <a:srgbClr val="8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latin typeface="宋体"/>
                <a:ea typeface="宋体"/>
                <a:cs typeface="宋体"/>
              </a:rPr>
              <a:t>渗透测试</a:t>
            </a:r>
          </a:p>
        </p:txBody>
      </p:sp>
      <p:cxnSp>
        <p:nvCxnSpPr>
          <p:cNvPr id="30" name="肘形连接符 29"/>
          <p:cNvCxnSpPr>
            <a:stCxn id="3" idx="0"/>
            <a:endCxn id="12" idx="0"/>
          </p:cNvCxnSpPr>
          <p:nvPr/>
        </p:nvCxnSpPr>
        <p:spPr bwMode="auto">
          <a:xfrm rot="5400000" flipH="1" flipV="1">
            <a:off x="4498526" y="-1339170"/>
            <a:ext cx="64807" cy="6415913"/>
          </a:xfrm>
          <a:prstGeom prst="bentConnector3">
            <a:avLst>
              <a:gd name="adj1" fmla="val 417465"/>
            </a:avLst>
          </a:prstGeom>
          <a:solidFill>
            <a:schemeClr val="accent1"/>
          </a:solidFill>
          <a:ln w="9525" cap="flat" cmpd="sng" algn="ctr">
            <a:solidFill>
              <a:schemeClr val="tx1"/>
            </a:solidFill>
            <a:prstDash val="solid"/>
            <a:round/>
            <a:headEnd type="none" w="med" len="med"/>
            <a:tailEnd type="none" w="med" len="med"/>
          </a:ln>
          <a:effectLst/>
        </p:spPr>
      </p:cxnSp>
      <p:cxnSp>
        <p:nvCxnSpPr>
          <p:cNvPr id="31" name="肘形连接符 30"/>
          <p:cNvCxnSpPr>
            <a:stCxn id="9" idx="0"/>
            <a:endCxn id="11" idx="0"/>
          </p:cNvCxnSpPr>
          <p:nvPr/>
        </p:nvCxnSpPr>
        <p:spPr bwMode="auto">
          <a:xfrm rot="5400000" flipH="1" flipV="1">
            <a:off x="4466122" y="248606"/>
            <a:ext cx="11430" cy="3175553"/>
          </a:xfrm>
          <a:prstGeom prst="bentConnector3">
            <a:avLst>
              <a:gd name="adj1" fmla="val 180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34" name="肘形连接符 33"/>
          <p:cNvCxnSpPr>
            <a:stCxn id="10" idx="0"/>
            <a:endCxn id="28" idx="2"/>
          </p:cNvCxnSpPr>
          <p:nvPr/>
        </p:nvCxnSpPr>
        <p:spPr bwMode="auto">
          <a:xfrm rot="5400000" flipH="1" flipV="1">
            <a:off x="4174489" y="1641961"/>
            <a:ext cx="518458" cy="11430"/>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38" name="肘形连接符 37"/>
          <p:cNvCxnSpPr>
            <a:stCxn id="13" idx="0"/>
            <a:endCxn id="15" idx="0"/>
          </p:cNvCxnSpPr>
          <p:nvPr/>
        </p:nvCxnSpPr>
        <p:spPr bwMode="auto">
          <a:xfrm rot="5400000" flipH="1" flipV="1">
            <a:off x="1290569" y="2290033"/>
            <a:ext cx="11430" cy="907301"/>
          </a:xfrm>
          <a:prstGeom prst="bentConnector3">
            <a:avLst>
              <a:gd name="adj1" fmla="val 180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41" name="肘形连接符 40"/>
          <p:cNvCxnSpPr>
            <a:stCxn id="14" idx="0"/>
            <a:endCxn id="3" idx="2"/>
          </p:cNvCxnSpPr>
          <p:nvPr/>
        </p:nvCxnSpPr>
        <p:spPr bwMode="auto">
          <a:xfrm rot="5400000" flipH="1" flipV="1">
            <a:off x="1112350" y="2533060"/>
            <a:ext cx="388843" cy="32404"/>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45" name="肘形连接符 44"/>
          <p:cNvCxnSpPr>
            <a:stCxn id="16" idx="0"/>
            <a:endCxn id="18" idx="0"/>
          </p:cNvCxnSpPr>
          <p:nvPr/>
        </p:nvCxnSpPr>
        <p:spPr bwMode="auto">
          <a:xfrm rot="5400000" flipH="1" flipV="1">
            <a:off x="2845942" y="2290033"/>
            <a:ext cx="11430" cy="907301"/>
          </a:xfrm>
          <a:prstGeom prst="bentConnector3">
            <a:avLst>
              <a:gd name="adj1" fmla="val 180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46" name="肘形连接符 45"/>
          <p:cNvCxnSpPr>
            <a:stCxn id="17" idx="0"/>
          </p:cNvCxnSpPr>
          <p:nvPr/>
        </p:nvCxnSpPr>
        <p:spPr bwMode="auto">
          <a:xfrm rot="5400000" flipH="1" flipV="1">
            <a:off x="2667722" y="2538775"/>
            <a:ext cx="383128" cy="26689"/>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47" name="肘形连接符 46"/>
          <p:cNvCxnSpPr>
            <a:stCxn id="19" idx="0"/>
            <a:endCxn id="21" idx="0"/>
          </p:cNvCxnSpPr>
          <p:nvPr/>
        </p:nvCxnSpPr>
        <p:spPr bwMode="auto">
          <a:xfrm rot="5400000" flipH="1" flipV="1">
            <a:off x="4466122" y="2290033"/>
            <a:ext cx="11430" cy="907301"/>
          </a:xfrm>
          <a:prstGeom prst="bentConnector3">
            <a:avLst>
              <a:gd name="adj1" fmla="val 180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48" name="肘形连接符 47"/>
          <p:cNvCxnSpPr>
            <a:stCxn id="20" idx="0"/>
          </p:cNvCxnSpPr>
          <p:nvPr/>
        </p:nvCxnSpPr>
        <p:spPr bwMode="auto">
          <a:xfrm rot="16200000" flipV="1">
            <a:off x="4255499" y="2533060"/>
            <a:ext cx="383128" cy="38119"/>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49" name="肘形连接符 48"/>
          <p:cNvCxnSpPr>
            <a:stCxn id="22" idx="0"/>
            <a:endCxn id="24" idx="0"/>
          </p:cNvCxnSpPr>
          <p:nvPr/>
        </p:nvCxnSpPr>
        <p:spPr bwMode="auto">
          <a:xfrm rot="5400000" flipH="1" flipV="1">
            <a:off x="6086302" y="2290033"/>
            <a:ext cx="11430" cy="907301"/>
          </a:xfrm>
          <a:prstGeom prst="bentConnector3">
            <a:avLst>
              <a:gd name="adj1" fmla="val 180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50" name="肘形连接符 49"/>
          <p:cNvCxnSpPr>
            <a:stCxn id="23" idx="0"/>
          </p:cNvCxnSpPr>
          <p:nvPr/>
        </p:nvCxnSpPr>
        <p:spPr bwMode="auto">
          <a:xfrm rot="16200000" flipV="1">
            <a:off x="5875679" y="2533060"/>
            <a:ext cx="383128" cy="38119"/>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51" name="肘形连接符 50"/>
          <p:cNvCxnSpPr>
            <a:stCxn id="25" idx="0"/>
            <a:endCxn id="27" idx="0"/>
          </p:cNvCxnSpPr>
          <p:nvPr/>
        </p:nvCxnSpPr>
        <p:spPr bwMode="auto">
          <a:xfrm rot="5400000" flipH="1" flipV="1">
            <a:off x="7746872" y="2249643"/>
            <a:ext cx="11430" cy="988081"/>
          </a:xfrm>
          <a:prstGeom prst="bentConnector3">
            <a:avLst>
              <a:gd name="adj1" fmla="val 1800000"/>
            </a:avLst>
          </a:prstGeom>
          <a:solidFill>
            <a:schemeClr val="accent1"/>
          </a:solidFill>
          <a:ln w="9525" cap="flat" cmpd="sng" algn="ctr">
            <a:solidFill>
              <a:schemeClr val="tx1"/>
            </a:solidFill>
            <a:prstDash val="solid"/>
            <a:round/>
            <a:headEnd type="none" w="med" len="med"/>
            <a:tailEnd type="none" w="med" len="med"/>
          </a:ln>
          <a:effectLst/>
        </p:spPr>
      </p:cxnSp>
      <p:cxnSp>
        <p:nvCxnSpPr>
          <p:cNvPr id="52" name="肘形连接符 51"/>
          <p:cNvCxnSpPr>
            <a:stCxn id="26" idx="0"/>
          </p:cNvCxnSpPr>
          <p:nvPr/>
        </p:nvCxnSpPr>
        <p:spPr bwMode="auto">
          <a:xfrm rot="16200000" flipV="1">
            <a:off x="7560666" y="2533060"/>
            <a:ext cx="383128" cy="38119"/>
          </a:xfrm>
          <a:prstGeom prst="bentConnector3">
            <a:avLst>
              <a:gd name="adj1" fmla="val 50000"/>
            </a:avLst>
          </a:prstGeom>
          <a:solidFill>
            <a:schemeClr val="accent1"/>
          </a:solidFill>
          <a:ln w="9525" cap="flat" cmpd="sng" algn="ctr">
            <a:solidFill>
              <a:schemeClr val="tx1"/>
            </a:solidFill>
            <a:prstDash val="solid"/>
            <a:round/>
            <a:headEnd type="none" w="med" len="med"/>
            <a:tailEnd type="none" w="med" len="med"/>
          </a:ln>
          <a:effectLst/>
        </p:spPr>
      </p:cxnSp>
    </p:spTree>
    <p:extLst>
      <p:ext uri="{BB962C8B-B14F-4D97-AF65-F5344CB8AC3E}">
        <p14:creationId xmlns:p14="http://schemas.microsoft.com/office/powerpoint/2010/main" val="194570192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p:tgtEl>
                                          <p:spTgt spid="3"/>
                                        </p:tgtEl>
                                        <p:attrNameLst>
                                          <p:attrName>ppt_y</p:attrName>
                                        </p:attrNameLst>
                                      </p:cBhvr>
                                      <p:tavLst>
                                        <p:tav tm="0">
                                          <p:val>
                                            <p:strVal val="#ppt_y-#ppt_h*1.125000"/>
                                          </p:val>
                                        </p:tav>
                                        <p:tav tm="100000">
                                          <p:val>
                                            <p:strVal val="#ppt_y"/>
                                          </p:val>
                                        </p:tav>
                                      </p:tavLst>
                                    </p:anim>
                                    <p:animEffect transition="in" filter="wipe(down)">
                                      <p:cBhvr>
                                        <p:cTn id="8" dur="500"/>
                                        <p:tgtEl>
                                          <p:spTgt spid="3"/>
                                        </p:tgtEl>
                                      </p:cBhvr>
                                    </p:animEffect>
                                  </p:childTnLst>
                                </p:cTn>
                              </p:par>
                              <p:par>
                                <p:cTn id="9" presetID="12" presetClass="entr" presetSubtype="1"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p:tgtEl>
                                          <p:spTgt spid="9"/>
                                        </p:tgtEl>
                                        <p:attrNameLst>
                                          <p:attrName>ppt_y</p:attrName>
                                        </p:attrNameLst>
                                      </p:cBhvr>
                                      <p:tavLst>
                                        <p:tav tm="0">
                                          <p:val>
                                            <p:strVal val="#ppt_y-#ppt_h*1.125000"/>
                                          </p:val>
                                        </p:tav>
                                        <p:tav tm="100000">
                                          <p:val>
                                            <p:strVal val="#ppt_y"/>
                                          </p:val>
                                        </p:tav>
                                      </p:tavLst>
                                    </p:anim>
                                    <p:animEffect transition="in" filter="wipe(down)">
                                      <p:cBhvr>
                                        <p:cTn id="12" dur="500"/>
                                        <p:tgtEl>
                                          <p:spTgt spid="9"/>
                                        </p:tgtEl>
                                      </p:cBhvr>
                                    </p:animEffect>
                                  </p:childTnLst>
                                </p:cTn>
                              </p:par>
                              <p:par>
                                <p:cTn id="13" presetID="12" presetClass="entr" presetSubtype="1"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p:tgtEl>
                                          <p:spTgt spid="10"/>
                                        </p:tgtEl>
                                        <p:attrNameLst>
                                          <p:attrName>ppt_y</p:attrName>
                                        </p:attrNameLst>
                                      </p:cBhvr>
                                      <p:tavLst>
                                        <p:tav tm="0">
                                          <p:val>
                                            <p:strVal val="#ppt_y-#ppt_h*1.125000"/>
                                          </p:val>
                                        </p:tav>
                                        <p:tav tm="100000">
                                          <p:val>
                                            <p:strVal val="#ppt_y"/>
                                          </p:val>
                                        </p:tav>
                                      </p:tavLst>
                                    </p:anim>
                                    <p:animEffect transition="in" filter="wipe(down)">
                                      <p:cBhvr>
                                        <p:cTn id="16" dur="500"/>
                                        <p:tgtEl>
                                          <p:spTgt spid="10"/>
                                        </p:tgtEl>
                                      </p:cBhvr>
                                    </p:animEffect>
                                  </p:childTnLst>
                                </p:cTn>
                              </p:par>
                              <p:par>
                                <p:cTn id="17" presetID="12" presetClass="entr" presetSubtype="1"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p:tgtEl>
                                          <p:spTgt spid="11"/>
                                        </p:tgtEl>
                                        <p:attrNameLst>
                                          <p:attrName>ppt_y</p:attrName>
                                        </p:attrNameLst>
                                      </p:cBhvr>
                                      <p:tavLst>
                                        <p:tav tm="0">
                                          <p:val>
                                            <p:strVal val="#ppt_y-#ppt_h*1.125000"/>
                                          </p:val>
                                        </p:tav>
                                        <p:tav tm="100000">
                                          <p:val>
                                            <p:strVal val="#ppt_y"/>
                                          </p:val>
                                        </p:tav>
                                      </p:tavLst>
                                    </p:anim>
                                    <p:animEffect transition="in" filter="wipe(down)">
                                      <p:cBhvr>
                                        <p:cTn id="20" dur="500"/>
                                        <p:tgtEl>
                                          <p:spTgt spid="11"/>
                                        </p:tgtEl>
                                      </p:cBhvr>
                                    </p:animEffect>
                                  </p:childTnLst>
                                </p:cTn>
                              </p:par>
                              <p:par>
                                <p:cTn id="21" presetID="12" presetClass="entr" presetSubtype="1"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p:tgtEl>
                                          <p:spTgt spid="12"/>
                                        </p:tgtEl>
                                        <p:attrNameLst>
                                          <p:attrName>ppt_y</p:attrName>
                                        </p:attrNameLst>
                                      </p:cBhvr>
                                      <p:tavLst>
                                        <p:tav tm="0">
                                          <p:val>
                                            <p:strVal val="#ppt_y-#ppt_h*1.125000"/>
                                          </p:val>
                                        </p:tav>
                                        <p:tav tm="100000">
                                          <p:val>
                                            <p:strVal val="#ppt_y"/>
                                          </p:val>
                                        </p:tav>
                                      </p:tavLst>
                                    </p:anim>
                                    <p:animEffect transition="in" filter="wipe(down)">
                                      <p:cBhvr>
                                        <p:cTn id="24" dur="500"/>
                                        <p:tgtEl>
                                          <p:spTgt spid="12"/>
                                        </p:tgtEl>
                                      </p:cBhvr>
                                    </p:animEffect>
                                  </p:childTnLst>
                                </p:cTn>
                              </p:par>
                              <p:par>
                                <p:cTn id="25" presetID="12" presetClass="entr" presetSubtype="1"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anim calcmode="lin" valueType="num">
                                      <p:cBhvr additive="base">
                                        <p:cTn id="27" dur="500"/>
                                        <p:tgtEl>
                                          <p:spTgt spid="30"/>
                                        </p:tgtEl>
                                        <p:attrNameLst>
                                          <p:attrName>ppt_y</p:attrName>
                                        </p:attrNameLst>
                                      </p:cBhvr>
                                      <p:tavLst>
                                        <p:tav tm="0">
                                          <p:val>
                                            <p:strVal val="#ppt_y-#ppt_h*1.125000"/>
                                          </p:val>
                                        </p:tav>
                                        <p:tav tm="100000">
                                          <p:val>
                                            <p:strVal val="#ppt_y"/>
                                          </p:val>
                                        </p:tav>
                                      </p:tavLst>
                                    </p:anim>
                                    <p:animEffect transition="in" filter="wipe(down)">
                                      <p:cBhvr>
                                        <p:cTn id="28" dur="500"/>
                                        <p:tgtEl>
                                          <p:spTgt spid="30"/>
                                        </p:tgtEl>
                                      </p:cBhvr>
                                    </p:animEffect>
                                  </p:childTnLst>
                                </p:cTn>
                              </p:par>
                              <p:par>
                                <p:cTn id="29" presetID="12" presetClass="entr" presetSubtype="1"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anim calcmode="lin" valueType="num">
                                      <p:cBhvr additive="base">
                                        <p:cTn id="31" dur="500"/>
                                        <p:tgtEl>
                                          <p:spTgt spid="31"/>
                                        </p:tgtEl>
                                        <p:attrNameLst>
                                          <p:attrName>ppt_y</p:attrName>
                                        </p:attrNameLst>
                                      </p:cBhvr>
                                      <p:tavLst>
                                        <p:tav tm="0">
                                          <p:val>
                                            <p:strVal val="#ppt_y-#ppt_h*1.125000"/>
                                          </p:val>
                                        </p:tav>
                                        <p:tav tm="100000">
                                          <p:val>
                                            <p:strVal val="#ppt_y"/>
                                          </p:val>
                                        </p:tav>
                                      </p:tavLst>
                                    </p:anim>
                                    <p:animEffect transition="in" filter="wipe(down)">
                                      <p:cBhvr>
                                        <p:cTn id="32" dur="500"/>
                                        <p:tgtEl>
                                          <p:spTgt spid="31"/>
                                        </p:tgtEl>
                                      </p:cBhvr>
                                    </p:animEffect>
                                  </p:childTnLst>
                                </p:cTn>
                              </p:par>
                              <p:par>
                                <p:cTn id="33" presetID="12" presetClass="entr" presetSubtype="1"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anim calcmode="lin" valueType="num">
                                      <p:cBhvr additive="base">
                                        <p:cTn id="35" dur="500"/>
                                        <p:tgtEl>
                                          <p:spTgt spid="34"/>
                                        </p:tgtEl>
                                        <p:attrNameLst>
                                          <p:attrName>ppt_y</p:attrName>
                                        </p:attrNameLst>
                                      </p:cBhvr>
                                      <p:tavLst>
                                        <p:tav tm="0">
                                          <p:val>
                                            <p:strVal val="#ppt_y-#ppt_h*1.125000"/>
                                          </p:val>
                                        </p:tav>
                                        <p:tav tm="100000">
                                          <p:val>
                                            <p:strVal val="#ppt_y"/>
                                          </p:val>
                                        </p:tav>
                                      </p:tavLst>
                                    </p:anim>
                                    <p:animEffect transition="in" filter="wipe(down)">
                                      <p:cBhvr>
                                        <p:cTn id="36" dur="500"/>
                                        <p:tgtEl>
                                          <p:spTgt spid="34"/>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1"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p:tgtEl>
                                          <p:spTgt spid="13"/>
                                        </p:tgtEl>
                                        <p:attrNameLst>
                                          <p:attrName>ppt_y</p:attrName>
                                        </p:attrNameLst>
                                      </p:cBhvr>
                                      <p:tavLst>
                                        <p:tav tm="0">
                                          <p:val>
                                            <p:strVal val="#ppt_y-#ppt_h*1.125000"/>
                                          </p:val>
                                        </p:tav>
                                        <p:tav tm="100000">
                                          <p:val>
                                            <p:strVal val="#ppt_y"/>
                                          </p:val>
                                        </p:tav>
                                      </p:tavLst>
                                    </p:anim>
                                    <p:animEffect transition="in" filter="wipe(down)">
                                      <p:cBhvr>
                                        <p:cTn id="42" dur="500"/>
                                        <p:tgtEl>
                                          <p:spTgt spid="13"/>
                                        </p:tgtEl>
                                      </p:cBhvr>
                                    </p:animEffect>
                                  </p:childTnLst>
                                </p:cTn>
                              </p:par>
                              <p:par>
                                <p:cTn id="43" presetID="12" presetClass="entr" presetSubtype="1"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p:tgtEl>
                                          <p:spTgt spid="14"/>
                                        </p:tgtEl>
                                        <p:attrNameLst>
                                          <p:attrName>ppt_y</p:attrName>
                                        </p:attrNameLst>
                                      </p:cBhvr>
                                      <p:tavLst>
                                        <p:tav tm="0">
                                          <p:val>
                                            <p:strVal val="#ppt_y-#ppt_h*1.125000"/>
                                          </p:val>
                                        </p:tav>
                                        <p:tav tm="100000">
                                          <p:val>
                                            <p:strVal val="#ppt_y"/>
                                          </p:val>
                                        </p:tav>
                                      </p:tavLst>
                                    </p:anim>
                                    <p:animEffect transition="in" filter="wipe(down)">
                                      <p:cBhvr>
                                        <p:cTn id="46" dur="500"/>
                                        <p:tgtEl>
                                          <p:spTgt spid="14"/>
                                        </p:tgtEl>
                                      </p:cBhvr>
                                    </p:animEffect>
                                  </p:childTnLst>
                                </p:cTn>
                              </p:par>
                              <p:par>
                                <p:cTn id="47" presetID="12" presetClass="entr" presetSubtype="1"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500"/>
                                        <p:tgtEl>
                                          <p:spTgt spid="15"/>
                                        </p:tgtEl>
                                        <p:attrNameLst>
                                          <p:attrName>ppt_y</p:attrName>
                                        </p:attrNameLst>
                                      </p:cBhvr>
                                      <p:tavLst>
                                        <p:tav tm="0">
                                          <p:val>
                                            <p:strVal val="#ppt_y-#ppt_h*1.125000"/>
                                          </p:val>
                                        </p:tav>
                                        <p:tav tm="100000">
                                          <p:val>
                                            <p:strVal val="#ppt_y"/>
                                          </p:val>
                                        </p:tav>
                                      </p:tavLst>
                                    </p:anim>
                                    <p:animEffect transition="in" filter="wipe(down)">
                                      <p:cBhvr>
                                        <p:cTn id="50" dur="500"/>
                                        <p:tgtEl>
                                          <p:spTgt spid="15"/>
                                        </p:tgtEl>
                                      </p:cBhvr>
                                    </p:animEffect>
                                  </p:childTnLst>
                                </p:cTn>
                              </p:par>
                              <p:par>
                                <p:cTn id="51" presetID="12" presetClass="entr" presetSubtype="1"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anim calcmode="lin" valueType="num">
                                      <p:cBhvr additive="base">
                                        <p:cTn id="53" dur="500"/>
                                        <p:tgtEl>
                                          <p:spTgt spid="38"/>
                                        </p:tgtEl>
                                        <p:attrNameLst>
                                          <p:attrName>ppt_y</p:attrName>
                                        </p:attrNameLst>
                                      </p:cBhvr>
                                      <p:tavLst>
                                        <p:tav tm="0">
                                          <p:val>
                                            <p:strVal val="#ppt_y-#ppt_h*1.125000"/>
                                          </p:val>
                                        </p:tav>
                                        <p:tav tm="100000">
                                          <p:val>
                                            <p:strVal val="#ppt_y"/>
                                          </p:val>
                                        </p:tav>
                                      </p:tavLst>
                                    </p:anim>
                                    <p:animEffect transition="in" filter="wipe(down)">
                                      <p:cBhvr>
                                        <p:cTn id="54" dur="500"/>
                                        <p:tgtEl>
                                          <p:spTgt spid="38"/>
                                        </p:tgtEl>
                                      </p:cBhvr>
                                    </p:animEffect>
                                  </p:childTnLst>
                                </p:cTn>
                              </p:par>
                              <p:par>
                                <p:cTn id="55" presetID="12" presetClass="entr" presetSubtype="1" fill="hold" nodeType="withEffect">
                                  <p:stCondLst>
                                    <p:cond delay="0"/>
                                  </p:stCondLst>
                                  <p:childTnLst>
                                    <p:set>
                                      <p:cBhvr>
                                        <p:cTn id="56" dur="1" fill="hold">
                                          <p:stCondLst>
                                            <p:cond delay="0"/>
                                          </p:stCondLst>
                                        </p:cTn>
                                        <p:tgtEl>
                                          <p:spTgt spid="41"/>
                                        </p:tgtEl>
                                        <p:attrNameLst>
                                          <p:attrName>style.visibility</p:attrName>
                                        </p:attrNameLst>
                                      </p:cBhvr>
                                      <p:to>
                                        <p:strVal val="visible"/>
                                      </p:to>
                                    </p:set>
                                    <p:anim calcmode="lin" valueType="num">
                                      <p:cBhvr additive="base">
                                        <p:cTn id="57" dur="500"/>
                                        <p:tgtEl>
                                          <p:spTgt spid="41"/>
                                        </p:tgtEl>
                                        <p:attrNameLst>
                                          <p:attrName>ppt_y</p:attrName>
                                        </p:attrNameLst>
                                      </p:cBhvr>
                                      <p:tavLst>
                                        <p:tav tm="0">
                                          <p:val>
                                            <p:strVal val="#ppt_y-#ppt_h*1.125000"/>
                                          </p:val>
                                        </p:tav>
                                        <p:tav tm="100000">
                                          <p:val>
                                            <p:strVal val="#ppt_y"/>
                                          </p:val>
                                        </p:tav>
                                      </p:tavLst>
                                    </p:anim>
                                    <p:animEffect transition="in" filter="wipe(down)">
                                      <p:cBhvr>
                                        <p:cTn id="58" dur="500"/>
                                        <p:tgtEl>
                                          <p:spTgt spid="41"/>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1"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500"/>
                                        <p:tgtEl>
                                          <p:spTgt spid="16"/>
                                        </p:tgtEl>
                                        <p:attrNameLst>
                                          <p:attrName>ppt_y</p:attrName>
                                        </p:attrNameLst>
                                      </p:cBhvr>
                                      <p:tavLst>
                                        <p:tav tm="0">
                                          <p:val>
                                            <p:strVal val="#ppt_y-#ppt_h*1.125000"/>
                                          </p:val>
                                        </p:tav>
                                        <p:tav tm="100000">
                                          <p:val>
                                            <p:strVal val="#ppt_y"/>
                                          </p:val>
                                        </p:tav>
                                      </p:tavLst>
                                    </p:anim>
                                    <p:animEffect transition="in" filter="wipe(down)">
                                      <p:cBhvr>
                                        <p:cTn id="64" dur="500"/>
                                        <p:tgtEl>
                                          <p:spTgt spid="16"/>
                                        </p:tgtEl>
                                      </p:cBhvr>
                                    </p:animEffect>
                                  </p:childTnLst>
                                </p:cTn>
                              </p:par>
                              <p:par>
                                <p:cTn id="65" presetID="12" presetClass="entr" presetSubtype="1" fill="hold" grpId="0" nodeType="withEffect">
                                  <p:stCondLst>
                                    <p:cond delay="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500"/>
                                        <p:tgtEl>
                                          <p:spTgt spid="17"/>
                                        </p:tgtEl>
                                        <p:attrNameLst>
                                          <p:attrName>ppt_y</p:attrName>
                                        </p:attrNameLst>
                                      </p:cBhvr>
                                      <p:tavLst>
                                        <p:tav tm="0">
                                          <p:val>
                                            <p:strVal val="#ppt_y-#ppt_h*1.125000"/>
                                          </p:val>
                                        </p:tav>
                                        <p:tav tm="100000">
                                          <p:val>
                                            <p:strVal val="#ppt_y"/>
                                          </p:val>
                                        </p:tav>
                                      </p:tavLst>
                                    </p:anim>
                                    <p:animEffect transition="in" filter="wipe(down)">
                                      <p:cBhvr>
                                        <p:cTn id="68" dur="500"/>
                                        <p:tgtEl>
                                          <p:spTgt spid="17"/>
                                        </p:tgtEl>
                                      </p:cBhvr>
                                    </p:animEffect>
                                  </p:childTnLst>
                                </p:cTn>
                              </p:par>
                              <p:par>
                                <p:cTn id="69" presetID="12" presetClass="entr" presetSubtype="1"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 calcmode="lin" valueType="num">
                                      <p:cBhvr additive="base">
                                        <p:cTn id="71" dur="500"/>
                                        <p:tgtEl>
                                          <p:spTgt spid="18"/>
                                        </p:tgtEl>
                                        <p:attrNameLst>
                                          <p:attrName>ppt_y</p:attrName>
                                        </p:attrNameLst>
                                      </p:cBhvr>
                                      <p:tavLst>
                                        <p:tav tm="0">
                                          <p:val>
                                            <p:strVal val="#ppt_y-#ppt_h*1.125000"/>
                                          </p:val>
                                        </p:tav>
                                        <p:tav tm="100000">
                                          <p:val>
                                            <p:strVal val="#ppt_y"/>
                                          </p:val>
                                        </p:tav>
                                      </p:tavLst>
                                    </p:anim>
                                    <p:animEffect transition="in" filter="wipe(down)">
                                      <p:cBhvr>
                                        <p:cTn id="72" dur="500"/>
                                        <p:tgtEl>
                                          <p:spTgt spid="18"/>
                                        </p:tgtEl>
                                      </p:cBhvr>
                                    </p:animEffect>
                                  </p:childTnLst>
                                </p:cTn>
                              </p:par>
                              <p:par>
                                <p:cTn id="73" presetID="12" presetClass="entr" presetSubtype="1" fill="hold" nodeType="withEffect">
                                  <p:stCondLst>
                                    <p:cond delay="0"/>
                                  </p:stCondLst>
                                  <p:childTnLst>
                                    <p:set>
                                      <p:cBhvr>
                                        <p:cTn id="74" dur="1" fill="hold">
                                          <p:stCondLst>
                                            <p:cond delay="0"/>
                                          </p:stCondLst>
                                        </p:cTn>
                                        <p:tgtEl>
                                          <p:spTgt spid="45"/>
                                        </p:tgtEl>
                                        <p:attrNameLst>
                                          <p:attrName>style.visibility</p:attrName>
                                        </p:attrNameLst>
                                      </p:cBhvr>
                                      <p:to>
                                        <p:strVal val="visible"/>
                                      </p:to>
                                    </p:set>
                                    <p:anim calcmode="lin" valueType="num">
                                      <p:cBhvr additive="base">
                                        <p:cTn id="75" dur="500"/>
                                        <p:tgtEl>
                                          <p:spTgt spid="45"/>
                                        </p:tgtEl>
                                        <p:attrNameLst>
                                          <p:attrName>ppt_y</p:attrName>
                                        </p:attrNameLst>
                                      </p:cBhvr>
                                      <p:tavLst>
                                        <p:tav tm="0">
                                          <p:val>
                                            <p:strVal val="#ppt_y-#ppt_h*1.125000"/>
                                          </p:val>
                                        </p:tav>
                                        <p:tav tm="100000">
                                          <p:val>
                                            <p:strVal val="#ppt_y"/>
                                          </p:val>
                                        </p:tav>
                                      </p:tavLst>
                                    </p:anim>
                                    <p:animEffect transition="in" filter="wipe(down)">
                                      <p:cBhvr>
                                        <p:cTn id="76" dur="500"/>
                                        <p:tgtEl>
                                          <p:spTgt spid="45"/>
                                        </p:tgtEl>
                                      </p:cBhvr>
                                    </p:animEffect>
                                  </p:childTnLst>
                                </p:cTn>
                              </p:par>
                              <p:par>
                                <p:cTn id="77" presetID="12" presetClass="entr" presetSubtype="1" fill="hold" nodeType="withEffect">
                                  <p:stCondLst>
                                    <p:cond delay="0"/>
                                  </p:stCondLst>
                                  <p:childTnLst>
                                    <p:set>
                                      <p:cBhvr>
                                        <p:cTn id="78" dur="1" fill="hold">
                                          <p:stCondLst>
                                            <p:cond delay="0"/>
                                          </p:stCondLst>
                                        </p:cTn>
                                        <p:tgtEl>
                                          <p:spTgt spid="46"/>
                                        </p:tgtEl>
                                        <p:attrNameLst>
                                          <p:attrName>style.visibility</p:attrName>
                                        </p:attrNameLst>
                                      </p:cBhvr>
                                      <p:to>
                                        <p:strVal val="visible"/>
                                      </p:to>
                                    </p:set>
                                    <p:anim calcmode="lin" valueType="num">
                                      <p:cBhvr additive="base">
                                        <p:cTn id="79" dur="500"/>
                                        <p:tgtEl>
                                          <p:spTgt spid="46"/>
                                        </p:tgtEl>
                                        <p:attrNameLst>
                                          <p:attrName>ppt_y</p:attrName>
                                        </p:attrNameLst>
                                      </p:cBhvr>
                                      <p:tavLst>
                                        <p:tav tm="0">
                                          <p:val>
                                            <p:strVal val="#ppt_y-#ppt_h*1.125000"/>
                                          </p:val>
                                        </p:tav>
                                        <p:tav tm="100000">
                                          <p:val>
                                            <p:strVal val="#ppt_y"/>
                                          </p:val>
                                        </p:tav>
                                      </p:tavLst>
                                    </p:anim>
                                    <p:animEffect transition="in" filter="wipe(down)">
                                      <p:cBhvr>
                                        <p:cTn id="80" dur="500"/>
                                        <p:tgtEl>
                                          <p:spTgt spid="46"/>
                                        </p:tgtEl>
                                      </p:cBhvr>
                                    </p:animEffect>
                                  </p:childTnLst>
                                </p:cTn>
                              </p:par>
                            </p:childTnLst>
                          </p:cTn>
                        </p:par>
                      </p:childTnLst>
                    </p:cTn>
                  </p:par>
                  <p:par>
                    <p:cTn id="81" fill="hold">
                      <p:stCondLst>
                        <p:cond delay="indefinite"/>
                      </p:stCondLst>
                      <p:childTnLst>
                        <p:par>
                          <p:cTn id="82" fill="hold">
                            <p:stCondLst>
                              <p:cond delay="0"/>
                            </p:stCondLst>
                            <p:childTnLst>
                              <p:par>
                                <p:cTn id="83" presetID="12" presetClass="entr" presetSubtype="1" fill="hold" grpId="0" nodeType="clickEffect">
                                  <p:stCondLst>
                                    <p:cond delay="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500"/>
                                        <p:tgtEl>
                                          <p:spTgt spid="19"/>
                                        </p:tgtEl>
                                        <p:attrNameLst>
                                          <p:attrName>ppt_y</p:attrName>
                                        </p:attrNameLst>
                                      </p:cBhvr>
                                      <p:tavLst>
                                        <p:tav tm="0">
                                          <p:val>
                                            <p:strVal val="#ppt_y-#ppt_h*1.125000"/>
                                          </p:val>
                                        </p:tav>
                                        <p:tav tm="100000">
                                          <p:val>
                                            <p:strVal val="#ppt_y"/>
                                          </p:val>
                                        </p:tav>
                                      </p:tavLst>
                                    </p:anim>
                                    <p:animEffect transition="in" filter="wipe(down)">
                                      <p:cBhvr>
                                        <p:cTn id="86" dur="500"/>
                                        <p:tgtEl>
                                          <p:spTgt spid="19"/>
                                        </p:tgtEl>
                                      </p:cBhvr>
                                    </p:animEffect>
                                  </p:childTnLst>
                                </p:cTn>
                              </p:par>
                              <p:par>
                                <p:cTn id="87" presetID="12" presetClass="entr" presetSubtype="1" fill="hold" grpId="0" nodeType="withEffect">
                                  <p:stCondLst>
                                    <p:cond delay="0"/>
                                  </p:stCondLst>
                                  <p:childTnLst>
                                    <p:set>
                                      <p:cBhvr>
                                        <p:cTn id="88" dur="1" fill="hold">
                                          <p:stCondLst>
                                            <p:cond delay="0"/>
                                          </p:stCondLst>
                                        </p:cTn>
                                        <p:tgtEl>
                                          <p:spTgt spid="20"/>
                                        </p:tgtEl>
                                        <p:attrNameLst>
                                          <p:attrName>style.visibility</p:attrName>
                                        </p:attrNameLst>
                                      </p:cBhvr>
                                      <p:to>
                                        <p:strVal val="visible"/>
                                      </p:to>
                                    </p:set>
                                    <p:anim calcmode="lin" valueType="num">
                                      <p:cBhvr additive="base">
                                        <p:cTn id="89" dur="500"/>
                                        <p:tgtEl>
                                          <p:spTgt spid="20"/>
                                        </p:tgtEl>
                                        <p:attrNameLst>
                                          <p:attrName>ppt_y</p:attrName>
                                        </p:attrNameLst>
                                      </p:cBhvr>
                                      <p:tavLst>
                                        <p:tav tm="0">
                                          <p:val>
                                            <p:strVal val="#ppt_y-#ppt_h*1.125000"/>
                                          </p:val>
                                        </p:tav>
                                        <p:tav tm="100000">
                                          <p:val>
                                            <p:strVal val="#ppt_y"/>
                                          </p:val>
                                        </p:tav>
                                      </p:tavLst>
                                    </p:anim>
                                    <p:animEffect transition="in" filter="wipe(down)">
                                      <p:cBhvr>
                                        <p:cTn id="90" dur="500"/>
                                        <p:tgtEl>
                                          <p:spTgt spid="20"/>
                                        </p:tgtEl>
                                      </p:cBhvr>
                                    </p:animEffect>
                                  </p:childTnLst>
                                </p:cTn>
                              </p:par>
                              <p:par>
                                <p:cTn id="91" presetID="12" presetClass="entr" presetSubtype="1" fill="hold" grpId="0" nodeType="withEffect">
                                  <p:stCondLst>
                                    <p:cond delay="0"/>
                                  </p:stCondLst>
                                  <p:childTnLst>
                                    <p:set>
                                      <p:cBhvr>
                                        <p:cTn id="92" dur="1" fill="hold">
                                          <p:stCondLst>
                                            <p:cond delay="0"/>
                                          </p:stCondLst>
                                        </p:cTn>
                                        <p:tgtEl>
                                          <p:spTgt spid="21"/>
                                        </p:tgtEl>
                                        <p:attrNameLst>
                                          <p:attrName>style.visibility</p:attrName>
                                        </p:attrNameLst>
                                      </p:cBhvr>
                                      <p:to>
                                        <p:strVal val="visible"/>
                                      </p:to>
                                    </p:set>
                                    <p:anim calcmode="lin" valueType="num">
                                      <p:cBhvr additive="base">
                                        <p:cTn id="93" dur="500"/>
                                        <p:tgtEl>
                                          <p:spTgt spid="21"/>
                                        </p:tgtEl>
                                        <p:attrNameLst>
                                          <p:attrName>ppt_y</p:attrName>
                                        </p:attrNameLst>
                                      </p:cBhvr>
                                      <p:tavLst>
                                        <p:tav tm="0">
                                          <p:val>
                                            <p:strVal val="#ppt_y-#ppt_h*1.125000"/>
                                          </p:val>
                                        </p:tav>
                                        <p:tav tm="100000">
                                          <p:val>
                                            <p:strVal val="#ppt_y"/>
                                          </p:val>
                                        </p:tav>
                                      </p:tavLst>
                                    </p:anim>
                                    <p:animEffect transition="in" filter="wipe(down)">
                                      <p:cBhvr>
                                        <p:cTn id="94" dur="500"/>
                                        <p:tgtEl>
                                          <p:spTgt spid="21"/>
                                        </p:tgtEl>
                                      </p:cBhvr>
                                    </p:animEffect>
                                  </p:childTnLst>
                                </p:cTn>
                              </p:par>
                              <p:par>
                                <p:cTn id="95" presetID="12" presetClass="entr" presetSubtype="1" fill="hold" nodeType="withEffect">
                                  <p:stCondLst>
                                    <p:cond delay="0"/>
                                  </p:stCondLst>
                                  <p:childTnLst>
                                    <p:set>
                                      <p:cBhvr>
                                        <p:cTn id="96" dur="1" fill="hold">
                                          <p:stCondLst>
                                            <p:cond delay="0"/>
                                          </p:stCondLst>
                                        </p:cTn>
                                        <p:tgtEl>
                                          <p:spTgt spid="47"/>
                                        </p:tgtEl>
                                        <p:attrNameLst>
                                          <p:attrName>style.visibility</p:attrName>
                                        </p:attrNameLst>
                                      </p:cBhvr>
                                      <p:to>
                                        <p:strVal val="visible"/>
                                      </p:to>
                                    </p:set>
                                    <p:anim calcmode="lin" valueType="num">
                                      <p:cBhvr additive="base">
                                        <p:cTn id="97" dur="500"/>
                                        <p:tgtEl>
                                          <p:spTgt spid="47"/>
                                        </p:tgtEl>
                                        <p:attrNameLst>
                                          <p:attrName>ppt_y</p:attrName>
                                        </p:attrNameLst>
                                      </p:cBhvr>
                                      <p:tavLst>
                                        <p:tav tm="0">
                                          <p:val>
                                            <p:strVal val="#ppt_y-#ppt_h*1.125000"/>
                                          </p:val>
                                        </p:tav>
                                        <p:tav tm="100000">
                                          <p:val>
                                            <p:strVal val="#ppt_y"/>
                                          </p:val>
                                        </p:tav>
                                      </p:tavLst>
                                    </p:anim>
                                    <p:animEffect transition="in" filter="wipe(down)">
                                      <p:cBhvr>
                                        <p:cTn id="98" dur="500"/>
                                        <p:tgtEl>
                                          <p:spTgt spid="47"/>
                                        </p:tgtEl>
                                      </p:cBhvr>
                                    </p:animEffect>
                                  </p:childTnLst>
                                </p:cTn>
                              </p:par>
                              <p:par>
                                <p:cTn id="99" presetID="12" presetClass="entr" presetSubtype="1" fill="hold" nodeType="withEffect">
                                  <p:stCondLst>
                                    <p:cond delay="0"/>
                                  </p:stCondLst>
                                  <p:childTnLst>
                                    <p:set>
                                      <p:cBhvr>
                                        <p:cTn id="100" dur="1" fill="hold">
                                          <p:stCondLst>
                                            <p:cond delay="0"/>
                                          </p:stCondLst>
                                        </p:cTn>
                                        <p:tgtEl>
                                          <p:spTgt spid="48"/>
                                        </p:tgtEl>
                                        <p:attrNameLst>
                                          <p:attrName>style.visibility</p:attrName>
                                        </p:attrNameLst>
                                      </p:cBhvr>
                                      <p:to>
                                        <p:strVal val="visible"/>
                                      </p:to>
                                    </p:set>
                                    <p:anim calcmode="lin" valueType="num">
                                      <p:cBhvr additive="base">
                                        <p:cTn id="101" dur="500"/>
                                        <p:tgtEl>
                                          <p:spTgt spid="48"/>
                                        </p:tgtEl>
                                        <p:attrNameLst>
                                          <p:attrName>ppt_y</p:attrName>
                                        </p:attrNameLst>
                                      </p:cBhvr>
                                      <p:tavLst>
                                        <p:tav tm="0">
                                          <p:val>
                                            <p:strVal val="#ppt_y-#ppt_h*1.125000"/>
                                          </p:val>
                                        </p:tav>
                                        <p:tav tm="100000">
                                          <p:val>
                                            <p:strVal val="#ppt_y"/>
                                          </p:val>
                                        </p:tav>
                                      </p:tavLst>
                                    </p:anim>
                                    <p:animEffect transition="in" filter="wipe(down)">
                                      <p:cBhvr>
                                        <p:cTn id="102" dur="500"/>
                                        <p:tgtEl>
                                          <p:spTgt spid="48"/>
                                        </p:tgtEl>
                                      </p:cBhvr>
                                    </p:animEffect>
                                  </p:childTnLst>
                                </p:cTn>
                              </p:par>
                            </p:childTnLst>
                          </p:cTn>
                        </p:par>
                      </p:childTnLst>
                    </p:cTn>
                  </p:par>
                  <p:par>
                    <p:cTn id="103" fill="hold">
                      <p:stCondLst>
                        <p:cond delay="indefinite"/>
                      </p:stCondLst>
                      <p:childTnLst>
                        <p:par>
                          <p:cTn id="104" fill="hold">
                            <p:stCondLst>
                              <p:cond delay="0"/>
                            </p:stCondLst>
                            <p:childTnLst>
                              <p:par>
                                <p:cTn id="105" presetID="12" presetClass="entr" presetSubtype="1" fill="hold" grpId="0" nodeType="clickEffect">
                                  <p:stCondLst>
                                    <p:cond delay="0"/>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500"/>
                                        <p:tgtEl>
                                          <p:spTgt spid="22"/>
                                        </p:tgtEl>
                                        <p:attrNameLst>
                                          <p:attrName>ppt_y</p:attrName>
                                        </p:attrNameLst>
                                      </p:cBhvr>
                                      <p:tavLst>
                                        <p:tav tm="0">
                                          <p:val>
                                            <p:strVal val="#ppt_y-#ppt_h*1.125000"/>
                                          </p:val>
                                        </p:tav>
                                        <p:tav tm="100000">
                                          <p:val>
                                            <p:strVal val="#ppt_y"/>
                                          </p:val>
                                        </p:tav>
                                      </p:tavLst>
                                    </p:anim>
                                    <p:animEffect transition="in" filter="wipe(down)">
                                      <p:cBhvr>
                                        <p:cTn id="108" dur="500"/>
                                        <p:tgtEl>
                                          <p:spTgt spid="22"/>
                                        </p:tgtEl>
                                      </p:cBhvr>
                                    </p:animEffect>
                                  </p:childTnLst>
                                </p:cTn>
                              </p:par>
                              <p:par>
                                <p:cTn id="109" presetID="12" presetClass="entr" presetSubtype="1" fill="hold" grpId="0" nodeType="withEffect">
                                  <p:stCondLst>
                                    <p:cond delay="0"/>
                                  </p:stCondLst>
                                  <p:childTnLst>
                                    <p:set>
                                      <p:cBhvr>
                                        <p:cTn id="110" dur="1" fill="hold">
                                          <p:stCondLst>
                                            <p:cond delay="0"/>
                                          </p:stCondLst>
                                        </p:cTn>
                                        <p:tgtEl>
                                          <p:spTgt spid="23"/>
                                        </p:tgtEl>
                                        <p:attrNameLst>
                                          <p:attrName>style.visibility</p:attrName>
                                        </p:attrNameLst>
                                      </p:cBhvr>
                                      <p:to>
                                        <p:strVal val="visible"/>
                                      </p:to>
                                    </p:set>
                                    <p:anim calcmode="lin" valueType="num">
                                      <p:cBhvr additive="base">
                                        <p:cTn id="111" dur="500"/>
                                        <p:tgtEl>
                                          <p:spTgt spid="23"/>
                                        </p:tgtEl>
                                        <p:attrNameLst>
                                          <p:attrName>ppt_y</p:attrName>
                                        </p:attrNameLst>
                                      </p:cBhvr>
                                      <p:tavLst>
                                        <p:tav tm="0">
                                          <p:val>
                                            <p:strVal val="#ppt_y-#ppt_h*1.125000"/>
                                          </p:val>
                                        </p:tav>
                                        <p:tav tm="100000">
                                          <p:val>
                                            <p:strVal val="#ppt_y"/>
                                          </p:val>
                                        </p:tav>
                                      </p:tavLst>
                                    </p:anim>
                                    <p:animEffect transition="in" filter="wipe(down)">
                                      <p:cBhvr>
                                        <p:cTn id="112" dur="500"/>
                                        <p:tgtEl>
                                          <p:spTgt spid="23"/>
                                        </p:tgtEl>
                                      </p:cBhvr>
                                    </p:animEffect>
                                  </p:childTnLst>
                                </p:cTn>
                              </p:par>
                              <p:par>
                                <p:cTn id="113" presetID="12" presetClass="entr" presetSubtype="1" fill="hold" grpId="0" nodeType="withEffect">
                                  <p:stCondLst>
                                    <p:cond delay="0"/>
                                  </p:stCondLst>
                                  <p:childTnLst>
                                    <p:set>
                                      <p:cBhvr>
                                        <p:cTn id="114" dur="1" fill="hold">
                                          <p:stCondLst>
                                            <p:cond delay="0"/>
                                          </p:stCondLst>
                                        </p:cTn>
                                        <p:tgtEl>
                                          <p:spTgt spid="24"/>
                                        </p:tgtEl>
                                        <p:attrNameLst>
                                          <p:attrName>style.visibility</p:attrName>
                                        </p:attrNameLst>
                                      </p:cBhvr>
                                      <p:to>
                                        <p:strVal val="visible"/>
                                      </p:to>
                                    </p:set>
                                    <p:anim calcmode="lin" valueType="num">
                                      <p:cBhvr additive="base">
                                        <p:cTn id="115" dur="500"/>
                                        <p:tgtEl>
                                          <p:spTgt spid="24"/>
                                        </p:tgtEl>
                                        <p:attrNameLst>
                                          <p:attrName>ppt_y</p:attrName>
                                        </p:attrNameLst>
                                      </p:cBhvr>
                                      <p:tavLst>
                                        <p:tav tm="0">
                                          <p:val>
                                            <p:strVal val="#ppt_y-#ppt_h*1.125000"/>
                                          </p:val>
                                        </p:tav>
                                        <p:tav tm="100000">
                                          <p:val>
                                            <p:strVal val="#ppt_y"/>
                                          </p:val>
                                        </p:tav>
                                      </p:tavLst>
                                    </p:anim>
                                    <p:animEffect transition="in" filter="wipe(down)">
                                      <p:cBhvr>
                                        <p:cTn id="116" dur="500"/>
                                        <p:tgtEl>
                                          <p:spTgt spid="24"/>
                                        </p:tgtEl>
                                      </p:cBhvr>
                                    </p:animEffect>
                                  </p:childTnLst>
                                </p:cTn>
                              </p:par>
                              <p:par>
                                <p:cTn id="117" presetID="12" presetClass="entr" presetSubtype="1" fill="hold" nodeType="withEffect">
                                  <p:stCondLst>
                                    <p:cond delay="0"/>
                                  </p:stCondLst>
                                  <p:childTnLst>
                                    <p:set>
                                      <p:cBhvr>
                                        <p:cTn id="118" dur="1" fill="hold">
                                          <p:stCondLst>
                                            <p:cond delay="0"/>
                                          </p:stCondLst>
                                        </p:cTn>
                                        <p:tgtEl>
                                          <p:spTgt spid="49"/>
                                        </p:tgtEl>
                                        <p:attrNameLst>
                                          <p:attrName>style.visibility</p:attrName>
                                        </p:attrNameLst>
                                      </p:cBhvr>
                                      <p:to>
                                        <p:strVal val="visible"/>
                                      </p:to>
                                    </p:set>
                                    <p:anim calcmode="lin" valueType="num">
                                      <p:cBhvr additive="base">
                                        <p:cTn id="119" dur="500"/>
                                        <p:tgtEl>
                                          <p:spTgt spid="49"/>
                                        </p:tgtEl>
                                        <p:attrNameLst>
                                          <p:attrName>ppt_y</p:attrName>
                                        </p:attrNameLst>
                                      </p:cBhvr>
                                      <p:tavLst>
                                        <p:tav tm="0">
                                          <p:val>
                                            <p:strVal val="#ppt_y-#ppt_h*1.125000"/>
                                          </p:val>
                                        </p:tav>
                                        <p:tav tm="100000">
                                          <p:val>
                                            <p:strVal val="#ppt_y"/>
                                          </p:val>
                                        </p:tav>
                                      </p:tavLst>
                                    </p:anim>
                                    <p:animEffect transition="in" filter="wipe(down)">
                                      <p:cBhvr>
                                        <p:cTn id="120" dur="500"/>
                                        <p:tgtEl>
                                          <p:spTgt spid="49"/>
                                        </p:tgtEl>
                                      </p:cBhvr>
                                    </p:animEffect>
                                  </p:childTnLst>
                                </p:cTn>
                              </p:par>
                              <p:par>
                                <p:cTn id="121" presetID="12" presetClass="entr" presetSubtype="1" fill="hold" nodeType="withEffect">
                                  <p:stCondLst>
                                    <p:cond delay="0"/>
                                  </p:stCondLst>
                                  <p:childTnLst>
                                    <p:set>
                                      <p:cBhvr>
                                        <p:cTn id="122" dur="1" fill="hold">
                                          <p:stCondLst>
                                            <p:cond delay="0"/>
                                          </p:stCondLst>
                                        </p:cTn>
                                        <p:tgtEl>
                                          <p:spTgt spid="50"/>
                                        </p:tgtEl>
                                        <p:attrNameLst>
                                          <p:attrName>style.visibility</p:attrName>
                                        </p:attrNameLst>
                                      </p:cBhvr>
                                      <p:to>
                                        <p:strVal val="visible"/>
                                      </p:to>
                                    </p:set>
                                    <p:anim calcmode="lin" valueType="num">
                                      <p:cBhvr additive="base">
                                        <p:cTn id="123" dur="500"/>
                                        <p:tgtEl>
                                          <p:spTgt spid="50"/>
                                        </p:tgtEl>
                                        <p:attrNameLst>
                                          <p:attrName>ppt_y</p:attrName>
                                        </p:attrNameLst>
                                      </p:cBhvr>
                                      <p:tavLst>
                                        <p:tav tm="0">
                                          <p:val>
                                            <p:strVal val="#ppt_y-#ppt_h*1.125000"/>
                                          </p:val>
                                        </p:tav>
                                        <p:tav tm="100000">
                                          <p:val>
                                            <p:strVal val="#ppt_y"/>
                                          </p:val>
                                        </p:tav>
                                      </p:tavLst>
                                    </p:anim>
                                    <p:animEffect transition="in" filter="wipe(down)">
                                      <p:cBhvr>
                                        <p:cTn id="124" dur="500"/>
                                        <p:tgtEl>
                                          <p:spTgt spid="50"/>
                                        </p:tgtEl>
                                      </p:cBhvr>
                                    </p:animEffect>
                                  </p:childTnLst>
                                </p:cTn>
                              </p:par>
                            </p:childTnLst>
                          </p:cTn>
                        </p:par>
                      </p:childTnLst>
                    </p:cTn>
                  </p:par>
                  <p:par>
                    <p:cTn id="125" fill="hold">
                      <p:stCondLst>
                        <p:cond delay="indefinite"/>
                      </p:stCondLst>
                      <p:childTnLst>
                        <p:par>
                          <p:cTn id="126" fill="hold">
                            <p:stCondLst>
                              <p:cond delay="0"/>
                            </p:stCondLst>
                            <p:childTnLst>
                              <p:par>
                                <p:cTn id="127" presetID="12" presetClass="entr" presetSubtype="1" fill="hold" grpId="0" nodeType="clickEffect">
                                  <p:stCondLst>
                                    <p:cond delay="0"/>
                                  </p:stCondLst>
                                  <p:childTnLst>
                                    <p:set>
                                      <p:cBhvr>
                                        <p:cTn id="128" dur="1" fill="hold">
                                          <p:stCondLst>
                                            <p:cond delay="0"/>
                                          </p:stCondLst>
                                        </p:cTn>
                                        <p:tgtEl>
                                          <p:spTgt spid="25"/>
                                        </p:tgtEl>
                                        <p:attrNameLst>
                                          <p:attrName>style.visibility</p:attrName>
                                        </p:attrNameLst>
                                      </p:cBhvr>
                                      <p:to>
                                        <p:strVal val="visible"/>
                                      </p:to>
                                    </p:set>
                                    <p:anim calcmode="lin" valueType="num">
                                      <p:cBhvr additive="base">
                                        <p:cTn id="129" dur="500"/>
                                        <p:tgtEl>
                                          <p:spTgt spid="25"/>
                                        </p:tgtEl>
                                        <p:attrNameLst>
                                          <p:attrName>ppt_y</p:attrName>
                                        </p:attrNameLst>
                                      </p:cBhvr>
                                      <p:tavLst>
                                        <p:tav tm="0">
                                          <p:val>
                                            <p:strVal val="#ppt_y-#ppt_h*1.125000"/>
                                          </p:val>
                                        </p:tav>
                                        <p:tav tm="100000">
                                          <p:val>
                                            <p:strVal val="#ppt_y"/>
                                          </p:val>
                                        </p:tav>
                                      </p:tavLst>
                                    </p:anim>
                                    <p:animEffect transition="in" filter="wipe(down)">
                                      <p:cBhvr>
                                        <p:cTn id="130" dur="500"/>
                                        <p:tgtEl>
                                          <p:spTgt spid="25"/>
                                        </p:tgtEl>
                                      </p:cBhvr>
                                    </p:animEffect>
                                  </p:childTnLst>
                                </p:cTn>
                              </p:par>
                              <p:par>
                                <p:cTn id="131" presetID="12" presetClass="entr" presetSubtype="1" fill="hold" grpId="0" nodeType="withEffect">
                                  <p:stCondLst>
                                    <p:cond delay="0"/>
                                  </p:stCondLst>
                                  <p:childTnLst>
                                    <p:set>
                                      <p:cBhvr>
                                        <p:cTn id="132" dur="1" fill="hold">
                                          <p:stCondLst>
                                            <p:cond delay="0"/>
                                          </p:stCondLst>
                                        </p:cTn>
                                        <p:tgtEl>
                                          <p:spTgt spid="26"/>
                                        </p:tgtEl>
                                        <p:attrNameLst>
                                          <p:attrName>style.visibility</p:attrName>
                                        </p:attrNameLst>
                                      </p:cBhvr>
                                      <p:to>
                                        <p:strVal val="visible"/>
                                      </p:to>
                                    </p:set>
                                    <p:anim calcmode="lin" valueType="num">
                                      <p:cBhvr additive="base">
                                        <p:cTn id="133" dur="500"/>
                                        <p:tgtEl>
                                          <p:spTgt spid="26"/>
                                        </p:tgtEl>
                                        <p:attrNameLst>
                                          <p:attrName>ppt_y</p:attrName>
                                        </p:attrNameLst>
                                      </p:cBhvr>
                                      <p:tavLst>
                                        <p:tav tm="0">
                                          <p:val>
                                            <p:strVal val="#ppt_y-#ppt_h*1.125000"/>
                                          </p:val>
                                        </p:tav>
                                        <p:tav tm="100000">
                                          <p:val>
                                            <p:strVal val="#ppt_y"/>
                                          </p:val>
                                        </p:tav>
                                      </p:tavLst>
                                    </p:anim>
                                    <p:animEffect transition="in" filter="wipe(down)">
                                      <p:cBhvr>
                                        <p:cTn id="134" dur="500"/>
                                        <p:tgtEl>
                                          <p:spTgt spid="26"/>
                                        </p:tgtEl>
                                      </p:cBhvr>
                                    </p:animEffect>
                                  </p:childTnLst>
                                </p:cTn>
                              </p:par>
                              <p:par>
                                <p:cTn id="135" presetID="12" presetClass="entr" presetSubtype="1" fill="hold" grpId="0" nodeType="withEffect">
                                  <p:stCondLst>
                                    <p:cond delay="0"/>
                                  </p:stCondLst>
                                  <p:childTnLst>
                                    <p:set>
                                      <p:cBhvr>
                                        <p:cTn id="136" dur="1" fill="hold">
                                          <p:stCondLst>
                                            <p:cond delay="0"/>
                                          </p:stCondLst>
                                        </p:cTn>
                                        <p:tgtEl>
                                          <p:spTgt spid="27"/>
                                        </p:tgtEl>
                                        <p:attrNameLst>
                                          <p:attrName>style.visibility</p:attrName>
                                        </p:attrNameLst>
                                      </p:cBhvr>
                                      <p:to>
                                        <p:strVal val="visible"/>
                                      </p:to>
                                    </p:set>
                                    <p:anim calcmode="lin" valueType="num">
                                      <p:cBhvr additive="base">
                                        <p:cTn id="137" dur="500"/>
                                        <p:tgtEl>
                                          <p:spTgt spid="27"/>
                                        </p:tgtEl>
                                        <p:attrNameLst>
                                          <p:attrName>ppt_y</p:attrName>
                                        </p:attrNameLst>
                                      </p:cBhvr>
                                      <p:tavLst>
                                        <p:tav tm="0">
                                          <p:val>
                                            <p:strVal val="#ppt_y-#ppt_h*1.125000"/>
                                          </p:val>
                                        </p:tav>
                                        <p:tav tm="100000">
                                          <p:val>
                                            <p:strVal val="#ppt_y"/>
                                          </p:val>
                                        </p:tav>
                                      </p:tavLst>
                                    </p:anim>
                                    <p:animEffect transition="in" filter="wipe(down)">
                                      <p:cBhvr>
                                        <p:cTn id="138" dur="500"/>
                                        <p:tgtEl>
                                          <p:spTgt spid="27"/>
                                        </p:tgtEl>
                                      </p:cBhvr>
                                    </p:animEffect>
                                  </p:childTnLst>
                                </p:cTn>
                              </p:par>
                              <p:par>
                                <p:cTn id="139" presetID="12" presetClass="entr" presetSubtype="1" fill="hold" nodeType="withEffect">
                                  <p:stCondLst>
                                    <p:cond delay="0"/>
                                  </p:stCondLst>
                                  <p:childTnLst>
                                    <p:set>
                                      <p:cBhvr>
                                        <p:cTn id="140" dur="1" fill="hold">
                                          <p:stCondLst>
                                            <p:cond delay="0"/>
                                          </p:stCondLst>
                                        </p:cTn>
                                        <p:tgtEl>
                                          <p:spTgt spid="51"/>
                                        </p:tgtEl>
                                        <p:attrNameLst>
                                          <p:attrName>style.visibility</p:attrName>
                                        </p:attrNameLst>
                                      </p:cBhvr>
                                      <p:to>
                                        <p:strVal val="visible"/>
                                      </p:to>
                                    </p:set>
                                    <p:anim calcmode="lin" valueType="num">
                                      <p:cBhvr additive="base">
                                        <p:cTn id="141" dur="500"/>
                                        <p:tgtEl>
                                          <p:spTgt spid="51"/>
                                        </p:tgtEl>
                                        <p:attrNameLst>
                                          <p:attrName>ppt_y</p:attrName>
                                        </p:attrNameLst>
                                      </p:cBhvr>
                                      <p:tavLst>
                                        <p:tav tm="0">
                                          <p:val>
                                            <p:strVal val="#ppt_y-#ppt_h*1.125000"/>
                                          </p:val>
                                        </p:tav>
                                        <p:tav tm="100000">
                                          <p:val>
                                            <p:strVal val="#ppt_y"/>
                                          </p:val>
                                        </p:tav>
                                      </p:tavLst>
                                    </p:anim>
                                    <p:animEffect transition="in" filter="wipe(down)">
                                      <p:cBhvr>
                                        <p:cTn id="142" dur="500"/>
                                        <p:tgtEl>
                                          <p:spTgt spid="51"/>
                                        </p:tgtEl>
                                      </p:cBhvr>
                                    </p:animEffect>
                                  </p:childTnLst>
                                </p:cTn>
                              </p:par>
                              <p:par>
                                <p:cTn id="143" presetID="12" presetClass="entr" presetSubtype="1" fill="hold" nodeType="withEffect">
                                  <p:stCondLst>
                                    <p:cond delay="0"/>
                                  </p:stCondLst>
                                  <p:childTnLst>
                                    <p:set>
                                      <p:cBhvr>
                                        <p:cTn id="144" dur="1" fill="hold">
                                          <p:stCondLst>
                                            <p:cond delay="0"/>
                                          </p:stCondLst>
                                        </p:cTn>
                                        <p:tgtEl>
                                          <p:spTgt spid="52"/>
                                        </p:tgtEl>
                                        <p:attrNameLst>
                                          <p:attrName>style.visibility</p:attrName>
                                        </p:attrNameLst>
                                      </p:cBhvr>
                                      <p:to>
                                        <p:strVal val="visible"/>
                                      </p:to>
                                    </p:set>
                                    <p:anim calcmode="lin" valueType="num">
                                      <p:cBhvr additive="base">
                                        <p:cTn id="145" dur="500"/>
                                        <p:tgtEl>
                                          <p:spTgt spid="52"/>
                                        </p:tgtEl>
                                        <p:attrNameLst>
                                          <p:attrName>ppt_y</p:attrName>
                                        </p:attrNameLst>
                                      </p:cBhvr>
                                      <p:tavLst>
                                        <p:tav tm="0">
                                          <p:val>
                                            <p:strVal val="#ppt_y-#ppt_h*1.125000"/>
                                          </p:val>
                                        </p:tav>
                                        <p:tav tm="100000">
                                          <p:val>
                                            <p:strVal val="#ppt_y"/>
                                          </p:val>
                                        </p:tav>
                                      </p:tavLst>
                                    </p:anim>
                                    <p:animEffect transition="in" filter="wipe(down)">
                                      <p:cBhvr>
                                        <p:cTn id="14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a:xfrm>
            <a:off x="603835" y="371287"/>
            <a:ext cx="5292090" cy="421482"/>
          </a:xfrm>
        </p:spPr>
        <p:txBody>
          <a:bodyPr>
            <a:noAutofit/>
          </a:bodyPr>
          <a:lstStyle/>
          <a:p>
            <a:pPr algn="l">
              <a:buClr>
                <a:schemeClr val="accent4"/>
              </a:buClr>
            </a:pPr>
            <a:r>
              <a:rPr kumimoji="1" lang="zh-CN" altLang="en-US" sz="2800" b="1" dirty="0">
                <a:solidFill>
                  <a:srgbClr val="0070C0"/>
                </a:solidFill>
                <a:latin typeface="Microsoft YaHei" panose="020B0503020204020204" pitchFamily="34" charset="-122"/>
                <a:ea typeface="Microsoft YaHei" panose="020B0503020204020204" pitchFamily="34" charset="-122"/>
              </a:rPr>
              <a:t>渗透测试的一些具体方法</a:t>
            </a:r>
          </a:p>
        </p:txBody>
      </p:sp>
      <p:sp>
        <p:nvSpPr>
          <p:cNvPr id="36867" name="Rectangle 3"/>
          <p:cNvSpPr>
            <a:spLocks noGrp="1" noChangeArrowheads="1"/>
          </p:cNvSpPr>
          <p:nvPr>
            <p:ph type="body" idx="1"/>
          </p:nvPr>
        </p:nvSpPr>
        <p:spPr>
          <a:xfrm>
            <a:off x="603835" y="1178492"/>
            <a:ext cx="7472253" cy="3152876"/>
          </a:xfrm>
        </p:spPr>
        <p:txBody>
          <a:bodyPr>
            <a:normAutofit/>
          </a:bodyPr>
          <a:lstStyle/>
          <a:p>
            <a:pPr marL="320040" lvl="1" indent="-320040">
              <a:lnSpc>
                <a:spcPct val="130000"/>
              </a:lnSpc>
              <a:spcBef>
                <a:spcPts val="237"/>
              </a:spcBef>
              <a:buClr>
                <a:srgbClr val="91AC4E"/>
              </a:buClr>
              <a:buSzPct val="80000"/>
              <a:buFont typeface="Wingdings" charset="0"/>
              <a:buChar char="p"/>
              <a:tabLst>
                <a:tab pos="205740" algn="l"/>
              </a:tabLst>
            </a:pPr>
            <a:r>
              <a:rPr lang="zh-CN" altLang="en-US" sz="1600" b="1" dirty="0">
                <a:latin typeface="Arial" charset="0"/>
                <a:ea typeface="宋体" charset="0"/>
                <a:cs typeface="宋体" charset="0"/>
              </a:rPr>
              <a:t>不同网段 </a:t>
            </a:r>
            <a:r>
              <a:rPr lang="en-US" altLang="zh-CN" sz="1600" b="1" dirty="0">
                <a:latin typeface="Arial" charset="0"/>
                <a:ea typeface="宋体" charset="0"/>
                <a:cs typeface="宋体" charset="0"/>
              </a:rPr>
              <a:t>/</a:t>
            </a:r>
            <a:r>
              <a:rPr lang="en-US" altLang="zh-CN" sz="1600" b="1" dirty="0" err="1">
                <a:latin typeface="Arial" charset="0"/>
                <a:ea typeface="宋体" charset="0"/>
                <a:cs typeface="宋体" charset="0"/>
              </a:rPr>
              <a:t>vlan</a:t>
            </a:r>
            <a:r>
              <a:rPr lang="en-US" altLang="zh-CN" sz="1600" b="1" dirty="0">
                <a:latin typeface="Arial" charset="0"/>
                <a:ea typeface="宋体" charset="0"/>
                <a:cs typeface="宋体" charset="0"/>
              </a:rPr>
              <a:t> </a:t>
            </a:r>
            <a:r>
              <a:rPr lang="zh-CN" altLang="en-US" sz="1600" b="1" dirty="0">
                <a:latin typeface="Arial" charset="0"/>
                <a:ea typeface="宋体" charset="0"/>
                <a:cs typeface="宋体" charset="0"/>
              </a:rPr>
              <a:t>之间的渗透</a:t>
            </a:r>
            <a:endParaRPr lang="en-US" altLang="zh-CN" sz="1600" b="1" dirty="0">
              <a:latin typeface="Arial" charset="0"/>
              <a:ea typeface="宋体" charset="0"/>
              <a:cs typeface="宋体" charset="0"/>
            </a:endParaRPr>
          </a:p>
          <a:p>
            <a:pPr marL="320040" lvl="1" indent="-320040">
              <a:lnSpc>
                <a:spcPct val="130000"/>
              </a:lnSpc>
              <a:spcBef>
                <a:spcPts val="237"/>
              </a:spcBef>
              <a:buClr>
                <a:srgbClr val="91AC4E"/>
              </a:buClr>
              <a:buSzPct val="80000"/>
              <a:buFont typeface="Wingdings" charset="0"/>
              <a:buChar char="p"/>
              <a:tabLst>
                <a:tab pos="205740" algn="l"/>
              </a:tabLst>
            </a:pPr>
            <a:r>
              <a:rPr lang="zh-CN" altLang="en-US" sz="1600" b="1" dirty="0">
                <a:latin typeface="Arial" charset="0"/>
                <a:ea typeface="宋体" charset="0"/>
                <a:cs typeface="宋体" charset="0"/>
              </a:rPr>
              <a:t>端口扫描：</a:t>
            </a:r>
            <a:r>
              <a:rPr lang="zh-CN" altLang="en-US" sz="1600" dirty="0">
                <a:latin typeface="Arial" charset="0"/>
                <a:ea typeface="宋体" charset="0"/>
                <a:cs typeface="宋体" charset="0"/>
              </a:rPr>
              <a:t>利用网络安全扫描器，如</a:t>
            </a:r>
            <a:r>
              <a:rPr lang="en-US" altLang="zh-CN" sz="1600" dirty="0">
                <a:latin typeface="Arial" charset="0"/>
                <a:ea typeface="宋体" charset="0"/>
                <a:cs typeface="宋体" charset="0"/>
              </a:rPr>
              <a:t>X-Scan</a:t>
            </a:r>
            <a:r>
              <a:rPr lang="zh-CN" altLang="en-US" sz="1600" dirty="0">
                <a:latin typeface="Arial" charset="0"/>
                <a:ea typeface="宋体" charset="0"/>
                <a:cs typeface="宋体" charset="0"/>
              </a:rPr>
              <a:t>、</a:t>
            </a:r>
            <a:r>
              <a:rPr lang="en-US" altLang="zh-CN" sz="1600" dirty="0">
                <a:latin typeface="Arial" charset="0"/>
                <a:ea typeface="宋体" charset="0"/>
                <a:cs typeface="宋体" charset="0"/>
              </a:rPr>
              <a:t>NMAP</a:t>
            </a:r>
            <a:endParaRPr lang="zh-CN" altLang="en-US" sz="1600" dirty="0">
              <a:latin typeface="Arial" charset="0"/>
              <a:ea typeface="宋体" charset="0"/>
              <a:cs typeface="宋体" charset="0"/>
            </a:endParaRPr>
          </a:p>
          <a:p>
            <a:pPr marL="320040" lvl="1" indent="-320040">
              <a:lnSpc>
                <a:spcPct val="130000"/>
              </a:lnSpc>
              <a:spcBef>
                <a:spcPts val="237"/>
              </a:spcBef>
              <a:buClr>
                <a:srgbClr val="91AC4E"/>
              </a:buClr>
              <a:buSzPct val="80000"/>
              <a:buFont typeface="Wingdings" charset="0"/>
              <a:buChar char="p"/>
              <a:tabLst>
                <a:tab pos="205740" algn="l"/>
              </a:tabLst>
            </a:pPr>
            <a:r>
              <a:rPr lang="zh-CN" altLang="en-US" sz="1600" b="1" dirty="0">
                <a:latin typeface="Arial" charset="0"/>
                <a:ea typeface="宋体" charset="0"/>
                <a:cs typeface="宋体" charset="0"/>
              </a:rPr>
              <a:t>远程溢出</a:t>
            </a:r>
            <a:r>
              <a:rPr lang="zh-CN" altLang="en-US" sz="1600" dirty="0">
                <a:latin typeface="Arial" charset="0"/>
                <a:ea typeface="宋体" charset="0"/>
                <a:cs typeface="宋体" charset="0"/>
              </a:rPr>
              <a:t>：可利用现成的工具实现远程溢出攻击</a:t>
            </a:r>
            <a:endParaRPr lang="en-US" altLang="zh-CN" sz="1600" dirty="0">
              <a:latin typeface="Arial" charset="0"/>
              <a:ea typeface="宋体" charset="0"/>
              <a:cs typeface="宋体" charset="0"/>
            </a:endParaRPr>
          </a:p>
          <a:p>
            <a:pPr marL="320040" lvl="1" indent="-320040">
              <a:lnSpc>
                <a:spcPct val="130000"/>
              </a:lnSpc>
              <a:spcBef>
                <a:spcPts val="237"/>
              </a:spcBef>
              <a:buClr>
                <a:srgbClr val="91AC4E"/>
              </a:buClr>
              <a:buSzPct val="80000"/>
              <a:tabLst>
                <a:tab pos="205740" algn="l"/>
              </a:tabLst>
            </a:pPr>
            <a:r>
              <a:rPr lang="zh-CN" altLang="en-US" sz="1600" dirty="0">
                <a:solidFill>
                  <a:srgbClr val="C00000"/>
                </a:solidFill>
                <a:latin typeface="Arial" charset="0"/>
                <a:ea typeface="宋体" charset="0"/>
                <a:cs typeface="宋体" charset="0"/>
              </a:rPr>
              <a:t>（例如：溢出工具</a:t>
            </a:r>
            <a:r>
              <a:rPr lang="en-US" altLang="zh-CN" sz="1600" dirty="0">
                <a:solidFill>
                  <a:srgbClr val="C00000"/>
                </a:solidFill>
                <a:latin typeface="Arial" charset="0"/>
                <a:ea typeface="宋体" charset="0"/>
                <a:cs typeface="宋体" charset="0"/>
              </a:rPr>
              <a:t>SQL2.exe + </a:t>
            </a:r>
            <a:r>
              <a:rPr lang="zh-CN" altLang="en-US" sz="1600" dirty="0">
                <a:solidFill>
                  <a:srgbClr val="C00000"/>
                </a:solidFill>
                <a:latin typeface="Arial" charset="0"/>
                <a:ea typeface="宋体" charset="0"/>
                <a:cs typeface="宋体" charset="0"/>
              </a:rPr>
              <a:t>监听工具</a:t>
            </a:r>
            <a:r>
              <a:rPr lang="en-US" altLang="zh-CN" sz="1600" dirty="0" err="1">
                <a:solidFill>
                  <a:srgbClr val="C00000"/>
                </a:solidFill>
                <a:latin typeface="Arial" charset="0"/>
                <a:ea typeface="宋体" charset="0"/>
                <a:cs typeface="宋体" charset="0"/>
              </a:rPr>
              <a:t>nc.exe</a:t>
            </a:r>
            <a:r>
              <a:rPr lang="en-US" altLang="zh-CN" sz="1600" dirty="0">
                <a:solidFill>
                  <a:srgbClr val="C00000"/>
                </a:solidFill>
                <a:latin typeface="Arial" charset="0"/>
                <a:ea typeface="宋体" charset="0"/>
                <a:cs typeface="宋体" charset="0"/>
              </a:rPr>
              <a:t> </a:t>
            </a:r>
            <a:r>
              <a:rPr lang="zh-CN" altLang="en-US" sz="1600" dirty="0">
                <a:solidFill>
                  <a:srgbClr val="C00000"/>
                </a:solidFill>
                <a:latin typeface="Arial" charset="0"/>
                <a:ea typeface="宋体" charset="0"/>
                <a:cs typeface="宋体" charset="0"/>
              </a:rPr>
              <a:t>攻击</a:t>
            </a:r>
            <a:r>
              <a:rPr lang="en-US" altLang="zh-CN" sz="1600" dirty="0">
                <a:solidFill>
                  <a:srgbClr val="C00000"/>
                </a:solidFill>
                <a:latin typeface="Arial" charset="0"/>
                <a:ea typeface="宋体" charset="0"/>
                <a:cs typeface="宋体" charset="0"/>
              </a:rPr>
              <a:t>SQL server 1433</a:t>
            </a:r>
            <a:r>
              <a:rPr lang="zh-CN" altLang="en-US" sz="1600" dirty="0">
                <a:solidFill>
                  <a:srgbClr val="C00000"/>
                </a:solidFill>
                <a:latin typeface="Arial" charset="0"/>
                <a:ea typeface="宋体" charset="0"/>
                <a:cs typeface="宋体" charset="0"/>
              </a:rPr>
              <a:t>端口）</a:t>
            </a:r>
            <a:endParaRPr lang="en-US" altLang="zh-CN" sz="1600" dirty="0">
              <a:solidFill>
                <a:srgbClr val="C00000"/>
              </a:solidFill>
              <a:latin typeface="Arial" charset="0"/>
              <a:ea typeface="宋体" charset="0"/>
              <a:cs typeface="宋体" charset="0"/>
            </a:endParaRPr>
          </a:p>
          <a:p>
            <a:pPr marL="320040" lvl="1" indent="-320040">
              <a:lnSpc>
                <a:spcPct val="130000"/>
              </a:lnSpc>
              <a:spcBef>
                <a:spcPts val="237"/>
              </a:spcBef>
              <a:buClr>
                <a:srgbClr val="91AC4E"/>
              </a:buClr>
              <a:buSzPct val="80000"/>
              <a:buFont typeface="Wingdings" charset="0"/>
              <a:buChar char="p"/>
              <a:tabLst>
                <a:tab pos="205740" algn="l"/>
              </a:tabLst>
            </a:pPr>
            <a:r>
              <a:rPr lang="zh-CN" altLang="en-US" sz="1600" b="1" dirty="0">
                <a:latin typeface="Arial" charset="0"/>
                <a:ea typeface="宋体" charset="0"/>
                <a:cs typeface="宋体" charset="0"/>
              </a:rPr>
              <a:t>口令猜测</a:t>
            </a:r>
            <a:r>
              <a:rPr lang="zh-CN" altLang="en-US" sz="1600" dirty="0">
                <a:latin typeface="Arial" charset="0"/>
                <a:ea typeface="宋体" charset="0"/>
                <a:cs typeface="宋体" charset="0"/>
              </a:rPr>
              <a:t>：简单的暴力攻击程序</a:t>
            </a:r>
            <a:r>
              <a:rPr lang="en-US" altLang="zh-CN" sz="1600" dirty="0">
                <a:latin typeface="Arial" charset="0"/>
                <a:ea typeface="宋体" charset="0"/>
                <a:cs typeface="宋体" charset="0"/>
              </a:rPr>
              <a:t> </a:t>
            </a:r>
            <a:r>
              <a:rPr lang="zh-CN" altLang="en-US" sz="1600" dirty="0">
                <a:latin typeface="Arial" charset="0"/>
                <a:ea typeface="宋体" charset="0"/>
                <a:cs typeface="宋体" charset="0"/>
              </a:rPr>
              <a:t>＋</a:t>
            </a:r>
            <a:r>
              <a:rPr lang="en-US" altLang="zh-CN" sz="1600" dirty="0">
                <a:latin typeface="Arial" charset="0"/>
                <a:ea typeface="宋体" charset="0"/>
                <a:cs typeface="宋体" charset="0"/>
              </a:rPr>
              <a:t> </a:t>
            </a:r>
            <a:r>
              <a:rPr lang="zh-CN" altLang="en-US" sz="1600" dirty="0">
                <a:latin typeface="Arial" charset="0"/>
                <a:ea typeface="宋体" charset="0"/>
                <a:cs typeface="宋体" charset="0"/>
              </a:rPr>
              <a:t>比较完善的字典</a:t>
            </a:r>
            <a:endParaRPr lang="en-US" altLang="zh-CN" sz="1600" dirty="0">
              <a:latin typeface="Arial" charset="0"/>
              <a:ea typeface="宋体" charset="0"/>
              <a:cs typeface="宋体" charset="0"/>
            </a:endParaRPr>
          </a:p>
          <a:p>
            <a:pPr marL="320040" lvl="1" indent="-320040">
              <a:lnSpc>
                <a:spcPct val="130000"/>
              </a:lnSpc>
              <a:spcBef>
                <a:spcPts val="237"/>
              </a:spcBef>
              <a:buClr>
                <a:srgbClr val="91AC4E"/>
              </a:buClr>
              <a:buSzPct val="80000"/>
              <a:buFont typeface="Wingdings" charset="0"/>
              <a:buChar char="p"/>
              <a:tabLst>
                <a:tab pos="205740" algn="l"/>
              </a:tabLst>
            </a:pPr>
            <a:r>
              <a:rPr lang="zh-CN" altLang="en-US" sz="1600" b="1" dirty="0">
                <a:latin typeface="Arial" charset="0"/>
                <a:ea typeface="宋体" charset="0"/>
                <a:cs typeface="宋体" charset="0"/>
              </a:rPr>
              <a:t>本地溢出</a:t>
            </a:r>
            <a:r>
              <a:rPr lang="zh-CN" altLang="en-US" sz="1600" dirty="0">
                <a:latin typeface="Arial" charset="0"/>
                <a:ea typeface="宋体" charset="0"/>
                <a:cs typeface="宋体" charset="0"/>
              </a:rPr>
              <a:t>：指在拥有了一个普通用户的账号之后，通过一段特殊的指令代码获得管理员权限的方法</a:t>
            </a:r>
            <a:r>
              <a:rPr lang="zh-CN" altLang="en-US" sz="1600" dirty="0">
                <a:solidFill>
                  <a:schemeClr val="tx1">
                    <a:lumMod val="50000"/>
                    <a:lumOff val="50000"/>
                  </a:schemeClr>
                </a:solidFill>
                <a:ea typeface="宋体" charset="0"/>
                <a:cs typeface="宋体" charset="0"/>
              </a:rPr>
              <a:t>（如</a:t>
            </a:r>
            <a:r>
              <a:rPr lang="en-US" altLang="zh-CN" sz="1600" b="1" dirty="0" err="1">
                <a:solidFill>
                  <a:schemeClr val="tx1">
                    <a:lumMod val="50000"/>
                    <a:lumOff val="50000"/>
                  </a:schemeClr>
                </a:solidFill>
                <a:ea typeface="黑体" charset="0"/>
              </a:rPr>
              <a:t>Wincsrss</a:t>
            </a:r>
            <a:r>
              <a:rPr lang="zh-CN" altLang="en-US" sz="1600" dirty="0">
                <a:solidFill>
                  <a:schemeClr val="tx1">
                    <a:lumMod val="50000"/>
                    <a:lumOff val="50000"/>
                  </a:schemeClr>
                </a:solidFill>
                <a:ea typeface="宋体" charset="0"/>
                <a:cs typeface="宋体" charset="0"/>
              </a:rPr>
              <a:t>）</a:t>
            </a:r>
            <a:endParaRPr lang="en-US" altLang="zh-CN" sz="1600" dirty="0">
              <a:solidFill>
                <a:schemeClr val="tx1">
                  <a:lumMod val="50000"/>
                  <a:lumOff val="50000"/>
                </a:schemeClr>
              </a:solidFill>
              <a:ea typeface="宋体" charset="0"/>
              <a:cs typeface="宋体" charset="0"/>
            </a:endParaRPr>
          </a:p>
          <a:p>
            <a:pPr marL="320040" lvl="1" indent="-320040">
              <a:lnSpc>
                <a:spcPct val="130000"/>
              </a:lnSpc>
              <a:spcBef>
                <a:spcPts val="237"/>
              </a:spcBef>
              <a:buClr>
                <a:srgbClr val="91AC4E"/>
              </a:buClr>
              <a:buSzPct val="80000"/>
              <a:buFont typeface="Wingdings" charset="0"/>
              <a:buChar char="p"/>
              <a:tabLst>
                <a:tab pos="205740" algn="l"/>
              </a:tabLst>
            </a:pPr>
            <a:r>
              <a:rPr lang="zh-CN" altLang="en-US" sz="1600" b="1" dirty="0">
                <a:latin typeface="Arial" charset="0"/>
                <a:ea typeface="宋体" charset="0"/>
                <a:cs typeface="宋体" charset="0"/>
              </a:rPr>
              <a:t>脚本及应用测试</a:t>
            </a:r>
            <a:r>
              <a:rPr lang="zh-CN" altLang="en-US" sz="1600" dirty="0">
                <a:latin typeface="Arial" charset="0"/>
                <a:ea typeface="宋体" charset="0"/>
                <a:cs typeface="宋体" charset="0"/>
              </a:rPr>
              <a:t>，利用脚本相关弱点获取</a:t>
            </a:r>
            <a:r>
              <a:rPr lang="en-US" altLang="zh-CN" sz="1600" dirty="0">
                <a:latin typeface="Arial" charset="0"/>
                <a:ea typeface="宋体" charset="0"/>
                <a:cs typeface="宋体" charset="0"/>
              </a:rPr>
              <a:t>web</a:t>
            </a:r>
            <a:r>
              <a:rPr lang="zh-CN" altLang="en-US" sz="1600" dirty="0">
                <a:latin typeface="Arial" charset="0"/>
                <a:ea typeface="宋体" charset="0"/>
                <a:cs typeface="宋体" charset="0"/>
              </a:rPr>
              <a:t>服务器</a:t>
            </a:r>
            <a:r>
              <a:rPr lang="en-US" altLang="zh-CN" sz="1600" dirty="0">
                <a:latin typeface="Arial" charset="0"/>
                <a:ea typeface="宋体" charset="0"/>
                <a:cs typeface="宋体" charset="0"/>
              </a:rPr>
              <a:t>/DB</a:t>
            </a:r>
            <a:r>
              <a:rPr lang="zh-CN" altLang="en-US" sz="1600" dirty="0">
                <a:latin typeface="Arial" charset="0"/>
                <a:ea typeface="宋体" charset="0"/>
                <a:cs typeface="宋体" charset="0"/>
              </a:rPr>
              <a:t>目录访问权限，甚至有可能取得系统的控制权限</a:t>
            </a:r>
          </a:p>
        </p:txBody>
      </p:sp>
    </p:spTree>
    <p:extLst>
      <p:ext uri="{BB962C8B-B14F-4D97-AF65-F5344CB8AC3E}">
        <p14:creationId xmlns:p14="http://schemas.microsoft.com/office/powerpoint/2010/main" val="170154785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anim calcmode="lin" valueType="num">
                                      <p:cBhvr additive="base">
                                        <p:cTn id="7" dur="500"/>
                                        <p:tgtEl>
                                          <p:spTgt spid="36867">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36867">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36867">
                                            <p:txEl>
                                              <p:pRg st="2" end="2"/>
                                            </p:txEl>
                                          </p:spTgt>
                                        </p:tgtEl>
                                        <p:attrNameLst>
                                          <p:attrName>style.visibility</p:attrName>
                                        </p:attrNameLst>
                                      </p:cBhvr>
                                      <p:to>
                                        <p:strVal val="visible"/>
                                      </p:to>
                                    </p:set>
                                    <p:anim calcmode="lin" valueType="num">
                                      <p:cBhvr additive="base">
                                        <p:cTn id="13" dur="500"/>
                                        <p:tgtEl>
                                          <p:spTgt spid="36867">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36867">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anim calcmode="lin" valueType="num">
                                      <p:cBhvr additive="base">
                                        <p:cTn id="19" dur="500"/>
                                        <p:tgtEl>
                                          <p:spTgt spid="36867">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3686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36867">
                                            <p:txEl>
                                              <p:pRg st="4" end="4"/>
                                            </p:txEl>
                                          </p:spTgt>
                                        </p:tgtEl>
                                        <p:attrNameLst>
                                          <p:attrName>style.visibility</p:attrName>
                                        </p:attrNameLst>
                                      </p:cBhvr>
                                      <p:to>
                                        <p:strVal val="visible"/>
                                      </p:to>
                                    </p:set>
                                    <p:anim calcmode="lin" valueType="num">
                                      <p:cBhvr additive="base">
                                        <p:cTn id="25" dur="500"/>
                                        <p:tgtEl>
                                          <p:spTgt spid="36867">
                                            <p:txEl>
                                              <p:pRg st="4" end="4"/>
                                            </p:txEl>
                                          </p:spTgt>
                                        </p:tgtEl>
                                        <p:attrNameLst>
                                          <p:attrName>ppt_y</p:attrName>
                                        </p:attrNameLst>
                                      </p:cBhvr>
                                      <p:tavLst>
                                        <p:tav tm="0">
                                          <p:val>
                                            <p:strVal val="#ppt_y+#ppt_h*1.125000"/>
                                          </p:val>
                                        </p:tav>
                                        <p:tav tm="100000">
                                          <p:val>
                                            <p:strVal val="#ppt_y"/>
                                          </p:val>
                                        </p:tav>
                                      </p:tavLst>
                                    </p:anim>
                                    <p:animEffect transition="in" filter="wipe(up)">
                                      <p:cBhvr>
                                        <p:cTn id="26" dur="500"/>
                                        <p:tgtEl>
                                          <p:spTgt spid="36867">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36867">
                                            <p:txEl>
                                              <p:pRg st="5" end="5"/>
                                            </p:txEl>
                                          </p:spTgt>
                                        </p:tgtEl>
                                        <p:attrNameLst>
                                          <p:attrName>style.visibility</p:attrName>
                                        </p:attrNameLst>
                                      </p:cBhvr>
                                      <p:to>
                                        <p:strVal val="visible"/>
                                      </p:to>
                                    </p:set>
                                    <p:anim calcmode="lin" valueType="num">
                                      <p:cBhvr additive="base">
                                        <p:cTn id="31" dur="500"/>
                                        <p:tgtEl>
                                          <p:spTgt spid="36867">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3686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36867">
                                            <p:txEl>
                                              <p:pRg st="6" end="6"/>
                                            </p:txEl>
                                          </p:spTgt>
                                        </p:tgtEl>
                                        <p:attrNameLst>
                                          <p:attrName>style.visibility</p:attrName>
                                        </p:attrNameLst>
                                      </p:cBhvr>
                                      <p:to>
                                        <p:strVal val="visible"/>
                                      </p:to>
                                    </p:set>
                                    <p:anim calcmode="lin" valueType="num">
                                      <p:cBhvr additive="base">
                                        <p:cTn id="37" dur="500"/>
                                        <p:tgtEl>
                                          <p:spTgt spid="36867">
                                            <p:txEl>
                                              <p:pRg st="6" end="6"/>
                                            </p:txEl>
                                          </p:spTgt>
                                        </p:tgtEl>
                                        <p:attrNameLst>
                                          <p:attrName>ppt_y</p:attrName>
                                        </p:attrNameLst>
                                      </p:cBhvr>
                                      <p:tavLst>
                                        <p:tav tm="0">
                                          <p:val>
                                            <p:strVal val="#ppt_y+#ppt_h*1.125000"/>
                                          </p:val>
                                        </p:tav>
                                        <p:tav tm="100000">
                                          <p:val>
                                            <p:strVal val="#ppt_y"/>
                                          </p:val>
                                        </p:tav>
                                      </p:tavLst>
                                    </p:anim>
                                    <p:animEffect transition="in" filter="wipe(up)">
                                      <p:cBhvr>
                                        <p:cTn id="38" dur="500"/>
                                        <p:tgtEl>
                                          <p:spTgt spid="368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505130" y="278856"/>
            <a:ext cx="5487070" cy="421481"/>
          </a:xfrm>
        </p:spPr>
        <p:txBody>
          <a:bodyPr>
            <a:noAutofit/>
          </a:bodyPr>
          <a:lstStyle/>
          <a:p>
            <a:pPr>
              <a:buClr>
                <a:schemeClr val="accent4"/>
              </a:buClr>
            </a:pPr>
            <a:r>
              <a:rPr lang="zh-CN" altLang="en-US" dirty="0"/>
              <a:t>渗透测试实施策略</a:t>
            </a:r>
          </a:p>
        </p:txBody>
      </p:sp>
      <p:sp>
        <p:nvSpPr>
          <p:cNvPr id="78851" name="矩形 3"/>
          <p:cNvSpPr>
            <a:spLocks noChangeArrowheads="1"/>
          </p:cNvSpPr>
          <p:nvPr/>
        </p:nvSpPr>
        <p:spPr bwMode="auto">
          <a:xfrm>
            <a:off x="505130" y="1293483"/>
            <a:ext cx="8423237" cy="255653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320040" lvl="1" indent="-320040">
              <a:lnSpc>
                <a:spcPct val="130000"/>
              </a:lnSpc>
              <a:spcBef>
                <a:spcPts val="237"/>
              </a:spcBef>
              <a:buClr>
                <a:srgbClr val="91AC4E"/>
              </a:buClr>
              <a:buSzPct val="80000"/>
              <a:buFont typeface="Wingdings" charset="0"/>
              <a:buChar char="p"/>
              <a:tabLst>
                <a:tab pos="205740" algn="l"/>
              </a:tabLst>
            </a:pPr>
            <a:r>
              <a:rPr lang="zh-CN" altLang="en-US" sz="2000" b="1" u="sng" dirty="0">
                <a:solidFill>
                  <a:srgbClr val="3366FF"/>
                </a:solidFill>
                <a:latin typeface="Microsoft YaHei" panose="020B0503020204020204" pitchFamily="34" charset="-122"/>
                <a:ea typeface="Microsoft YaHei" panose="020B0503020204020204" pitchFamily="34" charset="-122"/>
              </a:rPr>
              <a:t>全程监控</a:t>
            </a:r>
            <a:r>
              <a:rPr lang="zh-CN" altLang="en-US" sz="2000" dirty="0">
                <a:latin typeface="Microsoft YaHei" panose="020B0503020204020204" pitchFamily="34" charset="-122"/>
                <a:ea typeface="Microsoft YaHei" panose="020B0503020204020204" pitchFamily="34" charset="-122"/>
              </a:rPr>
              <a:t>：采用类似</a:t>
            </a:r>
            <a:r>
              <a:rPr lang="en-US" altLang="en-US" sz="2000" dirty="0" err="1">
                <a:latin typeface="Microsoft YaHei" panose="020B0503020204020204" pitchFamily="34" charset="-122"/>
                <a:ea typeface="Microsoft YaHei" panose="020B0503020204020204" pitchFamily="34" charset="-122"/>
              </a:rPr>
              <a:t>wireshark</a:t>
            </a:r>
            <a:r>
              <a:rPr lang="zh-CN" altLang="en-US" sz="2000" dirty="0">
                <a:latin typeface="Microsoft YaHei" panose="020B0503020204020204" pitchFamily="34" charset="-122"/>
                <a:ea typeface="Microsoft YaHei" panose="020B0503020204020204" pitchFamily="34" charset="-122"/>
              </a:rPr>
              <a:t>的嗅探软件进行全程抓包嗅探</a:t>
            </a:r>
          </a:p>
          <a:p>
            <a:pPr marL="320040" lvl="1" indent="-320040">
              <a:lnSpc>
                <a:spcPct val="130000"/>
              </a:lnSpc>
              <a:spcBef>
                <a:spcPts val="237"/>
              </a:spcBef>
              <a:buClr>
                <a:srgbClr val="91AC4E"/>
              </a:buClr>
              <a:buSzPct val="80000"/>
              <a:buFont typeface="Wingdings" charset="0"/>
              <a:buChar char="p"/>
              <a:tabLst>
                <a:tab pos="205740" algn="l"/>
              </a:tabLst>
            </a:pPr>
            <a:r>
              <a:rPr lang="zh-CN" altLang="en-US" sz="2000" b="1" u="sng" dirty="0">
                <a:solidFill>
                  <a:srgbClr val="3366FF"/>
                </a:solidFill>
                <a:latin typeface="Microsoft YaHei" panose="020B0503020204020204" pitchFamily="34" charset="-122"/>
                <a:ea typeface="Microsoft YaHei" panose="020B0503020204020204" pitchFamily="34" charset="-122"/>
              </a:rPr>
              <a:t>择要监控</a:t>
            </a:r>
            <a:r>
              <a:rPr lang="zh-CN" altLang="en-US" sz="2000" dirty="0">
                <a:latin typeface="Microsoft YaHei" panose="020B0503020204020204" pitchFamily="34" charset="-122"/>
                <a:ea typeface="Microsoft YaHei" panose="020B0503020204020204" pitchFamily="34" charset="-122"/>
              </a:rPr>
              <a:t>：对扫描过程不进行录制，仅仅在数据分析后，准备发起渗透前才开启软件进行嗅探</a:t>
            </a:r>
          </a:p>
          <a:p>
            <a:pPr marL="320040" lvl="1" indent="-320040">
              <a:lnSpc>
                <a:spcPct val="130000"/>
              </a:lnSpc>
              <a:spcBef>
                <a:spcPts val="237"/>
              </a:spcBef>
              <a:buClr>
                <a:srgbClr val="91AC4E"/>
              </a:buClr>
              <a:buSzPct val="80000"/>
              <a:buFont typeface="Wingdings" charset="0"/>
              <a:buChar char="p"/>
              <a:tabLst>
                <a:tab pos="205740" algn="l"/>
              </a:tabLst>
            </a:pPr>
            <a:r>
              <a:rPr lang="zh-CN" altLang="en-US" sz="2000" b="1" u="sng" dirty="0">
                <a:solidFill>
                  <a:srgbClr val="3366FF"/>
                </a:solidFill>
                <a:latin typeface="Microsoft YaHei" panose="020B0503020204020204" pitchFamily="34" charset="-122"/>
                <a:ea typeface="Microsoft YaHei" panose="020B0503020204020204" pitchFamily="34" charset="-122"/>
              </a:rPr>
              <a:t>主机监控</a:t>
            </a:r>
            <a:r>
              <a:rPr lang="zh-CN" altLang="en-US" sz="2000" dirty="0">
                <a:latin typeface="Microsoft YaHei" panose="020B0503020204020204" pitchFamily="34" charset="-122"/>
                <a:ea typeface="Microsoft YaHei" panose="020B0503020204020204" pitchFamily="34" charset="-122"/>
              </a:rPr>
              <a:t>：仅监控受测主机的存活状态</a:t>
            </a:r>
          </a:p>
          <a:p>
            <a:pPr marL="320040" lvl="1" indent="-320040">
              <a:lnSpc>
                <a:spcPct val="130000"/>
              </a:lnSpc>
              <a:spcBef>
                <a:spcPts val="237"/>
              </a:spcBef>
              <a:buClr>
                <a:srgbClr val="91AC4E"/>
              </a:buClr>
              <a:buSzPct val="80000"/>
              <a:buFont typeface="Wingdings" charset="0"/>
              <a:buChar char="p"/>
              <a:tabLst>
                <a:tab pos="205740" algn="l"/>
              </a:tabLst>
            </a:pPr>
            <a:r>
              <a:rPr lang="zh-CN" altLang="en-US" sz="2000" b="1" u="sng" dirty="0">
                <a:solidFill>
                  <a:srgbClr val="3366FF"/>
                </a:solidFill>
                <a:latin typeface="Microsoft YaHei" panose="020B0503020204020204" pitchFamily="34" charset="-122"/>
                <a:ea typeface="Microsoft YaHei" panose="020B0503020204020204" pitchFamily="34" charset="-122"/>
              </a:rPr>
              <a:t>指定攻击源</a:t>
            </a:r>
            <a:r>
              <a:rPr lang="zh-CN" altLang="en-US" sz="2000" dirty="0">
                <a:latin typeface="Microsoft YaHei" panose="020B0503020204020204" pitchFamily="34" charset="-122"/>
                <a:ea typeface="Microsoft YaHei" panose="020B0503020204020204" pitchFamily="34" charset="-122"/>
              </a:rPr>
              <a:t>：多方监控指定源（某主机）进程、网络连接、数据传输等</a:t>
            </a:r>
            <a:endParaRPr lang="en-US" altLang="zh-CN" sz="2000" dirty="0">
              <a:latin typeface="Microsoft YaHei" panose="020B0503020204020204" pitchFamily="34" charset="-122"/>
              <a:ea typeface="Microsoft YaHei" panose="020B0503020204020204" pitchFamily="34" charset="-122"/>
            </a:endParaRPr>
          </a:p>
          <a:p>
            <a:pPr marL="320040" lvl="1" indent="-320040">
              <a:lnSpc>
                <a:spcPct val="130000"/>
              </a:lnSpc>
              <a:spcBef>
                <a:spcPts val="237"/>
              </a:spcBef>
              <a:buClr>
                <a:srgbClr val="91AC4E"/>
              </a:buClr>
              <a:buSzPct val="80000"/>
              <a:buFont typeface="Wingdings" charset="0"/>
              <a:buChar char="p"/>
              <a:tabLst>
                <a:tab pos="205740" algn="l"/>
              </a:tabLst>
            </a:pPr>
            <a:r>
              <a:rPr lang="zh-CN" altLang="en-US" sz="2000" b="1" u="sng" dirty="0">
                <a:solidFill>
                  <a:srgbClr val="3366FF"/>
                </a:solidFill>
                <a:latin typeface="Microsoft YaHei" panose="020B0503020204020204" pitchFamily="34" charset="-122"/>
                <a:ea typeface="Microsoft YaHei" panose="020B0503020204020204" pitchFamily="34" charset="-122"/>
              </a:rPr>
              <a:t>对关键系统</a:t>
            </a:r>
            <a:r>
              <a:rPr lang="zh-CN" altLang="en-US" sz="2000" dirty="0">
                <a:latin typeface="Microsoft YaHei" panose="020B0503020204020204" pitchFamily="34" charset="-122"/>
                <a:ea typeface="Microsoft YaHei" panose="020B0503020204020204" pitchFamily="34" charset="-122"/>
              </a:rPr>
              <a:t>，可以采用对目标的副本进行渗透测试</a:t>
            </a:r>
          </a:p>
        </p:txBody>
      </p:sp>
    </p:spTree>
    <p:extLst>
      <p:ext uri="{BB962C8B-B14F-4D97-AF65-F5344CB8AC3E}">
        <p14:creationId xmlns:p14="http://schemas.microsoft.com/office/powerpoint/2010/main" val="3271049755"/>
      </p:ext>
    </p:extLst>
  </p:cSld>
  <p:clrMapOvr>
    <a:masterClrMapping/>
  </p:clrMapOvr>
  <p:transition spd="slow">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1273947" y="1987998"/>
            <a:ext cx="6596106" cy="784830"/>
          </a:xfrm>
          <a:prstGeom prst="rect">
            <a:avLst/>
          </a:prstGeom>
        </p:spPr>
        <p:txBody>
          <a:bodyPr wrap="square">
            <a:spAutoFit/>
          </a:bodyPr>
          <a:lstStyle/>
          <a:p>
            <a:pPr algn="ctr"/>
            <a:r>
              <a:rPr lang="zh-CN" altLang="zh-CN" sz="4500" b="1" dirty="0">
                <a:ln w="19050">
                  <a:noFill/>
                </a:ln>
                <a:solidFill>
                  <a:srgbClr val="FFFFFF"/>
                </a:solidFill>
                <a:latin typeface="微软雅黑" panose="020B0503020204020204" charset="-122"/>
                <a:ea typeface="微软雅黑" panose="020B0503020204020204" charset="-122"/>
              </a:rPr>
              <a:t>贯穿</a:t>
            </a:r>
            <a:r>
              <a:rPr lang="en-US" altLang="zh-CN" sz="4500" b="1" dirty="0">
                <a:ln w="19050">
                  <a:noFill/>
                </a:ln>
                <a:solidFill>
                  <a:srgbClr val="FFFFFF"/>
                </a:solidFill>
                <a:latin typeface="微软雅黑" panose="020B0503020204020204" charset="-122"/>
                <a:ea typeface="微软雅黑" panose="020B0503020204020204" charset="-122"/>
              </a:rPr>
              <a:t>SDLC</a:t>
            </a:r>
            <a:r>
              <a:rPr lang="zh-CN" altLang="en-US" sz="4500" b="1" dirty="0">
                <a:ln w="19050">
                  <a:noFill/>
                </a:ln>
                <a:solidFill>
                  <a:srgbClr val="FFFFFF"/>
                </a:solidFill>
                <a:latin typeface="微软雅黑" panose="020B0503020204020204" charset="-122"/>
                <a:ea typeface="微软雅黑" panose="020B0503020204020204" charset="-122"/>
              </a:rPr>
              <a:t>的</a:t>
            </a:r>
            <a:r>
              <a:rPr lang="zh-CN" altLang="zh-CN" sz="4500" b="1" dirty="0">
                <a:ln w="19050">
                  <a:noFill/>
                </a:ln>
                <a:solidFill>
                  <a:srgbClr val="FFFFFF"/>
                </a:solidFill>
                <a:latin typeface="微软雅黑" panose="020B0503020204020204" charset="-122"/>
                <a:ea typeface="微软雅黑" panose="020B0503020204020204" charset="-122"/>
              </a:rPr>
              <a:t>安全性测试</a:t>
            </a:r>
          </a:p>
        </p:txBody>
      </p:sp>
    </p:spTree>
    <p:extLst>
      <p:ext uri="{BB962C8B-B14F-4D97-AF65-F5344CB8AC3E}">
        <p14:creationId xmlns:p14="http://schemas.microsoft.com/office/powerpoint/2010/main" val="3805852233"/>
      </p:ext>
    </p:extLst>
  </p:cSld>
  <p:clrMapOvr>
    <a:masterClrMapping/>
  </p:clrMapOvr>
  <p:transition spd="slow">
    <p:wipe dir="r"/>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609096" y="378046"/>
            <a:ext cx="5681469" cy="421482"/>
          </a:xfrm>
        </p:spPr>
        <p:txBody>
          <a:bodyPr>
            <a:noAutofit/>
          </a:bodyPr>
          <a:lstStyle/>
          <a:p>
            <a:pPr>
              <a:buClr>
                <a:schemeClr val="accent4"/>
              </a:buClr>
            </a:pPr>
            <a:r>
              <a:rPr kumimoji="1" lang="zh-CN" altLang="en-US" dirty="0">
                <a:solidFill>
                  <a:srgbClr val="0070C0"/>
                </a:solidFill>
              </a:rPr>
              <a:t>软件安全实施方针</a:t>
            </a:r>
            <a:endParaRPr lang="zh-CN" altLang="en-US" dirty="0"/>
          </a:p>
        </p:txBody>
      </p:sp>
      <p:sp>
        <p:nvSpPr>
          <p:cNvPr id="13315"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eaLnBrk="1" hangingPunct="1"/>
            <a:fld id="{8B567B61-5153-764A-9703-2F965272F31D}" type="slidenum">
              <a:rPr lang="en-US" altLang="zh-CN"/>
              <a:pPr eaLnBrk="1" hangingPunct="1"/>
              <a:t>41</a:t>
            </a:fld>
            <a:endParaRPr lang="en-US" altLang="zh-CN"/>
          </a:p>
        </p:txBody>
      </p:sp>
      <p:sp>
        <p:nvSpPr>
          <p:cNvPr id="3" name="矩形 2">
            <a:extLst>
              <a:ext uri="{FF2B5EF4-FFF2-40B4-BE49-F238E27FC236}">
                <a16:creationId xmlns:a16="http://schemas.microsoft.com/office/drawing/2014/main" id="{DA2F1344-7959-090D-7759-8ED7A4707681}"/>
              </a:ext>
            </a:extLst>
          </p:cNvPr>
          <p:cNvSpPr/>
          <p:nvPr/>
        </p:nvSpPr>
        <p:spPr>
          <a:xfrm>
            <a:off x="609096" y="1139213"/>
            <a:ext cx="7452828" cy="1268617"/>
          </a:xfrm>
          <a:prstGeom prst="rect">
            <a:avLst/>
          </a:prstGeom>
        </p:spPr>
        <p:txBody>
          <a:bodyPr wrap="square">
            <a:spAutoFit/>
          </a:bodyPr>
          <a:lstStyle/>
          <a:p>
            <a:pPr marL="308610" indent="-308610">
              <a:lnSpc>
                <a:spcPct val="120000"/>
              </a:lnSpc>
              <a:spcBef>
                <a:spcPct val="30000"/>
              </a:spcBef>
              <a:buClr>
                <a:srgbClr val="91AC4E"/>
              </a:buClr>
              <a:buSzPct val="80000"/>
              <a:buFont typeface="Wingdings" pitchFamily="2" charset="2"/>
              <a:buChar char="p"/>
            </a:pPr>
            <a:r>
              <a:rPr lang="zh-CN" altLang="en-US" sz="2000" b="1" dirty="0">
                <a:solidFill>
                  <a:schemeClr val="tx1">
                    <a:lumMod val="85000"/>
                    <a:lumOff val="15000"/>
                  </a:schemeClr>
                </a:solidFill>
                <a:latin typeface="Microsoft YaHei" panose="020B0503020204020204" pitchFamily="34" charset="-122"/>
                <a:ea typeface="Microsoft YaHei" panose="020B0503020204020204" pitchFamily="34" charset="-122"/>
              </a:rPr>
              <a:t>软件安全是一种系统级的问题</a:t>
            </a:r>
            <a:r>
              <a:rPr lang="zh-CN" altLang="en-US" sz="2000" dirty="0">
                <a:solidFill>
                  <a:schemeClr val="tx1">
                    <a:lumMod val="85000"/>
                    <a:lumOff val="15000"/>
                  </a:schemeClr>
                </a:solidFill>
                <a:latin typeface="Microsoft YaHei" panose="020B0503020204020204" pitchFamily="34" charset="-122"/>
                <a:ea typeface="Microsoft YaHei" panose="020B0503020204020204" pitchFamily="34" charset="-122"/>
              </a:rPr>
              <a:t>，需要考虑</a:t>
            </a:r>
            <a:r>
              <a:rPr lang="zh-CN" altLang="en-US" sz="2000" b="1" u="sng" dirty="0">
                <a:solidFill>
                  <a:schemeClr val="tx1">
                    <a:lumMod val="85000"/>
                    <a:lumOff val="15000"/>
                  </a:schemeClr>
                </a:solidFill>
                <a:latin typeface="Microsoft YaHei" panose="020B0503020204020204" pitchFamily="34" charset="-122"/>
                <a:ea typeface="Microsoft YaHei" panose="020B0503020204020204" pitchFamily="34" charset="-122"/>
              </a:rPr>
              <a:t>安全机制</a:t>
            </a:r>
            <a:r>
              <a:rPr lang="zh-CN" altLang="en-US" sz="2000" dirty="0">
                <a:solidFill>
                  <a:schemeClr val="tx1">
                    <a:lumMod val="50000"/>
                    <a:lumOff val="50000"/>
                  </a:schemeClr>
                </a:solidFill>
                <a:latin typeface="Microsoft YaHei" panose="020B0503020204020204" pitchFamily="34" charset="-122"/>
                <a:ea typeface="Microsoft YaHei" panose="020B0503020204020204" pitchFamily="34" charset="-122"/>
              </a:rPr>
              <a:t>（如访问控制）</a:t>
            </a:r>
            <a:r>
              <a:rPr lang="zh-CN" altLang="en-US" sz="2000" dirty="0">
                <a:solidFill>
                  <a:schemeClr val="tx1">
                    <a:lumMod val="85000"/>
                    <a:lumOff val="15000"/>
                  </a:schemeClr>
                </a:solidFill>
                <a:latin typeface="Microsoft YaHei" panose="020B0503020204020204" pitchFamily="34" charset="-122"/>
                <a:ea typeface="Microsoft YaHei" panose="020B0503020204020204" pitchFamily="34" charset="-122"/>
              </a:rPr>
              <a:t>和</a:t>
            </a:r>
            <a:r>
              <a:rPr lang="zh-CN" altLang="en-US" sz="2000" b="1" u="sng" dirty="0">
                <a:solidFill>
                  <a:schemeClr val="tx1">
                    <a:lumMod val="85000"/>
                    <a:lumOff val="15000"/>
                  </a:schemeClr>
                </a:solidFill>
                <a:latin typeface="Microsoft YaHei" panose="020B0503020204020204" pitchFamily="34" charset="-122"/>
                <a:ea typeface="Microsoft YaHei" panose="020B0503020204020204" pitchFamily="34" charset="-122"/>
              </a:rPr>
              <a:t>基于安全的设计</a:t>
            </a:r>
            <a:r>
              <a:rPr lang="zh-CN" altLang="en-US" sz="2000" dirty="0">
                <a:solidFill>
                  <a:schemeClr val="tx1">
                    <a:lumMod val="50000"/>
                    <a:lumOff val="50000"/>
                  </a:schemeClr>
                </a:solidFill>
                <a:latin typeface="Microsoft YaHei" panose="020B0503020204020204" pitchFamily="34" charset="-122"/>
                <a:ea typeface="Microsoft YaHei" panose="020B0503020204020204" pitchFamily="34" charset="-122"/>
              </a:rPr>
              <a:t>（如使攻击难以实施的健壮设计）</a:t>
            </a:r>
            <a:endParaRPr lang="en-US" altLang="zh-CN" sz="2000" dirty="0">
              <a:solidFill>
                <a:schemeClr val="tx1">
                  <a:lumMod val="50000"/>
                  <a:lumOff val="50000"/>
                </a:schemeClr>
              </a:solidFill>
              <a:latin typeface="Microsoft YaHei" panose="020B0503020204020204" pitchFamily="34" charset="-122"/>
              <a:ea typeface="Microsoft YaHei" panose="020B0503020204020204" pitchFamily="34" charset="-122"/>
            </a:endParaRPr>
          </a:p>
          <a:p>
            <a:pPr marL="308610" indent="-308610">
              <a:lnSpc>
                <a:spcPct val="120000"/>
              </a:lnSpc>
              <a:spcBef>
                <a:spcPct val="30000"/>
              </a:spcBef>
              <a:buClr>
                <a:srgbClr val="91AC4E"/>
              </a:buClr>
              <a:buSzPct val="80000"/>
              <a:buFont typeface="Wingdings" pitchFamily="2" charset="2"/>
              <a:buChar char="p"/>
            </a:pPr>
            <a:r>
              <a:rPr lang="zh-CN" altLang="en-US" sz="2000" dirty="0">
                <a:solidFill>
                  <a:schemeClr val="tx1">
                    <a:lumMod val="85000"/>
                    <a:lumOff val="15000"/>
                  </a:schemeClr>
                </a:solidFill>
                <a:latin typeface="Microsoft YaHei" panose="020B0503020204020204" pitchFamily="34" charset="-122"/>
                <a:ea typeface="Microsoft YaHei" panose="020B0503020204020204" pitchFamily="34" charset="-122"/>
              </a:rPr>
              <a:t>软件安全必须成为完整的</a:t>
            </a:r>
            <a:r>
              <a:rPr lang="zh-CN" altLang="en-US" sz="2000" b="1" dirty="0">
                <a:solidFill>
                  <a:schemeClr val="tx1">
                    <a:lumMod val="85000"/>
                    <a:lumOff val="15000"/>
                  </a:schemeClr>
                </a:solidFill>
                <a:latin typeface="Microsoft YaHei" panose="020B0503020204020204" pitchFamily="34" charset="-122"/>
                <a:ea typeface="Microsoft YaHei" panose="020B0503020204020204" pitchFamily="34" charset="-122"/>
              </a:rPr>
              <a:t>软件开发生命周期方法</a:t>
            </a:r>
            <a:r>
              <a:rPr lang="zh-CN" altLang="en-US" sz="2000" dirty="0">
                <a:solidFill>
                  <a:schemeClr val="tx1">
                    <a:lumMod val="85000"/>
                    <a:lumOff val="15000"/>
                  </a:schemeClr>
                </a:solidFill>
                <a:latin typeface="Microsoft YaHei" panose="020B0503020204020204" pitchFamily="34" charset="-122"/>
                <a:ea typeface="Microsoft YaHei" panose="020B0503020204020204" pitchFamily="34" charset="-122"/>
              </a:rPr>
              <a:t>的一部分</a:t>
            </a:r>
          </a:p>
        </p:txBody>
      </p:sp>
      <p:pic>
        <p:nvPicPr>
          <p:cNvPr id="4" name="图片 3">
            <a:extLst>
              <a:ext uri="{FF2B5EF4-FFF2-40B4-BE49-F238E27FC236}">
                <a16:creationId xmlns:a16="http://schemas.microsoft.com/office/drawing/2014/main" id="{829F7E94-A936-DE2C-1807-B3D50D4CDD56}"/>
              </a:ext>
            </a:extLst>
          </p:cNvPr>
          <p:cNvPicPr>
            <a:picLocks noChangeAspect="1"/>
          </p:cNvPicPr>
          <p:nvPr/>
        </p:nvPicPr>
        <p:blipFill>
          <a:blip r:embed="rId3"/>
          <a:stretch>
            <a:fillRect/>
          </a:stretch>
        </p:blipFill>
        <p:spPr>
          <a:xfrm>
            <a:off x="2887013" y="2895786"/>
            <a:ext cx="3045938" cy="1888482"/>
          </a:xfrm>
          <a:prstGeom prst="rect">
            <a:avLst/>
          </a:prstGeom>
        </p:spPr>
      </p:pic>
    </p:spTree>
    <p:extLst>
      <p:ext uri="{BB962C8B-B14F-4D97-AF65-F5344CB8AC3E}">
        <p14:creationId xmlns:p14="http://schemas.microsoft.com/office/powerpoint/2010/main" val="262148159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p:tgtEl>
                                          <p:spTgt spid="3">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2094" y="303911"/>
            <a:ext cx="5681469" cy="421482"/>
          </a:xfrm>
        </p:spPr>
        <p:txBody>
          <a:bodyPr>
            <a:noAutofit/>
          </a:bodyPr>
          <a:lstStyle/>
          <a:p>
            <a:pPr>
              <a:buClr>
                <a:schemeClr val="accent4"/>
              </a:buClr>
            </a:pPr>
            <a:r>
              <a:rPr lang="zh-CN" altLang="en-US" dirty="0"/>
              <a:t>全生命周期</a:t>
            </a:r>
            <a:r>
              <a:rPr lang="zh-TW" altLang="en-US" dirty="0"/>
              <a:t>的</a:t>
            </a:r>
            <a:r>
              <a:rPr lang="zh-CN" altLang="en-US" dirty="0"/>
              <a:t>安全性测试</a:t>
            </a:r>
          </a:p>
        </p:txBody>
      </p:sp>
      <p:sp>
        <p:nvSpPr>
          <p:cNvPr id="13315"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eaLnBrk="1" hangingPunct="1"/>
            <a:fld id="{8B567B61-5153-764A-9703-2F965272F31D}" type="slidenum">
              <a:rPr lang="en-US" altLang="zh-CN"/>
              <a:pPr eaLnBrk="1" hangingPunct="1"/>
              <a:t>42</a:t>
            </a:fld>
            <a:endParaRPr lang="en-US" altLang="zh-CN"/>
          </a:p>
        </p:txBody>
      </p:sp>
      <p:sp>
        <p:nvSpPr>
          <p:cNvPr id="5" name="矩形 4"/>
          <p:cNvSpPr/>
          <p:nvPr/>
        </p:nvSpPr>
        <p:spPr>
          <a:xfrm>
            <a:off x="605913" y="908476"/>
            <a:ext cx="7128792" cy="1144096"/>
          </a:xfrm>
          <a:prstGeom prst="rect">
            <a:avLst/>
          </a:prstGeom>
        </p:spPr>
        <p:txBody>
          <a:bodyPr wrap="square">
            <a:spAutoFit/>
          </a:bodyPr>
          <a:lstStyle/>
          <a:p>
            <a:pPr>
              <a:lnSpc>
                <a:spcPct val="130000"/>
              </a:lnSpc>
            </a:pPr>
            <a:r>
              <a:rPr lang="zh-CN" altLang="en-US" dirty="0">
                <a:solidFill>
                  <a:schemeClr val="accent5">
                    <a:lumMod val="75000"/>
                  </a:schemeClr>
                </a:solidFill>
              </a:rPr>
              <a:t>将风险分析、安全测试与软件开发过程 </a:t>
            </a:r>
            <a:r>
              <a:rPr lang="en-US" altLang="zh-CN" dirty="0">
                <a:solidFill>
                  <a:schemeClr val="accent5">
                    <a:lumMod val="75000"/>
                  </a:schemeClr>
                </a:solidFill>
              </a:rPr>
              <a:t>(Security Development Lifecycle</a:t>
            </a:r>
            <a:r>
              <a:rPr lang="zh-CN" altLang="en-US" dirty="0">
                <a:solidFill>
                  <a:schemeClr val="accent5">
                    <a:lumMod val="75000"/>
                  </a:schemeClr>
                </a:solidFill>
              </a:rPr>
              <a:t>，</a:t>
            </a:r>
            <a:r>
              <a:rPr lang="en-US" altLang="zh-CN" dirty="0">
                <a:solidFill>
                  <a:schemeClr val="accent5">
                    <a:lumMod val="75000"/>
                  </a:schemeClr>
                </a:solidFill>
              </a:rPr>
              <a:t>SDL)</a:t>
            </a:r>
            <a:r>
              <a:rPr lang="zh-CN" altLang="en-US" dirty="0">
                <a:solidFill>
                  <a:schemeClr val="accent5">
                    <a:lumMod val="75000"/>
                  </a:schemeClr>
                </a:solidFill>
              </a:rPr>
              <a:t>结合起来</a:t>
            </a:r>
            <a:r>
              <a:rPr lang="en-US" altLang="zh-CN" dirty="0">
                <a:solidFill>
                  <a:schemeClr val="accent5">
                    <a:lumMod val="75000"/>
                  </a:schemeClr>
                </a:solidFill>
              </a:rPr>
              <a:t>,</a:t>
            </a:r>
            <a:r>
              <a:rPr lang="zh-CN" altLang="en-US" dirty="0">
                <a:solidFill>
                  <a:schemeClr val="accent5">
                    <a:lumMod val="75000"/>
                  </a:schemeClr>
                </a:solidFill>
              </a:rPr>
              <a:t> 在软件开发的各个阶段进行误用模式、异常场景、风险分析以及渗透测试等</a:t>
            </a:r>
            <a:r>
              <a:rPr lang="en-US" altLang="zh-CN" dirty="0">
                <a:solidFill>
                  <a:schemeClr val="accent5">
                    <a:lumMod val="75000"/>
                  </a:schemeClr>
                </a:solidFill>
              </a:rPr>
              <a:t>, </a:t>
            </a:r>
            <a:r>
              <a:rPr lang="zh-CN" altLang="en-US" dirty="0">
                <a:solidFill>
                  <a:schemeClr val="accent5">
                    <a:lumMod val="75000"/>
                  </a:schemeClr>
                </a:solidFill>
              </a:rPr>
              <a:t>尽早地发现高风险的安全漏洞</a:t>
            </a:r>
          </a:p>
        </p:txBody>
      </p:sp>
      <p:pic>
        <p:nvPicPr>
          <p:cNvPr id="7" name="图片 6" descr="屏幕快照 2014-04-08 上午10.47.30.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912" y="2235655"/>
            <a:ext cx="8001199" cy="2149396"/>
          </a:xfrm>
          <a:prstGeom prst="rect">
            <a:avLst/>
          </a:prstGeom>
        </p:spPr>
      </p:pic>
    </p:spTree>
    <p:extLst>
      <p:ext uri="{BB962C8B-B14F-4D97-AF65-F5344CB8AC3E}">
        <p14:creationId xmlns:p14="http://schemas.microsoft.com/office/powerpoint/2010/main" val="370074628"/>
      </p:ext>
    </p:extLst>
  </p:cSld>
  <p:clrMapOvr>
    <a:masterClrMapping/>
  </p:clrMapOvr>
  <p:transition spd="slow">
    <p:wipe dir="r"/>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1E323-2B88-B84E-9113-24799F45C29F}"/>
              </a:ext>
            </a:extLst>
          </p:cNvPr>
          <p:cNvSpPr>
            <a:spLocks noGrp="1"/>
          </p:cNvSpPr>
          <p:nvPr>
            <p:ph type="title"/>
          </p:nvPr>
        </p:nvSpPr>
        <p:spPr>
          <a:xfrm>
            <a:off x="580523" y="387085"/>
            <a:ext cx="6215062" cy="421482"/>
          </a:xfrm>
        </p:spPr>
        <p:txBody>
          <a:bodyPr>
            <a:noAutofit/>
          </a:bodyPr>
          <a:lstStyle/>
          <a:p>
            <a:pPr algn="l">
              <a:buClr>
                <a:schemeClr val="accent4"/>
              </a:buClr>
            </a:pPr>
            <a:r>
              <a:rPr kumimoji="1" lang="zh-CN" altLang="en-US" sz="2800" b="1" dirty="0">
                <a:solidFill>
                  <a:srgbClr val="0070C0"/>
                </a:solidFill>
                <a:latin typeface="Microsoft YaHei" panose="020B0503020204020204" pitchFamily="34" charset="-122"/>
                <a:ea typeface="Microsoft YaHei" panose="020B0503020204020204" pitchFamily="34" charset="-122"/>
              </a:rPr>
              <a:t>体系结构风险分析</a:t>
            </a:r>
          </a:p>
        </p:txBody>
      </p:sp>
      <p:sp>
        <p:nvSpPr>
          <p:cNvPr id="111619" name="灯片编号占位符 3">
            <a:extLst>
              <a:ext uri="{FF2B5EF4-FFF2-40B4-BE49-F238E27FC236}">
                <a16:creationId xmlns:a16="http://schemas.microsoft.com/office/drawing/2014/main" id="{C7D585A2-7CC3-9B47-8B54-D6FB4A795FB2}"/>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557190" indent="-214304" eaLnBrk="0" hangingPunct="0">
              <a:defRPr i="1">
                <a:solidFill>
                  <a:schemeClr val="tx1"/>
                </a:solidFill>
                <a:latin typeface="Arial" panose="020B0604020202020204" pitchFamily="34" charset="0"/>
                <a:ea typeface="宋体" panose="02010600030101010101" pitchFamily="2" charset="-122"/>
              </a:defRPr>
            </a:lvl2pPr>
            <a:lvl3pPr marL="857216" indent="-171443" eaLnBrk="0" hangingPunct="0">
              <a:defRPr i="1">
                <a:solidFill>
                  <a:schemeClr val="tx1"/>
                </a:solidFill>
                <a:latin typeface="Arial" panose="020B0604020202020204" pitchFamily="34" charset="0"/>
                <a:ea typeface="宋体" panose="02010600030101010101" pitchFamily="2" charset="-122"/>
              </a:defRPr>
            </a:lvl3pPr>
            <a:lvl4pPr marL="1200102" indent="-171443" eaLnBrk="0" hangingPunct="0">
              <a:defRPr i="1">
                <a:solidFill>
                  <a:schemeClr val="tx1"/>
                </a:solidFill>
                <a:latin typeface="Arial" panose="020B0604020202020204" pitchFamily="34" charset="0"/>
                <a:ea typeface="宋体" panose="02010600030101010101" pitchFamily="2" charset="-122"/>
              </a:defRPr>
            </a:lvl4pPr>
            <a:lvl5pPr marL="1542988" indent="-171443" eaLnBrk="0" hangingPunct="0">
              <a:defRPr i="1">
                <a:solidFill>
                  <a:schemeClr val="tx1"/>
                </a:solidFill>
                <a:latin typeface="Arial" panose="020B0604020202020204" pitchFamily="34" charset="0"/>
                <a:ea typeface="宋体" panose="02010600030101010101" pitchFamily="2" charset="-122"/>
              </a:defRPr>
            </a:lvl5pPr>
            <a:lvl6pPr marL="1885874"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228761"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2571647"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2914533"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fld id="{4468EB04-6199-FA42-9119-81D774C17155}" type="slidenum">
              <a:rPr lang="en-US" altLang="zh-CN"/>
              <a:pPr eaLnBrk="1" hangingPunct="1"/>
              <a:t>43</a:t>
            </a:fld>
            <a:endParaRPr lang="en-US" altLang="zh-CN"/>
          </a:p>
        </p:txBody>
      </p:sp>
      <p:sp>
        <p:nvSpPr>
          <p:cNvPr id="3" name="矩形 2">
            <a:extLst>
              <a:ext uri="{FF2B5EF4-FFF2-40B4-BE49-F238E27FC236}">
                <a16:creationId xmlns:a16="http://schemas.microsoft.com/office/drawing/2014/main" id="{AFAC04B7-1961-2543-84CE-D5BD96BC8552}"/>
              </a:ext>
            </a:extLst>
          </p:cNvPr>
          <p:cNvSpPr/>
          <p:nvPr/>
        </p:nvSpPr>
        <p:spPr>
          <a:xfrm>
            <a:off x="619631" y="1066612"/>
            <a:ext cx="7904737" cy="3344890"/>
          </a:xfrm>
          <a:prstGeom prst="rect">
            <a:avLst/>
          </a:prstGeom>
        </p:spPr>
        <p:txBody>
          <a:bodyPr wrap="square">
            <a:spAutoFit/>
          </a:bodyPr>
          <a:lstStyle>
            <a:lvl1pPr marL="342900" indent="-342900" eaLnBrk="0" hangingPunct="0">
              <a:tabLst>
                <a:tab pos="228600" algn="l"/>
              </a:tabLst>
              <a:defRPr i="1">
                <a:solidFill>
                  <a:schemeClr val="tx1"/>
                </a:solidFill>
                <a:latin typeface="Arial" panose="020B0604020202020204" pitchFamily="34" charset="0"/>
                <a:ea typeface="宋体" panose="02010600030101010101" pitchFamily="2" charset="-122"/>
              </a:defRPr>
            </a:lvl1pPr>
            <a:lvl2pPr marL="355600" indent="-355600" eaLnBrk="0" hangingPunct="0">
              <a:tabLst>
                <a:tab pos="228600" algn="l"/>
              </a:tabLst>
              <a:defRPr i="1">
                <a:solidFill>
                  <a:schemeClr val="tx1"/>
                </a:solidFill>
                <a:latin typeface="Arial" panose="020B0604020202020204" pitchFamily="34" charset="0"/>
                <a:ea typeface="宋体" panose="02010600030101010101" pitchFamily="2" charset="-122"/>
              </a:defRPr>
            </a:lvl2pPr>
            <a:lvl3pPr marL="1143000" indent="-228600" eaLnBrk="0" hangingPunct="0">
              <a:tabLst>
                <a:tab pos="228600" algn="l"/>
              </a:tabLst>
              <a:defRPr i="1">
                <a:solidFill>
                  <a:schemeClr val="tx1"/>
                </a:solidFill>
                <a:latin typeface="Arial" panose="020B0604020202020204" pitchFamily="34" charset="0"/>
                <a:ea typeface="宋体" panose="02010600030101010101" pitchFamily="2" charset="-122"/>
              </a:defRPr>
            </a:lvl3pPr>
            <a:lvl4pPr marL="1600200" indent="-228600" eaLnBrk="0" hangingPunct="0">
              <a:tabLst>
                <a:tab pos="228600" algn="l"/>
              </a:tabLst>
              <a:defRPr i="1">
                <a:solidFill>
                  <a:schemeClr val="tx1"/>
                </a:solidFill>
                <a:latin typeface="Arial" panose="020B0604020202020204" pitchFamily="34" charset="0"/>
                <a:ea typeface="宋体" panose="02010600030101010101" pitchFamily="2" charset="-122"/>
              </a:defRPr>
            </a:lvl4pPr>
            <a:lvl5pPr marL="2057400" indent="-228600" eaLnBrk="0" hangingPunct="0">
              <a:tabLst>
                <a:tab pos="228600" algn="l"/>
              </a:tabLst>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228600" algn="l"/>
              </a:tabLs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228600" algn="l"/>
              </a:tabLs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228600" algn="l"/>
              </a:tabLs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228600" algn="l"/>
              </a:tabLst>
              <a:defRPr i="1">
                <a:solidFill>
                  <a:schemeClr val="tx1"/>
                </a:solidFill>
                <a:latin typeface="Arial" panose="020B0604020202020204" pitchFamily="34" charset="0"/>
                <a:ea typeface="宋体" panose="02010600030101010101" pitchFamily="2" charset="-122"/>
              </a:defRPr>
            </a:lvl9pPr>
          </a:lstStyle>
          <a:p>
            <a:pPr lvl="1" eaLnBrk="1" hangingPunct="1">
              <a:lnSpc>
                <a:spcPct val="130000"/>
              </a:lnSpc>
              <a:spcBef>
                <a:spcPts val="197"/>
              </a:spcBef>
              <a:buClr>
                <a:srgbClr val="91AC4E"/>
              </a:buClr>
              <a:buSzPct val="80000"/>
              <a:buFont typeface="Wingdings" pitchFamily="2" charset="2"/>
              <a:buChar char="p"/>
            </a:pPr>
            <a:r>
              <a:rPr lang="zh-CN" altLang="en-US" sz="2000" b="1" i="0" dirty="0">
                <a:solidFill>
                  <a:srgbClr val="00B0F0"/>
                </a:solidFill>
                <a:latin typeface="Yuanti SC" panose="02010600040101010101" pitchFamily="2" charset="-122"/>
                <a:ea typeface="Yuanti SC" panose="02010600040101010101" pitchFamily="2" charset="-122"/>
              </a:rPr>
              <a:t>工件</a:t>
            </a:r>
            <a:r>
              <a:rPr lang="zh-CN" altLang="en-US" sz="2000" i="0" dirty="0">
                <a:latin typeface="Yuanti SC" panose="02010600040101010101" pitchFamily="2" charset="-122"/>
                <a:ea typeface="Yuanti SC" panose="02010600040101010101" pitchFamily="2" charset="-122"/>
              </a:rPr>
              <a:t>：设计和说明书</a:t>
            </a:r>
          </a:p>
          <a:p>
            <a:pPr lvl="1" eaLnBrk="1" hangingPunct="1">
              <a:lnSpc>
                <a:spcPct val="130000"/>
              </a:lnSpc>
              <a:spcBef>
                <a:spcPts val="197"/>
              </a:spcBef>
              <a:buClr>
                <a:srgbClr val="91AC4E"/>
              </a:buClr>
              <a:buSzPct val="80000"/>
              <a:buFont typeface="Wingdings" pitchFamily="2" charset="2"/>
              <a:buChar char="p"/>
            </a:pPr>
            <a:r>
              <a:rPr lang="zh-CN" altLang="en-US" sz="2000" b="1" i="0" dirty="0">
                <a:solidFill>
                  <a:srgbClr val="00B0F0"/>
                </a:solidFill>
                <a:latin typeface="Yuanti SC" panose="02010600040101010101" pitchFamily="2" charset="-122"/>
                <a:ea typeface="Yuanti SC" panose="02010600040101010101" pitchFamily="2" charset="-122"/>
              </a:rPr>
              <a:t>发现风险的例子</a:t>
            </a:r>
            <a:r>
              <a:rPr lang="zh-CN" altLang="en-US" sz="2000" i="0" dirty="0">
                <a:latin typeface="Yuanti SC" panose="02010600040101010101" pitchFamily="2" charset="-122"/>
                <a:ea typeface="Yuanti SC" panose="02010600040101010101" pitchFamily="2" charset="-122"/>
              </a:rPr>
              <a:t>：对关键数据的区分和保护很糟糕；</a:t>
            </a:r>
            <a:r>
              <a:rPr lang="en-US" altLang="zh-CN" sz="2000" i="0" dirty="0">
                <a:latin typeface="Yuanti SC" panose="02010600040101010101" pitchFamily="2" charset="-122"/>
                <a:ea typeface="Yuanti SC" panose="02010600040101010101" pitchFamily="2" charset="-122"/>
              </a:rPr>
              <a:t>Web</a:t>
            </a:r>
            <a:r>
              <a:rPr lang="zh-CN" altLang="en-US" sz="2000" i="0" dirty="0">
                <a:latin typeface="Yuanti SC" panose="02010600040101010101" pitchFamily="2" charset="-122"/>
                <a:ea typeface="Yuanti SC" panose="02010600040101010101" pitchFamily="2" charset="-122"/>
              </a:rPr>
              <a:t>服务未能验证调用代码及其用户</a:t>
            </a:r>
          </a:p>
          <a:p>
            <a:pPr lvl="1" eaLnBrk="1" hangingPunct="1">
              <a:lnSpc>
                <a:spcPct val="130000"/>
              </a:lnSpc>
              <a:spcBef>
                <a:spcPts val="197"/>
              </a:spcBef>
              <a:buClr>
                <a:srgbClr val="91AC4E"/>
              </a:buClr>
              <a:buSzPct val="80000"/>
              <a:buFont typeface="Wingdings" pitchFamily="2" charset="2"/>
              <a:buChar char="p"/>
            </a:pPr>
            <a:r>
              <a:rPr lang="zh-CN" altLang="en-US" sz="2000" b="1" i="0" dirty="0">
                <a:solidFill>
                  <a:srgbClr val="00B0F0"/>
                </a:solidFill>
                <a:latin typeface="Yuanti SC" panose="02010600040101010101" pitchFamily="2" charset="-122"/>
                <a:ea typeface="Yuanti SC" panose="02010600040101010101" pitchFamily="2" charset="-122"/>
              </a:rPr>
              <a:t>系统体系</a:t>
            </a:r>
            <a:r>
              <a:rPr lang="zh-CN" altLang="en-US" sz="2000" i="0" dirty="0">
                <a:latin typeface="Yuanti SC" panose="02010600040101010101" pitchFamily="2" charset="-122"/>
                <a:ea typeface="Yuanti SC" panose="02010600040101010101" pitchFamily="2" charset="-122"/>
              </a:rPr>
              <a:t>必须连贯一致，并提供统一的安全防线，应用文档清晰地记录各种前提假设，并确定可能的攻击。</a:t>
            </a:r>
          </a:p>
          <a:p>
            <a:pPr lvl="1" eaLnBrk="1" hangingPunct="1">
              <a:lnSpc>
                <a:spcPct val="130000"/>
              </a:lnSpc>
              <a:spcBef>
                <a:spcPts val="197"/>
              </a:spcBef>
              <a:buClr>
                <a:srgbClr val="91AC4E"/>
              </a:buClr>
              <a:buSzPct val="80000"/>
              <a:buFont typeface="Wingdings" pitchFamily="2" charset="2"/>
              <a:buChar char="p"/>
            </a:pPr>
            <a:r>
              <a:rPr lang="zh-CN" altLang="en-US" sz="2000" b="1" i="0" dirty="0">
                <a:solidFill>
                  <a:srgbClr val="00B0F0"/>
                </a:solidFill>
                <a:latin typeface="Yuanti SC" panose="02010600040101010101" pitchFamily="2" charset="-122"/>
                <a:ea typeface="Yuanti SC" panose="02010600040101010101" pitchFamily="2" charset="-122"/>
              </a:rPr>
              <a:t>体系结构风险分析</a:t>
            </a:r>
            <a:r>
              <a:rPr lang="zh-CN" altLang="en-US" sz="2000" i="0" dirty="0">
                <a:latin typeface="Yuanti SC" panose="02010600040101010101" pitchFamily="2" charset="-122"/>
                <a:ea typeface="Yuanti SC" panose="02010600040101010101" pitchFamily="2" charset="-122"/>
              </a:rPr>
              <a:t>都是必需的，以揭示体系结构瑕疵，并进行评估、降低风险，否则后果严重。在软件生命周期的各个阶段都可能出现风险，因此，应采用持续的风险管理方法，并不断地监控风险</a:t>
            </a:r>
          </a:p>
        </p:txBody>
      </p:sp>
    </p:spTree>
    <p:extLst>
      <p:ext uri="{BB962C8B-B14F-4D97-AF65-F5344CB8AC3E}">
        <p14:creationId xmlns:p14="http://schemas.microsoft.com/office/powerpoint/2010/main" val="1116578536"/>
      </p:ext>
    </p:extLst>
  </p:cSld>
  <p:clrMapOvr>
    <a:masterClrMapping/>
  </p:clrMapOvr>
  <p:transition spd="slow">
    <p:wipe dir="r"/>
  </p:transition>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C03D78-EDB9-A644-95C3-CCBF3C957E4F}"/>
              </a:ext>
            </a:extLst>
          </p:cNvPr>
          <p:cNvSpPr>
            <a:spLocks noGrp="1"/>
          </p:cNvSpPr>
          <p:nvPr>
            <p:ph type="title"/>
          </p:nvPr>
        </p:nvSpPr>
        <p:spPr>
          <a:xfrm>
            <a:off x="542023" y="385245"/>
            <a:ext cx="6215062" cy="421482"/>
          </a:xfrm>
        </p:spPr>
        <p:txBody>
          <a:bodyPr>
            <a:noAutofit/>
          </a:bodyPr>
          <a:lstStyle/>
          <a:p>
            <a:pPr algn="l">
              <a:buClr>
                <a:schemeClr val="accent4"/>
              </a:buClr>
              <a:defRPr/>
            </a:pPr>
            <a:r>
              <a:rPr kumimoji="1" lang="zh-CN" altLang="en-US" sz="2800" b="1" dirty="0">
                <a:solidFill>
                  <a:srgbClr val="0070C0"/>
                </a:solidFill>
                <a:latin typeface="Microsoft YaHei" panose="020B0503020204020204" pitchFamily="34" charset="-122"/>
                <a:ea typeface="Microsoft YaHei" panose="020B0503020204020204" pitchFamily="34" charset="-122"/>
              </a:rPr>
              <a:t>代码评审示例</a:t>
            </a:r>
          </a:p>
        </p:txBody>
      </p:sp>
      <p:sp>
        <p:nvSpPr>
          <p:cNvPr id="109571" name="灯片编号占位符 3">
            <a:extLst>
              <a:ext uri="{FF2B5EF4-FFF2-40B4-BE49-F238E27FC236}">
                <a16:creationId xmlns:a16="http://schemas.microsoft.com/office/drawing/2014/main" id="{B9D5084C-3A3D-7E43-BBA3-2C25360C158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557190" indent="-214304" eaLnBrk="0" hangingPunct="0">
              <a:defRPr i="1">
                <a:solidFill>
                  <a:schemeClr val="tx1"/>
                </a:solidFill>
                <a:latin typeface="Arial" panose="020B0604020202020204" pitchFamily="34" charset="0"/>
                <a:ea typeface="宋体" panose="02010600030101010101" pitchFamily="2" charset="-122"/>
              </a:defRPr>
            </a:lvl2pPr>
            <a:lvl3pPr marL="857216" indent="-171443" eaLnBrk="0" hangingPunct="0">
              <a:defRPr i="1">
                <a:solidFill>
                  <a:schemeClr val="tx1"/>
                </a:solidFill>
                <a:latin typeface="Arial" panose="020B0604020202020204" pitchFamily="34" charset="0"/>
                <a:ea typeface="宋体" panose="02010600030101010101" pitchFamily="2" charset="-122"/>
              </a:defRPr>
            </a:lvl3pPr>
            <a:lvl4pPr marL="1200102" indent="-171443" eaLnBrk="0" hangingPunct="0">
              <a:defRPr i="1">
                <a:solidFill>
                  <a:schemeClr val="tx1"/>
                </a:solidFill>
                <a:latin typeface="Arial" panose="020B0604020202020204" pitchFamily="34" charset="0"/>
                <a:ea typeface="宋体" panose="02010600030101010101" pitchFamily="2" charset="-122"/>
              </a:defRPr>
            </a:lvl4pPr>
            <a:lvl5pPr marL="1542988" indent="-171443" eaLnBrk="0" hangingPunct="0">
              <a:defRPr i="1">
                <a:solidFill>
                  <a:schemeClr val="tx1"/>
                </a:solidFill>
                <a:latin typeface="Arial" panose="020B0604020202020204" pitchFamily="34" charset="0"/>
                <a:ea typeface="宋体" panose="02010600030101010101" pitchFamily="2" charset="-122"/>
              </a:defRPr>
            </a:lvl5pPr>
            <a:lvl6pPr marL="1885874"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228761"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2571647"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2914533"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fld id="{85BFF416-607B-DB43-ACCB-F3AE0C6537C5}" type="slidenum">
              <a:rPr lang="en-US" altLang="zh-CN"/>
              <a:pPr eaLnBrk="1" hangingPunct="1"/>
              <a:t>44</a:t>
            </a:fld>
            <a:endParaRPr lang="en-US" altLang="zh-CN"/>
          </a:p>
        </p:txBody>
      </p:sp>
      <p:pic>
        <p:nvPicPr>
          <p:cNvPr id="109572" name="图片 5" descr="code review.png">
            <a:extLst>
              <a:ext uri="{FF2B5EF4-FFF2-40B4-BE49-F238E27FC236}">
                <a16:creationId xmlns:a16="http://schemas.microsoft.com/office/drawing/2014/main" id="{9C41F36D-7295-784A-95C7-C57481AFDB3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25242" y="1221582"/>
            <a:ext cx="5617369" cy="3402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3" name="圆角矩形 6">
            <a:extLst>
              <a:ext uri="{FF2B5EF4-FFF2-40B4-BE49-F238E27FC236}">
                <a16:creationId xmlns:a16="http://schemas.microsoft.com/office/drawing/2014/main" id="{93404BDE-00B2-1849-B5ED-C5B980A62130}"/>
              </a:ext>
            </a:extLst>
          </p:cNvPr>
          <p:cNvSpPr>
            <a:spLocks noChangeArrowheads="1"/>
          </p:cNvSpPr>
          <p:nvPr/>
        </p:nvSpPr>
        <p:spPr bwMode="gray">
          <a:xfrm>
            <a:off x="1871663" y="1221582"/>
            <a:ext cx="5724525" cy="1458516"/>
          </a:xfrm>
          <a:prstGeom prst="roundRect">
            <a:avLst>
              <a:gd name="adj" fmla="val 16667"/>
            </a:avLst>
          </a:prstGeom>
          <a:solidFill>
            <a:srgbClr val="FF66CC">
              <a:alpha val="23137"/>
            </a:srgbClr>
          </a:solidFill>
          <a:ln w="15875" algn="ctr">
            <a:solidFill>
              <a:srgbClr val="C00000"/>
            </a:solidFill>
            <a:prstDash val="dash"/>
            <a:miter lim="800000"/>
            <a:headEnd/>
            <a:tailEnd/>
          </a:ln>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20"/>
          </a:p>
        </p:txBody>
      </p:sp>
      <p:sp>
        <p:nvSpPr>
          <p:cNvPr id="109574" name="圆角矩形 7">
            <a:extLst>
              <a:ext uri="{FF2B5EF4-FFF2-40B4-BE49-F238E27FC236}">
                <a16:creationId xmlns:a16="http://schemas.microsoft.com/office/drawing/2014/main" id="{04BC951A-C0BB-A445-9AD0-9F80E3302A9F}"/>
              </a:ext>
            </a:extLst>
          </p:cNvPr>
          <p:cNvSpPr>
            <a:spLocks noChangeArrowheads="1"/>
          </p:cNvSpPr>
          <p:nvPr/>
        </p:nvSpPr>
        <p:spPr bwMode="gray">
          <a:xfrm>
            <a:off x="1818086" y="2895600"/>
            <a:ext cx="5669756" cy="1620441"/>
          </a:xfrm>
          <a:prstGeom prst="roundRect">
            <a:avLst>
              <a:gd name="adj" fmla="val 16667"/>
            </a:avLst>
          </a:prstGeom>
          <a:solidFill>
            <a:srgbClr val="92D050">
              <a:alpha val="23137"/>
            </a:srgbClr>
          </a:solidFill>
          <a:ln w="15875" algn="ctr">
            <a:solidFill>
              <a:srgbClr val="C00000"/>
            </a:solidFill>
            <a:prstDash val="dash"/>
            <a:miter lim="800000"/>
            <a:headEnd/>
            <a:tailEnd/>
          </a:ln>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20"/>
          </a:p>
        </p:txBody>
      </p:sp>
      <p:sp>
        <p:nvSpPr>
          <p:cNvPr id="109575" name="左弧形箭头 8">
            <a:extLst>
              <a:ext uri="{FF2B5EF4-FFF2-40B4-BE49-F238E27FC236}">
                <a16:creationId xmlns:a16="http://schemas.microsoft.com/office/drawing/2014/main" id="{080E8FED-D409-964A-A8D0-902D35DB76D7}"/>
              </a:ext>
            </a:extLst>
          </p:cNvPr>
          <p:cNvSpPr>
            <a:spLocks noChangeArrowheads="1"/>
          </p:cNvSpPr>
          <p:nvPr/>
        </p:nvSpPr>
        <p:spPr bwMode="gray">
          <a:xfrm>
            <a:off x="1277542" y="2139554"/>
            <a:ext cx="540544" cy="1403746"/>
          </a:xfrm>
          <a:prstGeom prst="curvedRightArrow">
            <a:avLst>
              <a:gd name="adj1" fmla="val 24959"/>
              <a:gd name="adj2" fmla="val 49943"/>
              <a:gd name="adj3" fmla="val 25000"/>
            </a:avLst>
          </a:prstGeom>
          <a:gradFill rotWithShape="0">
            <a:gsLst>
              <a:gs pos="0">
                <a:srgbClr val="FFEFD1"/>
              </a:gs>
              <a:gs pos="64999">
                <a:srgbClr val="F0EBD5"/>
              </a:gs>
              <a:gs pos="100000">
                <a:srgbClr val="D1C39F"/>
              </a:gs>
            </a:gsLst>
            <a:lin ang="5400000"/>
          </a:gradFill>
          <a:ln w="12700" algn="ctr">
            <a:solidFill>
              <a:srgbClr val="333333"/>
            </a:solidFill>
            <a:miter lim="800000"/>
            <a:headEnd/>
            <a:tailEnd/>
          </a:ln>
        </p:spPr>
        <p:txBody>
          <a:bodyPr wrap="none" anchor="ctr"/>
          <a:lstStyle>
            <a:lvl1pPr eaLnBrk="0" hangingPunct="0">
              <a:defRPr i="1">
                <a:solidFill>
                  <a:schemeClr val="tx1"/>
                </a:solidFill>
                <a:latin typeface="Arial" panose="020B0604020202020204" pitchFamily="34" charset="0"/>
                <a:ea typeface="宋体" panose="02010600030101010101" pitchFamily="2" charset="-122"/>
              </a:defRPr>
            </a:lvl1pPr>
            <a:lvl2pPr marL="742950" indent="-285750" eaLnBrk="0" hangingPunct="0">
              <a:defRPr i="1">
                <a:solidFill>
                  <a:schemeClr val="tx1"/>
                </a:solidFill>
                <a:latin typeface="Arial" panose="020B0604020202020204" pitchFamily="34" charset="0"/>
                <a:ea typeface="宋体" panose="02010600030101010101" pitchFamily="2" charset="-122"/>
              </a:defRPr>
            </a:lvl2pPr>
            <a:lvl3pPr marL="1143000" indent="-228600" eaLnBrk="0" hangingPunct="0">
              <a:defRPr i="1">
                <a:solidFill>
                  <a:schemeClr val="tx1"/>
                </a:solidFill>
                <a:latin typeface="Arial" panose="020B0604020202020204" pitchFamily="34" charset="0"/>
                <a:ea typeface="宋体" panose="02010600030101010101" pitchFamily="2" charset="-122"/>
              </a:defRPr>
            </a:lvl3pPr>
            <a:lvl4pPr marL="1600200" indent="-228600" eaLnBrk="0" hangingPunct="0">
              <a:defRPr i="1">
                <a:solidFill>
                  <a:schemeClr val="tx1"/>
                </a:solidFill>
                <a:latin typeface="Arial" panose="020B0604020202020204" pitchFamily="34" charset="0"/>
                <a:ea typeface="宋体" panose="02010600030101010101" pitchFamily="2" charset="-122"/>
              </a:defRPr>
            </a:lvl4pPr>
            <a:lvl5pPr marL="2057400" indent="-228600" eaLnBrk="0" hangingPunct="0">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1620"/>
          </a:p>
        </p:txBody>
      </p:sp>
    </p:spTree>
    <p:extLst>
      <p:ext uri="{BB962C8B-B14F-4D97-AF65-F5344CB8AC3E}">
        <p14:creationId xmlns:p14="http://schemas.microsoft.com/office/powerpoint/2010/main" val="1484920116"/>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137918-D50B-1547-8C91-A1FF752EF28F}"/>
              </a:ext>
            </a:extLst>
          </p:cNvPr>
          <p:cNvSpPr>
            <a:spLocks noGrp="1"/>
          </p:cNvSpPr>
          <p:nvPr>
            <p:ph type="title"/>
          </p:nvPr>
        </p:nvSpPr>
        <p:spPr/>
        <p:txBody>
          <a:bodyPr>
            <a:noAutofit/>
          </a:bodyPr>
          <a:lstStyle/>
          <a:p>
            <a:pPr algn="l">
              <a:buClr>
                <a:schemeClr val="accent4"/>
              </a:buClr>
            </a:pPr>
            <a:r>
              <a:rPr kumimoji="1" lang="zh-CN" altLang="en-US" sz="2800" b="1" dirty="0">
                <a:solidFill>
                  <a:srgbClr val="0070C0"/>
                </a:solidFill>
                <a:latin typeface="Microsoft YaHei" panose="020B0503020204020204" pitchFamily="34" charset="-122"/>
                <a:ea typeface="Microsoft YaHei" panose="020B0503020204020204" pitchFamily="34" charset="-122"/>
              </a:rPr>
              <a:t>基于风险的安全测试</a:t>
            </a:r>
          </a:p>
        </p:txBody>
      </p:sp>
      <p:sp>
        <p:nvSpPr>
          <p:cNvPr id="113667" name="灯片编号占位符 3">
            <a:extLst>
              <a:ext uri="{FF2B5EF4-FFF2-40B4-BE49-F238E27FC236}">
                <a16:creationId xmlns:a16="http://schemas.microsoft.com/office/drawing/2014/main" id="{1FFFB810-31C9-364F-BB28-592D7CF992F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panose="020B0604020202020204" pitchFamily="34" charset="0"/>
                <a:ea typeface="宋体" panose="02010600030101010101" pitchFamily="2" charset="-122"/>
              </a:defRPr>
            </a:lvl1pPr>
            <a:lvl2pPr marL="557190" indent="-214304" eaLnBrk="0" hangingPunct="0">
              <a:defRPr i="1">
                <a:solidFill>
                  <a:schemeClr val="tx1"/>
                </a:solidFill>
                <a:latin typeface="Arial" panose="020B0604020202020204" pitchFamily="34" charset="0"/>
                <a:ea typeface="宋体" panose="02010600030101010101" pitchFamily="2" charset="-122"/>
              </a:defRPr>
            </a:lvl2pPr>
            <a:lvl3pPr marL="857216" indent="-171443" eaLnBrk="0" hangingPunct="0">
              <a:defRPr i="1">
                <a:solidFill>
                  <a:schemeClr val="tx1"/>
                </a:solidFill>
                <a:latin typeface="Arial" panose="020B0604020202020204" pitchFamily="34" charset="0"/>
                <a:ea typeface="宋体" panose="02010600030101010101" pitchFamily="2" charset="-122"/>
              </a:defRPr>
            </a:lvl3pPr>
            <a:lvl4pPr marL="1200102" indent="-171443" eaLnBrk="0" hangingPunct="0">
              <a:defRPr i="1">
                <a:solidFill>
                  <a:schemeClr val="tx1"/>
                </a:solidFill>
                <a:latin typeface="Arial" panose="020B0604020202020204" pitchFamily="34" charset="0"/>
                <a:ea typeface="宋体" panose="02010600030101010101" pitchFamily="2" charset="-122"/>
              </a:defRPr>
            </a:lvl4pPr>
            <a:lvl5pPr marL="1542988" indent="-171443" eaLnBrk="0" hangingPunct="0">
              <a:defRPr i="1">
                <a:solidFill>
                  <a:schemeClr val="tx1"/>
                </a:solidFill>
                <a:latin typeface="Arial" panose="020B0604020202020204" pitchFamily="34" charset="0"/>
                <a:ea typeface="宋体" panose="02010600030101010101" pitchFamily="2" charset="-122"/>
              </a:defRPr>
            </a:lvl5pPr>
            <a:lvl6pPr marL="1885874"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6pPr>
            <a:lvl7pPr marL="2228761"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7pPr>
            <a:lvl8pPr marL="2571647"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8pPr>
            <a:lvl9pPr marL="2914533" indent="-171443" eaLnBrk="0" fontAlgn="base" hangingPunct="0">
              <a:spcBef>
                <a:spcPct val="0"/>
              </a:spcBef>
              <a:spcAft>
                <a:spcPct val="0"/>
              </a:spcAft>
              <a:defRPr i="1">
                <a:solidFill>
                  <a:schemeClr val="tx1"/>
                </a:solidFill>
                <a:latin typeface="Arial" panose="020B0604020202020204" pitchFamily="34" charset="0"/>
                <a:ea typeface="宋体" panose="02010600030101010101" pitchFamily="2" charset="-122"/>
              </a:defRPr>
            </a:lvl9pPr>
          </a:lstStyle>
          <a:p>
            <a:pPr eaLnBrk="1" hangingPunct="1"/>
            <a:fld id="{B5362624-EC1C-D543-A489-1A8B4191E3B5}" type="slidenum">
              <a:rPr lang="en-US" altLang="zh-CN"/>
              <a:pPr eaLnBrk="1" hangingPunct="1"/>
              <a:t>45</a:t>
            </a:fld>
            <a:endParaRPr lang="en-US" altLang="zh-CN"/>
          </a:p>
        </p:txBody>
      </p:sp>
      <p:sp>
        <p:nvSpPr>
          <p:cNvPr id="3" name="矩形 2">
            <a:extLst>
              <a:ext uri="{FF2B5EF4-FFF2-40B4-BE49-F238E27FC236}">
                <a16:creationId xmlns:a16="http://schemas.microsoft.com/office/drawing/2014/main" id="{F13B241E-4365-4340-AE7F-0F169ACAED11}"/>
              </a:ext>
            </a:extLst>
          </p:cNvPr>
          <p:cNvSpPr/>
          <p:nvPr/>
        </p:nvSpPr>
        <p:spPr>
          <a:xfrm>
            <a:off x="628650" y="1250779"/>
            <a:ext cx="8061311" cy="2641942"/>
          </a:xfrm>
          <a:prstGeom prst="rect">
            <a:avLst/>
          </a:prstGeom>
        </p:spPr>
        <p:txBody>
          <a:bodyPr wrap="square">
            <a:spAutoFit/>
          </a:bodyPr>
          <a:lstStyle>
            <a:lvl1pPr marL="342900" indent="-342900" eaLnBrk="0" hangingPunct="0">
              <a:tabLst>
                <a:tab pos="228600" algn="l"/>
              </a:tabLst>
              <a:defRPr i="1">
                <a:solidFill>
                  <a:schemeClr val="tx1"/>
                </a:solidFill>
                <a:latin typeface="Arial" panose="020B0604020202020204" pitchFamily="34" charset="0"/>
                <a:ea typeface="宋体" panose="02010600030101010101" pitchFamily="2" charset="-122"/>
              </a:defRPr>
            </a:lvl1pPr>
            <a:lvl2pPr marL="355600" indent="-355600" eaLnBrk="0" hangingPunct="0">
              <a:tabLst>
                <a:tab pos="228600" algn="l"/>
              </a:tabLst>
              <a:defRPr i="1">
                <a:solidFill>
                  <a:schemeClr val="tx1"/>
                </a:solidFill>
                <a:latin typeface="Arial" panose="020B0604020202020204" pitchFamily="34" charset="0"/>
                <a:ea typeface="宋体" panose="02010600030101010101" pitchFamily="2" charset="-122"/>
              </a:defRPr>
            </a:lvl2pPr>
            <a:lvl3pPr marL="1143000" indent="-228600" eaLnBrk="0" hangingPunct="0">
              <a:tabLst>
                <a:tab pos="228600" algn="l"/>
              </a:tabLst>
              <a:defRPr i="1">
                <a:solidFill>
                  <a:schemeClr val="tx1"/>
                </a:solidFill>
                <a:latin typeface="Arial" panose="020B0604020202020204" pitchFamily="34" charset="0"/>
                <a:ea typeface="宋体" panose="02010600030101010101" pitchFamily="2" charset="-122"/>
              </a:defRPr>
            </a:lvl3pPr>
            <a:lvl4pPr marL="1600200" indent="-228600" eaLnBrk="0" hangingPunct="0">
              <a:tabLst>
                <a:tab pos="228600" algn="l"/>
              </a:tabLst>
              <a:defRPr i="1">
                <a:solidFill>
                  <a:schemeClr val="tx1"/>
                </a:solidFill>
                <a:latin typeface="Arial" panose="020B0604020202020204" pitchFamily="34" charset="0"/>
                <a:ea typeface="宋体" panose="02010600030101010101" pitchFamily="2" charset="-122"/>
              </a:defRPr>
            </a:lvl4pPr>
            <a:lvl5pPr marL="2057400" indent="-228600" eaLnBrk="0" hangingPunct="0">
              <a:tabLst>
                <a:tab pos="228600" algn="l"/>
              </a:tabLst>
              <a:defRPr i="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tabLst>
                <a:tab pos="228600" algn="l"/>
              </a:tabLst>
              <a:defRPr i="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tabLst>
                <a:tab pos="228600" algn="l"/>
              </a:tabLst>
              <a:defRPr i="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tabLst>
                <a:tab pos="228600" algn="l"/>
              </a:tabLst>
              <a:defRPr i="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tabLst>
                <a:tab pos="228600" algn="l"/>
              </a:tabLst>
              <a:defRPr i="1">
                <a:solidFill>
                  <a:schemeClr val="tx1"/>
                </a:solidFill>
                <a:latin typeface="Arial" panose="020B0604020202020204" pitchFamily="34" charset="0"/>
                <a:ea typeface="宋体" panose="02010600030101010101" pitchFamily="2" charset="-122"/>
              </a:defRPr>
            </a:lvl9pPr>
          </a:lstStyle>
          <a:p>
            <a:pPr lvl="1" eaLnBrk="1" hangingPunct="1">
              <a:lnSpc>
                <a:spcPct val="130000"/>
              </a:lnSpc>
              <a:spcBef>
                <a:spcPts val="197"/>
              </a:spcBef>
              <a:buClr>
                <a:srgbClr val="91AC4E"/>
              </a:buClr>
              <a:buSzPct val="80000"/>
              <a:buFont typeface="Wingdings" pitchFamily="2" charset="2"/>
              <a:buChar char="p"/>
            </a:pPr>
            <a:r>
              <a:rPr lang="zh-CN" altLang="en-US" sz="2160" b="1" i="0" dirty="0">
                <a:solidFill>
                  <a:srgbClr val="00B0F0"/>
                </a:solidFill>
                <a:latin typeface="Yuanti SC" panose="02010600040101010101" pitchFamily="2" charset="-122"/>
                <a:ea typeface="Yuanti SC" panose="02010600040101010101" pitchFamily="2" charset="-122"/>
              </a:rPr>
              <a:t>工件</a:t>
            </a:r>
            <a:r>
              <a:rPr lang="zh-CN" altLang="en-US" sz="2160" i="0" dirty="0">
                <a:latin typeface="Yuanti SC" panose="02010600040101010101" pitchFamily="2" charset="-122"/>
                <a:ea typeface="Yuanti SC" panose="02010600040101010101" pitchFamily="2" charset="-122"/>
              </a:rPr>
              <a:t>：单元和系统</a:t>
            </a:r>
          </a:p>
          <a:p>
            <a:pPr lvl="1" eaLnBrk="1" hangingPunct="1">
              <a:lnSpc>
                <a:spcPct val="130000"/>
              </a:lnSpc>
              <a:spcBef>
                <a:spcPts val="197"/>
              </a:spcBef>
              <a:buClr>
                <a:srgbClr val="91AC4E"/>
              </a:buClr>
              <a:buSzPct val="80000"/>
              <a:buFont typeface="Wingdings" pitchFamily="2" charset="2"/>
              <a:buChar char="p"/>
            </a:pPr>
            <a:r>
              <a:rPr lang="zh-CN" altLang="en-US" sz="2160" b="1" i="0" dirty="0">
                <a:solidFill>
                  <a:srgbClr val="00B0F0"/>
                </a:solidFill>
                <a:latin typeface="Yuanti SC" panose="02010600040101010101" pitchFamily="2" charset="-122"/>
                <a:ea typeface="Yuanti SC" panose="02010600040101010101" pitchFamily="2" charset="-122"/>
              </a:rPr>
              <a:t>安全测试策略：</a:t>
            </a:r>
            <a:endParaRPr lang="en-US" altLang="zh-CN" sz="2160" b="1" i="0" dirty="0">
              <a:solidFill>
                <a:srgbClr val="00B0F0"/>
              </a:solidFill>
              <a:latin typeface="Yuanti SC" panose="02010600040101010101" pitchFamily="2" charset="-122"/>
              <a:ea typeface="Yuanti SC" panose="02010600040101010101" pitchFamily="2" charset="-122"/>
            </a:endParaRPr>
          </a:p>
          <a:p>
            <a:pPr marL="648653" lvl="1" eaLnBrk="1" hangingPunct="1">
              <a:lnSpc>
                <a:spcPct val="130000"/>
              </a:lnSpc>
              <a:spcBef>
                <a:spcPts val="197"/>
              </a:spcBef>
              <a:buClr>
                <a:srgbClr val="91AC4E"/>
              </a:buClr>
              <a:buSzPct val="80000"/>
              <a:buFont typeface="黑体" panose="02010609060101010101" pitchFamily="49" charset="-122"/>
              <a:buAutoNum type="circleNumDbPlain"/>
            </a:pPr>
            <a:r>
              <a:rPr lang="zh-CN" altLang="en-US" i="0" dirty="0">
                <a:latin typeface="Yuanti SC" panose="02010600040101010101" pitchFamily="2" charset="-122"/>
                <a:ea typeface="Yuanti SC" panose="02010600040101010101" pitchFamily="2" charset="-122"/>
              </a:rPr>
              <a:t>用标准功能测试技术来进行的安全功能性测试；</a:t>
            </a:r>
            <a:endParaRPr lang="en-US" altLang="zh-CN" i="0" dirty="0">
              <a:latin typeface="Yuanti SC" panose="02010600040101010101" pitchFamily="2" charset="-122"/>
              <a:ea typeface="Yuanti SC" panose="02010600040101010101" pitchFamily="2" charset="-122"/>
            </a:endParaRPr>
          </a:p>
          <a:p>
            <a:pPr marL="648653" lvl="1" eaLnBrk="1" hangingPunct="1">
              <a:lnSpc>
                <a:spcPct val="130000"/>
              </a:lnSpc>
              <a:spcBef>
                <a:spcPts val="197"/>
              </a:spcBef>
              <a:buClr>
                <a:srgbClr val="91AC4E"/>
              </a:buClr>
              <a:buSzPct val="80000"/>
              <a:buFont typeface="黑体" panose="02010609060101010101" pitchFamily="49" charset="-122"/>
              <a:buAutoNum type="circleNumDbPlain"/>
            </a:pPr>
            <a:r>
              <a:rPr lang="zh-CN" altLang="en-US" i="0" dirty="0">
                <a:latin typeface="Yuanti SC" panose="02010600040101010101" pitchFamily="2" charset="-122"/>
                <a:ea typeface="Yuanti SC" panose="02010600040101010101" pitchFamily="2" charset="-122"/>
              </a:rPr>
              <a:t>以攻击模式、风险分析结果和滥用案例为基础的基于风险的安全测试。</a:t>
            </a:r>
            <a:endParaRPr lang="en-US" altLang="zh-CN" i="0" dirty="0">
              <a:latin typeface="Yuanti SC" panose="02010600040101010101" pitchFamily="2" charset="-122"/>
              <a:ea typeface="Yuanti SC" panose="02010600040101010101" pitchFamily="2" charset="-122"/>
            </a:endParaRPr>
          </a:p>
          <a:p>
            <a:pPr lvl="1" eaLnBrk="1" hangingPunct="1">
              <a:lnSpc>
                <a:spcPct val="130000"/>
              </a:lnSpc>
              <a:spcBef>
                <a:spcPts val="197"/>
              </a:spcBef>
              <a:buClr>
                <a:srgbClr val="91AC4E"/>
              </a:buClr>
              <a:buSzPct val="80000"/>
              <a:buFont typeface="Wingdings" pitchFamily="2" charset="2"/>
              <a:buChar char="p"/>
            </a:pPr>
            <a:r>
              <a:rPr lang="zh-CN" altLang="en-US" sz="2160" b="1" i="0" dirty="0">
                <a:solidFill>
                  <a:srgbClr val="00B0F0"/>
                </a:solidFill>
                <a:latin typeface="Yuanti SC" panose="02010600040101010101" pitchFamily="2" charset="-122"/>
                <a:ea typeface="Yuanti SC" panose="02010600040101010101" pitchFamily="2" charset="-122"/>
              </a:rPr>
              <a:t>标准的质量保障方法</a:t>
            </a:r>
            <a:r>
              <a:rPr lang="zh-CN" altLang="en-US" i="0" dirty="0">
                <a:latin typeface="Yuanti SC" panose="02010600040101010101" pitchFamily="2" charset="-122"/>
                <a:ea typeface="Yuanti SC" panose="02010600040101010101" pitchFamily="2" charset="-122"/>
              </a:rPr>
              <a:t>可能不能揭示所有严重的安全问题。</a:t>
            </a:r>
            <a:endParaRPr lang="en-US" altLang="zh-CN" i="0" dirty="0">
              <a:latin typeface="Yuanti SC" panose="02010600040101010101" pitchFamily="2" charset="-122"/>
              <a:ea typeface="Yuanti SC" panose="02010600040101010101" pitchFamily="2" charset="-122"/>
            </a:endParaRPr>
          </a:p>
          <a:p>
            <a:pPr lvl="1" eaLnBrk="1" hangingPunct="1">
              <a:lnSpc>
                <a:spcPct val="130000"/>
              </a:lnSpc>
              <a:spcBef>
                <a:spcPts val="197"/>
              </a:spcBef>
              <a:buClr>
                <a:srgbClr val="91AC4E"/>
              </a:buClr>
              <a:buSzPct val="80000"/>
              <a:buFont typeface="Wingdings" pitchFamily="2" charset="2"/>
              <a:buChar char="p"/>
            </a:pPr>
            <a:r>
              <a:rPr lang="zh-CN" altLang="en-US" sz="2160" b="1" i="0" dirty="0">
                <a:solidFill>
                  <a:srgbClr val="00B0F0"/>
                </a:solidFill>
                <a:latin typeface="Yuanti SC" panose="02010600040101010101" pitchFamily="2" charset="-122"/>
                <a:ea typeface="Yuanti SC" panose="02010600040101010101" pitchFamily="2" charset="-122"/>
              </a:rPr>
              <a:t>安全测试</a:t>
            </a:r>
            <a:r>
              <a:rPr lang="zh-CN" altLang="en-US" i="0" dirty="0">
                <a:latin typeface="Yuanti SC" panose="02010600040101010101" pitchFamily="2" charset="-122"/>
                <a:ea typeface="Yuanti SC" panose="02010600040101010101" pitchFamily="2" charset="-122"/>
              </a:rPr>
              <a:t>是为了保证坏的事情不会发生，像攻击者一样地考虑问题很重要</a:t>
            </a:r>
          </a:p>
        </p:txBody>
      </p:sp>
    </p:spTree>
    <p:extLst>
      <p:ext uri="{BB962C8B-B14F-4D97-AF65-F5344CB8AC3E}">
        <p14:creationId xmlns:p14="http://schemas.microsoft.com/office/powerpoint/2010/main" val="904769866"/>
      </p:ext>
    </p:extLst>
  </p:cSld>
  <p:clrMapOvr>
    <a:masterClrMapping/>
  </p:clrMapOvr>
  <p:transition spd="slow">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p:cNvSpPr/>
          <p:nvPr userDrawn="1"/>
        </p:nvSpPr>
        <p:spPr>
          <a:xfrm>
            <a:off x="1273947" y="1987998"/>
            <a:ext cx="6596106" cy="784830"/>
          </a:xfrm>
          <a:prstGeom prst="rect">
            <a:avLst/>
          </a:prstGeom>
        </p:spPr>
        <p:txBody>
          <a:bodyPr wrap="square">
            <a:spAutoFit/>
          </a:bodyPr>
          <a:lstStyle/>
          <a:p>
            <a:pPr algn="ctr"/>
            <a:r>
              <a:rPr lang="en-US" altLang="zh-CN" sz="4500" b="1" dirty="0">
                <a:ln w="19050">
                  <a:noFill/>
                </a:ln>
                <a:solidFill>
                  <a:srgbClr val="FFFFFF"/>
                </a:solidFill>
                <a:latin typeface="微软雅黑" panose="020B0503020204020204" charset="-122"/>
                <a:ea typeface="微软雅黑" panose="020B0503020204020204" charset="-122"/>
              </a:rPr>
              <a:t>Web</a:t>
            </a:r>
            <a:r>
              <a:rPr lang="zh-CN" altLang="zh-CN" sz="4500" b="1" dirty="0">
                <a:ln w="19050">
                  <a:noFill/>
                </a:ln>
                <a:solidFill>
                  <a:srgbClr val="FFFFFF"/>
                </a:solidFill>
                <a:latin typeface="微软雅黑" panose="020B0503020204020204" charset="-122"/>
                <a:ea typeface="微软雅黑" panose="020B0503020204020204" charset="-122"/>
              </a:rPr>
              <a:t>安全性测试</a:t>
            </a:r>
          </a:p>
        </p:txBody>
      </p:sp>
    </p:spTree>
    <p:extLst>
      <p:ext uri="{BB962C8B-B14F-4D97-AF65-F5344CB8AC3E}">
        <p14:creationId xmlns:p14="http://schemas.microsoft.com/office/powerpoint/2010/main" val="3887593335"/>
      </p:ext>
    </p:extLst>
  </p:cSld>
  <p:clrMapOvr>
    <a:masterClrMapping/>
  </p:clrMapOvr>
  <p:transition spd="slow">
    <p:wipe dir="r"/>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542930" y="352673"/>
            <a:ext cx="5357813" cy="421482"/>
          </a:xfrm>
        </p:spPr>
        <p:txBody>
          <a:bodyPr>
            <a:normAutofit fontScale="90000"/>
          </a:bodyPr>
          <a:lstStyle/>
          <a:p>
            <a:pPr>
              <a:buClr>
                <a:schemeClr val="accent4"/>
              </a:buClr>
            </a:pPr>
            <a:r>
              <a:rPr lang="en-US" altLang="zh-CN" dirty="0"/>
              <a:t>Web/</a:t>
            </a:r>
            <a:r>
              <a:rPr lang="zh-CN" altLang="en-US" dirty="0"/>
              <a:t>数据库 渗透测试点</a:t>
            </a:r>
          </a:p>
        </p:txBody>
      </p:sp>
      <p:sp>
        <p:nvSpPr>
          <p:cNvPr id="33795" name="Rectangle 3"/>
          <p:cNvSpPr>
            <a:spLocks noGrp="1" noChangeArrowheads="1"/>
          </p:cNvSpPr>
          <p:nvPr>
            <p:ph type="body" idx="1"/>
          </p:nvPr>
        </p:nvSpPr>
        <p:spPr>
          <a:xfrm>
            <a:off x="856750" y="1318922"/>
            <a:ext cx="6999624" cy="2505655"/>
          </a:xfrm>
        </p:spPr>
        <p:txBody>
          <a:bodyPr>
            <a:normAutofit/>
          </a:bodyPr>
          <a:lstStyle/>
          <a:p>
            <a:pPr marL="0" lvl="1" indent="0">
              <a:lnSpc>
                <a:spcPct val="130000"/>
              </a:lnSpc>
              <a:spcBef>
                <a:spcPts val="237"/>
              </a:spcBef>
              <a:buClr>
                <a:srgbClr val="91AC4E"/>
              </a:buClr>
              <a:buSzPct val="80000"/>
              <a:buFont typeface="Wingdings" charset="0"/>
              <a:buChar char="p"/>
              <a:tabLst>
                <a:tab pos="205740" algn="l"/>
              </a:tabLst>
            </a:pPr>
            <a:r>
              <a:rPr lang="en-US" altLang="zh-CN" sz="2000" dirty="0">
                <a:latin typeface="Arial" charset="0"/>
                <a:ea typeface="宋体" charset="0"/>
                <a:cs typeface="宋体" charset="0"/>
              </a:rPr>
              <a:t>  </a:t>
            </a:r>
            <a:r>
              <a:rPr lang="zh-CN" altLang="en-US" sz="2000" dirty="0">
                <a:latin typeface="楷体"/>
                <a:ea typeface="楷体"/>
                <a:cs typeface="楷体"/>
              </a:rPr>
              <a:t>检查应用系统架构</a:t>
            </a:r>
            <a:r>
              <a:rPr lang="en-US" altLang="zh-CN" sz="2000" dirty="0">
                <a:latin typeface="楷体"/>
                <a:ea typeface="楷体"/>
                <a:cs typeface="楷体"/>
              </a:rPr>
              <a:t>,</a:t>
            </a:r>
            <a:r>
              <a:rPr lang="zh-CN" altLang="en-US" sz="2000" dirty="0">
                <a:latin typeface="楷体"/>
                <a:ea typeface="楷体"/>
                <a:cs typeface="楷体"/>
              </a:rPr>
              <a:t>防止用户绕过系统直接修改数据库</a:t>
            </a:r>
            <a:endParaRPr lang="en-US" altLang="zh-CN" sz="2000" dirty="0">
              <a:latin typeface="楷体"/>
              <a:ea typeface="楷体"/>
              <a:cs typeface="楷体"/>
            </a:endParaRPr>
          </a:p>
          <a:p>
            <a:pPr marL="0" lvl="1" indent="0">
              <a:lnSpc>
                <a:spcPct val="130000"/>
              </a:lnSpc>
              <a:spcBef>
                <a:spcPts val="237"/>
              </a:spcBef>
              <a:buClr>
                <a:srgbClr val="91AC4E"/>
              </a:buClr>
              <a:buSzPct val="80000"/>
              <a:buFont typeface="Wingdings" charset="0"/>
              <a:buChar char="p"/>
              <a:tabLst>
                <a:tab pos="205740" algn="l"/>
              </a:tabLst>
            </a:pPr>
            <a:r>
              <a:rPr lang="zh-CN" altLang="en-US" sz="2000" dirty="0">
                <a:latin typeface="楷体"/>
                <a:ea typeface="楷体"/>
                <a:cs typeface="楷体"/>
              </a:rPr>
              <a:t> 检查身份认证模块，用以防止非法用户绕过身份认证</a:t>
            </a:r>
            <a:endParaRPr lang="en-US" altLang="zh-CN" sz="2000" dirty="0">
              <a:latin typeface="楷体"/>
              <a:ea typeface="楷体"/>
              <a:cs typeface="楷体"/>
            </a:endParaRPr>
          </a:p>
          <a:p>
            <a:pPr marL="0" lvl="1" indent="0">
              <a:lnSpc>
                <a:spcPct val="130000"/>
              </a:lnSpc>
              <a:spcBef>
                <a:spcPts val="237"/>
              </a:spcBef>
              <a:buClr>
                <a:srgbClr val="91AC4E"/>
              </a:buClr>
              <a:buSzPct val="80000"/>
              <a:buFont typeface="Wingdings" charset="0"/>
              <a:buChar char="p"/>
              <a:tabLst>
                <a:tab pos="205740" algn="l"/>
              </a:tabLst>
            </a:pPr>
            <a:r>
              <a:rPr lang="zh-CN" altLang="en-US" sz="2000" dirty="0">
                <a:latin typeface="楷体"/>
                <a:ea typeface="楷体"/>
                <a:cs typeface="楷体"/>
              </a:rPr>
              <a:t> 检查数据库接口模块，用以防止用户获取系统权限</a:t>
            </a:r>
            <a:endParaRPr lang="en-US" altLang="zh-CN" sz="2000" dirty="0">
              <a:latin typeface="楷体"/>
              <a:ea typeface="楷体"/>
              <a:cs typeface="楷体"/>
            </a:endParaRPr>
          </a:p>
          <a:p>
            <a:pPr marL="0" lvl="1" indent="0">
              <a:lnSpc>
                <a:spcPct val="130000"/>
              </a:lnSpc>
              <a:spcBef>
                <a:spcPts val="237"/>
              </a:spcBef>
              <a:buClr>
                <a:srgbClr val="91AC4E"/>
              </a:buClr>
              <a:buSzPct val="80000"/>
              <a:buFont typeface="Wingdings" charset="0"/>
              <a:buChar char="p"/>
              <a:tabLst>
                <a:tab pos="205740" algn="l"/>
              </a:tabLst>
            </a:pPr>
            <a:r>
              <a:rPr lang="zh-CN" altLang="en-US" sz="2000" dirty="0">
                <a:latin typeface="楷体"/>
                <a:ea typeface="楷体"/>
                <a:cs typeface="楷体"/>
              </a:rPr>
              <a:t> 检查文件接口模块，防止用户获取系统文件</a:t>
            </a:r>
            <a:endParaRPr lang="en-US" altLang="zh-CN" sz="2000" dirty="0">
              <a:latin typeface="楷体"/>
              <a:ea typeface="楷体"/>
              <a:cs typeface="楷体"/>
            </a:endParaRPr>
          </a:p>
          <a:p>
            <a:pPr marL="0" lvl="1" indent="0">
              <a:lnSpc>
                <a:spcPct val="130000"/>
              </a:lnSpc>
              <a:spcBef>
                <a:spcPts val="237"/>
              </a:spcBef>
              <a:buClr>
                <a:srgbClr val="91AC4E"/>
              </a:buClr>
              <a:buSzPct val="80000"/>
              <a:buFont typeface="Wingdings" charset="0"/>
              <a:buChar char="p"/>
              <a:tabLst>
                <a:tab pos="205740" algn="l"/>
              </a:tabLst>
            </a:pPr>
            <a:r>
              <a:rPr lang="zh-CN" altLang="en-US" sz="2000" dirty="0">
                <a:latin typeface="楷体"/>
                <a:ea typeface="楷体"/>
                <a:cs typeface="楷体"/>
              </a:rPr>
              <a:t> 检查其他安全威胁 </a:t>
            </a:r>
          </a:p>
        </p:txBody>
      </p:sp>
    </p:spTree>
    <p:extLst>
      <p:ext uri="{BB962C8B-B14F-4D97-AF65-F5344CB8AC3E}">
        <p14:creationId xmlns:p14="http://schemas.microsoft.com/office/powerpoint/2010/main" val="1250179624"/>
      </p:ext>
    </p:extLst>
  </p:cSld>
  <p:clrMapOvr>
    <a:masterClrMapping/>
  </p:clrMapOvr>
  <p:transition spd="slow">
    <p:wipe dir="r"/>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标题 1"/>
          <p:cNvSpPr>
            <a:spLocks noGrp="1"/>
          </p:cNvSpPr>
          <p:nvPr>
            <p:ph type="title"/>
          </p:nvPr>
        </p:nvSpPr>
        <p:spPr>
          <a:xfrm>
            <a:off x="511335" y="338003"/>
            <a:ext cx="6393657" cy="421482"/>
          </a:xfrm>
        </p:spPr>
        <p:txBody>
          <a:bodyPr>
            <a:normAutofit fontScale="90000"/>
          </a:bodyPr>
          <a:lstStyle/>
          <a:p>
            <a:pPr>
              <a:buClr>
                <a:schemeClr val="accent4"/>
              </a:buClr>
            </a:pPr>
            <a:r>
              <a:rPr lang="en-US" altLang="zh-CN" dirty="0"/>
              <a:t>Web</a:t>
            </a:r>
            <a:r>
              <a:rPr lang="zh-CN" altLang="en-US" dirty="0"/>
              <a:t>安全性</a:t>
            </a:r>
            <a:r>
              <a:rPr lang="en-US" altLang="zh-CN" dirty="0"/>
              <a:t> </a:t>
            </a:r>
            <a:r>
              <a:rPr lang="zh-CN" altLang="en-US" dirty="0"/>
              <a:t>渗透测试</a:t>
            </a:r>
          </a:p>
        </p:txBody>
      </p:sp>
      <p:sp>
        <p:nvSpPr>
          <p:cNvPr id="20483" name="灯片编号占位符 3"/>
          <p:cNvSpPr>
            <a:spLocks noGrp="1"/>
          </p:cNvSpPr>
          <p:nvPr>
            <p:ph type="sldNum" sz="quarter" idx="10"/>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i="1">
                <a:solidFill>
                  <a:schemeClr val="tx1"/>
                </a:solidFill>
                <a:latin typeface="Arial" charset="0"/>
                <a:ea typeface="宋体" charset="0"/>
                <a:cs typeface="宋体" charset="0"/>
              </a:defRPr>
            </a:lvl1pPr>
            <a:lvl2pPr marL="668655" indent="-257175" eaLnBrk="0" hangingPunct="0">
              <a:defRPr i="1">
                <a:solidFill>
                  <a:schemeClr val="tx1"/>
                </a:solidFill>
                <a:latin typeface="Arial" charset="0"/>
                <a:ea typeface="宋体" charset="0"/>
              </a:defRPr>
            </a:lvl2pPr>
            <a:lvl3pPr marL="1028700" indent="-205740" eaLnBrk="0" hangingPunct="0">
              <a:defRPr i="1">
                <a:solidFill>
                  <a:schemeClr val="tx1"/>
                </a:solidFill>
                <a:latin typeface="Arial" charset="0"/>
                <a:ea typeface="宋体" charset="0"/>
              </a:defRPr>
            </a:lvl3pPr>
            <a:lvl4pPr marL="1440180" indent="-205740" eaLnBrk="0" hangingPunct="0">
              <a:defRPr i="1">
                <a:solidFill>
                  <a:schemeClr val="tx1"/>
                </a:solidFill>
                <a:latin typeface="Arial" charset="0"/>
                <a:ea typeface="宋体" charset="0"/>
              </a:defRPr>
            </a:lvl4pPr>
            <a:lvl5pPr marL="1851660" indent="-205740" eaLnBrk="0" hangingPunct="0">
              <a:defRPr i="1">
                <a:solidFill>
                  <a:schemeClr val="tx1"/>
                </a:solidFill>
                <a:latin typeface="Arial" charset="0"/>
                <a:ea typeface="宋体" charset="0"/>
              </a:defRPr>
            </a:lvl5pPr>
            <a:lvl6pPr marL="2263140" indent="-205740" eaLnBrk="0" fontAlgn="base" hangingPunct="0">
              <a:spcBef>
                <a:spcPct val="0"/>
              </a:spcBef>
              <a:spcAft>
                <a:spcPct val="0"/>
              </a:spcAft>
              <a:defRPr i="1">
                <a:solidFill>
                  <a:schemeClr val="tx1"/>
                </a:solidFill>
                <a:latin typeface="Arial" charset="0"/>
                <a:ea typeface="宋体" charset="0"/>
              </a:defRPr>
            </a:lvl6pPr>
            <a:lvl7pPr marL="2674620" indent="-205740" eaLnBrk="0" fontAlgn="base" hangingPunct="0">
              <a:spcBef>
                <a:spcPct val="0"/>
              </a:spcBef>
              <a:spcAft>
                <a:spcPct val="0"/>
              </a:spcAft>
              <a:defRPr i="1">
                <a:solidFill>
                  <a:schemeClr val="tx1"/>
                </a:solidFill>
                <a:latin typeface="Arial" charset="0"/>
                <a:ea typeface="宋体" charset="0"/>
              </a:defRPr>
            </a:lvl7pPr>
            <a:lvl8pPr marL="3086100" indent="-205740" eaLnBrk="0" fontAlgn="base" hangingPunct="0">
              <a:spcBef>
                <a:spcPct val="0"/>
              </a:spcBef>
              <a:spcAft>
                <a:spcPct val="0"/>
              </a:spcAft>
              <a:defRPr i="1">
                <a:solidFill>
                  <a:schemeClr val="tx1"/>
                </a:solidFill>
                <a:latin typeface="Arial" charset="0"/>
                <a:ea typeface="宋体" charset="0"/>
              </a:defRPr>
            </a:lvl8pPr>
            <a:lvl9pPr marL="3497580" indent="-205740" eaLnBrk="0" fontAlgn="base" hangingPunct="0">
              <a:spcBef>
                <a:spcPct val="0"/>
              </a:spcBef>
              <a:spcAft>
                <a:spcPct val="0"/>
              </a:spcAft>
              <a:defRPr i="1">
                <a:solidFill>
                  <a:schemeClr val="tx1"/>
                </a:solidFill>
                <a:latin typeface="Arial" charset="0"/>
                <a:ea typeface="宋体" charset="0"/>
              </a:defRPr>
            </a:lvl9pPr>
          </a:lstStyle>
          <a:p>
            <a:pPr eaLnBrk="1" hangingPunct="1"/>
            <a:fld id="{2A6264F4-CB28-E042-9B2A-F379584098E5}" type="slidenum">
              <a:rPr lang="en-US" altLang="zh-CN"/>
              <a:pPr eaLnBrk="1" hangingPunct="1"/>
              <a:t>48</a:t>
            </a:fld>
            <a:endParaRPr lang="en-US" altLang="zh-CN"/>
          </a:p>
        </p:txBody>
      </p:sp>
      <p:sp>
        <p:nvSpPr>
          <p:cNvPr id="20484" name="矩形 2"/>
          <p:cNvSpPr>
            <a:spLocks noChangeArrowheads="1"/>
          </p:cNvSpPr>
          <p:nvPr/>
        </p:nvSpPr>
        <p:spPr bwMode="auto">
          <a:xfrm>
            <a:off x="732468" y="1411464"/>
            <a:ext cx="6352223" cy="23205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p>
            <a:pPr marL="320040" lvl="1" indent="-320040">
              <a:lnSpc>
                <a:spcPct val="130000"/>
              </a:lnSpc>
              <a:spcBef>
                <a:spcPts val="237"/>
              </a:spcBef>
              <a:buClr>
                <a:srgbClr val="91AC4E"/>
              </a:buClr>
              <a:buSzPct val="80000"/>
              <a:buFont typeface="Wingdings" charset="0"/>
              <a:buChar char="p"/>
              <a:tabLst>
                <a:tab pos="205740" algn="l"/>
              </a:tabLst>
            </a:pPr>
            <a:r>
              <a:rPr lang="zh-CN" altLang="en-US" sz="2160" dirty="0"/>
              <a:t>注入攻击（</a:t>
            </a:r>
            <a:r>
              <a:rPr lang="en-US" altLang="zh-CN" sz="2160" dirty="0"/>
              <a:t>Injection</a:t>
            </a:r>
            <a:r>
              <a:rPr lang="zh-CN" altLang="en-US" sz="2160" dirty="0"/>
              <a:t>）</a:t>
            </a:r>
          </a:p>
          <a:p>
            <a:pPr marL="320040" lvl="1" indent="-320040">
              <a:lnSpc>
                <a:spcPct val="130000"/>
              </a:lnSpc>
              <a:spcBef>
                <a:spcPts val="237"/>
              </a:spcBef>
              <a:buClr>
                <a:srgbClr val="91AC4E"/>
              </a:buClr>
              <a:buSzPct val="80000"/>
              <a:buFont typeface="Wingdings" charset="0"/>
              <a:buChar char="p"/>
              <a:tabLst>
                <a:tab pos="205740" algn="l"/>
              </a:tabLst>
            </a:pPr>
            <a:r>
              <a:rPr lang="zh-CN" altLang="en-US" sz="2160" dirty="0"/>
              <a:t>跨站点脚本攻击（</a:t>
            </a:r>
            <a:r>
              <a:rPr lang="en-US" altLang="zh-CN" sz="2160" dirty="0"/>
              <a:t>XSS</a:t>
            </a:r>
            <a:r>
              <a:rPr lang="zh-CN" altLang="en-US" sz="2160" dirty="0"/>
              <a:t>）</a:t>
            </a:r>
          </a:p>
          <a:p>
            <a:pPr marL="320040" lvl="1" indent="-320040">
              <a:lnSpc>
                <a:spcPct val="130000"/>
              </a:lnSpc>
              <a:spcBef>
                <a:spcPts val="237"/>
              </a:spcBef>
              <a:buClr>
                <a:srgbClr val="91AC4E"/>
              </a:buClr>
              <a:buSzPct val="80000"/>
              <a:buFont typeface="Wingdings" charset="0"/>
              <a:buChar char="p"/>
              <a:tabLst>
                <a:tab pos="205740" algn="l"/>
              </a:tabLst>
            </a:pPr>
            <a:r>
              <a:rPr lang="zh-CN" altLang="en-US" sz="2160" dirty="0"/>
              <a:t>跨站点请求伪造</a:t>
            </a:r>
            <a:r>
              <a:rPr lang="en-US" altLang="zh-CN" sz="2160" dirty="0"/>
              <a:t>(CSRF)</a:t>
            </a:r>
          </a:p>
          <a:p>
            <a:pPr marL="320040" lvl="1" indent="-320040">
              <a:lnSpc>
                <a:spcPct val="130000"/>
              </a:lnSpc>
              <a:spcBef>
                <a:spcPts val="237"/>
              </a:spcBef>
              <a:buClr>
                <a:srgbClr val="91AC4E"/>
              </a:buClr>
              <a:buSzPct val="80000"/>
              <a:buFont typeface="Wingdings" charset="0"/>
              <a:buChar char="p"/>
              <a:tabLst>
                <a:tab pos="205740" algn="l"/>
              </a:tabLst>
            </a:pPr>
            <a:r>
              <a:rPr lang="zh-CN" altLang="en-US" sz="2160" dirty="0"/>
              <a:t>未能限制</a:t>
            </a:r>
            <a:r>
              <a:rPr lang="en-US" altLang="zh-CN" sz="2160" dirty="0"/>
              <a:t>URL</a:t>
            </a:r>
            <a:r>
              <a:rPr lang="zh-CN" altLang="en-US" sz="2160" dirty="0"/>
              <a:t>访问 </a:t>
            </a:r>
            <a:endParaRPr lang="en-US" altLang="zh-CN" sz="2160" dirty="0"/>
          </a:p>
          <a:p>
            <a:pPr marL="320040" lvl="1" indent="-320040">
              <a:lnSpc>
                <a:spcPct val="130000"/>
              </a:lnSpc>
              <a:spcBef>
                <a:spcPts val="237"/>
              </a:spcBef>
              <a:buClr>
                <a:srgbClr val="91AC4E"/>
              </a:buClr>
              <a:buSzPct val="80000"/>
              <a:tabLst>
                <a:tab pos="205740" algn="l"/>
              </a:tabLst>
            </a:pPr>
            <a:r>
              <a:rPr lang="en-US" altLang="zh-CN" sz="2160" dirty="0"/>
              <a:t>  (</a:t>
            </a:r>
            <a:r>
              <a:rPr lang="en-US" altLang="zh-CN" dirty="0"/>
              <a:t>Failure to  Restrict URL Access</a:t>
            </a:r>
            <a:r>
              <a:rPr lang="en-US" altLang="zh-CN" sz="2160" dirty="0"/>
              <a:t>)</a:t>
            </a:r>
          </a:p>
        </p:txBody>
      </p:sp>
      <p:pic>
        <p:nvPicPr>
          <p:cNvPr id="20485" name="Picture 6" descr="http://www.paros-web.eu/images/gk_websit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44107" y="1411464"/>
            <a:ext cx="2721769" cy="226814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1955954"/>
      </p:ext>
    </p:extLst>
  </p:cSld>
  <p:clrMapOvr>
    <a:masterClrMapping/>
  </p:clrMapOvr>
  <p:transition spd="slow">
    <p:wipe dir="r"/>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6" name="Slide Number Placeholder 3"/>
          <p:cNvSpPr>
            <a:spLocks noGrp="1"/>
          </p:cNvSpPr>
          <p:nvPr>
            <p:ph type="sldNum" sz="quarter" idx="10"/>
          </p:nvPr>
        </p:nvSpPr>
        <p:spPr>
          <a:noFill/>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vert="horz" lIns="57862" tIns="28931" rIns="57862" bIns="28931" rtlCol="0" anchor="ctr"/>
          <a:lstStyle>
            <a:lvl1pPr eaLnBrk="0" hangingPunct="0">
              <a:defRPr sz="1980">
                <a:solidFill>
                  <a:srgbClr val="000000"/>
                </a:solidFill>
                <a:latin typeface="Arial" charset="0"/>
                <a:ea typeface="ヒラギノ角ゴ ProN W3" charset="0"/>
                <a:cs typeface="ヒラギノ角ゴ ProN W3" charset="0"/>
                <a:sym typeface="Gill Sans" charset="0"/>
              </a:defRPr>
            </a:lvl1pPr>
            <a:lvl2pPr marL="470131" indent="-180820" eaLnBrk="0" hangingPunct="0">
              <a:defRPr sz="1980">
                <a:solidFill>
                  <a:srgbClr val="000000"/>
                </a:solidFill>
                <a:latin typeface="Arial" charset="0"/>
                <a:ea typeface="ヒラギノ角ゴ ProN W3" charset="0"/>
                <a:cs typeface="ヒラギノ角ゴ ProN W3" charset="0"/>
                <a:sym typeface="Gill Sans" charset="0"/>
              </a:defRPr>
            </a:lvl2pPr>
            <a:lvl3pPr marL="723279" indent="-144656" eaLnBrk="0" hangingPunct="0">
              <a:defRPr sz="1980">
                <a:solidFill>
                  <a:srgbClr val="000000"/>
                </a:solidFill>
                <a:latin typeface="Arial" charset="0"/>
                <a:ea typeface="ヒラギノ角ゴ ProN W3" charset="0"/>
                <a:cs typeface="ヒラギノ角ゴ ProN W3" charset="0"/>
                <a:sym typeface="Gill Sans" charset="0"/>
              </a:defRPr>
            </a:lvl3pPr>
            <a:lvl4pPr marL="1012591" indent="-144656" eaLnBrk="0" hangingPunct="0">
              <a:defRPr sz="1980">
                <a:solidFill>
                  <a:srgbClr val="000000"/>
                </a:solidFill>
                <a:latin typeface="Arial" charset="0"/>
                <a:ea typeface="ヒラギノ角ゴ ProN W3" charset="0"/>
                <a:cs typeface="ヒラギノ角ゴ ProN W3" charset="0"/>
                <a:sym typeface="Gill Sans" charset="0"/>
              </a:defRPr>
            </a:lvl4pPr>
            <a:lvl5pPr marL="1301902" indent="-144656" eaLnBrk="0" hangingPunct="0">
              <a:defRPr sz="1980">
                <a:solidFill>
                  <a:srgbClr val="000000"/>
                </a:solidFill>
                <a:latin typeface="Arial" charset="0"/>
                <a:ea typeface="ヒラギノ角ゴ ProN W3" charset="0"/>
                <a:cs typeface="ヒラギノ角ゴ ProN W3" charset="0"/>
                <a:sym typeface="Gill Sans" charset="0"/>
              </a:defRPr>
            </a:lvl5pPr>
            <a:lvl6pPr marL="1591214" indent="-144656" eaLnBrk="0" fontAlgn="base" hangingPunct="0">
              <a:spcBef>
                <a:spcPct val="0"/>
              </a:spcBef>
              <a:spcAft>
                <a:spcPct val="0"/>
              </a:spcAft>
              <a:defRPr sz="1980">
                <a:solidFill>
                  <a:srgbClr val="000000"/>
                </a:solidFill>
                <a:latin typeface="Arial" charset="0"/>
                <a:ea typeface="ヒラギノ角ゴ ProN W3" charset="0"/>
                <a:cs typeface="ヒラギノ角ゴ ProN W3" charset="0"/>
                <a:sym typeface="Gill Sans" charset="0"/>
              </a:defRPr>
            </a:lvl6pPr>
            <a:lvl7pPr marL="1880526" indent="-144656" eaLnBrk="0" fontAlgn="base" hangingPunct="0">
              <a:spcBef>
                <a:spcPct val="0"/>
              </a:spcBef>
              <a:spcAft>
                <a:spcPct val="0"/>
              </a:spcAft>
              <a:defRPr sz="1980">
                <a:solidFill>
                  <a:srgbClr val="000000"/>
                </a:solidFill>
                <a:latin typeface="Arial" charset="0"/>
                <a:ea typeface="ヒラギノ角ゴ ProN W3" charset="0"/>
                <a:cs typeface="ヒラギノ角ゴ ProN W3" charset="0"/>
                <a:sym typeface="Gill Sans" charset="0"/>
              </a:defRPr>
            </a:lvl7pPr>
            <a:lvl8pPr marL="2169837" indent="-144656" eaLnBrk="0" fontAlgn="base" hangingPunct="0">
              <a:spcBef>
                <a:spcPct val="0"/>
              </a:spcBef>
              <a:spcAft>
                <a:spcPct val="0"/>
              </a:spcAft>
              <a:defRPr sz="1980">
                <a:solidFill>
                  <a:srgbClr val="000000"/>
                </a:solidFill>
                <a:latin typeface="Arial" charset="0"/>
                <a:ea typeface="ヒラギノ角ゴ ProN W3" charset="0"/>
                <a:cs typeface="ヒラギノ角ゴ ProN W3" charset="0"/>
                <a:sym typeface="Gill Sans" charset="0"/>
              </a:defRPr>
            </a:lvl8pPr>
            <a:lvl9pPr marL="2459148" indent="-144656" eaLnBrk="0" fontAlgn="base" hangingPunct="0">
              <a:spcBef>
                <a:spcPct val="0"/>
              </a:spcBef>
              <a:spcAft>
                <a:spcPct val="0"/>
              </a:spcAft>
              <a:defRPr sz="1980">
                <a:solidFill>
                  <a:srgbClr val="000000"/>
                </a:solidFill>
                <a:latin typeface="Arial" charset="0"/>
                <a:ea typeface="ヒラギノ角ゴ ProN W3" charset="0"/>
                <a:cs typeface="ヒラギノ角ゴ ProN W3" charset="0"/>
                <a:sym typeface="Gill Sans" charset="0"/>
              </a:defRPr>
            </a:lvl9pPr>
          </a:lstStyle>
          <a:p>
            <a:pPr eaLnBrk="1" hangingPunct="1"/>
            <a:fld id="{FBFAF769-EB85-184F-BDC7-B495660CCF0B}" type="slidenum">
              <a:rPr lang="en-US" altLang="zh-CN" sz="1170">
                <a:solidFill>
                  <a:srgbClr val="808080"/>
                </a:solidFill>
                <a:latin typeface="Gill Sans" charset="0"/>
                <a:cs typeface="Gill Sans" charset="0"/>
              </a:rPr>
              <a:pPr eaLnBrk="1" hangingPunct="1"/>
              <a:t>49</a:t>
            </a:fld>
            <a:endParaRPr lang="en-US" altLang="zh-CN" sz="1170">
              <a:solidFill>
                <a:srgbClr val="808080"/>
              </a:solidFill>
              <a:latin typeface="Gill Sans" charset="0"/>
              <a:cs typeface="Gill Sans" charset="0"/>
            </a:endParaRPr>
          </a:p>
        </p:txBody>
      </p:sp>
      <p:sp>
        <p:nvSpPr>
          <p:cNvPr id="16387" name="Rectangle 5122"/>
          <p:cNvSpPr>
            <a:spLocks noGrp="1" noChangeArrowheads="1"/>
          </p:cNvSpPr>
          <p:nvPr>
            <p:ph type="title"/>
          </p:nvPr>
        </p:nvSpPr>
        <p:spPr>
          <a:xfrm>
            <a:off x="525688" y="234682"/>
            <a:ext cx="6480720" cy="683121"/>
          </a:xfrm>
        </p:spPr>
        <p:txBody>
          <a:bodyPr/>
          <a:lstStyle/>
          <a:p>
            <a:pPr eaLnBrk="1" hangingPunct="1"/>
            <a:r>
              <a:rPr lang="zh-CN" altLang="en-US" dirty="0">
                <a:latin typeface="Arial" charset="0"/>
                <a:ea typeface="ヒラギノ角ゴ ProN W3" charset="0"/>
                <a:cs typeface="ヒラギノ角ゴ ProN W3" charset="0"/>
              </a:rPr>
              <a:t>针对</a:t>
            </a:r>
            <a:r>
              <a:rPr lang="en-US" altLang="zh-CN" dirty="0">
                <a:latin typeface="Arial" charset="0"/>
                <a:ea typeface="ヒラギノ角ゴ ProN W3" charset="0"/>
                <a:cs typeface="ヒラギノ角ゴ ProN W3" charset="0"/>
              </a:rPr>
              <a:t>XSS</a:t>
            </a:r>
            <a:r>
              <a:rPr lang="zh-CN" altLang="en-US" dirty="0">
                <a:latin typeface="Arial" charset="0"/>
                <a:ea typeface="ヒラギノ角ゴ ProN W3" charset="0"/>
                <a:cs typeface="ヒラギノ角ゴ ProN W3" charset="0"/>
              </a:rPr>
              <a:t>进行测试</a:t>
            </a:r>
            <a:endParaRPr lang="en-US" altLang="zh-CN" dirty="0">
              <a:latin typeface="Arial" charset="0"/>
              <a:ea typeface="ヒラギノ角ゴ ProN W3" charset="0"/>
              <a:cs typeface="ヒラギノ角ゴ ProN W3" charset="0"/>
            </a:endParaRPr>
          </a:p>
        </p:txBody>
      </p:sp>
      <p:sp>
        <p:nvSpPr>
          <p:cNvPr id="2" name="文本框 1"/>
          <p:cNvSpPr txBox="1"/>
          <p:nvPr/>
        </p:nvSpPr>
        <p:spPr>
          <a:xfrm>
            <a:off x="626589" y="999493"/>
            <a:ext cx="3953239" cy="3598164"/>
          </a:xfrm>
          <a:prstGeom prst="rect">
            <a:avLst/>
          </a:prstGeom>
          <a:noFill/>
        </p:spPr>
        <p:txBody>
          <a:bodyPr wrap="square" rtlCol="0">
            <a:spAutoFit/>
          </a:bodyPr>
          <a:lstStyle/>
          <a:p>
            <a:r>
              <a:rPr lang="en-US" altLang="zh-CN" dirty="0"/>
              <a:t>XSS</a:t>
            </a:r>
            <a:r>
              <a:rPr lang="zh-CN" altLang="en-US" dirty="0"/>
              <a:t>：允许恶意用户将代码植入到“供其它用户使用的</a:t>
            </a:r>
            <a:r>
              <a:rPr lang="en-US" altLang="zh-CN" dirty="0"/>
              <a:t>web</a:t>
            </a:r>
            <a:r>
              <a:rPr lang="zh-CN" altLang="en-US" dirty="0"/>
              <a:t>页面” 中</a:t>
            </a:r>
            <a:endParaRPr kumimoji="1" lang="en-US" altLang="zh-CN" dirty="0"/>
          </a:p>
          <a:p>
            <a:pPr lvl="0"/>
            <a:endParaRPr kumimoji="1" lang="en-US" altLang="zh-CN" dirty="0"/>
          </a:p>
          <a:p>
            <a:pPr lvl="0"/>
            <a:r>
              <a:rPr kumimoji="1" lang="zh-CN" altLang="en-US" dirty="0"/>
              <a:t>例如：一般输入域中能输入：</a:t>
            </a:r>
            <a:r>
              <a:rPr lang="en-US" altLang="zh-CN" dirty="0" err="1"/>
              <a:t>javascript:alert</a:t>
            </a:r>
            <a:r>
              <a:rPr lang="en-US" altLang="zh-CN" dirty="0"/>
              <a:t>(</a:t>
            </a:r>
            <a:r>
              <a:rPr lang="en-US" altLang="zh-CN" dirty="0" err="1"/>
              <a:t>document.cookie</a:t>
            </a:r>
            <a:r>
              <a:rPr lang="en-US" altLang="zh-CN" dirty="0"/>
              <a:t>)</a:t>
            </a:r>
          </a:p>
          <a:p>
            <a:endParaRPr kumimoji="1" lang="en-US" altLang="zh-CN" dirty="0"/>
          </a:p>
          <a:p>
            <a:pPr marL="320040" lvl="1" indent="-320040">
              <a:lnSpc>
                <a:spcPct val="130000"/>
              </a:lnSpc>
              <a:spcBef>
                <a:spcPts val="238"/>
              </a:spcBef>
              <a:buClr>
                <a:srgbClr val="91AC4E"/>
              </a:buClr>
              <a:buSzPct val="80000"/>
              <a:buFont typeface="Wingdings" pitchFamily="2" charset="2"/>
              <a:buChar char="p"/>
              <a:tabLst>
                <a:tab pos="205740" algn="l"/>
              </a:tabLst>
            </a:pPr>
            <a:r>
              <a:rPr lang="zh-CN" altLang="en-US" dirty="0">
                <a:ea typeface="楷体"/>
                <a:cs typeface="楷体"/>
              </a:rPr>
              <a:t>在其它页面显示，具有隐藏性</a:t>
            </a:r>
            <a:endParaRPr lang="en-US" altLang="zh-CN" dirty="0">
              <a:ea typeface="楷体"/>
              <a:cs typeface="楷体"/>
            </a:endParaRPr>
          </a:p>
          <a:p>
            <a:pPr marL="320040" lvl="1" indent="-320040">
              <a:lnSpc>
                <a:spcPct val="130000"/>
              </a:lnSpc>
              <a:spcBef>
                <a:spcPts val="238"/>
              </a:spcBef>
              <a:buClr>
                <a:srgbClr val="91AC4E"/>
              </a:buClr>
              <a:buSzPct val="80000"/>
              <a:buFont typeface="Wingdings" pitchFamily="2" charset="2"/>
              <a:buChar char="p"/>
              <a:tabLst>
                <a:tab pos="205740" algn="l"/>
              </a:tabLst>
            </a:pPr>
            <a:r>
              <a:rPr lang="zh-CN" altLang="en-US" dirty="0">
                <a:ea typeface="楷体"/>
                <a:cs typeface="楷体"/>
              </a:rPr>
              <a:t>受害者的敏感数据、</a:t>
            </a:r>
            <a:r>
              <a:rPr lang="en-US" altLang="zh-CN" dirty="0">
                <a:ea typeface="楷体"/>
                <a:cs typeface="楷体"/>
              </a:rPr>
              <a:t>session</a:t>
            </a:r>
            <a:r>
              <a:rPr lang="zh-CN" altLang="en-US" dirty="0">
                <a:ea typeface="楷体"/>
                <a:cs typeface="楷体"/>
              </a:rPr>
              <a:t>、</a:t>
            </a:r>
            <a:r>
              <a:rPr lang="en-US" altLang="zh-CN" dirty="0">
                <a:ea typeface="楷体"/>
                <a:cs typeface="楷体"/>
              </a:rPr>
              <a:t>cookie</a:t>
            </a:r>
            <a:r>
              <a:rPr lang="zh-CN" altLang="en-US" dirty="0">
                <a:ea typeface="楷体"/>
                <a:cs typeface="楷体"/>
              </a:rPr>
              <a:t>等会泄漏</a:t>
            </a:r>
            <a:endParaRPr lang="en-US" altLang="zh-CN" dirty="0">
              <a:ea typeface="楷体"/>
              <a:cs typeface="楷体"/>
            </a:endParaRPr>
          </a:p>
          <a:p>
            <a:pPr marL="320040" lvl="1" indent="-320040">
              <a:lnSpc>
                <a:spcPct val="130000"/>
              </a:lnSpc>
              <a:spcBef>
                <a:spcPts val="238"/>
              </a:spcBef>
              <a:buClr>
                <a:srgbClr val="91AC4E"/>
              </a:buClr>
              <a:buSzPct val="80000"/>
              <a:buFont typeface="Wingdings" pitchFamily="2" charset="2"/>
              <a:buChar char="p"/>
              <a:tabLst>
                <a:tab pos="205740" algn="l"/>
              </a:tabLst>
            </a:pPr>
            <a:r>
              <a:rPr lang="zh-CN" altLang="en-US" dirty="0">
                <a:ea typeface="楷体"/>
                <a:cs typeface="楷体"/>
              </a:rPr>
              <a:t>更严重的是黑客能监控用户的行为、用户被迫访问其它站点</a:t>
            </a:r>
            <a:endParaRPr lang="en-US" altLang="zh-CN" dirty="0">
              <a:ea typeface="楷体"/>
              <a:cs typeface="楷体"/>
            </a:endParaRPr>
          </a:p>
        </p:txBody>
      </p:sp>
      <p:pic>
        <p:nvPicPr>
          <p:cNvPr id="3" name="图片 2"/>
          <p:cNvPicPr>
            <a:picLocks noChangeAspect="1"/>
          </p:cNvPicPr>
          <p:nvPr/>
        </p:nvPicPr>
        <p:blipFill>
          <a:blip r:embed="rId3"/>
          <a:stretch>
            <a:fillRect/>
          </a:stretch>
        </p:blipFill>
        <p:spPr>
          <a:xfrm>
            <a:off x="5076347" y="1145991"/>
            <a:ext cx="3556567" cy="3305167"/>
          </a:xfrm>
          <a:prstGeom prst="rect">
            <a:avLst/>
          </a:prstGeom>
        </p:spPr>
      </p:pic>
    </p:spTree>
    <p:extLst>
      <p:ext uri="{BB962C8B-B14F-4D97-AF65-F5344CB8AC3E}">
        <p14:creationId xmlns:p14="http://schemas.microsoft.com/office/powerpoint/2010/main" val="2524990078"/>
      </p:ext>
    </p:extLst>
  </p:cSld>
  <p:clrMapOvr>
    <a:masterClrMapping/>
  </p:clrMapOvr>
  <p:transition spd="slow">
    <p:wipe dir="r"/>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41186" name="Rectangle 2"/>
          <p:cNvSpPr>
            <a:spLocks noGrp="1" noChangeArrowheads="1"/>
          </p:cNvSpPr>
          <p:nvPr>
            <p:ph type="title"/>
          </p:nvPr>
        </p:nvSpPr>
        <p:spPr>
          <a:xfrm>
            <a:off x="542651" y="340305"/>
            <a:ext cx="5746295" cy="421482"/>
          </a:xfrm>
        </p:spPr>
        <p:txBody>
          <a:bodyPr>
            <a:normAutofit fontScale="90000"/>
          </a:bodyPr>
          <a:lstStyle/>
          <a:p>
            <a:pPr>
              <a:buClr>
                <a:schemeClr val="accent4"/>
              </a:buClr>
            </a:pPr>
            <a:r>
              <a:rPr lang="en-US" altLang="zh-CN" dirty="0"/>
              <a:t>SQL</a:t>
            </a:r>
            <a:r>
              <a:rPr lang="zh-CN" altLang="en-US" dirty="0"/>
              <a:t>注入式攻击 </a:t>
            </a:r>
          </a:p>
        </p:txBody>
      </p:sp>
      <p:sp>
        <p:nvSpPr>
          <p:cNvPr id="2141187" name="Rectangle 3"/>
          <p:cNvSpPr>
            <a:spLocks noGrp="1" noChangeArrowheads="1"/>
          </p:cNvSpPr>
          <p:nvPr>
            <p:ph type="body" idx="1"/>
          </p:nvPr>
        </p:nvSpPr>
        <p:spPr>
          <a:xfrm>
            <a:off x="542651" y="943634"/>
            <a:ext cx="7497168" cy="808828"/>
          </a:xfrm>
        </p:spPr>
        <p:txBody>
          <a:bodyPr>
            <a:noAutofit/>
          </a:bodyPr>
          <a:lstStyle/>
          <a:p>
            <a:pPr marL="167164" indent="0">
              <a:buNone/>
            </a:pPr>
            <a:r>
              <a:rPr lang="zh-CN" altLang="en-US" sz="1600" dirty="0">
                <a:solidFill>
                  <a:schemeClr val="tx1">
                    <a:lumMod val="65000"/>
                    <a:lumOff val="35000"/>
                  </a:schemeClr>
                </a:solidFill>
                <a:latin typeface="KaiTi" panose="02010609060101010101" pitchFamily="49" charset="-122"/>
                <a:ea typeface="KaiTi" panose="02010609060101010101" pitchFamily="49" charset="-122"/>
              </a:rPr>
              <a:t>根据</a:t>
            </a:r>
            <a:r>
              <a:rPr lang="en-US" altLang="zh-CN" sz="1600" dirty="0">
                <a:solidFill>
                  <a:schemeClr val="tx1">
                    <a:lumMod val="65000"/>
                    <a:lumOff val="35000"/>
                  </a:schemeClr>
                </a:solidFill>
                <a:latin typeface="KaiTi" panose="02010609060101010101" pitchFamily="49" charset="-122"/>
                <a:ea typeface="KaiTi" panose="02010609060101010101" pitchFamily="49" charset="-122"/>
              </a:rPr>
              <a:t>SQL</a:t>
            </a:r>
            <a:r>
              <a:rPr lang="zh-CN" altLang="en-US" sz="1600" dirty="0">
                <a:solidFill>
                  <a:schemeClr val="tx1">
                    <a:lumMod val="65000"/>
                    <a:lumOff val="35000"/>
                  </a:schemeClr>
                </a:solidFill>
                <a:latin typeface="KaiTi" panose="02010609060101010101" pitchFamily="49" charset="-122"/>
                <a:ea typeface="KaiTi" panose="02010609060101010101" pitchFamily="49" charset="-122"/>
              </a:rPr>
              <a:t>语句的编写规则，附加一个永远为“真”的条件，使系统中某个认证条件总是成立，从而欺骗系统、躲过认证，进而侵入系统 </a:t>
            </a:r>
          </a:p>
        </p:txBody>
      </p:sp>
      <p:sp>
        <p:nvSpPr>
          <p:cNvPr id="2141189" name="Rectangle 5"/>
          <p:cNvSpPr>
            <a:spLocks noChangeArrowheads="1"/>
          </p:cNvSpPr>
          <p:nvPr/>
        </p:nvSpPr>
        <p:spPr bwMode="auto">
          <a:xfrm>
            <a:off x="2368869" y="1986330"/>
            <a:ext cx="65" cy="249299"/>
          </a:xfrm>
          <a:prstGeom prst="rect">
            <a:avLst/>
          </a:prstGeom>
          <a:solidFill>
            <a:srgbClr val="F3F3F3"/>
          </a:solidFill>
          <a:ln w="9525" algn="ctr">
            <a:noFill/>
            <a:miter lim="800000"/>
            <a:headEnd/>
            <a:tailEnd/>
          </a:ln>
          <a:effectLst/>
        </p:spPr>
        <p:txBody>
          <a:bodyPr wrap="none" lIns="0" tIns="0" rIns="0" bIns="0" anchor="ctr">
            <a:spAutoFit/>
          </a:bodyPr>
          <a:lstStyle/>
          <a:p>
            <a:endParaRPr lang="zh-CN" altLang="en-US" sz="1620"/>
          </a:p>
        </p:txBody>
      </p:sp>
      <p:graphicFrame>
        <p:nvGraphicFramePr>
          <p:cNvPr id="2141199" name="Group 15"/>
          <p:cNvGraphicFramePr>
            <a:graphicFrameLocks noGrp="1"/>
          </p:cNvGraphicFramePr>
          <p:nvPr>
            <p:extLst>
              <p:ext uri="{D42A27DB-BD31-4B8C-83A1-F6EECF244321}">
                <p14:modId xmlns:p14="http://schemas.microsoft.com/office/powerpoint/2010/main" val="810388832"/>
              </p:ext>
            </p:extLst>
          </p:nvPr>
        </p:nvGraphicFramePr>
        <p:xfrm>
          <a:off x="1526062" y="1923679"/>
          <a:ext cx="6286298" cy="2937966"/>
        </p:xfrm>
        <a:graphic>
          <a:graphicData uri="http://schemas.openxmlformats.org/drawingml/2006/table">
            <a:tbl>
              <a:tblPr/>
              <a:tblGrid>
                <a:gridCol w="6286298">
                  <a:extLst>
                    <a:ext uri="{9D8B030D-6E8A-4147-A177-3AD203B41FA5}">
                      <a16:colId xmlns:a16="http://schemas.microsoft.com/office/drawing/2014/main" val="20000"/>
                    </a:ext>
                  </a:extLst>
                </a:gridCol>
              </a:tblGrid>
              <a:tr h="2937966">
                <a:tc>
                  <a:txBody>
                    <a:bodyPr/>
                    <a:lstStyle/>
                    <a:p>
                      <a:pPr marL="0" marR="0" lvl="0" indent="285750" algn="l" defTabSz="914400" rtl="0" eaLnBrk="1" fontAlgn="base" latinLnBrk="0" hangingPunct="1">
                        <a:lnSpc>
                          <a:spcPct val="140000"/>
                        </a:lnSpc>
                        <a:spcBef>
                          <a:spcPct val="0"/>
                        </a:spcBef>
                        <a:spcAft>
                          <a:spcPct val="0"/>
                        </a:spcAft>
                        <a:buClrTx/>
                        <a:buSzTx/>
                        <a:buFontTx/>
                        <a:buNone/>
                        <a:tabLst/>
                      </a:pPr>
                      <a:r>
                        <a:rPr kumimoji="0" lang="en-US" altLang="zh-CN" sz="1500" b="0" i="0" u="none" strike="noStrike" cap="none" normalizeH="0" baseline="0" dirty="0">
                          <a:ln>
                            <a:noFill/>
                          </a:ln>
                          <a:solidFill>
                            <a:srgbClr val="000000"/>
                          </a:solidFill>
                          <a:effectLst/>
                          <a:latin typeface="Arial" charset="0"/>
                          <a:ea typeface="宋体" charset="-122"/>
                          <a:cs typeface="Arial" charset="0"/>
                        </a:rPr>
                        <a:t>Username=</a:t>
                      </a:r>
                      <a:r>
                        <a:rPr kumimoji="0" lang="en-US" altLang="zh-CN" sz="1500" b="0" i="0" u="none" strike="noStrike" cap="none" normalizeH="0" baseline="0" dirty="0" err="1">
                          <a:ln>
                            <a:noFill/>
                          </a:ln>
                          <a:solidFill>
                            <a:srgbClr val="000000"/>
                          </a:solidFill>
                          <a:effectLst/>
                          <a:latin typeface="Arial" charset="0"/>
                          <a:ea typeface="宋体" charset="-122"/>
                          <a:cs typeface="Arial" charset="0"/>
                        </a:rPr>
                        <a:t>Request.from</a:t>
                      </a:r>
                      <a:r>
                        <a:rPr kumimoji="0" lang="en-US" altLang="zh-CN" sz="1500" b="0" i="0" u="none" strike="noStrike" cap="none" normalizeH="0" baseline="0" dirty="0">
                          <a:ln>
                            <a:noFill/>
                          </a:ln>
                          <a:solidFill>
                            <a:srgbClr val="000000"/>
                          </a:solidFill>
                          <a:effectLst/>
                          <a:latin typeface="Arial" charset="0"/>
                          <a:ea typeface="宋体" charset="-122"/>
                          <a:cs typeface="Arial" charset="0"/>
                        </a:rPr>
                        <a:t>(“username”)</a:t>
                      </a:r>
                      <a:endParaRPr kumimoji="0" lang="en-US" altLang="zh-CN" sz="1500" b="0" i="0" u="none" strike="noStrike" cap="none" normalizeH="0" baseline="0" dirty="0">
                        <a:ln>
                          <a:noFill/>
                        </a:ln>
                        <a:solidFill>
                          <a:schemeClr val="tx1"/>
                        </a:solidFill>
                        <a:effectLst/>
                        <a:latin typeface="Times New Roman" pitchFamily="18" charset="0"/>
                        <a:ea typeface="宋体" charset="-122"/>
                        <a:cs typeface="Times New Roman" pitchFamily="18" charset="0"/>
                      </a:endParaRPr>
                    </a:p>
                    <a:p>
                      <a:pPr marL="0" marR="0" lvl="0" indent="285750" algn="l" defTabSz="914400" rtl="0" eaLnBrk="0" fontAlgn="base" latinLnBrk="0" hangingPunct="0">
                        <a:lnSpc>
                          <a:spcPct val="140000"/>
                        </a:lnSpc>
                        <a:spcBef>
                          <a:spcPct val="0"/>
                        </a:spcBef>
                        <a:spcAft>
                          <a:spcPct val="0"/>
                        </a:spcAft>
                        <a:buClrTx/>
                        <a:buSzTx/>
                        <a:buFontTx/>
                        <a:buNone/>
                        <a:tabLst/>
                      </a:pPr>
                      <a:r>
                        <a:rPr kumimoji="0" lang="en-US" altLang="zh-CN" sz="1500" b="0" i="0" u="none" strike="noStrike" cap="none" normalizeH="0" baseline="0" dirty="0">
                          <a:ln>
                            <a:noFill/>
                          </a:ln>
                          <a:solidFill>
                            <a:srgbClr val="000000"/>
                          </a:solidFill>
                          <a:effectLst/>
                          <a:latin typeface="Arial" charset="0"/>
                          <a:ea typeface="宋体" charset="-122"/>
                          <a:cs typeface="Arial" charset="0"/>
                        </a:rPr>
                        <a:t>Password=</a:t>
                      </a:r>
                      <a:r>
                        <a:rPr kumimoji="0" lang="en-US" altLang="zh-CN" sz="1500" b="0" i="0" u="none" strike="noStrike" cap="none" normalizeH="0" baseline="0" dirty="0" err="1">
                          <a:ln>
                            <a:noFill/>
                          </a:ln>
                          <a:solidFill>
                            <a:srgbClr val="000000"/>
                          </a:solidFill>
                          <a:effectLst/>
                          <a:latin typeface="Arial" charset="0"/>
                          <a:ea typeface="宋体" charset="-122"/>
                          <a:cs typeface="Arial" charset="0"/>
                        </a:rPr>
                        <a:t>Request.from</a:t>
                      </a:r>
                      <a:r>
                        <a:rPr kumimoji="0" lang="en-US" altLang="zh-CN" sz="1500" b="0" i="0" u="none" strike="noStrike" cap="none" normalizeH="0" baseline="0" dirty="0">
                          <a:ln>
                            <a:noFill/>
                          </a:ln>
                          <a:solidFill>
                            <a:srgbClr val="000000"/>
                          </a:solidFill>
                          <a:effectLst/>
                          <a:latin typeface="Arial" charset="0"/>
                          <a:ea typeface="宋体" charset="-122"/>
                          <a:cs typeface="Arial" charset="0"/>
                        </a:rPr>
                        <a:t>(“password”)</a:t>
                      </a:r>
                      <a:endParaRPr kumimoji="0" lang="en-US" altLang="zh-CN" sz="1500" b="0" i="0" u="none" strike="noStrike" cap="none" normalizeH="0" baseline="0" dirty="0">
                        <a:ln>
                          <a:noFill/>
                        </a:ln>
                        <a:solidFill>
                          <a:schemeClr val="tx1"/>
                        </a:solidFill>
                        <a:effectLst/>
                        <a:latin typeface="Times New Roman" pitchFamily="18" charset="0"/>
                        <a:ea typeface="宋体" charset="-122"/>
                        <a:cs typeface="Times New Roman" pitchFamily="18" charset="0"/>
                      </a:endParaRPr>
                    </a:p>
                    <a:p>
                      <a:pPr marL="0" marR="0" lvl="0" indent="285750" algn="l" defTabSz="914400" rtl="0" eaLnBrk="0" fontAlgn="base" latinLnBrk="0" hangingPunct="0">
                        <a:lnSpc>
                          <a:spcPct val="140000"/>
                        </a:lnSpc>
                        <a:spcBef>
                          <a:spcPct val="0"/>
                        </a:spcBef>
                        <a:spcAft>
                          <a:spcPct val="0"/>
                        </a:spcAft>
                        <a:buClrTx/>
                        <a:buSzTx/>
                        <a:buFontTx/>
                        <a:buNone/>
                        <a:tabLst/>
                      </a:pPr>
                      <a:r>
                        <a:rPr kumimoji="0" lang="en-US" altLang="zh-CN" sz="1500" b="0" i="0" u="none" strike="noStrike" cap="none" normalizeH="0" baseline="0" dirty="0" err="1">
                          <a:ln>
                            <a:noFill/>
                          </a:ln>
                          <a:solidFill>
                            <a:srgbClr val="000000"/>
                          </a:solidFill>
                          <a:effectLst/>
                          <a:latin typeface="Arial" charset="0"/>
                          <a:ea typeface="宋体" charset="-122"/>
                        </a:rPr>
                        <a:t>xSql</a:t>
                      </a:r>
                      <a:r>
                        <a:rPr kumimoji="0" lang="en-US" altLang="zh-CN" sz="1500" b="0" i="0" u="none" strike="noStrike" cap="none" normalizeH="0" baseline="0" dirty="0">
                          <a:ln>
                            <a:noFill/>
                          </a:ln>
                          <a:solidFill>
                            <a:srgbClr val="000000"/>
                          </a:solidFill>
                          <a:effectLst/>
                          <a:latin typeface="Arial" charset="0"/>
                          <a:ea typeface="宋体" charset="-122"/>
                        </a:rPr>
                        <a:t>=”select * from admin where username=’”&amp;</a:t>
                      </a:r>
                      <a:r>
                        <a:rPr kumimoji="0" lang="en-US" altLang="zh-CN" sz="1500" b="0" i="0" u="none" strike="noStrike" cap="none" normalizeH="0" baseline="0" dirty="0" err="1">
                          <a:ln>
                            <a:noFill/>
                          </a:ln>
                          <a:solidFill>
                            <a:srgbClr val="000000"/>
                          </a:solidFill>
                          <a:effectLst/>
                          <a:latin typeface="Arial" charset="0"/>
                          <a:ea typeface="宋体" charset="-122"/>
                        </a:rPr>
                        <a:t>usename</a:t>
                      </a:r>
                      <a:r>
                        <a:rPr kumimoji="0" lang="en-US" altLang="zh-CN" sz="1500" b="0" i="0" u="none" strike="noStrike" cap="none" normalizeH="0" baseline="0" dirty="0">
                          <a:ln>
                            <a:noFill/>
                          </a:ln>
                          <a:solidFill>
                            <a:srgbClr val="000000"/>
                          </a:solidFill>
                          <a:effectLst/>
                          <a:latin typeface="Arial" charset="0"/>
                          <a:ea typeface="宋体" charset="-122"/>
                        </a:rPr>
                        <a:t>&amp;” ’ and password=’”&amp;password &amp;” ’”</a:t>
                      </a:r>
                      <a:endParaRPr kumimoji="0" lang="en-US" altLang="zh-CN" sz="1500" b="0" i="0" u="none" strike="noStrike" cap="none" normalizeH="0" baseline="0" dirty="0">
                        <a:ln>
                          <a:noFill/>
                        </a:ln>
                        <a:solidFill>
                          <a:schemeClr val="tx1"/>
                        </a:solidFill>
                        <a:effectLst/>
                        <a:latin typeface="Times New Roman" pitchFamily="18" charset="0"/>
                        <a:ea typeface="宋体" charset="-122"/>
                        <a:cs typeface="Times New Roman" pitchFamily="18" charset="0"/>
                      </a:endParaRPr>
                    </a:p>
                    <a:p>
                      <a:pPr marL="0" marR="0" lvl="0" indent="285750" algn="l" defTabSz="914400" rtl="0" eaLnBrk="0" fontAlgn="base" latinLnBrk="0" hangingPunct="0">
                        <a:lnSpc>
                          <a:spcPct val="140000"/>
                        </a:lnSpc>
                        <a:spcBef>
                          <a:spcPct val="0"/>
                        </a:spcBef>
                        <a:spcAft>
                          <a:spcPct val="0"/>
                        </a:spcAft>
                        <a:buClrTx/>
                        <a:buSzTx/>
                        <a:buFontTx/>
                        <a:buNone/>
                        <a:tabLst/>
                      </a:pPr>
                      <a:r>
                        <a:rPr kumimoji="0" lang="en-US" altLang="zh-CN" sz="1500" b="0" i="0" u="none" strike="noStrike" cap="none" normalizeH="0" baseline="0" dirty="0" err="1">
                          <a:ln>
                            <a:noFill/>
                          </a:ln>
                          <a:solidFill>
                            <a:srgbClr val="000000"/>
                          </a:solidFill>
                          <a:effectLst/>
                          <a:latin typeface="Arial" charset="0"/>
                          <a:ea typeface="宋体" charset="-122"/>
                        </a:rPr>
                        <a:t>Rs.open</a:t>
                      </a:r>
                      <a:r>
                        <a:rPr kumimoji="0" lang="en-US" altLang="zh-CN" sz="1500" b="0" i="0" u="none" strike="noStrike" cap="none" normalizeH="0" baseline="0" dirty="0">
                          <a:ln>
                            <a:noFill/>
                          </a:ln>
                          <a:solidFill>
                            <a:srgbClr val="000000"/>
                          </a:solidFill>
                          <a:effectLst/>
                          <a:latin typeface="Arial" charset="0"/>
                          <a:ea typeface="宋体" charset="-122"/>
                        </a:rPr>
                        <a:t> xSql.com.0.3</a:t>
                      </a:r>
                      <a:endParaRPr kumimoji="0" lang="en-US" altLang="zh-CN" sz="1500" b="0" i="0" u="none" strike="noStrike" cap="none" normalizeH="0" baseline="0" dirty="0">
                        <a:ln>
                          <a:noFill/>
                        </a:ln>
                        <a:solidFill>
                          <a:schemeClr val="tx1"/>
                        </a:solidFill>
                        <a:effectLst/>
                        <a:latin typeface="Times New Roman" pitchFamily="18" charset="0"/>
                        <a:ea typeface="宋体" charset="-122"/>
                        <a:cs typeface="Times New Roman" pitchFamily="18" charset="0"/>
                      </a:endParaRPr>
                    </a:p>
                    <a:p>
                      <a:pPr marL="0" marR="0" lvl="0" indent="285750" algn="l" defTabSz="914400" rtl="0" eaLnBrk="0" fontAlgn="base" latinLnBrk="0" hangingPunct="0">
                        <a:lnSpc>
                          <a:spcPct val="140000"/>
                        </a:lnSpc>
                        <a:spcBef>
                          <a:spcPct val="0"/>
                        </a:spcBef>
                        <a:spcAft>
                          <a:spcPct val="0"/>
                        </a:spcAft>
                        <a:buClrTx/>
                        <a:buSzTx/>
                        <a:buFontTx/>
                        <a:buNone/>
                        <a:tabLst/>
                      </a:pPr>
                      <a:r>
                        <a:rPr kumimoji="0" lang="en-US" altLang="zh-CN" sz="1500" b="0" i="0" u="none" strike="noStrike" cap="none" normalizeH="0" baseline="0" dirty="0">
                          <a:ln>
                            <a:noFill/>
                          </a:ln>
                          <a:solidFill>
                            <a:srgbClr val="000000"/>
                          </a:solidFill>
                          <a:effectLst/>
                          <a:latin typeface="Arial" charset="0"/>
                          <a:ea typeface="宋体" charset="-122"/>
                        </a:rPr>
                        <a:t>If not </a:t>
                      </a:r>
                      <a:r>
                        <a:rPr kumimoji="0" lang="en-US" altLang="zh-CN" sz="1500" b="0" i="0" u="none" strike="noStrike" cap="none" normalizeH="0" baseline="0" dirty="0" err="1">
                          <a:ln>
                            <a:noFill/>
                          </a:ln>
                          <a:solidFill>
                            <a:srgbClr val="000000"/>
                          </a:solidFill>
                          <a:effectLst/>
                          <a:latin typeface="Arial" charset="0"/>
                          <a:ea typeface="宋体" charset="-122"/>
                        </a:rPr>
                        <a:t>rs.eof</a:t>
                      </a:r>
                      <a:r>
                        <a:rPr kumimoji="0" lang="en-US" altLang="zh-CN" sz="1500" b="0" i="0" u="none" strike="noStrike" cap="none" normalizeH="0" baseline="0" dirty="0">
                          <a:ln>
                            <a:noFill/>
                          </a:ln>
                          <a:solidFill>
                            <a:srgbClr val="000000"/>
                          </a:solidFill>
                          <a:effectLst/>
                          <a:latin typeface="Arial" charset="0"/>
                          <a:ea typeface="宋体" charset="-122"/>
                        </a:rPr>
                        <a:t> then</a:t>
                      </a:r>
                      <a:endParaRPr kumimoji="0" lang="en-US" altLang="zh-CN" sz="1500" b="0" i="0" u="none" strike="noStrike" cap="none" normalizeH="0" baseline="0" dirty="0">
                        <a:ln>
                          <a:noFill/>
                        </a:ln>
                        <a:solidFill>
                          <a:schemeClr val="tx1"/>
                        </a:solidFill>
                        <a:effectLst/>
                        <a:latin typeface="Times New Roman" pitchFamily="18" charset="0"/>
                        <a:ea typeface="宋体" charset="-122"/>
                        <a:cs typeface="Times New Roman" pitchFamily="18" charset="0"/>
                      </a:endParaRPr>
                    </a:p>
                    <a:p>
                      <a:pPr marL="539750" marR="0" lvl="0" indent="0" algn="l" defTabSz="914400" rtl="0" eaLnBrk="0" fontAlgn="base" latinLnBrk="0" hangingPunct="0">
                        <a:lnSpc>
                          <a:spcPct val="140000"/>
                        </a:lnSpc>
                        <a:spcBef>
                          <a:spcPct val="0"/>
                        </a:spcBef>
                        <a:spcAft>
                          <a:spcPct val="0"/>
                        </a:spcAft>
                        <a:buClrTx/>
                        <a:buSzTx/>
                        <a:buFontTx/>
                        <a:buNone/>
                        <a:tabLst/>
                      </a:pPr>
                      <a:r>
                        <a:rPr kumimoji="0" lang="en-US" altLang="zh-CN" sz="1500" b="0" i="0" u="none" strike="noStrike" cap="none" normalizeH="0" baseline="0" dirty="0">
                          <a:ln>
                            <a:noFill/>
                          </a:ln>
                          <a:solidFill>
                            <a:srgbClr val="000000"/>
                          </a:solidFill>
                          <a:effectLst/>
                          <a:latin typeface="Arial" charset="0"/>
                          <a:ea typeface="宋体" charset="-122"/>
                        </a:rPr>
                        <a:t>Session(“login”)=true</a:t>
                      </a:r>
                      <a:endParaRPr kumimoji="0" lang="en-US" altLang="zh-CN" sz="1500" b="0" i="0" u="none" strike="noStrike" cap="none" normalizeH="0" baseline="0" dirty="0">
                        <a:ln>
                          <a:noFill/>
                        </a:ln>
                        <a:solidFill>
                          <a:schemeClr val="tx1"/>
                        </a:solidFill>
                        <a:effectLst/>
                        <a:latin typeface="Times New Roman" pitchFamily="18" charset="0"/>
                        <a:ea typeface="宋体" charset="-122"/>
                        <a:cs typeface="Times New Roman" pitchFamily="18" charset="0"/>
                      </a:endParaRPr>
                    </a:p>
                    <a:p>
                      <a:pPr marL="539750" marR="0" lvl="0" indent="0" algn="l" defTabSz="914400" rtl="0" eaLnBrk="0" fontAlgn="base" latinLnBrk="0" hangingPunct="0">
                        <a:lnSpc>
                          <a:spcPct val="140000"/>
                        </a:lnSpc>
                        <a:spcBef>
                          <a:spcPct val="0"/>
                        </a:spcBef>
                        <a:spcAft>
                          <a:spcPct val="0"/>
                        </a:spcAft>
                        <a:buClrTx/>
                        <a:buSzTx/>
                        <a:buFontTx/>
                        <a:buNone/>
                        <a:tabLst/>
                      </a:pPr>
                      <a:r>
                        <a:rPr kumimoji="0" lang="en-US" altLang="zh-CN" sz="1500" b="0" i="0" u="none" strike="noStrike" cap="none" normalizeH="0" baseline="0" dirty="0" err="1">
                          <a:ln>
                            <a:noFill/>
                          </a:ln>
                          <a:solidFill>
                            <a:srgbClr val="000000"/>
                          </a:solidFill>
                          <a:effectLst/>
                          <a:latin typeface="Arial" charset="0"/>
                          <a:ea typeface="宋体" charset="-122"/>
                        </a:rPr>
                        <a:t>Response.redirect</a:t>
                      </a:r>
                      <a:r>
                        <a:rPr kumimoji="0" lang="en-US" altLang="zh-CN" sz="1500" b="0" i="0" u="none" strike="noStrike" cap="none" normalizeH="0" baseline="0" dirty="0">
                          <a:ln>
                            <a:noFill/>
                          </a:ln>
                          <a:solidFill>
                            <a:srgbClr val="000000"/>
                          </a:solidFill>
                          <a:effectLst/>
                          <a:latin typeface="Arial" charset="0"/>
                          <a:ea typeface="宋体" charset="-122"/>
                        </a:rPr>
                        <a:t>(“next.asp”)</a:t>
                      </a:r>
                      <a:endParaRPr kumimoji="0" lang="en-US" altLang="zh-CN" sz="1500" b="0" i="0" u="none" strike="noStrike" cap="none" normalizeH="0" baseline="0" dirty="0">
                        <a:ln>
                          <a:noFill/>
                        </a:ln>
                        <a:solidFill>
                          <a:schemeClr val="tx1"/>
                        </a:solidFill>
                        <a:effectLst/>
                        <a:latin typeface="Times New Roman" pitchFamily="18" charset="0"/>
                        <a:ea typeface="宋体" charset="-122"/>
                        <a:cs typeface="Times New Roman" pitchFamily="18" charset="0"/>
                      </a:endParaRPr>
                    </a:p>
                    <a:p>
                      <a:pPr marL="0" marR="0" lvl="0" indent="285750" algn="l" defTabSz="914400" rtl="0" eaLnBrk="0" fontAlgn="base" latinLnBrk="0" hangingPunct="0">
                        <a:lnSpc>
                          <a:spcPct val="140000"/>
                        </a:lnSpc>
                        <a:spcBef>
                          <a:spcPct val="0"/>
                        </a:spcBef>
                        <a:spcAft>
                          <a:spcPct val="0"/>
                        </a:spcAft>
                        <a:buClrTx/>
                        <a:buSzTx/>
                        <a:buFontTx/>
                        <a:buNone/>
                        <a:tabLst/>
                      </a:pPr>
                      <a:r>
                        <a:rPr kumimoji="0" lang="en-US" altLang="zh-CN" sz="1500" b="0" i="0" u="none" strike="noStrike" cap="none" normalizeH="0" baseline="0" dirty="0">
                          <a:ln>
                            <a:noFill/>
                          </a:ln>
                          <a:solidFill>
                            <a:srgbClr val="000000"/>
                          </a:solidFill>
                          <a:effectLst/>
                          <a:latin typeface="Arial" charset="0"/>
                          <a:ea typeface="宋体" charset="-122"/>
                        </a:rPr>
                        <a:t>End if</a:t>
                      </a:r>
                      <a:endParaRPr kumimoji="0" lang="en-US" altLang="zh-CN" sz="1500" b="0" i="0" u="none" strike="noStrike" cap="none" normalizeH="0" baseline="0" dirty="0">
                        <a:ln>
                          <a:noFill/>
                        </a:ln>
                        <a:solidFill>
                          <a:schemeClr val="tx1"/>
                        </a:solidFill>
                        <a:effectLst/>
                        <a:latin typeface="Times New Roman" pitchFamily="18" charset="0"/>
                        <a:ea typeface="宋体"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bl>
          </a:graphicData>
        </a:graphic>
      </p:graphicFrame>
      <p:sp>
        <p:nvSpPr>
          <p:cNvPr id="2141200" name="Rectangle 16"/>
          <p:cNvSpPr>
            <a:spLocks noChangeArrowheads="1"/>
          </p:cNvSpPr>
          <p:nvPr/>
        </p:nvSpPr>
        <p:spPr bwMode="auto">
          <a:xfrm>
            <a:off x="5155266" y="3156613"/>
            <a:ext cx="1309654" cy="332399"/>
          </a:xfrm>
          <a:prstGeom prst="rect">
            <a:avLst/>
          </a:prstGeom>
          <a:noFill/>
          <a:ln w="9525" algn="ctr">
            <a:noFill/>
            <a:miter lim="800000"/>
            <a:headEnd/>
            <a:tailEnd/>
          </a:ln>
          <a:effectLst/>
        </p:spPr>
        <p:txBody>
          <a:bodyPr wrap="none" lIns="0" tIns="0" rIns="0" bIns="0" anchor="ctr">
            <a:spAutoFit/>
          </a:bodyPr>
          <a:lstStyle/>
          <a:p>
            <a:r>
              <a:rPr lang="fr-FR" altLang="zh-CN" sz="2160" dirty="0">
                <a:solidFill>
                  <a:srgbClr val="FF0000"/>
                </a:solidFill>
              </a:rPr>
              <a:t>' OR '1' = '1 </a:t>
            </a:r>
            <a:endParaRPr lang="en-US" altLang="zh-CN" sz="2160" dirty="0">
              <a:solidFill>
                <a:srgbClr val="FF0000"/>
              </a:solidFill>
              <a:ea typeface="宋体" charset="-122"/>
            </a:endParaRPr>
          </a:p>
        </p:txBody>
      </p:sp>
      <p:sp>
        <p:nvSpPr>
          <p:cNvPr id="2141202" name="Freeform 18"/>
          <p:cNvSpPr>
            <a:spLocks/>
          </p:cNvSpPr>
          <p:nvPr/>
        </p:nvSpPr>
        <p:spPr bwMode="auto">
          <a:xfrm flipH="1">
            <a:off x="3599892" y="3125095"/>
            <a:ext cx="1490566" cy="249299"/>
          </a:xfrm>
          <a:custGeom>
            <a:avLst/>
            <a:gdLst/>
            <a:ahLst/>
            <a:cxnLst>
              <a:cxn ang="0">
                <a:pos x="0" y="839"/>
              </a:cxn>
              <a:cxn ang="0">
                <a:pos x="158" y="544"/>
              </a:cxn>
              <a:cxn ang="0">
                <a:pos x="385" y="0"/>
              </a:cxn>
            </a:cxnLst>
            <a:rect l="0" t="0" r="r" b="b"/>
            <a:pathLst>
              <a:path w="385" h="839">
                <a:moveTo>
                  <a:pt x="0" y="839"/>
                </a:moveTo>
                <a:cubicBezTo>
                  <a:pt x="47" y="761"/>
                  <a:pt x="94" y="684"/>
                  <a:pt x="158" y="544"/>
                </a:cubicBezTo>
                <a:cubicBezTo>
                  <a:pt x="222" y="404"/>
                  <a:pt x="303" y="202"/>
                  <a:pt x="385" y="0"/>
                </a:cubicBezTo>
              </a:path>
            </a:pathLst>
          </a:custGeom>
          <a:noFill/>
          <a:ln w="19050" cap="flat" cmpd="sng">
            <a:solidFill>
              <a:srgbClr val="FF0000"/>
            </a:solidFill>
            <a:prstDash val="sysDash"/>
            <a:round/>
            <a:headEnd type="none" w="med" len="med"/>
            <a:tailEnd type="arrow" w="med" len="med"/>
          </a:ln>
          <a:effectLst/>
        </p:spPr>
        <p:txBody>
          <a:bodyPr wrap="square" lIns="0" tIns="0" rIns="0" bIns="0" anchor="ctr">
            <a:spAutoFit/>
          </a:bodyPr>
          <a:lstStyle/>
          <a:p>
            <a:endParaRPr lang="zh-CN" altLang="en-US" sz="1620"/>
          </a:p>
        </p:txBody>
      </p:sp>
    </p:spTree>
    <p:extLst>
      <p:ext uri="{BB962C8B-B14F-4D97-AF65-F5344CB8AC3E}">
        <p14:creationId xmlns:p14="http://schemas.microsoft.com/office/powerpoint/2010/main" val="3333468897"/>
      </p:ext>
    </p:extLst>
  </p:cSld>
  <p:clrMapOvr>
    <a:masterClrMapping/>
  </p:clrMapOvr>
  <p:transition spd="slow">
    <p:wipe dir="r"/>
  </p:transition>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89572" y="334552"/>
            <a:ext cx="6215062" cy="421482"/>
          </a:xfrm>
        </p:spPr>
        <p:txBody>
          <a:bodyPr>
            <a:normAutofit fontScale="90000"/>
          </a:bodyPr>
          <a:lstStyle/>
          <a:p>
            <a:pPr>
              <a:buClr>
                <a:schemeClr val="accent4"/>
              </a:buClr>
            </a:pPr>
            <a:r>
              <a:rPr lang="en-US" altLang="zh-CN" dirty="0"/>
              <a:t>XML</a:t>
            </a:r>
            <a:r>
              <a:rPr lang="zh-CN" altLang="en-US" dirty="0"/>
              <a:t>注入</a:t>
            </a:r>
          </a:p>
        </p:txBody>
      </p:sp>
      <p:sp>
        <p:nvSpPr>
          <p:cNvPr id="6" name="TextBox 5"/>
          <p:cNvSpPr txBox="1"/>
          <p:nvPr/>
        </p:nvSpPr>
        <p:spPr>
          <a:xfrm>
            <a:off x="4572000" y="2636557"/>
            <a:ext cx="3823625" cy="2086725"/>
          </a:xfrm>
          <a:prstGeom prst="rect">
            <a:avLst/>
          </a:prstGeom>
          <a:solidFill>
            <a:schemeClr val="accent6">
              <a:lumMod val="40000"/>
              <a:lumOff val="60000"/>
            </a:schemeClr>
          </a:solidFill>
        </p:spPr>
        <p:txBody>
          <a:bodyPr wrap="square" rtlCol="0">
            <a:spAutoFit/>
          </a:bodyPr>
          <a:lstStyle/>
          <a:p>
            <a:r>
              <a:rPr lang="en-US" altLang="zh-CN" sz="1440" dirty="0"/>
              <a:t>&lt;?xml version="1.0" encoding="UTF-8"?&gt;</a:t>
            </a:r>
          </a:p>
          <a:p>
            <a:r>
              <a:rPr lang="en-US" altLang="zh-CN" sz="1440" dirty="0"/>
              <a:t>&lt;USER role=guest&gt;</a:t>
            </a:r>
          </a:p>
          <a:p>
            <a:r>
              <a:rPr lang="en-US" altLang="zh-CN" sz="1440" dirty="0"/>
              <a:t>	&lt;name&gt;user1&lt;/name&gt;</a:t>
            </a:r>
          </a:p>
          <a:p>
            <a:r>
              <a:rPr lang="en-US" altLang="zh-CN" sz="1440" dirty="0"/>
              <a:t>	&lt;email&gt;user1@a.com&lt;/email&gt;</a:t>
            </a:r>
          </a:p>
          <a:p>
            <a:r>
              <a:rPr lang="en-US" altLang="zh-CN" sz="1440" dirty="0">
                <a:solidFill>
                  <a:srgbClr val="FF0000"/>
                </a:solidFill>
              </a:rPr>
              <a:t>&lt;/USER&gt;</a:t>
            </a:r>
          </a:p>
          <a:p>
            <a:r>
              <a:rPr lang="en-US" altLang="zh-CN" sz="1440" dirty="0">
                <a:solidFill>
                  <a:srgbClr val="FF0000"/>
                </a:solidFill>
              </a:rPr>
              <a:t>&lt;USER role=admin&gt;</a:t>
            </a:r>
          </a:p>
          <a:p>
            <a:r>
              <a:rPr lang="en-US" altLang="zh-CN" sz="1440" dirty="0">
                <a:solidFill>
                  <a:srgbClr val="FF0000"/>
                </a:solidFill>
              </a:rPr>
              <a:t>	&lt;name&gt;test&lt;/name&gt;</a:t>
            </a:r>
          </a:p>
          <a:p>
            <a:r>
              <a:rPr lang="en-US" altLang="zh-CN" sz="1440" dirty="0">
                <a:solidFill>
                  <a:srgbClr val="FF0000"/>
                </a:solidFill>
              </a:rPr>
              <a:t>	&lt;email&gt;user2@a.com&lt;/email&gt;</a:t>
            </a:r>
          </a:p>
          <a:p>
            <a:r>
              <a:rPr lang="en-US" altLang="zh-CN" sz="1440" dirty="0"/>
              <a:t>&lt;/USER&gt;</a:t>
            </a:r>
          </a:p>
        </p:txBody>
      </p:sp>
      <p:sp>
        <p:nvSpPr>
          <p:cNvPr id="8" name="TextBox 5"/>
          <p:cNvSpPr txBox="1"/>
          <p:nvPr/>
        </p:nvSpPr>
        <p:spPr>
          <a:xfrm>
            <a:off x="813182" y="1275607"/>
            <a:ext cx="3564396" cy="1200329"/>
          </a:xfrm>
          <a:prstGeom prst="rect">
            <a:avLst/>
          </a:prstGeom>
          <a:solidFill>
            <a:schemeClr val="accent6">
              <a:lumMod val="40000"/>
              <a:lumOff val="60000"/>
            </a:schemeClr>
          </a:solidFill>
        </p:spPr>
        <p:txBody>
          <a:bodyPr wrap="square" rtlCol="0">
            <a:spAutoFit/>
          </a:bodyPr>
          <a:lstStyle/>
          <a:p>
            <a:r>
              <a:rPr lang="en-US" altLang="zh-CN" sz="1440" dirty="0"/>
              <a:t>&lt;?xml version="1.0" encoding="UTF-8"?&gt;</a:t>
            </a:r>
          </a:p>
          <a:p>
            <a:r>
              <a:rPr lang="en-US" altLang="zh-CN" sz="1440" dirty="0"/>
              <a:t>&lt;USER role=guest&gt;</a:t>
            </a:r>
          </a:p>
          <a:p>
            <a:r>
              <a:rPr lang="en-US" altLang="zh-CN" sz="1440" dirty="0"/>
              <a:t>	&lt;name&gt;user1&lt;/name&gt;</a:t>
            </a:r>
          </a:p>
          <a:p>
            <a:r>
              <a:rPr lang="en-US" altLang="zh-CN" sz="1440" dirty="0"/>
              <a:t>	&lt;email&gt;user1@a.com&lt;/email&gt;</a:t>
            </a:r>
          </a:p>
          <a:p>
            <a:r>
              <a:rPr lang="en-US" altLang="zh-CN" sz="1440" dirty="0"/>
              <a:t>&lt;/USER&gt;</a:t>
            </a:r>
          </a:p>
        </p:txBody>
      </p:sp>
      <p:sp>
        <p:nvSpPr>
          <p:cNvPr id="3" name="直角上箭头 2"/>
          <p:cNvSpPr/>
          <p:nvPr/>
        </p:nvSpPr>
        <p:spPr>
          <a:xfrm rot="5400000">
            <a:off x="2984224" y="2474539"/>
            <a:ext cx="1425758" cy="1620180"/>
          </a:xfrm>
          <a:prstGeom prst="bentUpArrow">
            <a:avLst>
              <a:gd name="adj1" fmla="val 21545"/>
              <a:gd name="adj2" fmla="val 22581"/>
              <a:gd name="adj3" fmla="val 42737"/>
            </a:avLst>
          </a:prstGeom>
          <a:gradFill flip="none" rotWithShape="1">
            <a:gsLst>
              <a:gs pos="0">
                <a:schemeClr val="accent6">
                  <a:lumMod val="20000"/>
                  <a:lumOff val="80000"/>
                </a:schemeClr>
              </a:gs>
              <a:gs pos="100000">
                <a:srgbClr val="FF6600"/>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p>
        </p:txBody>
      </p:sp>
    </p:spTree>
    <p:extLst>
      <p:ext uri="{BB962C8B-B14F-4D97-AF65-F5344CB8AC3E}">
        <p14:creationId xmlns:p14="http://schemas.microsoft.com/office/powerpoint/2010/main" val="308176696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right)">
                                      <p:cBhvr>
                                        <p:cTn id="8" dur="500"/>
                                        <p:tgtEl>
                                          <p:spTgt spid="6"/>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p:tgtEl>
                                          <p:spTgt spid="3"/>
                                        </p:tgtEl>
                                        <p:attrNameLst>
                                          <p:attrName>ppt_x</p:attrName>
                                        </p:attrNameLst>
                                      </p:cBhvr>
                                      <p:tavLst>
                                        <p:tav tm="0">
                                          <p:val>
                                            <p:strVal val="#ppt_x-#ppt_w*1.125000"/>
                                          </p:val>
                                        </p:tav>
                                        <p:tav tm="100000">
                                          <p:val>
                                            <p:strVal val="#ppt_x"/>
                                          </p:val>
                                        </p:tav>
                                      </p:tavLst>
                                    </p:anim>
                                    <p:animEffect transition="in" filter="wipe(righ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516506" y="308673"/>
            <a:ext cx="6215062" cy="421482"/>
          </a:xfrm>
        </p:spPr>
        <p:txBody>
          <a:bodyPr>
            <a:noAutofit/>
          </a:bodyPr>
          <a:lstStyle/>
          <a:p>
            <a:pPr>
              <a:buClr>
                <a:schemeClr val="accent4"/>
              </a:buClr>
            </a:pPr>
            <a:r>
              <a:rPr lang="zh-CN" altLang="en-US" dirty="0"/>
              <a:t>会话劫持</a:t>
            </a:r>
          </a:p>
        </p:txBody>
      </p:sp>
      <p:sp>
        <p:nvSpPr>
          <p:cNvPr id="4" name="矩形 3"/>
          <p:cNvSpPr/>
          <p:nvPr/>
        </p:nvSpPr>
        <p:spPr>
          <a:xfrm>
            <a:off x="632246" y="817424"/>
            <a:ext cx="8054554" cy="1200329"/>
          </a:xfrm>
          <a:prstGeom prst="rect">
            <a:avLst/>
          </a:prstGeom>
        </p:spPr>
        <p:txBody>
          <a:bodyPr wrap="square">
            <a:spAutoFit/>
          </a:bodyPr>
          <a:lstStyle/>
          <a:p>
            <a:r>
              <a:rPr lang="zh-CN" altLang="en-US" dirty="0"/>
              <a:t>通过</a:t>
            </a:r>
            <a:r>
              <a:rPr lang="en-US" altLang="zh-CN" dirty="0"/>
              <a:t>Cookie</a:t>
            </a:r>
            <a:r>
              <a:rPr lang="zh-CN" altLang="en-US" dirty="0"/>
              <a:t>或者</a:t>
            </a:r>
            <a:r>
              <a:rPr lang="en-US" altLang="zh-CN" dirty="0"/>
              <a:t>Session</a:t>
            </a:r>
            <a:r>
              <a:rPr lang="zh-CN" altLang="en-US" dirty="0"/>
              <a:t>判断和跟踪不同的用户，由于</a:t>
            </a:r>
            <a:r>
              <a:rPr lang="en-US" altLang="zh-CN" dirty="0"/>
              <a:t>Cookie</a:t>
            </a:r>
            <a:r>
              <a:rPr lang="zh-CN" altLang="en-US" dirty="0"/>
              <a:t>失效时间很长，攻击手段一般是盗取用户</a:t>
            </a:r>
            <a:r>
              <a:rPr lang="en-US" altLang="zh-CN" dirty="0"/>
              <a:t>Cookie</a:t>
            </a:r>
            <a:r>
              <a:rPr lang="zh-CN" altLang="en-US" dirty="0"/>
              <a:t>然后伪造</a:t>
            </a:r>
            <a:r>
              <a:rPr lang="en-US" altLang="zh-CN" dirty="0"/>
              <a:t>Cookie</a:t>
            </a:r>
            <a:r>
              <a:rPr lang="zh-CN" altLang="en-US" dirty="0"/>
              <a:t>冒充该用户，从而劫持会话。</a:t>
            </a:r>
            <a:endParaRPr lang="en-US" altLang="zh-CN" dirty="0"/>
          </a:p>
          <a:p>
            <a:endParaRPr lang="en-US" altLang="zh-CN" b="1" dirty="0"/>
          </a:p>
          <a:p>
            <a:r>
              <a:rPr lang="zh-CN" altLang="en-US" dirty="0"/>
              <a:t>也可以通过</a:t>
            </a:r>
            <a:r>
              <a:rPr lang="en-US" altLang="zh-CN" dirty="0"/>
              <a:t>XSS</a:t>
            </a:r>
            <a:r>
              <a:rPr lang="zh-CN" altLang="en-US" dirty="0"/>
              <a:t>来劫持，如</a:t>
            </a:r>
            <a:r>
              <a:rPr lang="en-US" altLang="zh-CN" dirty="0"/>
              <a:t>Cross-Site JS</a:t>
            </a:r>
            <a:r>
              <a:rPr lang="zh-CN" altLang="en-US" dirty="0"/>
              <a:t>的</a:t>
            </a:r>
            <a:r>
              <a:rPr lang="en-US" altLang="zh-CN" dirty="0" err="1"/>
              <a:t>document.cookie</a:t>
            </a:r>
            <a:r>
              <a:rPr lang="en-US" altLang="zh-CN" dirty="0"/>
              <a:t>()</a:t>
            </a:r>
            <a:r>
              <a:rPr lang="zh-CN" altLang="en-US" dirty="0"/>
              <a:t>方法获得</a:t>
            </a:r>
            <a:r>
              <a:rPr lang="en-US" altLang="zh-CN" dirty="0"/>
              <a:t>Cookie</a:t>
            </a:r>
          </a:p>
        </p:txBody>
      </p:sp>
      <p:pic>
        <p:nvPicPr>
          <p:cNvPr id="67586" name="Picture 2" descr="http://aqoonkorodhsi.com/topic-image/a130470692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44950" y="2105022"/>
            <a:ext cx="4454099" cy="272980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16288811"/>
      </p:ext>
    </p:extLst>
  </p:cSld>
  <p:clrMapOvr>
    <a:masterClrMapping/>
  </p:clrMapOvr>
  <p:transition spd="slow">
    <p:wipe dir="r"/>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551495" y="352658"/>
            <a:ext cx="5616680" cy="421482"/>
          </a:xfrm>
        </p:spPr>
        <p:txBody>
          <a:bodyPr>
            <a:normAutofit fontScale="90000"/>
          </a:bodyPr>
          <a:lstStyle/>
          <a:p>
            <a:pPr lvl="0">
              <a:buClr>
                <a:schemeClr val="accent4"/>
              </a:buClr>
            </a:pPr>
            <a:r>
              <a:rPr lang="zh-CN" altLang="zh-CN" dirty="0"/>
              <a:t>无效认证和</a:t>
            </a:r>
            <a:r>
              <a:rPr lang="en-US" altLang="zh-CN" dirty="0"/>
              <a:t>Session</a:t>
            </a:r>
            <a:r>
              <a:rPr lang="zh-CN" altLang="zh-CN" dirty="0"/>
              <a:t>管理方式</a:t>
            </a:r>
            <a:endParaRPr lang="zh-CN" altLang="en-US" dirty="0"/>
          </a:p>
        </p:txBody>
      </p:sp>
      <p:sp>
        <p:nvSpPr>
          <p:cNvPr id="2" name="矩形 1"/>
          <p:cNvSpPr/>
          <p:nvPr/>
        </p:nvSpPr>
        <p:spPr>
          <a:xfrm>
            <a:off x="551495" y="1064368"/>
            <a:ext cx="8325085" cy="2634119"/>
          </a:xfrm>
          <a:prstGeom prst="rect">
            <a:avLst/>
          </a:prstGeom>
        </p:spPr>
        <p:txBody>
          <a:bodyPr wrap="square">
            <a:spAutoFit/>
          </a:bodyPr>
          <a:lstStyle/>
          <a:p>
            <a:pPr marL="320040" lvl="1" indent="-320040">
              <a:lnSpc>
                <a:spcPct val="150000"/>
              </a:lnSpc>
              <a:spcBef>
                <a:spcPts val="238"/>
              </a:spcBef>
              <a:buClr>
                <a:srgbClr val="91AC4E"/>
              </a:buClr>
              <a:buSzPct val="80000"/>
              <a:buFont typeface="Wingdings" pitchFamily="2" charset="2"/>
              <a:buChar char="p"/>
              <a:tabLst>
                <a:tab pos="205740" algn="l"/>
              </a:tabLst>
            </a:pPr>
            <a:r>
              <a:rPr lang="zh-CN" altLang="en-US" dirty="0">
                <a:latin typeface="Arial"/>
                <a:ea typeface="宋体"/>
                <a:cs typeface="Arial"/>
              </a:rPr>
              <a:t>用户密码在数据库中</a:t>
            </a:r>
            <a:r>
              <a:rPr lang="zh-CN" altLang="en-US" dirty="0">
                <a:solidFill>
                  <a:srgbClr val="0000FF"/>
                </a:solidFill>
                <a:latin typeface="Arial"/>
                <a:ea typeface="宋体"/>
                <a:cs typeface="Arial"/>
              </a:rPr>
              <a:t>用明文保存、</a:t>
            </a:r>
            <a:r>
              <a:rPr lang="zh-CN" altLang="en-US" dirty="0">
                <a:latin typeface="Arial"/>
                <a:ea typeface="宋体"/>
                <a:cs typeface="Arial"/>
              </a:rPr>
              <a:t>用户登录使用</a:t>
            </a:r>
            <a:r>
              <a:rPr lang="zh-CN" altLang="en-US" b="1" dirty="0">
                <a:solidFill>
                  <a:srgbClr val="0000FF"/>
                </a:solidFill>
                <a:latin typeface="Arial"/>
                <a:ea typeface="宋体"/>
                <a:cs typeface="Arial"/>
              </a:rPr>
              <a:t>未加密连接</a:t>
            </a:r>
            <a:endParaRPr lang="zh-CN" altLang="en-US" dirty="0">
              <a:solidFill>
                <a:srgbClr val="0000FF"/>
              </a:solidFill>
              <a:latin typeface="Arial"/>
              <a:ea typeface="宋体"/>
              <a:cs typeface="Arial"/>
              <a:hlinkClick r:id="rId3"/>
            </a:endParaRPr>
          </a:p>
          <a:p>
            <a:pPr marL="320040" lvl="1" indent="-320040">
              <a:lnSpc>
                <a:spcPct val="150000"/>
              </a:lnSpc>
              <a:spcBef>
                <a:spcPts val="238"/>
              </a:spcBef>
              <a:buClr>
                <a:srgbClr val="91AC4E"/>
              </a:buClr>
              <a:buSzPct val="80000"/>
              <a:buFont typeface="Wingdings" pitchFamily="2" charset="2"/>
              <a:buChar char="p"/>
              <a:tabLst>
                <a:tab pos="205740" algn="l"/>
              </a:tabLst>
            </a:pPr>
            <a:r>
              <a:rPr lang="zh-CN" altLang="en-US" dirty="0">
                <a:latin typeface="Arial"/>
                <a:ea typeface="宋体"/>
                <a:cs typeface="Arial"/>
              </a:rPr>
              <a:t>用户密码可以被特殊操作覆盖。</a:t>
            </a:r>
            <a:r>
              <a:rPr lang="zh-CN" altLang="en-US" dirty="0">
                <a:solidFill>
                  <a:srgbClr val="0000FF"/>
                </a:solidFill>
                <a:latin typeface="Arial"/>
                <a:ea typeface="宋体"/>
                <a:cs typeface="Arial"/>
              </a:rPr>
              <a:t>例如不正确的实现密码更改功能、恢复密码功能等都有可能造成密码被直接更改</a:t>
            </a:r>
            <a:r>
              <a:rPr lang="zh-CN" altLang="en-US" dirty="0">
                <a:latin typeface="Arial"/>
                <a:ea typeface="宋体"/>
                <a:cs typeface="Arial"/>
              </a:rPr>
              <a:t>。</a:t>
            </a:r>
          </a:p>
          <a:p>
            <a:pPr marL="320040" lvl="1" indent="-320040">
              <a:lnSpc>
                <a:spcPct val="150000"/>
              </a:lnSpc>
              <a:spcBef>
                <a:spcPts val="238"/>
              </a:spcBef>
              <a:buClr>
                <a:srgbClr val="91AC4E"/>
              </a:buClr>
              <a:buSzPct val="80000"/>
              <a:buFont typeface="Wingdings" pitchFamily="2" charset="2"/>
              <a:buChar char="p"/>
              <a:tabLst>
                <a:tab pos="205740" algn="l"/>
              </a:tabLst>
            </a:pPr>
            <a:r>
              <a:rPr lang="zh-CN" altLang="en-US" dirty="0">
                <a:latin typeface="Arial"/>
                <a:ea typeface="宋体"/>
                <a:cs typeface="Arial"/>
              </a:rPr>
              <a:t>网页</a:t>
            </a:r>
            <a:r>
              <a:rPr lang="en-US" altLang="zh-CN" dirty="0">
                <a:latin typeface="Arial"/>
                <a:ea typeface="宋体"/>
                <a:cs typeface="Arial"/>
              </a:rPr>
              <a:t>URL</a:t>
            </a:r>
            <a:r>
              <a:rPr lang="zh-CN" altLang="en-US" dirty="0">
                <a:latin typeface="Arial"/>
                <a:ea typeface="宋体"/>
                <a:cs typeface="Arial"/>
              </a:rPr>
              <a:t>中</a:t>
            </a:r>
            <a:r>
              <a:rPr lang="zh-CN" altLang="en-US" dirty="0">
                <a:solidFill>
                  <a:srgbClr val="FF6600"/>
                </a:solidFill>
                <a:latin typeface="Arial"/>
                <a:ea typeface="宋体"/>
                <a:cs typeface="Arial"/>
              </a:rPr>
              <a:t>包含</a:t>
            </a:r>
            <a:r>
              <a:rPr lang="en-US" altLang="zh-CN" dirty="0">
                <a:solidFill>
                  <a:srgbClr val="FF6600"/>
                </a:solidFill>
                <a:latin typeface="Arial"/>
                <a:ea typeface="宋体"/>
                <a:cs typeface="Arial"/>
              </a:rPr>
              <a:t>Session ID</a:t>
            </a:r>
            <a:r>
              <a:rPr lang="zh-CN" altLang="en-US" dirty="0">
                <a:latin typeface="Arial"/>
                <a:ea typeface="宋体"/>
                <a:cs typeface="Arial"/>
              </a:rPr>
              <a:t>。</a:t>
            </a:r>
            <a:endParaRPr lang="en-US" altLang="zh-CN" dirty="0">
              <a:latin typeface="Arial"/>
              <a:ea typeface="宋体"/>
              <a:cs typeface="Arial"/>
            </a:endParaRPr>
          </a:p>
          <a:p>
            <a:pPr marL="320040" lvl="1" indent="-320040">
              <a:lnSpc>
                <a:spcPct val="150000"/>
              </a:lnSpc>
              <a:spcBef>
                <a:spcPts val="238"/>
              </a:spcBef>
              <a:buClr>
                <a:srgbClr val="91AC4E"/>
              </a:buClr>
              <a:buSzPct val="80000"/>
              <a:buFont typeface="Wingdings" pitchFamily="2" charset="2"/>
              <a:buChar char="p"/>
              <a:tabLst>
                <a:tab pos="205740" algn="l"/>
              </a:tabLst>
            </a:pPr>
            <a:r>
              <a:rPr lang="en-US" altLang="zh-TW" dirty="0">
                <a:latin typeface="Arial"/>
                <a:ea typeface="宋体"/>
                <a:cs typeface="Arial"/>
              </a:rPr>
              <a:t>Session ID</a:t>
            </a:r>
            <a:r>
              <a:rPr lang="zh-TW" altLang="en-US" b="1" dirty="0">
                <a:solidFill>
                  <a:srgbClr val="0000FF"/>
                </a:solidFill>
                <a:latin typeface="Arial"/>
                <a:ea typeface="宋体"/>
                <a:cs typeface="Arial"/>
              </a:rPr>
              <a:t>不会</a:t>
            </a:r>
            <a:r>
              <a:rPr lang="en-US" altLang="zh-TW" b="1" dirty="0">
                <a:solidFill>
                  <a:srgbClr val="0000FF"/>
                </a:solidFill>
                <a:latin typeface="Arial"/>
                <a:ea typeface="宋体"/>
                <a:cs typeface="Arial"/>
              </a:rPr>
              <a:t>timeout</a:t>
            </a:r>
            <a:r>
              <a:rPr lang="zh-TW" altLang="en-US" dirty="0">
                <a:latin typeface="Arial"/>
                <a:ea typeface="宋体"/>
                <a:cs typeface="Arial"/>
              </a:rPr>
              <a:t>，或者</a:t>
            </a:r>
            <a:r>
              <a:rPr lang="en-US" altLang="zh-TW" dirty="0">
                <a:latin typeface="Arial"/>
                <a:ea typeface="宋体"/>
                <a:cs typeface="Arial"/>
              </a:rPr>
              <a:t>session/token/SSO token</a:t>
            </a:r>
            <a:r>
              <a:rPr lang="zh-TW" altLang="en-US" dirty="0">
                <a:latin typeface="Arial"/>
                <a:ea typeface="宋体"/>
                <a:cs typeface="Arial"/>
              </a:rPr>
              <a:t>在登出的时候</a:t>
            </a:r>
            <a:r>
              <a:rPr lang="zh-CN" altLang="en-US" dirty="0">
                <a:latin typeface="Arial"/>
                <a:ea typeface="宋体"/>
                <a:cs typeface="Arial"/>
              </a:rPr>
              <a:t>未</a:t>
            </a:r>
            <a:r>
              <a:rPr lang="zh-TW" altLang="en-US" dirty="0">
                <a:latin typeface="Arial"/>
                <a:ea typeface="宋体"/>
                <a:cs typeface="Arial"/>
              </a:rPr>
              <a:t>失效。</a:t>
            </a:r>
          </a:p>
          <a:p>
            <a:pPr marL="320040" lvl="1" indent="-320040">
              <a:lnSpc>
                <a:spcPct val="150000"/>
              </a:lnSpc>
              <a:spcBef>
                <a:spcPts val="238"/>
              </a:spcBef>
              <a:buClr>
                <a:srgbClr val="91AC4E"/>
              </a:buClr>
              <a:buSzPct val="80000"/>
              <a:buFont typeface="Wingdings" pitchFamily="2" charset="2"/>
              <a:buChar char="p"/>
              <a:tabLst>
                <a:tab pos="205740" algn="l"/>
              </a:tabLst>
            </a:pPr>
            <a:r>
              <a:rPr lang="zh-TW" altLang="en-US" dirty="0">
                <a:latin typeface="Arial"/>
                <a:ea typeface="宋体"/>
                <a:cs typeface="Arial"/>
              </a:rPr>
              <a:t>用户认证信息、</a:t>
            </a:r>
            <a:r>
              <a:rPr lang="en-US" altLang="zh-TW" dirty="0">
                <a:latin typeface="Arial"/>
                <a:ea typeface="宋体"/>
                <a:cs typeface="Arial"/>
              </a:rPr>
              <a:t>Session ID</a:t>
            </a:r>
            <a:r>
              <a:rPr lang="zh-TW" altLang="en-US" dirty="0">
                <a:latin typeface="Arial"/>
                <a:ea typeface="宋体"/>
                <a:cs typeface="Arial"/>
              </a:rPr>
              <a:t>使用</a:t>
            </a:r>
            <a:r>
              <a:rPr lang="zh-TW" altLang="en-US" b="1" u="sng" dirty="0">
                <a:latin typeface="Arial"/>
                <a:ea typeface="宋体"/>
                <a:cs typeface="Arial"/>
              </a:rPr>
              <a:t>未加密连接传输</a:t>
            </a:r>
            <a:r>
              <a:rPr lang="zh-TW" altLang="en-US" dirty="0">
                <a:latin typeface="Arial"/>
                <a:ea typeface="宋体"/>
                <a:cs typeface="Arial"/>
              </a:rPr>
              <a:t>。</a:t>
            </a:r>
          </a:p>
        </p:txBody>
      </p:sp>
    </p:spTree>
    <p:extLst>
      <p:ext uri="{BB962C8B-B14F-4D97-AF65-F5344CB8AC3E}">
        <p14:creationId xmlns:p14="http://schemas.microsoft.com/office/powerpoint/2010/main" val="1389318848"/>
      </p:ext>
    </p:extLst>
  </p:cSld>
  <p:clrMapOvr>
    <a:masterClrMapping/>
  </p:clrMapOvr>
  <p:transition spd="slow">
    <p:wipe dir="r"/>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612971" y="351211"/>
            <a:ext cx="4968608" cy="421482"/>
          </a:xfrm>
        </p:spPr>
        <p:txBody>
          <a:bodyPr>
            <a:noAutofit/>
          </a:bodyPr>
          <a:lstStyle/>
          <a:p>
            <a:r>
              <a:rPr lang="zh-CN" altLang="en-US" dirty="0"/>
              <a:t>未验证跳转</a:t>
            </a:r>
            <a:endParaRPr kumimoji="1" lang="zh-CN" altLang="en-US" dirty="0"/>
          </a:p>
        </p:txBody>
      </p:sp>
      <p:sp>
        <p:nvSpPr>
          <p:cNvPr id="4" name="幻灯片编号占位符 3"/>
          <p:cNvSpPr>
            <a:spLocks noGrp="1"/>
          </p:cNvSpPr>
          <p:nvPr>
            <p:ph type="sldNum" sz="quarter" idx="10"/>
          </p:nvPr>
        </p:nvSpPr>
        <p:spPr/>
        <p:txBody>
          <a:bodyPr/>
          <a:lstStyle/>
          <a:p>
            <a:fld id="{DBE2DA07-CE19-4C9B-A0EC-06D3955056CF}" type="slidenum">
              <a:rPr lang="en-US" altLang="zh-CN" smtClean="0"/>
              <a:pPr/>
              <a:t>54</a:t>
            </a:fld>
            <a:endParaRPr lang="en-US" altLang="zh-CN"/>
          </a:p>
        </p:txBody>
      </p:sp>
      <p:sp>
        <p:nvSpPr>
          <p:cNvPr id="5" name="矩形 4"/>
          <p:cNvSpPr/>
          <p:nvPr/>
        </p:nvSpPr>
        <p:spPr>
          <a:xfrm>
            <a:off x="429197" y="1016377"/>
            <a:ext cx="8412878" cy="3422027"/>
          </a:xfrm>
          <a:prstGeom prst="rect">
            <a:avLst/>
          </a:prstGeom>
        </p:spPr>
        <p:txBody>
          <a:bodyPr wrap="square">
            <a:spAutoFit/>
          </a:bodyPr>
          <a:lstStyle/>
          <a:p>
            <a:pPr>
              <a:lnSpc>
                <a:spcPct val="130000"/>
              </a:lnSpc>
            </a:pPr>
            <a:r>
              <a:rPr lang="zh-CN" altLang="en-US" dirty="0">
                <a:latin typeface="Microsoft YaHei" panose="020B0503020204020204" pitchFamily="34" charset="-122"/>
                <a:ea typeface="Microsoft YaHei" panose="020B0503020204020204" pitchFamily="34" charset="-122"/>
              </a:rPr>
              <a:t>有些页面跳转会根据用户输入来决定，这就给了攻击者可乘之机，从而将用户导向恶意网站或者未授权链接。</a:t>
            </a:r>
          </a:p>
          <a:p>
            <a:pPr>
              <a:lnSpc>
                <a:spcPct val="130000"/>
              </a:lnSpc>
            </a:pPr>
            <a:endParaRPr lang="en-US" altLang="zh-CN" b="1" dirty="0">
              <a:latin typeface="Microsoft YaHei" panose="020B0503020204020204" pitchFamily="34" charset="-122"/>
              <a:ea typeface="Microsoft YaHei" panose="020B0503020204020204" pitchFamily="34" charset="-122"/>
            </a:endParaRPr>
          </a:p>
          <a:p>
            <a:pPr>
              <a:lnSpc>
                <a:spcPct val="130000"/>
              </a:lnSpc>
            </a:pPr>
            <a:r>
              <a:rPr lang="en-US" altLang="zh-CN" b="1" dirty="0">
                <a:solidFill>
                  <a:srgbClr val="0000FF"/>
                </a:solidFill>
                <a:latin typeface="Microsoft YaHei" panose="020B0503020204020204" pitchFamily="34" charset="-122"/>
                <a:ea typeface="Microsoft YaHei" panose="020B0503020204020204" pitchFamily="34" charset="-122"/>
              </a:rPr>
              <a:t>[</a:t>
            </a:r>
            <a:r>
              <a:rPr lang="zh-CN" altLang="en-US" b="1" dirty="0">
                <a:solidFill>
                  <a:srgbClr val="0000FF"/>
                </a:solidFill>
                <a:latin typeface="Microsoft YaHei" panose="020B0503020204020204" pitchFamily="34" charset="-122"/>
                <a:ea typeface="Microsoft YaHei" panose="020B0503020204020204" pitchFamily="34" charset="-122"/>
              </a:rPr>
              <a:t>示例</a:t>
            </a:r>
            <a:r>
              <a:rPr lang="en-US" altLang="zh-CN" b="1" dirty="0">
                <a:solidFill>
                  <a:srgbClr val="0000FF"/>
                </a:solidFill>
                <a:latin typeface="Microsoft YaHei" panose="020B0503020204020204" pitchFamily="34" charset="-122"/>
                <a:ea typeface="Microsoft YaHei" panose="020B0503020204020204" pitchFamily="34" charset="-122"/>
              </a:rPr>
              <a:t>]</a:t>
            </a:r>
            <a:endParaRPr lang="zh-CN" altLang="en-US" dirty="0">
              <a:solidFill>
                <a:srgbClr val="0000FF"/>
              </a:solidFill>
              <a:latin typeface="Microsoft YaHei" panose="020B0503020204020204" pitchFamily="34" charset="-122"/>
              <a:ea typeface="Microsoft YaHei" panose="020B0503020204020204" pitchFamily="34" charset="-122"/>
            </a:endParaRPr>
          </a:p>
          <a:p>
            <a:pPr>
              <a:lnSpc>
                <a:spcPct val="130000"/>
              </a:lnSpc>
            </a:pPr>
            <a:r>
              <a:rPr lang="zh-CN" altLang="en-US" sz="1600" dirty="0">
                <a:solidFill>
                  <a:schemeClr val="tx1">
                    <a:lumMod val="65000"/>
                    <a:lumOff val="35000"/>
                  </a:schemeClr>
                </a:solidFill>
                <a:latin typeface="Microsoft YaHei" panose="020B0503020204020204" pitchFamily="34" charset="-122"/>
                <a:ea typeface="Microsoft YaHei" panose="020B0503020204020204" pitchFamily="34" charset="-122"/>
              </a:rPr>
              <a:t>下面页面请求根据</a:t>
            </a:r>
            <a:r>
              <a:rPr lang="en-US" altLang="zh-CN" sz="1600" dirty="0">
                <a:solidFill>
                  <a:schemeClr val="tx1">
                    <a:lumMod val="65000"/>
                    <a:lumOff val="35000"/>
                  </a:schemeClr>
                </a:solidFill>
                <a:latin typeface="Microsoft YaHei" panose="020B0503020204020204" pitchFamily="34" charset="-122"/>
                <a:ea typeface="Microsoft YaHei" panose="020B0503020204020204" pitchFamily="34" charset="-122"/>
              </a:rPr>
              <a:t>query string URL</a:t>
            </a:r>
            <a:r>
              <a:rPr lang="zh-CN" altLang="en-US" sz="1600" dirty="0">
                <a:solidFill>
                  <a:schemeClr val="tx1">
                    <a:lumMod val="65000"/>
                    <a:lumOff val="35000"/>
                  </a:schemeClr>
                </a:solidFill>
                <a:latin typeface="Microsoft YaHei" panose="020B0503020204020204" pitchFamily="34" charset="-122"/>
                <a:ea typeface="Microsoft YaHei" panose="020B0503020204020204" pitchFamily="34" charset="-122"/>
              </a:rPr>
              <a:t>字段来进行跳转，很容易伪造类似于以下的跳转链接将客户导向到钓鱼网站。</a:t>
            </a:r>
          </a:p>
          <a:p>
            <a:pPr>
              <a:lnSpc>
                <a:spcPct val="130000"/>
              </a:lnSpc>
            </a:pPr>
            <a:r>
              <a:rPr lang="en-US" altLang="zh-CN" sz="1600" dirty="0">
                <a:solidFill>
                  <a:schemeClr val="tx1">
                    <a:lumMod val="65000"/>
                    <a:lumOff val="35000"/>
                  </a:schemeClr>
                </a:solidFill>
                <a:latin typeface="Microsoft YaHei" panose="020B0503020204020204" pitchFamily="34" charset="-122"/>
                <a:ea typeface="Microsoft YaHei" panose="020B0503020204020204" pitchFamily="34" charset="-122"/>
              </a:rPr>
              <a:t>http://</a:t>
            </a:r>
            <a:r>
              <a:rPr lang="en-US" altLang="zh-CN" sz="1600" dirty="0" err="1">
                <a:solidFill>
                  <a:schemeClr val="tx1">
                    <a:lumMod val="65000"/>
                    <a:lumOff val="35000"/>
                  </a:schemeClr>
                </a:solidFill>
                <a:latin typeface="Microsoft YaHei" panose="020B0503020204020204" pitchFamily="34" charset="-122"/>
                <a:ea typeface="Microsoft YaHei" panose="020B0503020204020204" pitchFamily="34" charset="-122"/>
              </a:rPr>
              <a:t>www.example.com</a:t>
            </a:r>
            <a:r>
              <a:rPr lang="en-US" altLang="zh-CN" sz="1600" dirty="0">
                <a:solidFill>
                  <a:schemeClr val="tx1">
                    <a:lumMod val="65000"/>
                    <a:lumOff val="35000"/>
                  </a:schemeClr>
                </a:solidFill>
                <a:latin typeface="Microsoft YaHei" panose="020B0503020204020204" pitchFamily="34" charset="-122"/>
                <a:ea typeface="Microsoft YaHei" panose="020B0503020204020204" pitchFamily="34" charset="-122"/>
              </a:rPr>
              <a:t>/</a:t>
            </a:r>
            <a:r>
              <a:rPr lang="en-US" altLang="zh-CN" sz="1600" dirty="0" err="1">
                <a:solidFill>
                  <a:schemeClr val="tx1">
                    <a:lumMod val="65000"/>
                    <a:lumOff val="35000"/>
                  </a:schemeClr>
                </a:solidFill>
                <a:latin typeface="Microsoft YaHei" panose="020B0503020204020204" pitchFamily="34" charset="-122"/>
                <a:ea typeface="Microsoft YaHei" panose="020B0503020204020204" pitchFamily="34" charset="-122"/>
              </a:rPr>
              <a:t>redirect.jsp?url</a:t>
            </a:r>
            <a:r>
              <a:rPr lang="en-US" altLang="zh-CN" sz="1600" dirty="0">
                <a:solidFill>
                  <a:schemeClr val="tx1">
                    <a:lumMod val="65000"/>
                    <a:lumOff val="35000"/>
                  </a:schemeClr>
                </a:solidFill>
                <a:latin typeface="Microsoft YaHei" panose="020B0503020204020204" pitchFamily="34" charset="-122"/>
                <a:ea typeface="Microsoft YaHei" panose="020B0503020204020204" pitchFamily="34" charset="-122"/>
              </a:rPr>
              <a:t>=</a:t>
            </a:r>
            <a:r>
              <a:rPr lang="en-US" altLang="zh-CN" sz="1600" dirty="0" err="1">
                <a:solidFill>
                  <a:schemeClr val="tx1">
                    <a:lumMod val="65000"/>
                    <a:lumOff val="35000"/>
                  </a:schemeClr>
                </a:solidFill>
                <a:latin typeface="Microsoft YaHei" panose="020B0503020204020204" pitchFamily="34" charset="-122"/>
                <a:ea typeface="Microsoft YaHei" panose="020B0503020204020204" pitchFamily="34" charset="-122"/>
              </a:rPr>
              <a:t>evil.com</a:t>
            </a:r>
            <a:r>
              <a:rPr lang="en-US" altLang="zh-CN" sz="1600" dirty="0">
                <a:solidFill>
                  <a:schemeClr val="tx1">
                    <a:lumMod val="65000"/>
                    <a:lumOff val="35000"/>
                  </a:schemeClr>
                </a:solidFill>
                <a:latin typeface="Microsoft YaHei" panose="020B0503020204020204" pitchFamily="34" charset="-122"/>
                <a:ea typeface="Microsoft YaHei" panose="020B0503020204020204" pitchFamily="34" charset="-122"/>
              </a:rPr>
              <a:t> </a:t>
            </a:r>
          </a:p>
          <a:p>
            <a:pPr>
              <a:lnSpc>
                <a:spcPct val="130000"/>
              </a:lnSpc>
            </a:pPr>
            <a:endParaRPr lang="en-US" altLang="zh-CN" sz="1600" dirty="0">
              <a:solidFill>
                <a:schemeClr val="tx1">
                  <a:lumMod val="65000"/>
                  <a:lumOff val="35000"/>
                </a:schemeClr>
              </a:solidFill>
              <a:latin typeface="Microsoft YaHei" panose="020B0503020204020204" pitchFamily="34" charset="-122"/>
              <a:ea typeface="Microsoft YaHei" panose="020B0503020204020204" pitchFamily="34" charset="-122"/>
            </a:endParaRPr>
          </a:p>
          <a:p>
            <a:pPr>
              <a:lnSpc>
                <a:spcPct val="130000"/>
              </a:lnSpc>
            </a:pPr>
            <a:r>
              <a:rPr lang="zh-CN" altLang="en-US" sz="1600" dirty="0">
                <a:solidFill>
                  <a:schemeClr val="tx1">
                    <a:lumMod val="65000"/>
                    <a:lumOff val="35000"/>
                  </a:schemeClr>
                </a:solidFill>
                <a:latin typeface="Microsoft YaHei" panose="020B0503020204020204" pitchFamily="34" charset="-122"/>
                <a:ea typeface="Microsoft YaHei" panose="020B0503020204020204" pitchFamily="34" charset="-122"/>
              </a:rPr>
              <a:t>又如未授权用户通过下面链接跳过授权检查直接到</a:t>
            </a:r>
            <a:r>
              <a:rPr lang="en-US" altLang="zh-CN" sz="1600" dirty="0">
                <a:solidFill>
                  <a:schemeClr val="tx1">
                    <a:lumMod val="65000"/>
                    <a:lumOff val="35000"/>
                  </a:schemeClr>
                </a:solidFill>
                <a:latin typeface="Microsoft YaHei" panose="020B0503020204020204" pitchFamily="34" charset="-122"/>
                <a:ea typeface="Microsoft YaHei" panose="020B0503020204020204" pitchFamily="34" charset="-122"/>
              </a:rPr>
              <a:t>admin</a:t>
            </a:r>
            <a:r>
              <a:rPr lang="zh-CN" altLang="en-US" sz="1600" dirty="0">
                <a:solidFill>
                  <a:schemeClr val="tx1">
                    <a:lumMod val="65000"/>
                    <a:lumOff val="35000"/>
                  </a:schemeClr>
                </a:solidFill>
                <a:latin typeface="Microsoft YaHei" panose="020B0503020204020204" pitchFamily="34" charset="-122"/>
                <a:ea typeface="Microsoft YaHei" panose="020B0503020204020204" pitchFamily="34" charset="-122"/>
              </a:rPr>
              <a:t>页面</a:t>
            </a:r>
          </a:p>
          <a:p>
            <a:pPr>
              <a:lnSpc>
                <a:spcPct val="130000"/>
              </a:lnSpc>
            </a:pPr>
            <a:r>
              <a:rPr lang="en-US" altLang="zh-CN" sz="1600" dirty="0">
                <a:solidFill>
                  <a:schemeClr val="tx1">
                    <a:lumMod val="65000"/>
                    <a:lumOff val="35000"/>
                  </a:schemeClr>
                </a:solidFill>
                <a:latin typeface="Microsoft YaHei" panose="020B0503020204020204" pitchFamily="34" charset="-122"/>
                <a:ea typeface="Microsoft YaHei" panose="020B0503020204020204" pitchFamily="34" charset="-122"/>
              </a:rPr>
              <a:t>http://</a:t>
            </a:r>
            <a:r>
              <a:rPr lang="en-US" altLang="zh-CN" sz="1600" dirty="0" err="1">
                <a:solidFill>
                  <a:schemeClr val="tx1">
                    <a:lumMod val="65000"/>
                    <a:lumOff val="35000"/>
                  </a:schemeClr>
                </a:solidFill>
                <a:latin typeface="Microsoft YaHei" panose="020B0503020204020204" pitchFamily="34" charset="-122"/>
                <a:ea typeface="Microsoft YaHei" panose="020B0503020204020204" pitchFamily="34" charset="-122"/>
              </a:rPr>
              <a:t>www.example.com</a:t>
            </a:r>
            <a:r>
              <a:rPr lang="en-US" altLang="zh-CN" sz="1600" dirty="0">
                <a:solidFill>
                  <a:schemeClr val="tx1">
                    <a:lumMod val="65000"/>
                    <a:lumOff val="35000"/>
                  </a:schemeClr>
                </a:solidFill>
                <a:latin typeface="Microsoft YaHei" panose="020B0503020204020204" pitchFamily="34" charset="-122"/>
                <a:ea typeface="Microsoft YaHei" panose="020B0503020204020204" pitchFamily="34" charset="-122"/>
              </a:rPr>
              <a:t>/</a:t>
            </a:r>
            <a:r>
              <a:rPr lang="en-US" altLang="zh-CN" sz="1600" dirty="0" err="1">
                <a:solidFill>
                  <a:schemeClr val="tx1">
                    <a:lumMod val="65000"/>
                    <a:lumOff val="35000"/>
                  </a:schemeClr>
                </a:solidFill>
                <a:latin typeface="Microsoft YaHei" panose="020B0503020204020204" pitchFamily="34" charset="-122"/>
                <a:ea typeface="Microsoft YaHei" panose="020B0503020204020204" pitchFamily="34" charset="-122"/>
              </a:rPr>
              <a:t>boring.jsp?fwd</a:t>
            </a:r>
            <a:r>
              <a:rPr lang="en-US" altLang="zh-CN" sz="1600" dirty="0">
                <a:solidFill>
                  <a:schemeClr val="tx1">
                    <a:lumMod val="65000"/>
                    <a:lumOff val="35000"/>
                  </a:schemeClr>
                </a:solidFill>
                <a:latin typeface="Microsoft YaHei" panose="020B0503020204020204" pitchFamily="34" charset="-122"/>
                <a:ea typeface="Microsoft YaHei" panose="020B0503020204020204" pitchFamily="34" charset="-122"/>
              </a:rPr>
              <a:t>=</a:t>
            </a:r>
            <a:r>
              <a:rPr lang="en-US" altLang="zh-CN" sz="1600" dirty="0" err="1">
                <a:solidFill>
                  <a:schemeClr val="tx1">
                    <a:lumMod val="65000"/>
                    <a:lumOff val="35000"/>
                  </a:schemeClr>
                </a:solidFill>
                <a:latin typeface="Microsoft YaHei" panose="020B0503020204020204" pitchFamily="34" charset="-122"/>
                <a:ea typeface="Microsoft YaHei" panose="020B0503020204020204" pitchFamily="34" charset="-122"/>
              </a:rPr>
              <a:t>admin.jsp</a:t>
            </a:r>
            <a:r>
              <a:rPr lang="en-US" altLang="zh-CN" sz="1600" dirty="0">
                <a:solidFill>
                  <a:schemeClr val="tx1">
                    <a:lumMod val="65000"/>
                    <a:lumOff val="35000"/>
                  </a:schemeClr>
                </a:solidFill>
                <a:latin typeface="Microsoft YaHei" panose="020B0503020204020204" pitchFamily="34" charset="-122"/>
                <a:ea typeface="Microsoft YaHei" panose="020B0503020204020204" pitchFamily="34" charset="-122"/>
              </a:rPr>
              <a:t> </a:t>
            </a:r>
            <a:endParaRPr lang="zh-CN" altLang="en-US" sz="1600"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741867198"/>
      </p:ext>
    </p:extLst>
  </p:cSld>
  <p:clrMapOvr>
    <a:masterClrMapping/>
  </p:clrMapOvr>
  <p:transition spd="slow">
    <p:wipe dir="r"/>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95969" y="335406"/>
            <a:ext cx="5292644" cy="421482"/>
          </a:xfrm>
        </p:spPr>
        <p:txBody>
          <a:bodyPr>
            <a:noAutofit/>
          </a:bodyPr>
          <a:lstStyle/>
          <a:p>
            <a:pPr>
              <a:buClr>
                <a:schemeClr val="accent4"/>
              </a:buClr>
            </a:pPr>
            <a:r>
              <a:rPr lang="zh-CN" altLang="en-US" dirty="0"/>
              <a:t>直接对象引用</a:t>
            </a:r>
          </a:p>
        </p:txBody>
      </p:sp>
      <p:sp>
        <p:nvSpPr>
          <p:cNvPr id="4" name="幻灯片编号占位符 3"/>
          <p:cNvSpPr>
            <a:spLocks noGrp="1"/>
          </p:cNvSpPr>
          <p:nvPr>
            <p:ph type="sldNum" sz="quarter" idx="10"/>
          </p:nvPr>
        </p:nvSpPr>
        <p:spPr/>
        <p:txBody>
          <a:bodyPr/>
          <a:lstStyle/>
          <a:p>
            <a:fld id="{DBE2DA07-CE19-4C9B-A0EC-06D3955056CF}" type="slidenum">
              <a:rPr lang="en-US" altLang="zh-CN" smtClean="0"/>
              <a:pPr/>
              <a:t>55</a:t>
            </a:fld>
            <a:endParaRPr lang="en-US" altLang="zh-CN"/>
          </a:p>
        </p:txBody>
      </p:sp>
      <p:sp>
        <p:nvSpPr>
          <p:cNvPr id="5" name="矩形 4"/>
          <p:cNvSpPr/>
          <p:nvPr/>
        </p:nvSpPr>
        <p:spPr>
          <a:xfrm>
            <a:off x="813182" y="1275606"/>
            <a:ext cx="7388021" cy="2802755"/>
          </a:xfrm>
          <a:prstGeom prst="rect">
            <a:avLst/>
          </a:prstGeom>
        </p:spPr>
        <p:txBody>
          <a:bodyPr wrap="square">
            <a:spAutoFit/>
          </a:bodyPr>
          <a:lstStyle/>
          <a:p>
            <a:pPr>
              <a:lnSpc>
                <a:spcPct val="130000"/>
              </a:lnSpc>
            </a:pPr>
            <a:r>
              <a:rPr lang="zh-CN" altLang="en-US" sz="2000" dirty="0">
                <a:latin typeface="Microsoft YaHei" panose="020B0503020204020204" pitchFamily="34" charset="-122"/>
                <a:ea typeface="Microsoft YaHei" panose="020B0503020204020204" pitchFamily="34" charset="-122"/>
              </a:rPr>
              <a:t>例如一个网站通过以下代码返回客户信息</a:t>
            </a:r>
            <a:r>
              <a:rPr lang="zh-CN" altLang="en-US" sz="1620" dirty="0"/>
              <a:t>：</a:t>
            </a:r>
          </a:p>
          <a:p>
            <a:pPr marL="322898">
              <a:lnSpc>
                <a:spcPct val="130000"/>
              </a:lnSpc>
            </a:pPr>
            <a:r>
              <a:rPr lang="en-US" altLang="zh-CN" sz="1620" dirty="0"/>
              <a:t>String query = "</a:t>
            </a:r>
            <a:r>
              <a:rPr lang="en-US" altLang="zh-CN" sz="1620" dirty="0">
                <a:solidFill>
                  <a:srgbClr val="0000FF"/>
                </a:solidFill>
              </a:rPr>
              <a:t>SELECT * FROM accts WHERE account = ?</a:t>
            </a:r>
            <a:r>
              <a:rPr lang="en-US" altLang="zh-CN" sz="1620" dirty="0"/>
              <a:t>";</a:t>
            </a:r>
          </a:p>
          <a:p>
            <a:pPr marL="322898">
              <a:lnSpc>
                <a:spcPct val="130000"/>
              </a:lnSpc>
            </a:pPr>
            <a:r>
              <a:rPr lang="en-US" altLang="zh-CN" sz="1620" dirty="0" err="1"/>
              <a:t>PreparedStatement</a:t>
            </a:r>
            <a:r>
              <a:rPr lang="en-US" altLang="zh-CN" sz="1620" dirty="0"/>
              <a:t> </a:t>
            </a:r>
            <a:r>
              <a:rPr lang="en-US" altLang="zh-CN" sz="1620" dirty="0" err="1"/>
              <a:t>pstmt</a:t>
            </a:r>
            <a:r>
              <a:rPr lang="en-US" altLang="zh-CN" sz="1620" dirty="0"/>
              <a:t> = </a:t>
            </a:r>
            <a:r>
              <a:rPr lang="en-US" altLang="zh-CN" sz="1620" dirty="0" err="1"/>
              <a:t>connection.prepareStatement</a:t>
            </a:r>
            <a:r>
              <a:rPr lang="en-US" altLang="zh-CN" sz="1620" dirty="0"/>
              <a:t>(query , … );</a:t>
            </a:r>
          </a:p>
          <a:p>
            <a:pPr marL="322898">
              <a:lnSpc>
                <a:spcPct val="130000"/>
              </a:lnSpc>
            </a:pPr>
            <a:r>
              <a:rPr lang="en-US" altLang="zh-CN" sz="1620" dirty="0" err="1"/>
              <a:t>pstmt.setString</a:t>
            </a:r>
            <a:r>
              <a:rPr lang="en-US" altLang="zh-CN" sz="1620" dirty="0"/>
              <a:t>( 1, </a:t>
            </a:r>
            <a:r>
              <a:rPr lang="en-US" altLang="zh-CN" sz="1620" dirty="0" err="1"/>
              <a:t>request.getParameter</a:t>
            </a:r>
            <a:r>
              <a:rPr lang="en-US" altLang="zh-CN" sz="1620" dirty="0"/>
              <a:t>("</a:t>
            </a:r>
            <a:r>
              <a:rPr lang="en-US" altLang="zh-CN" sz="1620" dirty="0">
                <a:solidFill>
                  <a:srgbClr val="0000FF"/>
                </a:solidFill>
              </a:rPr>
              <a:t>acct</a:t>
            </a:r>
            <a:r>
              <a:rPr lang="en-US" altLang="zh-CN" sz="1620" dirty="0"/>
              <a:t>"));</a:t>
            </a:r>
          </a:p>
          <a:p>
            <a:pPr marL="322898">
              <a:lnSpc>
                <a:spcPct val="130000"/>
              </a:lnSpc>
            </a:pPr>
            <a:r>
              <a:rPr lang="en-US" altLang="zh-CN" sz="1620" dirty="0" err="1"/>
              <a:t>ResultSet</a:t>
            </a:r>
            <a:r>
              <a:rPr lang="en-US" altLang="zh-CN" sz="1620" dirty="0"/>
              <a:t> results = </a:t>
            </a:r>
            <a:r>
              <a:rPr lang="en-US" altLang="zh-CN" sz="1620" dirty="0" err="1"/>
              <a:t>pstmt.executeQuery</a:t>
            </a:r>
            <a:r>
              <a:rPr lang="en-US" altLang="zh-CN" sz="1620" dirty="0"/>
              <a:t>( );	</a:t>
            </a:r>
          </a:p>
          <a:p>
            <a:pPr>
              <a:lnSpc>
                <a:spcPct val="130000"/>
              </a:lnSpc>
            </a:pPr>
            <a:endParaRPr lang="en-US" altLang="zh-CN" sz="1620" dirty="0"/>
          </a:p>
          <a:p>
            <a:pPr>
              <a:lnSpc>
                <a:spcPct val="130000"/>
              </a:lnSpc>
            </a:pPr>
            <a:r>
              <a:rPr lang="zh-CN" altLang="en-US" sz="2000" dirty="0">
                <a:latin typeface="Microsoft YaHei" panose="020B0503020204020204" pitchFamily="34" charset="-122"/>
                <a:ea typeface="Microsoft YaHei" panose="020B0503020204020204" pitchFamily="34" charset="-122"/>
              </a:rPr>
              <a:t>攻击者可以通过修改</a:t>
            </a:r>
            <a:r>
              <a:rPr lang="en-US" altLang="zh-CN" sz="2000" dirty="0" err="1">
                <a:latin typeface="Microsoft YaHei" panose="020B0503020204020204" pitchFamily="34" charset="-122"/>
                <a:ea typeface="Microsoft YaHei" panose="020B0503020204020204" pitchFamily="34" charset="-122"/>
              </a:rPr>
              <a:t>querystring</a:t>
            </a:r>
            <a:r>
              <a:rPr lang="zh-CN" altLang="en-US" sz="2000" dirty="0">
                <a:latin typeface="Microsoft YaHei" panose="020B0503020204020204" pitchFamily="34" charset="-122"/>
                <a:ea typeface="Microsoft YaHei" panose="020B0503020204020204" pitchFamily="34" charset="-122"/>
              </a:rPr>
              <a:t>来查询任何人的信息</a:t>
            </a:r>
            <a:endParaRPr lang="en-US" altLang="zh-CN" sz="2000" dirty="0">
              <a:latin typeface="Microsoft YaHei" panose="020B0503020204020204" pitchFamily="34" charset="-122"/>
              <a:ea typeface="Microsoft YaHei" panose="020B0503020204020204" pitchFamily="34" charset="-122"/>
            </a:endParaRPr>
          </a:p>
          <a:p>
            <a:pPr marL="322898">
              <a:lnSpc>
                <a:spcPct val="130000"/>
              </a:lnSpc>
            </a:pPr>
            <a:r>
              <a:rPr lang="en-US" altLang="zh-CN" sz="1620" dirty="0"/>
              <a:t>http://</a:t>
            </a:r>
            <a:r>
              <a:rPr lang="en-US" altLang="zh-CN" sz="1620" dirty="0" err="1"/>
              <a:t>example.com</a:t>
            </a:r>
            <a:r>
              <a:rPr lang="en-US" altLang="zh-CN" sz="1620" dirty="0"/>
              <a:t>/app/</a:t>
            </a:r>
            <a:r>
              <a:rPr lang="en-US" altLang="zh-CN" sz="1620" dirty="0" err="1"/>
              <a:t>accountInfo?acct</a:t>
            </a:r>
            <a:r>
              <a:rPr lang="en-US" altLang="zh-CN" sz="1620" dirty="0"/>
              <a:t>=</a:t>
            </a:r>
            <a:r>
              <a:rPr lang="en-US" altLang="zh-CN" sz="1620" dirty="0" err="1"/>
              <a:t>notmyacct</a:t>
            </a:r>
            <a:endParaRPr lang="zh-CN" altLang="en-US" sz="1620" dirty="0"/>
          </a:p>
        </p:txBody>
      </p:sp>
    </p:spTree>
    <p:extLst>
      <p:ext uri="{BB962C8B-B14F-4D97-AF65-F5344CB8AC3E}">
        <p14:creationId xmlns:p14="http://schemas.microsoft.com/office/powerpoint/2010/main" val="2140687657"/>
      </p:ext>
    </p:extLst>
  </p:cSld>
  <p:clrMapOvr>
    <a:masterClrMapping/>
  </p:clrMapOvr>
  <p:transition spd="slow">
    <p:wipe dir="r"/>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040" y="718663"/>
            <a:ext cx="4710618" cy="430621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599485" y="266395"/>
            <a:ext cx="5292644" cy="421482"/>
          </a:xfrm>
        </p:spPr>
        <p:txBody>
          <a:bodyPr>
            <a:normAutofit fontScale="90000"/>
          </a:bodyPr>
          <a:lstStyle/>
          <a:p>
            <a:r>
              <a:rPr lang="zh-CN" altLang="en-US" sz="3240" dirty="0"/>
              <a:t>直接对象引用</a:t>
            </a:r>
            <a:endParaRPr kumimoji="1" lang="zh-CN" altLang="en-US" sz="3240" dirty="0"/>
          </a:p>
        </p:txBody>
      </p:sp>
      <p:sp>
        <p:nvSpPr>
          <p:cNvPr id="4" name="幻灯片编号占位符 3"/>
          <p:cNvSpPr>
            <a:spLocks noGrp="1"/>
          </p:cNvSpPr>
          <p:nvPr>
            <p:ph type="sldNum" sz="quarter" idx="10"/>
          </p:nvPr>
        </p:nvSpPr>
        <p:spPr/>
        <p:txBody>
          <a:bodyPr/>
          <a:lstStyle/>
          <a:p>
            <a:fld id="{DBE2DA07-CE19-4C9B-A0EC-06D3955056CF}" type="slidenum">
              <a:rPr lang="en-US" altLang="zh-CN" smtClean="0"/>
              <a:pPr/>
              <a:t>56</a:t>
            </a:fld>
            <a:endParaRPr lang="en-US" altLang="zh-CN"/>
          </a:p>
        </p:txBody>
      </p:sp>
      <p:sp>
        <p:nvSpPr>
          <p:cNvPr id="3" name="矩形 2"/>
          <p:cNvSpPr/>
          <p:nvPr/>
        </p:nvSpPr>
        <p:spPr>
          <a:xfrm>
            <a:off x="4196701" y="991371"/>
            <a:ext cx="4277275" cy="341632"/>
          </a:xfrm>
          <a:prstGeom prst="rect">
            <a:avLst/>
          </a:prstGeom>
          <a:solidFill>
            <a:srgbClr val="FFFF00"/>
          </a:solidFill>
        </p:spPr>
        <p:txBody>
          <a:bodyPr wrap="square">
            <a:spAutoFit/>
          </a:bodyPr>
          <a:lstStyle/>
          <a:p>
            <a:pPr eaLnBrk="1" hangingPunct="1"/>
            <a:r>
              <a:rPr lang="en-US" altLang="zh-CN" sz="1620" dirty="0"/>
              <a:t>https://</a:t>
            </a:r>
            <a:r>
              <a:rPr lang="en-US" altLang="zh-CN" sz="1620" dirty="0" err="1"/>
              <a:t>www.onlinebank.com</a:t>
            </a:r>
            <a:r>
              <a:rPr lang="en-US" altLang="zh-CN" sz="1620" dirty="0"/>
              <a:t>/</a:t>
            </a:r>
            <a:r>
              <a:rPr lang="en-US" altLang="zh-CN" sz="1620" dirty="0" err="1"/>
              <a:t>user?acct</a:t>
            </a:r>
            <a:r>
              <a:rPr lang="en-US" altLang="zh-CN" sz="1620" dirty="0"/>
              <a:t>=</a:t>
            </a:r>
            <a:r>
              <a:rPr lang="en-US" altLang="zh-CN" sz="1620" dirty="0">
                <a:solidFill>
                  <a:srgbClr val="FF0000"/>
                </a:solidFill>
              </a:rPr>
              <a:t>6065  </a:t>
            </a:r>
          </a:p>
        </p:txBody>
      </p:sp>
    </p:spTree>
    <p:extLst>
      <p:ext uri="{BB962C8B-B14F-4D97-AF65-F5344CB8AC3E}">
        <p14:creationId xmlns:p14="http://schemas.microsoft.com/office/powerpoint/2010/main" val="2002033424"/>
      </p:ext>
    </p:extLst>
  </p:cSld>
  <p:clrMapOvr>
    <a:masterClrMapping/>
  </p:clrMapOvr>
  <p:transition spd="slow">
    <p:wipe dir="r"/>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13005" y="352659"/>
            <a:ext cx="5422259" cy="421482"/>
          </a:xfrm>
        </p:spPr>
        <p:txBody>
          <a:bodyPr>
            <a:noAutofit/>
          </a:bodyPr>
          <a:lstStyle/>
          <a:p>
            <a:pPr>
              <a:buClr>
                <a:schemeClr val="accent4"/>
              </a:buClr>
            </a:pPr>
            <a:r>
              <a:rPr lang="zh-TW" altLang="en-US" dirty="0"/>
              <a:t>功能级权限控制缺失</a:t>
            </a:r>
            <a:endParaRPr lang="zh-CN" altLang="en-US" dirty="0"/>
          </a:p>
        </p:txBody>
      </p:sp>
      <p:sp>
        <p:nvSpPr>
          <p:cNvPr id="3" name="内容占位符 2"/>
          <p:cNvSpPr>
            <a:spLocks noGrp="1"/>
          </p:cNvSpPr>
          <p:nvPr>
            <p:ph idx="1"/>
          </p:nvPr>
        </p:nvSpPr>
        <p:spPr>
          <a:xfrm>
            <a:off x="590642" y="1127335"/>
            <a:ext cx="7193599" cy="2892574"/>
          </a:xfrm>
        </p:spPr>
        <p:txBody>
          <a:bodyPr>
            <a:normAutofit/>
          </a:bodyPr>
          <a:lstStyle/>
          <a:p>
            <a:pPr marL="0" indent="0">
              <a:lnSpc>
                <a:spcPct val="130000"/>
              </a:lnSpc>
              <a:buNone/>
            </a:pPr>
            <a:r>
              <a:rPr lang="zh-CN" altLang="en-US" sz="2000" dirty="0">
                <a:solidFill>
                  <a:schemeClr val="accent1">
                    <a:lumMod val="50000"/>
                  </a:schemeClr>
                </a:solidFill>
                <a:latin typeface="Arial" charset="0"/>
                <a:ea typeface="宋体" pitchFamily="2" charset="-122"/>
              </a:rPr>
              <a:t>权限控制一般是写在代码中或者通过程序的配置文件来完成，但开发者人员容易忘记添加一些功能的权限控制代码</a:t>
            </a:r>
          </a:p>
          <a:p>
            <a:pPr marL="0" indent="0">
              <a:lnSpc>
                <a:spcPct val="130000"/>
              </a:lnSpc>
              <a:buNone/>
            </a:pPr>
            <a:endParaRPr lang="en-US" altLang="zh-CN" sz="2000" b="1" dirty="0">
              <a:latin typeface="Arial" charset="0"/>
              <a:ea typeface="宋体" pitchFamily="2" charset="-122"/>
            </a:endParaRPr>
          </a:p>
          <a:p>
            <a:pPr marL="0" indent="0">
              <a:lnSpc>
                <a:spcPct val="130000"/>
              </a:lnSpc>
            </a:pPr>
            <a:r>
              <a:rPr lang="zh-CN" altLang="en-US" sz="1800" dirty="0">
                <a:solidFill>
                  <a:schemeClr val="tx1">
                    <a:lumMod val="65000"/>
                    <a:lumOff val="35000"/>
                  </a:schemeClr>
                </a:solidFill>
                <a:ea typeface="楷体"/>
                <a:cs typeface="楷体"/>
              </a:rPr>
              <a:t>例如以下链接本该只有</a:t>
            </a:r>
            <a:r>
              <a:rPr lang="en-US" altLang="zh-CN" sz="1800" dirty="0">
                <a:solidFill>
                  <a:schemeClr val="tx1">
                    <a:lumMod val="65000"/>
                    <a:lumOff val="35000"/>
                  </a:schemeClr>
                </a:solidFill>
                <a:ea typeface="楷体"/>
                <a:cs typeface="楷体"/>
              </a:rPr>
              <a:t>admin</a:t>
            </a:r>
            <a:r>
              <a:rPr lang="zh-CN" altLang="en-US" sz="1800" dirty="0">
                <a:solidFill>
                  <a:schemeClr val="tx1">
                    <a:lumMod val="65000"/>
                    <a:lumOff val="35000"/>
                  </a:schemeClr>
                </a:solidFill>
                <a:ea typeface="楷体"/>
                <a:cs typeface="楷体"/>
              </a:rPr>
              <a:t>才能访问，但非</a:t>
            </a:r>
            <a:r>
              <a:rPr lang="en-US" altLang="zh-CN" sz="1800" dirty="0">
                <a:solidFill>
                  <a:schemeClr val="tx1">
                    <a:lumMod val="65000"/>
                    <a:lumOff val="35000"/>
                  </a:schemeClr>
                </a:solidFill>
                <a:ea typeface="楷体"/>
                <a:cs typeface="楷体"/>
              </a:rPr>
              <a:t>admin</a:t>
            </a:r>
            <a:r>
              <a:rPr lang="zh-CN" altLang="en-US" sz="1800" dirty="0">
                <a:solidFill>
                  <a:schemeClr val="tx1">
                    <a:lumMod val="65000"/>
                    <a:lumOff val="35000"/>
                  </a:schemeClr>
                </a:solidFill>
                <a:ea typeface="楷体"/>
                <a:cs typeface="楷体"/>
              </a:rPr>
              <a:t>用户可以直接在浏览器中访问该链接，说明网站存在功能级权限控制漏洞。</a:t>
            </a:r>
          </a:p>
          <a:p>
            <a:pPr marL="0" indent="0">
              <a:buNone/>
            </a:pPr>
            <a:r>
              <a:rPr lang="en-US" altLang="zh-CN" sz="1600" kern="1200" dirty="0">
                <a:solidFill>
                  <a:schemeClr val="tx1">
                    <a:lumMod val="65000"/>
                    <a:lumOff val="35000"/>
                  </a:schemeClr>
                </a:solidFill>
                <a:ea typeface="楷体"/>
                <a:cs typeface="楷体"/>
                <a:hlinkClick r:id="rId3"/>
              </a:rPr>
              <a:t>http://example.com/app/admin_getappInfo</a:t>
            </a:r>
            <a:endParaRPr kumimoji="1" lang="zh-CN" altLang="en-US" sz="1600" dirty="0">
              <a:solidFill>
                <a:schemeClr val="tx1">
                  <a:lumMod val="65000"/>
                  <a:lumOff val="35000"/>
                </a:schemeClr>
              </a:solidFill>
              <a:ea typeface="楷体"/>
              <a:cs typeface="楷体"/>
            </a:endParaRPr>
          </a:p>
        </p:txBody>
      </p:sp>
      <p:sp>
        <p:nvSpPr>
          <p:cNvPr id="4" name="幻灯片编号占位符 3"/>
          <p:cNvSpPr>
            <a:spLocks noGrp="1"/>
          </p:cNvSpPr>
          <p:nvPr>
            <p:ph type="sldNum" sz="quarter" idx="10"/>
          </p:nvPr>
        </p:nvSpPr>
        <p:spPr/>
        <p:txBody>
          <a:bodyPr/>
          <a:lstStyle/>
          <a:p>
            <a:fld id="{DBE2DA07-CE19-4C9B-A0EC-06D3955056CF}" type="slidenum">
              <a:rPr lang="en-US" altLang="zh-CN" smtClean="0"/>
              <a:pPr/>
              <a:t>57</a:t>
            </a:fld>
            <a:endParaRPr lang="en-US" altLang="zh-CN"/>
          </a:p>
        </p:txBody>
      </p:sp>
    </p:spTree>
    <p:extLst>
      <p:ext uri="{BB962C8B-B14F-4D97-AF65-F5344CB8AC3E}">
        <p14:creationId xmlns:p14="http://schemas.microsoft.com/office/powerpoint/2010/main" val="3227939254"/>
      </p:ext>
    </p:extLst>
  </p:cSld>
  <p:clrMapOvr>
    <a:masterClrMapping/>
  </p:clrMapOvr>
  <p:transition spd="slow">
    <p:wipe dir="r"/>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7E56D7C-C47F-EE1D-34AE-3345C46D999E}"/>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724265" y="1128314"/>
            <a:ext cx="8040594" cy="895350"/>
          </a:xfrm>
        </p:spPr>
        <p:txBody>
          <a:bodyPr vert="horz" lIns="91440" tIns="45720" rIns="91440" bIns="45720" rtlCol="0" anchor="ctr">
            <a:normAutofit/>
          </a:bodyPr>
          <a:lstStyle/>
          <a:p>
            <a:r>
              <a:rPr lang="en-US" altLang="zh-CN" sz="4800" b="1" dirty="0">
                <a:solidFill>
                  <a:schemeClr val="accent2">
                    <a:lumMod val="75000"/>
                  </a:schemeClr>
                </a:solidFill>
              </a:rPr>
              <a:t>7.3</a:t>
            </a:r>
            <a:r>
              <a:rPr lang="zh-CN" altLang="en-US" sz="4800" b="1" dirty="0">
                <a:solidFill>
                  <a:schemeClr val="accent2">
                    <a:lumMod val="75000"/>
                  </a:schemeClr>
                </a:solidFill>
              </a:rPr>
              <a:t> 兼容性</a:t>
            </a:r>
            <a:r>
              <a:rPr lang="zh-CN" altLang="zh-CN" sz="4800" b="1" dirty="0">
                <a:solidFill>
                  <a:schemeClr val="accent2">
                    <a:lumMod val="75000"/>
                  </a:schemeClr>
                </a:solidFill>
              </a:rPr>
              <a:t>测试 </a:t>
            </a:r>
            <a:endParaRPr lang="zh-CN" altLang="en-US" sz="4800" b="1" dirty="0">
              <a:solidFill>
                <a:schemeClr val="accent2">
                  <a:lumMod val="75000"/>
                </a:schemeClr>
              </a:solidFill>
            </a:endParaRPr>
          </a:p>
        </p:txBody>
      </p:sp>
    </p:spTree>
    <p:extLst>
      <p:ext uri="{BB962C8B-B14F-4D97-AF65-F5344CB8AC3E}">
        <p14:creationId xmlns:p14="http://schemas.microsoft.com/office/powerpoint/2010/main" val="1625447192"/>
      </p:ext>
    </p:extLst>
  </p:cSld>
  <p:clrMapOvr>
    <a:masterClrMapping/>
  </p:clrMapOvr>
  <p:transition spd="slow">
    <p:wipe dir="r"/>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60339" y="324482"/>
            <a:ext cx="5487070" cy="421481"/>
          </a:xfrm>
        </p:spPr>
        <p:txBody>
          <a:bodyPr>
            <a:normAutofit fontScale="90000"/>
          </a:bodyPr>
          <a:lstStyle/>
          <a:p>
            <a:r>
              <a:rPr kumimoji="1" lang="zh-CN" altLang="en-US" sz="3240" dirty="0"/>
              <a:t>碰到兼容性问题、升级失败</a:t>
            </a:r>
          </a:p>
        </p:txBody>
      </p:sp>
      <p:sp>
        <p:nvSpPr>
          <p:cNvPr id="4" name="幻灯片编号占位符 3"/>
          <p:cNvSpPr>
            <a:spLocks noGrp="1"/>
          </p:cNvSpPr>
          <p:nvPr>
            <p:ph type="sldNum" sz="quarter" idx="10"/>
          </p:nvPr>
        </p:nvSpPr>
        <p:spPr/>
        <p:txBody>
          <a:bodyPr/>
          <a:lstStyle/>
          <a:p>
            <a:fld id="{DBE2DA07-CE19-4C9B-A0EC-06D3955056CF}" type="slidenum">
              <a:rPr lang="en-US" altLang="zh-CN" smtClean="0"/>
              <a:pPr/>
              <a:t>59</a:t>
            </a:fld>
            <a:endParaRPr lang="en-US" altLang="zh-CN"/>
          </a:p>
        </p:txBody>
      </p:sp>
      <p:pic>
        <p:nvPicPr>
          <p:cNvPr id="3" name="图片 2"/>
          <p:cNvPicPr>
            <a:picLocks noChangeAspect="1"/>
          </p:cNvPicPr>
          <p:nvPr/>
        </p:nvPicPr>
        <p:blipFill>
          <a:blip r:embed="rId2"/>
          <a:stretch>
            <a:fillRect/>
          </a:stretch>
        </p:blipFill>
        <p:spPr>
          <a:xfrm>
            <a:off x="1106699" y="1143437"/>
            <a:ext cx="6570811" cy="3008199"/>
          </a:xfrm>
          <a:prstGeom prst="rect">
            <a:avLst/>
          </a:prstGeom>
        </p:spPr>
      </p:pic>
    </p:spTree>
    <p:extLst>
      <p:ext uri="{BB962C8B-B14F-4D97-AF65-F5344CB8AC3E}">
        <p14:creationId xmlns:p14="http://schemas.microsoft.com/office/powerpoint/2010/main" val="2493964234"/>
      </p:ext>
    </p:extLst>
  </p:cSld>
  <p:clrMapOvr>
    <a:masterClrMapping/>
  </p:clrMapOvr>
  <p:transition spd="slow">
    <p:wipe dir="r"/>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603471" y="300902"/>
            <a:ext cx="5487070" cy="421481"/>
          </a:xfrm>
        </p:spPr>
        <p:txBody>
          <a:bodyPr>
            <a:normAutofit fontScale="90000"/>
          </a:bodyPr>
          <a:lstStyle/>
          <a:p>
            <a:r>
              <a:rPr kumimoji="1" lang="zh-CN" altLang="en-US" sz="3240" dirty="0"/>
              <a:t>软件与硬件兼容性问题</a:t>
            </a:r>
          </a:p>
        </p:txBody>
      </p:sp>
      <p:sp>
        <p:nvSpPr>
          <p:cNvPr id="4" name="幻灯片编号占位符 3"/>
          <p:cNvSpPr>
            <a:spLocks noGrp="1"/>
          </p:cNvSpPr>
          <p:nvPr>
            <p:ph type="sldNum" sz="quarter" idx="10"/>
          </p:nvPr>
        </p:nvSpPr>
        <p:spPr/>
        <p:txBody>
          <a:bodyPr/>
          <a:lstStyle/>
          <a:p>
            <a:fld id="{DBE2DA07-CE19-4C9B-A0EC-06D3955056CF}" type="slidenum">
              <a:rPr lang="en-US" altLang="zh-CN" smtClean="0"/>
              <a:pPr/>
              <a:t>60</a:t>
            </a:fld>
            <a:endParaRPr lang="en-US" altLang="zh-CN"/>
          </a:p>
        </p:txBody>
      </p:sp>
      <p:pic>
        <p:nvPicPr>
          <p:cNvPr id="5" name="图片 4" descr="http://cdn.guru99.com/images/image001jpg.jpg">
            <a:hlinkClick r:id="rId2"/>
          </p:cNvPr>
          <p:cNvPicPr/>
          <p:nvPr/>
        </p:nvPicPr>
        <p:blipFill>
          <a:blip r:embed="rId3">
            <a:extLst>
              <a:ext uri="{28A0092B-C50C-407E-A947-70E740481C1C}">
                <a14:useLocalDpi xmlns:a14="http://schemas.microsoft.com/office/drawing/2010/main" val="0"/>
              </a:ext>
            </a:extLst>
          </a:blip>
          <a:srcRect/>
          <a:stretch>
            <a:fillRect/>
          </a:stretch>
        </p:blipFill>
        <p:spPr bwMode="auto">
          <a:xfrm>
            <a:off x="683568" y="1599642"/>
            <a:ext cx="7776864" cy="2138638"/>
          </a:xfrm>
          <a:prstGeom prst="rect">
            <a:avLst/>
          </a:prstGeom>
          <a:noFill/>
          <a:ln>
            <a:noFill/>
          </a:ln>
        </p:spPr>
      </p:pic>
    </p:spTree>
    <p:extLst>
      <p:ext uri="{BB962C8B-B14F-4D97-AF65-F5344CB8AC3E}">
        <p14:creationId xmlns:p14="http://schemas.microsoft.com/office/powerpoint/2010/main" val="162510902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623922" y="371235"/>
            <a:ext cx="5487070" cy="421481"/>
          </a:xfrm>
        </p:spPr>
        <p:txBody>
          <a:bodyPr>
            <a:normAutofit fontScale="90000"/>
          </a:bodyPr>
          <a:lstStyle/>
          <a:p>
            <a:r>
              <a:rPr kumimoji="1" lang="zh-CN" altLang="en-US" sz="3240" dirty="0"/>
              <a:t>软件系统之间的兼容性</a:t>
            </a:r>
            <a:r>
              <a:rPr kumimoji="1" lang="en-US" altLang="zh-CN" sz="3240" dirty="0"/>
              <a:t> </a:t>
            </a:r>
            <a:r>
              <a:rPr kumimoji="1" lang="en-US" altLang="zh-CN" sz="2160" dirty="0"/>
              <a:t>-1</a:t>
            </a:r>
            <a:endParaRPr kumimoji="1" lang="zh-CN" altLang="en-US" sz="2160" dirty="0"/>
          </a:p>
        </p:txBody>
      </p:sp>
      <p:sp>
        <p:nvSpPr>
          <p:cNvPr id="4" name="幻灯片编号占位符 3"/>
          <p:cNvSpPr>
            <a:spLocks noGrp="1"/>
          </p:cNvSpPr>
          <p:nvPr>
            <p:ph type="sldNum" sz="quarter" idx="10"/>
          </p:nvPr>
        </p:nvSpPr>
        <p:spPr>
          <a:xfrm>
            <a:off x="457200" y="4955617"/>
            <a:ext cx="8229600" cy="201215"/>
          </a:xfrm>
        </p:spPr>
        <p:txBody>
          <a:bodyPr/>
          <a:lstStyle/>
          <a:p>
            <a:fld id="{DBE2DA07-CE19-4C9B-A0EC-06D3955056CF}" type="slidenum">
              <a:rPr lang="en-US" altLang="zh-CN" smtClean="0"/>
              <a:pPr/>
              <a:t>61</a:t>
            </a:fld>
            <a:endParaRPr lang="en-US" altLang="zh-CN"/>
          </a:p>
        </p:txBody>
      </p:sp>
      <p:pic>
        <p:nvPicPr>
          <p:cNvPr id="6" name="图片 5" descr="屏幕快照 2014-10-14 下午10.01.47.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5986" y="1353899"/>
            <a:ext cx="1166530" cy="1432030"/>
          </a:xfrm>
          <a:prstGeom prst="rect">
            <a:avLst/>
          </a:prstGeom>
        </p:spPr>
      </p:pic>
      <p:sp>
        <p:nvSpPr>
          <p:cNvPr id="13" name="文本框 12"/>
          <p:cNvSpPr txBox="1"/>
          <p:nvPr/>
        </p:nvSpPr>
        <p:spPr>
          <a:xfrm>
            <a:off x="4250278" y="2585235"/>
            <a:ext cx="1018228" cy="590931"/>
          </a:xfrm>
          <a:prstGeom prst="rect">
            <a:avLst/>
          </a:prstGeom>
          <a:noFill/>
        </p:spPr>
        <p:txBody>
          <a:bodyPr wrap="none" rtlCol="0">
            <a:spAutoFit/>
          </a:bodyPr>
          <a:lstStyle/>
          <a:p>
            <a:pPr algn="ctr"/>
            <a:r>
              <a:rPr kumimoji="1" lang="zh-CN" altLang="en-US" sz="1620" dirty="0">
                <a:solidFill>
                  <a:schemeClr val="accent1">
                    <a:lumMod val="50000"/>
                  </a:schemeClr>
                </a:solidFill>
              </a:rPr>
              <a:t>服务器端</a:t>
            </a:r>
            <a:endParaRPr kumimoji="1" lang="en-US" altLang="zh-CN" sz="1620" dirty="0">
              <a:solidFill>
                <a:schemeClr val="accent1">
                  <a:lumMod val="50000"/>
                </a:schemeClr>
              </a:solidFill>
            </a:endParaRPr>
          </a:p>
          <a:p>
            <a:pPr algn="ctr"/>
            <a:r>
              <a:rPr kumimoji="1" lang="zh-CN" altLang="en-US" sz="1620" dirty="0">
                <a:solidFill>
                  <a:schemeClr val="accent1">
                    <a:lumMod val="50000"/>
                  </a:schemeClr>
                </a:solidFill>
              </a:rPr>
              <a:t>应用软件</a:t>
            </a:r>
          </a:p>
        </p:txBody>
      </p:sp>
      <p:grpSp>
        <p:nvGrpSpPr>
          <p:cNvPr id="5" name="组 4"/>
          <p:cNvGrpSpPr/>
          <p:nvPr/>
        </p:nvGrpSpPr>
        <p:grpSpPr>
          <a:xfrm>
            <a:off x="5362516" y="1483513"/>
            <a:ext cx="1931386" cy="1378547"/>
            <a:chOff x="5450351" y="1993404"/>
            <a:chExt cx="2145985" cy="1531719"/>
          </a:xfrm>
        </p:grpSpPr>
        <p:sp>
          <p:nvSpPr>
            <p:cNvPr id="14" name="文本框 13"/>
            <p:cNvSpPr txBox="1"/>
            <p:nvPr/>
          </p:nvSpPr>
          <p:spPr>
            <a:xfrm>
              <a:off x="6228184" y="3145532"/>
              <a:ext cx="1368152" cy="379591"/>
            </a:xfrm>
            <a:prstGeom prst="rect">
              <a:avLst/>
            </a:prstGeom>
            <a:noFill/>
          </p:spPr>
          <p:txBody>
            <a:bodyPr wrap="square" rtlCol="0">
              <a:spAutoFit/>
            </a:bodyPr>
            <a:lstStyle/>
            <a:p>
              <a:pPr algn="ctr"/>
              <a:r>
                <a:rPr kumimoji="1" lang="zh-CN" altLang="en-US" sz="1620" dirty="0">
                  <a:solidFill>
                    <a:schemeClr val="accent1">
                      <a:lumMod val="50000"/>
                    </a:schemeClr>
                  </a:solidFill>
                </a:rPr>
                <a:t>中间件</a:t>
              </a:r>
              <a:r>
                <a:rPr kumimoji="1" lang="en-US" altLang="zh-CN" sz="1620" dirty="0">
                  <a:solidFill>
                    <a:schemeClr val="accent1">
                      <a:lumMod val="50000"/>
                    </a:schemeClr>
                  </a:solidFill>
                </a:rPr>
                <a:t>/OS</a:t>
              </a:r>
              <a:endParaRPr kumimoji="1" lang="zh-CN" altLang="en-US" sz="1620" dirty="0">
                <a:solidFill>
                  <a:schemeClr val="accent1">
                    <a:lumMod val="50000"/>
                  </a:schemeClr>
                </a:solidFill>
              </a:endParaRPr>
            </a:p>
          </p:txBody>
        </p:sp>
        <p:pic>
          <p:nvPicPr>
            <p:cNvPr id="15" name="图片 14" descr="屏幕快照 2014-10-14 下午10.01.47.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2200" y="1993404"/>
              <a:ext cx="997180" cy="1224136"/>
            </a:xfrm>
            <a:prstGeom prst="rect">
              <a:avLst/>
            </a:prstGeom>
          </p:spPr>
        </p:pic>
        <p:sp>
          <p:nvSpPr>
            <p:cNvPr id="28" name="文本框 27"/>
            <p:cNvSpPr txBox="1"/>
            <p:nvPr/>
          </p:nvSpPr>
          <p:spPr>
            <a:xfrm>
              <a:off x="5580112" y="2569468"/>
              <a:ext cx="648072" cy="656590"/>
            </a:xfrm>
            <a:prstGeom prst="rect">
              <a:avLst/>
            </a:prstGeom>
            <a:noFill/>
          </p:spPr>
          <p:txBody>
            <a:bodyPr wrap="square" rtlCol="0">
              <a:spAutoFit/>
            </a:bodyPr>
            <a:lstStyle/>
            <a:p>
              <a:r>
                <a:rPr kumimoji="1" lang="zh-CN" altLang="en-US" sz="1620" dirty="0">
                  <a:solidFill>
                    <a:srgbClr val="FF6600"/>
                  </a:solidFill>
                </a:rPr>
                <a:t>兼容</a:t>
              </a:r>
            </a:p>
          </p:txBody>
        </p:sp>
        <p:cxnSp>
          <p:nvCxnSpPr>
            <p:cNvPr id="29" name="曲线连接符 28"/>
            <p:cNvCxnSpPr>
              <a:stCxn id="6" idx="3"/>
              <a:endCxn id="15" idx="1"/>
            </p:cNvCxnSpPr>
            <p:nvPr/>
          </p:nvCxnSpPr>
          <p:spPr bwMode="auto">
            <a:xfrm>
              <a:off x="5450351" y="2299904"/>
              <a:ext cx="921849" cy="305568"/>
            </a:xfrm>
            <a:prstGeom prst="curvedConnector3">
              <a:avLst>
                <a:gd name="adj1" fmla="val 50000"/>
              </a:avLst>
            </a:prstGeom>
            <a:solidFill>
              <a:schemeClr val="accent1"/>
            </a:solidFill>
            <a:ln w="28575" cap="flat" cmpd="sng" algn="ctr">
              <a:solidFill>
                <a:schemeClr val="accent1">
                  <a:lumMod val="50000"/>
                </a:schemeClr>
              </a:solidFill>
              <a:prstDash val="solid"/>
              <a:round/>
              <a:headEnd type="arrow"/>
              <a:tailEnd type="arrow"/>
            </a:ln>
            <a:effectLst/>
          </p:spPr>
        </p:cxnSp>
      </p:grpSp>
      <p:cxnSp>
        <p:nvCxnSpPr>
          <p:cNvPr id="36" name="曲线连接符 35"/>
          <p:cNvCxnSpPr>
            <a:endCxn id="8" idx="1"/>
          </p:cNvCxnSpPr>
          <p:nvPr/>
        </p:nvCxnSpPr>
        <p:spPr bwMode="auto">
          <a:xfrm rot="16200000" flipH="1">
            <a:off x="5232902" y="2066777"/>
            <a:ext cx="1620180" cy="1620180"/>
          </a:xfrm>
          <a:prstGeom prst="curvedConnector2">
            <a:avLst/>
          </a:prstGeom>
          <a:solidFill>
            <a:schemeClr val="accent1"/>
          </a:solidFill>
          <a:ln w="28575" cap="flat" cmpd="sng" algn="ctr">
            <a:solidFill>
              <a:schemeClr val="accent1">
                <a:lumMod val="50000"/>
              </a:schemeClr>
            </a:solidFill>
            <a:prstDash val="dash"/>
            <a:round/>
            <a:headEnd type="arrow"/>
            <a:tailEnd type="arrow"/>
          </a:ln>
          <a:effectLst/>
        </p:spPr>
      </p:cxnSp>
      <p:sp>
        <p:nvSpPr>
          <p:cNvPr id="40" name="文本框 39"/>
          <p:cNvSpPr txBox="1"/>
          <p:nvPr/>
        </p:nvSpPr>
        <p:spPr>
          <a:xfrm>
            <a:off x="5556938" y="3298114"/>
            <a:ext cx="583265" cy="590931"/>
          </a:xfrm>
          <a:prstGeom prst="rect">
            <a:avLst/>
          </a:prstGeom>
          <a:noFill/>
        </p:spPr>
        <p:txBody>
          <a:bodyPr wrap="square" rtlCol="0">
            <a:spAutoFit/>
          </a:bodyPr>
          <a:lstStyle/>
          <a:p>
            <a:r>
              <a:rPr kumimoji="1" lang="zh-CN" altLang="en-US" sz="1620" dirty="0">
                <a:solidFill>
                  <a:srgbClr val="FF6600"/>
                </a:solidFill>
              </a:rPr>
              <a:t>兼容</a:t>
            </a:r>
          </a:p>
        </p:txBody>
      </p:sp>
      <p:grpSp>
        <p:nvGrpSpPr>
          <p:cNvPr id="16" name="组 15"/>
          <p:cNvGrpSpPr/>
          <p:nvPr/>
        </p:nvGrpSpPr>
        <p:grpSpPr>
          <a:xfrm>
            <a:off x="6712632" y="3168500"/>
            <a:ext cx="1226619" cy="1313740"/>
            <a:chOff x="6864215" y="3865612"/>
            <a:chExt cx="1362910" cy="1459711"/>
          </a:xfrm>
        </p:grpSpPr>
        <p:pic>
          <p:nvPicPr>
            <p:cNvPr id="8" name="图片 7" descr="屏幕快照 2014-10-14 下午10.07.25.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0272" y="3865612"/>
              <a:ext cx="998511" cy="1152128"/>
            </a:xfrm>
            <a:prstGeom prst="rect">
              <a:avLst/>
            </a:prstGeom>
          </p:spPr>
        </p:pic>
        <p:sp>
          <p:nvSpPr>
            <p:cNvPr id="41" name="文本框 40"/>
            <p:cNvSpPr txBox="1"/>
            <p:nvPr/>
          </p:nvSpPr>
          <p:spPr>
            <a:xfrm>
              <a:off x="6864215" y="4945732"/>
              <a:ext cx="1362910" cy="379591"/>
            </a:xfrm>
            <a:prstGeom prst="rect">
              <a:avLst/>
            </a:prstGeom>
            <a:noFill/>
          </p:spPr>
          <p:txBody>
            <a:bodyPr wrap="none" rtlCol="0">
              <a:spAutoFit/>
            </a:bodyPr>
            <a:lstStyle/>
            <a:p>
              <a:pPr algn="ctr"/>
              <a:r>
                <a:rPr kumimoji="1" lang="zh-CN" altLang="en-US" sz="1620" dirty="0">
                  <a:solidFill>
                    <a:schemeClr val="accent1">
                      <a:lumMod val="50000"/>
                    </a:schemeClr>
                  </a:solidFill>
                </a:rPr>
                <a:t>第三方软件</a:t>
              </a:r>
            </a:p>
          </p:txBody>
        </p:sp>
      </p:grpSp>
      <p:grpSp>
        <p:nvGrpSpPr>
          <p:cNvPr id="33" name="组 32"/>
          <p:cNvGrpSpPr/>
          <p:nvPr/>
        </p:nvGrpSpPr>
        <p:grpSpPr>
          <a:xfrm>
            <a:off x="955626" y="1094670"/>
            <a:ext cx="2616614" cy="1119318"/>
            <a:chOff x="467544" y="1345332"/>
            <a:chExt cx="2907348" cy="1243687"/>
          </a:xfrm>
        </p:grpSpPr>
        <p:sp>
          <p:nvSpPr>
            <p:cNvPr id="24" name="矩形 23"/>
            <p:cNvSpPr/>
            <p:nvPr/>
          </p:nvSpPr>
          <p:spPr>
            <a:xfrm>
              <a:off x="467544" y="1345332"/>
              <a:ext cx="2907348" cy="379591"/>
            </a:xfrm>
            <a:prstGeom prst="rect">
              <a:avLst/>
            </a:prstGeom>
          </p:spPr>
          <p:txBody>
            <a:bodyPr wrap="none">
              <a:spAutoFit/>
            </a:bodyPr>
            <a:lstStyle/>
            <a:p>
              <a:r>
                <a:rPr lang="en-US" altLang="zh-CN" sz="1620" b="1" dirty="0"/>
                <a:t>Red Hat Enterprise Linux 7.1</a:t>
              </a:r>
              <a:endParaRPr lang="zh-CN" altLang="en-US" sz="1620" b="1" dirty="0"/>
            </a:p>
          </p:txBody>
        </p:sp>
        <p:sp>
          <p:nvSpPr>
            <p:cNvPr id="30" name="矩形 29"/>
            <p:cNvSpPr/>
            <p:nvPr/>
          </p:nvSpPr>
          <p:spPr>
            <a:xfrm>
              <a:off x="467544" y="2209428"/>
              <a:ext cx="2841090" cy="379591"/>
            </a:xfrm>
            <a:prstGeom prst="rect">
              <a:avLst/>
            </a:prstGeom>
          </p:spPr>
          <p:txBody>
            <a:bodyPr wrap="none">
              <a:spAutoFit/>
            </a:bodyPr>
            <a:lstStyle/>
            <a:p>
              <a:r>
                <a:rPr lang="en-US" altLang="zh-CN" sz="1620" dirty="0">
                  <a:solidFill>
                    <a:schemeClr val="tx1">
                      <a:lumMod val="65000"/>
                      <a:lumOff val="35000"/>
                    </a:schemeClr>
                  </a:solidFill>
                </a:rPr>
                <a:t>Red Hat Enterprise Linux 6.6</a:t>
              </a:r>
              <a:endParaRPr lang="zh-CN" altLang="en-US" sz="1620" dirty="0">
                <a:solidFill>
                  <a:schemeClr val="tx1">
                    <a:lumMod val="65000"/>
                    <a:lumOff val="35000"/>
                  </a:schemeClr>
                </a:solidFill>
              </a:endParaRPr>
            </a:p>
          </p:txBody>
        </p:sp>
        <p:sp>
          <p:nvSpPr>
            <p:cNvPr id="31" name="上箭头 30"/>
            <p:cNvSpPr/>
            <p:nvPr/>
          </p:nvSpPr>
          <p:spPr>
            <a:xfrm>
              <a:off x="1763688" y="1705372"/>
              <a:ext cx="360040" cy="576064"/>
            </a:xfrm>
            <a:prstGeom prst="upArrow">
              <a:avLst/>
            </a:prstGeom>
            <a:gradFill flip="none" rotWithShape="1">
              <a:gsLst>
                <a:gs pos="0">
                  <a:schemeClr val="accent6">
                    <a:lumMod val="20000"/>
                    <a:lumOff val="80000"/>
                  </a:schemeClr>
                </a:gs>
                <a:gs pos="100000">
                  <a:srgbClr val="FF6600"/>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p>
          </p:txBody>
        </p:sp>
        <p:sp>
          <p:nvSpPr>
            <p:cNvPr id="32" name="文本框 31"/>
            <p:cNvSpPr txBox="1"/>
            <p:nvPr/>
          </p:nvSpPr>
          <p:spPr>
            <a:xfrm>
              <a:off x="2051720" y="1849388"/>
              <a:ext cx="893834" cy="348813"/>
            </a:xfrm>
            <a:prstGeom prst="rect">
              <a:avLst/>
            </a:prstGeom>
            <a:noFill/>
          </p:spPr>
          <p:txBody>
            <a:bodyPr wrap="none" rtlCol="0">
              <a:spAutoFit/>
            </a:bodyPr>
            <a:lstStyle/>
            <a:p>
              <a:r>
                <a:rPr kumimoji="1" lang="en-US" altLang="zh-CN" sz="1440" dirty="0">
                  <a:solidFill>
                    <a:srgbClr val="FF6600"/>
                  </a:solidFill>
                </a:rPr>
                <a:t>upgrade</a:t>
              </a:r>
              <a:endParaRPr kumimoji="1" lang="zh-CN" altLang="en-US" sz="1440" dirty="0">
                <a:solidFill>
                  <a:srgbClr val="FF6600"/>
                </a:solidFill>
              </a:endParaRPr>
            </a:p>
          </p:txBody>
        </p:sp>
      </p:grpSp>
      <p:grpSp>
        <p:nvGrpSpPr>
          <p:cNvPr id="37" name="组 36"/>
          <p:cNvGrpSpPr/>
          <p:nvPr/>
        </p:nvGrpSpPr>
        <p:grpSpPr>
          <a:xfrm>
            <a:off x="826013" y="2779657"/>
            <a:ext cx="3318173" cy="1184125"/>
            <a:chOff x="395536" y="1345332"/>
            <a:chExt cx="3686859" cy="1315695"/>
          </a:xfrm>
        </p:grpSpPr>
        <p:sp>
          <p:nvSpPr>
            <p:cNvPr id="38" name="矩形 37"/>
            <p:cNvSpPr/>
            <p:nvPr/>
          </p:nvSpPr>
          <p:spPr>
            <a:xfrm>
              <a:off x="467544" y="1345332"/>
              <a:ext cx="3456385" cy="379591"/>
            </a:xfrm>
            <a:prstGeom prst="rect">
              <a:avLst/>
            </a:prstGeom>
          </p:spPr>
          <p:txBody>
            <a:bodyPr wrap="square">
              <a:spAutoFit/>
            </a:bodyPr>
            <a:lstStyle/>
            <a:p>
              <a:r>
                <a:rPr lang="en-US" altLang="zh-CN" sz="1620" b="1" dirty="0"/>
                <a:t>MySQL Enterprise Edition 5.7</a:t>
              </a:r>
              <a:endParaRPr lang="zh-CN" altLang="en-US" sz="1620" b="1" dirty="0"/>
            </a:p>
          </p:txBody>
        </p:sp>
        <p:sp>
          <p:nvSpPr>
            <p:cNvPr id="39" name="矩形 38"/>
            <p:cNvSpPr/>
            <p:nvPr/>
          </p:nvSpPr>
          <p:spPr>
            <a:xfrm>
              <a:off x="395536" y="2281436"/>
              <a:ext cx="3686859" cy="379591"/>
            </a:xfrm>
            <a:prstGeom prst="rect">
              <a:avLst/>
            </a:prstGeom>
          </p:spPr>
          <p:txBody>
            <a:bodyPr wrap="square">
              <a:spAutoFit/>
            </a:bodyPr>
            <a:lstStyle/>
            <a:p>
              <a:pPr algn="ctr"/>
              <a:r>
                <a:rPr lang="en-US" altLang="zh-CN" sz="1620" dirty="0">
                  <a:solidFill>
                    <a:schemeClr val="tx1">
                      <a:lumMod val="65000"/>
                      <a:lumOff val="35000"/>
                    </a:schemeClr>
                  </a:solidFill>
                </a:rPr>
                <a:t>MySQL</a:t>
              </a:r>
              <a:r>
                <a:rPr lang="en-US" altLang="zh-CN" sz="1620" b="1" dirty="0"/>
                <a:t> </a:t>
              </a:r>
              <a:r>
                <a:rPr lang="en-US" altLang="zh-CN" sz="1620" dirty="0">
                  <a:solidFill>
                    <a:schemeClr val="tx1">
                      <a:lumMod val="65000"/>
                      <a:lumOff val="35000"/>
                    </a:schemeClr>
                  </a:solidFill>
                </a:rPr>
                <a:t>Enterprise Edition 5.6</a:t>
              </a:r>
              <a:endParaRPr lang="zh-CN" altLang="en-US" sz="1620" dirty="0">
                <a:solidFill>
                  <a:schemeClr val="tx1">
                    <a:lumMod val="65000"/>
                    <a:lumOff val="35000"/>
                  </a:schemeClr>
                </a:solidFill>
              </a:endParaRPr>
            </a:p>
          </p:txBody>
        </p:sp>
        <p:sp>
          <p:nvSpPr>
            <p:cNvPr id="42" name="上箭头 41"/>
            <p:cNvSpPr/>
            <p:nvPr/>
          </p:nvSpPr>
          <p:spPr>
            <a:xfrm>
              <a:off x="1763688" y="1705372"/>
              <a:ext cx="360040" cy="576064"/>
            </a:xfrm>
            <a:prstGeom prst="upArrow">
              <a:avLst/>
            </a:prstGeom>
            <a:gradFill flip="none" rotWithShape="1">
              <a:gsLst>
                <a:gs pos="0">
                  <a:schemeClr val="accent6">
                    <a:lumMod val="20000"/>
                    <a:lumOff val="80000"/>
                  </a:schemeClr>
                </a:gs>
                <a:gs pos="100000">
                  <a:srgbClr val="FF6600"/>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p>
          </p:txBody>
        </p:sp>
        <p:sp>
          <p:nvSpPr>
            <p:cNvPr id="43" name="文本框 42"/>
            <p:cNvSpPr txBox="1"/>
            <p:nvPr/>
          </p:nvSpPr>
          <p:spPr>
            <a:xfrm>
              <a:off x="2051720" y="1849388"/>
              <a:ext cx="893834" cy="348813"/>
            </a:xfrm>
            <a:prstGeom prst="rect">
              <a:avLst/>
            </a:prstGeom>
            <a:noFill/>
          </p:spPr>
          <p:txBody>
            <a:bodyPr wrap="none" rtlCol="0">
              <a:spAutoFit/>
            </a:bodyPr>
            <a:lstStyle/>
            <a:p>
              <a:r>
                <a:rPr kumimoji="1" lang="en-US" altLang="zh-CN" sz="1440" dirty="0">
                  <a:solidFill>
                    <a:srgbClr val="FF6600"/>
                  </a:solidFill>
                </a:rPr>
                <a:t>upgrade</a:t>
              </a:r>
              <a:endParaRPr kumimoji="1" lang="zh-CN" altLang="en-US" sz="1440" dirty="0">
                <a:solidFill>
                  <a:srgbClr val="FF6600"/>
                </a:solidFill>
              </a:endParaRPr>
            </a:p>
          </p:txBody>
        </p:sp>
      </p:grpSp>
    </p:spTree>
    <p:extLst>
      <p:ext uri="{BB962C8B-B14F-4D97-AF65-F5344CB8AC3E}">
        <p14:creationId xmlns:p14="http://schemas.microsoft.com/office/powerpoint/2010/main" val="473698735"/>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ppt_x</p:attrName>
                                        </p:attrNameLst>
                                      </p:cBhvr>
                                      <p:tavLst>
                                        <p:tav tm="0">
                                          <p:val>
                                            <p:strVal val="#ppt_x-#ppt_w*1.125000"/>
                                          </p:val>
                                        </p:tav>
                                        <p:tav tm="100000">
                                          <p:val>
                                            <p:strVal val="#ppt_x"/>
                                          </p:val>
                                        </p:tav>
                                      </p:tavLst>
                                    </p:anim>
                                    <p:animEffect transition="in" filter="wipe(right)">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blinds(horizontal)">
                                      <p:cBhvr>
                                        <p:cTn id="13" dur="500"/>
                                        <p:tgtEl>
                                          <p:spTgt spid="33"/>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blinds(horizontal)">
                                      <p:cBhvr>
                                        <p:cTn id="18" dur="500"/>
                                        <p:tgtEl>
                                          <p:spTgt spid="37"/>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anim calcmode="lin" valueType="num">
                                      <p:cBhvr additive="base">
                                        <p:cTn id="23" dur="500" fill="hold"/>
                                        <p:tgtEl>
                                          <p:spTgt spid="36"/>
                                        </p:tgtEl>
                                        <p:attrNameLst>
                                          <p:attrName>ppt_x</p:attrName>
                                        </p:attrNameLst>
                                      </p:cBhvr>
                                      <p:tavLst>
                                        <p:tav tm="0">
                                          <p:val>
                                            <p:strVal val="1+#ppt_w/2"/>
                                          </p:val>
                                        </p:tav>
                                        <p:tav tm="100000">
                                          <p:val>
                                            <p:strVal val="#ppt_x"/>
                                          </p:val>
                                        </p:tav>
                                      </p:tavLst>
                                    </p:anim>
                                    <p:anim calcmode="lin" valueType="num">
                                      <p:cBhvr additive="base">
                                        <p:cTn id="24" dur="500" fill="hold"/>
                                        <p:tgtEl>
                                          <p:spTgt spid="36"/>
                                        </p:tgtEl>
                                        <p:attrNameLst>
                                          <p:attrName>ppt_y</p:attrName>
                                        </p:attrNameLst>
                                      </p:cBhvr>
                                      <p:tavLst>
                                        <p:tav tm="0">
                                          <p:val>
                                            <p:strVal val="1+#ppt_h/2"/>
                                          </p:val>
                                        </p:tav>
                                        <p:tav tm="100000">
                                          <p:val>
                                            <p:strVal val="#ppt_y"/>
                                          </p:val>
                                        </p:tav>
                                      </p:tavLst>
                                    </p:anim>
                                  </p:childTnLst>
                                </p:cTn>
                              </p:par>
                              <p:par>
                                <p:cTn id="25" presetID="2" presetClass="entr" presetSubtype="6" fill="hold" grpId="0" nodeType="withEffect">
                                  <p:stCondLst>
                                    <p:cond delay="0"/>
                                  </p:stCondLst>
                                  <p:childTnLst>
                                    <p:set>
                                      <p:cBhvr>
                                        <p:cTn id="26" dur="1" fill="hold">
                                          <p:stCondLst>
                                            <p:cond delay="0"/>
                                          </p:stCondLst>
                                        </p:cTn>
                                        <p:tgtEl>
                                          <p:spTgt spid="40"/>
                                        </p:tgtEl>
                                        <p:attrNameLst>
                                          <p:attrName>style.visibility</p:attrName>
                                        </p:attrNameLst>
                                      </p:cBhvr>
                                      <p:to>
                                        <p:strVal val="visible"/>
                                      </p:to>
                                    </p:set>
                                    <p:anim calcmode="lin" valueType="num">
                                      <p:cBhvr additive="base">
                                        <p:cTn id="27" dur="500" fill="hold"/>
                                        <p:tgtEl>
                                          <p:spTgt spid="40"/>
                                        </p:tgtEl>
                                        <p:attrNameLst>
                                          <p:attrName>ppt_x</p:attrName>
                                        </p:attrNameLst>
                                      </p:cBhvr>
                                      <p:tavLst>
                                        <p:tav tm="0">
                                          <p:val>
                                            <p:strVal val="1+#ppt_w/2"/>
                                          </p:val>
                                        </p:tav>
                                        <p:tav tm="100000">
                                          <p:val>
                                            <p:strVal val="#ppt_x"/>
                                          </p:val>
                                        </p:tav>
                                      </p:tavLst>
                                    </p:anim>
                                    <p:anim calcmode="lin" valueType="num">
                                      <p:cBhvr additive="base">
                                        <p:cTn id="28" dur="500" fill="hold"/>
                                        <p:tgtEl>
                                          <p:spTgt spid="40"/>
                                        </p:tgtEl>
                                        <p:attrNameLst>
                                          <p:attrName>ppt_y</p:attrName>
                                        </p:attrNameLst>
                                      </p:cBhvr>
                                      <p:tavLst>
                                        <p:tav tm="0">
                                          <p:val>
                                            <p:strVal val="1+#ppt_h/2"/>
                                          </p:val>
                                        </p:tav>
                                        <p:tav tm="100000">
                                          <p:val>
                                            <p:strVal val="#ppt_y"/>
                                          </p:val>
                                        </p:tav>
                                      </p:tavLst>
                                    </p:anim>
                                  </p:childTnLst>
                                </p:cTn>
                              </p:par>
                              <p:par>
                                <p:cTn id="29" presetID="2" presetClass="entr" presetSubtype="6"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1+#ppt_w/2"/>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93159" y="362820"/>
            <a:ext cx="5487070" cy="421481"/>
          </a:xfrm>
        </p:spPr>
        <p:txBody>
          <a:bodyPr>
            <a:normAutofit fontScale="90000"/>
          </a:bodyPr>
          <a:lstStyle/>
          <a:p>
            <a:r>
              <a:rPr kumimoji="1" lang="zh-CN" altLang="en-US" sz="3240" dirty="0"/>
              <a:t>软件系统之间的兼容性</a:t>
            </a:r>
            <a:r>
              <a:rPr kumimoji="1" lang="en-US" altLang="zh-CN" sz="2160" dirty="0"/>
              <a:t> -2</a:t>
            </a:r>
            <a:endParaRPr kumimoji="1" lang="zh-CN" altLang="en-US" sz="2160" dirty="0"/>
          </a:p>
        </p:txBody>
      </p:sp>
      <p:sp>
        <p:nvSpPr>
          <p:cNvPr id="4" name="幻灯片编号占位符 3"/>
          <p:cNvSpPr>
            <a:spLocks noGrp="1"/>
          </p:cNvSpPr>
          <p:nvPr>
            <p:ph type="sldNum" sz="quarter" idx="10"/>
          </p:nvPr>
        </p:nvSpPr>
        <p:spPr>
          <a:xfrm>
            <a:off x="457200" y="4955617"/>
            <a:ext cx="8229600" cy="201215"/>
          </a:xfrm>
        </p:spPr>
        <p:txBody>
          <a:bodyPr/>
          <a:lstStyle/>
          <a:p>
            <a:fld id="{DBE2DA07-CE19-4C9B-A0EC-06D3955056CF}" type="slidenum">
              <a:rPr lang="en-US" altLang="zh-CN" smtClean="0"/>
              <a:pPr/>
              <a:t>62</a:t>
            </a:fld>
            <a:endParaRPr lang="en-US" altLang="zh-CN"/>
          </a:p>
        </p:txBody>
      </p:sp>
      <p:pic>
        <p:nvPicPr>
          <p:cNvPr id="6" name="图片 5" descr="屏幕快照 2014-10-14 下午10.01.47.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3458" y="1121987"/>
            <a:ext cx="1166530" cy="1432030"/>
          </a:xfrm>
          <a:prstGeom prst="rect">
            <a:avLst/>
          </a:prstGeom>
        </p:spPr>
      </p:pic>
      <p:sp>
        <p:nvSpPr>
          <p:cNvPr id="13" name="文本框 12"/>
          <p:cNvSpPr txBox="1"/>
          <p:nvPr/>
        </p:nvSpPr>
        <p:spPr>
          <a:xfrm>
            <a:off x="4017365" y="2498971"/>
            <a:ext cx="1018228" cy="590931"/>
          </a:xfrm>
          <a:prstGeom prst="rect">
            <a:avLst/>
          </a:prstGeom>
          <a:noFill/>
        </p:spPr>
        <p:txBody>
          <a:bodyPr wrap="none" rtlCol="0">
            <a:spAutoFit/>
          </a:bodyPr>
          <a:lstStyle/>
          <a:p>
            <a:pPr algn="ctr"/>
            <a:r>
              <a:rPr kumimoji="1" lang="zh-CN" altLang="en-US" sz="1620" dirty="0">
                <a:solidFill>
                  <a:schemeClr val="accent1">
                    <a:lumMod val="50000"/>
                  </a:schemeClr>
                </a:solidFill>
              </a:rPr>
              <a:t>服务器端</a:t>
            </a:r>
            <a:endParaRPr kumimoji="1" lang="en-US" altLang="zh-CN" sz="1620" dirty="0">
              <a:solidFill>
                <a:schemeClr val="accent1">
                  <a:lumMod val="50000"/>
                </a:schemeClr>
              </a:solidFill>
            </a:endParaRPr>
          </a:p>
          <a:p>
            <a:pPr algn="ctr"/>
            <a:r>
              <a:rPr kumimoji="1" lang="zh-CN" altLang="en-US" sz="1620" dirty="0">
                <a:solidFill>
                  <a:schemeClr val="accent1">
                    <a:lumMod val="50000"/>
                  </a:schemeClr>
                </a:solidFill>
              </a:rPr>
              <a:t>应用软件</a:t>
            </a:r>
          </a:p>
        </p:txBody>
      </p:sp>
      <p:grpSp>
        <p:nvGrpSpPr>
          <p:cNvPr id="17" name="组 16"/>
          <p:cNvGrpSpPr/>
          <p:nvPr/>
        </p:nvGrpSpPr>
        <p:grpSpPr>
          <a:xfrm>
            <a:off x="1255909" y="878792"/>
            <a:ext cx="2577549" cy="1368617"/>
            <a:chOff x="1059984" y="1417340"/>
            <a:chExt cx="2863943" cy="1520686"/>
          </a:xfrm>
        </p:grpSpPr>
        <p:pic>
          <p:nvPicPr>
            <p:cNvPr id="7" name="图片 6" descr="skd188257sdc.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59632" y="1417340"/>
              <a:ext cx="883693" cy="792088"/>
            </a:xfrm>
            <a:prstGeom prst="rect">
              <a:avLst/>
            </a:prstGeom>
          </p:spPr>
        </p:pic>
        <p:sp>
          <p:nvSpPr>
            <p:cNvPr id="3" name="文本框 2"/>
            <p:cNvSpPr txBox="1"/>
            <p:nvPr/>
          </p:nvSpPr>
          <p:spPr>
            <a:xfrm>
              <a:off x="1059984" y="2281436"/>
              <a:ext cx="1362910" cy="656590"/>
            </a:xfrm>
            <a:prstGeom prst="rect">
              <a:avLst/>
            </a:prstGeom>
            <a:noFill/>
          </p:spPr>
          <p:txBody>
            <a:bodyPr wrap="none" rtlCol="0">
              <a:spAutoFit/>
            </a:bodyPr>
            <a:lstStyle/>
            <a:p>
              <a:pPr algn="ctr"/>
              <a:r>
                <a:rPr kumimoji="1" lang="zh-CN" altLang="en-US" sz="1620" dirty="0">
                  <a:solidFill>
                    <a:schemeClr val="accent1">
                      <a:lumMod val="50000"/>
                    </a:schemeClr>
                  </a:solidFill>
                </a:rPr>
                <a:t>客户端软件</a:t>
              </a:r>
              <a:endParaRPr kumimoji="1" lang="en-US" altLang="zh-CN" sz="1620" dirty="0">
                <a:solidFill>
                  <a:schemeClr val="accent1">
                    <a:lumMod val="50000"/>
                  </a:schemeClr>
                </a:solidFill>
              </a:endParaRPr>
            </a:p>
            <a:p>
              <a:pPr algn="ctr"/>
              <a:r>
                <a:rPr kumimoji="1" lang="en-US" altLang="zh-CN" sz="1620" dirty="0" err="1">
                  <a:solidFill>
                    <a:schemeClr val="accent1">
                      <a:lumMod val="50000"/>
                    </a:schemeClr>
                  </a:solidFill>
                </a:rPr>
                <a:t>Ver</a:t>
              </a:r>
              <a:r>
                <a:rPr kumimoji="1" lang="en-US" altLang="zh-CN" sz="1620" dirty="0">
                  <a:solidFill>
                    <a:schemeClr val="accent1">
                      <a:lumMod val="50000"/>
                    </a:schemeClr>
                  </a:solidFill>
                </a:rPr>
                <a:t> 2.1</a:t>
              </a:r>
              <a:endParaRPr kumimoji="1" lang="zh-CN" altLang="en-US" sz="1620" dirty="0">
                <a:solidFill>
                  <a:schemeClr val="accent1">
                    <a:lumMod val="50000"/>
                  </a:schemeClr>
                </a:solidFill>
              </a:endParaRPr>
            </a:p>
          </p:txBody>
        </p:sp>
        <p:cxnSp>
          <p:nvCxnSpPr>
            <p:cNvPr id="18" name="曲线连接符 17"/>
            <p:cNvCxnSpPr>
              <a:stCxn id="7" idx="3"/>
              <a:endCxn id="6" idx="1"/>
            </p:cNvCxnSpPr>
            <p:nvPr/>
          </p:nvCxnSpPr>
          <p:spPr bwMode="auto">
            <a:xfrm>
              <a:off x="2143325" y="1813385"/>
              <a:ext cx="1780602" cy="669745"/>
            </a:xfrm>
            <a:prstGeom prst="curvedConnector3">
              <a:avLst/>
            </a:prstGeom>
            <a:solidFill>
              <a:schemeClr val="accent1"/>
            </a:solidFill>
            <a:ln w="28575" cap="flat" cmpd="sng" algn="ctr">
              <a:solidFill>
                <a:schemeClr val="accent1">
                  <a:lumMod val="50000"/>
                </a:schemeClr>
              </a:solidFill>
              <a:prstDash val="solid"/>
              <a:round/>
              <a:headEnd type="arrow"/>
              <a:tailEnd type="arrow"/>
            </a:ln>
            <a:effectLst/>
          </p:spPr>
        </p:cxnSp>
        <p:sp>
          <p:nvSpPr>
            <p:cNvPr id="19" name="文本框 18"/>
            <p:cNvSpPr txBox="1"/>
            <p:nvPr/>
          </p:nvSpPr>
          <p:spPr>
            <a:xfrm>
              <a:off x="3203847" y="1733925"/>
              <a:ext cx="648072" cy="656590"/>
            </a:xfrm>
            <a:prstGeom prst="rect">
              <a:avLst/>
            </a:prstGeom>
            <a:noFill/>
          </p:spPr>
          <p:txBody>
            <a:bodyPr wrap="square" rtlCol="0">
              <a:spAutoFit/>
            </a:bodyPr>
            <a:lstStyle/>
            <a:p>
              <a:r>
                <a:rPr kumimoji="1" lang="zh-CN" altLang="en-US" sz="1620" dirty="0">
                  <a:solidFill>
                    <a:srgbClr val="FF6600"/>
                  </a:solidFill>
                </a:rPr>
                <a:t>兼容</a:t>
              </a:r>
            </a:p>
          </p:txBody>
        </p:sp>
      </p:grpSp>
      <p:grpSp>
        <p:nvGrpSpPr>
          <p:cNvPr id="22" name="组 21"/>
          <p:cNvGrpSpPr/>
          <p:nvPr/>
        </p:nvGrpSpPr>
        <p:grpSpPr>
          <a:xfrm>
            <a:off x="1424756" y="1838002"/>
            <a:ext cx="2408702" cy="2296787"/>
            <a:chOff x="1247591" y="2042224"/>
            <a:chExt cx="2676336" cy="2551986"/>
          </a:xfrm>
        </p:grpSpPr>
        <p:pic>
          <p:nvPicPr>
            <p:cNvPr id="9" name="图片 8" descr="skd188257sdc.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47239" y="3073524"/>
              <a:ext cx="883693" cy="792088"/>
            </a:xfrm>
            <a:prstGeom prst="rect">
              <a:avLst/>
            </a:prstGeom>
          </p:spPr>
        </p:pic>
        <p:sp>
          <p:nvSpPr>
            <p:cNvPr id="10" name="文本框 9"/>
            <p:cNvSpPr txBox="1"/>
            <p:nvPr/>
          </p:nvSpPr>
          <p:spPr>
            <a:xfrm>
              <a:off x="1247591" y="3937620"/>
              <a:ext cx="1362910" cy="656590"/>
            </a:xfrm>
            <a:prstGeom prst="rect">
              <a:avLst/>
            </a:prstGeom>
            <a:noFill/>
          </p:spPr>
          <p:txBody>
            <a:bodyPr wrap="none" rtlCol="0">
              <a:spAutoFit/>
            </a:bodyPr>
            <a:lstStyle/>
            <a:p>
              <a:pPr algn="ctr"/>
              <a:r>
                <a:rPr kumimoji="1" lang="zh-CN" altLang="en-US" sz="1620" dirty="0">
                  <a:solidFill>
                    <a:schemeClr val="accent1">
                      <a:lumMod val="50000"/>
                    </a:schemeClr>
                  </a:solidFill>
                </a:rPr>
                <a:t>客户端软件</a:t>
              </a:r>
              <a:endParaRPr kumimoji="1" lang="en-US" altLang="zh-CN" sz="1620" dirty="0">
                <a:solidFill>
                  <a:schemeClr val="accent1">
                    <a:lumMod val="50000"/>
                  </a:schemeClr>
                </a:solidFill>
              </a:endParaRPr>
            </a:p>
            <a:p>
              <a:pPr algn="ctr"/>
              <a:r>
                <a:rPr kumimoji="1" lang="en-US" altLang="zh-CN" sz="1620" dirty="0" err="1">
                  <a:solidFill>
                    <a:schemeClr val="accent1">
                      <a:lumMod val="50000"/>
                    </a:schemeClr>
                  </a:solidFill>
                </a:rPr>
                <a:t>Ver</a:t>
              </a:r>
              <a:r>
                <a:rPr kumimoji="1" lang="en-US" altLang="zh-CN" sz="1620" dirty="0">
                  <a:solidFill>
                    <a:schemeClr val="accent1">
                      <a:lumMod val="50000"/>
                    </a:schemeClr>
                  </a:solidFill>
                </a:rPr>
                <a:t> 2.2</a:t>
              </a:r>
              <a:endParaRPr kumimoji="1" lang="zh-CN" altLang="en-US" sz="1620" dirty="0">
                <a:solidFill>
                  <a:schemeClr val="accent1">
                    <a:lumMod val="50000"/>
                  </a:schemeClr>
                </a:solidFill>
              </a:endParaRPr>
            </a:p>
          </p:txBody>
        </p:sp>
        <p:cxnSp>
          <p:nvCxnSpPr>
            <p:cNvPr id="23" name="曲线连接符 22"/>
            <p:cNvCxnSpPr>
              <a:stCxn id="9" idx="3"/>
              <a:endCxn id="6" idx="1"/>
            </p:cNvCxnSpPr>
            <p:nvPr/>
          </p:nvCxnSpPr>
          <p:spPr bwMode="auto">
            <a:xfrm flipV="1">
              <a:off x="2330931" y="2042224"/>
              <a:ext cx="1592996" cy="1427345"/>
            </a:xfrm>
            <a:prstGeom prst="curvedConnector3">
              <a:avLst/>
            </a:prstGeom>
            <a:solidFill>
              <a:schemeClr val="accent1"/>
            </a:solidFill>
            <a:ln w="28575" cap="flat" cmpd="sng" algn="ctr">
              <a:solidFill>
                <a:schemeClr val="accent1">
                  <a:lumMod val="50000"/>
                </a:schemeClr>
              </a:solidFill>
              <a:prstDash val="solid"/>
              <a:round/>
              <a:headEnd type="arrow"/>
              <a:tailEnd type="arrow"/>
            </a:ln>
            <a:effectLst/>
          </p:spPr>
        </p:cxnSp>
        <p:sp>
          <p:nvSpPr>
            <p:cNvPr id="26" name="文本框 25"/>
            <p:cNvSpPr txBox="1"/>
            <p:nvPr/>
          </p:nvSpPr>
          <p:spPr>
            <a:xfrm>
              <a:off x="2630059" y="2502685"/>
              <a:ext cx="648072" cy="656590"/>
            </a:xfrm>
            <a:prstGeom prst="rect">
              <a:avLst/>
            </a:prstGeom>
            <a:noFill/>
          </p:spPr>
          <p:txBody>
            <a:bodyPr wrap="square" rtlCol="0">
              <a:spAutoFit/>
            </a:bodyPr>
            <a:lstStyle/>
            <a:p>
              <a:r>
                <a:rPr kumimoji="1" lang="zh-CN" altLang="en-US" sz="1620" dirty="0">
                  <a:solidFill>
                    <a:srgbClr val="FF6600"/>
                  </a:solidFill>
                </a:rPr>
                <a:t>兼容</a:t>
              </a:r>
            </a:p>
          </p:txBody>
        </p:sp>
      </p:grpSp>
      <p:grpSp>
        <p:nvGrpSpPr>
          <p:cNvPr id="21" name="组 20"/>
          <p:cNvGrpSpPr/>
          <p:nvPr/>
        </p:nvGrpSpPr>
        <p:grpSpPr>
          <a:xfrm>
            <a:off x="2915322" y="1838003"/>
            <a:ext cx="1226619" cy="3009665"/>
            <a:chOff x="2903775" y="2042225"/>
            <a:chExt cx="1362910" cy="3344073"/>
          </a:xfrm>
        </p:grpSpPr>
        <p:pic>
          <p:nvPicPr>
            <p:cNvPr id="11" name="图片 10" descr="skd188257sdc.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31840" y="4009628"/>
              <a:ext cx="883693" cy="792088"/>
            </a:xfrm>
            <a:prstGeom prst="rect">
              <a:avLst/>
            </a:prstGeom>
          </p:spPr>
        </p:pic>
        <p:sp>
          <p:nvSpPr>
            <p:cNvPr id="12" name="文本框 11"/>
            <p:cNvSpPr txBox="1"/>
            <p:nvPr/>
          </p:nvSpPr>
          <p:spPr>
            <a:xfrm>
              <a:off x="2903775" y="4729708"/>
              <a:ext cx="1362910" cy="656590"/>
            </a:xfrm>
            <a:prstGeom prst="rect">
              <a:avLst/>
            </a:prstGeom>
            <a:noFill/>
          </p:spPr>
          <p:txBody>
            <a:bodyPr wrap="none" rtlCol="0">
              <a:spAutoFit/>
            </a:bodyPr>
            <a:lstStyle/>
            <a:p>
              <a:pPr algn="ctr"/>
              <a:r>
                <a:rPr kumimoji="1" lang="zh-CN" altLang="en-US" sz="1620" dirty="0">
                  <a:solidFill>
                    <a:schemeClr val="accent1">
                      <a:lumMod val="50000"/>
                    </a:schemeClr>
                  </a:solidFill>
                </a:rPr>
                <a:t>客户端软件</a:t>
              </a:r>
              <a:endParaRPr kumimoji="1" lang="en-US" altLang="zh-CN" sz="1620" dirty="0">
                <a:solidFill>
                  <a:schemeClr val="accent1">
                    <a:lumMod val="50000"/>
                  </a:schemeClr>
                </a:solidFill>
              </a:endParaRPr>
            </a:p>
            <a:p>
              <a:pPr algn="ctr"/>
              <a:r>
                <a:rPr kumimoji="1" lang="en-US" altLang="zh-CN" sz="1620" dirty="0" err="1">
                  <a:solidFill>
                    <a:schemeClr val="accent1">
                      <a:lumMod val="50000"/>
                    </a:schemeClr>
                  </a:solidFill>
                </a:rPr>
                <a:t>Ver</a:t>
              </a:r>
              <a:r>
                <a:rPr kumimoji="1" lang="en-US" altLang="zh-CN" sz="1620" dirty="0">
                  <a:solidFill>
                    <a:schemeClr val="accent1">
                      <a:lumMod val="50000"/>
                    </a:schemeClr>
                  </a:solidFill>
                </a:rPr>
                <a:t> 3.0</a:t>
              </a:r>
              <a:endParaRPr kumimoji="1" lang="zh-CN" altLang="en-US" sz="1620" dirty="0">
                <a:solidFill>
                  <a:schemeClr val="accent1">
                    <a:lumMod val="50000"/>
                  </a:schemeClr>
                </a:solidFill>
              </a:endParaRPr>
            </a:p>
          </p:txBody>
        </p:sp>
        <p:cxnSp>
          <p:nvCxnSpPr>
            <p:cNvPr id="20" name="曲线连接符 19"/>
            <p:cNvCxnSpPr>
              <a:stCxn id="11" idx="0"/>
              <a:endCxn id="6" idx="1"/>
            </p:cNvCxnSpPr>
            <p:nvPr/>
          </p:nvCxnSpPr>
          <p:spPr bwMode="auto">
            <a:xfrm rot="5400000" flipH="1" flipV="1">
              <a:off x="2765105" y="2850807"/>
              <a:ext cx="1967404" cy="350239"/>
            </a:xfrm>
            <a:prstGeom prst="curvedConnector2">
              <a:avLst/>
            </a:prstGeom>
            <a:solidFill>
              <a:schemeClr val="accent1"/>
            </a:solidFill>
            <a:ln w="28575" cap="flat" cmpd="sng" algn="ctr">
              <a:solidFill>
                <a:schemeClr val="accent1">
                  <a:lumMod val="50000"/>
                </a:schemeClr>
              </a:solidFill>
              <a:prstDash val="solid"/>
              <a:round/>
              <a:headEnd type="arrow"/>
              <a:tailEnd type="arrow"/>
            </a:ln>
            <a:effectLst/>
          </p:spPr>
        </p:cxnSp>
        <p:sp>
          <p:nvSpPr>
            <p:cNvPr id="27" name="文本框 26"/>
            <p:cNvSpPr txBox="1"/>
            <p:nvPr/>
          </p:nvSpPr>
          <p:spPr>
            <a:xfrm>
              <a:off x="3275853" y="2687914"/>
              <a:ext cx="648072" cy="656590"/>
            </a:xfrm>
            <a:prstGeom prst="rect">
              <a:avLst/>
            </a:prstGeom>
            <a:noFill/>
          </p:spPr>
          <p:txBody>
            <a:bodyPr wrap="square" rtlCol="0">
              <a:spAutoFit/>
            </a:bodyPr>
            <a:lstStyle/>
            <a:p>
              <a:r>
                <a:rPr kumimoji="1" lang="zh-CN" altLang="en-US" sz="1620" dirty="0">
                  <a:solidFill>
                    <a:srgbClr val="FF6600"/>
                  </a:solidFill>
                </a:rPr>
                <a:t>兼容</a:t>
              </a:r>
            </a:p>
          </p:txBody>
        </p:sp>
      </p:grpSp>
      <p:grpSp>
        <p:nvGrpSpPr>
          <p:cNvPr id="5" name="组 4"/>
          <p:cNvGrpSpPr/>
          <p:nvPr/>
        </p:nvGrpSpPr>
        <p:grpSpPr>
          <a:xfrm>
            <a:off x="4999987" y="1397249"/>
            <a:ext cx="2293914" cy="1378547"/>
            <a:chOff x="5047542" y="1993404"/>
            <a:chExt cx="2548794" cy="1531719"/>
          </a:xfrm>
        </p:grpSpPr>
        <p:sp>
          <p:nvSpPr>
            <p:cNvPr id="14" name="文本框 13"/>
            <p:cNvSpPr txBox="1"/>
            <p:nvPr/>
          </p:nvSpPr>
          <p:spPr>
            <a:xfrm>
              <a:off x="6228184" y="3145532"/>
              <a:ext cx="1368152" cy="379591"/>
            </a:xfrm>
            <a:prstGeom prst="rect">
              <a:avLst/>
            </a:prstGeom>
            <a:noFill/>
          </p:spPr>
          <p:txBody>
            <a:bodyPr wrap="square" rtlCol="0">
              <a:spAutoFit/>
            </a:bodyPr>
            <a:lstStyle/>
            <a:p>
              <a:pPr algn="ctr"/>
              <a:r>
                <a:rPr kumimoji="1" lang="zh-CN" altLang="en-US" sz="1620" dirty="0">
                  <a:solidFill>
                    <a:schemeClr val="accent1">
                      <a:lumMod val="50000"/>
                    </a:schemeClr>
                  </a:solidFill>
                </a:rPr>
                <a:t>中间件</a:t>
              </a:r>
              <a:r>
                <a:rPr kumimoji="1" lang="en-US" altLang="zh-CN" sz="1620" dirty="0">
                  <a:solidFill>
                    <a:schemeClr val="accent1">
                      <a:lumMod val="50000"/>
                    </a:schemeClr>
                  </a:solidFill>
                </a:rPr>
                <a:t>/OS</a:t>
              </a:r>
              <a:endParaRPr kumimoji="1" lang="zh-CN" altLang="en-US" sz="1620" dirty="0">
                <a:solidFill>
                  <a:schemeClr val="accent1">
                    <a:lumMod val="50000"/>
                  </a:schemeClr>
                </a:solidFill>
              </a:endParaRPr>
            </a:p>
          </p:txBody>
        </p:sp>
        <p:pic>
          <p:nvPicPr>
            <p:cNvPr id="15" name="图片 14" descr="屏幕快照 2014-10-14 下午10.01.47.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72200" y="1993404"/>
              <a:ext cx="997180" cy="1224136"/>
            </a:xfrm>
            <a:prstGeom prst="rect">
              <a:avLst/>
            </a:prstGeom>
          </p:spPr>
        </p:pic>
        <p:sp>
          <p:nvSpPr>
            <p:cNvPr id="28" name="文本框 27"/>
            <p:cNvSpPr txBox="1"/>
            <p:nvPr/>
          </p:nvSpPr>
          <p:spPr>
            <a:xfrm>
              <a:off x="5580112" y="2569468"/>
              <a:ext cx="648072" cy="656590"/>
            </a:xfrm>
            <a:prstGeom prst="rect">
              <a:avLst/>
            </a:prstGeom>
            <a:noFill/>
          </p:spPr>
          <p:txBody>
            <a:bodyPr wrap="square" rtlCol="0">
              <a:spAutoFit/>
            </a:bodyPr>
            <a:lstStyle/>
            <a:p>
              <a:r>
                <a:rPr kumimoji="1" lang="zh-CN" altLang="en-US" sz="1620" dirty="0">
                  <a:solidFill>
                    <a:srgbClr val="FF6600"/>
                  </a:solidFill>
                </a:rPr>
                <a:t>兼容</a:t>
              </a:r>
            </a:p>
          </p:txBody>
        </p:sp>
        <p:cxnSp>
          <p:nvCxnSpPr>
            <p:cNvPr id="29" name="曲线连接符 28"/>
            <p:cNvCxnSpPr>
              <a:stCxn id="6" idx="3"/>
              <a:endCxn id="15" idx="1"/>
            </p:cNvCxnSpPr>
            <p:nvPr/>
          </p:nvCxnSpPr>
          <p:spPr bwMode="auto">
            <a:xfrm>
              <a:off x="5047542" y="2483130"/>
              <a:ext cx="1324658" cy="122342"/>
            </a:xfrm>
            <a:prstGeom prst="curvedConnector3">
              <a:avLst>
                <a:gd name="adj1" fmla="val 50000"/>
              </a:avLst>
            </a:prstGeom>
            <a:solidFill>
              <a:schemeClr val="accent1"/>
            </a:solidFill>
            <a:ln w="28575" cap="flat" cmpd="sng" algn="ctr">
              <a:solidFill>
                <a:schemeClr val="accent1">
                  <a:lumMod val="50000"/>
                </a:schemeClr>
              </a:solidFill>
              <a:prstDash val="solid"/>
              <a:round/>
              <a:headEnd type="arrow"/>
              <a:tailEnd type="arrow"/>
            </a:ln>
            <a:effectLst/>
          </p:spPr>
        </p:cxnSp>
      </p:grpSp>
      <p:cxnSp>
        <p:nvCxnSpPr>
          <p:cNvPr id="36" name="曲线连接符 35"/>
          <p:cNvCxnSpPr>
            <a:endCxn id="8" idx="1"/>
          </p:cNvCxnSpPr>
          <p:nvPr/>
        </p:nvCxnSpPr>
        <p:spPr bwMode="auto">
          <a:xfrm rot="16200000" flipH="1">
            <a:off x="4999989" y="1980513"/>
            <a:ext cx="1620180" cy="1620180"/>
          </a:xfrm>
          <a:prstGeom prst="curvedConnector2">
            <a:avLst/>
          </a:prstGeom>
          <a:solidFill>
            <a:schemeClr val="accent1"/>
          </a:solidFill>
          <a:ln w="28575" cap="flat" cmpd="sng" algn="ctr">
            <a:solidFill>
              <a:schemeClr val="accent1">
                <a:lumMod val="50000"/>
              </a:schemeClr>
            </a:solidFill>
            <a:prstDash val="dash"/>
            <a:round/>
            <a:headEnd type="arrow"/>
            <a:tailEnd type="arrow"/>
          </a:ln>
          <a:effectLst/>
        </p:spPr>
      </p:cxnSp>
      <p:sp>
        <p:nvSpPr>
          <p:cNvPr id="40" name="文本框 39"/>
          <p:cNvSpPr txBox="1"/>
          <p:nvPr/>
        </p:nvSpPr>
        <p:spPr>
          <a:xfrm rot="18972269">
            <a:off x="5304450" y="3031999"/>
            <a:ext cx="583265" cy="590931"/>
          </a:xfrm>
          <a:prstGeom prst="rect">
            <a:avLst/>
          </a:prstGeom>
          <a:noFill/>
        </p:spPr>
        <p:txBody>
          <a:bodyPr wrap="square" rtlCol="0">
            <a:spAutoFit/>
          </a:bodyPr>
          <a:lstStyle/>
          <a:p>
            <a:r>
              <a:rPr kumimoji="1" lang="zh-CN" altLang="en-US" sz="1620" dirty="0">
                <a:solidFill>
                  <a:srgbClr val="FF6600"/>
                </a:solidFill>
              </a:rPr>
              <a:t>兼容</a:t>
            </a:r>
          </a:p>
        </p:txBody>
      </p:sp>
      <p:grpSp>
        <p:nvGrpSpPr>
          <p:cNvPr id="16" name="组 15"/>
          <p:cNvGrpSpPr/>
          <p:nvPr/>
        </p:nvGrpSpPr>
        <p:grpSpPr>
          <a:xfrm>
            <a:off x="6479719" y="3082236"/>
            <a:ext cx="1226619" cy="1313740"/>
            <a:chOff x="6864215" y="3865612"/>
            <a:chExt cx="1362910" cy="1459711"/>
          </a:xfrm>
        </p:grpSpPr>
        <p:pic>
          <p:nvPicPr>
            <p:cNvPr id="8" name="图片 7" descr="屏幕快照 2014-10-14 下午10.07.25.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20272" y="3865612"/>
              <a:ext cx="998511" cy="1152128"/>
            </a:xfrm>
            <a:prstGeom prst="rect">
              <a:avLst/>
            </a:prstGeom>
          </p:spPr>
        </p:pic>
        <p:sp>
          <p:nvSpPr>
            <p:cNvPr id="41" name="文本框 40"/>
            <p:cNvSpPr txBox="1"/>
            <p:nvPr/>
          </p:nvSpPr>
          <p:spPr>
            <a:xfrm>
              <a:off x="6864215" y="4945732"/>
              <a:ext cx="1362910" cy="379591"/>
            </a:xfrm>
            <a:prstGeom prst="rect">
              <a:avLst/>
            </a:prstGeom>
            <a:noFill/>
          </p:spPr>
          <p:txBody>
            <a:bodyPr wrap="none" rtlCol="0">
              <a:spAutoFit/>
            </a:bodyPr>
            <a:lstStyle/>
            <a:p>
              <a:pPr algn="ctr"/>
              <a:r>
                <a:rPr kumimoji="1" lang="zh-CN" altLang="en-US" sz="1620" dirty="0">
                  <a:solidFill>
                    <a:schemeClr val="accent1">
                      <a:lumMod val="50000"/>
                    </a:schemeClr>
                  </a:solidFill>
                </a:rPr>
                <a:t>第三方软件</a:t>
              </a:r>
            </a:p>
          </p:txBody>
        </p:sp>
      </p:grpSp>
    </p:spTree>
    <p:extLst>
      <p:ext uri="{BB962C8B-B14F-4D97-AF65-F5344CB8AC3E}">
        <p14:creationId xmlns:p14="http://schemas.microsoft.com/office/powerpoint/2010/main" val="417060189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ppt_x</p:attrName>
                                        </p:attrNameLst>
                                      </p:cBhvr>
                                      <p:tavLst>
                                        <p:tav tm="0">
                                          <p:val>
                                            <p:strVal val="#ppt_x+#ppt_w*1.125000"/>
                                          </p:val>
                                        </p:tav>
                                        <p:tav tm="100000">
                                          <p:val>
                                            <p:strVal val="#ppt_x"/>
                                          </p:val>
                                        </p:tav>
                                      </p:tavLst>
                                    </p:anim>
                                    <p:animEffect transition="in" filter="wipe(left)">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2"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 calcmode="lin" valueType="num">
                                      <p:cBhvr additive="base">
                                        <p:cTn id="13" dur="500"/>
                                        <p:tgtEl>
                                          <p:spTgt spid="22"/>
                                        </p:tgtEl>
                                        <p:attrNameLst>
                                          <p:attrName>ppt_x</p:attrName>
                                        </p:attrNameLst>
                                      </p:cBhvr>
                                      <p:tavLst>
                                        <p:tav tm="0">
                                          <p:val>
                                            <p:strVal val="#ppt_x+#ppt_w*1.125000"/>
                                          </p:val>
                                        </p:tav>
                                        <p:tav tm="100000">
                                          <p:val>
                                            <p:strVal val="#ppt_x"/>
                                          </p:val>
                                        </p:tav>
                                      </p:tavLst>
                                    </p:anim>
                                    <p:animEffect transition="in" filter="wipe(left)">
                                      <p:cBhvr>
                                        <p:cTn id="14" dur="500"/>
                                        <p:tgtEl>
                                          <p:spTgt spid="22"/>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p:tgtEl>
                                          <p:spTgt spid="21"/>
                                        </p:tgtEl>
                                        <p:attrNameLst>
                                          <p:attrName>ppt_y</p:attrName>
                                        </p:attrNameLst>
                                      </p:cBhvr>
                                      <p:tavLst>
                                        <p:tav tm="0">
                                          <p:val>
                                            <p:strVal val="#ppt_y+#ppt_h*1.125000"/>
                                          </p:val>
                                        </p:tav>
                                        <p:tav tm="100000">
                                          <p:val>
                                            <p:strVal val="#ppt_y"/>
                                          </p:val>
                                        </p:tav>
                                      </p:tavLst>
                                    </p:anim>
                                    <p:animEffect transition="in" filter="wipe(up)">
                                      <p:cBhvr>
                                        <p:cTn id="2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29F830-AD03-950B-43A0-E44971D10D4C}"/>
              </a:ext>
            </a:extLst>
          </p:cNvPr>
          <p:cNvSpPr>
            <a:spLocks noGrp="1"/>
          </p:cNvSpPr>
          <p:nvPr>
            <p:ph type="title"/>
          </p:nvPr>
        </p:nvSpPr>
        <p:spPr/>
        <p:txBody>
          <a:bodyPr/>
          <a:lstStyle/>
          <a:p>
            <a:r>
              <a:rPr lang="zh-CN" altLang="en-US" sz="2900" dirty="0"/>
              <a:t>最常见的数据兼容性问题？</a:t>
            </a:r>
          </a:p>
        </p:txBody>
      </p:sp>
      <p:pic>
        <p:nvPicPr>
          <p:cNvPr id="4" name="图片 3">
            <a:extLst>
              <a:ext uri="{FF2B5EF4-FFF2-40B4-BE49-F238E27FC236}">
                <a16:creationId xmlns:a16="http://schemas.microsoft.com/office/drawing/2014/main" id="{45598BA5-7A1B-D3BF-F811-C1E36CDF2DB2}"/>
              </a:ext>
            </a:extLst>
          </p:cNvPr>
          <p:cNvPicPr>
            <a:picLocks noChangeAspect="1"/>
          </p:cNvPicPr>
          <p:nvPr/>
        </p:nvPicPr>
        <p:blipFill>
          <a:blip r:embed="rId2"/>
          <a:stretch>
            <a:fillRect/>
          </a:stretch>
        </p:blipFill>
        <p:spPr>
          <a:xfrm>
            <a:off x="4316231" y="1455504"/>
            <a:ext cx="2527481" cy="2106234"/>
          </a:xfrm>
          <a:prstGeom prst="rect">
            <a:avLst/>
          </a:prstGeom>
        </p:spPr>
      </p:pic>
      <p:sp>
        <p:nvSpPr>
          <p:cNvPr id="5" name="罐形 6">
            <a:extLst>
              <a:ext uri="{FF2B5EF4-FFF2-40B4-BE49-F238E27FC236}">
                <a16:creationId xmlns:a16="http://schemas.microsoft.com/office/drawing/2014/main" id="{44CEC58E-7C7C-7344-D32A-FDBAE674AF37}"/>
              </a:ext>
            </a:extLst>
          </p:cNvPr>
          <p:cNvSpPr/>
          <p:nvPr/>
        </p:nvSpPr>
        <p:spPr>
          <a:xfrm>
            <a:off x="7621398" y="1844348"/>
            <a:ext cx="907301" cy="1231337"/>
          </a:xfrm>
          <a:prstGeom prst="can">
            <a:avLst>
              <a:gd name="adj" fmla="val 40385"/>
            </a:avLst>
          </a:prstGeom>
          <a:gradFill flip="none" rotWithShape="1">
            <a:gsLst>
              <a:gs pos="0">
                <a:schemeClr val="accent6">
                  <a:lumMod val="20000"/>
                  <a:lumOff val="80000"/>
                </a:schemeClr>
              </a:gs>
              <a:gs pos="100000">
                <a:schemeClr val="accent1">
                  <a:lumMod val="50000"/>
                </a:schemeClr>
              </a:gs>
            </a:gsLst>
            <a:path path="rect">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p>
        </p:txBody>
      </p:sp>
      <p:cxnSp>
        <p:nvCxnSpPr>
          <p:cNvPr id="6" name="曲线连接符 5">
            <a:extLst>
              <a:ext uri="{FF2B5EF4-FFF2-40B4-BE49-F238E27FC236}">
                <a16:creationId xmlns:a16="http://schemas.microsoft.com/office/drawing/2014/main" id="{83627CBC-6429-7C08-9F9F-FA6EFB697B09}"/>
              </a:ext>
            </a:extLst>
          </p:cNvPr>
          <p:cNvCxnSpPr>
            <a:endCxn id="5" idx="2"/>
          </p:cNvCxnSpPr>
          <p:nvPr/>
        </p:nvCxnSpPr>
        <p:spPr bwMode="auto">
          <a:xfrm flipV="1">
            <a:off x="6519676" y="2460016"/>
            <a:ext cx="1101722" cy="226825"/>
          </a:xfrm>
          <a:prstGeom prst="curvedConnector3">
            <a:avLst/>
          </a:prstGeom>
          <a:solidFill>
            <a:schemeClr val="accent1"/>
          </a:solidFill>
          <a:ln w="57150" cap="flat" cmpd="sng" algn="ctr">
            <a:solidFill>
              <a:schemeClr val="accent2">
                <a:lumMod val="40000"/>
                <a:lumOff val="60000"/>
              </a:schemeClr>
            </a:solidFill>
            <a:prstDash val="solid"/>
            <a:round/>
            <a:headEnd type="arrow"/>
            <a:tailEnd type="arrow"/>
          </a:ln>
          <a:effectLst/>
        </p:spPr>
      </p:cxnSp>
      <p:sp>
        <p:nvSpPr>
          <p:cNvPr id="7" name="Rectangle 3">
            <a:extLst>
              <a:ext uri="{FF2B5EF4-FFF2-40B4-BE49-F238E27FC236}">
                <a16:creationId xmlns:a16="http://schemas.microsoft.com/office/drawing/2014/main" id="{BE180A4B-5F03-7CF3-FC08-788CFAABB467}"/>
              </a:ext>
            </a:extLst>
          </p:cNvPr>
          <p:cNvSpPr>
            <a:spLocks noChangeArrowheads="1"/>
          </p:cNvSpPr>
          <p:nvPr/>
        </p:nvSpPr>
        <p:spPr bwMode="auto">
          <a:xfrm>
            <a:off x="1149831" y="1434510"/>
            <a:ext cx="2462674" cy="2051011"/>
          </a:xfrm>
          <a:prstGeom prst="rect">
            <a:avLst/>
          </a:prstGeom>
          <a:noFill/>
          <a:ln w="9525">
            <a:noFill/>
            <a:miter lim="800000"/>
            <a:headEnd/>
            <a:tailEnd/>
          </a:ln>
        </p:spPr>
        <p:txBody>
          <a:bodyPr wrap="square">
            <a:spAutoFit/>
          </a:bodyPr>
          <a:lstStyle/>
          <a:p>
            <a:pPr marL="320040" lvl="1" indent="-320040">
              <a:lnSpc>
                <a:spcPct val="130000"/>
              </a:lnSpc>
              <a:spcBef>
                <a:spcPts val="237"/>
              </a:spcBef>
              <a:buClr>
                <a:srgbClr val="91AC4E"/>
              </a:buClr>
              <a:buSzPct val="80000"/>
              <a:buFont typeface="Wingdings" pitchFamily="2" charset="2"/>
              <a:buChar char="p"/>
              <a:tabLst>
                <a:tab pos="205740" algn="l"/>
              </a:tabLst>
            </a:pPr>
            <a:r>
              <a:rPr lang="zh-CN" altLang="en-US" sz="2400" dirty="0">
                <a:solidFill>
                  <a:schemeClr val="tx1">
                    <a:lumMod val="85000"/>
                    <a:lumOff val="15000"/>
                  </a:schemeClr>
                </a:solidFill>
                <a:latin typeface="Microsoft YaHei" panose="020B0503020204020204" pitchFamily="34" charset="-122"/>
                <a:ea typeface="Microsoft YaHei" panose="020B0503020204020204" pitchFamily="34" charset="-122"/>
              </a:rPr>
              <a:t>文件打不开</a:t>
            </a:r>
            <a:endParaRPr lang="en-US" altLang="zh-CN" sz="2400" dirty="0">
              <a:solidFill>
                <a:schemeClr val="tx1">
                  <a:lumMod val="85000"/>
                  <a:lumOff val="15000"/>
                </a:schemeClr>
              </a:solidFill>
              <a:latin typeface="Microsoft YaHei" panose="020B0503020204020204" pitchFamily="34" charset="-122"/>
              <a:ea typeface="Microsoft YaHei" panose="020B0503020204020204" pitchFamily="34" charset="-122"/>
            </a:endParaRPr>
          </a:p>
          <a:p>
            <a:pPr marL="320040" lvl="1" indent="-320040">
              <a:lnSpc>
                <a:spcPct val="130000"/>
              </a:lnSpc>
              <a:spcBef>
                <a:spcPts val="237"/>
              </a:spcBef>
              <a:buClr>
                <a:srgbClr val="91AC4E"/>
              </a:buClr>
              <a:buSzPct val="80000"/>
              <a:buFont typeface="Wingdings" pitchFamily="2" charset="2"/>
              <a:buChar char="p"/>
              <a:tabLst>
                <a:tab pos="205740" algn="l"/>
              </a:tabLst>
            </a:pPr>
            <a:r>
              <a:rPr lang="zh-CN" altLang="en-US" sz="2400" dirty="0">
                <a:solidFill>
                  <a:schemeClr val="tx1">
                    <a:lumMod val="85000"/>
                    <a:lumOff val="15000"/>
                  </a:schemeClr>
                </a:solidFill>
                <a:latin typeface="Microsoft YaHei" panose="020B0503020204020204" pitchFamily="34" charset="-122"/>
                <a:ea typeface="Microsoft YaHei" panose="020B0503020204020204" pitchFamily="34" charset="-122"/>
              </a:rPr>
              <a:t>数据显示不对</a:t>
            </a:r>
            <a:endParaRPr lang="en-US" altLang="zh-CN" sz="2400" dirty="0">
              <a:solidFill>
                <a:schemeClr val="tx1">
                  <a:lumMod val="85000"/>
                  <a:lumOff val="15000"/>
                </a:schemeClr>
              </a:solidFill>
              <a:latin typeface="Microsoft YaHei" panose="020B0503020204020204" pitchFamily="34" charset="-122"/>
              <a:ea typeface="Microsoft YaHei" panose="020B0503020204020204" pitchFamily="34" charset="-122"/>
            </a:endParaRPr>
          </a:p>
          <a:p>
            <a:pPr marL="320040" lvl="1" indent="-320040">
              <a:lnSpc>
                <a:spcPct val="130000"/>
              </a:lnSpc>
              <a:spcBef>
                <a:spcPts val="237"/>
              </a:spcBef>
              <a:buClr>
                <a:srgbClr val="91AC4E"/>
              </a:buClr>
              <a:buSzPct val="80000"/>
              <a:buFont typeface="Wingdings" pitchFamily="2" charset="2"/>
              <a:buChar char="p"/>
              <a:tabLst>
                <a:tab pos="205740" algn="l"/>
              </a:tabLst>
            </a:pPr>
            <a:r>
              <a:rPr lang="zh-CN" altLang="en-US" sz="2400" dirty="0">
                <a:solidFill>
                  <a:schemeClr val="tx1">
                    <a:lumMod val="85000"/>
                    <a:lumOff val="15000"/>
                  </a:schemeClr>
                </a:solidFill>
                <a:latin typeface="Microsoft YaHei" panose="020B0503020204020204" pitchFamily="34" charset="-122"/>
                <a:ea typeface="Microsoft YaHei" panose="020B0503020204020204" pitchFamily="34" charset="-122"/>
              </a:rPr>
              <a:t>导致系统崩溃</a:t>
            </a:r>
            <a:endParaRPr lang="en-US" altLang="zh-CN" sz="2400" dirty="0">
              <a:solidFill>
                <a:schemeClr val="tx1">
                  <a:lumMod val="85000"/>
                  <a:lumOff val="15000"/>
                </a:schemeClr>
              </a:solidFill>
              <a:latin typeface="Microsoft YaHei" panose="020B0503020204020204" pitchFamily="34" charset="-122"/>
              <a:ea typeface="Microsoft YaHei" panose="020B0503020204020204" pitchFamily="34" charset="-122"/>
            </a:endParaRPr>
          </a:p>
          <a:p>
            <a:pPr marL="320040" lvl="1" indent="-320040">
              <a:lnSpc>
                <a:spcPct val="130000"/>
              </a:lnSpc>
              <a:spcBef>
                <a:spcPts val="237"/>
              </a:spcBef>
              <a:buClr>
                <a:srgbClr val="91AC4E"/>
              </a:buClr>
              <a:buSzPct val="80000"/>
              <a:buFont typeface="Wingdings" pitchFamily="2" charset="2"/>
              <a:buChar char="p"/>
              <a:tabLst>
                <a:tab pos="205740" algn="l"/>
              </a:tabLst>
            </a:pPr>
            <a:r>
              <a:rPr lang="en-US" altLang="zh-CN" sz="2400" dirty="0">
                <a:solidFill>
                  <a:schemeClr val="tx1">
                    <a:lumMod val="85000"/>
                    <a:lumOff val="15000"/>
                  </a:schemeClr>
                </a:solidFill>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80310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 calcmode="lin" valueType="num">
                                      <p:cBhvr additive="base">
                                        <p:cTn id="7" dur="500"/>
                                        <p:tgtEl>
                                          <p:spTgt spid="7">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7">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anim calcmode="lin" valueType="num">
                                      <p:cBhvr additive="base">
                                        <p:cTn id="13" dur="500"/>
                                        <p:tgtEl>
                                          <p:spTgt spid="7">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7">
                                            <p:txEl>
                                              <p:pRg st="2" end="2"/>
                                            </p:txEl>
                                          </p:spTgt>
                                        </p:tgtEl>
                                      </p:cBhvr>
                                    </p:animEffect>
                                  </p:childTnLst>
                                </p:cTn>
                              </p:par>
                              <p:par>
                                <p:cTn id="15" presetID="12" presetClass="entr" presetSubtype="4" fill="hold" nodeType="with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anim calcmode="lin" valueType="num">
                                      <p:cBhvr additive="base">
                                        <p:cTn id="17" dur="500"/>
                                        <p:tgtEl>
                                          <p:spTgt spid="7">
                                            <p:txEl>
                                              <p:pRg st="3" end="3"/>
                                            </p:txEl>
                                          </p:spTgt>
                                        </p:tgtEl>
                                        <p:attrNameLst>
                                          <p:attrName>ppt_y</p:attrName>
                                        </p:attrNameLst>
                                      </p:cBhvr>
                                      <p:tavLst>
                                        <p:tav tm="0">
                                          <p:val>
                                            <p:strVal val="#ppt_y+#ppt_h*1.125000"/>
                                          </p:val>
                                        </p:tav>
                                        <p:tav tm="100000">
                                          <p:val>
                                            <p:strVal val="#ppt_y"/>
                                          </p:val>
                                        </p:tav>
                                      </p:tavLst>
                                    </p:anim>
                                    <p:animEffect transition="in" filter="wipe(up)">
                                      <p:cBhvr>
                                        <p:cTn id="18"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597218" y="307605"/>
            <a:ext cx="4890935" cy="514350"/>
          </a:xfrm>
        </p:spPr>
        <p:txBody>
          <a:bodyPr>
            <a:normAutofit/>
          </a:bodyPr>
          <a:lstStyle/>
          <a:p>
            <a:r>
              <a:rPr lang="zh-CN" altLang="en-US" sz="2900" dirty="0"/>
              <a:t>相同系统之间的数据兼容</a:t>
            </a:r>
            <a:endParaRPr lang="en-US" altLang="zh-CN" sz="2900" dirty="0"/>
          </a:p>
        </p:txBody>
      </p:sp>
      <p:sp>
        <p:nvSpPr>
          <p:cNvPr id="25602" name="AutoShape 2" descr="data:image/jpg;base64,/9j/4AAQSkZJRgABAQAAAQABAAD/2wCEAAkGBhQSEBQUEhQQEBQUFA8VFBAQFRAUEBAPFBAVFBQQFBQYHCYeGBkjGRQUHy8gJScpLCwsFh4xQTAqNSYrLCkBCQoKDgwOGg8PGikkHyQsLCwsKSwpKSksLCwsLCwsLCkpLCwpKSkpLCwsLCwpKSwsKSwsKSwsKSwsLCwsLCwsLP/AABEIALgAtAMBIgACEQEDEQH/xAAcAAACAgMBAQAAAAAAAAAAAAAABQMEAQIGBwj/xABGEAABAwIDBAUIBgcHBQAAAAABAAIDBBEFITESQVFhBhNxgZEUIjJScpKh0QdCU7HB8BYjVGKCk7IVQ2NzosLxJTNE0tP/xAAaAQACAwEBAAAAAAAAAAAAAAAABAECAwUG/8QAKREAAgMAAgIBAgUFAAAAAAAAAAECAxEEIRIxQUJRFCJhkaEFFVJxgf/aAAwDAQACEQMRAD8A9r8kZ6jPdajyRnqM91qmQgCHyRnqM91vyR5Iz1Ge61TIQBB5Ez1Ge635I8ij9Rnut+SnQgCuaCP7OP3W/Ja/2bF9lF7jPkta3FY4vSdn6rc3HuXO4h0vfpG3Y5uzd4aD4rWuqdjyKKSnGPtnRHCYfsYf5bPkqk9LRt9JlKORbFfwXGVOISyem9x5Em3hooGs5p6P9On9Ukv5M3cvg698mH+pTHsiB/2qPrcO+zp/5I/9VzLWD83W4jCv/b4/5P8AYyfIz4OojZh50ZS98bR94VyLB6R3oxUrvZZGfuXHtjCsQ4eDplzGR+Cxnws9S/go+ao+0dd/YNP9hB/Lj+SwcAp/sIP5bPkkcHXx+hKSPVk85vzCvwdIi3KeMs/xI7uZ3jUJSVUomlfNpseJ9/r0XP0dpv2eD+Wz5LR3RilP/jwfy2fJMIKhr2hzCHA6EG4UiyGxQeiVJ+zQe41anodR/s0HuhOUIATfobR/s0HuhZHQ+j/ZoPcCcIQAo/RGj/ZoPcahN0IAEIQgAQhVq+vbEwuebDhvJ4BAEs07WNLnENA3lJKrF3PyZeNvH+8cOI9UJRNihmfcnIaN+q35lWWPy/HenK+P8yIknhDNCB+O8ntKXVjU1l0S6obcLp09HGv/ACz0XFyy0rBWWp4t5EgW4KjClYFmykpFiFqa00ap0kaZAWSN0vg5fIs7w2usLC3a1JSngtFNkDaUtdtROMbt9vQd7TdD96Z0GOXcGSgRSHT7OT2Dx5HNQtaiWja9tnAEHcfv5FLTaZ2eLdbX17X2HYWUhpq99OQ2Ul8RsGzH0mHc2Tl+8noKyO5CamtRlCEILghCEACELBQBDWVbYmF7zZrRcleZYt0jdUyk6MHojgOPas9PulHXS9RGfMYfOI+s75Bc9DJZdTicf65f8KeeM6OlqE1p6lctT1CZ09QnZwNfNTOga+6qzhR09Sp5cwso9M5XLr60VTNsVqFYqWKuE/F6hKEtRu1TxDNV2q3StzVJvEVnLENaRlgrBK0iGS3C49s+zkSflI2aFOxq1jYrUUaRnYdDj0+QMjUzWoAWrpeCUlYdiurDMrAQQ4AgixB0I4FUMPq+peInEmJxtE92rHfZOPDge5W9dVWr6Zr2EO0Ov4EcwsPxKixqKUR6hJ8BxEuBiebyR2z+0j+rJ8+acJ+MlJajcEIQpAFzXTvpD5LSuIPnv81vad66QleH/ShjvXVZYD5seQ9r/hCKyYigqdq5OZJJJ5lXopUgp57JjFMu3RZsRaQ7imV6CdI4ZlfgmTfkjLywewVCaU891zsL0ypZVhNL4LO5SWSGEzFRKYA3CX10jWZuIaDpff2DU9ytVZ8M5UouE8BqZUTc1ykvSyFptcuPAWv4Xv8ABW6LpxED5zJG8zkPEtA+KzuujmJhbVY49JnahSxtSSg6UQS6PA5mxb3uBIHfZdFTMvnuy7LLi2zwSpok5Y0SwxqwclqXWUTnXzK585/J6GqlRRsXX7FguAVeWsA0S2qxEDU9yw8ZTGoxb6QxlrVTmreaS1OMcMksmxK+pWq4bfsahx38jSTF+qmZIDmwm49aI+k38V38Mwc0OabhwBB4g5heM1mIC3503hd59HGMdbTmMm7oTYf5bs2/iO5N11utYTbUoJNHXIQhaGJQxms6qB79LNJ+C+a8QqzJI951c4nxK9x+k2u6ugfbV1m+JAXgsjlMTKXsyJFap6lUC5Ya9MV2eJDWnQw1CY00q5eGqTSiq8007+hWyHR1dMU0gKQUlWFdlxIRsLsstL6X1ueQ1Sz5WM5c/JvEXsSx3qQGNBfI6waxo2jtHQBu9x4btTuvfwv6PHS/rsRe7MX8mjdYAHdLLqfZFgrX0edHNlnls4JllF4muzMcR0d7b9SeBsu0LQPOfmRnbXZGlwOOeqystcmdmijxivLti2gwiKEWp6eOMDQtjY3L2nZlXHMl3gEcLsPwICsMe4u/dt3doO9YhgIOosNre70d2qxGhDiHRalnP6yERSfVmiHUyg8nNyPiUjngqcLO0XGppb5vtsmMf4rR6PttFuI3j0J8YIsbEcCq7orDZd5zHZWdna4tsniENasZVwTE9NibJGCRpuDuyu02zaeeY7bg6FU63FQNT3DVctj9K7DKizCfJpr7IOfV21j/AISbjkSNwSurxjmoq4nk9ZKUV3JnQVeNndl96TVOLJFPiXNU5q5dCNMIl/xCXUUOJ8TKoy154pVJWKu+qWn5F6KO+TGM1Yuj+i/GerrwwnzZmuZ/EPOb9x8VwrqhW8FrjFURSD6kkbr8g4X+F1jZjRXybPpoIWI3XAPFCTNDzb6YZ7U8beLx8ASvG5HL1z6Yh+qh9t39C8ie1TH0ZP2RlywCsuYtQw/m6sSbB6ljqLaKERlZDCgq8HFJjFtU5ws+WVMFP9V8jQ72PSf/AKWkd65FrCu0+itn/VIb+rNbt6srLwW6ZqmPl5HuzGi9hYBgFhuGWQ7gsMcH6gZWzB53stKQ5Sf5knwyHwW8Mg2SRffra+QUjJHP1jzssIjAyMltp1+DQcu8qFuGyNzFRKTwkETmHuDQfAphG2wC2UkkUMhIs4WcNbaHmOS3c24ssHUeC3QByv0gYV1+HyjV8Q6xp3hzM/iLrw3y4lg10+5fRuItvHMDoWOv3xm6+Y+ssCLbypi2l0ZSWsnNQ4rIjcdSB3qiZeQ8StTLyHxUtyIxDHycb3tWRFHvclnW8ggS8h4BTsvuGL7DQGIb7qVk8XDcUn60rdjlGfqyV/o+ocBqNulgd60UR8WBCqdDT/0+l/yYv6AsKpovRyf0tQE08bhulHxYV4+9h5L3v6QqHbopP3erf4PAPwK8dmw83OW9TEpmsRFjkCE8SnbcNUzMOA3Kevg0VYiZSE8VPHQ8Qugjw0nkrcWFBVk89lJ2V1iCCk4NHgm+ATGmrqaZ2TRIGu5NddhPg4FNIsN7lFX4eHxloFzqO3h3qIRc3+VCseTKyfikexxWD3t3Os4cDlsuHwB71JtgG1gAfE8+xcn0Ix41MDY3m1TAADtZdYy1mydhGR4ELq2uDwcrEZEHUHgVPocNPKRHk82G559G24OO4rD8WhH95GeTXBxPYBclbtJbkdMram9zp+eKlZTtBuGtBO8AAoJIqdxcdogtH1Wn0s/rEbuxWSsKGWS+Q/iPDl2oAS9LcRENDPJvc1zW83OGy0LwTyAho+/jwK9V6VVvltQKeP8A7URJe4ei6QZED2b27SOBsrr8ByyFx+dOSxfJjXLxZauMZ6mzzZzSNwPaFEbb2juXV1eB8AlE+FkJ2ChZ6InRKApDGbxZbeTMO8hWX0VlE6lVpUmD1EDqYbisNj/H7lKadWKKjL3sYM9p7G+84D8Vk4tB5L7H0X0Xh2aKnbwhiHfsBCv0kWyxrRuAHcBYLKzNV6IMTpBJE5h0e1zT/ELD42Xkk1BpcWOYPJzTYheyvbcWXDY5h1p38H/rB2nJ494fEKr6KyednICgUjKMBNvJuCkZRW1Q5Ctl79C2Kjv2K02ANCsuatWRFxWtdDl3IXqqnfLF6K/VlxTjDsF0Lhc8Fbw/DNnM5lPIoNkXRdckvGB1YwjSvGH7nNYr0Zdttmpj1dQ03823ncctCCNWnI65HWzhvTJjiGVI8lmHmh5uInng15GXsOsQulijsLnVJMbwuKe4kaCSLbQydYaA8RyN0vW23gpfeqVo5bWuAvYPG5zd/PK4QMTO5jvz3Lgj0UdGSaeolhHqtLwB3Ndb/Sqk8NboayW3tO/Bo+9OQ485ejKvn1z9HoVZiQY0umeyFg1uQDbhcrkMT6Vvqv1NGHNZo6c3adn92/og+sczuBSOLo80uDppJJ3XvdxOR5XJI7iumoog1uy0Bo4AWF957ea0lxXBbIW5XPcVkEYwrCWRM2G/xO3uP4DlzOpuVedTg5HxWIwrrG3C5XK46l2L8LltPJMQVuEg7kgrcJ4hd4Y9xVGqoL7klTdKp4z0lV+ezzaqwq25LpaPku+rMNtok1Vhy7tPIUkbSqjNbE5J1Kn3QXCesr4crhhMh5bI83/UQtJaFdz9F+D2bJOR6Z2G+wwnMdrifBa2teOoSlW4vGd8AhZQlDQEm6QUW0zaAJLCXADUi3nt7259rQnK1e24/PiofZDWrDinwDItzBsQRpYqOSHJMp6fq5CzINcSWW+o6xJi5b3DlfgoJICQcs+CmqPfYlHjOTxirqi52Sb0VAG9qkpaLZ7U0p6da33YsR0m41x8YBT09s1ZYy57PvWxG5SsZYLn78meEU7rBKZimFY5LZE1RH5PP/1KzZYRPGRSmpizTcqjURrrUPDmUyxlBkavwBQCNWYmrS56jS6WlhoViIqFgUrVy5x1GNcsZaLLhR7N8it4XLeSPeFyL6dPR8a3yWC6po0oq8NvoupDbhVKqnABJsAASSdABmSSl6rXB4dKFjiziajDi5zY2+nI7ZHLe557Bcr0zCqFsMTI2izWtAA5AWF0k6N4dtvNQ4W2hsxg6th1BPBz8nHgNkLp12Yttdl7J+ctBCEKSgIQhAFLEMObI03GZtmMjkbtIO4g5gpZSi52H222jdkJG3t1jRu4EbjlwXQKhiFBt5i4cMw5ttoOtbaHdkQciMkBudkEcGautZYKpRV1zsPAbJna19mQDUsvv4tOY5jNXi1LS1y7IS3s1jbvUhWQFrJoozWS3i0XVbs1SerM5zVZy6FccR5Ply8pNmllBLGrBWrgm4dCSeMqGNSRtW7mrLWq8mWlLTYLdq1C2CVkisSeNW41TYrUZsLnIDUnQDik7YadjiS7w36uxSx48qk2W5wNd5x3TvafR5xtIz9Yi2gK2kmdVHYjuIfrSAkOmHBh1bH+9q7QZecnlJStjaGtAFgBkABYCwAA0A3BLw46UvJndj2iSOOwsP8Anmt0ITRoCEIQAIQhAAhCEAVK3D2yDPXLxGhyzBHEZhUo6x8R2ZA57dzhnIO0D0xzGfEb04WksIcLOAI4FQ1pBpTzte0OY4Oad7TcdixOckvqcHcCXxOLXdtnHtNiHfxA9qrS4xJHlMzsc2zSf4Sdnwd3KFFaZ2N+LJZVA4LX+043G20Gk6NfdhPZta9y3cnoI8tfF72RoWxQtkhNo1ssALdaSzNaLuIaOLiAPEoYYzNlsAl8mNx283ak5sHme+6zfitoaWpn0HUs4jUjm9w/pb3rKU4ocp4dtj6RaqMQZHkbucRcRsze4cbbhzNgs02HSVGctmx7ohmw8C4/3h5egP3tUww3o5HFr5zibkm9i7ibklx5uJ7k1ASspaeg4/DVS19s0ggDBYeO88yVIhCoPAhCEACEIQAIQhAAhCEACEIQALDmAixzHA6IQgBdUdH4X383Yv6hLQe1uh8Etk6GNB/VyOZ3W/oLVhCnSkoRl7RE/ozUD0Zh3ulH37Sj/Rqq+2b77/8A5rKFPnL7mX4Wl/SjdvROV3pz+BmP+9qsUvQqJpu5znHiAwH3rF3xQhQ5Nl401x9JDamwmKM3awX9Y3c73jcq3ZCFBqZQhCABCEIAEIQgAQhCAP/Z"/>
          <p:cNvSpPr>
            <a:spLocks noChangeAspect="1" noChangeArrowheads="1"/>
          </p:cNvSpPr>
          <p:nvPr/>
        </p:nvSpPr>
        <p:spPr bwMode="auto">
          <a:xfrm>
            <a:off x="597218" y="-108347"/>
            <a:ext cx="274320" cy="228601"/>
          </a:xfrm>
          <a:prstGeom prst="rect">
            <a:avLst/>
          </a:prstGeom>
          <a:noFill/>
        </p:spPr>
        <p:txBody>
          <a:bodyPr vert="horz" wrap="square" lIns="82296" tIns="41148" rIns="82296" bIns="41148" numCol="1" anchor="t" anchorCtr="0" compatLnSpc="1">
            <a:prstTxWarp prst="textNoShape">
              <a:avLst/>
            </a:prstTxWarp>
          </a:bodyPr>
          <a:lstStyle/>
          <a:p>
            <a:endParaRPr lang="zh-CN" altLang="en-US" sz="1620"/>
          </a:p>
        </p:txBody>
      </p:sp>
      <p:sp>
        <p:nvSpPr>
          <p:cNvPr id="25604" name="AutoShape 4" descr="data:image/jpg;base64,/9j/4AAQSkZJRgABAQAAAQABAAD/2wCEAAkGBhQSEBQUEhQQEBQUFA8VFBAQFRAUEBAPFBAVFBQQFBQYHCYeGBkjGRQUHy8gJScpLCwsFh4xQTAqNSYrLCkBCQoKDgwOGg8PGikkHyQsLCwsKSwpKSksLCwsLCwsLCkpLCwpKSkpLCwsLCwpKSwsKSwsKSwsKSwsLCwsLCwsLP/AABEIALgAtAMBIgACEQEDEQH/xAAcAAACAgMBAQAAAAAAAAAAAAAABQMEAQIGBwj/xABGEAABAwIDBAUIBgcHBQAAAAABAAIDBBEFITESQVFhBhNxgZEUIjJScpKh0QdCU7HB8BYjVGKCk7IVQ2NzosLxJTNE0tP/xAAaAQACAwEBAAAAAAAAAAAAAAAABAECAwUG/8QAKREAAgMAAgIBAgUFAAAAAAAAAAECAxEEIRIxQUJRFCJhkaEFFVJxgf/aAAwDAQACEQMRAD8A9r8kZ6jPdajyRnqM91qmQgCHyRnqM91vyR5Iz1Ge61TIQBB5Ez1Ge635I8ij9Rnut+SnQgCuaCP7OP3W/Ja/2bF9lF7jPkta3FY4vSdn6rc3HuXO4h0vfpG3Y5uzd4aD4rWuqdjyKKSnGPtnRHCYfsYf5bPkqk9LRt9JlKORbFfwXGVOISyem9x5Em3hooGs5p6P9On9Ukv5M3cvg698mH+pTHsiB/2qPrcO+zp/5I/9VzLWD83W4jCv/b4/5P8AYyfIz4OojZh50ZS98bR94VyLB6R3oxUrvZZGfuXHtjCsQ4eDplzGR+Cxnws9S/go+ao+0dd/YNP9hB/Lj+SwcAp/sIP5bPkkcHXx+hKSPVk85vzCvwdIi3KeMs/xI7uZ3jUJSVUomlfNpseJ9/r0XP0dpv2eD+Wz5LR3RilP/jwfy2fJMIKhr2hzCHA6EG4UiyGxQeiVJ+zQe41anodR/s0HuhOUIATfobR/s0HuhZHQ+j/ZoPcCcIQAo/RGj/ZoPcahN0IAEIQgAQhVq+vbEwuebDhvJ4BAEs07WNLnENA3lJKrF3PyZeNvH+8cOI9UJRNihmfcnIaN+q35lWWPy/HenK+P8yIknhDNCB+O8ntKXVjU1l0S6obcLp09HGv/ACz0XFyy0rBWWp4t5EgW4KjClYFmykpFiFqa00ap0kaZAWSN0vg5fIs7w2usLC3a1JSngtFNkDaUtdtROMbt9vQd7TdD96Z0GOXcGSgRSHT7OT2Dx5HNQtaiWja9tnAEHcfv5FLTaZ2eLdbX17X2HYWUhpq99OQ2Ul8RsGzH0mHc2Tl+8noKyO5CamtRlCEILghCEACELBQBDWVbYmF7zZrRcleZYt0jdUyk6MHojgOPas9PulHXS9RGfMYfOI+s75Bc9DJZdTicf65f8KeeM6OlqE1p6lctT1CZ09QnZwNfNTOga+6qzhR09Sp5cwso9M5XLr60VTNsVqFYqWKuE/F6hKEtRu1TxDNV2q3StzVJvEVnLENaRlgrBK0iGS3C49s+zkSflI2aFOxq1jYrUUaRnYdDj0+QMjUzWoAWrpeCUlYdiurDMrAQQ4AgixB0I4FUMPq+peInEmJxtE92rHfZOPDge5W9dVWr6Zr2EO0Ov4EcwsPxKixqKUR6hJ8BxEuBiebyR2z+0j+rJ8+acJ+MlJajcEIQpAFzXTvpD5LSuIPnv81vad66QleH/ShjvXVZYD5seQ9r/hCKyYigqdq5OZJJJ5lXopUgp57JjFMu3RZsRaQ7imV6CdI4ZlfgmTfkjLywewVCaU891zsL0ypZVhNL4LO5SWSGEzFRKYA3CX10jWZuIaDpff2DU9ytVZ8M5UouE8BqZUTc1ykvSyFptcuPAWv4Xv8ABW6LpxED5zJG8zkPEtA+KzuujmJhbVY49JnahSxtSSg6UQS6PA5mxb3uBIHfZdFTMvnuy7LLi2zwSpok5Y0SwxqwclqXWUTnXzK585/J6GqlRRsXX7FguAVeWsA0S2qxEDU9yw8ZTGoxb6QxlrVTmreaS1OMcMksmxK+pWq4bfsahx38jSTF+qmZIDmwm49aI+k38V38Mwc0OabhwBB4g5heM1mIC3503hd59HGMdbTmMm7oTYf5bs2/iO5N11utYTbUoJNHXIQhaGJQxms6qB79LNJ+C+a8QqzJI951c4nxK9x+k2u6ugfbV1m+JAXgsjlMTKXsyJFap6lUC5Ya9MV2eJDWnQw1CY00q5eGqTSiq8007+hWyHR1dMU0gKQUlWFdlxIRsLsstL6X1ueQ1Sz5WM5c/JvEXsSx3qQGNBfI6waxo2jtHQBu9x4btTuvfwv6PHS/rsRe7MX8mjdYAHdLLqfZFgrX0edHNlnls4JllF4muzMcR0d7b9SeBsu0LQPOfmRnbXZGlwOOeqystcmdmijxivLti2gwiKEWp6eOMDQtjY3L2nZlXHMl3gEcLsPwICsMe4u/dt3doO9YhgIOosNre70d2qxGhDiHRalnP6yERSfVmiHUyg8nNyPiUjngqcLO0XGppb5vtsmMf4rR6PttFuI3j0J8YIsbEcCq7orDZd5zHZWdna4tsniENasZVwTE9NibJGCRpuDuyu02zaeeY7bg6FU63FQNT3DVctj9K7DKizCfJpr7IOfV21j/AISbjkSNwSurxjmoq4nk9ZKUV3JnQVeNndl96TVOLJFPiXNU5q5dCNMIl/xCXUUOJ8TKoy154pVJWKu+qWn5F6KO+TGM1Yuj+i/GerrwwnzZmuZ/EPOb9x8VwrqhW8FrjFURSD6kkbr8g4X+F1jZjRXybPpoIWI3XAPFCTNDzb6YZ7U8beLx8ASvG5HL1z6Yh+qh9t39C8ie1TH0ZP2RlywCsuYtQw/m6sSbB6ljqLaKERlZDCgq8HFJjFtU5ws+WVMFP9V8jQ72PSf/AKWkd65FrCu0+itn/VIb+rNbt6srLwW6ZqmPl5HuzGi9hYBgFhuGWQ7gsMcH6gZWzB53stKQ5Sf5knwyHwW8Mg2SRffra+QUjJHP1jzssIjAyMltp1+DQcu8qFuGyNzFRKTwkETmHuDQfAphG2wC2UkkUMhIs4WcNbaHmOS3c24ssHUeC3QByv0gYV1+HyjV8Q6xp3hzM/iLrw3y4lg10+5fRuItvHMDoWOv3xm6+Y+ssCLbypi2l0ZSWsnNQ4rIjcdSB3qiZeQ8StTLyHxUtyIxDHycb3tWRFHvclnW8ggS8h4BTsvuGL7DQGIb7qVk8XDcUn60rdjlGfqyV/o+ocBqNulgd60UR8WBCqdDT/0+l/yYv6AsKpovRyf0tQE08bhulHxYV4+9h5L3v6QqHbopP3erf4PAPwK8dmw83OW9TEpmsRFjkCE8SnbcNUzMOA3Kevg0VYiZSE8VPHQ8Qugjw0nkrcWFBVk89lJ2V1iCCk4NHgm+ATGmrqaZ2TRIGu5NddhPg4FNIsN7lFX4eHxloFzqO3h3qIRc3+VCseTKyfikexxWD3t3Os4cDlsuHwB71JtgG1gAfE8+xcn0Ix41MDY3m1TAADtZdYy1mydhGR4ELq2uDwcrEZEHUHgVPocNPKRHk82G559G24OO4rD8WhH95GeTXBxPYBclbtJbkdMram9zp+eKlZTtBuGtBO8AAoJIqdxcdogtH1Wn0s/rEbuxWSsKGWS+Q/iPDl2oAS9LcRENDPJvc1zW83OGy0LwTyAho+/jwK9V6VVvltQKeP8A7URJe4ei6QZED2b27SOBsrr8ByyFx+dOSxfJjXLxZauMZ6mzzZzSNwPaFEbb2juXV1eB8AlE+FkJ2ChZ6InRKApDGbxZbeTMO8hWX0VlE6lVpUmD1EDqYbisNj/H7lKadWKKjL3sYM9p7G+84D8Vk4tB5L7H0X0Xh2aKnbwhiHfsBCv0kWyxrRuAHcBYLKzNV6IMTpBJE5h0e1zT/ELD42Xkk1BpcWOYPJzTYheyvbcWXDY5h1p38H/rB2nJ494fEKr6KyednICgUjKMBNvJuCkZRW1Q5Ctl79C2Kjv2K02ANCsuatWRFxWtdDl3IXqqnfLF6K/VlxTjDsF0Lhc8Fbw/DNnM5lPIoNkXRdckvGB1YwjSvGH7nNYr0Zdttmpj1dQ03823ncctCCNWnI65HWzhvTJjiGVI8lmHmh5uInng15GXsOsQulijsLnVJMbwuKe4kaCSLbQydYaA8RyN0vW23gpfeqVo5bWuAvYPG5zd/PK4QMTO5jvz3Lgj0UdGSaeolhHqtLwB3Ndb/Sqk8NboayW3tO/Bo+9OQ485ejKvn1z9HoVZiQY0umeyFg1uQDbhcrkMT6Vvqv1NGHNZo6c3adn92/og+sczuBSOLo80uDppJJ3XvdxOR5XJI7iumoog1uy0Bo4AWF957ea0lxXBbIW5XPcVkEYwrCWRM2G/xO3uP4DlzOpuVedTg5HxWIwrrG3C5XK46l2L8LltPJMQVuEg7kgrcJ4hd4Y9xVGqoL7klTdKp4z0lV+ezzaqwq25LpaPku+rMNtok1Vhy7tPIUkbSqjNbE5J1Kn3QXCesr4crhhMh5bI83/UQtJaFdz9F+D2bJOR6Z2G+wwnMdrifBa2teOoSlW4vGd8AhZQlDQEm6QUW0zaAJLCXADUi3nt7259rQnK1e24/PiofZDWrDinwDItzBsQRpYqOSHJMp6fq5CzINcSWW+o6xJi5b3DlfgoJICQcs+CmqPfYlHjOTxirqi52Sb0VAG9qkpaLZ7U0p6da33YsR0m41x8YBT09s1ZYy57PvWxG5SsZYLn78meEU7rBKZimFY5LZE1RH5PP/1KzZYRPGRSmpizTcqjURrrUPDmUyxlBkavwBQCNWYmrS56jS6WlhoViIqFgUrVy5x1GNcsZaLLhR7N8it4XLeSPeFyL6dPR8a3yWC6po0oq8NvoupDbhVKqnABJsAASSdABmSSl6rXB4dKFjiziajDi5zY2+nI7ZHLe557Bcr0zCqFsMTI2izWtAA5AWF0k6N4dtvNQ4W2hsxg6th1BPBz8nHgNkLp12Yttdl7J+ctBCEKSgIQhAFLEMObI03GZtmMjkbtIO4g5gpZSi52H222jdkJG3t1jRu4EbjlwXQKhiFBt5i4cMw5ttoOtbaHdkQciMkBudkEcGautZYKpRV1zsPAbJna19mQDUsvv4tOY5jNXi1LS1y7IS3s1jbvUhWQFrJoozWS3i0XVbs1SerM5zVZy6FccR5Ply8pNmllBLGrBWrgm4dCSeMqGNSRtW7mrLWq8mWlLTYLdq1C2CVkisSeNW41TYrUZsLnIDUnQDik7YadjiS7w36uxSx48qk2W5wNd5x3TvafR5xtIz9Yi2gK2kmdVHYjuIfrSAkOmHBh1bH+9q7QZecnlJStjaGtAFgBkABYCwAA0A3BLw46UvJndj2iSOOwsP8Anmt0ITRoCEIQAIQhAAhCEAVK3D2yDPXLxGhyzBHEZhUo6x8R2ZA57dzhnIO0D0xzGfEb04WksIcLOAI4FQ1pBpTzte0OY4Oad7TcdixOckvqcHcCXxOLXdtnHtNiHfxA9qrS4xJHlMzsc2zSf4Sdnwd3KFFaZ2N+LJZVA4LX+043G20Gk6NfdhPZta9y3cnoI8tfF72RoWxQtkhNo1ssALdaSzNaLuIaOLiAPEoYYzNlsAl8mNx283ak5sHme+6zfitoaWpn0HUs4jUjm9w/pb3rKU4ocp4dtj6RaqMQZHkbucRcRsze4cbbhzNgs02HSVGctmx7ohmw8C4/3h5egP3tUww3o5HFr5zibkm9i7ibklx5uJ7k1ASspaeg4/DVS19s0ggDBYeO88yVIhCoPAhCEACEIQAIQhAAhCEACEIQALDmAixzHA6IQgBdUdH4X383Yv6hLQe1uh8Etk6GNB/VyOZ3W/oLVhCnSkoRl7RE/ozUD0Zh3ulH37Sj/Rqq+2b77/8A5rKFPnL7mX4Wl/SjdvROV3pz+BmP+9qsUvQqJpu5znHiAwH3rF3xQhQ5Nl401x9JDamwmKM3awX9Y3c73jcq3ZCFBqZQhCABCEIAEIQgAQhCAP/Z"/>
          <p:cNvSpPr>
            <a:spLocks noChangeAspect="1" noChangeArrowheads="1"/>
          </p:cNvSpPr>
          <p:nvPr/>
        </p:nvSpPr>
        <p:spPr bwMode="auto">
          <a:xfrm>
            <a:off x="597218" y="-108347"/>
            <a:ext cx="274320" cy="228601"/>
          </a:xfrm>
          <a:prstGeom prst="rect">
            <a:avLst/>
          </a:prstGeom>
          <a:noFill/>
        </p:spPr>
        <p:txBody>
          <a:bodyPr vert="horz" wrap="square" lIns="82296" tIns="41148" rIns="82296" bIns="41148" numCol="1" anchor="t" anchorCtr="0" compatLnSpc="1">
            <a:prstTxWarp prst="textNoShape">
              <a:avLst/>
            </a:prstTxWarp>
          </a:bodyPr>
          <a:lstStyle/>
          <a:p>
            <a:endParaRPr lang="zh-CN" altLang="en-US" sz="1620"/>
          </a:p>
        </p:txBody>
      </p:sp>
      <p:sp>
        <p:nvSpPr>
          <p:cNvPr id="25606" name="AutoShape 6" descr="data:image/jpg;base64,/9j/4AAQSkZJRgABAQAAAQABAAD/2wCEAAkGBhISERUSEhQVFRQVGBUUFRgUFBQVGBUXFhcXFRQWFxUXHSYeFxkjGRQVHy8gIycpLCwsFR8xNTAqNSYrLCkBCQoKDgwOGg8PGiwkHyQsLCwsLCwsLCkqLSwpLCwsLCwqLCwpLCwsLCwsLCwsLCwpLCwpLCwpLCwsLCkpLCksKf/AABEIAOIA3wMBIgACEQEDEQH/xAAcAAEAAQUBAQAAAAAAAAAAAAAAAwECBAUGBwj/xABDEAABAwIDBQMKBAUCBQUAAAABAAIDBBEhMUEFElFhcQYTgQciMkJSkaGxwdFicoLwFCOS4fEzQyRTg6LCY3OTsrP/xAAaAQABBQEAAAAAAAAAAAAAAAAAAgMEBQYB/8QAMBEAAgIBBAADBwQCAwEAAAAAAAECAxEEEiExBRNBIlFhgZHR8DJCseFxoSNSkhT/2gAMAwEAAhEDEQA/APcUREAEREAEREAEREAEREAEREAEREAEREAEVk07WNLnuDWjElxAAHMnALk9p+UWFt207TM72vRjH6ji7wFuaVGEpPEUcbS7OvWDW7cgiwfI0HgDd39IxXndb2hqZr95KWt9mPzG25nM+JWrE+Pm4D4nnfNS46R/uY35qf6T0Sbtmz1GOPN5DB8bn4LDf2ukOXdt6Bzj78AuMY9Z1K3eNk6tPBCXNnTM7RSOPp+6Nv1Ky49ry+209Wj6LTRWAsFN3ts/ikOuPuEKcmdBDtg+s2/Np+hWwgqWvF2m/wAx1C5KGqBOBx8VnQzY3vY6EfVMyqXoOqb9TpEWHRVu95rsHD4jisxR2sDoREXACIiACIiACIiACIiACIiACItR2i7U09FHvzOxPoMbi+Q8Gt+psBqV1LPCA2znAYnJcTt/ynQxkx0oE8mRdf8AlNP5h6f6cOYXCdou2NTXEh57qDSJhzH/AKjvXPL0eWq1rHWbZlrn0fv0VlToG+bOPgV92uhDiPLNvXbRnqXb9TIX6huTG9GDAdc+ajFW1uA+C1bZjaxN8Tc8T9lc16nqEYLEREVKzmz6Gwkqy7SwV0JusOGWxyWSTYh2hSGiUsR9lG1paW+Z9y2UYDcATxtf4m608FeRzCm71z/3km2hvEn+o2j64jAEHwy8VCagk4lYkTSTYLPhouKbaHE1EmpHm+AvZbRlVxBHgtbDA5vo/MLMjc4Wvu4mwxtc8Mc8k1JCnJG0p6q9iPSbiM10UUm80OGouuVo5mmQtLgXgAloxLQcBfgug2U7zLeySPr9VEujjkVXLPBmoiJgdCIiACIiACIiACIiACKjnWxK887YduHOaWUzyyM3aZm+lLxbBwbxk/p4pyuuVktsRM5qC3S6M3tp5SY6UugpwJajI6si/ORm78A8SNfJ6uqfJIZp3ukldm52Z4ADJrRwGAVj3AGzR/bib6nmqMJJuR0Wh02khSsvlma1WunbxHiP8l28HYaa/ZZFOwA31y6DgFAFSWfdGGZy+6ly6INSlKajH1Lu8sbcDZTMesOGFzsdOJ/eKzoKUan3KNtbNDPUVV+y5c/D84Lmu0U8bldHA3h8SsqOnbwt0KbcRa1cGuE/z5l0IAz196zonk2GQ/eaxGUdsQb9c1n0sPFNtYOOxS6M+mYAFlRrHiCzIWYgan6Wv8x70ww3pE8TVranZ4bKZ6iYjEiBoOIvg2wGoJyHiVu4o1rdpUdMybv6h1zZoZHne2u6MTjxsOq5B4YzZLK/ME2wtnwQSd0H79Q4EvNybAWJ/LjxxK6zZPr9R+/kuV2Ps+np5C0O357OLicwLi+AwbmM8Suq2OcHdfuoupeeSVpeODYoiKETgiIgAiIgAiIgArJZmtaXOIa0AkkmwAGJJJyCTTNY0ucQ1rQSSTYADEknQLx3tn27dWOMcVxTNOuBlIye4ezwb4nQB+iiV0sRGL74Ux3SNr2s7bia7GX7jRuIM/4pNWxcG5u14Lha2ufI+5x+Ato0DQclAZHEn66lGttzviStFRp4UrCMzqtXO989ei+5Y0HXNVLlUq9kXFSSG36stYwlSMpwDc4nnkOgV91S6MCVZJdcFxcr4pFAXKjH4rj6CtYkbFj1kxPWujesuEqNJFxF4RsoXLYU7brApmXW5oIfOA6pmS4E+f7SSLhvhwYxl3Eb1ybNaL2u7U9BnyWdSUTWvBc8ulLXYk+rcX3WDBrQbfcrH2hEGua69sLAgFzySb7rGX3ScL3cDb4iWjqP5bQBbA+tvnEk4v8AWzz5phvjgfSe72zNpIGxB1i5xcd5xcbkmwHQCwGAWsr4Kcz78jgZHbrI2HGxGDTujE4m9zgs0PWmqth3c97H3qHHeb5wZuAkAusMcG4X+C5Bc5bOzfCSRsth7FjgJ84vkIAcTzx9HS5GZxNl2Wxh/LvxJPyXH7C2SadjgXbznHecedrWxxPXmu22fHaJo5X9+P1ULVyzLvJP0ccLrBkoiKETgiIgAiIgArXvABJIAGJJwAAzJKuK8g8ofbo1LnUtO7+Q02leP90j1QfYB/q6Zv0USultiM3XRpjukQdve3BrHGCA2pmnEj/ecNfyA5DXPhbkATjbAZeKo2+mA0VzGWWlqqjVHbEy2ovldLdL5fArG2yktfJWtbdZDRZPEOTwWNZZVVVG+W3hmTgB1KBKy2XEqzvr5AnoFiPqrnzQXnmDYdG/dUd354gcAQ34BIdkV2ydXobZrODLcHeyfiow5Y8T5m3ILgWjeOZwuBe2RFyPes9kglYXWAc30ra8CuqSl0IuonRzLorC9bOljJUGz6YEArZMqmsyxPFIeF1yxqUrLFy9sff9jZUkFhdyz4q2xG7zWhjqXOK2dFFmTkBieGp+CYsj6yHtPZHKjUvmxWzFzrtY1xBDN5zd/E47rW3HIkk2+m2hjwAAA6ZeHJQUkjXX7oF5sXXaLNccABvnAk+OAW4hgsMfH/Kh2WJcFtVRKTyzFlp3ljty29Yht8Bc4Ak/HwXPx7PqKZ5jh/mSvaC9wYTuC53Rc4Y4kk8luNvVc4synBvYue8AWaNBvOwGRJ8FkbE222UbjN9wjaN6R+G8Tyve5xONsklTko5xlfnY75UHLDeGvzg2UFMbsjuSfNBJzJ1PzK6gBabYsV3F50+Zy+HzW6VXZLMixqWEERE2OhERABEXJeUDtj/Bw7kZBqJQQwewMjIRy04noUuuErJKMexE5qEXKXSNF5TO2pF6Knd5xFp3g+iD/tg8TrwGGpt5mw6DLjzVQ7E3JLjcuJxuTiblGM960+nojTDavmZXVal3yy+vRFWMsrmtubKgFzYLIaywUghSlgNbbAK5CsKrq9BrkOPM8uSM4OV1yslhF9RVAfQDM/Yc1GykLsX4DRowt1V9LS2852Lj8P7rLVfdqG+Imj0ujjUsvstYwAWAsOSuUjqV4bvFrt3jY296jUTOSwMzY0QdUQtOTpGsPNrzuPHi1xHitZRQ7j5W8G2+IW12GAJ2vPoxXmd0iG+Pe4Nb+pa2kFw92r3WHRuf75KZpM5ZVeKNKrHqzJhcd0DT7m6zaalJUEZAWUyuOimtP9pnN6m82Nm2paUDNbKeVscYG9G0nE97lb1vNvd2gtzXPQ1pJxyzWe2oBO8QLjU42HI6KHZW2+S002ohFeyje7Oq3bm85xdc3F27gDRgLN0BtfHHFTy7QABJyAJPIDNaVs5Vs8rCNx5bjbAutfHDC981H8lZJv8A9cscE9Ftv+LD2bjmx2sTvYm/qiwwwvfqtjs+lZGN2Nu6CbnEm55krlodlPdMCW7kINwwEY2yu0HU2Juu47P0veSfhZieZ/z8ik6jbXH2RWmlO2WJfU6XZ1PuMF8ziep08BYeCykRUpehERABEVCUAa/b+246SB88hwaMBq5x9Fo5k/fReCbS2pJUTOnmN5JDe2jW+q1vAALe9vu1P8bUbrD/AMPCSGcHvydJ00HLquYDTvX/AH4LQ6HTeVHdLtmd8Q1XmS8uPS/2ysbMz8FcVXdUsLNVYlQ5epdGyw5q5VsoaqWwtlqeQXRpJyeCCsqQB8uZ+wVKKm9d2Zy+6ip4d928chgB9Fs2MuQBck4ADMk4ADxVfqLf2o0ui0yrjn1/Pz8Rk7N2ZJPII42lz3ZAfEk5NaNSvVuzXYKGmAdIBLN7Th5rT+Bpy/Mceiyex/ZhtJCAQDM8AyO56MH4W/crfk2VJbc5cLotoxwabthVRspJe8tZzXNAOpLTYDmvEOC6jt72mFVPuRm8UVw06Pd6zumFh05rnqWFpJc8kRsG9IRnbRrfxOPmjmb6FSaIOMf8jc5FaiUxwBjf9SoItyiYcP6pBfpDzULIwLAZNG6OfE+9W986R7p3AAv82NoyYwDdAHINAaOl1MArymvZH4mT1+p82zC6X5+fMo0KVisCq59hinitfJKccL2BztnbkpaMXG+O8dbGznYE8ANbcViR7xxDhbotrSuwCbmO1Pa8GbTyOIBcACcbXy5dVqZ3d1OJH2kecWtbcbujcx4BSS7QeZRHFbD0iRfr4BbFlCwv3yPOGO8ScLDPOwsEz+nsmp7jPjlIaCR5xwaBj5xz62+y9B2Fs3uYg0+kcXdeHh91ynYzZ3fymocP5cfmxg6n2vr7uC7xUWrt3S2r0NLo6dkdz7YREUMnBERABcJ5UO1PcxCliNpZh5xGbIsj0LsQOV11+19qMp4XzSGzWNLjz4AcybDxXgG1NoyVEklRJ6ch3jwa31WjkBYKw0On8ye59L+Su1+p8qG1dsw3sxAHgPqVkBqrCLj7qbcWiMrKfoRNjuVkhiligspN0DNKwRp2Z4MciwudMVi0kG+ZHu9GNoeRxe47kLPed48mlTV82G6NTj0GJVtLGRTtfpLJI63KINYz/wDSRR757Ylr4ZTvluZZHHYAD/J4+9dT5PtnCWuYTlEHSW5ts1v/AHOB8FzAWRRV8kL9+J7mOxF2mxscx0VRNOSZp1we/T1DWNL3uDWjElxAA6krzbtp29bNGYaYuDSbPda283UDUA/FcbXbWmm/1pXvtlvOJA6DIKGnp3PNm6Ykk2DRq5xOAHNMV0KLyxcp5FPTl7g0Wubm5NgAMS4nQAYkqypmbJ/LYT3EZuTaxmfa28RphgBoOZKvq5Q4GGK4iFu9eRZ0pGO6B6rQcm56uxwFrG2sALAZDh/dXGnox7Uig1+txmuHzLhx/YGgVQqKqmlAVuowd76XHvNlZI+5te3CykibbW/VArGFkyIxbBTsqmssHG11A0KIkNkBN3HhhhwXGNxWZGdVwySPaALMHrXHiePRbekonTSMpYs3W7w57jBxPxPgNVhOqN1oNruJ3WNz3ndBmB9gvSexnZv+Fi3pMZ5POkOdtQ2/LXn4Ks1l/lx2rsv/AAzT+a/Ml0jdUFE2GNsbBZrRYfc8zmshEVAaYIiIAIiwts7SEEL5D6oNr8dPDU8gV1LLwgPOfKrt7vJG0jD5jPPltq71W+HzvwXCQ4mxHhb4lZVTUF0he7F0hLzc5AnC/hj1upI2tGI114rVaepVVqJi9bqfNscvoI6dXhoBVklQoorn5qSV2G+WZD51C4k4lJHBouVhSzF2eAQ2KhDPRbUvBJtox/yKvo3uMTBe7AZLfhcSC4HqN0+/gomyDeHDEHocD81WkqpKV5sA9jhZzXC7JG6X4EXzGIx4qNfBzjwXvh9sa3tkZKKjttQHEU7weAn82/iwn4qo2jMf9JjIR7ViXf8AyPuR+myhKib9C1nqqoLLZkPp2xtDpnbgOLW2vI/8rNB+J1h1UL6t8gsB3UOYY0+c8j1nOzc7nkNAFBHTgEuJL3HEudc48ccSeZU6mVaeMeXyym1PiMp+zXwgwYDQDIDIf3V6jYrwpJUMqoZZuAuNUmntbgrWR2ugUo45ZfGwBTNUQKrDPcmwvb4/ZBySb5LonOc/UALLjhY0l5wAxJz93M5LGo43Fxc4264Cw48guq7G9mDWyCWQEUsRwBw754/8ePu1NmL7o1Q3Mf0+llqbdkevX895ufJ/2ZLyK2dtv+Qw+q32+vDxPBegqjW2FgqrL2WOyW5m1rrjXFQj0giImxwIiIALzvym7ZypwfzdLBzvgWt/6jl31ZUiON0jsmNLj0AuvCtu15lmke86lp63Ln2/USOjQrDw+rfbl9Ir/EbvKoeO3wYj5Gu8T/Uql3BRRU3nXHu4BZbYQ3zj/haMxsmlwRdwTnkqSVTW3AzWNWV1zYLEY/NcyOxqbWZEr5L4lQyTKySVQly4S4wLw/FZcNU4YA4cDiFhsCmYgJpPszWzu0sOgCrnnieagYpmldI0ljokBVytCF9l0bBwN1ZNITlgo3vviq74AuVwWo4L2tyvmr1aFZOCbAarpztl7iLY5fvJS0LbiwH9+d1FHS3s3E/vFbjs9sGSul7iHzYm27+W2AHsM4k/HPLNqy2Ncd0h2qiV8vLh/SRldmuzzq+XcbcU7CO+kHrnMMZ++fAH2SkpGRMbHG0NY0BrQMgAotlbKjpomwxN3WNFgOPEk6knElZazOovldLL6NfptNDTw2QCIijkkIiIAIiIA57tvWblMRxJc78sYMh95a1v6l402jLrFxxx8XHEn3r1XygS/wAmQH2Y4x/1Zbv/AO2H4ryqsfYk72J+DVfeGR/43L4mb8ZsbshWvdkmaWxtzudTzWtqq0uUEk98BkoC5WmSqrow8vsuc9Wb6tcgKQ2WMKc8lHFUaFWyuaF1M5ODiXtCmYFE1ShwXSNIlaFMOaxu+/eaNffFdGXFk7p+H7+ysaTh+8VRoUgQc4XQLcFRiq51hdY4mzNuiASbRNvuLrDTNXMgc5/TL9/VVpASDfrc4ADieAW27O9nZdoSGKG7IG276YjPXdbxJ0b4nRNW3RqjukPU0zunsgvn7hsDYctfKYIDaMW7+a2AB9VvG+g15Be17F2LFSwthhbusb73HVzjq48U2NsWGlhbDC3dY33k6ucdXHis5ZvUaiV0svo1Wm00NPDbEIiKMSQiIgAiIgAiIgDzfynV+63d1MrfcyEEfGVeUzOvmcdV3XlYnP8AF7nANeP1Ma2/vYV5/ZaTRR20Iz2sW/UP4YRdvKioChKltjcKeeQVRECSTEsIqFW6oAq2XURrGirSr23VoUgSyFJlzWqRgVgV4KBpkgVr5rYaqxk2egUkVjjZAjGOyr5Bfdz4qR0QtdxAaNT8gNTyUc8rIcXYvOIYM8ct72R8Su27H+TOWpLajaALI82QYtLh+MZsb+H0jrbIxNRqo0r4kvTaOd7TXEff9vv/ACazsn2Ol2g4E3ipGnF3rSEZhvtHS+TeZwXs2zdmRU8bYoWBjGiwA+JJ1JzJOJU8MLWtDWgNa0AANAAAGAAAwAV6z1t0rZZkaamiFMdsEERE0PBERABERABERABERAHkflloiKiGXR8bmeMbt75PXmxXu3lP2KZ6Fz2i74D3w5tAtIP6ST+leFyi2WRxHRaDQ2bqUvcVN9eLs+8tul1aVS6mHVAuVzVY0q8FCEz4WCqJdUulog2ZLwFeCo2OQi2KURmucMke4jJXtf6vv+qrTRudkCSeCOmjYd0AyyE2DWYi5yBcMz+FtykSnGCzJ4Exi5vbFZZMKe40DRiScAOp0Umzo5qmTuKGMyP1fawYD62ODG/ididBddR2e8lVVVlslc4wQ5tiaAHn9JuI+rru5NXrOx9hwUsYip42xsGNhmT7TnHFzuZJKqNR4hn2a/qW2n8MS9q7n4en9nLdifJhDRkTTET1Oe8b7kZ13AcS78Zx4buS7hEVS228suUkuEERFw6EREAEREAEREAEREAEREAUc2+BXgXbvss6hqHAt/4aVxMDwDZhOJidwI0GoAIuQQvflj11BHNG6KVjZI3izmvAc0jmCn6L5Uy3IatqVkcM+YpIi04+HA8wdVGvXNs+RsYmjm3Qce6nu9n6ZB5zfHePNcfX+Tutj9KlkPOBzJm/03D/AIK7r1dU13j/ACQnGyH6ln4r7fbJyoyV2i2U3Z+ZuDoqhvWln+jSrBsiT/lVJ/LSVJ/8U/5tf/ZfVDEpN/tl/wCX9jBQLe0vZCsfhHQ1Tv8A3Gsp2++Qgre7P8lO0n+l/C0zerqiT5bt/FNS1lMP3Z/wNeRdPhR+vH9/6OLjpHHzrWaNTYD3nBXwva5wZE19RIcmQtJF+brY+AXrGzvIvSAh1VLNVOGj3bjPBjdPFdtszY0FO3cgiZG3gxobfqRifFQrfEn1BD8PDc82P5L79/weRbG8lVdUi9S9tLEf9tmLyOYB/wDsf0r0vs12Ho6EfyIxv2sZH+dIePneqOTQByW/RVlls7HmTLKuqFaxBYCIibHQiIgAiIgAiIgAiIgAiIgAiIgAiIgAiIgAqIiACoiIAqqoiACIiACIiACIiACIiACIiACIiACIiACIiACIiACIiAP/2Q=="/>
          <p:cNvSpPr>
            <a:spLocks noChangeAspect="1" noChangeArrowheads="1"/>
          </p:cNvSpPr>
          <p:nvPr/>
        </p:nvSpPr>
        <p:spPr bwMode="auto">
          <a:xfrm>
            <a:off x="597218" y="-108347"/>
            <a:ext cx="274320" cy="228601"/>
          </a:xfrm>
          <a:prstGeom prst="rect">
            <a:avLst/>
          </a:prstGeom>
          <a:noFill/>
        </p:spPr>
        <p:txBody>
          <a:bodyPr vert="horz" wrap="square" lIns="82296" tIns="41148" rIns="82296" bIns="41148" numCol="1" anchor="t" anchorCtr="0" compatLnSpc="1">
            <a:prstTxWarp prst="textNoShape">
              <a:avLst/>
            </a:prstTxWarp>
          </a:bodyPr>
          <a:lstStyle/>
          <a:p>
            <a:endParaRPr lang="zh-CN" altLang="en-US" sz="1620"/>
          </a:p>
        </p:txBody>
      </p:sp>
      <p:pic>
        <p:nvPicPr>
          <p:cNvPr id="22" name="图片 21"/>
          <p:cNvPicPr>
            <a:picLocks noChangeAspect="1"/>
          </p:cNvPicPr>
          <p:nvPr/>
        </p:nvPicPr>
        <p:blipFill>
          <a:blip r:embed="rId3"/>
          <a:stretch>
            <a:fillRect/>
          </a:stretch>
        </p:blipFill>
        <p:spPr>
          <a:xfrm>
            <a:off x="3917476" y="1410079"/>
            <a:ext cx="2333059" cy="1944216"/>
          </a:xfrm>
          <a:prstGeom prst="rect">
            <a:avLst/>
          </a:prstGeom>
        </p:spPr>
      </p:pic>
      <p:sp>
        <p:nvSpPr>
          <p:cNvPr id="23" name="罐形 22"/>
          <p:cNvSpPr/>
          <p:nvPr/>
        </p:nvSpPr>
        <p:spPr>
          <a:xfrm>
            <a:off x="7817816" y="1739080"/>
            <a:ext cx="907301" cy="1231337"/>
          </a:xfrm>
          <a:prstGeom prst="can">
            <a:avLst>
              <a:gd name="adj" fmla="val 40385"/>
            </a:avLst>
          </a:prstGeom>
          <a:gradFill flip="none" rotWithShape="1">
            <a:gsLst>
              <a:gs pos="0">
                <a:schemeClr val="accent6">
                  <a:lumMod val="20000"/>
                  <a:lumOff val="80000"/>
                </a:schemeClr>
              </a:gs>
              <a:gs pos="100000">
                <a:schemeClr val="accent1">
                  <a:lumMod val="50000"/>
                </a:schemeClr>
              </a:gs>
            </a:gsLst>
            <a:path path="rect">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latin typeface="Microsoft YaHei" panose="020B0503020204020204" pitchFamily="34" charset="-122"/>
              <a:ea typeface="Microsoft YaHei" panose="020B0503020204020204" pitchFamily="34" charset="-122"/>
            </a:endParaRPr>
          </a:p>
        </p:txBody>
      </p:sp>
      <p:cxnSp>
        <p:nvCxnSpPr>
          <p:cNvPr id="24" name="曲线连接符 23"/>
          <p:cNvCxnSpPr>
            <a:cxnSpLocks/>
            <a:endCxn id="23" idx="2"/>
          </p:cNvCxnSpPr>
          <p:nvPr/>
        </p:nvCxnSpPr>
        <p:spPr bwMode="auto">
          <a:xfrm>
            <a:off x="5843004" y="2319643"/>
            <a:ext cx="1974812" cy="35106"/>
          </a:xfrm>
          <a:prstGeom prst="curvedConnector3">
            <a:avLst/>
          </a:prstGeom>
          <a:solidFill>
            <a:schemeClr val="accent1"/>
          </a:solidFill>
          <a:ln w="57150" cap="flat" cmpd="sng" algn="ctr">
            <a:solidFill>
              <a:schemeClr val="accent2">
                <a:lumMod val="40000"/>
                <a:lumOff val="60000"/>
              </a:schemeClr>
            </a:solidFill>
            <a:prstDash val="solid"/>
            <a:round/>
            <a:headEnd type="arrow"/>
            <a:tailEnd type="arrow"/>
          </a:ln>
          <a:effectLst/>
        </p:spPr>
      </p:cxnSp>
      <p:pic>
        <p:nvPicPr>
          <p:cNvPr id="4" name="图片 3"/>
          <p:cNvPicPr>
            <a:picLocks noChangeAspect="1"/>
          </p:cNvPicPr>
          <p:nvPr/>
        </p:nvPicPr>
        <p:blipFill>
          <a:blip r:embed="rId4"/>
          <a:stretch>
            <a:fillRect/>
          </a:stretch>
        </p:blipFill>
        <p:spPr>
          <a:xfrm>
            <a:off x="871538" y="1928537"/>
            <a:ext cx="1877517" cy="1502014"/>
          </a:xfrm>
          <a:prstGeom prst="rect">
            <a:avLst/>
          </a:prstGeom>
        </p:spPr>
      </p:pic>
      <p:sp>
        <p:nvSpPr>
          <p:cNvPr id="5" name="文本框 4"/>
          <p:cNvSpPr txBox="1"/>
          <p:nvPr/>
        </p:nvSpPr>
        <p:spPr>
          <a:xfrm>
            <a:off x="1185059" y="3483910"/>
            <a:ext cx="1018227" cy="590931"/>
          </a:xfrm>
          <a:prstGeom prst="rect">
            <a:avLst/>
          </a:prstGeom>
          <a:noFill/>
        </p:spPr>
        <p:txBody>
          <a:bodyPr wrap="none" rtlCol="0">
            <a:spAutoFit/>
          </a:bodyPr>
          <a:lstStyle/>
          <a:p>
            <a:pPr algn="ctr"/>
            <a:r>
              <a:rPr kumimoji="1" lang="zh-CN" altLang="en-US" sz="1620" dirty="0">
                <a:latin typeface="Microsoft YaHei" panose="020B0503020204020204" pitchFamily="34" charset="-122"/>
                <a:ea typeface="Microsoft YaHei" panose="020B0503020204020204" pitchFamily="34" charset="-122"/>
              </a:rPr>
              <a:t>客户端</a:t>
            </a:r>
            <a:endParaRPr kumimoji="1" lang="en-US" altLang="zh-CN" sz="1620" dirty="0">
              <a:latin typeface="Microsoft YaHei" panose="020B0503020204020204" pitchFamily="34" charset="-122"/>
              <a:ea typeface="Microsoft YaHei" panose="020B0503020204020204" pitchFamily="34" charset="-122"/>
            </a:endParaRPr>
          </a:p>
          <a:p>
            <a:r>
              <a:rPr kumimoji="1" lang="zh-CN" altLang="en-US" sz="1620" dirty="0">
                <a:latin typeface="Microsoft YaHei" panose="020B0503020204020204" pitchFamily="34" charset="-122"/>
                <a:ea typeface="Microsoft YaHei" panose="020B0503020204020204" pitchFamily="34" charset="-122"/>
              </a:rPr>
              <a:t>版本升级</a:t>
            </a:r>
          </a:p>
        </p:txBody>
      </p:sp>
      <p:sp>
        <p:nvSpPr>
          <p:cNvPr id="29" name="文本框 28"/>
          <p:cNvSpPr txBox="1"/>
          <p:nvPr/>
        </p:nvSpPr>
        <p:spPr>
          <a:xfrm>
            <a:off x="4824777" y="3224681"/>
            <a:ext cx="1018227" cy="590931"/>
          </a:xfrm>
          <a:prstGeom prst="rect">
            <a:avLst/>
          </a:prstGeom>
          <a:noFill/>
        </p:spPr>
        <p:txBody>
          <a:bodyPr wrap="none" rtlCol="0">
            <a:spAutoFit/>
          </a:bodyPr>
          <a:lstStyle/>
          <a:p>
            <a:r>
              <a:rPr kumimoji="1" lang="zh-CN" altLang="en-US" sz="1620" dirty="0">
                <a:latin typeface="Microsoft YaHei" panose="020B0503020204020204" pitchFamily="34" charset="-122"/>
                <a:ea typeface="Microsoft YaHei" panose="020B0503020204020204" pitchFamily="34" charset="-122"/>
              </a:rPr>
              <a:t>服务器端</a:t>
            </a:r>
            <a:endParaRPr kumimoji="1" lang="en-US" altLang="zh-CN" sz="1620" dirty="0">
              <a:latin typeface="Microsoft YaHei" panose="020B0503020204020204" pitchFamily="34" charset="-122"/>
              <a:ea typeface="Microsoft YaHei" panose="020B0503020204020204" pitchFamily="34" charset="-122"/>
            </a:endParaRPr>
          </a:p>
          <a:p>
            <a:r>
              <a:rPr kumimoji="1" lang="zh-CN" altLang="en-US" sz="1620" dirty="0">
                <a:latin typeface="Microsoft YaHei" panose="020B0503020204020204" pitchFamily="34" charset="-122"/>
                <a:ea typeface="Microsoft YaHei" panose="020B0503020204020204" pitchFamily="34" charset="-122"/>
              </a:rPr>
              <a:t>版本升级</a:t>
            </a:r>
          </a:p>
        </p:txBody>
      </p:sp>
      <p:cxnSp>
        <p:nvCxnSpPr>
          <p:cNvPr id="30" name="曲线连接符 29"/>
          <p:cNvCxnSpPr>
            <a:stCxn id="4" idx="3"/>
          </p:cNvCxnSpPr>
          <p:nvPr/>
        </p:nvCxnSpPr>
        <p:spPr bwMode="auto">
          <a:xfrm flipV="1">
            <a:off x="2749055" y="2382188"/>
            <a:ext cx="1622072" cy="297356"/>
          </a:xfrm>
          <a:prstGeom prst="curvedConnector3">
            <a:avLst/>
          </a:prstGeom>
          <a:solidFill>
            <a:schemeClr val="accent1"/>
          </a:solidFill>
          <a:ln w="57150" cap="flat" cmpd="sng" algn="ctr">
            <a:solidFill>
              <a:schemeClr val="accent2">
                <a:lumMod val="40000"/>
                <a:lumOff val="60000"/>
              </a:schemeClr>
            </a:solidFill>
            <a:prstDash val="solid"/>
            <a:round/>
            <a:headEnd type="arrow"/>
            <a:tailEnd type="arrow"/>
          </a:ln>
          <a:effectLst/>
        </p:spPr>
      </p:cxnSp>
      <p:sp>
        <p:nvSpPr>
          <p:cNvPr id="32" name="文本框 31"/>
          <p:cNvSpPr txBox="1"/>
          <p:nvPr/>
        </p:nvSpPr>
        <p:spPr>
          <a:xfrm>
            <a:off x="3139790" y="2576609"/>
            <a:ext cx="1098378" cy="840230"/>
          </a:xfrm>
          <a:prstGeom prst="rect">
            <a:avLst/>
          </a:prstGeom>
          <a:noFill/>
        </p:spPr>
        <p:txBody>
          <a:bodyPr wrap="none" rtlCol="0">
            <a:spAutoFit/>
          </a:bodyPr>
          <a:lstStyle/>
          <a:p>
            <a:r>
              <a:rPr kumimoji="1" lang="zh-CN" altLang="en-US" sz="1620" dirty="0">
                <a:solidFill>
                  <a:srgbClr val="FF6600"/>
                </a:solidFill>
                <a:latin typeface="Microsoft YaHei" panose="020B0503020204020204" pitchFamily="34" charset="-122"/>
                <a:ea typeface="Microsoft YaHei" panose="020B0503020204020204" pitchFamily="34" charset="-122"/>
              </a:rPr>
              <a:t>上传旧版</a:t>
            </a:r>
            <a:endParaRPr kumimoji="1" lang="en-US" altLang="zh-CN" sz="1620" dirty="0">
              <a:solidFill>
                <a:srgbClr val="FF6600"/>
              </a:solidFill>
              <a:latin typeface="Microsoft YaHei" panose="020B0503020204020204" pitchFamily="34" charset="-122"/>
              <a:ea typeface="Microsoft YaHei" panose="020B0503020204020204" pitchFamily="34" charset="-122"/>
            </a:endParaRPr>
          </a:p>
          <a:p>
            <a:r>
              <a:rPr kumimoji="1" lang="en-US" altLang="zh-CN" sz="1620" dirty="0">
                <a:solidFill>
                  <a:srgbClr val="FF6600"/>
                </a:solidFill>
                <a:latin typeface="Microsoft YaHei" panose="020B0503020204020204" pitchFamily="34" charset="-122"/>
                <a:ea typeface="Microsoft YaHei" panose="020B0503020204020204" pitchFamily="34" charset="-122"/>
              </a:rPr>
              <a:t>/</a:t>
            </a:r>
            <a:r>
              <a:rPr kumimoji="1" lang="zh-CN" altLang="en-US" sz="1620" dirty="0">
                <a:solidFill>
                  <a:srgbClr val="FF6600"/>
                </a:solidFill>
                <a:latin typeface="Microsoft YaHei" panose="020B0503020204020204" pitchFamily="34" charset="-122"/>
                <a:ea typeface="Microsoft YaHei" panose="020B0503020204020204" pitchFamily="34" charset="-122"/>
              </a:rPr>
              <a:t>下载新版</a:t>
            </a:r>
            <a:endParaRPr kumimoji="1" lang="en-US" altLang="zh-CN" sz="1620" dirty="0">
              <a:solidFill>
                <a:srgbClr val="FF6600"/>
              </a:solidFill>
              <a:latin typeface="Microsoft YaHei" panose="020B0503020204020204" pitchFamily="34" charset="-122"/>
              <a:ea typeface="Microsoft YaHei" panose="020B0503020204020204" pitchFamily="34" charset="-122"/>
            </a:endParaRPr>
          </a:p>
          <a:p>
            <a:r>
              <a:rPr kumimoji="1" lang="zh-CN" altLang="en-US" sz="1620" dirty="0">
                <a:solidFill>
                  <a:srgbClr val="FF6600"/>
                </a:solidFill>
                <a:latin typeface="Microsoft YaHei" panose="020B0503020204020204" pitchFamily="34" charset="-122"/>
                <a:ea typeface="Microsoft YaHei" panose="020B0503020204020204" pitchFamily="34" charset="-122"/>
              </a:rPr>
              <a:t>数据文件</a:t>
            </a:r>
            <a:endParaRPr kumimoji="1" lang="en-US" altLang="zh-CN" sz="1620" dirty="0">
              <a:solidFill>
                <a:srgbClr val="FF6600"/>
              </a:solidFill>
              <a:latin typeface="Microsoft YaHei" panose="020B0503020204020204" pitchFamily="34" charset="-122"/>
              <a:ea typeface="Microsoft YaHei" panose="020B0503020204020204" pitchFamily="34" charset="-122"/>
            </a:endParaRPr>
          </a:p>
        </p:txBody>
      </p:sp>
      <p:sp>
        <p:nvSpPr>
          <p:cNvPr id="35" name="文本框 34"/>
          <p:cNvSpPr txBox="1"/>
          <p:nvPr/>
        </p:nvSpPr>
        <p:spPr>
          <a:xfrm>
            <a:off x="6056114" y="1604501"/>
            <a:ext cx="1620180" cy="590931"/>
          </a:xfrm>
          <a:prstGeom prst="rect">
            <a:avLst/>
          </a:prstGeom>
          <a:noFill/>
        </p:spPr>
        <p:txBody>
          <a:bodyPr wrap="square" rtlCol="0">
            <a:spAutoFit/>
          </a:bodyPr>
          <a:lstStyle/>
          <a:p>
            <a:r>
              <a:rPr kumimoji="1" lang="zh-CN" altLang="en-US" sz="1620" dirty="0">
                <a:solidFill>
                  <a:srgbClr val="595959"/>
                </a:solidFill>
                <a:latin typeface="Microsoft YaHei" panose="020B0503020204020204" pitchFamily="34" charset="-122"/>
                <a:ea typeface="Microsoft YaHei" panose="020B0503020204020204" pitchFamily="34" charset="-122"/>
              </a:rPr>
              <a:t>新版本软件</a:t>
            </a:r>
            <a:endParaRPr kumimoji="1" lang="en-US" altLang="zh-CN" sz="1620" dirty="0">
              <a:solidFill>
                <a:srgbClr val="595959"/>
              </a:solidFill>
              <a:latin typeface="Microsoft YaHei" panose="020B0503020204020204" pitchFamily="34" charset="-122"/>
              <a:ea typeface="Microsoft YaHei" panose="020B0503020204020204" pitchFamily="34" charset="-122"/>
            </a:endParaRPr>
          </a:p>
          <a:p>
            <a:r>
              <a:rPr kumimoji="1" lang="zh-CN" altLang="en-US" sz="1620" dirty="0">
                <a:solidFill>
                  <a:srgbClr val="FF6600"/>
                </a:solidFill>
                <a:latin typeface="Microsoft YaHei" panose="020B0503020204020204" pitchFamily="34" charset="-122"/>
                <a:ea typeface="Microsoft YaHei" panose="020B0503020204020204" pitchFamily="34" charset="-122"/>
              </a:rPr>
              <a:t>存取历史</a:t>
            </a:r>
            <a:r>
              <a:rPr kumimoji="1" lang="zh-CN" altLang="en-US" sz="1620" dirty="0">
                <a:solidFill>
                  <a:schemeClr val="tx1">
                    <a:lumMod val="65000"/>
                    <a:lumOff val="35000"/>
                  </a:schemeClr>
                </a:solidFill>
                <a:latin typeface="Microsoft YaHei" panose="020B0503020204020204" pitchFamily="34" charset="-122"/>
                <a:ea typeface="Microsoft YaHei" panose="020B0503020204020204" pitchFamily="34" charset="-122"/>
              </a:rPr>
              <a:t>数据</a:t>
            </a:r>
            <a:endParaRPr kumimoji="1" lang="en-US" altLang="zh-CN" sz="1620" dirty="0">
              <a:solidFill>
                <a:schemeClr val="tx1">
                  <a:lumMod val="65000"/>
                  <a:lumOff val="35000"/>
                </a:schemeClr>
              </a:solidFill>
              <a:latin typeface="Microsoft YaHei" panose="020B0503020204020204" pitchFamily="34" charset="-122"/>
              <a:ea typeface="Microsoft YaHei" panose="020B0503020204020204" pitchFamily="34" charset="-122"/>
            </a:endParaRPr>
          </a:p>
        </p:txBody>
      </p:sp>
      <p:sp>
        <p:nvSpPr>
          <p:cNvPr id="36" name="文本框 35"/>
          <p:cNvSpPr txBox="1"/>
          <p:nvPr/>
        </p:nvSpPr>
        <p:spPr>
          <a:xfrm>
            <a:off x="6248644" y="2363441"/>
            <a:ext cx="1418978" cy="840230"/>
          </a:xfrm>
          <a:prstGeom prst="rect">
            <a:avLst/>
          </a:prstGeom>
          <a:noFill/>
        </p:spPr>
        <p:txBody>
          <a:bodyPr wrap="none" rtlCol="0">
            <a:spAutoFit/>
          </a:bodyPr>
          <a:lstStyle/>
          <a:p>
            <a:r>
              <a:rPr kumimoji="1" lang="zh-CN" altLang="en-US" sz="1620" dirty="0">
                <a:solidFill>
                  <a:srgbClr val="595959"/>
                </a:solidFill>
                <a:latin typeface="Microsoft YaHei" panose="020B0503020204020204" pitchFamily="34" charset="-122"/>
                <a:ea typeface="Microsoft YaHei" panose="020B0503020204020204" pitchFamily="34" charset="-122"/>
              </a:rPr>
              <a:t>原版本软件</a:t>
            </a:r>
            <a:endParaRPr kumimoji="1" lang="en-US" altLang="zh-CN" sz="1620" dirty="0">
              <a:solidFill>
                <a:srgbClr val="595959"/>
              </a:solidFill>
              <a:latin typeface="Microsoft YaHei" panose="020B0503020204020204" pitchFamily="34" charset="-122"/>
              <a:ea typeface="Microsoft YaHei" panose="020B0503020204020204" pitchFamily="34" charset="-122"/>
            </a:endParaRPr>
          </a:p>
          <a:p>
            <a:r>
              <a:rPr kumimoji="1" lang="zh-CN" altLang="en-US" sz="1620" dirty="0">
                <a:solidFill>
                  <a:srgbClr val="FF6600"/>
                </a:solidFill>
                <a:latin typeface="Microsoft YaHei" panose="020B0503020204020204" pitchFamily="34" charset="-122"/>
                <a:ea typeface="Microsoft YaHei" panose="020B0503020204020204" pitchFamily="34" charset="-122"/>
              </a:rPr>
              <a:t>存取</a:t>
            </a:r>
            <a:r>
              <a:rPr kumimoji="1" lang="en-US" altLang="zh-CN" sz="1620" dirty="0">
                <a:solidFill>
                  <a:srgbClr val="FF6600"/>
                </a:solidFill>
                <a:latin typeface="Microsoft YaHei" panose="020B0503020204020204" pitchFamily="34" charset="-122"/>
                <a:ea typeface="Microsoft YaHei" panose="020B0503020204020204" pitchFamily="34" charset="-122"/>
              </a:rPr>
              <a:t> DB </a:t>
            </a:r>
            <a:r>
              <a:rPr kumimoji="1" lang="zh-CN" altLang="en-US" sz="1620" dirty="0">
                <a:solidFill>
                  <a:srgbClr val="FF6600"/>
                </a:solidFill>
                <a:latin typeface="Microsoft YaHei" panose="020B0503020204020204" pitchFamily="34" charset="-122"/>
                <a:ea typeface="Microsoft YaHei" panose="020B0503020204020204" pitchFamily="34" charset="-122"/>
              </a:rPr>
              <a:t>新</a:t>
            </a:r>
            <a:endParaRPr kumimoji="1" lang="en-US" altLang="zh-CN" sz="1620" dirty="0">
              <a:solidFill>
                <a:srgbClr val="FF6600"/>
              </a:solidFill>
              <a:latin typeface="Microsoft YaHei" panose="020B0503020204020204" pitchFamily="34" charset="-122"/>
              <a:ea typeface="Microsoft YaHei" panose="020B0503020204020204" pitchFamily="34" charset="-122"/>
            </a:endParaRPr>
          </a:p>
          <a:p>
            <a:r>
              <a:rPr kumimoji="1" lang="en-US" altLang="zh-CN" sz="1620" dirty="0">
                <a:solidFill>
                  <a:srgbClr val="595959"/>
                </a:solidFill>
                <a:latin typeface="Microsoft YaHei" panose="020B0503020204020204" pitchFamily="34" charset="-122"/>
                <a:ea typeface="Microsoft YaHei" panose="020B0503020204020204" pitchFamily="34" charset="-122"/>
              </a:rPr>
              <a:t>schema</a:t>
            </a:r>
            <a:r>
              <a:rPr kumimoji="1" lang="zh-CN" altLang="en-US" sz="1620" dirty="0">
                <a:solidFill>
                  <a:srgbClr val="595959"/>
                </a:solidFill>
                <a:latin typeface="Microsoft YaHei" panose="020B0503020204020204" pitchFamily="34" charset="-122"/>
                <a:ea typeface="Microsoft YaHei" panose="020B0503020204020204" pitchFamily="34" charset="-122"/>
              </a:rPr>
              <a:t>数据</a:t>
            </a:r>
            <a:r>
              <a:rPr kumimoji="1" lang="en-US" altLang="zh-CN" sz="1620" dirty="0">
                <a:solidFill>
                  <a:srgbClr val="595959"/>
                </a:solidFill>
                <a:latin typeface="Microsoft YaHei" panose="020B0503020204020204" pitchFamily="34" charset="-122"/>
                <a:ea typeface="Microsoft YaHei" panose="020B0503020204020204" pitchFamily="34" charset="-122"/>
              </a:rPr>
              <a:t> </a:t>
            </a:r>
          </a:p>
        </p:txBody>
      </p:sp>
      <p:sp>
        <p:nvSpPr>
          <p:cNvPr id="39" name="文本框 38"/>
          <p:cNvSpPr txBox="1"/>
          <p:nvPr/>
        </p:nvSpPr>
        <p:spPr>
          <a:xfrm>
            <a:off x="7725757" y="2996724"/>
            <a:ext cx="1290738" cy="590931"/>
          </a:xfrm>
          <a:prstGeom prst="rect">
            <a:avLst/>
          </a:prstGeom>
          <a:noFill/>
        </p:spPr>
        <p:txBody>
          <a:bodyPr wrap="none" rtlCol="0">
            <a:spAutoFit/>
          </a:bodyPr>
          <a:lstStyle/>
          <a:p>
            <a:pPr algn="ctr"/>
            <a:r>
              <a:rPr kumimoji="1" lang="en-US" altLang="zh-CN" sz="1620" dirty="0">
                <a:latin typeface="Microsoft YaHei" panose="020B0503020204020204" pitchFamily="34" charset="-122"/>
                <a:ea typeface="Microsoft YaHei" panose="020B0503020204020204" pitchFamily="34" charset="-122"/>
              </a:rPr>
              <a:t>DB schema</a:t>
            </a:r>
          </a:p>
          <a:p>
            <a:pPr algn="ctr"/>
            <a:r>
              <a:rPr kumimoji="1" lang="zh-CN" altLang="en-US" sz="1620" dirty="0">
                <a:latin typeface="Microsoft YaHei" panose="020B0503020204020204" pitchFamily="34" charset="-122"/>
                <a:ea typeface="Microsoft YaHei" panose="020B0503020204020204" pitchFamily="34" charset="-122"/>
              </a:rPr>
              <a:t>升级</a:t>
            </a:r>
          </a:p>
        </p:txBody>
      </p:sp>
    </p:spTree>
    <p:extLst>
      <p:ext uri="{BB962C8B-B14F-4D97-AF65-F5344CB8AC3E}">
        <p14:creationId xmlns:p14="http://schemas.microsoft.com/office/powerpoint/2010/main" val="1206915336"/>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p:tgtEl>
                                          <p:spTgt spid="23"/>
                                        </p:tgtEl>
                                        <p:attrNameLst>
                                          <p:attrName>ppt_x</p:attrName>
                                        </p:attrNameLst>
                                      </p:cBhvr>
                                      <p:tavLst>
                                        <p:tav tm="0">
                                          <p:val>
                                            <p:strVal val="#ppt_x-#ppt_w*1.125000"/>
                                          </p:val>
                                        </p:tav>
                                        <p:tav tm="100000">
                                          <p:val>
                                            <p:strVal val="#ppt_x"/>
                                          </p:val>
                                        </p:tav>
                                      </p:tavLst>
                                    </p:anim>
                                    <p:animEffect transition="in" filter="wipe(right)">
                                      <p:cBhvr>
                                        <p:cTn id="8" dur="500"/>
                                        <p:tgtEl>
                                          <p:spTgt spid="23"/>
                                        </p:tgtEl>
                                      </p:cBhvr>
                                    </p:animEffect>
                                  </p:childTnLst>
                                </p:cTn>
                              </p:par>
                              <p:par>
                                <p:cTn id="9" presetID="12" presetClass="entr" presetSubtype="8" fill="hold" nodeType="withEffect">
                                  <p:stCondLst>
                                    <p:cond delay="0"/>
                                  </p:stCondLst>
                                  <p:childTnLst>
                                    <p:set>
                                      <p:cBhvr>
                                        <p:cTn id="10" dur="1" fill="hold">
                                          <p:stCondLst>
                                            <p:cond delay="0"/>
                                          </p:stCondLst>
                                        </p:cTn>
                                        <p:tgtEl>
                                          <p:spTgt spid="24"/>
                                        </p:tgtEl>
                                        <p:attrNameLst>
                                          <p:attrName>style.visibility</p:attrName>
                                        </p:attrNameLst>
                                      </p:cBhvr>
                                      <p:to>
                                        <p:strVal val="visible"/>
                                      </p:to>
                                    </p:set>
                                    <p:anim calcmode="lin" valueType="num">
                                      <p:cBhvr additive="base">
                                        <p:cTn id="11" dur="500"/>
                                        <p:tgtEl>
                                          <p:spTgt spid="24"/>
                                        </p:tgtEl>
                                        <p:attrNameLst>
                                          <p:attrName>ppt_x</p:attrName>
                                        </p:attrNameLst>
                                      </p:cBhvr>
                                      <p:tavLst>
                                        <p:tav tm="0">
                                          <p:val>
                                            <p:strVal val="#ppt_x-#ppt_w*1.125000"/>
                                          </p:val>
                                        </p:tav>
                                        <p:tav tm="100000">
                                          <p:val>
                                            <p:strVal val="#ppt_x"/>
                                          </p:val>
                                        </p:tav>
                                      </p:tavLst>
                                    </p:anim>
                                    <p:animEffect transition="in" filter="wipe(right)">
                                      <p:cBhvr>
                                        <p:cTn id="12" dur="500"/>
                                        <p:tgtEl>
                                          <p:spTgt spid="24"/>
                                        </p:tgtEl>
                                      </p:cBhvr>
                                    </p:animEffect>
                                  </p:childTnLst>
                                </p:cTn>
                              </p:par>
                              <p:par>
                                <p:cTn id="13" presetID="12" presetClass="entr" presetSubtype="8"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par>
                                <p:cTn id="17" presetID="12" presetClass="entr" presetSubtype="8"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500"/>
                                        <p:tgtEl>
                                          <p:spTgt spid="36"/>
                                        </p:tgtEl>
                                        <p:attrNameLst>
                                          <p:attrName>ppt_x</p:attrName>
                                        </p:attrNameLst>
                                      </p:cBhvr>
                                      <p:tavLst>
                                        <p:tav tm="0">
                                          <p:val>
                                            <p:strVal val="#ppt_x-#ppt_w*1.125000"/>
                                          </p:val>
                                        </p:tav>
                                        <p:tav tm="100000">
                                          <p:val>
                                            <p:strVal val="#ppt_x"/>
                                          </p:val>
                                        </p:tav>
                                      </p:tavLst>
                                    </p:anim>
                                    <p:animEffect transition="in" filter="wipe(right)">
                                      <p:cBhvr>
                                        <p:cTn id="20" dur="500"/>
                                        <p:tgtEl>
                                          <p:spTgt spid="36"/>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39"/>
                                        </p:tgtEl>
                                        <p:attrNameLst>
                                          <p:attrName>style.visibility</p:attrName>
                                        </p:attrNameLst>
                                      </p:cBhvr>
                                      <p:to>
                                        <p:strVal val="visible"/>
                                      </p:to>
                                    </p:set>
                                    <p:anim calcmode="lin" valueType="num">
                                      <p:cBhvr additive="base">
                                        <p:cTn id="23" dur="500"/>
                                        <p:tgtEl>
                                          <p:spTgt spid="39"/>
                                        </p:tgtEl>
                                        <p:attrNameLst>
                                          <p:attrName>ppt_x</p:attrName>
                                        </p:attrNameLst>
                                      </p:cBhvr>
                                      <p:tavLst>
                                        <p:tav tm="0">
                                          <p:val>
                                            <p:strVal val="#ppt_x-#ppt_w*1.125000"/>
                                          </p:val>
                                        </p:tav>
                                        <p:tav tm="100000">
                                          <p:val>
                                            <p:strVal val="#ppt_x"/>
                                          </p:val>
                                        </p:tav>
                                      </p:tavLst>
                                    </p:anim>
                                    <p:animEffect transition="in" filter="wipe(right)">
                                      <p:cBhvr>
                                        <p:cTn id="24" dur="500"/>
                                        <p:tgtEl>
                                          <p:spTgt spid="39"/>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2"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p:tgtEl>
                                          <p:spTgt spid="4"/>
                                        </p:tgtEl>
                                        <p:attrNameLst>
                                          <p:attrName>ppt_x</p:attrName>
                                        </p:attrNameLst>
                                      </p:cBhvr>
                                      <p:tavLst>
                                        <p:tav tm="0">
                                          <p:val>
                                            <p:strVal val="#ppt_x+#ppt_w*1.125000"/>
                                          </p:val>
                                        </p:tav>
                                        <p:tav tm="100000">
                                          <p:val>
                                            <p:strVal val="#ppt_x"/>
                                          </p:val>
                                        </p:tav>
                                      </p:tavLst>
                                    </p:anim>
                                    <p:animEffect transition="in" filter="wipe(left)">
                                      <p:cBhvr>
                                        <p:cTn id="30" dur="500"/>
                                        <p:tgtEl>
                                          <p:spTgt spid="4"/>
                                        </p:tgtEl>
                                      </p:cBhvr>
                                    </p:animEffect>
                                  </p:childTnLst>
                                </p:cTn>
                              </p:par>
                              <p:par>
                                <p:cTn id="31" presetID="12" presetClass="entr" presetSubtype="2"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p:tgtEl>
                                          <p:spTgt spid="5"/>
                                        </p:tgtEl>
                                        <p:attrNameLst>
                                          <p:attrName>ppt_x</p:attrName>
                                        </p:attrNameLst>
                                      </p:cBhvr>
                                      <p:tavLst>
                                        <p:tav tm="0">
                                          <p:val>
                                            <p:strVal val="#ppt_x+#ppt_w*1.125000"/>
                                          </p:val>
                                        </p:tav>
                                        <p:tav tm="100000">
                                          <p:val>
                                            <p:strVal val="#ppt_x"/>
                                          </p:val>
                                        </p:tav>
                                      </p:tavLst>
                                    </p:anim>
                                    <p:animEffect transition="in" filter="wipe(left)">
                                      <p:cBhvr>
                                        <p:cTn id="34" dur="500"/>
                                        <p:tgtEl>
                                          <p:spTgt spid="5"/>
                                        </p:tgtEl>
                                      </p:cBhvr>
                                    </p:animEffect>
                                  </p:childTnLst>
                                </p:cTn>
                              </p:par>
                              <p:par>
                                <p:cTn id="35" presetID="12" presetClass="entr" presetSubtype="2"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anim calcmode="lin" valueType="num">
                                      <p:cBhvr additive="base">
                                        <p:cTn id="37" dur="500"/>
                                        <p:tgtEl>
                                          <p:spTgt spid="30"/>
                                        </p:tgtEl>
                                        <p:attrNameLst>
                                          <p:attrName>ppt_x</p:attrName>
                                        </p:attrNameLst>
                                      </p:cBhvr>
                                      <p:tavLst>
                                        <p:tav tm="0">
                                          <p:val>
                                            <p:strVal val="#ppt_x+#ppt_w*1.125000"/>
                                          </p:val>
                                        </p:tav>
                                        <p:tav tm="100000">
                                          <p:val>
                                            <p:strVal val="#ppt_x"/>
                                          </p:val>
                                        </p:tav>
                                      </p:tavLst>
                                    </p:anim>
                                    <p:animEffect transition="in" filter="wipe(left)">
                                      <p:cBhvr>
                                        <p:cTn id="38" dur="500"/>
                                        <p:tgtEl>
                                          <p:spTgt spid="30"/>
                                        </p:tgtEl>
                                      </p:cBhvr>
                                    </p:animEffect>
                                  </p:childTnLst>
                                </p:cTn>
                              </p:par>
                              <p:par>
                                <p:cTn id="39" presetID="12" presetClass="entr" presetSubtype="2"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p:tgtEl>
                                          <p:spTgt spid="32"/>
                                        </p:tgtEl>
                                        <p:attrNameLst>
                                          <p:attrName>ppt_x</p:attrName>
                                        </p:attrNameLst>
                                      </p:cBhvr>
                                      <p:tavLst>
                                        <p:tav tm="0">
                                          <p:val>
                                            <p:strVal val="#ppt_x+#ppt_w*1.125000"/>
                                          </p:val>
                                        </p:tav>
                                        <p:tav tm="100000">
                                          <p:val>
                                            <p:strVal val="#ppt_x"/>
                                          </p:val>
                                        </p:tav>
                                      </p:tavLst>
                                    </p:anim>
                                    <p:animEffect transition="in" filter="wipe(left)">
                                      <p:cBhvr>
                                        <p:cTn id="4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5" grpId="0"/>
      <p:bldP spid="32" grpId="0"/>
      <p:bldP spid="35" grpId="0"/>
      <p:bldP spid="36" grpId="0"/>
      <p:bldP spid="39" grpId="0"/>
    </p:bld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查看源图像">
            <a:extLst>
              <a:ext uri="{FF2B5EF4-FFF2-40B4-BE49-F238E27FC236}">
                <a16:creationId xmlns:a16="http://schemas.microsoft.com/office/drawing/2014/main" id="{DD074CEE-777B-56CA-75D0-A0823F4B5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1328" y="2538704"/>
            <a:ext cx="1853361" cy="1853361"/>
          </a:xfrm>
          <a:prstGeom prst="rect">
            <a:avLst/>
          </a:prstGeom>
          <a:noFill/>
          <a:extLst>
            <a:ext uri="{909E8E84-426E-40DD-AFC4-6F175D3DCCD1}">
              <a14:hiddenFill xmlns:a14="http://schemas.microsoft.com/office/drawing/2010/main">
                <a:solidFill>
                  <a:srgbClr val="FFFFFF"/>
                </a:solidFill>
              </a14:hiddenFill>
            </a:ext>
          </a:extLst>
        </p:spPr>
      </p:pic>
      <p:sp>
        <p:nvSpPr>
          <p:cNvPr id="23554" name="Rectangle 2"/>
          <p:cNvSpPr>
            <a:spLocks noGrp="1" noChangeArrowheads="1"/>
          </p:cNvSpPr>
          <p:nvPr>
            <p:ph type="title"/>
          </p:nvPr>
        </p:nvSpPr>
        <p:spPr>
          <a:xfrm>
            <a:off x="603264" y="280899"/>
            <a:ext cx="4890935" cy="514350"/>
          </a:xfrm>
        </p:spPr>
        <p:txBody>
          <a:bodyPr>
            <a:normAutofit/>
          </a:bodyPr>
          <a:lstStyle/>
          <a:p>
            <a:r>
              <a:rPr lang="zh-CN" altLang="en-US" sz="2900" dirty="0"/>
              <a:t>不同系统之间的数据兼容</a:t>
            </a:r>
            <a:endParaRPr lang="en-US" altLang="zh-CN" sz="2900" dirty="0"/>
          </a:p>
        </p:txBody>
      </p:sp>
      <p:sp>
        <p:nvSpPr>
          <p:cNvPr id="23557" name="Text Box 4"/>
          <p:cNvSpPr txBox="1">
            <a:spLocks noChangeArrowheads="1"/>
          </p:cNvSpPr>
          <p:nvPr/>
        </p:nvSpPr>
        <p:spPr bwMode="auto">
          <a:xfrm>
            <a:off x="2004124" y="1216841"/>
            <a:ext cx="2089217" cy="1100558"/>
          </a:xfrm>
          <a:prstGeom prst="rect">
            <a:avLst/>
          </a:prstGeom>
          <a:solidFill>
            <a:srgbClr val="99CCFF"/>
          </a:solidFill>
          <a:ln w="19050">
            <a:solidFill>
              <a:schemeClr val="accent2"/>
            </a:solidFill>
            <a:miter lim="800000"/>
            <a:headEnd/>
            <a:tailEnd/>
          </a:ln>
        </p:spPr>
        <p:txBody>
          <a:bodyPr>
            <a:spAutoFit/>
          </a:bodyPr>
          <a:lstStyle/>
          <a:p>
            <a:pPr algn="ctr" eaLnBrk="0" hangingPunct="0">
              <a:spcBef>
                <a:spcPct val="5000"/>
              </a:spcBef>
            </a:pPr>
            <a:r>
              <a:rPr lang="en-US" altLang="zh-CN" sz="1260" dirty="0">
                <a:solidFill>
                  <a:schemeClr val="hlink"/>
                </a:solidFill>
                <a:latin typeface="Verdana" pitchFamily="34" charset="0"/>
              </a:rPr>
              <a:t>Word Editor</a:t>
            </a:r>
          </a:p>
          <a:p>
            <a:pPr algn="ctr" eaLnBrk="0" hangingPunct="0">
              <a:spcBef>
                <a:spcPct val="5000"/>
              </a:spcBef>
            </a:pPr>
            <a:r>
              <a:rPr lang="en-US" altLang="zh-CN" sz="1260" dirty="0">
                <a:solidFill>
                  <a:schemeClr val="hlink"/>
                </a:solidFill>
                <a:latin typeface="Verdana" pitchFamily="34" charset="0"/>
              </a:rPr>
              <a:t>From </a:t>
            </a:r>
          </a:p>
          <a:p>
            <a:pPr algn="ctr" eaLnBrk="0" hangingPunct="0">
              <a:spcBef>
                <a:spcPct val="5000"/>
              </a:spcBef>
            </a:pPr>
            <a:r>
              <a:rPr lang="en-US" altLang="zh-CN" sz="1260" b="1" dirty="0">
                <a:solidFill>
                  <a:schemeClr val="hlink"/>
                </a:solidFill>
                <a:latin typeface="Verdana" pitchFamily="34" charset="0"/>
              </a:rPr>
              <a:t>Microsoft </a:t>
            </a:r>
          </a:p>
          <a:p>
            <a:pPr algn="ctr" eaLnBrk="0" hangingPunct="0">
              <a:spcBef>
                <a:spcPct val="5000"/>
              </a:spcBef>
            </a:pPr>
            <a:r>
              <a:rPr lang="en-US" altLang="zh-CN" sz="1260" dirty="0">
                <a:solidFill>
                  <a:schemeClr val="hlink"/>
                </a:solidFill>
                <a:latin typeface="Verdana" pitchFamily="34" charset="0"/>
              </a:rPr>
              <a:t>Running on </a:t>
            </a:r>
          </a:p>
          <a:p>
            <a:pPr algn="ctr" eaLnBrk="0" hangingPunct="0">
              <a:spcBef>
                <a:spcPct val="5000"/>
              </a:spcBef>
            </a:pPr>
            <a:r>
              <a:rPr lang="en-US" altLang="zh-CN" sz="1260" b="1" dirty="0">
                <a:solidFill>
                  <a:schemeClr val="hlink"/>
                </a:solidFill>
                <a:latin typeface="Verdana" pitchFamily="34" charset="0"/>
              </a:rPr>
              <a:t>Windows 11</a:t>
            </a:r>
          </a:p>
        </p:txBody>
      </p:sp>
      <p:sp>
        <p:nvSpPr>
          <p:cNvPr id="23558" name="Text Box 5"/>
          <p:cNvSpPr txBox="1">
            <a:spLocks noChangeArrowheads="1"/>
          </p:cNvSpPr>
          <p:nvPr/>
        </p:nvSpPr>
        <p:spPr bwMode="auto">
          <a:xfrm>
            <a:off x="6041607" y="1216841"/>
            <a:ext cx="2018741" cy="1100558"/>
          </a:xfrm>
          <a:prstGeom prst="rect">
            <a:avLst/>
          </a:prstGeom>
          <a:solidFill>
            <a:srgbClr val="DDDDDD"/>
          </a:solidFill>
          <a:ln w="19050">
            <a:solidFill>
              <a:schemeClr val="accent2"/>
            </a:solidFill>
            <a:miter lim="800000"/>
            <a:headEnd/>
            <a:tailEnd/>
          </a:ln>
        </p:spPr>
        <p:txBody>
          <a:bodyPr>
            <a:spAutoFit/>
          </a:bodyPr>
          <a:lstStyle/>
          <a:p>
            <a:pPr algn="ctr" eaLnBrk="0" hangingPunct="0">
              <a:spcBef>
                <a:spcPct val="5000"/>
              </a:spcBef>
            </a:pPr>
            <a:r>
              <a:rPr lang="en-US" altLang="zh-CN" sz="1260" dirty="0">
                <a:solidFill>
                  <a:schemeClr val="hlink"/>
                </a:solidFill>
                <a:latin typeface="Verdana" pitchFamily="34" charset="0"/>
              </a:rPr>
              <a:t>Word Editor</a:t>
            </a:r>
          </a:p>
          <a:p>
            <a:pPr algn="ctr" eaLnBrk="0" hangingPunct="0">
              <a:spcBef>
                <a:spcPct val="5000"/>
              </a:spcBef>
            </a:pPr>
            <a:r>
              <a:rPr lang="en-US" altLang="zh-CN" sz="1260" dirty="0">
                <a:solidFill>
                  <a:schemeClr val="hlink"/>
                </a:solidFill>
                <a:latin typeface="Verdana" pitchFamily="34" charset="0"/>
              </a:rPr>
              <a:t>From </a:t>
            </a:r>
          </a:p>
          <a:p>
            <a:pPr algn="ctr" eaLnBrk="0" hangingPunct="0">
              <a:spcBef>
                <a:spcPct val="5000"/>
              </a:spcBef>
            </a:pPr>
            <a:r>
              <a:rPr lang="en-US" altLang="zh-CN" sz="1260" b="1" dirty="0">
                <a:solidFill>
                  <a:schemeClr val="hlink"/>
                </a:solidFill>
                <a:latin typeface="Verdana" pitchFamily="34" charset="0"/>
              </a:rPr>
              <a:t>Apple </a:t>
            </a:r>
          </a:p>
          <a:p>
            <a:pPr algn="ctr" eaLnBrk="0" hangingPunct="0">
              <a:spcBef>
                <a:spcPct val="5000"/>
              </a:spcBef>
            </a:pPr>
            <a:r>
              <a:rPr lang="en-US" altLang="zh-CN" sz="1260" dirty="0">
                <a:solidFill>
                  <a:schemeClr val="hlink"/>
                </a:solidFill>
                <a:latin typeface="Verdana" pitchFamily="34" charset="0"/>
              </a:rPr>
              <a:t>Running on </a:t>
            </a:r>
          </a:p>
          <a:p>
            <a:pPr algn="ctr" eaLnBrk="0" hangingPunct="0">
              <a:spcBef>
                <a:spcPct val="5000"/>
              </a:spcBef>
            </a:pPr>
            <a:r>
              <a:rPr lang="en-US" altLang="zh-CN" sz="1260" b="1" dirty="0">
                <a:solidFill>
                  <a:schemeClr val="hlink"/>
                </a:solidFill>
                <a:latin typeface="Verdana" pitchFamily="34" charset="0"/>
              </a:rPr>
              <a:t>Mac OS X</a:t>
            </a:r>
          </a:p>
        </p:txBody>
      </p:sp>
      <p:sp>
        <p:nvSpPr>
          <p:cNvPr id="23559" name="Text Box 6"/>
          <p:cNvSpPr txBox="1">
            <a:spLocks noChangeArrowheads="1"/>
          </p:cNvSpPr>
          <p:nvPr/>
        </p:nvSpPr>
        <p:spPr bwMode="auto">
          <a:xfrm>
            <a:off x="4251521" y="3052783"/>
            <a:ext cx="2018741" cy="1100558"/>
          </a:xfrm>
          <a:prstGeom prst="rect">
            <a:avLst/>
          </a:prstGeom>
          <a:solidFill>
            <a:schemeClr val="accent2">
              <a:lumMod val="20000"/>
              <a:lumOff val="80000"/>
            </a:schemeClr>
          </a:solidFill>
          <a:ln w="19050">
            <a:solidFill>
              <a:schemeClr val="accent2"/>
            </a:solidFill>
            <a:miter lim="800000"/>
            <a:headEnd/>
            <a:tailEnd/>
          </a:ln>
        </p:spPr>
        <p:txBody>
          <a:bodyPr>
            <a:spAutoFit/>
          </a:bodyPr>
          <a:lstStyle/>
          <a:p>
            <a:pPr algn="ctr" eaLnBrk="0" hangingPunct="0">
              <a:spcBef>
                <a:spcPct val="5000"/>
              </a:spcBef>
            </a:pPr>
            <a:r>
              <a:rPr lang="en-US" altLang="zh-CN" sz="1260" dirty="0">
                <a:solidFill>
                  <a:schemeClr val="hlink"/>
                </a:solidFill>
                <a:latin typeface="Verdana" pitchFamily="34" charset="0"/>
              </a:rPr>
              <a:t>Spreadsheet</a:t>
            </a:r>
          </a:p>
          <a:p>
            <a:pPr algn="ctr" eaLnBrk="0" hangingPunct="0">
              <a:spcBef>
                <a:spcPct val="5000"/>
              </a:spcBef>
            </a:pPr>
            <a:r>
              <a:rPr lang="en-US" altLang="zh-CN" sz="1260" dirty="0">
                <a:solidFill>
                  <a:schemeClr val="hlink"/>
                </a:solidFill>
                <a:latin typeface="Verdana" pitchFamily="34" charset="0"/>
              </a:rPr>
              <a:t>From </a:t>
            </a:r>
          </a:p>
          <a:p>
            <a:pPr algn="ctr" eaLnBrk="0" hangingPunct="0">
              <a:spcBef>
                <a:spcPct val="5000"/>
              </a:spcBef>
            </a:pPr>
            <a:r>
              <a:rPr lang="en-US" altLang="zh-CN" sz="1260" b="1" dirty="0">
                <a:solidFill>
                  <a:schemeClr val="hlink"/>
                </a:solidFill>
                <a:latin typeface="Verdana" pitchFamily="34" charset="0"/>
              </a:rPr>
              <a:t>IBM Lotus</a:t>
            </a:r>
            <a:r>
              <a:rPr lang="en-US" altLang="zh-CN" sz="1260" dirty="0">
                <a:solidFill>
                  <a:schemeClr val="hlink"/>
                </a:solidFill>
                <a:latin typeface="Verdana" pitchFamily="34" charset="0"/>
              </a:rPr>
              <a:t> </a:t>
            </a:r>
          </a:p>
          <a:p>
            <a:pPr algn="ctr" eaLnBrk="0" hangingPunct="0">
              <a:spcBef>
                <a:spcPct val="5000"/>
              </a:spcBef>
            </a:pPr>
            <a:r>
              <a:rPr lang="en-US" altLang="zh-CN" sz="1260" dirty="0">
                <a:solidFill>
                  <a:schemeClr val="hlink"/>
                </a:solidFill>
                <a:latin typeface="Verdana" pitchFamily="34" charset="0"/>
              </a:rPr>
              <a:t>Running on </a:t>
            </a:r>
          </a:p>
          <a:p>
            <a:pPr algn="ctr" eaLnBrk="0" hangingPunct="0">
              <a:spcBef>
                <a:spcPct val="5000"/>
              </a:spcBef>
            </a:pPr>
            <a:r>
              <a:rPr lang="en-US" altLang="zh-CN" sz="1260" b="1" dirty="0">
                <a:solidFill>
                  <a:schemeClr val="hlink"/>
                </a:solidFill>
                <a:latin typeface="Verdana" pitchFamily="34" charset="0"/>
              </a:rPr>
              <a:t>Windows 11</a:t>
            </a:r>
          </a:p>
        </p:txBody>
      </p:sp>
      <p:sp>
        <p:nvSpPr>
          <p:cNvPr id="23561" name="AutoShape 8"/>
          <p:cNvSpPr>
            <a:spLocks noChangeArrowheads="1"/>
          </p:cNvSpPr>
          <p:nvPr/>
        </p:nvSpPr>
        <p:spPr bwMode="auto">
          <a:xfrm>
            <a:off x="4118350" y="1604282"/>
            <a:ext cx="1948265" cy="201216"/>
          </a:xfrm>
          <a:prstGeom prst="leftRightArrow">
            <a:avLst>
              <a:gd name="adj1" fmla="val 50000"/>
              <a:gd name="adj2" fmla="val 147219"/>
            </a:avLst>
          </a:prstGeom>
          <a:solidFill>
            <a:schemeClr val="bg2"/>
          </a:solidFill>
          <a:ln w="9525">
            <a:solidFill>
              <a:schemeClr val="tx1"/>
            </a:solidFill>
            <a:miter lim="800000"/>
            <a:headEnd/>
            <a:tailEnd/>
          </a:ln>
        </p:spPr>
        <p:txBody>
          <a:bodyPr wrap="none" anchor="ctr"/>
          <a:lstStyle/>
          <a:p>
            <a:endParaRPr lang="zh-CN" altLang="en-US" sz="1620"/>
          </a:p>
        </p:txBody>
      </p:sp>
      <p:sp>
        <p:nvSpPr>
          <p:cNvPr id="23564" name="AutoShape 11"/>
          <p:cNvSpPr>
            <a:spLocks noChangeArrowheads="1"/>
          </p:cNvSpPr>
          <p:nvPr/>
        </p:nvSpPr>
        <p:spPr bwMode="auto">
          <a:xfrm rot="14050192">
            <a:off x="3604007" y="2643696"/>
            <a:ext cx="1415124" cy="254231"/>
          </a:xfrm>
          <a:prstGeom prst="leftRightArrow">
            <a:avLst>
              <a:gd name="adj1" fmla="val 50000"/>
              <a:gd name="adj2" fmla="val 131553"/>
            </a:avLst>
          </a:prstGeom>
          <a:solidFill>
            <a:schemeClr val="accent2">
              <a:lumMod val="20000"/>
              <a:lumOff val="80000"/>
            </a:schemeClr>
          </a:solidFill>
          <a:ln w="9525">
            <a:solidFill>
              <a:schemeClr val="tx1"/>
            </a:solidFill>
            <a:miter lim="800000"/>
            <a:headEnd/>
            <a:tailEnd/>
          </a:ln>
        </p:spPr>
        <p:txBody>
          <a:bodyPr wrap="none" anchor="ctr"/>
          <a:lstStyle/>
          <a:p>
            <a:endParaRPr lang="zh-CN" altLang="en-US" sz="1620"/>
          </a:p>
        </p:txBody>
      </p:sp>
      <p:sp>
        <p:nvSpPr>
          <p:cNvPr id="23565" name="Line 12"/>
          <p:cNvSpPr>
            <a:spLocks noChangeShapeType="1"/>
          </p:cNvSpPr>
          <p:nvPr/>
        </p:nvSpPr>
        <p:spPr bwMode="auto">
          <a:xfrm>
            <a:off x="7553131" y="2187546"/>
            <a:ext cx="112097" cy="1009052"/>
          </a:xfrm>
          <a:prstGeom prst="line">
            <a:avLst/>
          </a:prstGeom>
          <a:noFill/>
          <a:ln w="28575">
            <a:solidFill>
              <a:schemeClr val="accent2"/>
            </a:solidFill>
            <a:round/>
            <a:headEnd/>
            <a:tailEnd type="arrow" w="med" len="med"/>
          </a:ln>
        </p:spPr>
        <p:txBody>
          <a:bodyPr/>
          <a:lstStyle/>
          <a:p>
            <a:endParaRPr lang="zh-CN" altLang="en-US" sz="1620"/>
          </a:p>
        </p:txBody>
      </p:sp>
      <p:sp>
        <p:nvSpPr>
          <p:cNvPr id="23566" name="Freeform 13"/>
          <p:cNvSpPr>
            <a:spLocks/>
          </p:cNvSpPr>
          <p:nvPr/>
        </p:nvSpPr>
        <p:spPr bwMode="auto">
          <a:xfrm>
            <a:off x="1007604" y="1895916"/>
            <a:ext cx="6749258" cy="2461022"/>
          </a:xfrm>
          <a:custGeom>
            <a:avLst/>
            <a:gdLst>
              <a:gd name="T0" fmla="*/ 4548 w 4656"/>
              <a:gd name="T1" fmla="*/ 1575 h 2016"/>
              <a:gd name="T2" fmla="*/ 4220 w 4656"/>
              <a:gd name="T3" fmla="*/ 2067 h 2016"/>
              <a:gd name="T4" fmla="*/ 0 w 4656"/>
              <a:gd name="T5" fmla="*/ 2067 h 2016"/>
              <a:gd name="T6" fmla="*/ 610 w 4656"/>
              <a:gd name="T7" fmla="*/ 0 h 2016"/>
              <a:gd name="T8" fmla="*/ 0 60000 65536"/>
              <a:gd name="T9" fmla="*/ 0 60000 65536"/>
              <a:gd name="T10" fmla="*/ 0 60000 65536"/>
              <a:gd name="T11" fmla="*/ 0 60000 65536"/>
              <a:gd name="T12" fmla="*/ 0 w 4656"/>
              <a:gd name="T13" fmla="*/ 0 h 2016"/>
              <a:gd name="T14" fmla="*/ 4656 w 4656"/>
              <a:gd name="T15" fmla="*/ 2016 h 2016"/>
            </a:gdLst>
            <a:ahLst/>
            <a:cxnLst>
              <a:cxn ang="T8">
                <a:pos x="T0" y="T1"/>
              </a:cxn>
              <a:cxn ang="T9">
                <a:pos x="T2" y="T3"/>
              </a:cxn>
              <a:cxn ang="T10">
                <a:pos x="T4" y="T5"/>
              </a:cxn>
              <a:cxn ang="T11">
                <a:pos x="T6" y="T7"/>
              </a:cxn>
            </a:cxnLst>
            <a:rect l="T12" t="T13" r="T14" b="T15"/>
            <a:pathLst>
              <a:path w="4656" h="2016">
                <a:moveTo>
                  <a:pt x="4656" y="1536"/>
                </a:moveTo>
                <a:lnTo>
                  <a:pt x="4320" y="2016"/>
                </a:lnTo>
                <a:lnTo>
                  <a:pt x="0" y="2016"/>
                </a:lnTo>
                <a:lnTo>
                  <a:pt x="624" y="0"/>
                </a:lnTo>
              </a:path>
            </a:pathLst>
          </a:custGeom>
          <a:noFill/>
          <a:ln w="28575">
            <a:solidFill>
              <a:schemeClr val="accent2"/>
            </a:solidFill>
            <a:round/>
            <a:headEnd/>
            <a:tailEnd type="arrow" w="med" len="med"/>
          </a:ln>
        </p:spPr>
        <p:txBody>
          <a:bodyPr/>
          <a:lstStyle/>
          <a:p>
            <a:endParaRPr lang="zh-CN" altLang="en-US" sz="1620"/>
          </a:p>
        </p:txBody>
      </p:sp>
      <p:sp>
        <p:nvSpPr>
          <p:cNvPr id="23568" name="Text Box 15"/>
          <p:cNvSpPr txBox="1">
            <a:spLocks noChangeArrowheads="1"/>
          </p:cNvSpPr>
          <p:nvPr/>
        </p:nvSpPr>
        <p:spPr bwMode="auto">
          <a:xfrm>
            <a:off x="4022865" y="1166833"/>
            <a:ext cx="2018741" cy="480131"/>
          </a:xfrm>
          <a:prstGeom prst="rect">
            <a:avLst/>
          </a:prstGeom>
          <a:noFill/>
          <a:ln w="9525">
            <a:noFill/>
            <a:miter lim="800000"/>
            <a:headEnd/>
            <a:tailEnd/>
          </a:ln>
        </p:spPr>
        <p:txBody>
          <a:bodyPr>
            <a:spAutoFit/>
          </a:bodyPr>
          <a:lstStyle/>
          <a:p>
            <a:pPr algn="ctr" eaLnBrk="0" hangingPunct="0">
              <a:spcBef>
                <a:spcPct val="50000"/>
              </a:spcBef>
            </a:pPr>
            <a:r>
              <a:rPr lang="en-US" altLang="zh-CN" sz="1260" b="1" dirty="0">
                <a:solidFill>
                  <a:srgbClr val="FF6600"/>
                </a:solidFill>
                <a:latin typeface="Verdana" pitchFamily="34" charset="0"/>
              </a:rPr>
              <a:t>Network Import/Export</a:t>
            </a:r>
          </a:p>
        </p:txBody>
      </p:sp>
      <p:sp>
        <p:nvSpPr>
          <p:cNvPr id="1625097" name="AutoShape 9"/>
          <p:cNvSpPr>
            <a:spLocks noChangeArrowheads="1"/>
          </p:cNvSpPr>
          <p:nvPr/>
        </p:nvSpPr>
        <p:spPr bwMode="auto">
          <a:xfrm rot="18398047">
            <a:off x="2081141" y="2544650"/>
            <a:ext cx="925117" cy="228072"/>
          </a:xfrm>
          <a:prstGeom prst="leftRightArrow">
            <a:avLst>
              <a:gd name="adj1" fmla="val 50000"/>
              <a:gd name="adj2" fmla="val 123333"/>
            </a:avLst>
          </a:prstGeom>
          <a:solidFill>
            <a:schemeClr val="bg2"/>
          </a:solidFill>
          <a:ln w="9525">
            <a:solidFill>
              <a:schemeClr val="tx1"/>
            </a:solidFill>
            <a:miter lim="800000"/>
            <a:headEnd/>
            <a:tailEnd/>
          </a:ln>
          <a:effectLst/>
        </p:spPr>
        <p:txBody>
          <a:bodyPr vert="eaVert" wrap="none" anchor="ctr"/>
          <a:lstStyle/>
          <a:p>
            <a:pPr algn="ctr" eaLnBrk="0" hangingPunct="0">
              <a:defRPr/>
            </a:pPr>
            <a:endParaRPr lang="zh-CN" altLang="en-US" sz="1620">
              <a:solidFill>
                <a:schemeClr val="hlink"/>
              </a:solidFill>
              <a:effectLst>
                <a:outerShdw blurRad="38100" dist="38100" dir="2700000" algn="tl">
                  <a:srgbClr val="000000"/>
                </a:outerShdw>
              </a:effectLst>
              <a:latin typeface="Verdana" pitchFamily="34" charset="0"/>
              <a:ea typeface="宋体" pitchFamily="2" charset="-122"/>
            </a:endParaRPr>
          </a:p>
        </p:txBody>
      </p:sp>
      <p:sp>
        <p:nvSpPr>
          <p:cNvPr id="23567" name="Text Box 14"/>
          <p:cNvSpPr txBox="1">
            <a:spLocks noChangeArrowheads="1"/>
          </p:cNvSpPr>
          <p:nvPr/>
        </p:nvSpPr>
        <p:spPr bwMode="auto">
          <a:xfrm rot="17376232">
            <a:off x="527970" y="2635984"/>
            <a:ext cx="1576808" cy="674031"/>
          </a:xfrm>
          <a:prstGeom prst="rect">
            <a:avLst/>
          </a:prstGeom>
          <a:noFill/>
          <a:ln w="9525">
            <a:noFill/>
            <a:miter lim="800000"/>
            <a:headEnd/>
            <a:tailEnd/>
          </a:ln>
        </p:spPr>
        <p:txBody>
          <a:bodyPr wrap="square">
            <a:spAutoFit/>
          </a:bodyPr>
          <a:lstStyle/>
          <a:p>
            <a:pPr eaLnBrk="0" hangingPunct="0">
              <a:spcBef>
                <a:spcPct val="50000"/>
              </a:spcBef>
            </a:pPr>
            <a:r>
              <a:rPr lang="en-US" altLang="zh-CN" sz="1260" b="1" dirty="0">
                <a:solidFill>
                  <a:srgbClr val="FF6600"/>
                </a:solidFill>
                <a:latin typeface="Verdana" pitchFamily="34" charset="0"/>
              </a:rPr>
              <a:t>File Import/Export</a:t>
            </a:r>
          </a:p>
        </p:txBody>
      </p:sp>
      <p:grpSp>
        <p:nvGrpSpPr>
          <p:cNvPr id="3" name="组合 2">
            <a:extLst>
              <a:ext uri="{FF2B5EF4-FFF2-40B4-BE49-F238E27FC236}">
                <a16:creationId xmlns:a16="http://schemas.microsoft.com/office/drawing/2014/main" id="{0CE8E85F-1C7A-F512-6827-0C9035AE5FB4}"/>
              </a:ext>
            </a:extLst>
          </p:cNvPr>
          <p:cNvGrpSpPr/>
          <p:nvPr/>
        </p:nvGrpSpPr>
        <p:grpSpPr>
          <a:xfrm>
            <a:off x="2571754" y="3425451"/>
            <a:ext cx="1679767" cy="538371"/>
            <a:chOff x="2571754" y="3425451"/>
            <a:chExt cx="1679767" cy="538371"/>
          </a:xfrm>
        </p:grpSpPr>
        <p:sp>
          <p:nvSpPr>
            <p:cNvPr id="23563" name="AutoShape 10"/>
            <p:cNvSpPr>
              <a:spLocks noChangeArrowheads="1"/>
            </p:cNvSpPr>
            <p:nvPr/>
          </p:nvSpPr>
          <p:spPr bwMode="auto">
            <a:xfrm rot="21547690" flipV="1">
              <a:off x="2571754" y="3425451"/>
              <a:ext cx="1679767" cy="140494"/>
            </a:xfrm>
            <a:prstGeom prst="leftRightArrow">
              <a:avLst>
                <a:gd name="adj1" fmla="val 50000"/>
                <a:gd name="adj2" fmla="val 157288"/>
              </a:avLst>
            </a:prstGeom>
            <a:solidFill>
              <a:schemeClr val="bg2"/>
            </a:solidFill>
            <a:ln w="9525">
              <a:solidFill>
                <a:schemeClr val="tx1"/>
              </a:solidFill>
              <a:miter lim="800000"/>
              <a:headEnd/>
              <a:tailEnd/>
            </a:ln>
          </p:spPr>
          <p:txBody>
            <a:bodyPr wrap="none" anchor="ctr"/>
            <a:lstStyle/>
            <a:p>
              <a:endParaRPr lang="zh-CN" altLang="en-US" sz="1620"/>
            </a:p>
          </p:txBody>
        </p:sp>
        <p:sp>
          <p:nvSpPr>
            <p:cNvPr id="23569" name="Text Box 16"/>
            <p:cNvSpPr txBox="1">
              <a:spLocks noChangeArrowheads="1"/>
            </p:cNvSpPr>
            <p:nvPr/>
          </p:nvSpPr>
          <p:spPr bwMode="auto">
            <a:xfrm>
              <a:off x="2824262" y="3483691"/>
              <a:ext cx="1348246" cy="480131"/>
            </a:xfrm>
            <a:prstGeom prst="rect">
              <a:avLst/>
            </a:prstGeom>
            <a:noFill/>
            <a:ln w="9525">
              <a:noFill/>
              <a:miter lim="800000"/>
              <a:headEnd/>
              <a:tailEnd/>
            </a:ln>
          </p:spPr>
          <p:txBody>
            <a:bodyPr wrap="square">
              <a:spAutoFit/>
            </a:bodyPr>
            <a:lstStyle/>
            <a:p>
              <a:pPr algn="ctr" eaLnBrk="0" hangingPunct="0">
                <a:spcBef>
                  <a:spcPct val="50000"/>
                </a:spcBef>
              </a:pPr>
              <a:r>
                <a:rPr lang="en-US" altLang="zh-CN" sz="1260" b="1" dirty="0">
                  <a:solidFill>
                    <a:srgbClr val="FF6600"/>
                  </a:solidFill>
                  <a:latin typeface="Verdana" pitchFamily="34" charset="0"/>
                </a:rPr>
                <a:t>File Load/Save</a:t>
              </a:r>
            </a:p>
          </p:txBody>
        </p:sp>
      </p:grpSp>
      <p:sp>
        <p:nvSpPr>
          <p:cNvPr id="23570" name="Text Box 17"/>
          <p:cNvSpPr txBox="1">
            <a:spLocks noChangeArrowheads="1"/>
          </p:cNvSpPr>
          <p:nvPr/>
        </p:nvSpPr>
        <p:spPr bwMode="auto">
          <a:xfrm rot="3254121">
            <a:off x="4063566" y="2431701"/>
            <a:ext cx="1173561" cy="480131"/>
          </a:xfrm>
          <a:prstGeom prst="rect">
            <a:avLst/>
          </a:prstGeom>
          <a:noFill/>
          <a:ln w="9525">
            <a:noFill/>
            <a:miter lim="800000"/>
            <a:headEnd/>
            <a:tailEnd/>
          </a:ln>
        </p:spPr>
        <p:txBody>
          <a:bodyPr wrap="square">
            <a:spAutoFit/>
          </a:bodyPr>
          <a:lstStyle/>
          <a:p>
            <a:pPr eaLnBrk="0" hangingPunct="0">
              <a:spcBef>
                <a:spcPct val="50000"/>
              </a:spcBef>
            </a:pPr>
            <a:r>
              <a:rPr lang="en-US" altLang="zh-CN" sz="1260" b="1" dirty="0">
                <a:solidFill>
                  <a:srgbClr val="FF6600"/>
                </a:solidFill>
                <a:latin typeface="Verdana" pitchFamily="34" charset="0"/>
              </a:rPr>
              <a:t>Cut, Copy, Paste</a:t>
            </a:r>
          </a:p>
        </p:txBody>
      </p:sp>
      <p:sp>
        <p:nvSpPr>
          <p:cNvPr id="23571" name="Text Box 18"/>
          <p:cNvSpPr txBox="1">
            <a:spLocks noChangeArrowheads="1"/>
          </p:cNvSpPr>
          <p:nvPr/>
        </p:nvSpPr>
        <p:spPr bwMode="auto">
          <a:xfrm>
            <a:off x="6840253" y="2576390"/>
            <a:ext cx="1052439" cy="286232"/>
          </a:xfrm>
          <a:prstGeom prst="rect">
            <a:avLst/>
          </a:prstGeom>
          <a:noFill/>
          <a:ln w="9525">
            <a:noFill/>
            <a:miter lim="800000"/>
            <a:headEnd/>
            <a:tailEnd/>
          </a:ln>
        </p:spPr>
        <p:txBody>
          <a:bodyPr>
            <a:spAutoFit/>
          </a:bodyPr>
          <a:lstStyle/>
          <a:p>
            <a:pPr eaLnBrk="0" hangingPunct="0">
              <a:spcBef>
                <a:spcPct val="50000"/>
              </a:spcBef>
            </a:pPr>
            <a:r>
              <a:rPr lang="en-US" altLang="zh-CN" sz="1260" b="1" dirty="0">
                <a:solidFill>
                  <a:srgbClr val="FF6600"/>
                </a:solidFill>
                <a:latin typeface="Verdana" pitchFamily="34" charset="0"/>
              </a:rPr>
              <a:t>Backup</a:t>
            </a:r>
          </a:p>
        </p:txBody>
      </p:sp>
      <p:sp>
        <p:nvSpPr>
          <p:cNvPr id="23572" name="cddrive"/>
          <p:cNvSpPr>
            <a:spLocks noEditPoints="1" noChangeArrowheads="1"/>
          </p:cNvSpPr>
          <p:nvPr/>
        </p:nvSpPr>
        <p:spPr bwMode="auto">
          <a:xfrm>
            <a:off x="6775445" y="3192058"/>
            <a:ext cx="1671061" cy="552450"/>
          </a:xfrm>
          <a:custGeom>
            <a:avLst/>
            <a:gdLst>
              <a:gd name="T0" fmla="*/ 26 w 21600"/>
              <a:gd name="T1" fmla="*/ 0 h 21600"/>
              <a:gd name="T2" fmla="*/ 53 w 21600"/>
              <a:gd name="T3" fmla="*/ 5 h 21600"/>
              <a:gd name="T4" fmla="*/ 26 w 21600"/>
              <a:gd name="T5" fmla="*/ 10 h 21600"/>
              <a:gd name="T6" fmla="*/ 0 w 21600"/>
              <a:gd name="T7" fmla="*/ 5 h 21600"/>
              <a:gd name="T8" fmla="*/ 0 60000 65536"/>
              <a:gd name="T9" fmla="*/ 0 60000 65536"/>
              <a:gd name="T10" fmla="*/ 0 60000 65536"/>
              <a:gd name="T11" fmla="*/ 0 60000 65536"/>
              <a:gd name="T12" fmla="*/ 688 w 21600"/>
              <a:gd name="T13" fmla="*/ 23043 h 21600"/>
              <a:gd name="T14" fmla="*/ 21013 w 21600"/>
              <a:gd name="T15" fmla="*/ 30491 h 21600"/>
            </a:gdLst>
            <a:ahLst/>
            <a:cxnLst>
              <a:cxn ang="T8">
                <a:pos x="T0" y="T1"/>
              </a:cxn>
              <a:cxn ang="T9">
                <a:pos x="T2" y="T3"/>
              </a:cxn>
              <a:cxn ang="T10">
                <a:pos x="T4" y="T5"/>
              </a:cxn>
              <a:cxn ang="T11">
                <a:pos x="T6" y="T7"/>
              </a:cxn>
            </a:cxnLst>
            <a:rect l="T12" t="T13" r="T14" b="T15"/>
            <a:pathLst>
              <a:path w="21600" h="21600" extrusionOk="0">
                <a:moveTo>
                  <a:pt x="2563" y="12259"/>
                </a:moveTo>
                <a:lnTo>
                  <a:pt x="2563" y="12843"/>
                </a:lnTo>
                <a:lnTo>
                  <a:pt x="2746" y="13427"/>
                </a:lnTo>
                <a:lnTo>
                  <a:pt x="2929" y="14303"/>
                </a:lnTo>
                <a:lnTo>
                  <a:pt x="3112" y="14886"/>
                </a:lnTo>
                <a:lnTo>
                  <a:pt x="3478" y="15470"/>
                </a:lnTo>
                <a:lnTo>
                  <a:pt x="3844" y="16054"/>
                </a:lnTo>
                <a:lnTo>
                  <a:pt x="4393" y="16638"/>
                </a:lnTo>
                <a:lnTo>
                  <a:pt x="4942" y="17222"/>
                </a:lnTo>
                <a:lnTo>
                  <a:pt x="5492" y="17514"/>
                </a:lnTo>
                <a:lnTo>
                  <a:pt x="6224" y="18097"/>
                </a:lnTo>
                <a:lnTo>
                  <a:pt x="6773" y="18389"/>
                </a:lnTo>
                <a:lnTo>
                  <a:pt x="7505" y="18681"/>
                </a:lnTo>
                <a:lnTo>
                  <a:pt x="8237" y="18973"/>
                </a:lnTo>
                <a:lnTo>
                  <a:pt x="9153" y="18973"/>
                </a:lnTo>
                <a:lnTo>
                  <a:pt x="9885" y="19265"/>
                </a:lnTo>
                <a:lnTo>
                  <a:pt x="10800" y="19265"/>
                </a:lnTo>
                <a:lnTo>
                  <a:pt x="11532" y="19265"/>
                </a:lnTo>
                <a:lnTo>
                  <a:pt x="12447" y="18973"/>
                </a:lnTo>
                <a:lnTo>
                  <a:pt x="13180" y="18973"/>
                </a:lnTo>
                <a:lnTo>
                  <a:pt x="13912" y="18681"/>
                </a:lnTo>
                <a:lnTo>
                  <a:pt x="14644" y="18389"/>
                </a:lnTo>
                <a:lnTo>
                  <a:pt x="15376" y="18097"/>
                </a:lnTo>
                <a:lnTo>
                  <a:pt x="16108" y="17514"/>
                </a:lnTo>
                <a:lnTo>
                  <a:pt x="16658" y="17222"/>
                </a:lnTo>
                <a:lnTo>
                  <a:pt x="17207" y="16638"/>
                </a:lnTo>
                <a:lnTo>
                  <a:pt x="17573" y="16054"/>
                </a:lnTo>
                <a:lnTo>
                  <a:pt x="18122" y="15470"/>
                </a:lnTo>
                <a:lnTo>
                  <a:pt x="18305" y="14886"/>
                </a:lnTo>
                <a:lnTo>
                  <a:pt x="18671" y="14303"/>
                </a:lnTo>
                <a:lnTo>
                  <a:pt x="18854" y="13427"/>
                </a:lnTo>
                <a:lnTo>
                  <a:pt x="19037" y="12843"/>
                </a:lnTo>
                <a:lnTo>
                  <a:pt x="19037" y="12259"/>
                </a:lnTo>
                <a:lnTo>
                  <a:pt x="2563" y="12259"/>
                </a:lnTo>
                <a:close/>
              </a:path>
              <a:path w="21600" h="21600" extrusionOk="0">
                <a:moveTo>
                  <a:pt x="2563" y="12259"/>
                </a:moveTo>
                <a:lnTo>
                  <a:pt x="9153" y="12259"/>
                </a:lnTo>
                <a:lnTo>
                  <a:pt x="9153" y="12551"/>
                </a:lnTo>
                <a:lnTo>
                  <a:pt x="9336" y="12843"/>
                </a:lnTo>
                <a:lnTo>
                  <a:pt x="9519" y="13135"/>
                </a:lnTo>
                <a:lnTo>
                  <a:pt x="9702" y="13135"/>
                </a:lnTo>
                <a:lnTo>
                  <a:pt x="9885" y="13427"/>
                </a:lnTo>
                <a:lnTo>
                  <a:pt x="10068" y="13719"/>
                </a:lnTo>
                <a:lnTo>
                  <a:pt x="10434" y="13719"/>
                </a:lnTo>
                <a:lnTo>
                  <a:pt x="10800" y="13719"/>
                </a:lnTo>
                <a:lnTo>
                  <a:pt x="10983" y="13719"/>
                </a:lnTo>
                <a:lnTo>
                  <a:pt x="11349" y="13719"/>
                </a:lnTo>
                <a:lnTo>
                  <a:pt x="11715" y="13427"/>
                </a:lnTo>
                <a:lnTo>
                  <a:pt x="11898" y="13135"/>
                </a:lnTo>
                <a:lnTo>
                  <a:pt x="12081" y="13135"/>
                </a:lnTo>
                <a:lnTo>
                  <a:pt x="12264" y="12843"/>
                </a:lnTo>
                <a:lnTo>
                  <a:pt x="12264" y="12551"/>
                </a:lnTo>
                <a:lnTo>
                  <a:pt x="12264" y="12259"/>
                </a:lnTo>
                <a:lnTo>
                  <a:pt x="9153" y="12259"/>
                </a:lnTo>
                <a:close/>
              </a:path>
              <a:path w="21600" h="21600" extrusionOk="0">
                <a:moveTo>
                  <a:pt x="21600" y="7589"/>
                </a:moveTo>
                <a:lnTo>
                  <a:pt x="17756" y="0"/>
                </a:lnTo>
                <a:lnTo>
                  <a:pt x="10800" y="0"/>
                </a:lnTo>
                <a:lnTo>
                  <a:pt x="3844" y="0"/>
                </a:lnTo>
                <a:lnTo>
                  <a:pt x="0" y="7589"/>
                </a:lnTo>
                <a:lnTo>
                  <a:pt x="0" y="10800"/>
                </a:lnTo>
                <a:lnTo>
                  <a:pt x="0" y="18097"/>
                </a:lnTo>
                <a:lnTo>
                  <a:pt x="1464" y="18097"/>
                </a:lnTo>
                <a:lnTo>
                  <a:pt x="1464" y="21600"/>
                </a:lnTo>
                <a:lnTo>
                  <a:pt x="10800" y="21600"/>
                </a:lnTo>
                <a:lnTo>
                  <a:pt x="19953" y="21600"/>
                </a:lnTo>
                <a:lnTo>
                  <a:pt x="19953" y="18097"/>
                </a:lnTo>
                <a:lnTo>
                  <a:pt x="21600" y="18097"/>
                </a:lnTo>
                <a:lnTo>
                  <a:pt x="21600" y="11092"/>
                </a:lnTo>
                <a:lnTo>
                  <a:pt x="21600" y="7589"/>
                </a:lnTo>
              </a:path>
              <a:path w="21600" h="21600" extrusionOk="0">
                <a:moveTo>
                  <a:pt x="1647" y="18097"/>
                </a:moveTo>
                <a:lnTo>
                  <a:pt x="6407" y="18097"/>
                </a:lnTo>
                <a:moveTo>
                  <a:pt x="19953" y="18097"/>
                </a:moveTo>
                <a:lnTo>
                  <a:pt x="15010" y="18097"/>
                </a:lnTo>
                <a:moveTo>
                  <a:pt x="0" y="7589"/>
                </a:moveTo>
                <a:lnTo>
                  <a:pt x="21417" y="7589"/>
                </a:lnTo>
                <a:lnTo>
                  <a:pt x="21600" y="7589"/>
                </a:lnTo>
              </a:path>
            </a:pathLst>
          </a:custGeom>
          <a:solidFill>
            <a:srgbClr val="FFFFCC"/>
          </a:solidFill>
          <a:ln w="9525">
            <a:solidFill>
              <a:srgbClr val="000000"/>
            </a:solidFill>
            <a:miter lim="800000"/>
            <a:headEnd/>
            <a:tailEnd/>
          </a:ln>
        </p:spPr>
        <p:txBody>
          <a:bodyPr/>
          <a:lstStyle/>
          <a:p>
            <a:endParaRPr lang="zh-CN" altLang="en-US" sz="1620"/>
          </a:p>
        </p:txBody>
      </p:sp>
      <p:sp>
        <p:nvSpPr>
          <p:cNvPr id="25602" name="AutoShape 2" descr="data:image/jpg;base64,/9j/4AAQSkZJRgABAQAAAQABAAD/2wCEAAkGBhQSEBQUEhQQEBQUFA8VFBAQFRAUEBAPFBAVFBQQFBQYHCYeGBkjGRQUHy8gJScpLCwsFh4xQTAqNSYrLCkBCQoKDgwOGg8PGikkHyQsLCwsKSwpKSksLCwsLCwsLCkpLCwpKSkpLCwsLCwpKSwsKSwsKSwsKSwsLCwsLCwsLP/AABEIALgAtAMBIgACEQEDEQH/xAAcAAACAgMBAQAAAAAAAAAAAAAABQMEAQIGBwj/xABGEAABAwIDBAUIBgcHBQAAAAABAAIDBBEFITESQVFhBhNxgZEUIjJScpKh0QdCU7HB8BYjVGKCk7IVQ2NzosLxJTNE0tP/xAAaAQACAwEBAAAAAAAAAAAAAAAABAECAwUG/8QAKREAAgMAAgIBAgUFAAAAAAAAAAECAxEEIRIxQUJRFCJhkaEFFVJxgf/aAAwDAQACEQMRAD8A9r8kZ6jPdajyRnqM91qmQgCHyRnqM91vyR5Iz1Ge61TIQBB5Ez1Ge635I8ij9Rnut+SnQgCuaCP7OP3W/Ja/2bF9lF7jPkta3FY4vSdn6rc3HuXO4h0vfpG3Y5uzd4aD4rWuqdjyKKSnGPtnRHCYfsYf5bPkqk9LRt9JlKORbFfwXGVOISyem9x5Em3hooGs5p6P9On9Ukv5M3cvg698mH+pTHsiB/2qPrcO+zp/5I/9VzLWD83W4jCv/b4/5P8AYyfIz4OojZh50ZS98bR94VyLB6R3oxUrvZZGfuXHtjCsQ4eDplzGR+Cxnws9S/go+ao+0dd/YNP9hB/Lj+SwcAp/sIP5bPkkcHXx+hKSPVk85vzCvwdIi3KeMs/xI7uZ3jUJSVUomlfNpseJ9/r0XP0dpv2eD+Wz5LR3RilP/jwfy2fJMIKhr2hzCHA6EG4UiyGxQeiVJ+zQe41anodR/s0HuhOUIATfobR/s0HuhZHQ+j/ZoPcCcIQAo/RGj/ZoPcahN0IAEIQgAQhVq+vbEwuebDhvJ4BAEs07WNLnENA3lJKrF3PyZeNvH+8cOI9UJRNihmfcnIaN+q35lWWPy/HenK+P8yIknhDNCB+O8ntKXVjU1l0S6obcLp09HGv/ACz0XFyy0rBWWp4t5EgW4KjClYFmykpFiFqa00ap0kaZAWSN0vg5fIs7w2usLC3a1JSngtFNkDaUtdtROMbt9vQd7TdD96Z0GOXcGSgRSHT7OT2Dx5HNQtaiWja9tnAEHcfv5FLTaZ2eLdbX17X2HYWUhpq99OQ2Ul8RsGzH0mHc2Tl+8noKyO5CamtRlCEILghCEACELBQBDWVbYmF7zZrRcleZYt0jdUyk6MHojgOPas9PulHXS9RGfMYfOI+s75Bc9DJZdTicf65f8KeeM6OlqE1p6lctT1CZ09QnZwNfNTOga+6qzhR09Sp5cwso9M5XLr60VTNsVqFYqWKuE/F6hKEtRu1TxDNV2q3StzVJvEVnLENaRlgrBK0iGS3C49s+zkSflI2aFOxq1jYrUUaRnYdDj0+QMjUzWoAWrpeCUlYdiurDMrAQQ4AgixB0I4FUMPq+peInEmJxtE92rHfZOPDge5W9dVWr6Zr2EO0Ov4EcwsPxKixqKUR6hJ8BxEuBiebyR2z+0j+rJ8+acJ+MlJajcEIQpAFzXTvpD5LSuIPnv81vad66QleH/ShjvXVZYD5seQ9r/hCKyYigqdq5OZJJJ5lXopUgp57JjFMu3RZsRaQ7imV6CdI4ZlfgmTfkjLywewVCaU891zsL0ypZVhNL4LO5SWSGEzFRKYA3CX10jWZuIaDpff2DU9ytVZ8M5UouE8BqZUTc1ykvSyFptcuPAWv4Xv8ABW6LpxED5zJG8zkPEtA+KzuujmJhbVY49JnahSxtSSg6UQS6PA5mxb3uBIHfZdFTMvnuy7LLi2zwSpok5Y0SwxqwclqXWUTnXzK585/J6GqlRRsXX7FguAVeWsA0S2qxEDU9yw8ZTGoxb6QxlrVTmreaS1OMcMksmxK+pWq4bfsahx38jSTF+qmZIDmwm49aI+k38V38Mwc0OabhwBB4g5heM1mIC3503hd59HGMdbTmMm7oTYf5bs2/iO5N11utYTbUoJNHXIQhaGJQxms6qB79LNJ+C+a8QqzJI951c4nxK9x+k2u6ugfbV1m+JAXgsjlMTKXsyJFap6lUC5Ya9MV2eJDWnQw1CY00q5eGqTSiq8007+hWyHR1dMU0gKQUlWFdlxIRsLsstL6X1ueQ1Sz5WM5c/JvEXsSx3qQGNBfI6waxo2jtHQBu9x4btTuvfwv6PHS/rsRe7MX8mjdYAHdLLqfZFgrX0edHNlnls4JllF4muzMcR0d7b9SeBsu0LQPOfmRnbXZGlwOOeqystcmdmijxivLti2gwiKEWp6eOMDQtjY3L2nZlXHMl3gEcLsPwICsMe4u/dt3doO9YhgIOosNre70d2qxGhDiHRalnP6yERSfVmiHUyg8nNyPiUjngqcLO0XGppb5vtsmMf4rR6PttFuI3j0J8YIsbEcCq7orDZd5zHZWdna4tsniENasZVwTE9NibJGCRpuDuyu02zaeeY7bg6FU63FQNT3DVctj9K7DKizCfJpr7IOfV21j/AISbjkSNwSurxjmoq4nk9ZKUV3JnQVeNndl96TVOLJFPiXNU5q5dCNMIl/xCXUUOJ8TKoy154pVJWKu+qWn5F6KO+TGM1Yuj+i/GerrwwnzZmuZ/EPOb9x8VwrqhW8FrjFURSD6kkbr8g4X+F1jZjRXybPpoIWI3XAPFCTNDzb6YZ7U8beLx8ASvG5HL1z6Yh+qh9t39C8ie1TH0ZP2RlywCsuYtQw/m6sSbB6ljqLaKERlZDCgq8HFJjFtU5ws+WVMFP9V8jQ72PSf/AKWkd65FrCu0+itn/VIb+rNbt6srLwW6ZqmPl5HuzGi9hYBgFhuGWQ7gsMcH6gZWzB53stKQ5Sf5knwyHwW8Mg2SRffra+QUjJHP1jzssIjAyMltp1+DQcu8qFuGyNzFRKTwkETmHuDQfAphG2wC2UkkUMhIs4WcNbaHmOS3c24ssHUeC3QByv0gYV1+HyjV8Q6xp3hzM/iLrw3y4lg10+5fRuItvHMDoWOv3xm6+Y+ssCLbypi2l0ZSWsnNQ4rIjcdSB3qiZeQ8StTLyHxUtyIxDHycb3tWRFHvclnW8ggS8h4BTsvuGL7DQGIb7qVk8XDcUn60rdjlGfqyV/o+ocBqNulgd60UR8WBCqdDT/0+l/yYv6AsKpovRyf0tQE08bhulHxYV4+9h5L3v6QqHbopP3erf4PAPwK8dmw83OW9TEpmsRFjkCE8SnbcNUzMOA3Kevg0VYiZSE8VPHQ8Qugjw0nkrcWFBVk89lJ2V1iCCk4NHgm+ATGmrqaZ2TRIGu5NddhPg4FNIsN7lFX4eHxloFzqO3h3qIRc3+VCseTKyfikexxWD3t3Os4cDlsuHwB71JtgG1gAfE8+xcn0Ix41MDY3m1TAADtZdYy1mydhGR4ELq2uDwcrEZEHUHgVPocNPKRHk82G559G24OO4rD8WhH95GeTXBxPYBclbtJbkdMram9zp+eKlZTtBuGtBO8AAoJIqdxcdogtH1Wn0s/rEbuxWSsKGWS+Q/iPDl2oAS9LcRENDPJvc1zW83OGy0LwTyAho+/jwK9V6VVvltQKeP8A7URJe4ei6QZED2b27SOBsrr8ByyFx+dOSxfJjXLxZauMZ6mzzZzSNwPaFEbb2juXV1eB8AlE+FkJ2ChZ6InRKApDGbxZbeTMO8hWX0VlE6lVpUmD1EDqYbisNj/H7lKadWKKjL3sYM9p7G+84D8Vk4tB5L7H0X0Xh2aKnbwhiHfsBCv0kWyxrRuAHcBYLKzNV6IMTpBJE5h0e1zT/ELD42Xkk1BpcWOYPJzTYheyvbcWXDY5h1p38H/rB2nJ494fEKr6KyednICgUjKMBNvJuCkZRW1Q5Ctl79C2Kjv2K02ANCsuatWRFxWtdDl3IXqqnfLF6K/VlxTjDsF0Lhc8Fbw/DNnM5lPIoNkXRdckvGB1YwjSvGH7nNYr0Zdttmpj1dQ03823ncctCCNWnI65HWzhvTJjiGVI8lmHmh5uInng15GXsOsQulijsLnVJMbwuKe4kaCSLbQydYaA8RyN0vW23gpfeqVo5bWuAvYPG5zd/PK4QMTO5jvz3Lgj0UdGSaeolhHqtLwB3Ndb/Sqk8NboayW3tO/Bo+9OQ485ejKvn1z9HoVZiQY0umeyFg1uQDbhcrkMT6Vvqv1NGHNZo6c3adn92/og+sczuBSOLo80uDppJJ3XvdxOR5XJI7iumoog1uy0Bo4AWF957ea0lxXBbIW5XPcVkEYwrCWRM2G/xO3uP4DlzOpuVedTg5HxWIwrrG3C5XK46l2L8LltPJMQVuEg7kgrcJ4hd4Y9xVGqoL7klTdKp4z0lV+ezzaqwq25LpaPku+rMNtok1Vhy7tPIUkbSqjNbE5J1Kn3QXCesr4crhhMh5bI83/UQtJaFdz9F+D2bJOR6Z2G+wwnMdrifBa2teOoSlW4vGd8AhZQlDQEm6QUW0zaAJLCXADUi3nt7259rQnK1e24/PiofZDWrDinwDItzBsQRpYqOSHJMp6fq5CzINcSWW+o6xJi5b3DlfgoJICQcs+CmqPfYlHjOTxirqi52Sb0VAG9qkpaLZ7U0p6da33YsR0m41x8YBT09s1ZYy57PvWxG5SsZYLn78meEU7rBKZimFY5LZE1RH5PP/1KzZYRPGRSmpizTcqjURrrUPDmUyxlBkavwBQCNWYmrS56jS6WlhoViIqFgUrVy5x1GNcsZaLLhR7N8it4XLeSPeFyL6dPR8a3yWC6po0oq8NvoupDbhVKqnABJsAASSdABmSSl6rXB4dKFjiziajDi5zY2+nI7ZHLe557Bcr0zCqFsMTI2izWtAA5AWF0k6N4dtvNQ4W2hsxg6th1BPBz8nHgNkLp12Yttdl7J+ctBCEKSgIQhAFLEMObI03GZtmMjkbtIO4g5gpZSi52H222jdkJG3t1jRu4EbjlwXQKhiFBt5i4cMw5ttoOtbaHdkQciMkBudkEcGautZYKpRV1zsPAbJna19mQDUsvv4tOY5jNXi1LS1y7IS3s1jbvUhWQFrJoozWS3i0XVbs1SerM5zVZy6FccR5Ply8pNmllBLGrBWrgm4dCSeMqGNSRtW7mrLWq8mWlLTYLdq1C2CVkisSeNW41TYrUZsLnIDUnQDik7YadjiS7w36uxSx48qk2W5wNd5x3TvafR5xtIz9Yi2gK2kmdVHYjuIfrSAkOmHBh1bH+9q7QZecnlJStjaGtAFgBkABYCwAA0A3BLw46UvJndj2iSOOwsP8Anmt0ITRoCEIQAIQhAAhCEAVK3D2yDPXLxGhyzBHEZhUo6x8R2ZA57dzhnIO0D0xzGfEb04WksIcLOAI4FQ1pBpTzte0OY4Oad7TcdixOckvqcHcCXxOLXdtnHtNiHfxA9qrS4xJHlMzsc2zSf4Sdnwd3KFFaZ2N+LJZVA4LX+043G20Gk6NfdhPZta9y3cnoI8tfF72RoWxQtkhNo1ssALdaSzNaLuIaOLiAPEoYYzNlsAl8mNx283ak5sHme+6zfitoaWpn0HUs4jUjm9w/pb3rKU4ocp4dtj6RaqMQZHkbucRcRsze4cbbhzNgs02HSVGctmx7ohmw8C4/3h5egP3tUww3o5HFr5zibkm9i7ibklx5uJ7k1ASspaeg4/DVS19s0ggDBYeO88yVIhCoPAhCEACEIQAIQhAAhCEACEIQALDmAixzHA6IQgBdUdH4X383Yv6hLQe1uh8Etk6GNB/VyOZ3W/oLVhCnSkoRl7RE/ozUD0Zh3ulH37Sj/Rqq+2b77/8A5rKFPnL7mX4Wl/SjdvROV3pz+BmP+9qsUvQqJpu5znHiAwH3rF3xQhQ5Nl401x9JDamwmKM3awX9Y3c73jcq3ZCFBqZQhCABCEIAEIQgAQhCAP/Z"/>
          <p:cNvSpPr>
            <a:spLocks noChangeAspect="1" noChangeArrowheads="1"/>
          </p:cNvSpPr>
          <p:nvPr/>
        </p:nvSpPr>
        <p:spPr bwMode="auto">
          <a:xfrm>
            <a:off x="597218" y="-108347"/>
            <a:ext cx="274320" cy="228601"/>
          </a:xfrm>
          <a:prstGeom prst="rect">
            <a:avLst/>
          </a:prstGeom>
          <a:noFill/>
        </p:spPr>
        <p:txBody>
          <a:bodyPr vert="horz" wrap="square" lIns="82296" tIns="41148" rIns="82296" bIns="41148" numCol="1" anchor="t" anchorCtr="0" compatLnSpc="1">
            <a:prstTxWarp prst="textNoShape">
              <a:avLst/>
            </a:prstTxWarp>
          </a:bodyPr>
          <a:lstStyle/>
          <a:p>
            <a:endParaRPr lang="zh-CN" altLang="en-US" sz="1620"/>
          </a:p>
        </p:txBody>
      </p:sp>
      <p:sp>
        <p:nvSpPr>
          <p:cNvPr id="25604" name="AutoShape 4" descr="data:image/jpg;base64,/9j/4AAQSkZJRgABAQAAAQABAAD/2wCEAAkGBhQSEBQUEhQQEBQUFA8VFBAQFRAUEBAPFBAVFBQQFBQYHCYeGBkjGRQUHy8gJScpLCwsFh4xQTAqNSYrLCkBCQoKDgwOGg8PGikkHyQsLCwsKSwpKSksLCwsLCwsLCkpLCwpKSkpLCwsLCwpKSwsKSwsKSwsKSwsLCwsLCwsLP/AABEIALgAtAMBIgACEQEDEQH/xAAcAAACAgMBAQAAAAAAAAAAAAAABQMEAQIGBwj/xABGEAABAwIDBAUIBgcHBQAAAAABAAIDBBEFITESQVFhBhNxgZEUIjJScpKh0QdCU7HB8BYjVGKCk7IVQ2NzosLxJTNE0tP/xAAaAQACAwEBAAAAAAAAAAAAAAAABAECAwUG/8QAKREAAgMAAgIBAgUFAAAAAAAAAAECAxEEIRIxQUJRFCJhkaEFFVJxgf/aAAwDAQACEQMRAD8A9r8kZ6jPdajyRnqM91qmQgCHyRnqM91vyR5Iz1Ge61TIQBB5Ez1Ge635I8ij9Rnut+SnQgCuaCP7OP3W/Ja/2bF9lF7jPkta3FY4vSdn6rc3HuXO4h0vfpG3Y5uzd4aD4rWuqdjyKKSnGPtnRHCYfsYf5bPkqk9LRt9JlKORbFfwXGVOISyem9x5Em3hooGs5p6P9On9Ukv5M3cvg698mH+pTHsiB/2qPrcO+zp/5I/9VzLWD83W4jCv/b4/5P8AYyfIz4OojZh50ZS98bR94VyLB6R3oxUrvZZGfuXHtjCsQ4eDplzGR+Cxnws9S/go+ao+0dd/YNP9hB/Lj+SwcAp/sIP5bPkkcHXx+hKSPVk85vzCvwdIi3KeMs/xI7uZ3jUJSVUomlfNpseJ9/r0XP0dpv2eD+Wz5LR3RilP/jwfy2fJMIKhr2hzCHA6EG4UiyGxQeiVJ+zQe41anodR/s0HuhOUIATfobR/s0HuhZHQ+j/ZoPcCcIQAo/RGj/ZoPcahN0IAEIQgAQhVq+vbEwuebDhvJ4BAEs07WNLnENA3lJKrF3PyZeNvH+8cOI9UJRNihmfcnIaN+q35lWWPy/HenK+P8yIknhDNCB+O8ntKXVjU1l0S6obcLp09HGv/ACz0XFyy0rBWWp4t5EgW4KjClYFmykpFiFqa00ap0kaZAWSN0vg5fIs7w2usLC3a1JSngtFNkDaUtdtROMbt9vQd7TdD96Z0GOXcGSgRSHT7OT2Dx5HNQtaiWja9tnAEHcfv5FLTaZ2eLdbX17X2HYWUhpq99OQ2Ul8RsGzH0mHc2Tl+8noKyO5CamtRlCEILghCEACELBQBDWVbYmF7zZrRcleZYt0jdUyk6MHojgOPas9PulHXS9RGfMYfOI+s75Bc9DJZdTicf65f8KeeM6OlqE1p6lctT1CZ09QnZwNfNTOga+6qzhR09Sp5cwso9M5XLr60VTNsVqFYqWKuE/F6hKEtRu1TxDNV2q3StzVJvEVnLENaRlgrBK0iGS3C49s+zkSflI2aFOxq1jYrUUaRnYdDj0+QMjUzWoAWrpeCUlYdiurDMrAQQ4AgixB0I4FUMPq+peInEmJxtE92rHfZOPDge5W9dVWr6Zr2EO0Ov4EcwsPxKixqKUR6hJ8BxEuBiebyR2z+0j+rJ8+acJ+MlJajcEIQpAFzXTvpD5LSuIPnv81vad66QleH/ShjvXVZYD5seQ9r/hCKyYigqdq5OZJJJ5lXopUgp57JjFMu3RZsRaQ7imV6CdI4ZlfgmTfkjLywewVCaU891zsL0ypZVhNL4LO5SWSGEzFRKYA3CX10jWZuIaDpff2DU9ytVZ8M5UouE8BqZUTc1ykvSyFptcuPAWv4Xv8ABW6LpxED5zJG8zkPEtA+KzuujmJhbVY49JnahSxtSSg6UQS6PA5mxb3uBIHfZdFTMvnuy7LLi2zwSpok5Y0SwxqwclqXWUTnXzK585/J6GqlRRsXX7FguAVeWsA0S2qxEDU9yw8ZTGoxb6QxlrVTmreaS1OMcMksmxK+pWq4bfsahx38jSTF+qmZIDmwm49aI+k38V38Mwc0OabhwBB4g5heM1mIC3503hd59HGMdbTmMm7oTYf5bs2/iO5N11utYTbUoJNHXIQhaGJQxms6qB79LNJ+C+a8QqzJI951c4nxK9x+k2u6ugfbV1m+JAXgsjlMTKXsyJFap6lUC5Ya9MV2eJDWnQw1CY00q5eGqTSiq8007+hWyHR1dMU0gKQUlWFdlxIRsLsstL6X1ueQ1Sz5WM5c/JvEXsSx3qQGNBfI6waxo2jtHQBu9x4btTuvfwv6PHS/rsRe7MX8mjdYAHdLLqfZFgrX0edHNlnls4JllF4muzMcR0d7b9SeBsu0LQPOfmRnbXZGlwOOeqystcmdmijxivLti2gwiKEWp6eOMDQtjY3L2nZlXHMl3gEcLsPwICsMe4u/dt3doO9YhgIOosNre70d2qxGhDiHRalnP6yERSfVmiHUyg8nNyPiUjngqcLO0XGppb5vtsmMf4rR6PttFuI3j0J8YIsbEcCq7orDZd5zHZWdna4tsniENasZVwTE9NibJGCRpuDuyu02zaeeY7bg6FU63FQNT3DVctj9K7DKizCfJpr7IOfV21j/AISbjkSNwSurxjmoq4nk9ZKUV3JnQVeNndl96TVOLJFPiXNU5q5dCNMIl/xCXUUOJ8TKoy154pVJWKu+qWn5F6KO+TGM1Yuj+i/GerrwwnzZmuZ/EPOb9x8VwrqhW8FrjFURSD6kkbr8g4X+F1jZjRXybPpoIWI3XAPFCTNDzb6YZ7U8beLx8ASvG5HL1z6Yh+qh9t39C8ie1TH0ZP2RlywCsuYtQw/m6sSbB6ljqLaKERlZDCgq8HFJjFtU5ws+WVMFP9V8jQ72PSf/AKWkd65FrCu0+itn/VIb+rNbt6srLwW6ZqmPl5HuzGi9hYBgFhuGWQ7gsMcH6gZWzB53stKQ5Sf5knwyHwW8Mg2SRffra+QUjJHP1jzssIjAyMltp1+DQcu8qFuGyNzFRKTwkETmHuDQfAphG2wC2UkkUMhIs4WcNbaHmOS3c24ssHUeC3QByv0gYV1+HyjV8Q6xp3hzM/iLrw3y4lg10+5fRuItvHMDoWOv3xm6+Y+ssCLbypi2l0ZSWsnNQ4rIjcdSB3qiZeQ8StTLyHxUtyIxDHycb3tWRFHvclnW8ggS8h4BTsvuGL7DQGIb7qVk8XDcUn60rdjlGfqyV/o+ocBqNulgd60UR8WBCqdDT/0+l/yYv6AsKpovRyf0tQE08bhulHxYV4+9h5L3v6QqHbopP3erf4PAPwK8dmw83OW9TEpmsRFjkCE8SnbcNUzMOA3Kevg0VYiZSE8VPHQ8Qugjw0nkrcWFBVk89lJ2V1iCCk4NHgm+ATGmrqaZ2TRIGu5NddhPg4FNIsN7lFX4eHxloFzqO3h3qIRc3+VCseTKyfikexxWD3t3Os4cDlsuHwB71JtgG1gAfE8+xcn0Ix41MDY3m1TAADtZdYy1mydhGR4ELq2uDwcrEZEHUHgVPocNPKRHk82G559G24OO4rD8WhH95GeTXBxPYBclbtJbkdMram9zp+eKlZTtBuGtBO8AAoJIqdxcdogtH1Wn0s/rEbuxWSsKGWS+Q/iPDl2oAS9LcRENDPJvc1zW83OGy0LwTyAho+/jwK9V6VVvltQKeP8A7URJe4ei6QZED2b27SOBsrr8ByyFx+dOSxfJjXLxZauMZ6mzzZzSNwPaFEbb2juXV1eB8AlE+FkJ2ChZ6InRKApDGbxZbeTMO8hWX0VlE6lVpUmD1EDqYbisNj/H7lKadWKKjL3sYM9p7G+84D8Vk4tB5L7H0X0Xh2aKnbwhiHfsBCv0kWyxrRuAHcBYLKzNV6IMTpBJE5h0e1zT/ELD42Xkk1BpcWOYPJzTYheyvbcWXDY5h1p38H/rB2nJ494fEKr6KyednICgUjKMBNvJuCkZRW1Q5Ctl79C2Kjv2K02ANCsuatWRFxWtdDl3IXqqnfLF6K/VlxTjDsF0Lhc8Fbw/DNnM5lPIoNkXRdckvGB1YwjSvGH7nNYr0Zdttmpj1dQ03823ncctCCNWnI65HWzhvTJjiGVI8lmHmh5uInng15GXsOsQulijsLnVJMbwuKe4kaCSLbQydYaA8RyN0vW23gpfeqVo5bWuAvYPG5zd/PK4QMTO5jvz3Lgj0UdGSaeolhHqtLwB3Ndb/Sqk8NboayW3tO/Bo+9OQ485ejKvn1z9HoVZiQY0umeyFg1uQDbhcrkMT6Vvqv1NGHNZo6c3adn92/og+sczuBSOLo80uDppJJ3XvdxOR5XJI7iumoog1uy0Bo4AWF957ea0lxXBbIW5XPcVkEYwrCWRM2G/xO3uP4DlzOpuVedTg5HxWIwrrG3C5XK46l2L8LltPJMQVuEg7kgrcJ4hd4Y9xVGqoL7klTdKp4z0lV+ezzaqwq25LpaPku+rMNtok1Vhy7tPIUkbSqjNbE5J1Kn3QXCesr4crhhMh5bI83/UQtJaFdz9F+D2bJOR6Z2G+wwnMdrifBa2teOoSlW4vGd8AhZQlDQEm6QUW0zaAJLCXADUi3nt7259rQnK1e24/PiofZDWrDinwDItzBsQRpYqOSHJMp6fq5CzINcSWW+o6xJi5b3DlfgoJICQcs+CmqPfYlHjOTxirqi52Sb0VAG9qkpaLZ7U0p6da33YsR0m41x8YBT09s1ZYy57PvWxG5SsZYLn78meEU7rBKZimFY5LZE1RH5PP/1KzZYRPGRSmpizTcqjURrrUPDmUyxlBkavwBQCNWYmrS56jS6WlhoViIqFgUrVy5x1GNcsZaLLhR7N8it4XLeSPeFyL6dPR8a3yWC6po0oq8NvoupDbhVKqnABJsAASSdABmSSl6rXB4dKFjiziajDi5zY2+nI7ZHLe557Bcr0zCqFsMTI2izWtAA5AWF0k6N4dtvNQ4W2hsxg6th1BPBz8nHgNkLp12Yttdl7J+ctBCEKSgIQhAFLEMObI03GZtmMjkbtIO4g5gpZSi52H222jdkJG3t1jRu4EbjlwXQKhiFBt5i4cMw5ttoOtbaHdkQciMkBudkEcGautZYKpRV1zsPAbJna19mQDUsvv4tOY5jNXi1LS1y7IS3s1jbvUhWQFrJoozWS3i0XVbs1SerM5zVZy6FccR5Ply8pNmllBLGrBWrgm4dCSeMqGNSRtW7mrLWq8mWlLTYLdq1C2CVkisSeNW41TYrUZsLnIDUnQDik7YadjiS7w36uxSx48qk2W5wNd5x3TvafR5xtIz9Yi2gK2kmdVHYjuIfrSAkOmHBh1bH+9q7QZecnlJStjaGtAFgBkABYCwAA0A3BLw46UvJndj2iSOOwsP8Anmt0ITRoCEIQAIQhAAhCEAVK3D2yDPXLxGhyzBHEZhUo6x8R2ZA57dzhnIO0D0xzGfEb04WksIcLOAI4FQ1pBpTzte0OY4Oad7TcdixOckvqcHcCXxOLXdtnHtNiHfxA9qrS4xJHlMzsc2zSf4Sdnwd3KFFaZ2N+LJZVA4LX+043G20Gk6NfdhPZta9y3cnoI8tfF72RoWxQtkhNo1ssALdaSzNaLuIaOLiAPEoYYzNlsAl8mNx283ak5sHme+6zfitoaWpn0HUs4jUjm9w/pb3rKU4ocp4dtj6RaqMQZHkbucRcRsze4cbbhzNgs02HSVGctmx7ohmw8C4/3h5egP3tUww3o5HFr5zibkm9i7ibklx5uJ7k1ASspaeg4/DVS19s0ggDBYeO88yVIhCoPAhCEACEIQAIQhAAhCEACEIQALDmAixzHA6IQgBdUdH4X383Yv6hLQe1uh8Etk6GNB/VyOZ3W/oLVhCnSkoRl7RE/ozUD0Zh3ulH37Sj/Rqq+2b77/8A5rKFPnL7mX4Wl/SjdvROV3pz+BmP+9qsUvQqJpu5znHiAwH3rF3xQhQ5Nl401x9JDamwmKM3awX9Y3c73jcq3ZCFBqZQhCABCEIAEIQgAQhCAP/Z"/>
          <p:cNvSpPr>
            <a:spLocks noChangeAspect="1" noChangeArrowheads="1"/>
          </p:cNvSpPr>
          <p:nvPr/>
        </p:nvSpPr>
        <p:spPr bwMode="auto">
          <a:xfrm>
            <a:off x="597218" y="-108347"/>
            <a:ext cx="274320" cy="228601"/>
          </a:xfrm>
          <a:prstGeom prst="rect">
            <a:avLst/>
          </a:prstGeom>
          <a:noFill/>
        </p:spPr>
        <p:txBody>
          <a:bodyPr vert="horz" wrap="square" lIns="82296" tIns="41148" rIns="82296" bIns="41148" numCol="1" anchor="t" anchorCtr="0" compatLnSpc="1">
            <a:prstTxWarp prst="textNoShape">
              <a:avLst/>
            </a:prstTxWarp>
          </a:bodyPr>
          <a:lstStyle/>
          <a:p>
            <a:endParaRPr lang="zh-CN" altLang="en-US" sz="1620"/>
          </a:p>
        </p:txBody>
      </p:sp>
      <p:sp>
        <p:nvSpPr>
          <p:cNvPr id="25606" name="AutoShape 6" descr="data:image/jpg;base64,/9j/4AAQSkZJRgABAQAAAQABAAD/2wCEAAkGBhISERUSEhQVFRQVGBUUFRgUFBQVGBUXFhcXFRQWFxUXHSYeFxkjGRQVHy8gIycpLCwsFR8xNTAqNSYrLCkBCQoKDgwOGg8PGiwkHyQsLCwsLCwsLCkqLSwpLCwsLCwqLCwpLCwsLCwsLCwsLCwpLCwpLCwpLCwsLCkpLCksKf/AABEIAOIA3wMBIgACEQEDEQH/xAAcAAEAAQUBAQAAAAAAAAAAAAAAAwECBAUGBwj/xABDEAABAwIDBQMKBAUCBQUAAAABAAIDBBEhMUEFElFhcQYTgQciMkJSkaGxwdFicoLwFCOS4fEzQyRTg6LCY3OTsrP/xAAaAQABBQEAAAAAAAAAAAAAAAAAAgMEBQYB/8QAMBEAAgIBBAADBwQCAwEAAAAAAAECAxEEEiExBRNBIlFhgZHR8DJCseFxoSNSkhT/2gAMAwEAAhEDEQA/APcUREAEREAEREAEREAEREAEREAEREAEREAEVk07WNLnuDWjElxAAHMnALk9p+UWFt207TM72vRjH6ji7wFuaVGEpPEUcbS7OvWDW7cgiwfI0HgDd39IxXndb2hqZr95KWt9mPzG25nM+JWrE+Pm4D4nnfNS46R/uY35qf6T0Sbtmz1GOPN5DB8bn4LDf2ukOXdt6Bzj78AuMY9Z1K3eNk6tPBCXNnTM7RSOPp+6Nv1Ky49ry+209Wj6LTRWAsFN3ts/ikOuPuEKcmdBDtg+s2/Np+hWwgqWvF2m/wAx1C5KGqBOBx8VnQzY3vY6EfVMyqXoOqb9TpEWHRVu95rsHD4jisxR2sDoREXACIiACIiACIiACIiACIiACItR2i7U09FHvzOxPoMbi+Q8Gt+psBqV1LPCA2znAYnJcTt/ynQxkx0oE8mRdf8AlNP5h6f6cOYXCdou2NTXEh57qDSJhzH/AKjvXPL0eWq1rHWbZlrn0fv0VlToG+bOPgV92uhDiPLNvXbRnqXb9TIX6huTG9GDAdc+ajFW1uA+C1bZjaxN8Tc8T9lc16nqEYLEREVKzmz6Gwkqy7SwV0JusOGWxyWSTYh2hSGiUsR9lG1paW+Z9y2UYDcATxtf4m608FeRzCm71z/3km2hvEn+o2j64jAEHwy8VCagk4lYkTSTYLPhouKbaHE1EmpHm+AvZbRlVxBHgtbDA5vo/MLMjc4Wvu4mwxtc8Mc8k1JCnJG0p6q9iPSbiM10UUm80OGouuVo5mmQtLgXgAloxLQcBfgug2U7zLeySPr9VEujjkVXLPBmoiJgdCIiACIiACIiACIiACKjnWxK887YduHOaWUzyyM3aZm+lLxbBwbxk/p4pyuuVktsRM5qC3S6M3tp5SY6UugpwJajI6si/ORm78A8SNfJ6uqfJIZp3ukldm52Z4ADJrRwGAVj3AGzR/bib6nmqMJJuR0Wh02khSsvlma1WunbxHiP8l28HYaa/ZZFOwA31y6DgFAFSWfdGGZy+6ly6INSlKajH1Lu8sbcDZTMesOGFzsdOJ/eKzoKUan3KNtbNDPUVV+y5c/D84Lmu0U8bldHA3h8SsqOnbwt0KbcRa1cGuE/z5l0IAz196zonk2GQ/eaxGUdsQb9c1n0sPFNtYOOxS6M+mYAFlRrHiCzIWYgan6Wv8x70ww3pE8TVranZ4bKZ6iYjEiBoOIvg2wGoJyHiVu4o1rdpUdMybv6h1zZoZHne2u6MTjxsOq5B4YzZLK/ME2wtnwQSd0H79Q4EvNybAWJ/LjxxK6zZPr9R+/kuV2Ps+np5C0O357OLicwLi+AwbmM8Suq2OcHdfuoupeeSVpeODYoiKETgiIgAiIgAiIgArJZmtaXOIa0AkkmwAGJJJyCTTNY0ucQ1rQSSTYADEknQLx3tn27dWOMcVxTNOuBlIye4ezwb4nQB+iiV0sRGL74Ux3SNr2s7bia7GX7jRuIM/4pNWxcG5u14Lha2ufI+5x+Ato0DQclAZHEn66lGttzviStFRp4UrCMzqtXO989ei+5Y0HXNVLlUq9kXFSSG36stYwlSMpwDc4nnkOgV91S6MCVZJdcFxcr4pFAXKjH4rj6CtYkbFj1kxPWujesuEqNJFxF4RsoXLYU7brApmXW5oIfOA6pmS4E+f7SSLhvhwYxl3Eb1ybNaL2u7U9BnyWdSUTWvBc8ulLXYk+rcX3WDBrQbfcrH2hEGua69sLAgFzySb7rGX3ScL3cDb4iWjqP5bQBbA+tvnEk4v8AWzz5phvjgfSe72zNpIGxB1i5xcd5xcbkmwHQCwGAWsr4Kcz78jgZHbrI2HGxGDTujE4m9zgs0PWmqth3c97H3qHHeb5wZuAkAusMcG4X+C5Bc5bOzfCSRsth7FjgJ84vkIAcTzx9HS5GZxNl2Wxh/LvxJPyXH7C2SadjgXbznHecedrWxxPXmu22fHaJo5X9+P1ULVyzLvJP0ccLrBkoiKETgiIgAiIgArXvABJIAGJJwAAzJKuK8g8ofbo1LnUtO7+Q02leP90j1QfYB/q6Zv0USultiM3XRpjukQdve3BrHGCA2pmnEj/ecNfyA5DXPhbkATjbAZeKo2+mA0VzGWWlqqjVHbEy2ovldLdL5fArG2yktfJWtbdZDRZPEOTwWNZZVVVG+W3hmTgB1KBKy2XEqzvr5AnoFiPqrnzQXnmDYdG/dUd354gcAQ34BIdkV2ydXobZrODLcHeyfiow5Y8T5m3ILgWjeOZwuBe2RFyPes9kglYXWAc30ra8CuqSl0IuonRzLorC9bOljJUGz6YEArZMqmsyxPFIeF1yxqUrLFy9sff9jZUkFhdyz4q2xG7zWhjqXOK2dFFmTkBieGp+CYsj6yHtPZHKjUvmxWzFzrtY1xBDN5zd/E47rW3HIkk2+m2hjwAAA6ZeHJQUkjXX7oF5sXXaLNccABvnAk+OAW4hgsMfH/Kh2WJcFtVRKTyzFlp3ljty29Yht8Bc4Ak/HwXPx7PqKZ5jh/mSvaC9wYTuC53Rc4Y4kk8luNvVc4synBvYue8AWaNBvOwGRJ8FkbE222UbjN9wjaN6R+G8Tyve5xONsklTko5xlfnY75UHLDeGvzg2UFMbsjuSfNBJzJ1PzK6gBabYsV3F50+Zy+HzW6VXZLMixqWEERE2OhERABEXJeUDtj/Bw7kZBqJQQwewMjIRy04noUuuErJKMexE5qEXKXSNF5TO2pF6Knd5xFp3g+iD/tg8TrwGGpt5mw6DLjzVQ7E3JLjcuJxuTiblGM960+nojTDavmZXVal3yy+vRFWMsrmtubKgFzYLIaywUghSlgNbbAK5CsKrq9BrkOPM8uSM4OV1yslhF9RVAfQDM/Yc1GykLsX4DRowt1V9LS2852Lj8P7rLVfdqG+Imj0ujjUsvstYwAWAsOSuUjqV4bvFrt3jY296jUTOSwMzY0QdUQtOTpGsPNrzuPHi1xHitZRQ7j5W8G2+IW12GAJ2vPoxXmd0iG+Pe4Nb+pa2kFw92r3WHRuf75KZpM5ZVeKNKrHqzJhcd0DT7m6zaalJUEZAWUyuOimtP9pnN6m82Nm2paUDNbKeVscYG9G0nE97lb1vNvd2gtzXPQ1pJxyzWe2oBO8QLjU42HI6KHZW2+S002ohFeyje7Oq3bm85xdc3F27gDRgLN0BtfHHFTy7QABJyAJPIDNaVs5Vs8rCNx5bjbAutfHDC981H8lZJv8A9cscE9Ftv+LD2bjmx2sTvYm/qiwwwvfqtjs+lZGN2Nu6CbnEm55krlodlPdMCW7kINwwEY2yu0HU2Juu47P0veSfhZieZ/z8ik6jbXH2RWmlO2WJfU6XZ1PuMF8ziep08BYeCykRUpehERABEVCUAa/b+246SB88hwaMBq5x9Fo5k/fReCbS2pJUTOnmN5JDe2jW+q1vAALe9vu1P8bUbrD/AMPCSGcHvydJ00HLquYDTvX/AH4LQ6HTeVHdLtmd8Q1XmS8uPS/2ysbMz8FcVXdUsLNVYlQ5epdGyw5q5VsoaqWwtlqeQXRpJyeCCsqQB8uZ+wVKKm9d2Zy+6ip4d928chgB9Fs2MuQBck4ADMk4ADxVfqLf2o0ui0yrjn1/Pz8Rk7N2ZJPII42lz3ZAfEk5NaNSvVuzXYKGmAdIBLN7Th5rT+Bpy/Mceiyex/ZhtJCAQDM8AyO56MH4W/crfk2VJbc5cLotoxwabthVRspJe8tZzXNAOpLTYDmvEOC6jt72mFVPuRm8UVw06Pd6zumFh05rnqWFpJc8kRsG9IRnbRrfxOPmjmb6FSaIOMf8jc5FaiUxwBjf9SoItyiYcP6pBfpDzULIwLAZNG6OfE+9W986R7p3AAv82NoyYwDdAHINAaOl1MArymvZH4mT1+p82zC6X5+fMo0KVisCq59hinitfJKccL2BztnbkpaMXG+O8dbGznYE8ANbcViR7xxDhbotrSuwCbmO1Pa8GbTyOIBcACcbXy5dVqZ3d1OJH2kecWtbcbujcx4BSS7QeZRHFbD0iRfr4BbFlCwv3yPOGO8ScLDPOwsEz+nsmp7jPjlIaCR5xwaBj5xz62+y9B2Fs3uYg0+kcXdeHh91ynYzZ3fymocP5cfmxg6n2vr7uC7xUWrt3S2r0NLo6dkdz7YREUMnBERABcJ5UO1PcxCliNpZh5xGbIsj0LsQOV11+19qMp4XzSGzWNLjz4AcybDxXgG1NoyVEklRJ6ch3jwa31WjkBYKw0On8ye59L+Su1+p8qG1dsw3sxAHgPqVkBqrCLj7qbcWiMrKfoRNjuVkhiligspN0DNKwRp2Z4MciwudMVi0kG+ZHu9GNoeRxe47kLPed48mlTV82G6NTj0GJVtLGRTtfpLJI63KINYz/wDSRR757Ylr4ZTvluZZHHYAD/J4+9dT5PtnCWuYTlEHSW5ts1v/AHOB8FzAWRRV8kL9+J7mOxF2mxscx0VRNOSZp1we/T1DWNL3uDWjElxAA6krzbtp29bNGYaYuDSbPda283UDUA/FcbXbWmm/1pXvtlvOJA6DIKGnp3PNm6Ykk2DRq5xOAHNMV0KLyxcp5FPTl7g0Wubm5NgAMS4nQAYkqypmbJ/LYT3EZuTaxmfa28RphgBoOZKvq5Q4GGK4iFu9eRZ0pGO6B6rQcm56uxwFrG2sALAZDh/dXGnox7Uig1+txmuHzLhx/YGgVQqKqmlAVuowd76XHvNlZI+5te3CykibbW/VArGFkyIxbBTsqmssHG11A0KIkNkBN3HhhhwXGNxWZGdVwySPaALMHrXHiePRbekonTSMpYs3W7w57jBxPxPgNVhOqN1oNruJ3WNz3ndBmB9gvSexnZv+Fi3pMZ5POkOdtQ2/LXn4Ks1l/lx2rsv/AAzT+a/Ml0jdUFE2GNsbBZrRYfc8zmshEVAaYIiIAIiwts7SEEL5D6oNr8dPDU8gV1LLwgPOfKrt7vJG0jD5jPPltq71W+HzvwXCQ4mxHhb4lZVTUF0he7F0hLzc5AnC/hj1upI2tGI114rVaepVVqJi9bqfNscvoI6dXhoBVklQoorn5qSV2G+WZD51C4k4lJHBouVhSzF2eAQ2KhDPRbUvBJtox/yKvo3uMTBe7AZLfhcSC4HqN0+/gomyDeHDEHocD81WkqpKV5sA9jhZzXC7JG6X4EXzGIx4qNfBzjwXvh9sa3tkZKKjttQHEU7weAn82/iwn4qo2jMf9JjIR7ViXf8AyPuR+myhKib9C1nqqoLLZkPp2xtDpnbgOLW2vI/8rNB+J1h1UL6t8gsB3UOYY0+c8j1nOzc7nkNAFBHTgEuJL3HEudc48ccSeZU6mVaeMeXyym1PiMp+zXwgwYDQDIDIf3V6jYrwpJUMqoZZuAuNUmntbgrWR2ugUo45ZfGwBTNUQKrDPcmwvb4/ZBySb5LonOc/UALLjhY0l5wAxJz93M5LGo43Fxc4264Cw48guq7G9mDWyCWQEUsRwBw754/8ePu1NmL7o1Q3Mf0+llqbdkevX895ufJ/2ZLyK2dtv+Qw+q32+vDxPBegqjW2FgqrL2WOyW5m1rrjXFQj0giImxwIiIALzvym7ZypwfzdLBzvgWt/6jl31ZUiON0jsmNLj0AuvCtu15lmke86lp63Ln2/USOjQrDw+rfbl9Ir/EbvKoeO3wYj5Gu8T/Uql3BRRU3nXHu4BZbYQ3zj/haMxsmlwRdwTnkqSVTW3AzWNWV1zYLEY/NcyOxqbWZEr5L4lQyTKySVQly4S4wLw/FZcNU4YA4cDiFhsCmYgJpPszWzu0sOgCrnnieagYpmldI0ljokBVytCF9l0bBwN1ZNITlgo3vviq74AuVwWo4L2tyvmr1aFZOCbAarpztl7iLY5fvJS0LbiwH9+d1FHS3s3E/vFbjs9sGSul7iHzYm27+W2AHsM4k/HPLNqy2Ncd0h2qiV8vLh/SRldmuzzq+XcbcU7CO+kHrnMMZ++fAH2SkpGRMbHG0NY0BrQMgAotlbKjpomwxN3WNFgOPEk6knElZazOovldLL6NfptNDTw2QCIijkkIiIAIiIA57tvWblMRxJc78sYMh95a1v6l402jLrFxxx8XHEn3r1XygS/wAmQH2Y4x/1Zbv/AO2H4ryqsfYk72J+DVfeGR/43L4mb8ZsbshWvdkmaWxtzudTzWtqq0uUEk98BkoC5WmSqrow8vsuc9Wb6tcgKQ2WMKc8lHFUaFWyuaF1M5ODiXtCmYFE1ShwXSNIlaFMOaxu+/eaNffFdGXFk7p+H7+ysaTh+8VRoUgQc4XQLcFRiq51hdY4mzNuiASbRNvuLrDTNXMgc5/TL9/VVpASDfrc4ADieAW27O9nZdoSGKG7IG276YjPXdbxJ0b4nRNW3RqjukPU0zunsgvn7hsDYctfKYIDaMW7+a2AB9VvG+g15Be17F2LFSwthhbusb73HVzjq48U2NsWGlhbDC3dY33k6ucdXHis5ZvUaiV0svo1Wm00NPDbEIiKMSQiIgAiIgAiIgDzfynV+63d1MrfcyEEfGVeUzOvmcdV3XlYnP8AF7nANeP1Ma2/vYV5/ZaTRR20Iz2sW/UP4YRdvKioChKltjcKeeQVRECSTEsIqFW6oAq2XURrGirSr23VoUgSyFJlzWqRgVgV4KBpkgVr5rYaqxk2egUkVjjZAjGOyr5Bfdz4qR0QtdxAaNT8gNTyUc8rIcXYvOIYM8ct72R8Su27H+TOWpLajaALI82QYtLh+MZsb+H0jrbIxNRqo0r4kvTaOd7TXEff9vv/ACazsn2Ol2g4E3ipGnF3rSEZhvtHS+TeZwXs2zdmRU8bYoWBjGiwA+JJ1JzJOJU8MLWtDWgNa0AANAAAGAAAwAV6z1t0rZZkaamiFMdsEERE0PBERABERABERABERAHkflloiKiGXR8bmeMbt75PXmxXu3lP2KZ6Fz2i74D3w5tAtIP6ST+leFyi2WRxHRaDQ2bqUvcVN9eLs+8tul1aVS6mHVAuVzVY0q8FCEz4WCqJdUulog2ZLwFeCo2OQi2KURmucMke4jJXtf6vv+qrTRudkCSeCOmjYd0AyyE2DWYi5yBcMz+FtykSnGCzJ4Exi5vbFZZMKe40DRiScAOp0Umzo5qmTuKGMyP1fawYD62ODG/ididBddR2e8lVVVlslc4wQ5tiaAHn9JuI+rru5NXrOx9hwUsYip42xsGNhmT7TnHFzuZJKqNR4hn2a/qW2n8MS9q7n4en9nLdifJhDRkTTET1Oe8b7kZ13AcS78Zx4buS7hEVS228suUkuEERFw6EREAEREAEREAEREAEREAUc2+BXgXbvss6hqHAt/4aVxMDwDZhOJidwI0GoAIuQQvflj11BHNG6KVjZI3izmvAc0jmCn6L5Uy3IatqVkcM+YpIi04+HA8wdVGvXNs+RsYmjm3Qce6nu9n6ZB5zfHePNcfX+Tutj9KlkPOBzJm/03D/AIK7r1dU13j/ACQnGyH6ln4r7fbJyoyV2i2U3Z+ZuDoqhvWln+jSrBsiT/lVJ/LSVJ/8U/5tf/ZfVDEpN/tl/wCX9jBQLe0vZCsfhHQ1Tv8A3Gsp2++Qgre7P8lO0n+l/C0zerqiT5bt/FNS1lMP3Z/wNeRdPhR+vH9/6OLjpHHzrWaNTYD3nBXwva5wZE19RIcmQtJF+brY+AXrGzvIvSAh1VLNVOGj3bjPBjdPFdtszY0FO3cgiZG3gxobfqRifFQrfEn1BD8PDc82P5L79/weRbG8lVdUi9S9tLEf9tmLyOYB/wDsf0r0vs12Ho6EfyIxv2sZH+dIePneqOTQByW/RVlls7HmTLKuqFaxBYCIibHQiIgAiIgAiIgAiIgAiIgAiIgAiIgAiIgAqIiACoiIAqqoiACIiACIiACIiACIiACIiACIiACIiACIiACIiACIiAP/2Q=="/>
          <p:cNvSpPr>
            <a:spLocks noChangeAspect="1" noChangeArrowheads="1"/>
          </p:cNvSpPr>
          <p:nvPr/>
        </p:nvSpPr>
        <p:spPr bwMode="auto">
          <a:xfrm>
            <a:off x="597218" y="-108347"/>
            <a:ext cx="274320" cy="228601"/>
          </a:xfrm>
          <a:prstGeom prst="rect">
            <a:avLst/>
          </a:prstGeom>
          <a:noFill/>
        </p:spPr>
        <p:txBody>
          <a:bodyPr vert="horz" wrap="square" lIns="82296" tIns="41148" rIns="82296" bIns="41148" numCol="1" anchor="t" anchorCtr="0" compatLnSpc="1">
            <a:prstTxWarp prst="textNoShape">
              <a:avLst/>
            </a:prstTxWarp>
          </a:bodyPr>
          <a:lstStyle/>
          <a:p>
            <a:endParaRPr lang="zh-CN" altLang="en-US" sz="1620"/>
          </a:p>
        </p:txBody>
      </p:sp>
    </p:spTree>
    <p:extLst>
      <p:ext uri="{BB962C8B-B14F-4D97-AF65-F5344CB8AC3E}">
        <p14:creationId xmlns:p14="http://schemas.microsoft.com/office/powerpoint/2010/main" val="3840771447"/>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23558"/>
                                        </p:tgtEl>
                                        <p:attrNameLst>
                                          <p:attrName>style.visibility</p:attrName>
                                        </p:attrNameLst>
                                      </p:cBhvr>
                                      <p:to>
                                        <p:strVal val="visible"/>
                                      </p:to>
                                    </p:set>
                                    <p:anim calcmode="lin" valueType="num">
                                      <p:cBhvr additive="base">
                                        <p:cTn id="7" dur="500"/>
                                        <p:tgtEl>
                                          <p:spTgt spid="23558"/>
                                        </p:tgtEl>
                                        <p:attrNameLst>
                                          <p:attrName>ppt_x</p:attrName>
                                        </p:attrNameLst>
                                      </p:cBhvr>
                                      <p:tavLst>
                                        <p:tav tm="0">
                                          <p:val>
                                            <p:strVal val="#ppt_x+#ppt_w*1.125000"/>
                                          </p:val>
                                        </p:tav>
                                        <p:tav tm="100000">
                                          <p:val>
                                            <p:strVal val="#ppt_x"/>
                                          </p:val>
                                        </p:tav>
                                      </p:tavLst>
                                    </p:anim>
                                    <p:animEffect transition="in" filter="wipe(left)">
                                      <p:cBhvr>
                                        <p:cTn id="8" dur="500"/>
                                        <p:tgtEl>
                                          <p:spTgt spid="23558"/>
                                        </p:tgtEl>
                                      </p:cBhvr>
                                    </p:animEffect>
                                  </p:childTnLst>
                                </p:cTn>
                              </p:par>
                              <p:par>
                                <p:cTn id="9" presetID="12" presetClass="entr" presetSubtype="2" fill="hold" grpId="0" nodeType="withEffect">
                                  <p:stCondLst>
                                    <p:cond delay="0"/>
                                  </p:stCondLst>
                                  <p:childTnLst>
                                    <p:set>
                                      <p:cBhvr>
                                        <p:cTn id="10" dur="1" fill="hold">
                                          <p:stCondLst>
                                            <p:cond delay="0"/>
                                          </p:stCondLst>
                                        </p:cTn>
                                        <p:tgtEl>
                                          <p:spTgt spid="23561"/>
                                        </p:tgtEl>
                                        <p:attrNameLst>
                                          <p:attrName>style.visibility</p:attrName>
                                        </p:attrNameLst>
                                      </p:cBhvr>
                                      <p:to>
                                        <p:strVal val="visible"/>
                                      </p:to>
                                    </p:set>
                                    <p:anim calcmode="lin" valueType="num">
                                      <p:cBhvr additive="base">
                                        <p:cTn id="11" dur="500"/>
                                        <p:tgtEl>
                                          <p:spTgt spid="23561"/>
                                        </p:tgtEl>
                                        <p:attrNameLst>
                                          <p:attrName>ppt_x</p:attrName>
                                        </p:attrNameLst>
                                      </p:cBhvr>
                                      <p:tavLst>
                                        <p:tav tm="0">
                                          <p:val>
                                            <p:strVal val="#ppt_x+#ppt_w*1.125000"/>
                                          </p:val>
                                        </p:tav>
                                        <p:tav tm="100000">
                                          <p:val>
                                            <p:strVal val="#ppt_x"/>
                                          </p:val>
                                        </p:tav>
                                      </p:tavLst>
                                    </p:anim>
                                    <p:animEffect transition="in" filter="wipe(left)">
                                      <p:cBhvr>
                                        <p:cTn id="12" dur="500"/>
                                        <p:tgtEl>
                                          <p:spTgt spid="23561"/>
                                        </p:tgtEl>
                                      </p:cBhvr>
                                    </p:animEffect>
                                  </p:childTnLst>
                                </p:cTn>
                              </p:par>
                              <p:par>
                                <p:cTn id="13" presetID="12" presetClass="entr" presetSubtype="2" fill="hold" grpId="0" nodeType="withEffect">
                                  <p:stCondLst>
                                    <p:cond delay="0"/>
                                  </p:stCondLst>
                                  <p:childTnLst>
                                    <p:set>
                                      <p:cBhvr>
                                        <p:cTn id="14" dur="1" fill="hold">
                                          <p:stCondLst>
                                            <p:cond delay="0"/>
                                          </p:stCondLst>
                                        </p:cTn>
                                        <p:tgtEl>
                                          <p:spTgt spid="23568"/>
                                        </p:tgtEl>
                                        <p:attrNameLst>
                                          <p:attrName>style.visibility</p:attrName>
                                        </p:attrNameLst>
                                      </p:cBhvr>
                                      <p:to>
                                        <p:strVal val="visible"/>
                                      </p:to>
                                    </p:set>
                                    <p:anim calcmode="lin" valueType="num">
                                      <p:cBhvr additive="base">
                                        <p:cTn id="15" dur="500"/>
                                        <p:tgtEl>
                                          <p:spTgt spid="23568"/>
                                        </p:tgtEl>
                                        <p:attrNameLst>
                                          <p:attrName>ppt_x</p:attrName>
                                        </p:attrNameLst>
                                      </p:cBhvr>
                                      <p:tavLst>
                                        <p:tav tm="0">
                                          <p:val>
                                            <p:strVal val="#ppt_x+#ppt_w*1.125000"/>
                                          </p:val>
                                        </p:tav>
                                        <p:tav tm="100000">
                                          <p:val>
                                            <p:strVal val="#ppt_x"/>
                                          </p:val>
                                        </p:tav>
                                      </p:tavLst>
                                    </p:anim>
                                    <p:animEffect transition="in" filter="wipe(left)">
                                      <p:cBhvr>
                                        <p:cTn id="16" dur="500"/>
                                        <p:tgtEl>
                                          <p:spTgt spid="23568"/>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57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56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57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56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23559"/>
                                        </p:tgtEl>
                                        <p:attrNameLst>
                                          <p:attrName>style.visibility</p:attrName>
                                        </p:attrNameLst>
                                      </p:cBhvr>
                                      <p:to>
                                        <p:strVal val="visible"/>
                                      </p:to>
                                    </p:set>
                                    <p:anim calcmode="lin" valueType="num">
                                      <p:cBhvr additive="base">
                                        <p:cTn id="31" dur="500"/>
                                        <p:tgtEl>
                                          <p:spTgt spid="23559"/>
                                        </p:tgtEl>
                                        <p:attrNameLst>
                                          <p:attrName>ppt_y</p:attrName>
                                        </p:attrNameLst>
                                      </p:cBhvr>
                                      <p:tavLst>
                                        <p:tav tm="0">
                                          <p:val>
                                            <p:strVal val="#ppt_y+#ppt_h*1.125000"/>
                                          </p:val>
                                        </p:tav>
                                        <p:tav tm="100000">
                                          <p:val>
                                            <p:strVal val="#ppt_y"/>
                                          </p:val>
                                        </p:tav>
                                      </p:tavLst>
                                    </p:anim>
                                    <p:animEffect transition="in" filter="wipe(up)">
                                      <p:cBhvr>
                                        <p:cTn id="32" dur="500"/>
                                        <p:tgtEl>
                                          <p:spTgt spid="23559"/>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23570"/>
                                        </p:tgtEl>
                                        <p:attrNameLst>
                                          <p:attrName>style.visibility</p:attrName>
                                        </p:attrNameLst>
                                      </p:cBhvr>
                                      <p:to>
                                        <p:strVal val="visible"/>
                                      </p:to>
                                    </p:set>
                                    <p:anim calcmode="lin" valueType="num">
                                      <p:cBhvr additive="base">
                                        <p:cTn id="35" dur="500"/>
                                        <p:tgtEl>
                                          <p:spTgt spid="23570"/>
                                        </p:tgtEl>
                                        <p:attrNameLst>
                                          <p:attrName>ppt_y</p:attrName>
                                        </p:attrNameLst>
                                      </p:cBhvr>
                                      <p:tavLst>
                                        <p:tav tm="0">
                                          <p:val>
                                            <p:strVal val="#ppt_y+#ppt_h*1.125000"/>
                                          </p:val>
                                        </p:tav>
                                        <p:tav tm="100000">
                                          <p:val>
                                            <p:strVal val="#ppt_y"/>
                                          </p:val>
                                        </p:tav>
                                      </p:tavLst>
                                    </p:anim>
                                    <p:animEffect transition="in" filter="wipe(up)">
                                      <p:cBhvr>
                                        <p:cTn id="36" dur="500"/>
                                        <p:tgtEl>
                                          <p:spTgt spid="23570"/>
                                        </p:tgtEl>
                                      </p:cBhvr>
                                    </p:animEffect>
                                  </p:childTnLst>
                                </p:cTn>
                              </p:par>
                              <p:par>
                                <p:cTn id="37" presetID="12" presetClass="entr" presetSubtype="4" fill="hold" grpId="0" nodeType="withEffect">
                                  <p:stCondLst>
                                    <p:cond delay="0"/>
                                  </p:stCondLst>
                                  <p:childTnLst>
                                    <p:set>
                                      <p:cBhvr>
                                        <p:cTn id="38" dur="1" fill="hold">
                                          <p:stCondLst>
                                            <p:cond delay="0"/>
                                          </p:stCondLst>
                                        </p:cTn>
                                        <p:tgtEl>
                                          <p:spTgt spid="23564"/>
                                        </p:tgtEl>
                                        <p:attrNameLst>
                                          <p:attrName>style.visibility</p:attrName>
                                        </p:attrNameLst>
                                      </p:cBhvr>
                                      <p:to>
                                        <p:strVal val="visible"/>
                                      </p:to>
                                    </p:set>
                                    <p:anim calcmode="lin" valueType="num">
                                      <p:cBhvr additive="base">
                                        <p:cTn id="39" dur="500"/>
                                        <p:tgtEl>
                                          <p:spTgt spid="23564"/>
                                        </p:tgtEl>
                                        <p:attrNameLst>
                                          <p:attrName>ppt_y</p:attrName>
                                        </p:attrNameLst>
                                      </p:cBhvr>
                                      <p:tavLst>
                                        <p:tav tm="0">
                                          <p:val>
                                            <p:strVal val="#ppt_y+#ppt_h*1.125000"/>
                                          </p:val>
                                        </p:tav>
                                        <p:tav tm="100000">
                                          <p:val>
                                            <p:strVal val="#ppt_y"/>
                                          </p:val>
                                        </p:tav>
                                      </p:tavLst>
                                    </p:anim>
                                    <p:animEffect transition="in" filter="wipe(up)">
                                      <p:cBhvr>
                                        <p:cTn id="40" dur="500"/>
                                        <p:tgtEl>
                                          <p:spTgt spid="23564"/>
                                        </p:tgtEl>
                                      </p:cBhvr>
                                    </p:animEffect>
                                  </p:childTnLst>
                                </p:cTn>
                              </p:par>
                            </p:childTnLst>
                          </p:cTn>
                        </p:par>
                      </p:childTnLst>
                    </p:cTn>
                  </p:par>
                  <p:par>
                    <p:cTn id="41" fill="hold">
                      <p:stCondLst>
                        <p:cond delay="indefinite"/>
                      </p:stCondLst>
                      <p:childTnLst>
                        <p:par>
                          <p:cTn id="42" fill="hold">
                            <p:stCondLst>
                              <p:cond delay="0"/>
                            </p:stCondLst>
                            <p:childTnLst>
                              <p:par>
                                <p:cTn id="43" presetID="16" presetClass="entr" presetSubtype="37"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barn(outVertical)">
                                      <p:cBhvr>
                                        <p:cTn id="4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animBg="1"/>
      <p:bldP spid="23559" grpId="0" animBg="1"/>
      <p:bldP spid="23561" grpId="0" animBg="1"/>
      <p:bldP spid="23564" grpId="0" animBg="1"/>
      <p:bldP spid="23565" grpId="0" animBg="1"/>
      <p:bldP spid="23566" grpId="0" animBg="1"/>
      <p:bldP spid="23568" grpId="0"/>
      <p:bldP spid="23570" grpId="0"/>
      <p:bldP spid="23571" grpId="0"/>
      <p:bldP spid="23572"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646D63-E8D3-74DB-3F78-CC70FCC8C2CE}"/>
              </a:ext>
            </a:extLst>
          </p:cNvPr>
          <p:cNvSpPr>
            <a:spLocks noGrp="1"/>
          </p:cNvSpPr>
          <p:nvPr>
            <p:ph type="title"/>
          </p:nvPr>
        </p:nvSpPr>
        <p:spPr>
          <a:xfrm>
            <a:off x="499254" y="300036"/>
            <a:ext cx="6215062" cy="421482"/>
          </a:xfrm>
        </p:spPr>
        <p:txBody>
          <a:bodyPr/>
          <a:lstStyle/>
          <a:p>
            <a:r>
              <a:rPr lang="zh-CN" altLang="en-US" sz="2900" dirty="0"/>
              <a:t>数据兼容性更复杂的案例</a:t>
            </a:r>
          </a:p>
        </p:txBody>
      </p:sp>
      <p:pic>
        <p:nvPicPr>
          <p:cNvPr id="5" name="图片 4">
            <a:extLst>
              <a:ext uri="{FF2B5EF4-FFF2-40B4-BE49-F238E27FC236}">
                <a16:creationId xmlns:a16="http://schemas.microsoft.com/office/drawing/2014/main" id="{EF490304-3AFA-9EA9-E3EA-E3BF30502E0C}"/>
              </a:ext>
            </a:extLst>
          </p:cNvPr>
          <p:cNvPicPr>
            <a:picLocks noChangeAspect="1"/>
          </p:cNvPicPr>
          <p:nvPr/>
        </p:nvPicPr>
        <p:blipFill>
          <a:blip r:embed="rId2"/>
          <a:stretch>
            <a:fillRect/>
          </a:stretch>
        </p:blipFill>
        <p:spPr>
          <a:xfrm>
            <a:off x="670520" y="2870343"/>
            <a:ext cx="2430270" cy="1620180"/>
          </a:xfrm>
          <a:prstGeom prst="rect">
            <a:avLst/>
          </a:prstGeom>
        </p:spPr>
      </p:pic>
      <p:sp>
        <p:nvSpPr>
          <p:cNvPr id="12" name="右箭头 11">
            <a:extLst>
              <a:ext uri="{FF2B5EF4-FFF2-40B4-BE49-F238E27FC236}">
                <a16:creationId xmlns:a16="http://schemas.microsoft.com/office/drawing/2014/main" id="{9B0B736E-261A-09BD-D64B-F3F649764D6E}"/>
              </a:ext>
            </a:extLst>
          </p:cNvPr>
          <p:cNvSpPr/>
          <p:nvPr/>
        </p:nvSpPr>
        <p:spPr>
          <a:xfrm rot="5400000">
            <a:off x="1253785" y="2222271"/>
            <a:ext cx="777686" cy="388843"/>
          </a:xfrm>
          <a:prstGeom prst="rightArrow">
            <a:avLst>
              <a:gd name="adj1" fmla="val 50000"/>
              <a:gd name="adj2" fmla="val 80407"/>
            </a:avLst>
          </a:prstGeom>
          <a:gradFill flip="none" rotWithShape="1">
            <a:gsLst>
              <a:gs pos="0">
                <a:srgbClr val="E3C96C"/>
              </a:gs>
              <a:gs pos="100000">
                <a:srgbClr val="FFFFF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latin typeface="Microsoft YaHei" panose="020B0503020204020204" pitchFamily="34" charset="-122"/>
              <a:ea typeface="Microsoft YaHei" panose="020B0503020204020204" pitchFamily="34" charset="-122"/>
            </a:endParaRPr>
          </a:p>
        </p:txBody>
      </p:sp>
      <p:sp>
        <p:nvSpPr>
          <p:cNvPr id="13" name="右箭头 12">
            <a:extLst>
              <a:ext uri="{FF2B5EF4-FFF2-40B4-BE49-F238E27FC236}">
                <a16:creationId xmlns:a16="http://schemas.microsoft.com/office/drawing/2014/main" id="{FCABDA86-FE03-4FB4-AD3D-071D3D53C31D}"/>
              </a:ext>
            </a:extLst>
          </p:cNvPr>
          <p:cNvSpPr/>
          <p:nvPr/>
        </p:nvSpPr>
        <p:spPr>
          <a:xfrm rot="19805465">
            <a:off x="2327691" y="2485643"/>
            <a:ext cx="900312" cy="388843"/>
          </a:xfrm>
          <a:prstGeom prst="rightArrow">
            <a:avLst>
              <a:gd name="adj1" fmla="val 50000"/>
              <a:gd name="adj2" fmla="val 80407"/>
            </a:avLst>
          </a:prstGeom>
          <a:gradFill flip="none" rotWithShape="1">
            <a:gsLst>
              <a:gs pos="0">
                <a:srgbClr val="E3C96C"/>
              </a:gs>
              <a:gs pos="100000">
                <a:srgbClr val="FFFFF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latin typeface="Microsoft YaHei" panose="020B0503020204020204" pitchFamily="34" charset="-122"/>
              <a:ea typeface="Microsoft YaHei" panose="020B0503020204020204" pitchFamily="34" charset="-122"/>
            </a:endParaRPr>
          </a:p>
        </p:txBody>
      </p:sp>
      <p:sp>
        <p:nvSpPr>
          <p:cNvPr id="14" name="右箭头 13">
            <a:extLst>
              <a:ext uri="{FF2B5EF4-FFF2-40B4-BE49-F238E27FC236}">
                <a16:creationId xmlns:a16="http://schemas.microsoft.com/office/drawing/2014/main" id="{5C7711D4-D695-541C-5DE9-9F8F99FB7BA6}"/>
              </a:ext>
            </a:extLst>
          </p:cNvPr>
          <p:cNvSpPr/>
          <p:nvPr/>
        </p:nvSpPr>
        <p:spPr>
          <a:xfrm>
            <a:off x="4753374" y="2351885"/>
            <a:ext cx="728618" cy="388843"/>
          </a:xfrm>
          <a:prstGeom prst="rightArrow">
            <a:avLst>
              <a:gd name="adj1" fmla="val 50000"/>
              <a:gd name="adj2" fmla="val 80407"/>
            </a:avLst>
          </a:prstGeom>
          <a:gradFill flip="none" rotWithShape="1">
            <a:gsLst>
              <a:gs pos="0">
                <a:srgbClr val="E3C96C"/>
              </a:gs>
              <a:gs pos="100000">
                <a:srgbClr val="FFFFF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latin typeface="Microsoft YaHei" panose="020B0503020204020204" pitchFamily="34" charset="-122"/>
              <a:ea typeface="Microsoft YaHei" panose="020B0503020204020204" pitchFamily="34" charset="-122"/>
            </a:endParaRPr>
          </a:p>
        </p:txBody>
      </p:sp>
      <p:grpSp>
        <p:nvGrpSpPr>
          <p:cNvPr id="15" name="组 12">
            <a:extLst>
              <a:ext uri="{FF2B5EF4-FFF2-40B4-BE49-F238E27FC236}">
                <a16:creationId xmlns:a16="http://schemas.microsoft.com/office/drawing/2014/main" id="{F3B6DBAE-FFAF-3107-BDA1-43DD1DAA77E9}"/>
              </a:ext>
            </a:extLst>
          </p:cNvPr>
          <p:cNvGrpSpPr/>
          <p:nvPr/>
        </p:nvGrpSpPr>
        <p:grpSpPr>
          <a:xfrm>
            <a:off x="7345661" y="861320"/>
            <a:ext cx="1231337" cy="3694010"/>
            <a:chOff x="7380312" y="1201316"/>
            <a:chExt cx="1368152" cy="4104456"/>
          </a:xfrm>
        </p:grpSpPr>
        <p:sp>
          <p:nvSpPr>
            <p:cNvPr id="16" name="圆角矩形 15">
              <a:extLst>
                <a:ext uri="{FF2B5EF4-FFF2-40B4-BE49-F238E27FC236}">
                  <a16:creationId xmlns:a16="http://schemas.microsoft.com/office/drawing/2014/main" id="{590DDABE-46BA-E1C6-114A-55800D898831}"/>
                </a:ext>
              </a:extLst>
            </p:cNvPr>
            <p:cNvSpPr/>
            <p:nvPr/>
          </p:nvSpPr>
          <p:spPr>
            <a:xfrm>
              <a:off x="7380312" y="1201316"/>
              <a:ext cx="1368152" cy="4104456"/>
            </a:xfrm>
            <a:prstGeom prst="roundRect">
              <a:avLst/>
            </a:prstGeom>
            <a:solidFill>
              <a:srgbClr val="CCFFCC"/>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dirty="0">
                <a:latin typeface="Microsoft YaHei" panose="020B0503020204020204" pitchFamily="34" charset="-122"/>
                <a:ea typeface="Microsoft YaHei" panose="020B0503020204020204" pitchFamily="34" charset="-122"/>
              </a:endParaRPr>
            </a:p>
          </p:txBody>
        </p:sp>
        <p:pic>
          <p:nvPicPr>
            <p:cNvPr id="17" name="Picture 3" descr="http://macosfile.it168.com/month_0806/20080626_821aaf230d860ec160d2UFCRmGFH8UWe.jpg">
              <a:extLst>
                <a:ext uri="{FF2B5EF4-FFF2-40B4-BE49-F238E27FC236}">
                  <a16:creationId xmlns:a16="http://schemas.microsoft.com/office/drawing/2014/main" id="{11C3A008-430A-2AFA-44F4-9DD3F9C3B6DD}"/>
                </a:ext>
              </a:extLst>
            </p:cNvPr>
            <p:cNvPicPr>
              <a:picLocks noChangeAspect="1" noChangeArrowheads="1"/>
            </p:cNvPicPr>
            <p:nvPr/>
          </p:nvPicPr>
          <p:blipFill>
            <a:blip r:embed="rId3" cstate="print"/>
            <a:srcRect/>
            <a:stretch>
              <a:fillRect/>
            </a:stretch>
          </p:blipFill>
          <p:spPr bwMode="auto">
            <a:xfrm>
              <a:off x="7596336" y="2713484"/>
              <a:ext cx="864096" cy="861696"/>
            </a:xfrm>
            <a:prstGeom prst="rect">
              <a:avLst/>
            </a:prstGeom>
            <a:noFill/>
          </p:spPr>
        </p:pic>
        <p:pic>
          <p:nvPicPr>
            <p:cNvPr id="18" name="Picture 7" descr="http://strongwillow.net/voyage/wp-content/uploads/2010/10/openoffice4pu.png">
              <a:extLst>
                <a:ext uri="{FF2B5EF4-FFF2-40B4-BE49-F238E27FC236}">
                  <a16:creationId xmlns:a16="http://schemas.microsoft.com/office/drawing/2014/main" id="{3DC3F60E-3DBA-A111-05E6-0E6E1E5469B9}"/>
                </a:ext>
              </a:extLst>
            </p:cNvPr>
            <p:cNvPicPr>
              <a:picLocks noChangeAspect="1" noChangeArrowheads="1"/>
            </p:cNvPicPr>
            <p:nvPr/>
          </p:nvPicPr>
          <p:blipFill>
            <a:blip r:embed="rId4" cstate="print"/>
            <a:srcRect/>
            <a:stretch>
              <a:fillRect/>
            </a:stretch>
          </p:blipFill>
          <p:spPr bwMode="auto">
            <a:xfrm>
              <a:off x="7524328" y="4585692"/>
              <a:ext cx="1145652" cy="648072"/>
            </a:xfrm>
            <a:prstGeom prst="rect">
              <a:avLst/>
            </a:prstGeom>
            <a:noFill/>
          </p:spPr>
        </p:pic>
        <p:pic>
          <p:nvPicPr>
            <p:cNvPr id="19" name="Picture 2" descr="http://macosfile.it168.com/month_0806/20080626_690e5e56ef15d394b7c1fIZAKxXxX3za.jpg">
              <a:extLst>
                <a:ext uri="{FF2B5EF4-FFF2-40B4-BE49-F238E27FC236}">
                  <a16:creationId xmlns:a16="http://schemas.microsoft.com/office/drawing/2014/main" id="{AEF6E7A1-DB8A-BD9A-803A-BCF8A41C3AE5}"/>
                </a:ext>
              </a:extLst>
            </p:cNvPr>
            <p:cNvPicPr>
              <a:picLocks noChangeAspect="1" noChangeArrowheads="1"/>
            </p:cNvPicPr>
            <p:nvPr/>
          </p:nvPicPr>
          <p:blipFill>
            <a:blip r:embed="rId5" cstate="print"/>
            <a:srcRect/>
            <a:stretch>
              <a:fillRect/>
            </a:stretch>
          </p:blipFill>
          <p:spPr bwMode="auto">
            <a:xfrm>
              <a:off x="7596336" y="3649588"/>
              <a:ext cx="1008112" cy="908415"/>
            </a:xfrm>
            <a:prstGeom prst="rect">
              <a:avLst/>
            </a:prstGeom>
            <a:noFill/>
          </p:spPr>
        </p:pic>
        <p:pic>
          <p:nvPicPr>
            <p:cNvPr id="20" name="Picture 15" descr="http://new.51cto.com/files/uploadimg/20081126/1007468.jpg">
              <a:extLst>
                <a:ext uri="{FF2B5EF4-FFF2-40B4-BE49-F238E27FC236}">
                  <a16:creationId xmlns:a16="http://schemas.microsoft.com/office/drawing/2014/main" id="{3D6B00E5-0302-E790-5718-4A0D4F4A37AF}"/>
                </a:ext>
              </a:extLst>
            </p:cNvPr>
            <p:cNvPicPr>
              <a:picLocks noChangeAspect="1" noChangeArrowheads="1"/>
            </p:cNvPicPr>
            <p:nvPr/>
          </p:nvPicPr>
          <p:blipFill>
            <a:blip r:embed="rId6" cstate="print"/>
            <a:srcRect/>
            <a:stretch>
              <a:fillRect/>
            </a:stretch>
          </p:blipFill>
          <p:spPr bwMode="auto">
            <a:xfrm>
              <a:off x="7668344" y="1777380"/>
              <a:ext cx="791018" cy="864096"/>
            </a:xfrm>
            <a:prstGeom prst="rect">
              <a:avLst/>
            </a:prstGeom>
            <a:noFill/>
          </p:spPr>
        </p:pic>
        <p:sp>
          <p:nvSpPr>
            <p:cNvPr id="21" name="文本框 20">
              <a:extLst>
                <a:ext uri="{FF2B5EF4-FFF2-40B4-BE49-F238E27FC236}">
                  <a16:creationId xmlns:a16="http://schemas.microsoft.com/office/drawing/2014/main" id="{D2F2710C-B35B-2E32-5206-3B138FADB048}"/>
                </a:ext>
              </a:extLst>
            </p:cNvPr>
            <p:cNvSpPr txBox="1"/>
            <p:nvPr/>
          </p:nvSpPr>
          <p:spPr>
            <a:xfrm>
              <a:off x="7524328" y="1201316"/>
              <a:ext cx="1080120" cy="595035"/>
            </a:xfrm>
            <a:prstGeom prst="rect">
              <a:avLst/>
            </a:prstGeom>
            <a:noFill/>
          </p:spPr>
          <p:txBody>
            <a:bodyPr wrap="square" rtlCol="0">
              <a:spAutoFit/>
            </a:bodyPr>
            <a:lstStyle/>
            <a:p>
              <a:pPr algn="ctr"/>
              <a:r>
                <a:rPr kumimoji="1" lang="zh-CN" altLang="en-US" sz="1440" dirty="0">
                  <a:solidFill>
                    <a:srgbClr val="FF6600"/>
                  </a:solidFill>
                  <a:latin typeface="Microsoft YaHei" panose="020B0503020204020204" pitchFamily="34" charset="-122"/>
                  <a:ea typeface="Microsoft YaHei" panose="020B0503020204020204" pitchFamily="34" charset="-122"/>
                </a:rPr>
                <a:t>导入下列格式文件</a:t>
              </a:r>
            </a:p>
          </p:txBody>
        </p:sp>
      </p:grpSp>
      <p:sp>
        <p:nvSpPr>
          <p:cNvPr id="22" name="右箭头 21">
            <a:extLst>
              <a:ext uri="{FF2B5EF4-FFF2-40B4-BE49-F238E27FC236}">
                <a16:creationId xmlns:a16="http://schemas.microsoft.com/office/drawing/2014/main" id="{6F97DAC8-834A-FB3F-D50B-CDD8C5439FCE}"/>
              </a:ext>
            </a:extLst>
          </p:cNvPr>
          <p:cNvSpPr/>
          <p:nvPr/>
        </p:nvSpPr>
        <p:spPr>
          <a:xfrm>
            <a:off x="6697589" y="2416693"/>
            <a:ext cx="599004" cy="388843"/>
          </a:xfrm>
          <a:prstGeom prst="rightArrow">
            <a:avLst>
              <a:gd name="adj1" fmla="val 50000"/>
              <a:gd name="adj2" fmla="val 80407"/>
            </a:avLst>
          </a:prstGeom>
          <a:gradFill flip="none" rotWithShape="1">
            <a:gsLst>
              <a:gs pos="0">
                <a:srgbClr val="E3C96C"/>
              </a:gs>
              <a:gs pos="100000">
                <a:srgbClr val="FFFFF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a:latin typeface="Microsoft YaHei" panose="020B0503020204020204" pitchFamily="34" charset="-122"/>
              <a:ea typeface="Microsoft YaHei" panose="020B0503020204020204" pitchFamily="34" charset="-122"/>
            </a:endParaRPr>
          </a:p>
        </p:txBody>
      </p:sp>
      <p:grpSp>
        <p:nvGrpSpPr>
          <p:cNvPr id="23" name="组 14">
            <a:extLst>
              <a:ext uri="{FF2B5EF4-FFF2-40B4-BE49-F238E27FC236}">
                <a16:creationId xmlns:a16="http://schemas.microsoft.com/office/drawing/2014/main" id="{2C5A551E-1BC1-92A1-259A-485875BBBBE8}"/>
              </a:ext>
            </a:extLst>
          </p:cNvPr>
          <p:cNvGrpSpPr/>
          <p:nvPr/>
        </p:nvGrpSpPr>
        <p:grpSpPr>
          <a:xfrm>
            <a:off x="5428329" y="861320"/>
            <a:ext cx="1364631" cy="3694010"/>
            <a:chOff x="5465968" y="1273324"/>
            <a:chExt cx="1516257" cy="4104456"/>
          </a:xfrm>
        </p:grpSpPr>
        <p:sp>
          <p:nvSpPr>
            <p:cNvPr id="24" name="圆角矩形 23">
              <a:extLst>
                <a:ext uri="{FF2B5EF4-FFF2-40B4-BE49-F238E27FC236}">
                  <a16:creationId xmlns:a16="http://schemas.microsoft.com/office/drawing/2014/main" id="{B30D264F-0D5F-26E6-DAD3-6FB40E9D479F}"/>
                </a:ext>
              </a:extLst>
            </p:cNvPr>
            <p:cNvSpPr/>
            <p:nvPr/>
          </p:nvSpPr>
          <p:spPr>
            <a:xfrm>
              <a:off x="5508104" y="1273324"/>
              <a:ext cx="1368152" cy="4104456"/>
            </a:xfrm>
            <a:prstGeom prst="roundRect">
              <a:avLst/>
            </a:prstGeom>
            <a:solidFill>
              <a:schemeClr val="accent1">
                <a:lumMod val="9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dirty="0">
                <a:latin typeface="Microsoft YaHei" panose="020B0503020204020204" pitchFamily="34" charset="-122"/>
                <a:ea typeface="Microsoft YaHei" panose="020B0503020204020204" pitchFamily="34" charset="-122"/>
              </a:endParaRPr>
            </a:p>
          </p:txBody>
        </p:sp>
        <p:pic>
          <p:nvPicPr>
            <p:cNvPr id="25" name="图片 24">
              <a:extLst>
                <a:ext uri="{FF2B5EF4-FFF2-40B4-BE49-F238E27FC236}">
                  <a16:creationId xmlns:a16="http://schemas.microsoft.com/office/drawing/2014/main" id="{5A2F0922-ABB5-AC86-4C4D-AFF3CAB0924C}"/>
                </a:ext>
              </a:extLst>
            </p:cNvPr>
            <p:cNvPicPr>
              <a:picLocks noChangeAspect="1"/>
            </p:cNvPicPr>
            <p:nvPr/>
          </p:nvPicPr>
          <p:blipFill>
            <a:blip r:embed="rId7"/>
            <a:stretch>
              <a:fillRect/>
            </a:stretch>
          </p:blipFill>
          <p:spPr>
            <a:xfrm>
              <a:off x="5580112" y="2065412"/>
              <a:ext cx="792088" cy="797999"/>
            </a:xfrm>
            <a:prstGeom prst="rect">
              <a:avLst/>
            </a:prstGeom>
          </p:spPr>
        </p:pic>
        <p:sp>
          <p:nvSpPr>
            <p:cNvPr id="26" name="文本框 25">
              <a:extLst>
                <a:ext uri="{FF2B5EF4-FFF2-40B4-BE49-F238E27FC236}">
                  <a16:creationId xmlns:a16="http://schemas.microsoft.com/office/drawing/2014/main" id="{B9071E9A-38A7-750B-4EFA-7B42AEB5F666}"/>
                </a:ext>
              </a:extLst>
            </p:cNvPr>
            <p:cNvSpPr txBox="1"/>
            <p:nvPr/>
          </p:nvSpPr>
          <p:spPr>
            <a:xfrm>
              <a:off x="5465968" y="1335847"/>
              <a:ext cx="1516257" cy="595035"/>
            </a:xfrm>
            <a:prstGeom prst="rect">
              <a:avLst/>
            </a:prstGeom>
            <a:noFill/>
          </p:spPr>
          <p:txBody>
            <a:bodyPr wrap="square" rtlCol="0">
              <a:spAutoFit/>
            </a:bodyPr>
            <a:lstStyle/>
            <a:p>
              <a:pPr algn="ctr"/>
              <a:r>
                <a:rPr kumimoji="1" lang="zh-CN" altLang="en-US" sz="1440" dirty="0">
                  <a:solidFill>
                    <a:srgbClr val="FF6600"/>
                  </a:solidFill>
                  <a:latin typeface="Microsoft YaHei" panose="020B0503020204020204" pitchFamily="34" charset="-122"/>
                  <a:ea typeface="Microsoft YaHei" panose="020B0503020204020204" pitchFamily="34" charset="-122"/>
                </a:rPr>
                <a:t>读取</a:t>
              </a:r>
              <a:r>
                <a:rPr kumimoji="1" lang="en-US" altLang="zh-CN" sz="1440" dirty="0">
                  <a:solidFill>
                    <a:srgbClr val="FF6600"/>
                  </a:solidFill>
                  <a:latin typeface="Microsoft YaHei" panose="020B0503020204020204" pitchFamily="34" charset="-122"/>
                  <a:ea typeface="Microsoft YaHei" panose="020B0503020204020204" pitchFamily="34" charset="-122"/>
                </a:rPr>
                <a:t>/</a:t>
              </a:r>
              <a:r>
                <a:rPr kumimoji="1" lang="zh-CN" altLang="en-US" sz="1440" dirty="0">
                  <a:solidFill>
                    <a:srgbClr val="FF6600"/>
                  </a:solidFill>
                  <a:latin typeface="Microsoft YaHei" panose="020B0503020204020204" pitchFamily="34" charset="-122"/>
                  <a:ea typeface="Microsoft YaHei" panose="020B0503020204020204" pitchFamily="34" charset="-122"/>
                </a:rPr>
                <a:t>导出</a:t>
              </a:r>
              <a:endParaRPr kumimoji="1" lang="en-US" altLang="zh-CN" sz="1440" dirty="0">
                <a:solidFill>
                  <a:srgbClr val="FF6600"/>
                </a:solidFill>
                <a:latin typeface="Microsoft YaHei" panose="020B0503020204020204" pitchFamily="34" charset="-122"/>
                <a:ea typeface="Microsoft YaHei" panose="020B0503020204020204" pitchFamily="34" charset="-122"/>
              </a:endParaRPr>
            </a:p>
            <a:p>
              <a:pPr algn="ctr"/>
              <a:r>
                <a:rPr kumimoji="1" lang="zh-CN" altLang="en-US" sz="1440" dirty="0">
                  <a:solidFill>
                    <a:srgbClr val="FF6600"/>
                  </a:solidFill>
                  <a:latin typeface="Microsoft YaHei" panose="020B0503020204020204" pitchFamily="34" charset="-122"/>
                  <a:ea typeface="Microsoft YaHei" panose="020B0503020204020204" pitchFamily="34" charset="-122"/>
                </a:rPr>
                <a:t>下列格式文件</a:t>
              </a:r>
            </a:p>
          </p:txBody>
        </p:sp>
        <p:pic>
          <p:nvPicPr>
            <p:cNvPr id="27" name="图片 26">
              <a:extLst>
                <a:ext uri="{FF2B5EF4-FFF2-40B4-BE49-F238E27FC236}">
                  <a16:creationId xmlns:a16="http://schemas.microsoft.com/office/drawing/2014/main" id="{C39A0BAD-CB41-2B83-2728-731CBE66E83B}"/>
                </a:ext>
              </a:extLst>
            </p:cNvPr>
            <p:cNvPicPr>
              <a:picLocks noChangeAspect="1"/>
            </p:cNvPicPr>
            <p:nvPr/>
          </p:nvPicPr>
          <p:blipFill>
            <a:blip r:embed="rId8"/>
            <a:stretch>
              <a:fillRect/>
            </a:stretch>
          </p:blipFill>
          <p:spPr>
            <a:xfrm>
              <a:off x="5580112" y="3577580"/>
              <a:ext cx="968896" cy="968896"/>
            </a:xfrm>
            <a:prstGeom prst="rect">
              <a:avLst/>
            </a:prstGeom>
          </p:spPr>
        </p:pic>
        <p:pic>
          <p:nvPicPr>
            <p:cNvPr id="28" name="图片 27">
              <a:extLst>
                <a:ext uri="{FF2B5EF4-FFF2-40B4-BE49-F238E27FC236}">
                  <a16:creationId xmlns:a16="http://schemas.microsoft.com/office/drawing/2014/main" id="{3E4E7720-2DDD-EB96-8534-68A671570205}"/>
                </a:ext>
              </a:extLst>
            </p:cNvPr>
            <p:cNvPicPr>
              <a:picLocks noChangeAspect="1"/>
            </p:cNvPicPr>
            <p:nvPr/>
          </p:nvPicPr>
          <p:blipFill>
            <a:blip r:embed="rId9"/>
            <a:stretch>
              <a:fillRect/>
            </a:stretch>
          </p:blipFill>
          <p:spPr>
            <a:xfrm>
              <a:off x="5868144" y="4441676"/>
              <a:ext cx="864096" cy="864096"/>
            </a:xfrm>
            <a:prstGeom prst="rect">
              <a:avLst/>
            </a:prstGeom>
          </p:spPr>
        </p:pic>
        <p:pic>
          <p:nvPicPr>
            <p:cNvPr id="29" name="Picture 11" descr="http://d.lanrentuku.com/down/png/0905/Bluetooth_HTML/Regular_Document-Code-HTML.png">
              <a:extLst>
                <a:ext uri="{FF2B5EF4-FFF2-40B4-BE49-F238E27FC236}">
                  <a16:creationId xmlns:a16="http://schemas.microsoft.com/office/drawing/2014/main" id="{708CC28A-0C66-5D67-B2B3-1A073AE1CCAE}"/>
                </a:ext>
              </a:extLst>
            </p:cNvPr>
            <p:cNvPicPr>
              <a:picLocks noChangeAspect="1" noChangeArrowheads="1"/>
            </p:cNvPicPr>
            <p:nvPr/>
          </p:nvPicPr>
          <p:blipFill>
            <a:blip r:embed="rId10" cstate="print"/>
            <a:srcRect/>
            <a:stretch>
              <a:fillRect/>
            </a:stretch>
          </p:blipFill>
          <p:spPr bwMode="auto">
            <a:xfrm>
              <a:off x="5940152" y="2857500"/>
              <a:ext cx="936104" cy="926353"/>
            </a:xfrm>
            <a:prstGeom prst="rect">
              <a:avLst/>
            </a:prstGeom>
            <a:noFill/>
          </p:spPr>
        </p:pic>
      </p:grpSp>
      <p:pic>
        <p:nvPicPr>
          <p:cNvPr id="33" name="图片 32">
            <a:extLst>
              <a:ext uri="{FF2B5EF4-FFF2-40B4-BE49-F238E27FC236}">
                <a16:creationId xmlns:a16="http://schemas.microsoft.com/office/drawing/2014/main" id="{4D9C4503-8CE4-6EB4-4CE3-0E80D1756279}"/>
              </a:ext>
            </a:extLst>
          </p:cNvPr>
          <p:cNvPicPr>
            <a:picLocks noChangeAspect="1"/>
          </p:cNvPicPr>
          <p:nvPr/>
        </p:nvPicPr>
        <p:blipFill>
          <a:blip r:embed="rId11"/>
          <a:stretch>
            <a:fillRect/>
          </a:stretch>
        </p:blipFill>
        <p:spPr>
          <a:xfrm>
            <a:off x="800877" y="992150"/>
            <a:ext cx="1640735" cy="962565"/>
          </a:xfrm>
          <a:prstGeom prst="rect">
            <a:avLst/>
          </a:prstGeom>
        </p:spPr>
      </p:pic>
      <p:grpSp>
        <p:nvGrpSpPr>
          <p:cNvPr id="36" name="组合 35">
            <a:extLst>
              <a:ext uri="{FF2B5EF4-FFF2-40B4-BE49-F238E27FC236}">
                <a16:creationId xmlns:a16="http://schemas.microsoft.com/office/drawing/2014/main" id="{BAA7670E-BED6-3758-3733-BE95406CAA13}"/>
              </a:ext>
            </a:extLst>
          </p:cNvPr>
          <p:cNvGrpSpPr/>
          <p:nvPr/>
        </p:nvGrpSpPr>
        <p:grpSpPr>
          <a:xfrm>
            <a:off x="3198000" y="861320"/>
            <a:ext cx="1555374" cy="3694010"/>
            <a:chOff x="3198000" y="861320"/>
            <a:chExt cx="1555374" cy="3694010"/>
          </a:xfrm>
        </p:grpSpPr>
        <p:sp>
          <p:nvSpPr>
            <p:cNvPr id="7" name="圆角矩形 6">
              <a:extLst>
                <a:ext uri="{FF2B5EF4-FFF2-40B4-BE49-F238E27FC236}">
                  <a16:creationId xmlns:a16="http://schemas.microsoft.com/office/drawing/2014/main" id="{FF40AFEC-B168-C167-FF6E-F16FBAD25E9A}"/>
                </a:ext>
              </a:extLst>
            </p:cNvPr>
            <p:cNvSpPr/>
            <p:nvPr/>
          </p:nvSpPr>
          <p:spPr>
            <a:xfrm>
              <a:off x="3262808" y="861320"/>
              <a:ext cx="1490566" cy="3694010"/>
            </a:xfrm>
            <a:prstGeom prst="roundRect">
              <a:avLst/>
            </a:prstGeom>
            <a:solidFill>
              <a:schemeClr val="accent6">
                <a:lumMod val="20000"/>
                <a:lumOff val="80000"/>
              </a:schemeClr>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620" dirty="0">
                <a:latin typeface="Microsoft YaHei" panose="020B0503020204020204" pitchFamily="34" charset="-122"/>
                <a:ea typeface="Microsoft YaHei" panose="020B0503020204020204" pitchFamily="34" charset="-122"/>
              </a:endParaRPr>
            </a:p>
          </p:txBody>
        </p:sp>
        <p:pic>
          <p:nvPicPr>
            <p:cNvPr id="4" name="图片 3">
              <a:extLst>
                <a:ext uri="{FF2B5EF4-FFF2-40B4-BE49-F238E27FC236}">
                  <a16:creationId xmlns:a16="http://schemas.microsoft.com/office/drawing/2014/main" id="{7F503B2A-46AD-5601-9F8C-94E5DD44DB05}"/>
                </a:ext>
              </a:extLst>
            </p:cNvPr>
            <p:cNvPicPr>
              <a:picLocks noChangeAspect="1"/>
            </p:cNvPicPr>
            <p:nvPr/>
          </p:nvPicPr>
          <p:blipFill>
            <a:blip r:embed="rId12"/>
            <a:stretch>
              <a:fillRect/>
            </a:stretch>
          </p:blipFill>
          <p:spPr>
            <a:xfrm>
              <a:off x="3823426" y="2010213"/>
              <a:ext cx="838084" cy="838084"/>
            </a:xfrm>
            <a:prstGeom prst="rect">
              <a:avLst/>
            </a:prstGeom>
          </p:spPr>
        </p:pic>
        <p:pic>
          <p:nvPicPr>
            <p:cNvPr id="8" name="Picture 9" descr="http://www.x-berry.com/wordpress/wp-content/uploads/2010/04/ms-office-2010-RTM.jpg">
              <a:extLst>
                <a:ext uri="{FF2B5EF4-FFF2-40B4-BE49-F238E27FC236}">
                  <a16:creationId xmlns:a16="http://schemas.microsoft.com/office/drawing/2014/main" id="{7B5DE1FC-6382-71CC-5733-25CB96D4513E}"/>
                </a:ext>
              </a:extLst>
            </p:cNvPr>
            <p:cNvPicPr>
              <a:picLocks noChangeAspect="1" noChangeArrowheads="1"/>
            </p:cNvPicPr>
            <p:nvPr/>
          </p:nvPicPr>
          <p:blipFill rotWithShape="1">
            <a:blip r:embed="rId13" cstate="print"/>
            <a:srcRect r="26243"/>
            <a:stretch/>
          </p:blipFill>
          <p:spPr bwMode="auto">
            <a:xfrm>
              <a:off x="3388733" y="1379778"/>
              <a:ext cx="1003792" cy="729983"/>
            </a:xfrm>
            <a:prstGeom prst="rect">
              <a:avLst/>
            </a:prstGeom>
            <a:noFill/>
          </p:spPr>
        </p:pic>
        <p:sp>
          <p:nvSpPr>
            <p:cNvPr id="11" name="文本框 10">
              <a:extLst>
                <a:ext uri="{FF2B5EF4-FFF2-40B4-BE49-F238E27FC236}">
                  <a16:creationId xmlns:a16="http://schemas.microsoft.com/office/drawing/2014/main" id="{878C96BD-2012-052C-8E94-2AE0BE38C40B}"/>
                </a:ext>
              </a:extLst>
            </p:cNvPr>
            <p:cNvSpPr txBox="1"/>
            <p:nvPr/>
          </p:nvSpPr>
          <p:spPr>
            <a:xfrm>
              <a:off x="3198000" y="861320"/>
              <a:ext cx="1490566" cy="535531"/>
            </a:xfrm>
            <a:prstGeom prst="rect">
              <a:avLst/>
            </a:prstGeom>
            <a:noFill/>
          </p:spPr>
          <p:txBody>
            <a:bodyPr wrap="square" rtlCol="0">
              <a:spAutoFit/>
            </a:bodyPr>
            <a:lstStyle/>
            <a:p>
              <a:pPr algn="ctr"/>
              <a:r>
                <a:rPr kumimoji="1" lang="zh-CN" altLang="en-US" sz="1440" dirty="0">
                  <a:solidFill>
                    <a:srgbClr val="FF6600"/>
                  </a:solidFill>
                  <a:latin typeface="Microsoft YaHei" panose="020B0503020204020204" pitchFamily="34" charset="-122"/>
                  <a:ea typeface="Microsoft YaHei" panose="020B0503020204020204" pitchFamily="34" charset="-122"/>
                </a:rPr>
                <a:t>读取已有文件</a:t>
              </a:r>
              <a:endParaRPr kumimoji="1" lang="en-US" altLang="zh-CN" sz="1440" dirty="0">
                <a:solidFill>
                  <a:srgbClr val="FF6600"/>
                </a:solidFill>
                <a:latin typeface="Microsoft YaHei" panose="020B0503020204020204" pitchFamily="34" charset="-122"/>
                <a:ea typeface="Microsoft YaHei" panose="020B0503020204020204" pitchFamily="34" charset="-122"/>
              </a:endParaRPr>
            </a:p>
            <a:p>
              <a:pPr algn="ctr"/>
              <a:r>
                <a:rPr kumimoji="1" lang="en-US" altLang="zh-CN" sz="1440" dirty="0">
                  <a:solidFill>
                    <a:srgbClr val="FF6600"/>
                  </a:solidFill>
                  <a:latin typeface="Microsoft YaHei" panose="020B0503020204020204" pitchFamily="34" charset="-122"/>
                  <a:ea typeface="Microsoft YaHei" panose="020B0503020204020204" pitchFamily="34" charset="-122"/>
                </a:rPr>
                <a:t> /</a:t>
              </a:r>
              <a:r>
                <a:rPr kumimoji="1" lang="en-US" altLang="zh-CN" sz="1080" dirty="0">
                  <a:solidFill>
                    <a:srgbClr val="FF6600"/>
                  </a:solidFill>
                  <a:latin typeface="Microsoft YaHei" panose="020B0503020204020204" pitchFamily="34" charset="-122"/>
                  <a:ea typeface="Microsoft YaHei" panose="020B0503020204020204" pitchFamily="34" charset="-122"/>
                </a:rPr>
                <a:t>(better)</a:t>
              </a:r>
              <a:r>
                <a:rPr kumimoji="1" lang="zh-CN" altLang="en-US" sz="1440" dirty="0">
                  <a:solidFill>
                    <a:srgbClr val="FF6600"/>
                  </a:solidFill>
                  <a:latin typeface="Microsoft YaHei" panose="020B0503020204020204" pitchFamily="34" charset="-122"/>
                  <a:ea typeface="Microsoft YaHei" panose="020B0503020204020204" pitchFamily="34" charset="-122"/>
                </a:rPr>
                <a:t>另存为</a:t>
              </a:r>
            </a:p>
          </p:txBody>
        </p:sp>
        <p:pic>
          <p:nvPicPr>
            <p:cNvPr id="31" name="图片 30">
              <a:extLst>
                <a:ext uri="{FF2B5EF4-FFF2-40B4-BE49-F238E27FC236}">
                  <a16:creationId xmlns:a16="http://schemas.microsoft.com/office/drawing/2014/main" id="{07B6FFED-6FA7-6A9E-2E1B-B9F0280E43B3}"/>
                </a:ext>
              </a:extLst>
            </p:cNvPr>
            <p:cNvPicPr>
              <a:picLocks noChangeAspect="1"/>
            </p:cNvPicPr>
            <p:nvPr/>
          </p:nvPicPr>
          <p:blipFill>
            <a:blip r:embed="rId14"/>
            <a:stretch>
              <a:fillRect/>
            </a:stretch>
          </p:blipFill>
          <p:spPr>
            <a:xfrm>
              <a:off x="3868963" y="3309791"/>
              <a:ext cx="779492" cy="1145094"/>
            </a:xfrm>
            <a:prstGeom prst="rect">
              <a:avLst/>
            </a:prstGeom>
          </p:spPr>
        </p:pic>
        <p:pic>
          <p:nvPicPr>
            <p:cNvPr id="35" name="图片 34">
              <a:extLst>
                <a:ext uri="{FF2B5EF4-FFF2-40B4-BE49-F238E27FC236}">
                  <a16:creationId xmlns:a16="http://schemas.microsoft.com/office/drawing/2014/main" id="{80596549-C144-FB3E-B41A-E50AD0CB1CBB}"/>
                </a:ext>
              </a:extLst>
            </p:cNvPr>
            <p:cNvPicPr>
              <a:picLocks noChangeAspect="1"/>
            </p:cNvPicPr>
            <p:nvPr/>
          </p:nvPicPr>
          <p:blipFill>
            <a:blip r:embed="rId15"/>
            <a:stretch>
              <a:fillRect/>
            </a:stretch>
          </p:blipFill>
          <p:spPr>
            <a:xfrm>
              <a:off x="3300700" y="2680064"/>
              <a:ext cx="763587" cy="824897"/>
            </a:xfrm>
            <a:prstGeom prst="rect">
              <a:avLst/>
            </a:prstGeom>
          </p:spPr>
        </p:pic>
      </p:grpSp>
    </p:spTree>
    <p:extLst>
      <p:ext uri="{BB962C8B-B14F-4D97-AF65-F5344CB8AC3E}">
        <p14:creationId xmlns:p14="http://schemas.microsoft.com/office/powerpoint/2010/main" val="1425233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dissolv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grpId="0" nodeType="click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dissolve">
                                      <p:cBhvr>
                                        <p:cTn id="16" dur="500"/>
                                        <p:tgtEl>
                                          <p:spTgt spid="13"/>
                                        </p:tgtEl>
                                      </p:cBhvr>
                                    </p:animEffect>
                                  </p:childTnLst>
                                </p:cTn>
                              </p:par>
                            </p:childTnLst>
                          </p:cTn>
                        </p:par>
                        <p:par>
                          <p:cTn id="17" fill="hold">
                            <p:stCondLst>
                              <p:cond delay="500"/>
                            </p:stCondLst>
                            <p:childTnLst>
                              <p:par>
                                <p:cTn id="18" presetID="12" presetClass="entr" presetSubtype="8" fill="hold" nodeType="afterEffect">
                                  <p:stCondLst>
                                    <p:cond delay="0"/>
                                  </p:stCondLst>
                                  <p:childTnLst>
                                    <p:set>
                                      <p:cBhvr>
                                        <p:cTn id="19" dur="1" fill="hold">
                                          <p:stCondLst>
                                            <p:cond delay="0"/>
                                          </p:stCondLst>
                                        </p:cTn>
                                        <p:tgtEl>
                                          <p:spTgt spid="36"/>
                                        </p:tgtEl>
                                        <p:attrNameLst>
                                          <p:attrName>style.visibility</p:attrName>
                                        </p:attrNameLst>
                                      </p:cBhvr>
                                      <p:to>
                                        <p:strVal val="visible"/>
                                      </p:to>
                                    </p:set>
                                    <p:anim calcmode="lin" valueType="num">
                                      <p:cBhvr additive="base">
                                        <p:cTn id="20" dur="500"/>
                                        <p:tgtEl>
                                          <p:spTgt spid="36"/>
                                        </p:tgtEl>
                                        <p:attrNameLst>
                                          <p:attrName>ppt_x</p:attrName>
                                        </p:attrNameLst>
                                      </p:cBhvr>
                                      <p:tavLst>
                                        <p:tav tm="0">
                                          <p:val>
                                            <p:strVal val="#ppt_x-#ppt_w*1.125000"/>
                                          </p:val>
                                        </p:tav>
                                        <p:tav tm="100000">
                                          <p:val>
                                            <p:strVal val="#ppt_x"/>
                                          </p:val>
                                        </p:tav>
                                      </p:tavLst>
                                    </p:anim>
                                    <p:animEffect transition="in" filter="wipe(right)">
                                      <p:cBhvr>
                                        <p:cTn id="21" dur="500"/>
                                        <p:tgtEl>
                                          <p:spTgt spid="36"/>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dissolve">
                                      <p:cBhvr>
                                        <p:cTn id="26" dur="500"/>
                                        <p:tgtEl>
                                          <p:spTgt spid="14"/>
                                        </p:tgtEl>
                                      </p:cBhvr>
                                    </p:animEffect>
                                  </p:childTnLst>
                                </p:cTn>
                              </p:par>
                            </p:childTnLst>
                          </p:cTn>
                        </p:par>
                        <p:par>
                          <p:cTn id="27" fill="hold">
                            <p:stCondLst>
                              <p:cond delay="500"/>
                            </p:stCondLst>
                            <p:childTnLst>
                              <p:par>
                                <p:cTn id="28" presetID="3" presetClass="entr" presetSubtype="10" fill="hold" nodeType="afterEffect">
                                  <p:stCondLst>
                                    <p:cond delay="0"/>
                                  </p:stCondLst>
                                  <p:childTnLst>
                                    <p:set>
                                      <p:cBhvr>
                                        <p:cTn id="29" dur="1" fill="hold">
                                          <p:stCondLst>
                                            <p:cond delay="0"/>
                                          </p:stCondLst>
                                        </p:cTn>
                                        <p:tgtEl>
                                          <p:spTgt spid="23"/>
                                        </p:tgtEl>
                                        <p:attrNameLst>
                                          <p:attrName>style.visibility</p:attrName>
                                        </p:attrNameLst>
                                      </p:cBhvr>
                                      <p:to>
                                        <p:strVal val="visible"/>
                                      </p:to>
                                    </p:set>
                                    <p:animEffect transition="in" filter="blinds(horizontal)">
                                      <p:cBhvr>
                                        <p:cTn id="30" dur="5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par>
                          <p:cTn id="36" fill="hold">
                            <p:stCondLst>
                              <p:cond delay="500"/>
                            </p:stCondLst>
                            <p:childTnLst>
                              <p:par>
                                <p:cTn id="37" presetID="3" presetClass="entr" presetSubtype="10" fill="hold" nodeType="after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blinds(horizontal)">
                                      <p:cBhvr>
                                        <p:cTn id="3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22" grpId="0" animBg="1"/>
    </p:bld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0997F9-C78E-5D32-FA02-A9ED0B096E78}"/>
              </a:ext>
            </a:extLst>
          </p:cNvPr>
          <p:cNvSpPr>
            <a:spLocks noGrp="1"/>
          </p:cNvSpPr>
          <p:nvPr>
            <p:ph type="title"/>
          </p:nvPr>
        </p:nvSpPr>
        <p:spPr/>
        <p:txBody>
          <a:bodyPr/>
          <a:lstStyle/>
          <a:p>
            <a:r>
              <a:rPr lang="zh-CN" altLang="en-US" sz="2900" dirty="0"/>
              <a:t>软件环境</a:t>
            </a:r>
            <a:r>
              <a:rPr lang="en-US" altLang="zh-CN" sz="2900" dirty="0"/>
              <a:t>(</a:t>
            </a:r>
            <a:r>
              <a:rPr lang="zh-CN" altLang="en-US" sz="2900" dirty="0"/>
              <a:t>组合</a:t>
            </a:r>
            <a:r>
              <a:rPr lang="en-US" altLang="zh-CN" sz="2900" dirty="0"/>
              <a:t>)</a:t>
            </a:r>
            <a:r>
              <a:rPr lang="zh-CN" altLang="en-US" sz="2900" dirty="0"/>
              <a:t>兼容性测试</a:t>
            </a:r>
          </a:p>
        </p:txBody>
      </p:sp>
      <p:sp>
        <p:nvSpPr>
          <p:cNvPr id="4" name="Rectangle 3">
            <a:extLst>
              <a:ext uri="{FF2B5EF4-FFF2-40B4-BE49-F238E27FC236}">
                <a16:creationId xmlns:a16="http://schemas.microsoft.com/office/drawing/2014/main" id="{EA66BE23-E6FE-C3EA-DDD3-270563FBA60B}"/>
              </a:ext>
            </a:extLst>
          </p:cNvPr>
          <p:cNvSpPr>
            <a:spLocks noChangeArrowheads="1"/>
          </p:cNvSpPr>
          <p:nvPr/>
        </p:nvSpPr>
        <p:spPr bwMode="auto">
          <a:xfrm>
            <a:off x="1820014" y="865524"/>
            <a:ext cx="5054962" cy="923330"/>
          </a:xfrm>
          <a:prstGeom prst="rect">
            <a:avLst/>
          </a:prstGeom>
          <a:noFill/>
          <a:ln w="9525">
            <a:noFill/>
            <a:miter lim="800000"/>
            <a:headEnd/>
            <a:tailEnd/>
          </a:ln>
        </p:spPr>
        <p:txBody>
          <a:bodyPr wrap="square">
            <a:spAutoFit/>
          </a:bodyPr>
          <a:lstStyle/>
          <a:p>
            <a:pPr marL="462915" indent="-462915">
              <a:spcBef>
                <a:spcPct val="50000"/>
              </a:spcBef>
              <a:buAutoNum type="arabicPeriod"/>
            </a:pPr>
            <a:r>
              <a:rPr lang="en-US" altLang="zh-CN" sz="2160" dirty="0">
                <a:ea typeface="楷体"/>
                <a:cs typeface="楷体"/>
              </a:rPr>
              <a:t>Pairwise</a:t>
            </a:r>
            <a:r>
              <a:rPr lang="zh-CN" altLang="en-US" sz="2160" dirty="0">
                <a:ea typeface="楷体"/>
                <a:cs typeface="楷体"/>
              </a:rPr>
              <a:t>组合测试、正交实验法</a:t>
            </a:r>
            <a:endParaRPr lang="en-US" altLang="zh-CN" sz="2160" dirty="0">
              <a:ea typeface="楷体"/>
              <a:cs typeface="楷体"/>
            </a:endParaRPr>
          </a:p>
          <a:p>
            <a:pPr marL="462915" indent="-462915">
              <a:spcBef>
                <a:spcPct val="50000"/>
              </a:spcBef>
              <a:buAutoNum type="arabicPeriod"/>
            </a:pPr>
            <a:r>
              <a:rPr lang="zh-CN" altLang="en-US" sz="2160" dirty="0">
                <a:ea typeface="楷体"/>
                <a:cs typeface="楷体"/>
              </a:rPr>
              <a:t>根据市场调查数据，设计组合矩阵表</a:t>
            </a:r>
          </a:p>
        </p:txBody>
      </p:sp>
      <p:graphicFrame>
        <p:nvGraphicFramePr>
          <p:cNvPr id="5" name="Group 467">
            <a:extLst>
              <a:ext uri="{FF2B5EF4-FFF2-40B4-BE49-F238E27FC236}">
                <a16:creationId xmlns:a16="http://schemas.microsoft.com/office/drawing/2014/main" id="{389135F3-2EA7-7579-FAA6-F95DC8A8E052}"/>
              </a:ext>
            </a:extLst>
          </p:cNvPr>
          <p:cNvGraphicFramePr>
            <a:graphicFrameLocks noGrp="1"/>
          </p:cNvGraphicFramePr>
          <p:nvPr>
            <p:ph idx="1"/>
            <p:extLst>
              <p:ext uri="{D42A27DB-BD31-4B8C-83A1-F6EECF244321}">
                <p14:modId xmlns:p14="http://schemas.microsoft.com/office/powerpoint/2010/main" val="2207234042"/>
              </p:ext>
            </p:extLst>
          </p:nvPr>
        </p:nvGraphicFramePr>
        <p:xfrm>
          <a:off x="912713" y="1967249"/>
          <a:ext cx="7171007" cy="2711730"/>
        </p:xfrm>
        <a:graphic>
          <a:graphicData uri="http://schemas.openxmlformats.org/drawingml/2006/table">
            <a:tbl>
              <a:tblPr/>
              <a:tblGrid>
                <a:gridCol w="673785">
                  <a:extLst>
                    <a:ext uri="{9D8B030D-6E8A-4147-A177-3AD203B41FA5}">
                      <a16:colId xmlns:a16="http://schemas.microsoft.com/office/drawing/2014/main" val="20000"/>
                    </a:ext>
                  </a:extLst>
                </a:gridCol>
                <a:gridCol w="809535">
                  <a:extLst>
                    <a:ext uri="{9D8B030D-6E8A-4147-A177-3AD203B41FA5}">
                      <a16:colId xmlns:a16="http://schemas.microsoft.com/office/drawing/2014/main" val="20001"/>
                    </a:ext>
                  </a:extLst>
                </a:gridCol>
                <a:gridCol w="812526">
                  <a:extLst>
                    <a:ext uri="{9D8B030D-6E8A-4147-A177-3AD203B41FA5}">
                      <a16:colId xmlns:a16="http://schemas.microsoft.com/office/drawing/2014/main" val="20002"/>
                    </a:ext>
                  </a:extLst>
                </a:gridCol>
                <a:gridCol w="811031">
                  <a:extLst>
                    <a:ext uri="{9D8B030D-6E8A-4147-A177-3AD203B41FA5}">
                      <a16:colId xmlns:a16="http://schemas.microsoft.com/office/drawing/2014/main" val="20003"/>
                    </a:ext>
                  </a:extLst>
                </a:gridCol>
                <a:gridCol w="897819">
                  <a:extLst>
                    <a:ext uri="{9D8B030D-6E8A-4147-A177-3AD203B41FA5}">
                      <a16:colId xmlns:a16="http://schemas.microsoft.com/office/drawing/2014/main" val="20004"/>
                    </a:ext>
                  </a:extLst>
                </a:gridCol>
                <a:gridCol w="814374">
                  <a:extLst>
                    <a:ext uri="{9D8B030D-6E8A-4147-A177-3AD203B41FA5}">
                      <a16:colId xmlns:a16="http://schemas.microsoft.com/office/drawing/2014/main" val="20005"/>
                    </a:ext>
                  </a:extLst>
                </a:gridCol>
                <a:gridCol w="728380">
                  <a:extLst>
                    <a:ext uri="{9D8B030D-6E8A-4147-A177-3AD203B41FA5}">
                      <a16:colId xmlns:a16="http://schemas.microsoft.com/office/drawing/2014/main" val="20006"/>
                    </a:ext>
                  </a:extLst>
                </a:gridCol>
                <a:gridCol w="811031">
                  <a:extLst>
                    <a:ext uri="{9D8B030D-6E8A-4147-A177-3AD203B41FA5}">
                      <a16:colId xmlns:a16="http://schemas.microsoft.com/office/drawing/2014/main" val="20007"/>
                    </a:ext>
                  </a:extLst>
                </a:gridCol>
                <a:gridCol w="812526">
                  <a:extLst>
                    <a:ext uri="{9D8B030D-6E8A-4147-A177-3AD203B41FA5}">
                      <a16:colId xmlns:a16="http://schemas.microsoft.com/office/drawing/2014/main" val="20008"/>
                    </a:ext>
                  </a:extLst>
                </a:gridCol>
              </a:tblGrid>
              <a:tr h="302113">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dirty="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PC</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dirty="0">
                          <a:ln>
                            <a:noFill/>
                          </a:ln>
                          <a:solidFill>
                            <a:schemeClr val="accent1">
                              <a:lumMod val="50000"/>
                            </a:schemeClr>
                          </a:solidFill>
                          <a:effectLst/>
                          <a:latin typeface="Times New Roman" pitchFamily="18" charset="0"/>
                          <a:ea typeface="宋体" pitchFamily="2" charset="-122"/>
                        </a:rPr>
                        <a:t>移动设备</a:t>
                      </a:r>
                      <a:endPar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94826">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Win 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Win 11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Linux</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OS X</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lang="zh-CN" altLang="en-US" sz="1400" dirty="0">
                          <a:solidFill>
                            <a:schemeClr val="accent1">
                              <a:lumMod val="50000"/>
                            </a:schemeClr>
                          </a:solidFill>
                          <a:latin typeface="Arial Narrow"/>
                          <a:cs typeface="Arial Narrow"/>
                        </a:rPr>
                        <a:t>鸿蒙</a:t>
                      </a:r>
                      <a:endParaRPr kumimoji="0" lang="en-US" altLang="zh-CN" sz="1500" b="0" i="0" u="none" strike="noStrike" cap="none" normalizeH="0" baseline="0" dirty="0">
                        <a:ln>
                          <a:noFill/>
                        </a:ln>
                        <a:solidFill>
                          <a:schemeClr val="accent1">
                            <a:lumMod val="50000"/>
                          </a:schemeClr>
                        </a:solidFill>
                        <a:effectLst/>
                        <a:latin typeface="Arial Narrow"/>
                        <a:ea typeface="宋体" pitchFamily="2" charset="-122"/>
                        <a:cs typeface="Arial Narrow"/>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iOS 16</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 </a:t>
                      </a:r>
                      <a:r>
                        <a:rPr kumimoji="0" lang="en-US" altLang="zh-CN" sz="1500" b="0" i="0" u="none" strike="noStrike" cap="none" normalizeH="0" baseline="0" dirty="0">
                          <a:ln>
                            <a:noFill/>
                          </a:ln>
                          <a:solidFill>
                            <a:schemeClr val="accent1">
                              <a:lumMod val="50000"/>
                            </a:schemeClr>
                          </a:solidFill>
                          <a:effectLst/>
                          <a:latin typeface="Arial" pitchFamily="34" charset="0"/>
                          <a:ea typeface="宋体" pitchFamily="2" charset="-122"/>
                        </a:rPr>
                        <a:t>Android</a:t>
                      </a:r>
                      <a:endParaRPr kumimoji="0" lang="zh-CN" altLang="en-US" sz="1500" b="0" i="0" u="none" strike="noStrike" cap="none" normalizeH="0" baseline="0" dirty="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WP10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21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IE 10</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dirty="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endParaRPr lang="zh-CN" altLang="en-US" sz="1200">
                        <a:solidFill>
                          <a:schemeClr val="accent1">
                            <a:lumMod val="50000"/>
                          </a:schemeClr>
                        </a:solidFill>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21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IE 11</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GB" sz="1500" b="0" i="0" u="none" strike="noStrike" cap="none" normalizeH="0" baseline="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endParaRPr lang="zh-CN" altLang="en-US" sz="1200">
                        <a:solidFill>
                          <a:schemeClr val="accent1">
                            <a:lumMod val="50000"/>
                          </a:schemeClr>
                        </a:solidFill>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dirty="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dirty="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21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Edge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endParaRPr lang="zh-CN" altLang="en-US" sz="1200" dirty="0">
                        <a:solidFill>
                          <a:schemeClr val="accent1">
                            <a:lumMod val="50000"/>
                          </a:schemeClr>
                        </a:solidFill>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21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Firefox</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GB" sz="1500" b="0" i="0" u="none" strike="noStrike" cap="none" normalizeH="0" baseline="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r>
                        <a:rPr kumimoji="0" lang="zh-CN" altLang="en-US"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r>
                        <a:rPr kumimoji="0" lang="zh-CN" altLang="en-US"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dirty="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21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Chrome</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defRPr/>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zh-CN" altLang="en-US" sz="1500" b="0"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r>
                        <a:rPr kumimoji="0" lang="zh-CN" altLang="en-GB"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endParaRPr kumimoji="0" lang="zh-CN" altLang="en-US" sz="1500" b="0"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21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Safari</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dirty="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zh-CN" altLang="en-US" sz="1500" b="0" i="0" u="none" strike="noStrike" cap="none" normalizeH="0" baseline="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endParaRPr kumimoji="0" lang="zh-CN" altLang="en-US" sz="1500" b="0" i="0" u="none" strike="noStrike" cap="none" normalizeH="0" baseline="0" dirty="0">
                        <a:ln>
                          <a:noFill/>
                        </a:ln>
                        <a:solidFill>
                          <a:schemeClr val="accent1">
                            <a:lumMod val="50000"/>
                          </a:schemeClr>
                        </a:solidFill>
                        <a:effectLst/>
                        <a:latin typeface="Times New Roman" pitchFamily="18"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defRPr/>
                      </a:pPr>
                      <a:r>
                        <a:rPr kumimoji="0" lang="zh-CN" altLang="en-US"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211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a:ln>
                            <a:noFill/>
                          </a:ln>
                          <a:solidFill>
                            <a:schemeClr val="accent1">
                              <a:lumMod val="50000"/>
                            </a:schemeClr>
                          </a:solidFill>
                          <a:effectLst/>
                          <a:latin typeface="Times New Roman" pitchFamily="18" charset="0"/>
                          <a:ea typeface="宋体" pitchFamily="2" charset="-12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dirty="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dirty="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US" altLang="zh-CN" sz="1500" b="0" i="0" u="none" strike="noStrike" cap="none" normalizeH="0" baseline="0" dirty="0">
                          <a:ln>
                            <a:noFill/>
                          </a:ln>
                          <a:solidFill>
                            <a:schemeClr val="accent1">
                              <a:lumMod val="50000"/>
                            </a:schemeClr>
                          </a:solidFill>
                          <a:effectLst/>
                          <a:latin typeface="Arial" pitchFamily="34" charset="0"/>
                          <a:ea typeface="宋体" pitchFamily="2" charset="-122"/>
                        </a:rPr>
                        <a:t>BB10</a:t>
                      </a:r>
                      <a:endParaRPr kumimoji="0" lang="zh-CN" altLang="en-US" sz="1500" b="0" i="0" u="none" strike="noStrike" cap="none" normalizeH="0" baseline="0" dirty="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endParaRPr kumimoji="0" lang="zh-CN" altLang="en-US" sz="1500" b="0" i="0" u="none" strike="noStrike" cap="none" normalizeH="0" baseline="0" dirty="0">
                        <a:ln>
                          <a:noFill/>
                        </a:ln>
                        <a:solidFill>
                          <a:schemeClr val="accent1">
                            <a:lumMod val="50000"/>
                          </a:schemeClr>
                        </a:solidFill>
                        <a:effectLst/>
                        <a:latin typeface="Arial" pitchFamily="34" charset="0"/>
                        <a:ea typeface="宋体" pitchFamily="2" charset="-122"/>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1587588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7E56D7C-C47F-EE1D-34AE-3345C46D999E}"/>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724265" y="1128314"/>
            <a:ext cx="8040594" cy="895350"/>
          </a:xfrm>
        </p:spPr>
        <p:txBody>
          <a:bodyPr vert="horz" lIns="91440" tIns="45720" rIns="91440" bIns="45720" rtlCol="0" anchor="ctr">
            <a:normAutofit/>
          </a:bodyPr>
          <a:lstStyle/>
          <a:p>
            <a:r>
              <a:rPr lang="en-US" altLang="zh-CN" sz="4800" b="1" dirty="0">
                <a:solidFill>
                  <a:schemeClr val="accent2">
                    <a:lumMod val="75000"/>
                  </a:schemeClr>
                </a:solidFill>
              </a:rPr>
              <a:t>7.4</a:t>
            </a:r>
            <a:r>
              <a:rPr lang="zh-CN" altLang="en-US" sz="4800" b="1" dirty="0">
                <a:solidFill>
                  <a:schemeClr val="accent2">
                    <a:lumMod val="75000"/>
                  </a:schemeClr>
                </a:solidFill>
              </a:rPr>
              <a:t> 可靠性</a:t>
            </a:r>
            <a:r>
              <a:rPr lang="zh-CN" altLang="zh-CN" sz="4800" b="1" dirty="0">
                <a:solidFill>
                  <a:schemeClr val="accent2">
                    <a:lumMod val="75000"/>
                  </a:schemeClr>
                </a:solidFill>
              </a:rPr>
              <a:t>测试 </a:t>
            </a:r>
            <a:endParaRPr lang="zh-CN" altLang="en-US" sz="4800" b="1" dirty="0">
              <a:solidFill>
                <a:schemeClr val="accent2">
                  <a:lumMod val="75000"/>
                </a:schemeClr>
              </a:solidFill>
            </a:endParaRPr>
          </a:p>
        </p:txBody>
      </p:sp>
    </p:spTree>
    <p:extLst>
      <p:ext uri="{BB962C8B-B14F-4D97-AF65-F5344CB8AC3E}">
        <p14:creationId xmlns:p14="http://schemas.microsoft.com/office/powerpoint/2010/main" val="1418772476"/>
      </p:ext>
    </p:extLst>
  </p:cSld>
  <p:clrMapOvr>
    <a:masterClrMapping/>
  </p:clrMapOvr>
  <p:transition spd="slow">
    <p:wipe dir="r"/>
  </p:transition>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1746" y="316616"/>
            <a:ext cx="8161119" cy="523875"/>
          </a:xfrm>
        </p:spPr>
        <p:txBody>
          <a:bodyPr/>
          <a:lstStyle/>
          <a:p>
            <a:r>
              <a:rPr kumimoji="1" lang="en-US" altLang="zh-CN" dirty="0">
                <a:latin typeface="微软雅黑" panose="020B0503020204020204" pitchFamily="34" charset="-122"/>
                <a:ea typeface="微软雅黑" panose="020B0503020204020204" pitchFamily="34" charset="-122"/>
              </a:rPr>
              <a:t>7.4.1 </a:t>
            </a:r>
            <a:r>
              <a:rPr kumimoji="1" lang="zh-CN" altLang="en-US" dirty="0">
                <a:latin typeface="微软雅黑" panose="020B0503020204020204" pitchFamily="34" charset="-122"/>
                <a:ea typeface="微软雅黑" panose="020B0503020204020204" pitchFamily="34" charset="-122"/>
              </a:rPr>
              <a:t>可靠性测试方法</a:t>
            </a:r>
          </a:p>
        </p:txBody>
      </p:sp>
      <p:sp>
        <p:nvSpPr>
          <p:cNvPr id="4" name="文本框 3">
            <a:extLst>
              <a:ext uri="{FF2B5EF4-FFF2-40B4-BE49-F238E27FC236}">
                <a16:creationId xmlns:a16="http://schemas.microsoft.com/office/drawing/2014/main" id="{308A86A8-D14A-DBEB-BAB1-9D3E3DC8406D}"/>
              </a:ext>
            </a:extLst>
          </p:cNvPr>
          <p:cNvSpPr txBox="1"/>
          <p:nvPr/>
        </p:nvSpPr>
        <p:spPr>
          <a:xfrm>
            <a:off x="531746" y="1003443"/>
            <a:ext cx="8456611" cy="3389839"/>
          </a:xfrm>
          <a:prstGeom prst="rect">
            <a:avLst/>
          </a:prstGeom>
          <a:noFill/>
        </p:spPr>
        <p:txBody>
          <a:bodyPr wrap="square">
            <a:spAutoFit/>
          </a:bodyPr>
          <a:lstStyle/>
          <a:p>
            <a:pPr indent="9525">
              <a:lnSpc>
                <a:spcPct val="150000"/>
              </a:lnSpc>
              <a:spcAft>
                <a:spcPts val="120"/>
              </a:spcAft>
            </a:pPr>
            <a:r>
              <a:rPr lang="zh-CN" altLang="en-US"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可靠性：</a:t>
            </a:r>
            <a:r>
              <a:rPr lang="zh-CN" altLang="zh-CN"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在规定的一段时间和条件下，软件能维持其性能水平的能力有关的一组属性，可用成熟性、容错性、易恢复性三个基本子特性来度量。</a:t>
            </a:r>
            <a:endParaRPr lang="zh-CN" altLang="zh-CN" dirty="0">
              <a:effectLst/>
              <a:latin typeface="Times New Roman" panose="02020603050405020304" pitchFamily="18" charset="0"/>
              <a:ea typeface="宋体" panose="02010600030101010101" pitchFamily="2" charset="-122"/>
              <a:cs typeface="宋体" panose="02010600030101010101" pitchFamily="2" charset="-122"/>
            </a:endParaRPr>
          </a:p>
          <a:p>
            <a:pPr marL="285750" indent="-285750">
              <a:lnSpc>
                <a:spcPct val="150000"/>
              </a:lnSpc>
              <a:spcAft>
                <a:spcPts val="120"/>
              </a:spcAft>
              <a:buFont typeface="Arial" panose="020B0604020202020204" pitchFamily="34" charset="0"/>
              <a:buChar char="•"/>
            </a:pPr>
            <a:r>
              <a:rPr lang="zh-CN" altLang="zh-CN" b="1"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成熟性度量</a:t>
            </a:r>
            <a:r>
              <a:rPr lang="zh-CN" altLang="en-US" b="1" dirty="0">
                <a:solidFill>
                  <a:srgbClr val="000000"/>
                </a:solidFill>
                <a:latin typeface="Times New Roman" panose="02020603050405020304" pitchFamily="18" charset="0"/>
                <a:ea typeface="宋体" panose="02010600030101010101" pitchFamily="2" charset="-122"/>
                <a:cs typeface="宋体" panose="02010600030101010101" pitchFamily="2" charset="-122"/>
              </a:rPr>
              <a:t>：</a:t>
            </a:r>
            <a:r>
              <a:rPr lang="zh-CN" altLang="zh-CN"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通过错误发现率</a:t>
            </a:r>
            <a:r>
              <a:rPr lang="en-US" altLang="zh-CN"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DDP</a:t>
            </a:r>
            <a:r>
              <a:rPr lang="zh-CN" altLang="zh-CN"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en-US" altLang="zh-CN" dirty="0">
                <a:solidFill>
                  <a:srgbClr val="000000"/>
                </a:solidFill>
                <a:effectLst/>
                <a:latin typeface="Arial" panose="020B0604020202020204" pitchFamily="34" charset="0"/>
                <a:ea typeface="宋体" panose="02010600030101010101" pitchFamily="2" charset="-122"/>
                <a:cs typeface="宋体" panose="02010600030101010101" pitchFamily="2" charset="-122"/>
              </a:rPr>
              <a:t>Defect Detection Percentage</a:t>
            </a:r>
            <a:r>
              <a:rPr lang="zh-CN" altLang="zh-CN" dirty="0">
                <a:solidFill>
                  <a:srgbClr val="000000"/>
                </a:solidFill>
                <a:effectLst/>
                <a:latin typeface="Arial" panose="020B0604020202020204" pitchFamily="34" charset="0"/>
                <a:ea typeface="宋体" panose="02010600030101010101" pitchFamily="2" charset="-122"/>
                <a:cs typeface="Arial" panose="020B0604020202020204" pitchFamily="34" charset="0"/>
              </a:rPr>
              <a:t>）来表现。</a:t>
            </a:r>
            <a:r>
              <a:rPr lang="en-US" altLang="zh-CN" dirty="0">
                <a:solidFill>
                  <a:srgbClr val="000000"/>
                </a:solidFill>
                <a:effectLst/>
                <a:latin typeface="Arial" panose="020B0604020202020204" pitchFamily="34" charset="0"/>
                <a:ea typeface="宋体" panose="02010600030101010101" pitchFamily="2" charset="-122"/>
                <a:cs typeface="Arial" panose="020B0604020202020204" pitchFamily="34" charset="0"/>
              </a:rPr>
              <a:t>DDP</a:t>
            </a:r>
            <a:r>
              <a:rPr lang="zh-CN" altLang="zh-CN" dirty="0">
                <a:solidFill>
                  <a:srgbClr val="000000"/>
                </a:solidFill>
                <a:effectLst/>
                <a:latin typeface="Arial" panose="020B0604020202020204" pitchFamily="34" charset="0"/>
                <a:ea typeface="宋体" panose="02010600030101010101" pitchFamily="2" charset="-122"/>
                <a:cs typeface="Arial" panose="020B0604020202020204" pitchFamily="34" charset="0"/>
              </a:rPr>
              <a:t>越小，软件越成熟</a:t>
            </a:r>
            <a:r>
              <a:rPr lang="zh-CN" altLang="zh-CN"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endParaRPr lang="zh-CN" altLang="zh-CN" dirty="0">
              <a:effectLst/>
              <a:latin typeface="Times New Roman" panose="02020603050405020304" pitchFamily="18" charset="0"/>
              <a:ea typeface="宋体" panose="02010600030101010101" pitchFamily="2" charset="-122"/>
              <a:cs typeface="宋体" panose="02010600030101010101" pitchFamily="2" charset="-122"/>
            </a:endParaRPr>
          </a:p>
          <a:p>
            <a:pPr algn="ctr">
              <a:lnSpc>
                <a:spcPct val="150000"/>
              </a:lnSpc>
            </a:pPr>
            <a:r>
              <a:rPr lang="en-US" altLang="zh-CN" b="1"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DDP=</a:t>
            </a:r>
            <a:r>
              <a:rPr lang="zh-CN" altLang="zh-CN" b="1"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测试发现的错误数量</a:t>
            </a:r>
            <a:r>
              <a:rPr lang="en-US" altLang="zh-CN" b="1"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a:t>
            </a:r>
            <a:r>
              <a:rPr lang="zh-CN" altLang="zh-CN" b="1" dirty="0">
                <a:solidFill>
                  <a:srgbClr val="000000"/>
                </a:solidFill>
                <a:effectLst/>
                <a:latin typeface="Times New Roman" panose="02020603050405020304" pitchFamily="18" charset="0"/>
                <a:ea typeface="宋体" panose="02010600030101010101" pitchFamily="2" charset="-122"/>
                <a:cs typeface="宋体" panose="02010600030101010101" pitchFamily="2" charset="-122"/>
              </a:rPr>
              <a:t>已知的全部错误数量</a:t>
            </a:r>
            <a:endParaRPr lang="zh-CN" altLang="zh-CN" dirty="0">
              <a:effectLst/>
              <a:latin typeface="Times New Roman" panose="02020603050405020304" pitchFamily="18" charset="0"/>
              <a:ea typeface="宋体" panose="02010600030101010101" pitchFamily="2" charset="-122"/>
              <a:cs typeface="宋体" panose="02010600030101010101" pitchFamily="2" charset="-122"/>
            </a:endParaRPr>
          </a:p>
          <a:p>
            <a:pPr marL="285750" indent="-285750">
              <a:lnSpc>
                <a:spcPct val="150000"/>
              </a:lnSpc>
              <a:spcAft>
                <a:spcPts val="120"/>
              </a:spcAft>
              <a:buFont typeface="Arial" panose="020B0604020202020204" pitchFamily="34" charset="0"/>
              <a:buChar char="•"/>
              <a:tabLst>
                <a:tab pos="114300" algn="l"/>
                <a:tab pos="228600" algn="l"/>
              </a:tabLst>
            </a:pPr>
            <a:r>
              <a:rPr lang="zh-CN" altLang="zh-CN" b="1"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容错性</a:t>
            </a:r>
            <a:r>
              <a:rPr lang="zh-CN" altLang="zh-CN"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测试在下面一节介绍</a:t>
            </a:r>
            <a:endParaRPr lang="en-US" altLang="zh-CN" dirty="0">
              <a:solidFill>
                <a:srgbClr val="000000"/>
              </a:solidFill>
              <a:latin typeface="宋体" panose="02010600030101010101" pitchFamily="2" charset="-122"/>
              <a:ea typeface="宋体" panose="02010600030101010101" pitchFamily="2" charset="-122"/>
              <a:cs typeface="宋体" panose="02010600030101010101" pitchFamily="2" charset="-122"/>
            </a:endParaRPr>
          </a:p>
          <a:p>
            <a:pPr marL="285750" indent="-285750">
              <a:lnSpc>
                <a:spcPct val="150000"/>
              </a:lnSpc>
              <a:spcAft>
                <a:spcPts val="120"/>
              </a:spcAft>
              <a:buFont typeface="Arial" panose="020B0604020202020204" pitchFamily="34" charset="0"/>
              <a:buChar char="•"/>
              <a:tabLst>
                <a:tab pos="114300" algn="l"/>
                <a:tab pos="228600" algn="l"/>
              </a:tabLst>
            </a:pPr>
            <a:r>
              <a:rPr lang="zh-CN" altLang="zh-CN" dirty="0">
                <a:solidFill>
                  <a:srgbClr val="000000"/>
                </a:solidFill>
                <a:effectLst/>
                <a:latin typeface="宋体" panose="02010600030101010101" pitchFamily="2" charset="-122"/>
                <a:ea typeface="宋体" panose="02010600030101010101" pitchFamily="2" charset="-122"/>
                <a:cs typeface="宋体" panose="02010600030101010101" pitchFamily="2" charset="-122"/>
              </a:rPr>
              <a:t>恢复性的测试先设法（模拟）使系统崩溃、失效等，然后计算其系统和数据恢复的时间来做出易恢复性评估。</a:t>
            </a:r>
            <a:endParaRPr lang="zh-CN" altLang="zh-CN" dirty="0">
              <a:effectLst/>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1736349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D68B1A-976F-3828-D776-5B612962705B}"/>
              </a:ext>
            </a:extLst>
          </p:cNvPr>
          <p:cNvSpPr>
            <a:spLocks noGrp="1"/>
          </p:cNvSpPr>
          <p:nvPr>
            <p:ph type="title"/>
          </p:nvPr>
        </p:nvSpPr>
        <p:spPr/>
        <p:txBody>
          <a:bodyPr/>
          <a:lstStyle/>
          <a:p>
            <a:r>
              <a:rPr kumimoji="1" lang="en-US" altLang="zh-CN" dirty="0"/>
              <a:t>7.4.2 </a:t>
            </a:r>
            <a:r>
              <a:rPr kumimoji="1" lang="zh-CN" altLang="en-US" dirty="0"/>
              <a:t>容错性测试</a:t>
            </a:r>
          </a:p>
        </p:txBody>
      </p:sp>
      <p:sp>
        <p:nvSpPr>
          <p:cNvPr id="3" name="文本占位符 2">
            <a:extLst>
              <a:ext uri="{FF2B5EF4-FFF2-40B4-BE49-F238E27FC236}">
                <a16:creationId xmlns:a16="http://schemas.microsoft.com/office/drawing/2014/main" id="{5CC25C19-3109-2C82-D5EB-7266C7C61C5A}"/>
              </a:ext>
            </a:extLst>
          </p:cNvPr>
          <p:cNvSpPr>
            <a:spLocks noGrp="1"/>
          </p:cNvSpPr>
          <p:nvPr>
            <p:ph type="body" sz="quarter" idx="10"/>
          </p:nvPr>
        </p:nvSpPr>
        <p:spPr>
          <a:xfrm>
            <a:off x="786319" y="1327274"/>
            <a:ext cx="7128035" cy="2233865"/>
          </a:xfrm>
        </p:spPr>
        <p:txBody>
          <a:bodyPr>
            <a:normAutofit/>
          </a:bodyPr>
          <a:lstStyle/>
          <a:p>
            <a:r>
              <a:rPr lang="en-US" altLang="zh-CN" sz="1800" dirty="0">
                <a:solidFill>
                  <a:srgbClr val="C00000"/>
                </a:solidFill>
                <a:effectLst/>
                <a:latin typeface="宋体" panose="02010600030101010101" pitchFamily="2" charset="-122"/>
                <a:cs typeface="Arial" panose="020B0604020202020204" pitchFamily="34" charset="0"/>
              </a:rPr>
              <a:t>容错测试</a:t>
            </a:r>
            <a:r>
              <a:rPr lang="en-US" altLang="zh-CN" sz="1800" dirty="0">
                <a:solidFill>
                  <a:srgbClr val="000000"/>
                </a:solidFill>
                <a:effectLst/>
                <a:latin typeface="宋体" panose="02010600030101010101" pitchFamily="2" charset="-122"/>
                <a:cs typeface="Arial" panose="020B0604020202020204" pitchFamily="34" charset="0"/>
              </a:rPr>
              <a:t>是一种对抗性的测试过程。在这种测试中，通过各种手段让软件强制性地发生故障，或将把应用程序或系统置于（模拟的）异常条件下，以产生故障，例如设备输入</a:t>
            </a:r>
            <a:r>
              <a:rPr lang="en-US" altLang="zh-CN" sz="1800" dirty="0">
                <a:solidFill>
                  <a:srgbClr val="000000"/>
                </a:solidFill>
                <a:effectLst/>
                <a:latin typeface="Arial" panose="020B0604020202020204" pitchFamily="34" charset="0"/>
                <a:ea typeface="宋体" panose="02010600030101010101" pitchFamily="2" charset="-122"/>
              </a:rPr>
              <a:t>/</a:t>
            </a:r>
            <a:r>
              <a:rPr lang="en-US" altLang="zh-CN" sz="1800" dirty="0" err="1">
                <a:solidFill>
                  <a:srgbClr val="000000"/>
                </a:solidFill>
                <a:effectLst/>
                <a:latin typeface="宋体" panose="02010600030101010101" pitchFamily="2" charset="-122"/>
                <a:cs typeface="Arial" panose="020B0604020202020204" pitchFamily="34" charset="0"/>
              </a:rPr>
              <a:t>输出（</a:t>
            </a:r>
            <a:r>
              <a:rPr lang="en-US" altLang="zh-CN" sz="1800" dirty="0" err="1">
                <a:solidFill>
                  <a:srgbClr val="000000"/>
                </a:solidFill>
                <a:effectLst/>
                <a:latin typeface="Arial" panose="020B0604020202020204" pitchFamily="34" charset="0"/>
                <a:ea typeface="宋体" panose="02010600030101010101" pitchFamily="2" charset="-122"/>
              </a:rPr>
              <a:t>I</a:t>
            </a:r>
            <a:r>
              <a:rPr lang="en-US" altLang="zh-CN" sz="1800" dirty="0">
                <a:solidFill>
                  <a:srgbClr val="000000"/>
                </a:solidFill>
                <a:effectLst/>
                <a:latin typeface="Arial" panose="020B0604020202020204" pitchFamily="34" charset="0"/>
                <a:ea typeface="宋体" panose="02010600030101010101" pitchFamily="2" charset="-122"/>
              </a:rPr>
              <a:t>/</a:t>
            </a:r>
            <a:r>
              <a:rPr lang="en-US" altLang="zh-CN" sz="1800" dirty="0" err="1">
                <a:solidFill>
                  <a:srgbClr val="000000"/>
                </a:solidFill>
                <a:effectLst/>
                <a:latin typeface="Arial" panose="020B0604020202020204" pitchFamily="34" charset="0"/>
                <a:ea typeface="宋体" panose="02010600030101010101" pitchFamily="2" charset="-122"/>
              </a:rPr>
              <a:t>O</a:t>
            </a:r>
            <a:r>
              <a:rPr lang="en-US" altLang="zh-CN" sz="1800" dirty="0" err="1">
                <a:solidFill>
                  <a:srgbClr val="000000"/>
                </a:solidFill>
                <a:effectLst/>
                <a:latin typeface="宋体" panose="02010600030101010101" pitchFamily="2" charset="-122"/>
                <a:cs typeface="Arial" panose="020B0604020202020204" pitchFamily="34" charset="0"/>
              </a:rPr>
              <a:t>）故障或无效的数据库指针和关键字等</a:t>
            </a:r>
            <a:r>
              <a:rPr lang="zh-CN" altLang="zh-CN" dirty="0">
                <a:effectLst/>
              </a:rPr>
              <a:t> </a:t>
            </a:r>
            <a:endParaRPr lang="en-US" altLang="zh-CN" dirty="0">
              <a:effectLst/>
            </a:endParaRPr>
          </a:p>
        </p:txBody>
      </p:sp>
    </p:spTree>
    <p:extLst>
      <p:ext uri="{BB962C8B-B14F-4D97-AF65-F5344CB8AC3E}">
        <p14:creationId xmlns:p14="http://schemas.microsoft.com/office/powerpoint/2010/main" val="11190267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D68B1A-976F-3828-D776-5B612962705B}"/>
              </a:ext>
            </a:extLst>
          </p:cNvPr>
          <p:cNvSpPr>
            <a:spLocks noGrp="1"/>
          </p:cNvSpPr>
          <p:nvPr>
            <p:ph type="title"/>
          </p:nvPr>
        </p:nvSpPr>
        <p:spPr/>
        <p:txBody>
          <a:bodyPr/>
          <a:lstStyle/>
          <a:p>
            <a:r>
              <a:rPr kumimoji="1" lang="en-US" altLang="zh-CN" dirty="0"/>
              <a:t>7.4.3 </a:t>
            </a:r>
            <a:r>
              <a:rPr kumimoji="1" lang="zh-CN" altLang="en-US" dirty="0"/>
              <a:t>数据库并发控制测试</a:t>
            </a:r>
          </a:p>
        </p:txBody>
      </p:sp>
      <p:sp>
        <p:nvSpPr>
          <p:cNvPr id="3" name="文本占位符 2">
            <a:extLst>
              <a:ext uri="{FF2B5EF4-FFF2-40B4-BE49-F238E27FC236}">
                <a16:creationId xmlns:a16="http://schemas.microsoft.com/office/drawing/2014/main" id="{5CC25C19-3109-2C82-D5EB-7266C7C61C5A}"/>
              </a:ext>
            </a:extLst>
          </p:cNvPr>
          <p:cNvSpPr>
            <a:spLocks noGrp="1"/>
          </p:cNvSpPr>
          <p:nvPr>
            <p:ph type="body" sz="quarter" idx="10"/>
          </p:nvPr>
        </p:nvSpPr>
        <p:spPr>
          <a:xfrm>
            <a:off x="786319" y="987908"/>
            <a:ext cx="7829780" cy="3423835"/>
          </a:xfrm>
        </p:spPr>
        <p:txBody>
          <a:bodyPr>
            <a:normAutofit/>
          </a:bodyPr>
          <a:lstStyle/>
          <a:p>
            <a:r>
              <a:rPr lang="zh-CN" altLang="en-US" sz="2000" dirty="0">
                <a:solidFill>
                  <a:srgbClr val="C00000"/>
                </a:solidFill>
                <a:effectLst/>
                <a:latin typeface="宋体" panose="02010600030101010101" pitchFamily="2" charset="-122"/>
                <a:cs typeface="Arial" panose="020B0604020202020204" pitchFamily="34" charset="0"/>
              </a:rPr>
              <a:t>数据库的并发控制能力</a:t>
            </a:r>
            <a:r>
              <a:rPr lang="zh-CN" altLang="en-US" sz="2000" dirty="0">
                <a:solidFill>
                  <a:srgbClr val="000000"/>
                </a:solidFill>
                <a:effectLst/>
                <a:latin typeface="宋体" panose="02010600030101010101" pitchFamily="2" charset="-122"/>
                <a:cs typeface="Arial" panose="020B0604020202020204" pitchFamily="34" charset="0"/>
              </a:rPr>
              <a:t>是指在处理多个用户在同一时间内对相同数据进行同时访问的能力。</a:t>
            </a:r>
            <a:endParaRPr lang="en-US" altLang="zh-CN" sz="2000" dirty="0">
              <a:solidFill>
                <a:srgbClr val="000000"/>
              </a:solidFill>
              <a:effectLst/>
              <a:latin typeface="宋体" panose="02010600030101010101" pitchFamily="2" charset="-122"/>
              <a:cs typeface="Arial" panose="020B0604020202020204" pitchFamily="34" charset="0"/>
            </a:endParaRPr>
          </a:p>
          <a:p>
            <a:r>
              <a:rPr lang="zh-CN" altLang="en-US" sz="2000" dirty="0">
                <a:solidFill>
                  <a:srgbClr val="000000"/>
                </a:solidFill>
                <a:latin typeface="宋体" panose="02010600030101010101" pitchFamily="2" charset="-122"/>
                <a:cs typeface="Arial" panose="020B0604020202020204" pitchFamily="34" charset="0"/>
              </a:rPr>
              <a:t>并发控制过冲突中，主要包括三类：</a:t>
            </a:r>
            <a:endParaRPr lang="en-US" altLang="zh-CN" sz="2000" dirty="0">
              <a:solidFill>
                <a:srgbClr val="000000"/>
              </a:solidFill>
              <a:latin typeface="宋体" panose="02010600030101010101" pitchFamily="2" charset="-122"/>
              <a:cs typeface="Arial" panose="020B0604020202020204" pitchFamily="34" charset="0"/>
            </a:endParaRPr>
          </a:p>
          <a:p>
            <a:r>
              <a:rPr lang="en-US" altLang="zh-CN" sz="2000" dirty="0">
                <a:solidFill>
                  <a:srgbClr val="000000"/>
                </a:solidFill>
                <a:latin typeface="宋体" panose="02010600030101010101" pitchFamily="2" charset="-122"/>
                <a:cs typeface="Arial" panose="020B0604020202020204" pitchFamily="34" charset="0"/>
              </a:rPr>
              <a:t>1.</a:t>
            </a:r>
            <a:r>
              <a:rPr lang="zh-CN" altLang="en-US" sz="2000" dirty="0">
                <a:solidFill>
                  <a:srgbClr val="000000"/>
                </a:solidFill>
                <a:latin typeface="宋体" panose="02010600030101010101" pitchFamily="2" charset="-122"/>
                <a:cs typeface="Arial" panose="020B0604020202020204" pitchFamily="34" charset="0"/>
              </a:rPr>
              <a:t>丢失数据</a:t>
            </a:r>
            <a:endParaRPr lang="en-US" altLang="zh-CN" sz="2000" dirty="0">
              <a:solidFill>
                <a:srgbClr val="000000"/>
              </a:solidFill>
              <a:latin typeface="宋体" panose="02010600030101010101" pitchFamily="2" charset="-122"/>
              <a:cs typeface="Arial" panose="020B0604020202020204" pitchFamily="34" charset="0"/>
            </a:endParaRPr>
          </a:p>
          <a:p>
            <a:r>
              <a:rPr lang="en-US" altLang="zh-CN" sz="2000" dirty="0">
                <a:solidFill>
                  <a:srgbClr val="000000"/>
                </a:solidFill>
                <a:latin typeface="宋体" panose="02010600030101010101" pitchFamily="2" charset="-122"/>
                <a:cs typeface="Arial" panose="020B0604020202020204" pitchFamily="34" charset="0"/>
              </a:rPr>
              <a:t>2.</a:t>
            </a:r>
            <a:r>
              <a:rPr lang="zh-CN" altLang="en-US" sz="2000" dirty="0">
                <a:solidFill>
                  <a:srgbClr val="000000"/>
                </a:solidFill>
                <a:latin typeface="宋体" panose="02010600030101010101" pitchFamily="2" charset="-122"/>
                <a:cs typeface="Arial" panose="020B0604020202020204" pitchFamily="34" charset="0"/>
              </a:rPr>
              <a:t>不可重复读数据</a:t>
            </a:r>
            <a:endParaRPr lang="en-US" altLang="zh-CN" sz="2000" dirty="0">
              <a:solidFill>
                <a:srgbClr val="000000"/>
              </a:solidFill>
              <a:latin typeface="宋体" panose="02010600030101010101" pitchFamily="2" charset="-122"/>
              <a:cs typeface="Arial" panose="020B0604020202020204" pitchFamily="34" charset="0"/>
            </a:endParaRPr>
          </a:p>
          <a:p>
            <a:r>
              <a:rPr lang="en-US" altLang="zh-CN" sz="2000" dirty="0">
                <a:solidFill>
                  <a:srgbClr val="000000"/>
                </a:solidFill>
                <a:latin typeface="宋体" panose="02010600030101010101" pitchFamily="2" charset="-122"/>
                <a:cs typeface="Arial" panose="020B0604020202020204" pitchFamily="34" charset="0"/>
              </a:rPr>
              <a:t>3.</a:t>
            </a:r>
            <a:r>
              <a:rPr lang="zh-CN" altLang="en-US" sz="2000" dirty="0">
                <a:solidFill>
                  <a:srgbClr val="000000"/>
                </a:solidFill>
                <a:latin typeface="宋体" panose="02010600030101010101" pitchFamily="2" charset="-122"/>
                <a:cs typeface="Arial" panose="020B0604020202020204" pitchFamily="34" charset="0"/>
              </a:rPr>
              <a:t>读“脏”数据</a:t>
            </a:r>
            <a:endParaRPr lang="zh-CN" altLang="en-US" sz="2000" dirty="0">
              <a:solidFill>
                <a:srgbClr val="00B0F0"/>
              </a:solidFill>
              <a:latin typeface="宋体" panose="02010600030101010101" pitchFamily="2" charset="-122"/>
              <a:cs typeface="Arial" panose="020B0604020202020204" pitchFamily="34" charset="0"/>
            </a:endParaRPr>
          </a:p>
        </p:txBody>
      </p:sp>
    </p:spTree>
    <p:extLst>
      <p:ext uri="{BB962C8B-B14F-4D97-AF65-F5344CB8AC3E}">
        <p14:creationId xmlns:p14="http://schemas.microsoft.com/office/powerpoint/2010/main" val="352425033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4CE85A-4D12-4DEC-8024-FCF37F90697B}"/>
              </a:ext>
            </a:extLst>
          </p:cNvPr>
          <p:cNvSpPr>
            <a:spLocks noGrp="1"/>
          </p:cNvSpPr>
          <p:nvPr>
            <p:ph type="title"/>
          </p:nvPr>
        </p:nvSpPr>
        <p:spPr/>
        <p:txBody>
          <a:bodyPr/>
          <a:lstStyle/>
          <a:p>
            <a:r>
              <a:rPr lang="zh-CN" altLang="en-US" dirty="0"/>
              <a:t>丢失数据</a:t>
            </a:r>
          </a:p>
        </p:txBody>
      </p:sp>
      <p:pic>
        <p:nvPicPr>
          <p:cNvPr id="4" name="图片 3">
            <a:extLst>
              <a:ext uri="{FF2B5EF4-FFF2-40B4-BE49-F238E27FC236}">
                <a16:creationId xmlns:a16="http://schemas.microsoft.com/office/drawing/2014/main" id="{48A44D97-DD94-B612-2941-94A228C75109}"/>
              </a:ext>
            </a:extLst>
          </p:cNvPr>
          <p:cNvPicPr>
            <a:picLocks noChangeAspect="1"/>
          </p:cNvPicPr>
          <p:nvPr/>
        </p:nvPicPr>
        <p:blipFill>
          <a:blip r:embed="rId2"/>
          <a:stretch>
            <a:fillRect/>
          </a:stretch>
        </p:blipFill>
        <p:spPr>
          <a:xfrm>
            <a:off x="3628142" y="999242"/>
            <a:ext cx="4078318" cy="3548957"/>
          </a:xfrm>
          <a:prstGeom prst="rect">
            <a:avLst/>
          </a:prstGeom>
        </p:spPr>
      </p:pic>
    </p:spTree>
    <p:extLst>
      <p:ext uri="{BB962C8B-B14F-4D97-AF65-F5344CB8AC3E}">
        <p14:creationId xmlns:p14="http://schemas.microsoft.com/office/powerpoint/2010/main" val="21968131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2D02BAD4-55EA-DF09-0EC5-34806E52F101}"/>
              </a:ext>
            </a:extLst>
          </p:cNvPr>
          <p:cNvSpPr>
            <a:spLocks noGrp="1"/>
          </p:cNvSpPr>
          <p:nvPr>
            <p:ph type="title"/>
          </p:nvPr>
        </p:nvSpPr>
        <p:spPr/>
        <p:txBody>
          <a:bodyPr/>
          <a:lstStyle/>
          <a:p>
            <a:r>
              <a:rPr lang="zh-CN" altLang="en-US" dirty="0"/>
              <a:t>火车票系统的加锁技术的并发控制</a:t>
            </a:r>
          </a:p>
        </p:txBody>
      </p:sp>
      <p:pic>
        <p:nvPicPr>
          <p:cNvPr id="6" name="图片 5">
            <a:extLst>
              <a:ext uri="{FF2B5EF4-FFF2-40B4-BE49-F238E27FC236}">
                <a16:creationId xmlns:a16="http://schemas.microsoft.com/office/drawing/2014/main" id="{E2B07E70-9EB9-7E9C-C599-4DD8870298D1}"/>
              </a:ext>
            </a:extLst>
          </p:cNvPr>
          <p:cNvPicPr>
            <a:picLocks noChangeAspect="1"/>
          </p:cNvPicPr>
          <p:nvPr/>
        </p:nvPicPr>
        <p:blipFill>
          <a:blip r:embed="rId2"/>
          <a:stretch>
            <a:fillRect/>
          </a:stretch>
        </p:blipFill>
        <p:spPr>
          <a:xfrm>
            <a:off x="2337590" y="1046376"/>
            <a:ext cx="4760793" cy="3396796"/>
          </a:xfrm>
          <a:prstGeom prst="rect">
            <a:avLst/>
          </a:prstGeom>
        </p:spPr>
      </p:pic>
    </p:spTree>
    <p:extLst>
      <p:ext uri="{BB962C8B-B14F-4D97-AF65-F5344CB8AC3E}">
        <p14:creationId xmlns:p14="http://schemas.microsoft.com/office/powerpoint/2010/main" val="19560133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7E56D7C-C47F-EE1D-34AE-3345C46D999E}"/>
              </a:ext>
            </a:extLst>
          </p:cNvPr>
          <p:cNvPicPr>
            <a:picLocks noChangeAspect="1"/>
          </p:cNvPicPr>
          <p:nvPr/>
        </p:nvPicPr>
        <p:blipFill>
          <a:blip r:embed="rId3">
            <a:duotone>
              <a:schemeClr val="accent1">
                <a:shade val="45000"/>
                <a:satMod val="135000"/>
              </a:schemeClr>
              <a:prstClr val="white"/>
            </a:duotone>
          </a:blip>
          <a:stretch>
            <a:fillRect/>
          </a:stretch>
        </p:blipFill>
        <p:spPr>
          <a:xfrm>
            <a:off x="-1" y="-29046"/>
            <a:ext cx="9144001" cy="4267806"/>
          </a:xfrm>
          <a:prstGeom prst="rect">
            <a:avLst/>
          </a:prstGeom>
        </p:spPr>
      </p:pic>
      <p:sp>
        <p:nvSpPr>
          <p:cNvPr id="2" name="标题 1"/>
          <p:cNvSpPr>
            <a:spLocks noGrp="1"/>
          </p:cNvSpPr>
          <p:nvPr>
            <p:ph type="title"/>
          </p:nvPr>
        </p:nvSpPr>
        <p:spPr>
          <a:xfrm>
            <a:off x="724265" y="1128314"/>
            <a:ext cx="8040594" cy="895350"/>
          </a:xfrm>
        </p:spPr>
        <p:txBody>
          <a:bodyPr vert="horz" lIns="91440" tIns="45720" rIns="91440" bIns="45720" rtlCol="0" anchor="ctr">
            <a:normAutofit/>
          </a:bodyPr>
          <a:lstStyle/>
          <a:p>
            <a:r>
              <a:rPr lang="en-US" altLang="zh-CN" sz="4800" b="1" dirty="0">
                <a:solidFill>
                  <a:schemeClr val="accent2">
                    <a:lumMod val="75000"/>
                  </a:schemeClr>
                </a:solidFill>
              </a:rPr>
              <a:t>7.5</a:t>
            </a:r>
            <a:r>
              <a:rPr lang="zh-CN" altLang="en-US" sz="4800" b="1" dirty="0">
                <a:solidFill>
                  <a:schemeClr val="accent2">
                    <a:lumMod val="75000"/>
                  </a:schemeClr>
                </a:solidFill>
              </a:rPr>
              <a:t> 易用性</a:t>
            </a:r>
            <a:r>
              <a:rPr lang="zh-CN" altLang="zh-CN" sz="4800" b="1" dirty="0">
                <a:solidFill>
                  <a:schemeClr val="accent2">
                    <a:lumMod val="75000"/>
                  </a:schemeClr>
                </a:solidFill>
              </a:rPr>
              <a:t>测试</a:t>
            </a:r>
            <a:r>
              <a:rPr lang="zh-CN" altLang="en-US" sz="4800" b="1" dirty="0">
                <a:solidFill>
                  <a:schemeClr val="accent2">
                    <a:lumMod val="75000"/>
                  </a:schemeClr>
                </a:solidFill>
              </a:rPr>
              <a:t>：</a:t>
            </a:r>
            <a:r>
              <a:rPr lang="en-US" altLang="zh-CN" sz="4800" b="1" dirty="0">
                <a:solidFill>
                  <a:schemeClr val="accent2">
                    <a:lumMod val="75000"/>
                  </a:schemeClr>
                </a:solidFill>
                <a:ea typeface="思源黑体 Bold" panose="020B0800000000000000" charset="-122"/>
              </a:rPr>
              <a:t>A/B</a:t>
            </a:r>
            <a:r>
              <a:rPr lang="zh-CN" altLang="en-US" sz="4800" b="1" dirty="0">
                <a:solidFill>
                  <a:schemeClr val="accent2">
                    <a:lumMod val="75000"/>
                  </a:schemeClr>
                </a:solidFill>
                <a:ea typeface="思源黑体 Bold" panose="020B0800000000000000" charset="-122"/>
              </a:rPr>
              <a:t>测试</a:t>
            </a:r>
            <a:endParaRPr lang="zh-CN" altLang="en-US" sz="4800" b="1" dirty="0">
              <a:solidFill>
                <a:schemeClr val="accent2">
                  <a:lumMod val="75000"/>
                </a:schemeClr>
              </a:solidFill>
            </a:endParaRPr>
          </a:p>
        </p:txBody>
      </p:sp>
    </p:spTree>
    <p:extLst>
      <p:ext uri="{BB962C8B-B14F-4D97-AF65-F5344CB8AC3E}">
        <p14:creationId xmlns:p14="http://schemas.microsoft.com/office/powerpoint/2010/main" val="3178142235"/>
      </p:ext>
    </p:extLst>
  </p:cSld>
  <p:clrMapOvr>
    <a:masterClrMapping/>
  </p:clrMapOvr>
  <p:transition spd="slow">
    <p:wipe dir="r"/>
  </p:transition>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9EAA0A-E31A-6BBD-90C7-1E757E4322AA}"/>
              </a:ext>
            </a:extLst>
          </p:cNvPr>
          <p:cNvSpPr>
            <a:spLocks noGrp="1"/>
          </p:cNvSpPr>
          <p:nvPr>
            <p:ph type="title"/>
          </p:nvPr>
        </p:nvSpPr>
        <p:spPr/>
        <p:txBody>
          <a:bodyPr/>
          <a:lstStyle/>
          <a:p>
            <a:r>
              <a:rPr lang="zh-CN" altLang="en-US" dirty="0"/>
              <a:t>良好的</a:t>
            </a:r>
            <a:r>
              <a:rPr lang="en-US" altLang="zh-CN" dirty="0"/>
              <a:t>UI</a:t>
            </a:r>
            <a:r>
              <a:rPr lang="zh-CN" altLang="en-US" dirty="0"/>
              <a:t>元素</a:t>
            </a:r>
            <a:endParaRPr kumimoji="1" lang="zh-CN" altLang="en-US" dirty="0"/>
          </a:p>
        </p:txBody>
      </p:sp>
      <p:sp>
        <p:nvSpPr>
          <p:cNvPr id="4" name="文本框 3">
            <a:extLst>
              <a:ext uri="{FF2B5EF4-FFF2-40B4-BE49-F238E27FC236}">
                <a16:creationId xmlns:a16="http://schemas.microsoft.com/office/drawing/2014/main" id="{AF542466-7B8B-7599-71B3-0BF13E7AED4E}"/>
              </a:ext>
            </a:extLst>
          </p:cNvPr>
          <p:cNvSpPr txBox="1"/>
          <p:nvPr/>
        </p:nvSpPr>
        <p:spPr>
          <a:xfrm>
            <a:off x="766052" y="1036395"/>
            <a:ext cx="7648373" cy="646331"/>
          </a:xfrm>
          <a:prstGeom prst="rect">
            <a:avLst/>
          </a:prstGeom>
          <a:noFill/>
        </p:spPr>
        <p:txBody>
          <a:bodyPr wrap="square">
            <a:spAutoFit/>
          </a:bodyPr>
          <a:lstStyle/>
          <a:p>
            <a:r>
              <a:rPr lang="en-US" altLang="zh-CN" sz="1800" dirty="0">
                <a:solidFill>
                  <a:srgbClr val="000000"/>
                </a:solidFill>
                <a:effectLst/>
                <a:latin typeface="Microsoft YaHei" panose="020B0503020204020204" pitchFamily="34" charset="-122"/>
                <a:ea typeface="Microsoft YaHei" panose="020B0503020204020204" pitchFamily="34" charset="-122"/>
                <a:cs typeface="Times New Roman" panose="02020603050405020304" pitchFamily="18" charset="0"/>
              </a:rPr>
              <a:t>好的用户界面包括</a:t>
            </a:r>
            <a:r>
              <a:rPr lang="en-US" altLang="zh-CN" sz="1800" dirty="0">
                <a:solidFill>
                  <a:srgbClr val="000000"/>
                </a:solidFill>
                <a:effectLst/>
                <a:latin typeface="Microsoft YaHei" panose="020B0503020204020204" pitchFamily="34" charset="-122"/>
                <a:ea typeface="Microsoft YaHei" panose="020B0503020204020204" pitchFamily="34" charset="-122"/>
              </a:rPr>
              <a:t>7</a:t>
            </a:r>
            <a:r>
              <a:rPr lang="en-US" altLang="zh-CN" sz="1800" dirty="0">
                <a:solidFill>
                  <a:srgbClr val="000000"/>
                </a:solidFill>
                <a:effectLst/>
                <a:latin typeface="Microsoft YaHei" panose="020B0503020204020204" pitchFamily="34" charset="-122"/>
                <a:ea typeface="Microsoft YaHei" panose="020B0503020204020204" pitchFamily="34" charset="-122"/>
                <a:cs typeface="Times New Roman" panose="02020603050405020304" pitchFamily="18" charset="0"/>
              </a:rPr>
              <a:t>个要素：符合标准和规范、直观性、一致性、灵活性、舒适性、正确性、实用性</a:t>
            </a:r>
            <a:r>
              <a:rPr lang="zh-CN" altLang="zh-CN" dirty="0">
                <a:effectLst/>
                <a:latin typeface="Microsoft YaHei" panose="020B0503020204020204" pitchFamily="34" charset="-122"/>
                <a:ea typeface="Microsoft YaHei" panose="020B0503020204020204" pitchFamily="34" charset="-122"/>
              </a:rPr>
              <a:t> </a:t>
            </a:r>
            <a:endParaRPr lang="zh-CN" altLang="en-US" dirty="0">
              <a:latin typeface="Microsoft YaHei" panose="020B0503020204020204" pitchFamily="34" charset="-122"/>
              <a:ea typeface="Microsoft YaHei" panose="020B0503020204020204" pitchFamily="34" charset="-122"/>
            </a:endParaRPr>
          </a:p>
        </p:txBody>
      </p:sp>
      <p:pic>
        <p:nvPicPr>
          <p:cNvPr id="5" name="图片 4" descr="9-3">
            <a:extLst>
              <a:ext uri="{FF2B5EF4-FFF2-40B4-BE49-F238E27FC236}">
                <a16:creationId xmlns:a16="http://schemas.microsoft.com/office/drawing/2014/main" id="{191532E9-9712-84C4-B8F2-2A579CCE0CA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03189" y="2253714"/>
            <a:ext cx="3344306" cy="1641528"/>
          </a:xfrm>
          <a:prstGeom prst="rect">
            <a:avLst/>
          </a:prstGeom>
          <a:noFill/>
          <a:ln>
            <a:noFill/>
          </a:ln>
        </p:spPr>
      </p:pic>
      <p:grpSp>
        <p:nvGrpSpPr>
          <p:cNvPr id="7" name="组合 6">
            <a:extLst>
              <a:ext uri="{FF2B5EF4-FFF2-40B4-BE49-F238E27FC236}">
                <a16:creationId xmlns:a16="http://schemas.microsoft.com/office/drawing/2014/main" id="{0515A3E6-E8E4-2089-E32E-3C722203FD16}"/>
              </a:ext>
            </a:extLst>
          </p:cNvPr>
          <p:cNvGrpSpPr/>
          <p:nvPr/>
        </p:nvGrpSpPr>
        <p:grpSpPr>
          <a:xfrm>
            <a:off x="766052" y="1914454"/>
            <a:ext cx="3942402" cy="2554047"/>
            <a:chOff x="319190" y="2101174"/>
            <a:chExt cx="3942402" cy="2554047"/>
          </a:xfrm>
        </p:grpSpPr>
        <p:pic>
          <p:nvPicPr>
            <p:cNvPr id="1026" name="Picture 2" descr="See the source image">
              <a:extLst>
                <a:ext uri="{FF2B5EF4-FFF2-40B4-BE49-F238E27FC236}">
                  <a16:creationId xmlns:a16="http://schemas.microsoft.com/office/drawing/2014/main" id="{8281EFFD-5A5C-9CFD-1C3A-60992722D4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190" y="2101174"/>
              <a:ext cx="1277024" cy="255404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ee the source image">
              <a:extLst>
                <a:ext uri="{FF2B5EF4-FFF2-40B4-BE49-F238E27FC236}">
                  <a16:creationId xmlns:a16="http://schemas.microsoft.com/office/drawing/2014/main" id="{AA96AACF-7B4B-36B1-EB4E-EF1EEEA43D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96214" y="3291865"/>
              <a:ext cx="2665378" cy="1332689"/>
            </a:xfrm>
            <a:prstGeom prst="rect">
              <a:avLst/>
            </a:prstGeom>
            <a:noFill/>
            <a:extLst>
              <a:ext uri="{909E8E84-426E-40DD-AFC4-6F175D3DCCD1}">
                <a14:hiddenFill xmlns:a14="http://schemas.microsoft.com/office/drawing/2010/main">
                  <a:solidFill>
                    <a:srgbClr val="FFFFFF"/>
                  </a:solidFill>
                </a14:hiddenFill>
              </a:ext>
            </a:extLst>
          </p:spPr>
        </p:pic>
        <p:sp>
          <p:nvSpPr>
            <p:cNvPr id="6" name="圆角右箭头 5">
              <a:extLst>
                <a:ext uri="{FF2B5EF4-FFF2-40B4-BE49-F238E27FC236}">
                  <a16:creationId xmlns:a16="http://schemas.microsoft.com/office/drawing/2014/main" id="{5E6BDEF9-CD47-C572-61E8-57DC5A0297B5}"/>
                </a:ext>
              </a:extLst>
            </p:cNvPr>
            <p:cNvSpPr/>
            <p:nvPr/>
          </p:nvSpPr>
          <p:spPr>
            <a:xfrm rot="5400000">
              <a:off x="1853991" y="2048277"/>
              <a:ext cx="955144" cy="1470698"/>
            </a:xfrm>
            <a:prstGeom prst="bentArrow">
              <a:avLst>
                <a:gd name="adj1" fmla="val 19454"/>
                <a:gd name="adj2" fmla="val 25000"/>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grpSp>
      <p:sp>
        <p:nvSpPr>
          <p:cNvPr id="8" name="文本框 7">
            <a:extLst>
              <a:ext uri="{FF2B5EF4-FFF2-40B4-BE49-F238E27FC236}">
                <a16:creationId xmlns:a16="http://schemas.microsoft.com/office/drawing/2014/main" id="{8FBDF5A6-8828-8DA8-E90D-4A3B2E33EB96}"/>
              </a:ext>
            </a:extLst>
          </p:cNvPr>
          <p:cNvSpPr txBox="1"/>
          <p:nvPr/>
        </p:nvSpPr>
        <p:spPr>
          <a:xfrm>
            <a:off x="2169268" y="4496897"/>
            <a:ext cx="877163" cy="369332"/>
          </a:xfrm>
          <a:prstGeom prst="rect">
            <a:avLst/>
          </a:prstGeom>
          <a:noFill/>
        </p:spPr>
        <p:txBody>
          <a:bodyPr wrap="none" rtlCol="0">
            <a:spAutoFit/>
          </a:bodyPr>
          <a:lstStyle/>
          <a:p>
            <a:r>
              <a:rPr kumimoji="1" lang="zh-CN" altLang="en-US" dirty="0">
                <a:solidFill>
                  <a:srgbClr val="00B0F0"/>
                </a:solidFill>
              </a:rPr>
              <a:t>灵活性</a:t>
            </a:r>
          </a:p>
        </p:txBody>
      </p:sp>
      <p:sp>
        <p:nvSpPr>
          <p:cNvPr id="9" name="文本框 8">
            <a:extLst>
              <a:ext uri="{FF2B5EF4-FFF2-40B4-BE49-F238E27FC236}">
                <a16:creationId xmlns:a16="http://schemas.microsoft.com/office/drawing/2014/main" id="{DD514816-2F36-F8F1-7119-F1A0CD9A7D9E}"/>
              </a:ext>
            </a:extLst>
          </p:cNvPr>
          <p:cNvSpPr txBox="1"/>
          <p:nvPr/>
        </p:nvSpPr>
        <p:spPr>
          <a:xfrm>
            <a:off x="6662342" y="3922439"/>
            <a:ext cx="891591" cy="369332"/>
          </a:xfrm>
          <a:prstGeom prst="rect">
            <a:avLst/>
          </a:prstGeom>
          <a:noFill/>
        </p:spPr>
        <p:txBody>
          <a:bodyPr wrap="none" rtlCol="0">
            <a:spAutoFit/>
          </a:bodyPr>
          <a:lstStyle/>
          <a:p>
            <a:r>
              <a:rPr kumimoji="1" lang="zh-CN" altLang="en-US" dirty="0">
                <a:solidFill>
                  <a:srgbClr val="00B0F0"/>
                </a:solidFill>
              </a:rPr>
              <a:t>舒适性</a:t>
            </a:r>
          </a:p>
        </p:txBody>
      </p:sp>
    </p:spTree>
    <p:extLst>
      <p:ext uri="{BB962C8B-B14F-4D97-AF65-F5344CB8AC3E}">
        <p14:creationId xmlns:p14="http://schemas.microsoft.com/office/powerpoint/2010/main" val="143243375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9EAA0A-E31A-6BBD-90C7-1E757E4322AA}"/>
              </a:ext>
            </a:extLst>
          </p:cNvPr>
          <p:cNvSpPr>
            <a:spLocks noGrp="1"/>
          </p:cNvSpPr>
          <p:nvPr>
            <p:ph type="title"/>
          </p:nvPr>
        </p:nvSpPr>
        <p:spPr/>
        <p:txBody>
          <a:bodyPr/>
          <a:lstStyle/>
          <a:p>
            <a:r>
              <a:rPr lang="zh-CN" altLang="en-US" dirty="0"/>
              <a:t>用户体验测试方法</a:t>
            </a:r>
            <a:endParaRPr kumimoji="1" lang="zh-CN" altLang="en-US" dirty="0"/>
          </a:p>
        </p:txBody>
      </p:sp>
      <p:sp>
        <p:nvSpPr>
          <p:cNvPr id="4" name="文本框 3">
            <a:extLst>
              <a:ext uri="{FF2B5EF4-FFF2-40B4-BE49-F238E27FC236}">
                <a16:creationId xmlns:a16="http://schemas.microsoft.com/office/drawing/2014/main" id="{8460C662-FCEE-3946-4A0D-F4F57D9202A0}"/>
              </a:ext>
            </a:extLst>
          </p:cNvPr>
          <p:cNvSpPr txBox="1"/>
          <p:nvPr/>
        </p:nvSpPr>
        <p:spPr>
          <a:xfrm>
            <a:off x="659859" y="1202817"/>
            <a:ext cx="7647562" cy="2737865"/>
          </a:xfrm>
          <a:prstGeom prst="rect">
            <a:avLst/>
          </a:prstGeom>
          <a:noFill/>
        </p:spPr>
        <p:txBody>
          <a:bodyPr wrap="square">
            <a:spAutoFit/>
          </a:bodyPr>
          <a:lstStyle/>
          <a:p>
            <a:pPr marL="171450" lvl="1" indent="-171450" defTabSz="685800">
              <a:lnSpc>
                <a:spcPct val="150000"/>
              </a:lnSpc>
              <a:spcBef>
                <a:spcPts val="750"/>
              </a:spcBef>
              <a:buClr>
                <a:srgbClr val="FFC600"/>
              </a:buClr>
              <a:buSzPct val="100000"/>
              <a:buFont typeface="Arial" panose="020B0604020202020204"/>
              <a:buChar char="•"/>
            </a:pPr>
            <a:r>
              <a:rPr lang="zh-CN" altLang="zh-CN" b="1" dirty="0">
                <a:solidFill>
                  <a:srgbClr val="242C52"/>
                </a:solidFill>
                <a:latin typeface="Microsoft YaHei" panose="020B0503020204020204" pitchFamily="34" charset="-122"/>
                <a:ea typeface="Microsoft YaHei" panose="020B0503020204020204" pitchFamily="34" charset="-122"/>
              </a:rPr>
              <a:t>探索式测试</a:t>
            </a:r>
            <a:r>
              <a:rPr lang="zh-CN" altLang="zh-CN" dirty="0">
                <a:solidFill>
                  <a:srgbClr val="242C52"/>
                </a:solidFill>
                <a:latin typeface="Microsoft YaHei" panose="020B0503020204020204" pitchFamily="34" charset="-122"/>
                <a:ea typeface="Microsoft YaHei" panose="020B0503020204020204" pitchFamily="34" charset="-122"/>
              </a:rPr>
              <a:t>：可确定新产品应包含哪些内容和功能，可评估初步设计或原型的有效性和易用性。</a:t>
            </a:r>
          </a:p>
          <a:p>
            <a:pPr marL="171450" lvl="1" indent="-171450" defTabSz="685800">
              <a:lnSpc>
                <a:spcPct val="150000"/>
              </a:lnSpc>
              <a:spcBef>
                <a:spcPts val="750"/>
              </a:spcBef>
              <a:buClr>
                <a:srgbClr val="FFC600"/>
              </a:buClr>
              <a:buSzPct val="100000"/>
              <a:buFont typeface="Arial" panose="020B0604020202020204"/>
              <a:buChar char="•"/>
            </a:pPr>
            <a:r>
              <a:rPr lang="zh-CN" altLang="zh-CN" b="1" dirty="0">
                <a:solidFill>
                  <a:srgbClr val="242C52"/>
                </a:solidFill>
                <a:latin typeface="Microsoft YaHei" panose="020B0503020204020204" pitchFamily="34" charset="-122"/>
                <a:ea typeface="Microsoft YaHei" panose="020B0503020204020204" pitchFamily="34" charset="-122"/>
              </a:rPr>
              <a:t>评估性测试</a:t>
            </a:r>
            <a:r>
              <a:rPr lang="zh-CN" altLang="zh-CN" dirty="0">
                <a:solidFill>
                  <a:srgbClr val="242C52"/>
                </a:solidFill>
                <a:latin typeface="Microsoft YaHei" panose="020B0503020204020204" pitchFamily="34" charset="-122"/>
                <a:ea typeface="Microsoft YaHei" panose="020B0503020204020204" pitchFamily="34" charset="-122"/>
              </a:rPr>
              <a:t>：在发布前或发布后对最新版本的测试，以确保用户直观使用并提供良好的用户体验。</a:t>
            </a:r>
          </a:p>
          <a:p>
            <a:pPr marL="171450" lvl="1" indent="-171450" defTabSz="685800">
              <a:lnSpc>
                <a:spcPct val="150000"/>
              </a:lnSpc>
              <a:spcBef>
                <a:spcPts val="750"/>
              </a:spcBef>
              <a:buClr>
                <a:srgbClr val="FFC600"/>
              </a:buClr>
              <a:buSzPct val="100000"/>
              <a:buFont typeface="Arial" panose="020B0604020202020204"/>
              <a:buChar char="•"/>
            </a:pPr>
            <a:r>
              <a:rPr lang="zh-CN" altLang="zh-CN" b="1" dirty="0">
                <a:solidFill>
                  <a:srgbClr val="242C52"/>
                </a:solidFill>
                <a:latin typeface="Microsoft YaHei" panose="020B0503020204020204" pitchFamily="34" charset="-122"/>
                <a:ea typeface="Microsoft YaHei" panose="020B0503020204020204" pitchFamily="34" charset="-122"/>
              </a:rPr>
              <a:t>比较性测试</a:t>
            </a:r>
            <a:r>
              <a:rPr lang="zh-CN" altLang="zh-CN" dirty="0">
                <a:solidFill>
                  <a:srgbClr val="242C52"/>
                </a:solidFill>
                <a:latin typeface="Microsoft YaHei" panose="020B0503020204020204" pitchFamily="34" charset="-122"/>
                <a:ea typeface="Microsoft YaHei" panose="020B0503020204020204" pitchFamily="34" charset="-122"/>
              </a:rPr>
              <a:t>：比较两种或更多种产品或设计的易用性，并区分各自的优缺点，以确定哪种设计能提供最佳的用户操作体验。</a:t>
            </a:r>
          </a:p>
        </p:txBody>
      </p:sp>
    </p:spTree>
    <p:extLst>
      <p:ext uri="{BB962C8B-B14F-4D97-AF65-F5344CB8AC3E}">
        <p14:creationId xmlns:p14="http://schemas.microsoft.com/office/powerpoint/2010/main" val="301447653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9EAA0A-E31A-6BBD-90C7-1E757E4322AA}"/>
              </a:ext>
            </a:extLst>
          </p:cNvPr>
          <p:cNvSpPr>
            <a:spLocks noGrp="1"/>
          </p:cNvSpPr>
          <p:nvPr>
            <p:ph type="title"/>
          </p:nvPr>
        </p:nvSpPr>
        <p:spPr/>
        <p:txBody>
          <a:bodyPr/>
          <a:lstStyle/>
          <a:p>
            <a:r>
              <a:rPr lang="zh-CN" altLang="en-US" dirty="0"/>
              <a:t>用户体验测试模型</a:t>
            </a:r>
            <a:endParaRPr kumimoji="1" lang="zh-CN" altLang="en-US" dirty="0"/>
          </a:p>
        </p:txBody>
      </p:sp>
      <p:sp>
        <p:nvSpPr>
          <p:cNvPr id="4" name="文本框 3">
            <a:extLst>
              <a:ext uri="{FF2B5EF4-FFF2-40B4-BE49-F238E27FC236}">
                <a16:creationId xmlns:a16="http://schemas.microsoft.com/office/drawing/2014/main" id="{9E95B084-C9AC-AAF1-01CA-5D0926676ED8}"/>
              </a:ext>
            </a:extLst>
          </p:cNvPr>
          <p:cNvSpPr txBox="1"/>
          <p:nvPr/>
        </p:nvSpPr>
        <p:spPr>
          <a:xfrm>
            <a:off x="491441" y="1004597"/>
            <a:ext cx="8161118" cy="3496470"/>
          </a:xfrm>
          <a:prstGeom prst="rect">
            <a:avLst/>
          </a:prstGeom>
          <a:noFill/>
        </p:spPr>
        <p:txBody>
          <a:bodyPr wrap="square">
            <a:spAutoFit/>
          </a:bodyPr>
          <a:lstStyle/>
          <a:p>
            <a:pPr marL="171450" lvl="1" indent="-171450" defTabSz="685800">
              <a:lnSpc>
                <a:spcPct val="150000"/>
              </a:lnSpc>
              <a:spcBef>
                <a:spcPts val="750"/>
              </a:spcBef>
              <a:buClr>
                <a:srgbClr val="FFC600"/>
              </a:buClr>
              <a:buSzPct val="100000"/>
              <a:buFont typeface="Arial" panose="020B0604020202020204"/>
              <a:buChar char="•"/>
            </a:pPr>
            <a:r>
              <a:rPr lang="zh-CN" altLang="zh-CN" b="1" dirty="0">
                <a:solidFill>
                  <a:srgbClr val="242C52"/>
                </a:solidFill>
                <a:latin typeface="Microsoft YaHei" panose="020B0503020204020204" pitchFamily="34" charset="-122"/>
                <a:ea typeface="Microsoft YaHei" panose="020B0503020204020204" pitchFamily="34" charset="-122"/>
              </a:rPr>
              <a:t>谷歌</a:t>
            </a:r>
            <a:r>
              <a:rPr lang="en-US" altLang="zh-CN" b="1" dirty="0">
                <a:solidFill>
                  <a:srgbClr val="242C52"/>
                </a:solidFill>
                <a:latin typeface="Microsoft YaHei" panose="020B0503020204020204" pitchFamily="34" charset="-122"/>
                <a:ea typeface="Microsoft YaHei" panose="020B0503020204020204" pitchFamily="34" charset="-122"/>
              </a:rPr>
              <a:t>GSM </a:t>
            </a:r>
            <a:r>
              <a:rPr lang="zh-CN" altLang="zh-CN" b="1" dirty="0">
                <a:solidFill>
                  <a:srgbClr val="242C52"/>
                </a:solidFill>
                <a:latin typeface="Microsoft YaHei" panose="020B0503020204020204" pitchFamily="34" charset="-122"/>
                <a:ea typeface="Microsoft YaHei" panose="020B0503020204020204" pitchFamily="34" charset="-122"/>
              </a:rPr>
              <a:t>模型</a:t>
            </a:r>
            <a:r>
              <a:rPr lang="zh-CN" altLang="en-US" b="1" dirty="0">
                <a:solidFill>
                  <a:srgbClr val="242C52"/>
                </a:solidFill>
                <a:latin typeface="Microsoft YaHei" panose="020B0503020204020204" pitchFamily="34" charset="-122"/>
                <a:ea typeface="Microsoft YaHei" panose="020B0503020204020204" pitchFamily="34" charset="-122"/>
              </a:rPr>
              <a:t>，</a:t>
            </a:r>
            <a:r>
              <a:rPr lang="zh-CN" altLang="zh-CN" sz="1600" dirty="0">
                <a:solidFill>
                  <a:srgbClr val="242C52"/>
                </a:solidFill>
                <a:latin typeface="Microsoft YaHei" panose="020B0503020204020204" pitchFamily="34" charset="-122"/>
                <a:ea typeface="Microsoft YaHei" panose="020B0503020204020204" pitchFamily="34" charset="-122"/>
              </a:rPr>
              <a:t>从产品或功能的目标（</a:t>
            </a:r>
            <a:r>
              <a:rPr lang="en-US" altLang="zh-CN" sz="1600" dirty="0">
                <a:solidFill>
                  <a:srgbClr val="242C52"/>
                </a:solidFill>
                <a:latin typeface="Microsoft YaHei" panose="020B0503020204020204" pitchFamily="34" charset="-122"/>
                <a:ea typeface="Microsoft YaHei" panose="020B0503020204020204" pitchFamily="34" charset="-122"/>
              </a:rPr>
              <a:t>Goals</a:t>
            </a:r>
            <a:r>
              <a:rPr lang="zh-CN" altLang="zh-CN" sz="1600" dirty="0">
                <a:solidFill>
                  <a:srgbClr val="242C52"/>
                </a:solidFill>
                <a:latin typeface="Microsoft YaHei" panose="020B0503020204020204" pitchFamily="34" charset="-122"/>
                <a:ea typeface="Microsoft YaHei" panose="020B0503020204020204" pitchFamily="34" charset="-122"/>
              </a:rPr>
              <a:t>）出发，来分析这些目标会转化为哪些信号（</a:t>
            </a:r>
            <a:r>
              <a:rPr lang="en-US" altLang="zh-CN" sz="1600" dirty="0">
                <a:solidFill>
                  <a:srgbClr val="242C52"/>
                </a:solidFill>
                <a:latin typeface="Microsoft YaHei" panose="020B0503020204020204" pitchFamily="34" charset="-122"/>
                <a:ea typeface="Microsoft YaHei" panose="020B0503020204020204" pitchFamily="34" charset="-122"/>
              </a:rPr>
              <a:t>Signal</a:t>
            </a:r>
            <a:r>
              <a:rPr lang="zh-CN" altLang="zh-CN" sz="1600" dirty="0">
                <a:solidFill>
                  <a:srgbClr val="242C52"/>
                </a:solidFill>
                <a:latin typeface="Microsoft YaHei" panose="020B0503020204020204" pitchFamily="34" charset="-122"/>
                <a:ea typeface="Microsoft YaHei" panose="020B0503020204020204" pitchFamily="34" charset="-122"/>
              </a:rPr>
              <a:t>），再根据这些信号最终建立适用的、具体的度量指标（</a:t>
            </a:r>
            <a:r>
              <a:rPr lang="en-US" altLang="zh-CN" sz="1600" dirty="0">
                <a:solidFill>
                  <a:srgbClr val="242C52"/>
                </a:solidFill>
                <a:latin typeface="Microsoft YaHei" panose="020B0503020204020204" pitchFamily="34" charset="-122"/>
                <a:ea typeface="Microsoft YaHei" panose="020B0503020204020204" pitchFamily="34" charset="-122"/>
              </a:rPr>
              <a:t>Metric</a:t>
            </a:r>
            <a:r>
              <a:rPr lang="zh-CN" altLang="zh-CN" sz="1600" dirty="0">
                <a:solidFill>
                  <a:srgbClr val="242C52"/>
                </a:solidFill>
                <a:latin typeface="Microsoft YaHei" panose="020B0503020204020204" pitchFamily="34" charset="-122"/>
                <a:ea typeface="Microsoft YaHei" panose="020B0503020204020204" pitchFamily="34" charset="-122"/>
              </a:rPr>
              <a:t>）  </a:t>
            </a:r>
            <a:endParaRPr lang="en-US" altLang="zh-CN" sz="1600" dirty="0">
              <a:solidFill>
                <a:srgbClr val="242C52"/>
              </a:solidFill>
              <a:latin typeface="Microsoft YaHei" panose="020B0503020204020204" pitchFamily="34" charset="-122"/>
              <a:ea typeface="Microsoft YaHei" panose="020B0503020204020204" pitchFamily="34" charset="-122"/>
            </a:endParaRPr>
          </a:p>
          <a:p>
            <a:pPr marL="171450" lvl="1" indent="-171450" defTabSz="685800">
              <a:lnSpc>
                <a:spcPct val="150000"/>
              </a:lnSpc>
              <a:spcBef>
                <a:spcPts val="750"/>
              </a:spcBef>
              <a:buClr>
                <a:srgbClr val="FFC600"/>
              </a:buClr>
              <a:buSzPct val="100000"/>
              <a:buFont typeface="Arial" panose="020B0604020202020204"/>
              <a:buChar char="•"/>
            </a:pPr>
            <a:r>
              <a:rPr lang="en-US" altLang="zh-CN" b="1" dirty="0" err="1">
                <a:solidFill>
                  <a:srgbClr val="242C52"/>
                </a:solidFill>
                <a:latin typeface="Microsoft YaHei" panose="020B0503020204020204" pitchFamily="34" charset="-122"/>
                <a:ea typeface="Microsoft YaHei" panose="020B0503020204020204" pitchFamily="34" charset="-122"/>
              </a:rPr>
              <a:t>传统的网站UX衡量指标PULSE：</a:t>
            </a:r>
            <a:r>
              <a:rPr lang="en-US" altLang="zh-CN" sz="1600" dirty="0" err="1">
                <a:solidFill>
                  <a:srgbClr val="242C52"/>
                </a:solidFill>
                <a:latin typeface="Microsoft YaHei" panose="020B0503020204020204" pitchFamily="34" charset="-122"/>
                <a:ea typeface="Microsoft YaHei" panose="020B0503020204020204" pitchFamily="34" charset="-122"/>
              </a:rPr>
              <a:t>Page</a:t>
            </a:r>
            <a:r>
              <a:rPr lang="en-US" altLang="zh-CN" sz="1600" dirty="0">
                <a:solidFill>
                  <a:srgbClr val="242C52"/>
                </a:solidFill>
                <a:latin typeface="Microsoft YaHei" panose="020B0503020204020204" pitchFamily="34" charset="-122"/>
                <a:ea typeface="Microsoft YaHei" panose="020B0503020204020204" pitchFamily="34" charset="-122"/>
              </a:rPr>
              <a:t> </a:t>
            </a:r>
            <a:r>
              <a:rPr lang="en-US" altLang="zh-CN" sz="1600" dirty="0" err="1">
                <a:solidFill>
                  <a:srgbClr val="242C52"/>
                </a:solidFill>
                <a:latin typeface="Microsoft YaHei" panose="020B0503020204020204" pitchFamily="34" charset="-122"/>
                <a:ea typeface="Microsoft YaHei" panose="020B0503020204020204" pitchFamily="34" charset="-122"/>
              </a:rPr>
              <a:t>view（页面浏览量</a:t>
            </a:r>
            <a:r>
              <a:rPr lang="en-US" altLang="zh-CN" sz="1600" dirty="0">
                <a:solidFill>
                  <a:srgbClr val="242C52"/>
                </a:solidFill>
                <a:latin typeface="Microsoft YaHei" panose="020B0503020204020204" pitchFamily="34" charset="-122"/>
                <a:ea typeface="Microsoft YaHei" panose="020B0503020204020204" pitchFamily="34" charset="-122"/>
              </a:rPr>
              <a:t>）、</a:t>
            </a:r>
            <a:r>
              <a:rPr lang="en-US" altLang="zh-CN" sz="1600" dirty="0" err="1">
                <a:solidFill>
                  <a:srgbClr val="242C52"/>
                </a:solidFill>
                <a:latin typeface="Microsoft YaHei" panose="020B0503020204020204" pitchFamily="34" charset="-122"/>
                <a:ea typeface="Microsoft YaHei" panose="020B0503020204020204" pitchFamily="34" charset="-122"/>
              </a:rPr>
              <a:t>Uptime（在线运行时间</a:t>
            </a:r>
            <a:r>
              <a:rPr lang="en-US" altLang="zh-CN" sz="1600" dirty="0">
                <a:solidFill>
                  <a:srgbClr val="242C52"/>
                </a:solidFill>
                <a:latin typeface="Microsoft YaHei" panose="020B0503020204020204" pitchFamily="34" charset="-122"/>
                <a:ea typeface="Microsoft YaHei" panose="020B0503020204020204" pitchFamily="34" charset="-122"/>
              </a:rPr>
              <a:t>）、</a:t>
            </a:r>
            <a:r>
              <a:rPr lang="en-US" altLang="zh-CN" sz="1600" dirty="0" err="1">
                <a:solidFill>
                  <a:srgbClr val="242C52"/>
                </a:solidFill>
                <a:latin typeface="Microsoft YaHei" panose="020B0503020204020204" pitchFamily="34" charset="-122"/>
                <a:ea typeface="Microsoft YaHei" panose="020B0503020204020204" pitchFamily="34" charset="-122"/>
              </a:rPr>
              <a:t>Latency（延迟</a:t>
            </a:r>
            <a:r>
              <a:rPr lang="en-US" altLang="zh-CN" sz="1600" dirty="0">
                <a:solidFill>
                  <a:srgbClr val="242C52"/>
                </a:solidFill>
                <a:latin typeface="Microsoft YaHei" panose="020B0503020204020204" pitchFamily="34" charset="-122"/>
                <a:ea typeface="Microsoft YaHei" panose="020B0503020204020204" pitchFamily="34" charset="-122"/>
              </a:rPr>
              <a:t>）、Seven-day active </a:t>
            </a:r>
            <a:r>
              <a:rPr lang="en-US" altLang="zh-CN" sz="1600" dirty="0" err="1">
                <a:solidFill>
                  <a:srgbClr val="242C52"/>
                </a:solidFill>
                <a:latin typeface="Microsoft YaHei" panose="020B0503020204020204" pitchFamily="34" charset="-122"/>
                <a:ea typeface="Microsoft YaHei" panose="020B0503020204020204" pitchFamily="34" charset="-122"/>
              </a:rPr>
              <a:t>user（周活用户数</a:t>
            </a:r>
            <a:r>
              <a:rPr lang="en-US" altLang="zh-CN" sz="1600" dirty="0">
                <a:solidFill>
                  <a:srgbClr val="242C52"/>
                </a:solidFill>
                <a:latin typeface="Microsoft YaHei" panose="020B0503020204020204" pitchFamily="34" charset="-122"/>
                <a:ea typeface="Microsoft YaHei" panose="020B0503020204020204" pitchFamily="34" charset="-122"/>
              </a:rPr>
              <a:t>）、</a:t>
            </a:r>
            <a:r>
              <a:rPr lang="en-US" altLang="zh-CN" sz="1600" dirty="0" err="1">
                <a:solidFill>
                  <a:srgbClr val="242C52"/>
                </a:solidFill>
                <a:latin typeface="Microsoft YaHei" panose="020B0503020204020204" pitchFamily="34" charset="-122"/>
                <a:ea typeface="Microsoft YaHei" panose="020B0503020204020204" pitchFamily="34" charset="-122"/>
              </a:rPr>
              <a:t>Earning（收益</a:t>
            </a:r>
            <a:r>
              <a:rPr lang="en-US" altLang="zh-CN" sz="1600" dirty="0">
                <a:solidFill>
                  <a:srgbClr val="242C52"/>
                </a:solidFill>
                <a:latin typeface="Microsoft YaHei" panose="020B0503020204020204" pitchFamily="34" charset="-122"/>
                <a:ea typeface="Microsoft YaHei" panose="020B0503020204020204" pitchFamily="34" charset="-122"/>
              </a:rPr>
              <a:t>）。</a:t>
            </a:r>
          </a:p>
          <a:p>
            <a:pPr marL="171450" lvl="1" indent="-171450" defTabSz="685800">
              <a:lnSpc>
                <a:spcPct val="150000"/>
              </a:lnSpc>
              <a:spcBef>
                <a:spcPts val="750"/>
              </a:spcBef>
              <a:buClr>
                <a:srgbClr val="FFC600"/>
              </a:buClr>
              <a:buSzPct val="100000"/>
              <a:buFont typeface="Arial" panose="020B0604020202020204"/>
              <a:buChar char="•"/>
            </a:pPr>
            <a:r>
              <a:rPr lang="en-US" altLang="zh-CN" b="1" dirty="0" err="1">
                <a:solidFill>
                  <a:srgbClr val="242C52"/>
                </a:solidFill>
                <a:latin typeface="Microsoft YaHei" panose="020B0503020204020204" pitchFamily="34" charset="-122"/>
                <a:ea typeface="Microsoft YaHei" panose="020B0503020204020204" pitchFamily="34" charset="-122"/>
              </a:rPr>
              <a:t>以用户为中心的指标体系HEART</a:t>
            </a:r>
            <a:r>
              <a:rPr lang="en-US" altLang="zh-CN" sz="1600" dirty="0">
                <a:solidFill>
                  <a:srgbClr val="242C52"/>
                </a:solidFill>
                <a:latin typeface="Microsoft YaHei" panose="020B0503020204020204" pitchFamily="34" charset="-122"/>
                <a:ea typeface="Microsoft YaHei" panose="020B0503020204020204" pitchFamily="34" charset="-122"/>
              </a:rPr>
              <a:t>： </a:t>
            </a:r>
            <a:r>
              <a:rPr lang="en-US" altLang="zh-CN" sz="1600" dirty="0" err="1">
                <a:solidFill>
                  <a:srgbClr val="242C52"/>
                </a:solidFill>
                <a:latin typeface="Microsoft YaHei" panose="020B0503020204020204" pitchFamily="34" charset="-122"/>
                <a:ea typeface="Microsoft YaHei" panose="020B0503020204020204" pitchFamily="34" charset="-122"/>
              </a:rPr>
              <a:t>Happiness（愉悦度</a:t>
            </a:r>
            <a:r>
              <a:rPr lang="en-US" altLang="zh-CN" sz="1600" dirty="0">
                <a:solidFill>
                  <a:srgbClr val="242C52"/>
                </a:solidFill>
                <a:latin typeface="Microsoft YaHei" panose="020B0503020204020204" pitchFamily="34" charset="-122"/>
                <a:ea typeface="Microsoft YaHei" panose="020B0503020204020204" pitchFamily="34" charset="-122"/>
              </a:rPr>
              <a:t>）、</a:t>
            </a:r>
            <a:r>
              <a:rPr lang="en-US" altLang="zh-CN" sz="1600" dirty="0" err="1">
                <a:solidFill>
                  <a:srgbClr val="242C52"/>
                </a:solidFill>
                <a:latin typeface="Microsoft YaHei" panose="020B0503020204020204" pitchFamily="34" charset="-122"/>
                <a:ea typeface="Microsoft YaHei" panose="020B0503020204020204" pitchFamily="34" charset="-122"/>
              </a:rPr>
              <a:t>Engagement（参与度</a:t>
            </a:r>
            <a:r>
              <a:rPr lang="en-US" altLang="zh-CN" sz="1600" dirty="0">
                <a:solidFill>
                  <a:srgbClr val="242C52"/>
                </a:solidFill>
                <a:latin typeface="Microsoft YaHei" panose="020B0503020204020204" pitchFamily="34" charset="-122"/>
                <a:ea typeface="Microsoft YaHei" panose="020B0503020204020204" pitchFamily="34" charset="-122"/>
              </a:rPr>
              <a:t>）、</a:t>
            </a:r>
            <a:r>
              <a:rPr lang="en-US" altLang="zh-CN" sz="1600" dirty="0" err="1">
                <a:solidFill>
                  <a:srgbClr val="242C52"/>
                </a:solidFill>
                <a:latin typeface="Microsoft YaHei" panose="020B0503020204020204" pitchFamily="34" charset="-122"/>
                <a:ea typeface="Microsoft YaHei" panose="020B0503020204020204" pitchFamily="34" charset="-122"/>
              </a:rPr>
              <a:t>Adoption（接受度</a:t>
            </a:r>
            <a:r>
              <a:rPr lang="en-US" altLang="zh-CN" sz="1600" dirty="0">
                <a:solidFill>
                  <a:srgbClr val="242C52"/>
                </a:solidFill>
                <a:latin typeface="Microsoft YaHei" panose="020B0503020204020204" pitchFamily="34" charset="-122"/>
                <a:ea typeface="Microsoft YaHei" panose="020B0503020204020204" pitchFamily="34" charset="-122"/>
              </a:rPr>
              <a:t>）、</a:t>
            </a:r>
            <a:r>
              <a:rPr lang="en-US" altLang="zh-CN" sz="1600" dirty="0" err="1">
                <a:solidFill>
                  <a:srgbClr val="242C52"/>
                </a:solidFill>
                <a:latin typeface="Microsoft YaHei" panose="020B0503020204020204" pitchFamily="34" charset="-122"/>
                <a:ea typeface="Microsoft YaHei" panose="020B0503020204020204" pitchFamily="34" charset="-122"/>
              </a:rPr>
              <a:t>Retention（留存率）和Task</a:t>
            </a:r>
            <a:r>
              <a:rPr lang="en-US" altLang="zh-CN" sz="1600" dirty="0">
                <a:solidFill>
                  <a:srgbClr val="242C52"/>
                </a:solidFill>
                <a:latin typeface="Microsoft YaHei" panose="020B0503020204020204" pitchFamily="34" charset="-122"/>
                <a:ea typeface="Microsoft YaHei" panose="020B0503020204020204" pitchFamily="34" charset="-122"/>
              </a:rPr>
              <a:t> </a:t>
            </a:r>
            <a:r>
              <a:rPr lang="en-US" altLang="zh-CN" sz="1600" dirty="0" err="1">
                <a:solidFill>
                  <a:srgbClr val="242C52"/>
                </a:solidFill>
                <a:latin typeface="Microsoft YaHei" panose="020B0503020204020204" pitchFamily="34" charset="-122"/>
                <a:ea typeface="Microsoft YaHei" panose="020B0503020204020204" pitchFamily="34" charset="-122"/>
              </a:rPr>
              <a:t>success（任务完成度</a:t>
            </a:r>
            <a:r>
              <a:rPr lang="en-US" altLang="zh-CN" sz="1600" dirty="0">
                <a:solidFill>
                  <a:srgbClr val="242C52"/>
                </a:solidFill>
                <a:latin typeface="Microsoft YaHei" panose="020B0503020204020204" pitchFamily="34" charset="-122"/>
                <a:ea typeface="Microsoft YaHei" panose="020B0503020204020204" pitchFamily="34" charset="-122"/>
              </a:rPr>
              <a:t>）</a:t>
            </a:r>
          </a:p>
          <a:p>
            <a:pPr marL="171450" lvl="1" indent="-171450" defTabSz="685800">
              <a:lnSpc>
                <a:spcPct val="150000"/>
              </a:lnSpc>
              <a:spcBef>
                <a:spcPts val="750"/>
              </a:spcBef>
              <a:buClr>
                <a:srgbClr val="FFC600"/>
              </a:buClr>
              <a:buSzPct val="100000"/>
              <a:buFont typeface="Arial" panose="020B0604020202020204"/>
              <a:buChar char="•"/>
            </a:pPr>
            <a:r>
              <a:rPr lang="en-US" altLang="zh-CN" dirty="0"/>
              <a:t>……</a:t>
            </a:r>
            <a:endParaRPr lang="zh-CN" altLang="en-US" dirty="0"/>
          </a:p>
        </p:txBody>
      </p:sp>
    </p:spTree>
    <p:extLst>
      <p:ext uri="{BB962C8B-B14F-4D97-AF65-F5344CB8AC3E}">
        <p14:creationId xmlns:p14="http://schemas.microsoft.com/office/powerpoint/2010/main" val="347858035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9EAA0A-E31A-6BBD-90C7-1E757E4322AA}"/>
              </a:ext>
            </a:extLst>
          </p:cNvPr>
          <p:cNvSpPr>
            <a:spLocks noGrp="1"/>
          </p:cNvSpPr>
          <p:nvPr>
            <p:ph type="title"/>
          </p:nvPr>
        </p:nvSpPr>
        <p:spPr/>
        <p:txBody>
          <a:bodyPr/>
          <a:lstStyle/>
          <a:p>
            <a:r>
              <a:rPr lang="en-US" altLang="zh-CN" dirty="0"/>
              <a:t>A/B</a:t>
            </a:r>
            <a:r>
              <a:rPr lang="zh-CN" altLang="en-US" dirty="0"/>
              <a:t>测试</a:t>
            </a:r>
            <a:endParaRPr kumimoji="1" lang="zh-CN" altLang="en-US" dirty="0"/>
          </a:p>
        </p:txBody>
      </p:sp>
      <p:pic>
        <p:nvPicPr>
          <p:cNvPr id="36" name="图片 35">
            <a:extLst>
              <a:ext uri="{FF2B5EF4-FFF2-40B4-BE49-F238E27FC236}">
                <a16:creationId xmlns:a16="http://schemas.microsoft.com/office/drawing/2014/main" id="{5B9804AC-0CEB-2B76-5F07-9FE7F12796E1}"/>
              </a:ext>
            </a:extLst>
          </p:cNvPr>
          <p:cNvPicPr>
            <a:picLocks noChangeAspect="1"/>
          </p:cNvPicPr>
          <p:nvPr/>
        </p:nvPicPr>
        <p:blipFill rotWithShape="1">
          <a:blip r:embed="rId2"/>
          <a:srcRect t="8487" b="8078"/>
          <a:stretch/>
        </p:blipFill>
        <p:spPr>
          <a:xfrm>
            <a:off x="2212158" y="2062476"/>
            <a:ext cx="4507819" cy="2688380"/>
          </a:xfrm>
          <a:prstGeom prst="rect">
            <a:avLst/>
          </a:prstGeom>
        </p:spPr>
      </p:pic>
      <p:sp>
        <p:nvSpPr>
          <p:cNvPr id="37" name="矩形 36">
            <a:extLst>
              <a:ext uri="{FF2B5EF4-FFF2-40B4-BE49-F238E27FC236}">
                <a16:creationId xmlns:a16="http://schemas.microsoft.com/office/drawing/2014/main" id="{95F26C63-38A1-E411-155E-0992587EA761}"/>
              </a:ext>
            </a:extLst>
          </p:cNvPr>
          <p:cNvSpPr/>
          <p:nvPr/>
        </p:nvSpPr>
        <p:spPr>
          <a:xfrm>
            <a:off x="582038" y="804667"/>
            <a:ext cx="5870121" cy="323165"/>
          </a:xfrm>
          <a:prstGeom prst="rect">
            <a:avLst/>
          </a:prstGeom>
        </p:spPr>
        <p:txBody>
          <a:bodyPr wrap="square">
            <a:spAutoFit/>
          </a:bodyPr>
          <a:lstStyle/>
          <a:p>
            <a:r>
              <a:rPr lang="zh-CN" altLang="en-US" sz="1500" dirty="0">
                <a:solidFill>
                  <a:srgbClr val="333333"/>
                </a:solidFill>
                <a:latin typeface="-apple-system"/>
              </a:rPr>
              <a:t>有些东西需要 </a:t>
            </a:r>
            <a:r>
              <a:rPr lang="en" altLang="zh-CN" sz="1500" dirty="0">
                <a:solidFill>
                  <a:srgbClr val="333333"/>
                </a:solidFill>
                <a:latin typeface="-apple-system"/>
              </a:rPr>
              <a:t>Sense</a:t>
            </a:r>
            <a:r>
              <a:rPr lang="zh-CN" altLang="en" sz="1500" dirty="0">
                <a:solidFill>
                  <a:srgbClr val="333333"/>
                </a:solidFill>
                <a:latin typeface="-apple-system"/>
              </a:rPr>
              <a:t>，</a:t>
            </a:r>
            <a:r>
              <a:rPr lang="zh-CN" altLang="en-US" sz="1500" dirty="0">
                <a:solidFill>
                  <a:srgbClr val="333333"/>
                </a:solidFill>
                <a:latin typeface="-apple-system"/>
              </a:rPr>
              <a:t>但大部分东西是可以用 </a:t>
            </a:r>
            <a:r>
              <a:rPr lang="en" altLang="zh-CN" sz="1500" dirty="0">
                <a:solidFill>
                  <a:srgbClr val="333333"/>
                </a:solidFill>
                <a:latin typeface="-apple-system"/>
              </a:rPr>
              <a:t>Science </a:t>
            </a:r>
            <a:r>
              <a:rPr lang="zh-CN" altLang="en-US" sz="1500" dirty="0">
                <a:solidFill>
                  <a:srgbClr val="333333"/>
                </a:solidFill>
                <a:latin typeface="-apple-system"/>
              </a:rPr>
              <a:t>来做判断的</a:t>
            </a:r>
            <a:endParaRPr lang="zh-CN" altLang="en-US" sz="1500" dirty="0"/>
          </a:p>
        </p:txBody>
      </p:sp>
      <p:sp>
        <p:nvSpPr>
          <p:cNvPr id="38" name="矩形 37">
            <a:extLst>
              <a:ext uri="{FF2B5EF4-FFF2-40B4-BE49-F238E27FC236}">
                <a16:creationId xmlns:a16="http://schemas.microsoft.com/office/drawing/2014/main" id="{4D43380D-7C7C-6460-0572-1963E33E4922}"/>
              </a:ext>
            </a:extLst>
          </p:cNvPr>
          <p:cNvSpPr/>
          <p:nvPr/>
        </p:nvSpPr>
        <p:spPr>
          <a:xfrm>
            <a:off x="582038" y="996368"/>
            <a:ext cx="8561962" cy="874407"/>
          </a:xfrm>
          <a:prstGeom prst="rect">
            <a:avLst/>
          </a:prstGeom>
        </p:spPr>
        <p:txBody>
          <a:bodyPr wrap="square">
            <a:spAutoFit/>
          </a:bodyPr>
          <a:lstStyle/>
          <a:p>
            <a:pPr>
              <a:lnSpc>
                <a:spcPct val="150000"/>
              </a:lnSpc>
            </a:pPr>
            <a:r>
              <a:rPr lang="en" altLang="zh-CN" dirty="0">
                <a:solidFill>
                  <a:srgbClr val="333333"/>
                </a:solidFill>
                <a:latin typeface="Microsoft YaHei" panose="020B0503020204020204" pitchFamily="34" charset="-122"/>
                <a:ea typeface="Microsoft YaHei" panose="020B0503020204020204" pitchFamily="34" charset="-122"/>
              </a:rPr>
              <a:t>A</a:t>
            </a:r>
            <a:r>
              <a:rPr lang="en-US" altLang="zh-CN" dirty="0">
                <a:solidFill>
                  <a:srgbClr val="333333"/>
                </a:solidFill>
                <a:latin typeface="Microsoft YaHei" panose="020B0503020204020204" pitchFamily="34" charset="-122"/>
                <a:ea typeface="Microsoft YaHei" panose="020B0503020204020204" pitchFamily="34" charset="-122"/>
              </a:rPr>
              <a:t>/</a:t>
            </a:r>
            <a:r>
              <a:rPr lang="en" altLang="zh-CN" dirty="0">
                <a:solidFill>
                  <a:srgbClr val="333333"/>
                </a:solidFill>
                <a:latin typeface="Microsoft YaHei" panose="020B0503020204020204" pitchFamily="34" charset="-122"/>
                <a:ea typeface="Microsoft YaHei" panose="020B0503020204020204" pitchFamily="34" charset="-122"/>
              </a:rPr>
              <a:t>B</a:t>
            </a:r>
            <a:r>
              <a:rPr lang="zh-CN" altLang="en" dirty="0">
                <a:solidFill>
                  <a:srgbClr val="333333"/>
                </a:solidFill>
                <a:latin typeface="Microsoft YaHei" panose="020B0503020204020204" pitchFamily="34" charset="-122"/>
                <a:ea typeface="Microsoft YaHei" panose="020B0503020204020204" pitchFamily="34" charset="-122"/>
              </a:rPr>
              <a:t>测试</a:t>
            </a:r>
            <a:r>
              <a:rPr lang="zh-CN" altLang="en-US" dirty="0">
                <a:solidFill>
                  <a:srgbClr val="333333"/>
                </a:solidFill>
                <a:latin typeface="Microsoft YaHei" panose="020B0503020204020204" pitchFamily="34" charset="-122"/>
                <a:ea typeface="Microsoft YaHei" panose="020B0503020204020204" pitchFamily="34" charset="-122"/>
              </a:rPr>
              <a:t>（</a:t>
            </a:r>
            <a:r>
              <a:rPr lang="en-US" altLang="zh-CN" dirty="0">
                <a:solidFill>
                  <a:srgbClr val="333333"/>
                </a:solidFill>
                <a:latin typeface="Microsoft YaHei" panose="020B0503020204020204" pitchFamily="34" charset="-122"/>
                <a:ea typeface="Microsoft YaHei" panose="020B0503020204020204" pitchFamily="34" charset="-122"/>
              </a:rPr>
              <a:t>ABTest</a:t>
            </a:r>
            <a:r>
              <a:rPr lang="zh-CN" altLang="en-US" dirty="0">
                <a:solidFill>
                  <a:srgbClr val="333333"/>
                </a:solidFill>
                <a:latin typeface="Microsoft YaHei" panose="020B0503020204020204" pitchFamily="34" charset="-122"/>
                <a:ea typeface="Microsoft YaHei" panose="020B0503020204020204" pitchFamily="34" charset="-122"/>
              </a:rPr>
              <a:t>）</a:t>
            </a:r>
            <a:r>
              <a:rPr lang="en" altLang="zh-CN" dirty="0">
                <a:solidFill>
                  <a:srgbClr val="333333"/>
                </a:solidFill>
                <a:latin typeface="Microsoft YaHei" panose="020B0503020204020204" pitchFamily="34" charset="-122"/>
                <a:ea typeface="Microsoft YaHei" panose="020B0503020204020204" pitchFamily="34" charset="-122"/>
              </a:rPr>
              <a:t> </a:t>
            </a:r>
            <a:r>
              <a:rPr lang="zh-CN" altLang="en-US" dirty="0">
                <a:solidFill>
                  <a:srgbClr val="333333"/>
                </a:solidFill>
                <a:latin typeface="Microsoft YaHei" panose="020B0503020204020204" pitchFamily="34" charset="-122"/>
                <a:ea typeface="Microsoft YaHei" panose="020B0503020204020204" pitchFamily="34" charset="-122"/>
              </a:rPr>
              <a:t>是将用户分成不同的组，同时在线试验产品的不同版本，通过用户反馈的真实数据来确定哪一个方案更好</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5532513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958704-4197-D850-5FA2-4FC396D274EB}"/>
              </a:ext>
            </a:extLst>
          </p:cNvPr>
          <p:cNvSpPr>
            <a:spLocks noGrp="1"/>
          </p:cNvSpPr>
          <p:nvPr>
            <p:ph type="title"/>
          </p:nvPr>
        </p:nvSpPr>
        <p:spPr/>
        <p:txBody>
          <a:bodyPr/>
          <a:lstStyle/>
          <a:p>
            <a:r>
              <a:rPr kumimoji="1" lang="en-US" altLang="zh-CN" sz="2800" dirty="0"/>
              <a:t>A/B</a:t>
            </a:r>
            <a:r>
              <a:rPr kumimoji="1" lang="zh-CN" altLang="en-US" sz="2800" dirty="0"/>
              <a:t>测试特点</a:t>
            </a:r>
            <a:endParaRPr kumimoji="1" lang="zh-CN" altLang="en-US" dirty="0"/>
          </a:p>
        </p:txBody>
      </p:sp>
      <p:sp>
        <p:nvSpPr>
          <p:cNvPr id="3" name="文本占位符 2">
            <a:extLst>
              <a:ext uri="{FF2B5EF4-FFF2-40B4-BE49-F238E27FC236}">
                <a16:creationId xmlns:a16="http://schemas.microsoft.com/office/drawing/2014/main" id="{9752979A-03ED-B9BA-0424-EFB24C36C2CF}"/>
              </a:ext>
            </a:extLst>
          </p:cNvPr>
          <p:cNvSpPr>
            <a:spLocks noGrp="1"/>
          </p:cNvSpPr>
          <p:nvPr>
            <p:ph type="body" sz="quarter" idx="10"/>
          </p:nvPr>
        </p:nvSpPr>
        <p:spPr>
          <a:xfrm>
            <a:off x="582037" y="1278636"/>
            <a:ext cx="7949487" cy="2560119"/>
          </a:xfrm>
        </p:spPr>
        <p:txBody>
          <a:bodyPr>
            <a:normAutofit fontScale="77500" lnSpcReduction="20000"/>
          </a:bodyPr>
          <a:lstStyle/>
          <a:p>
            <a:pPr>
              <a:lnSpc>
                <a:spcPct val="150000"/>
              </a:lnSpc>
            </a:pPr>
            <a:r>
              <a:rPr lang="zh-CN" altLang="en-US" b="1" dirty="0"/>
              <a:t>先验性</a:t>
            </a:r>
            <a:r>
              <a:rPr lang="zh-CN" altLang="en-US" dirty="0"/>
              <a:t>：采用流量分割与小流量测试的方式，先让线上部分小流量用户使用以验证设计，再根据数据反馈来推广到全流量，减少产品损失</a:t>
            </a:r>
          </a:p>
          <a:p>
            <a:pPr>
              <a:lnSpc>
                <a:spcPct val="150000"/>
              </a:lnSpc>
            </a:pPr>
            <a:r>
              <a:rPr lang="zh-CN" altLang="en-US" b="1" dirty="0"/>
              <a:t>并行性</a:t>
            </a:r>
            <a:r>
              <a:rPr lang="zh-CN" altLang="en-US" dirty="0"/>
              <a:t>：同时运行两个或两个以上版本的试验完成对比分析，而且保证每个版本所处的环境一致的，避免流程周期长的问题，节省验证时间</a:t>
            </a:r>
          </a:p>
          <a:p>
            <a:pPr>
              <a:lnSpc>
                <a:spcPct val="150000"/>
              </a:lnSpc>
            </a:pPr>
            <a:r>
              <a:rPr lang="zh-CN" altLang="en-US" b="1" dirty="0"/>
              <a:t>科学性</a:t>
            </a:r>
            <a:r>
              <a:rPr lang="zh-CN" altLang="en-US" dirty="0"/>
              <a:t>：基于统计的数据来做出决策，避免主观或经验的错误决策</a:t>
            </a:r>
          </a:p>
        </p:txBody>
      </p:sp>
    </p:spTree>
    <p:extLst>
      <p:ext uri="{BB962C8B-B14F-4D97-AF65-F5344CB8AC3E}">
        <p14:creationId xmlns:p14="http://schemas.microsoft.com/office/powerpoint/2010/main" val="1260395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99AAC1-E861-7BD9-4EAF-DE8062003690}"/>
              </a:ext>
            </a:extLst>
          </p:cNvPr>
          <p:cNvSpPr>
            <a:spLocks noGrp="1"/>
          </p:cNvSpPr>
          <p:nvPr>
            <p:ph type="title"/>
          </p:nvPr>
        </p:nvSpPr>
        <p:spPr/>
        <p:txBody>
          <a:bodyPr/>
          <a:lstStyle/>
          <a:p>
            <a:r>
              <a:rPr kumimoji="1" lang="en-US" altLang="zh-CN" sz="2800" dirty="0"/>
              <a:t>ABTest</a:t>
            </a:r>
            <a:r>
              <a:rPr kumimoji="1" lang="zh-CN" altLang="en-US" sz="2800" dirty="0"/>
              <a:t>适应的场景</a:t>
            </a:r>
            <a:endParaRPr kumimoji="1" lang="zh-CN" altLang="en-US" dirty="0"/>
          </a:p>
        </p:txBody>
      </p:sp>
      <p:sp>
        <p:nvSpPr>
          <p:cNvPr id="3" name="文本占位符 2">
            <a:extLst>
              <a:ext uri="{FF2B5EF4-FFF2-40B4-BE49-F238E27FC236}">
                <a16:creationId xmlns:a16="http://schemas.microsoft.com/office/drawing/2014/main" id="{DA0C0447-AEC1-B571-D427-E3919FEE99CF}"/>
              </a:ext>
            </a:extLst>
          </p:cNvPr>
          <p:cNvSpPr>
            <a:spLocks noGrp="1"/>
          </p:cNvSpPr>
          <p:nvPr>
            <p:ph type="body" sz="quarter" idx="10"/>
          </p:nvPr>
        </p:nvSpPr>
        <p:spPr>
          <a:xfrm>
            <a:off x="796477" y="924953"/>
            <a:ext cx="7128035" cy="2233865"/>
          </a:xfrm>
        </p:spPr>
        <p:txBody>
          <a:bodyPr>
            <a:normAutofit/>
          </a:bodyPr>
          <a:lstStyle/>
          <a:p>
            <a:pPr marL="257175" indent="-257175">
              <a:lnSpc>
                <a:spcPct val="150000"/>
              </a:lnSpc>
              <a:buFont typeface="Arial" panose="020B0604020202020204" pitchFamily="34" charset="0"/>
              <a:buChar char="•"/>
            </a:pPr>
            <a:r>
              <a:rPr lang="zh-CN" altLang="en-US" sz="1800" b="1" dirty="0">
                <a:solidFill>
                  <a:srgbClr val="595B66"/>
                </a:solidFill>
                <a:latin typeface="Microsoft YaHei" panose="020B0503020204020204" pitchFamily="34" charset="-122"/>
                <a:ea typeface="Microsoft YaHei" panose="020B0503020204020204" pitchFamily="34" charset="-122"/>
              </a:rPr>
              <a:t>灰度发布</a:t>
            </a:r>
            <a:r>
              <a:rPr lang="zh-CN" altLang="en-US" sz="1800" dirty="0">
                <a:solidFill>
                  <a:srgbClr val="595B66"/>
                </a:solidFill>
                <a:latin typeface="Source Sans Pro" panose="020F0502020204030204" pitchFamily="34" charset="0"/>
              </a:rPr>
              <a:t>：技术</a:t>
            </a:r>
            <a:r>
              <a:rPr lang="en-US" altLang="zh-CN" sz="1800" dirty="0">
                <a:solidFill>
                  <a:srgbClr val="595B66"/>
                </a:solidFill>
                <a:latin typeface="Source Sans Pro" panose="020F0502020204030204" pitchFamily="34" charset="0"/>
              </a:rPr>
              <a:t>&amp;</a:t>
            </a:r>
            <a:r>
              <a:rPr lang="zh-CN" altLang="en-US" sz="1800" dirty="0">
                <a:solidFill>
                  <a:srgbClr val="595B66"/>
                </a:solidFill>
                <a:latin typeface="Source Sans Pro" panose="020F0502020204030204" pitchFamily="34" charset="0"/>
              </a:rPr>
              <a:t>算法迭代</a:t>
            </a:r>
          </a:p>
          <a:p>
            <a:pPr marL="257175" indent="-257175">
              <a:lnSpc>
                <a:spcPct val="150000"/>
              </a:lnSpc>
              <a:buFont typeface="Arial" panose="020B0604020202020204" pitchFamily="34" charset="0"/>
              <a:buChar char="•"/>
            </a:pPr>
            <a:r>
              <a:rPr lang="zh-CN" altLang="en-US" sz="1800" b="1" dirty="0">
                <a:solidFill>
                  <a:srgbClr val="595B66"/>
                </a:solidFill>
                <a:latin typeface="Microsoft YaHei" panose="020B0503020204020204" pitchFamily="34" charset="-122"/>
                <a:ea typeface="Microsoft YaHei" panose="020B0503020204020204" pitchFamily="34" charset="-122"/>
              </a:rPr>
              <a:t>功能优化</a:t>
            </a:r>
            <a:r>
              <a:rPr lang="zh-CN" altLang="en-US" sz="1800" dirty="0">
                <a:solidFill>
                  <a:srgbClr val="595B66"/>
                </a:solidFill>
                <a:latin typeface="Source Sans Pro" panose="020F0502020204030204" pitchFamily="34" charset="0"/>
              </a:rPr>
              <a:t>：界面模块、样式风格、交互方式等</a:t>
            </a:r>
          </a:p>
          <a:p>
            <a:pPr marL="257175" indent="-257175">
              <a:lnSpc>
                <a:spcPct val="150000"/>
              </a:lnSpc>
              <a:buFont typeface="Arial" panose="020B0604020202020204" pitchFamily="34" charset="0"/>
              <a:buChar char="•"/>
            </a:pPr>
            <a:r>
              <a:rPr lang="zh-CN" altLang="en-US" sz="1800" b="1" dirty="0">
                <a:solidFill>
                  <a:srgbClr val="595B66"/>
                </a:solidFill>
                <a:latin typeface="Microsoft YaHei" panose="020B0503020204020204" pitchFamily="34" charset="-122"/>
                <a:ea typeface="Microsoft YaHei" panose="020B0503020204020204" pitchFamily="34" charset="-122"/>
              </a:rPr>
              <a:t>内容优化</a:t>
            </a:r>
            <a:r>
              <a:rPr lang="zh-CN" altLang="en-US" sz="1800" dirty="0">
                <a:solidFill>
                  <a:srgbClr val="595B66"/>
                </a:solidFill>
                <a:latin typeface="Source Sans Pro" panose="020F0502020204030204" pitchFamily="34" charset="0"/>
              </a:rPr>
              <a:t>：推广海报、落地页、内容模块、文案等</a:t>
            </a:r>
          </a:p>
          <a:p>
            <a:pPr marL="257175" indent="-257175">
              <a:lnSpc>
                <a:spcPct val="150000"/>
              </a:lnSpc>
              <a:buFont typeface="Arial" panose="020B0604020202020204" pitchFamily="34" charset="0"/>
              <a:buChar char="•"/>
            </a:pPr>
            <a:r>
              <a:rPr lang="zh-CN" altLang="en-US" sz="1800" b="1" dirty="0">
                <a:solidFill>
                  <a:srgbClr val="595B66"/>
                </a:solidFill>
                <a:latin typeface="Microsoft YaHei" panose="020B0503020204020204" pitchFamily="34" charset="-122"/>
                <a:ea typeface="Microsoft YaHei" panose="020B0503020204020204" pitchFamily="34" charset="-122"/>
              </a:rPr>
              <a:t>运营优化</a:t>
            </a:r>
            <a:r>
              <a:rPr lang="zh-CN" altLang="en-US" sz="1800" dirty="0">
                <a:solidFill>
                  <a:srgbClr val="595B66"/>
                </a:solidFill>
                <a:latin typeface="Source Sans Pro" panose="020F0502020204030204" pitchFamily="34" charset="0"/>
              </a:rPr>
              <a:t>：运营策略、沟通话术等</a:t>
            </a:r>
          </a:p>
        </p:txBody>
      </p:sp>
      <p:pic>
        <p:nvPicPr>
          <p:cNvPr id="4" name="Picture 2">
            <a:extLst>
              <a:ext uri="{FF2B5EF4-FFF2-40B4-BE49-F238E27FC236}">
                <a16:creationId xmlns:a16="http://schemas.microsoft.com/office/drawing/2014/main" id="{530BACC4-2504-EF62-ED5B-BD89DD6CEADA}"/>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848" b="89773" l="3700" r="90000">
                        <a14:foregroundMark x1="16400" y1="50379" x2="16400" y2="50379"/>
                        <a14:foregroundMark x1="10300" y1="18939" x2="10300" y2="18939"/>
                        <a14:foregroundMark x1="15500" y1="16667" x2="15500" y2="16667"/>
                        <a14:foregroundMark x1="3700" y1="45076" x2="3700" y2="45076"/>
                        <a14:foregroundMark x1="19700" y1="77652" x2="19700" y2="77652"/>
                        <a14:foregroundMark x1="33200" y1="48485" x2="33200" y2="48485"/>
                        <a14:foregroundMark x1="48400" y1="48106" x2="48400" y2="48106"/>
                        <a14:foregroundMark x1="48400" y1="26894" x2="48400" y2="26894"/>
                        <a14:foregroundMark x1="51100" y1="15909" x2="51100" y2="15909"/>
                        <a14:foregroundMark x1="51600" y1="15530" x2="51600" y2="15530"/>
                        <a14:foregroundMark x1="48000" y1="12121" x2="48000" y2="12121"/>
                        <a14:foregroundMark x1="51400" y1="25758" x2="51400" y2="25758"/>
                        <a14:foregroundMark x1="44900" y1="85606" x2="44900" y2="85606"/>
                        <a14:foregroundMark x1="46000" y1="82197" x2="46000" y2="82197"/>
                        <a14:foregroundMark x1="48200" y1="81061" x2="48200" y2="81061"/>
                        <a14:foregroundMark x1="50800" y1="81439" x2="50800" y2="81439"/>
                        <a14:foregroundMark x1="53200" y1="82197" x2="53200" y2="82197"/>
                        <a14:foregroundMark x1="55700" y1="81061" x2="55700" y2="81061"/>
                        <a14:foregroundMark x1="66400" y1="47727" x2="66400" y2="47727"/>
                        <a14:foregroundMark x1="80500" y1="31061" x2="80500" y2="31061"/>
                      </a14:backgroundRemoval>
                    </a14:imgEffect>
                  </a14:imgLayer>
                </a14:imgProps>
              </a:ext>
              <a:ext uri="{28A0092B-C50C-407E-A947-70E740481C1C}">
                <a14:useLocalDpi xmlns:a14="http://schemas.microsoft.com/office/drawing/2010/main" val="0"/>
              </a:ext>
            </a:extLst>
          </a:blip>
          <a:srcRect/>
          <a:stretch>
            <a:fillRect/>
          </a:stretch>
        </p:blipFill>
        <p:spPr bwMode="auto">
          <a:xfrm>
            <a:off x="1507518" y="3158818"/>
            <a:ext cx="6684730" cy="1765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56865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4BFBB6-FDD0-F6E4-B001-30D35C386B96}"/>
              </a:ext>
            </a:extLst>
          </p:cNvPr>
          <p:cNvSpPr>
            <a:spLocks noGrp="1"/>
          </p:cNvSpPr>
          <p:nvPr>
            <p:ph type="title"/>
          </p:nvPr>
        </p:nvSpPr>
        <p:spPr/>
        <p:txBody>
          <a:bodyPr/>
          <a:lstStyle/>
          <a:p>
            <a:r>
              <a:rPr kumimoji="1" lang="en-US" altLang="zh-CN" sz="2800" dirty="0"/>
              <a:t>ABTest</a:t>
            </a:r>
            <a:r>
              <a:rPr kumimoji="1" lang="zh-CN" altLang="en-US" sz="2800" dirty="0"/>
              <a:t>适应的场景</a:t>
            </a:r>
            <a:endParaRPr kumimoji="1" lang="zh-CN" altLang="en-US" dirty="0"/>
          </a:p>
        </p:txBody>
      </p:sp>
      <p:graphicFrame>
        <p:nvGraphicFramePr>
          <p:cNvPr id="4" name="图示 3">
            <a:extLst>
              <a:ext uri="{FF2B5EF4-FFF2-40B4-BE49-F238E27FC236}">
                <a16:creationId xmlns:a16="http://schemas.microsoft.com/office/drawing/2014/main" id="{BC40B93B-45D9-21CB-2828-0EBDC3008704}"/>
              </a:ext>
            </a:extLst>
          </p:cNvPr>
          <p:cNvGraphicFramePr/>
          <p:nvPr>
            <p:extLst>
              <p:ext uri="{D42A27DB-BD31-4B8C-83A1-F6EECF244321}">
                <p14:modId xmlns:p14="http://schemas.microsoft.com/office/powerpoint/2010/main" val="2739955273"/>
              </p:ext>
            </p:extLst>
          </p:nvPr>
        </p:nvGraphicFramePr>
        <p:xfrm>
          <a:off x="1180637" y="1000819"/>
          <a:ext cx="6400800" cy="42331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734923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8803D6-AB59-264E-A9F1-074FC81A9C46}"/>
              </a:ext>
            </a:extLst>
          </p:cNvPr>
          <p:cNvSpPr>
            <a:spLocks noGrp="1"/>
          </p:cNvSpPr>
          <p:nvPr>
            <p:ph type="title"/>
          </p:nvPr>
        </p:nvSpPr>
        <p:spPr/>
        <p:txBody>
          <a:bodyPr/>
          <a:lstStyle/>
          <a:p>
            <a:r>
              <a:rPr kumimoji="1" lang="zh-CN" altLang="en-US" sz="2800" dirty="0"/>
              <a:t>核心概念</a:t>
            </a:r>
            <a:endParaRPr kumimoji="1" lang="zh-CN" altLang="en-US" dirty="0"/>
          </a:p>
        </p:txBody>
      </p:sp>
      <p:sp>
        <p:nvSpPr>
          <p:cNvPr id="3" name="文本占位符 2">
            <a:extLst>
              <a:ext uri="{FF2B5EF4-FFF2-40B4-BE49-F238E27FC236}">
                <a16:creationId xmlns:a16="http://schemas.microsoft.com/office/drawing/2014/main" id="{A2AFF872-0542-6B21-7C86-A6067DF084D2}"/>
              </a:ext>
            </a:extLst>
          </p:cNvPr>
          <p:cNvSpPr>
            <a:spLocks noGrp="1"/>
          </p:cNvSpPr>
          <p:nvPr>
            <p:ph type="body" sz="quarter" idx="10"/>
          </p:nvPr>
        </p:nvSpPr>
        <p:spPr>
          <a:xfrm>
            <a:off x="549811" y="804667"/>
            <a:ext cx="8012151" cy="3706948"/>
          </a:xfrm>
        </p:spPr>
        <p:txBody>
          <a:bodyPr>
            <a:normAutofit fontScale="70000" lnSpcReduction="20000"/>
          </a:bodyPr>
          <a:lstStyle/>
          <a:p>
            <a:pPr>
              <a:lnSpc>
                <a:spcPct val="150000"/>
              </a:lnSpc>
            </a:pPr>
            <a:r>
              <a:rPr lang="zh-CN" altLang="en-US" b="1" dirty="0"/>
              <a:t>场景</a:t>
            </a:r>
            <a:r>
              <a:rPr lang="zh-CN" altLang="en-US" dirty="0"/>
              <a:t>：对应业务场景，场景之间完全独立</a:t>
            </a:r>
            <a:endParaRPr lang="en-US" altLang="zh-CN" dirty="0"/>
          </a:p>
          <a:p>
            <a:pPr>
              <a:lnSpc>
                <a:spcPct val="150000"/>
              </a:lnSpc>
            </a:pPr>
            <a:r>
              <a:rPr lang="zh-CN" altLang="en-US" b="1" dirty="0"/>
              <a:t>桶</a:t>
            </a:r>
            <a:r>
              <a:rPr lang="zh-CN" altLang="en-US" dirty="0"/>
              <a:t>：圈定了特定的用户流量，即不同的桶之间流量是互斥的。它从属于场景，一个场景可以有多个桶</a:t>
            </a:r>
          </a:p>
          <a:p>
            <a:pPr>
              <a:lnSpc>
                <a:spcPct val="150000"/>
              </a:lnSpc>
            </a:pPr>
            <a:r>
              <a:rPr lang="zh-CN" altLang="en-US" b="1" dirty="0"/>
              <a:t>层</a:t>
            </a:r>
            <a:r>
              <a:rPr lang="zh-CN" altLang="en-US" dirty="0"/>
              <a:t>：一类实验的集合，从属于场景，一个场景可以有多个层，处于同一层的各实验之间流量互斥，处于不同层的各实验之间流量正交，各实验流量之和为总流量</a:t>
            </a:r>
          </a:p>
          <a:p>
            <a:pPr>
              <a:lnSpc>
                <a:spcPct val="150000"/>
              </a:lnSpc>
            </a:pPr>
            <a:r>
              <a:rPr lang="zh-CN" altLang="en-US" b="1" dirty="0"/>
              <a:t>实验</a:t>
            </a:r>
            <a:r>
              <a:rPr lang="zh-CN" altLang="en-US" dirty="0"/>
              <a:t>：用来验证某个决定请求处理方式的功能或策略的一部分流量，通常用来验证某个功能或策略对系统指标（如</a:t>
            </a:r>
            <a:r>
              <a:rPr lang="en" altLang="zh-CN" dirty="0"/>
              <a:t>PV/UV</a:t>
            </a:r>
            <a:r>
              <a:rPr lang="zh-CN" altLang="en" dirty="0"/>
              <a:t>，</a:t>
            </a:r>
            <a:r>
              <a:rPr lang="en" altLang="zh-CN" dirty="0"/>
              <a:t>CRT</a:t>
            </a:r>
            <a:r>
              <a:rPr lang="zh-CN" altLang="en" dirty="0"/>
              <a:t>，</a:t>
            </a:r>
            <a:r>
              <a:rPr lang="zh-CN" altLang="en-US" dirty="0"/>
              <a:t>下单转化率等）的影响</a:t>
            </a:r>
          </a:p>
          <a:p>
            <a:pPr>
              <a:lnSpc>
                <a:spcPct val="150000"/>
              </a:lnSpc>
            </a:pPr>
            <a:r>
              <a:rPr lang="zh-CN" altLang="en-US" b="1" dirty="0"/>
              <a:t>流量</a:t>
            </a:r>
            <a:r>
              <a:rPr lang="zh-CN" altLang="en-US" dirty="0"/>
              <a:t>：指所有用户请求</a:t>
            </a:r>
          </a:p>
          <a:p>
            <a:pPr>
              <a:lnSpc>
                <a:spcPct val="150000"/>
              </a:lnSpc>
            </a:pPr>
            <a:r>
              <a:rPr lang="zh-CN" altLang="en-US" b="1" dirty="0"/>
              <a:t>流量正交</a:t>
            </a:r>
            <a:r>
              <a:rPr lang="zh-CN" altLang="en-US" dirty="0"/>
              <a:t>：不同层之间流量分配方式完全独立，不会互相影响，符合</a:t>
            </a:r>
            <a:r>
              <a:rPr lang="en" altLang="zh-CN" dirty="0"/>
              <a:t>MECE</a:t>
            </a:r>
            <a:endParaRPr lang="zh-CN" altLang="en" dirty="0"/>
          </a:p>
        </p:txBody>
      </p:sp>
    </p:spTree>
    <p:extLst>
      <p:ext uri="{BB962C8B-B14F-4D97-AF65-F5344CB8AC3E}">
        <p14:creationId xmlns:p14="http://schemas.microsoft.com/office/powerpoint/2010/main" val="8600433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539C89-070B-0140-3931-9323608C83CE}"/>
              </a:ext>
            </a:extLst>
          </p:cNvPr>
          <p:cNvSpPr>
            <a:spLocks noGrp="1"/>
          </p:cNvSpPr>
          <p:nvPr>
            <p:ph type="title"/>
          </p:nvPr>
        </p:nvSpPr>
        <p:spPr/>
        <p:txBody>
          <a:bodyPr/>
          <a:lstStyle/>
          <a:p>
            <a:r>
              <a:rPr kumimoji="1" lang="en-US" altLang="zh-CN" sz="2800" dirty="0"/>
              <a:t>A/B</a:t>
            </a:r>
            <a:r>
              <a:rPr kumimoji="1" lang="zh-CN" altLang="en-US" sz="2800" dirty="0"/>
              <a:t>测试：桶、层、流量</a:t>
            </a:r>
            <a:endParaRPr kumimoji="1" lang="zh-CN" altLang="en-US" dirty="0"/>
          </a:p>
        </p:txBody>
      </p:sp>
      <p:pic>
        <p:nvPicPr>
          <p:cNvPr id="4" name="Picture 2" descr="preview">
            <a:extLst>
              <a:ext uri="{FF2B5EF4-FFF2-40B4-BE49-F238E27FC236}">
                <a16:creationId xmlns:a16="http://schemas.microsoft.com/office/drawing/2014/main" id="{5EC2B022-0B91-DF25-BF4A-6018F1367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685" y="804667"/>
            <a:ext cx="7324820" cy="3674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257556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241583-6F65-D3E5-69D3-77AFADCDB8A2}"/>
              </a:ext>
            </a:extLst>
          </p:cNvPr>
          <p:cNvSpPr>
            <a:spLocks noGrp="1"/>
          </p:cNvSpPr>
          <p:nvPr>
            <p:ph type="title"/>
          </p:nvPr>
        </p:nvSpPr>
        <p:spPr/>
        <p:txBody>
          <a:bodyPr/>
          <a:lstStyle/>
          <a:p>
            <a:r>
              <a:rPr kumimoji="1" lang="en-US" altLang="zh-CN" sz="2800" dirty="0"/>
              <a:t>A/B</a:t>
            </a:r>
            <a:r>
              <a:rPr kumimoji="1" lang="zh-CN" altLang="en-US" sz="2800" dirty="0"/>
              <a:t>测试流程</a:t>
            </a:r>
            <a:endParaRPr kumimoji="1" lang="zh-CN" altLang="en-US" dirty="0"/>
          </a:p>
        </p:txBody>
      </p:sp>
      <p:sp>
        <p:nvSpPr>
          <p:cNvPr id="3" name="文本占位符 2">
            <a:extLst>
              <a:ext uri="{FF2B5EF4-FFF2-40B4-BE49-F238E27FC236}">
                <a16:creationId xmlns:a16="http://schemas.microsoft.com/office/drawing/2014/main" id="{88A81EDE-CB51-0B88-2CE8-071A926976C5}"/>
              </a:ext>
            </a:extLst>
          </p:cNvPr>
          <p:cNvSpPr>
            <a:spLocks noGrp="1"/>
          </p:cNvSpPr>
          <p:nvPr>
            <p:ph type="body" sz="quarter" idx="10"/>
          </p:nvPr>
        </p:nvSpPr>
        <p:spPr>
          <a:xfrm>
            <a:off x="1246273" y="1278636"/>
            <a:ext cx="2540724" cy="2715394"/>
          </a:xfrm>
        </p:spPr>
        <p:txBody>
          <a:bodyPr>
            <a:normAutofit/>
          </a:bodyPr>
          <a:lstStyle/>
          <a:p>
            <a:r>
              <a:rPr lang="zh-CN" altLang="en-US" sz="1800" dirty="0"/>
              <a:t>产生实验想法</a:t>
            </a:r>
            <a:endParaRPr lang="en-US" altLang="zh-CN" sz="1800" dirty="0"/>
          </a:p>
          <a:p>
            <a:r>
              <a:rPr lang="zh-CN" altLang="en-US" sz="1800" dirty="0"/>
              <a:t>评估实验优先级</a:t>
            </a:r>
            <a:endParaRPr lang="en-US" altLang="zh-CN" sz="1800" dirty="0"/>
          </a:p>
          <a:p>
            <a:r>
              <a:rPr lang="zh-CN" altLang="en-US" sz="1800" dirty="0"/>
              <a:t>设计和开发实验</a:t>
            </a:r>
            <a:endParaRPr lang="en-US" altLang="zh-CN" sz="1800" dirty="0"/>
          </a:p>
          <a:p>
            <a:r>
              <a:rPr lang="zh-CN" altLang="en-US" sz="1800" dirty="0"/>
              <a:t>分析数据</a:t>
            </a:r>
            <a:endParaRPr lang="en-US" altLang="zh-CN" sz="1800" dirty="0"/>
          </a:p>
          <a:p>
            <a:r>
              <a:rPr lang="zh-CN" altLang="en-US" sz="1800" dirty="0"/>
              <a:t>应用结果</a:t>
            </a:r>
            <a:endParaRPr kumimoji="1" lang="zh-CN" altLang="en-US" sz="1800" dirty="0"/>
          </a:p>
        </p:txBody>
      </p:sp>
      <p:pic>
        <p:nvPicPr>
          <p:cNvPr id="4" name="Picture 2" descr="What is A/B Testing: Best Practices, Examples, Tools 2020">
            <a:extLst>
              <a:ext uri="{FF2B5EF4-FFF2-40B4-BE49-F238E27FC236}">
                <a16:creationId xmlns:a16="http://schemas.microsoft.com/office/drawing/2014/main" id="{41119073-BBB1-EEB4-364F-CC97760E35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2935" y="1176549"/>
            <a:ext cx="3367859" cy="2790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894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2" descr="数据流">
            <a:extLst>
              <a:ext uri="{FF2B5EF4-FFF2-40B4-BE49-F238E27FC236}">
                <a16:creationId xmlns:a16="http://schemas.microsoft.com/office/drawing/2014/main" id="{B79D0CD4-FD8F-0789-4185-0300A17235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0013" y="141902"/>
            <a:ext cx="6482087" cy="4835540"/>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E5726558-724C-3F9D-8D87-98B52402DCF6}"/>
              </a:ext>
            </a:extLst>
          </p:cNvPr>
          <p:cNvSpPr>
            <a:spLocks noGrp="1"/>
          </p:cNvSpPr>
          <p:nvPr>
            <p:ph type="title"/>
          </p:nvPr>
        </p:nvSpPr>
        <p:spPr/>
        <p:txBody>
          <a:bodyPr/>
          <a:lstStyle/>
          <a:p>
            <a:r>
              <a:rPr kumimoji="1" lang="en-US" altLang="zh-CN" dirty="0"/>
              <a:t>A/B</a:t>
            </a:r>
            <a:r>
              <a:rPr kumimoji="1" lang="zh-CN" altLang="en-US" dirty="0"/>
              <a:t>测试 数据流</a:t>
            </a:r>
          </a:p>
        </p:txBody>
      </p:sp>
    </p:spTree>
    <p:extLst>
      <p:ext uri="{BB962C8B-B14F-4D97-AF65-F5344CB8AC3E}">
        <p14:creationId xmlns:p14="http://schemas.microsoft.com/office/powerpoint/2010/main" val="15462706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726558-724C-3F9D-8D87-98B52402DCF6}"/>
              </a:ext>
            </a:extLst>
          </p:cNvPr>
          <p:cNvSpPr>
            <a:spLocks noGrp="1"/>
          </p:cNvSpPr>
          <p:nvPr>
            <p:ph type="title"/>
          </p:nvPr>
        </p:nvSpPr>
        <p:spPr/>
        <p:txBody>
          <a:bodyPr/>
          <a:lstStyle/>
          <a:p>
            <a:r>
              <a:rPr kumimoji="1" lang="en-US" altLang="zh-CN" sz="2800" dirty="0"/>
              <a:t>A/B</a:t>
            </a:r>
            <a:r>
              <a:rPr kumimoji="1" lang="zh-CN" altLang="en-US" sz="2800" dirty="0"/>
              <a:t>测试</a:t>
            </a:r>
            <a:r>
              <a:rPr kumimoji="1" lang="en-US" altLang="zh-CN" sz="2800" dirty="0"/>
              <a:t>SDK</a:t>
            </a:r>
            <a:endParaRPr kumimoji="1" lang="zh-CN" altLang="en-US" b="0" dirty="0"/>
          </a:p>
        </p:txBody>
      </p:sp>
      <p:sp>
        <p:nvSpPr>
          <p:cNvPr id="5" name="文本框 4">
            <a:extLst>
              <a:ext uri="{FF2B5EF4-FFF2-40B4-BE49-F238E27FC236}">
                <a16:creationId xmlns:a16="http://schemas.microsoft.com/office/drawing/2014/main" id="{06A82C30-A642-693A-8AC9-845016221B14}"/>
              </a:ext>
            </a:extLst>
          </p:cNvPr>
          <p:cNvSpPr txBox="1"/>
          <p:nvPr/>
        </p:nvSpPr>
        <p:spPr>
          <a:xfrm>
            <a:off x="724619" y="1166945"/>
            <a:ext cx="7323826" cy="2542940"/>
          </a:xfrm>
          <a:prstGeom prst="rect">
            <a:avLst/>
          </a:prstGeom>
          <a:noFill/>
        </p:spPr>
        <p:txBody>
          <a:bodyPr wrap="square">
            <a:spAutoFit/>
          </a:bodyPr>
          <a:lstStyle/>
          <a:p>
            <a:pPr marL="342900" indent="-342900">
              <a:lnSpc>
                <a:spcPct val="150000"/>
              </a:lnSpc>
              <a:buFont typeface="+mj-ea"/>
              <a:buAutoNum type="circleNumDbPlain"/>
            </a:pPr>
            <a:r>
              <a:rPr lang="zh-CN" altLang="en-US" b="1" dirty="0">
                <a:latin typeface="Microsoft YaHei" panose="020B0503020204020204" pitchFamily="34" charset="-122"/>
                <a:ea typeface="Microsoft YaHei" panose="020B0503020204020204" pitchFamily="34" charset="-122"/>
              </a:rPr>
              <a:t>实验配置动态分发</a:t>
            </a:r>
            <a:r>
              <a:rPr lang="zh-CN" altLang="en-US" dirty="0">
                <a:latin typeface="Microsoft YaHei" panose="020B0503020204020204" pitchFamily="34" charset="-122"/>
                <a:ea typeface="Microsoft YaHei" panose="020B0503020204020204" pitchFamily="34" charset="-122"/>
              </a:rPr>
              <a:t>：实现针对场景标识</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用户分流标识的一致性哈希算法，根据场景的实验流量配置，进行实验配置的动态分发</a:t>
            </a:r>
          </a:p>
          <a:p>
            <a:pPr marL="342900" indent="-342900">
              <a:lnSpc>
                <a:spcPct val="150000"/>
              </a:lnSpc>
              <a:buFont typeface="+mj-ea"/>
              <a:buAutoNum type="circleNumDbPlain"/>
            </a:pPr>
            <a:r>
              <a:rPr lang="zh-CN" altLang="en-US" b="1" dirty="0">
                <a:latin typeface="Microsoft YaHei" panose="020B0503020204020204" pitchFamily="34" charset="-122"/>
                <a:ea typeface="Microsoft YaHei" panose="020B0503020204020204" pitchFamily="34" charset="-122"/>
              </a:rPr>
              <a:t>上报</a:t>
            </a:r>
            <a:r>
              <a:rPr lang="en" altLang="zh-CN" b="1" dirty="0">
                <a:latin typeface="Microsoft YaHei" panose="020B0503020204020204" pitchFamily="34" charset="-122"/>
                <a:ea typeface="Microsoft YaHei" panose="020B0503020204020204" pitchFamily="34" charset="-122"/>
              </a:rPr>
              <a:t>ABTest</a:t>
            </a:r>
            <a:r>
              <a:rPr lang="zh-CN" altLang="en" b="1" dirty="0">
                <a:latin typeface="Microsoft YaHei" panose="020B0503020204020204" pitchFamily="34" charset="-122"/>
                <a:ea typeface="Microsoft YaHei" panose="020B0503020204020204" pitchFamily="34" charset="-122"/>
              </a:rPr>
              <a:t>数据</a:t>
            </a:r>
            <a:r>
              <a:rPr lang="zh-CN" altLang="en-US" b="1"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请求日志、业务自定义日志以及监控日志</a:t>
            </a:r>
          </a:p>
          <a:p>
            <a:pPr marL="342900" indent="-342900">
              <a:lnSpc>
                <a:spcPct val="150000"/>
              </a:lnSpc>
              <a:buFont typeface="+mj-ea"/>
              <a:buAutoNum type="circleNumDbPlain"/>
            </a:pPr>
            <a:r>
              <a:rPr lang="zh-CN" altLang="en-US" b="1" dirty="0">
                <a:latin typeface="Microsoft YaHei" panose="020B0503020204020204" pitchFamily="34" charset="-122"/>
                <a:ea typeface="Microsoft YaHei" panose="020B0503020204020204" pitchFamily="34" charset="-122"/>
              </a:rPr>
              <a:t>基于</a:t>
            </a:r>
            <a:r>
              <a:rPr lang="en" altLang="zh-CN" b="1" dirty="0">
                <a:latin typeface="Microsoft YaHei" panose="020B0503020204020204" pitchFamily="34" charset="-122"/>
                <a:ea typeface="Microsoft YaHei" panose="020B0503020204020204" pitchFamily="34" charset="-122"/>
              </a:rPr>
              <a:t>ABTest</a:t>
            </a:r>
            <a:r>
              <a:rPr lang="zh-CN" altLang="en-US" b="1" dirty="0">
                <a:latin typeface="Microsoft YaHei" panose="020B0503020204020204" pitchFamily="34" charset="-122"/>
                <a:ea typeface="Microsoft YaHei" panose="020B0503020204020204" pitchFamily="34" charset="-122"/>
              </a:rPr>
              <a:t>埋点规范生成前端埋点标识</a:t>
            </a:r>
            <a:r>
              <a:rPr lang="zh-CN" altLang="en-US" dirty="0">
                <a:latin typeface="Microsoft YaHei" panose="020B0503020204020204" pitchFamily="34" charset="-122"/>
                <a:ea typeface="Microsoft YaHei" panose="020B0503020204020204" pitchFamily="34" charset="-122"/>
              </a:rPr>
              <a:t>：</a:t>
            </a:r>
            <a:r>
              <a:rPr lang="en" altLang="zh-CN" dirty="0" err="1">
                <a:latin typeface="Microsoft YaHei" panose="020B0503020204020204" pitchFamily="34" charset="-122"/>
                <a:ea typeface="Microsoft YaHei" panose="020B0503020204020204" pitchFamily="34" charset="-122"/>
              </a:rPr>
              <a:t>abTraceId</a:t>
            </a:r>
            <a:r>
              <a:rPr lang="zh-CN" altLang="e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请求唯一标识）和</a:t>
            </a:r>
            <a:r>
              <a:rPr lang="en" altLang="zh-CN" dirty="0" err="1">
                <a:latin typeface="Microsoft YaHei" panose="020B0503020204020204" pitchFamily="34" charset="-122"/>
                <a:ea typeface="Microsoft YaHei" panose="020B0503020204020204" pitchFamily="34" charset="-122"/>
              </a:rPr>
              <a:t>bcm</a:t>
            </a:r>
            <a:r>
              <a:rPr lang="zh-CN" altLang="e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请求结果标识）、事件标识</a:t>
            </a:r>
            <a:r>
              <a:rPr lang="zh-CN" altLang="en-US" dirty="0">
                <a:solidFill>
                  <a:srgbClr val="595B66"/>
                </a:solidFill>
                <a:latin typeface="Microsoft YaHei" panose="020B0503020204020204" pitchFamily="34" charset="-122"/>
                <a:ea typeface="Microsoft YaHei" panose="020B0503020204020204" pitchFamily="34" charset="-122"/>
              </a:rPr>
              <a:t>（曝光</a:t>
            </a:r>
            <a:r>
              <a:rPr lang="en" altLang="zh-CN" dirty="0">
                <a:solidFill>
                  <a:srgbClr val="595B66"/>
                </a:solidFill>
                <a:latin typeface="Microsoft YaHei" panose="020B0503020204020204" pitchFamily="34" charset="-122"/>
                <a:ea typeface="Microsoft YaHei" panose="020B0503020204020204" pitchFamily="34" charset="-122"/>
              </a:rPr>
              <a:t>view</a:t>
            </a:r>
            <a:r>
              <a:rPr lang="zh-CN" altLang="en-US" dirty="0">
                <a:solidFill>
                  <a:srgbClr val="595B66"/>
                </a:solidFill>
                <a:latin typeface="Microsoft YaHei" panose="020B0503020204020204" pitchFamily="34" charset="-122"/>
                <a:ea typeface="Microsoft YaHei" panose="020B0503020204020204" pitchFamily="34" charset="-122"/>
              </a:rPr>
              <a:t>、点击、收藏、转发等</a:t>
            </a:r>
            <a:r>
              <a:rPr lang="zh-CN" altLang="en" dirty="0">
                <a:solidFill>
                  <a:srgbClr val="595B66"/>
                </a:solidFill>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等追踪标识，用以透传到前端埋点来追踪用户行为</a:t>
            </a:r>
          </a:p>
        </p:txBody>
      </p:sp>
    </p:spTree>
    <p:extLst>
      <p:ext uri="{BB962C8B-B14F-4D97-AF65-F5344CB8AC3E}">
        <p14:creationId xmlns:p14="http://schemas.microsoft.com/office/powerpoint/2010/main" val="124864708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DB0A-513F-2F38-A345-99CAD0F18DC1}"/>
              </a:ext>
            </a:extLst>
          </p:cNvPr>
          <p:cNvSpPr>
            <a:spLocks noGrp="1"/>
          </p:cNvSpPr>
          <p:nvPr>
            <p:ph type="title"/>
          </p:nvPr>
        </p:nvSpPr>
        <p:spPr/>
        <p:txBody>
          <a:bodyPr/>
          <a:lstStyle/>
          <a:p>
            <a:r>
              <a:rPr kumimoji="1" lang="en-US" altLang="zh-CN" sz="2800" dirty="0"/>
              <a:t>A/B</a:t>
            </a:r>
            <a:r>
              <a:rPr kumimoji="1" lang="zh-CN" altLang="en-US" sz="2800" dirty="0"/>
              <a:t>测试平台功能</a:t>
            </a:r>
            <a:endParaRPr kumimoji="1" lang="zh-CN" altLang="en-US" dirty="0"/>
          </a:p>
        </p:txBody>
      </p:sp>
      <p:sp>
        <p:nvSpPr>
          <p:cNvPr id="3" name="文本占位符 2">
            <a:extLst>
              <a:ext uri="{FF2B5EF4-FFF2-40B4-BE49-F238E27FC236}">
                <a16:creationId xmlns:a16="http://schemas.microsoft.com/office/drawing/2014/main" id="{54DDD0D3-D4B0-025E-6230-8AF37D802B87}"/>
              </a:ext>
            </a:extLst>
          </p:cNvPr>
          <p:cNvSpPr>
            <a:spLocks noGrp="1"/>
          </p:cNvSpPr>
          <p:nvPr>
            <p:ph type="body" sz="quarter" idx="10"/>
          </p:nvPr>
        </p:nvSpPr>
        <p:spPr>
          <a:xfrm>
            <a:off x="582038" y="1028470"/>
            <a:ext cx="7932234" cy="3155341"/>
          </a:xfrm>
        </p:spPr>
        <p:txBody>
          <a:bodyPr>
            <a:normAutofit fontScale="77500" lnSpcReduction="20000"/>
          </a:bodyPr>
          <a:lstStyle/>
          <a:p>
            <a:pPr>
              <a:lnSpc>
                <a:spcPct val="130000"/>
              </a:lnSpc>
            </a:pPr>
            <a:r>
              <a:rPr lang="en" altLang="zh-CN" b="1" dirty="0">
                <a:latin typeface="Microsoft YaHei" panose="020B0503020204020204" pitchFamily="34" charset="-122"/>
                <a:ea typeface="Microsoft YaHei" panose="020B0503020204020204" pitchFamily="34" charset="-122"/>
              </a:rPr>
              <a:t>ABTest</a:t>
            </a:r>
            <a:r>
              <a:rPr lang="zh-CN" altLang="en-US" b="1" dirty="0">
                <a:latin typeface="Microsoft YaHei" panose="020B0503020204020204" pitchFamily="34" charset="-122"/>
                <a:ea typeface="Microsoft YaHei" panose="020B0503020204020204" pitchFamily="34" charset="-122"/>
              </a:rPr>
              <a:t>元数据管理</a:t>
            </a:r>
            <a:r>
              <a:rPr lang="zh-CN" altLang="en-US" dirty="0">
                <a:latin typeface="Microsoft YaHei" panose="020B0503020204020204" pitchFamily="34" charset="-122"/>
                <a:ea typeface="Microsoft YaHei" panose="020B0503020204020204" pitchFamily="34" charset="-122"/>
              </a:rPr>
              <a:t>，包括应用、场景与实验的创建、编辑，以及配置的发布等。</a:t>
            </a:r>
          </a:p>
          <a:p>
            <a:pPr>
              <a:lnSpc>
                <a:spcPct val="130000"/>
              </a:lnSpc>
            </a:pPr>
            <a:r>
              <a:rPr lang="en" altLang="zh-CN" b="1" dirty="0">
                <a:latin typeface="Microsoft YaHei" panose="020B0503020204020204" pitchFamily="34" charset="-122"/>
                <a:ea typeface="Microsoft YaHei" panose="020B0503020204020204" pitchFamily="34" charset="-122"/>
              </a:rPr>
              <a:t>ABTest</a:t>
            </a:r>
            <a:r>
              <a:rPr lang="zh-CN" altLang="en-US" b="1" dirty="0">
                <a:latin typeface="Microsoft YaHei" panose="020B0503020204020204" pitchFamily="34" charset="-122"/>
                <a:ea typeface="Microsoft YaHei" panose="020B0503020204020204" pitchFamily="34" charset="-122"/>
              </a:rPr>
              <a:t>接入的开发和测试支持</a:t>
            </a:r>
            <a:r>
              <a:rPr lang="zh-CN" altLang="en-US" dirty="0">
                <a:latin typeface="Microsoft YaHei" panose="020B0503020204020204" pitchFamily="34" charset="-122"/>
                <a:ea typeface="Microsoft YaHei" panose="020B0503020204020204" pitchFamily="34" charset="-122"/>
              </a:rPr>
              <a:t>。用户可以方便地查看完整可用的接入示例代码，可以输入分流用户标识进行测试，以及查询实时日志等。</a:t>
            </a:r>
          </a:p>
          <a:p>
            <a:pPr>
              <a:lnSpc>
                <a:spcPct val="130000"/>
              </a:lnSpc>
            </a:pPr>
            <a:r>
              <a:rPr lang="zh-CN" altLang="en-US" b="1" dirty="0">
                <a:latin typeface="Microsoft YaHei" panose="020B0503020204020204" pitchFamily="34" charset="-122"/>
                <a:ea typeface="Microsoft YaHei" panose="020B0503020204020204" pitchFamily="34" charset="-122"/>
              </a:rPr>
              <a:t>实时报表和离线效果报表</a:t>
            </a:r>
            <a:r>
              <a:rPr lang="zh-CN" altLang="en-US" dirty="0">
                <a:latin typeface="Microsoft YaHei" panose="020B0503020204020204" pitchFamily="34" charset="-122"/>
                <a:ea typeface="Microsoft YaHei" panose="020B0503020204020204" pitchFamily="34" charset="-122"/>
              </a:rPr>
              <a:t>。实时报表包含实时请求、点击</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率</a:t>
            </a:r>
            <a:r>
              <a:rPr lang="en-US" altLang="zh-CN"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、转化率、千次曝光转化等相关指标数据，及其对比分析</a:t>
            </a:r>
          </a:p>
          <a:p>
            <a:pPr>
              <a:lnSpc>
                <a:spcPct val="130000"/>
              </a:lnSpc>
            </a:pPr>
            <a:r>
              <a:rPr lang="zh-CN" altLang="en-US" b="1" dirty="0">
                <a:latin typeface="Microsoft YaHei" panose="020B0503020204020204" pitchFamily="34" charset="-122"/>
                <a:ea typeface="Microsoft YaHei" panose="020B0503020204020204" pitchFamily="34" charset="-122"/>
              </a:rPr>
              <a:t>异常监控和告警</a:t>
            </a:r>
            <a:r>
              <a:rPr lang="zh-CN" altLang="en-US" dirty="0">
                <a:latin typeface="Microsoft YaHei" panose="020B0503020204020204" pitchFamily="34" charset="-122"/>
                <a:ea typeface="Microsoft YaHei" panose="020B0503020204020204" pitchFamily="34" charset="-122"/>
              </a:rPr>
              <a:t>。平台实时监控 </a:t>
            </a:r>
            <a:r>
              <a:rPr lang="en" altLang="zh-CN" dirty="0">
                <a:latin typeface="Microsoft YaHei" panose="020B0503020204020204" pitchFamily="34" charset="-122"/>
                <a:ea typeface="Microsoft YaHei" panose="020B0503020204020204" pitchFamily="34" charset="-122"/>
              </a:rPr>
              <a:t>SDK </a:t>
            </a:r>
            <a:r>
              <a:rPr lang="zh-CN" altLang="en-US" dirty="0">
                <a:latin typeface="Microsoft YaHei" panose="020B0503020204020204" pitchFamily="34" charset="-122"/>
                <a:ea typeface="Microsoft YaHei" panose="020B0503020204020204" pitchFamily="34" charset="-122"/>
              </a:rPr>
              <a:t>上报的 </a:t>
            </a:r>
            <a:r>
              <a:rPr lang="en" altLang="zh-CN" dirty="0">
                <a:latin typeface="Microsoft YaHei" panose="020B0503020204020204" pitchFamily="34" charset="-122"/>
                <a:ea typeface="Microsoft YaHei" panose="020B0503020204020204" pitchFamily="34" charset="-122"/>
              </a:rPr>
              <a:t>ABTest </a:t>
            </a:r>
            <a:r>
              <a:rPr lang="zh-CN" altLang="en-US" dirty="0">
                <a:latin typeface="Microsoft YaHei" panose="020B0503020204020204" pitchFamily="34" charset="-122"/>
                <a:ea typeface="Microsoft YaHei" panose="020B0503020204020204" pitchFamily="34" charset="-122"/>
              </a:rPr>
              <a:t>请求数、失败数和延迟时间等数据，一旦发现异常即发出告警</a:t>
            </a:r>
          </a:p>
        </p:txBody>
      </p:sp>
    </p:spTree>
    <p:extLst>
      <p:ext uri="{BB962C8B-B14F-4D97-AF65-F5344CB8AC3E}">
        <p14:creationId xmlns:p14="http://schemas.microsoft.com/office/powerpoint/2010/main" val="411511839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747505-0CE8-33F1-EE35-2AB828C8880C}"/>
              </a:ext>
            </a:extLst>
          </p:cNvPr>
          <p:cNvSpPr>
            <a:spLocks noGrp="1"/>
          </p:cNvSpPr>
          <p:nvPr>
            <p:ph type="title"/>
          </p:nvPr>
        </p:nvSpPr>
        <p:spPr/>
        <p:txBody>
          <a:bodyPr/>
          <a:lstStyle/>
          <a:p>
            <a:r>
              <a:rPr kumimoji="1" lang="en-US" altLang="zh-CN" sz="2800" dirty="0"/>
              <a:t>A/B</a:t>
            </a:r>
            <a:r>
              <a:rPr kumimoji="1" lang="zh-CN" altLang="en-US" sz="2800" dirty="0"/>
              <a:t>测试评价</a:t>
            </a:r>
            <a:endParaRPr kumimoji="1" lang="zh-CN" altLang="en-US" dirty="0"/>
          </a:p>
        </p:txBody>
      </p:sp>
      <p:pic>
        <p:nvPicPr>
          <p:cNvPr id="4" name="Picture 2" descr="系统评价">
            <a:extLst>
              <a:ext uri="{FF2B5EF4-FFF2-40B4-BE49-F238E27FC236}">
                <a16:creationId xmlns:a16="http://schemas.microsoft.com/office/drawing/2014/main" id="{BC8A20B5-C9FE-E100-B80C-0F834387B7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913" y="954256"/>
            <a:ext cx="7903368" cy="3512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909573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DB0A-513F-2F38-A345-99CAD0F18DC1}"/>
              </a:ext>
            </a:extLst>
          </p:cNvPr>
          <p:cNvSpPr>
            <a:spLocks noGrp="1"/>
          </p:cNvSpPr>
          <p:nvPr>
            <p:ph type="title"/>
          </p:nvPr>
        </p:nvSpPr>
        <p:spPr/>
        <p:txBody>
          <a:bodyPr/>
          <a:lstStyle/>
          <a:p>
            <a:r>
              <a:rPr kumimoji="1" lang="en-US" altLang="zh-CN" sz="2800" dirty="0"/>
              <a:t>A/B</a:t>
            </a:r>
            <a:r>
              <a:rPr kumimoji="1" lang="zh-CN" altLang="en-US" sz="2800" dirty="0"/>
              <a:t>测试优秀实践</a:t>
            </a:r>
            <a:endParaRPr kumimoji="1" lang="zh-CN" altLang="en-US" dirty="0"/>
          </a:p>
        </p:txBody>
      </p:sp>
      <p:sp>
        <p:nvSpPr>
          <p:cNvPr id="3" name="文本占位符 2">
            <a:extLst>
              <a:ext uri="{FF2B5EF4-FFF2-40B4-BE49-F238E27FC236}">
                <a16:creationId xmlns:a16="http://schemas.microsoft.com/office/drawing/2014/main" id="{54DDD0D3-D4B0-025E-6230-8AF37D802B87}"/>
              </a:ext>
            </a:extLst>
          </p:cNvPr>
          <p:cNvSpPr>
            <a:spLocks noGrp="1"/>
          </p:cNvSpPr>
          <p:nvPr>
            <p:ph type="body" sz="quarter" idx="10"/>
          </p:nvPr>
        </p:nvSpPr>
        <p:spPr>
          <a:xfrm>
            <a:off x="431313" y="1012207"/>
            <a:ext cx="8053004" cy="3371002"/>
          </a:xfrm>
        </p:spPr>
        <p:txBody>
          <a:bodyPr>
            <a:normAutofit fontScale="70000" lnSpcReduction="20000"/>
          </a:bodyPr>
          <a:lstStyle/>
          <a:p>
            <a:r>
              <a:rPr lang="zh-CN" altLang="en-US" dirty="0"/>
              <a:t>采用流量拦截分发的方式，摒弃了原有接口的形式，对业务代码没有侵入，性能没有明显影响，且不会产生二次流量</a:t>
            </a:r>
          </a:p>
          <a:p>
            <a:r>
              <a:rPr lang="zh-CN" altLang="en-US" dirty="0"/>
              <a:t>采用流量分层并绑定实验的策略，更精细直观地去定义分流实验</a:t>
            </a:r>
            <a:endParaRPr lang="en-US" altLang="zh-CN" dirty="0"/>
          </a:p>
          <a:p>
            <a:r>
              <a:rPr lang="zh-CN" altLang="en-US" dirty="0"/>
              <a:t>数据传输：通过在 </a:t>
            </a:r>
            <a:r>
              <a:rPr lang="en" altLang="zh-CN" dirty="0"/>
              <a:t>HTTP </a:t>
            </a:r>
            <a:r>
              <a:rPr lang="zh-CN" altLang="en-US" dirty="0"/>
              <a:t>头部增加分流信息，业务方无需关心具体的实现语言</a:t>
            </a:r>
          </a:p>
          <a:p>
            <a:r>
              <a:rPr lang="zh-CN" altLang="en-US" dirty="0"/>
              <a:t>监控体系</a:t>
            </a:r>
          </a:p>
          <a:p>
            <a:r>
              <a:rPr lang="zh-CN" altLang="en-US" dirty="0"/>
              <a:t>用户画像等精细化定制</a:t>
            </a:r>
            <a:r>
              <a:rPr lang="en" altLang="zh-CN" dirty="0"/>
              <a:t>AB</a:t>
            </a:r>
            <a:endParaRPr lang="zh-CN" altLang="en" dirty="0"/>
          </a:p>
          <a:p>
            <a:r>
              <a:rPr lang="zh-CN" altLang="en-US" dirty="0"/>
              <a:t>统计功效支持置信区间、特征值等</a:t>
            </a:r>
          </a:p>
          <a:p>
            <a:r>
              <a:rPr lang="zh-CN" altLang="en-US" dirty="0"/>
              <a:t>通过 </a:t>
            </a:r>
            <a:r>
              <a:rPr lang="en" altLang="zh-CN" dirty="0"/>
              <a:t>AARRR </a:t>
            </a:r>
            <a:r>
              <a:rPr lang="zh-CN" altLang="en-US" dirty="0"/>
              <a:t>模型评估实验对北极星指标的影响</a:t>
            </a:r>
            <a:endParaRPr lang="zh-CN" altLang="en-US" dirty="0">
              <a:latin typeface="Microsoft YaHei" panose="020B0503020204020204" pitchFamily="34" charset="-122"/>
              <a:ea typeface="Microsoft YaHei" panose="020B0503020204020204" pitchFamily="34" charset="-122"/>
            </a:endParaRPr>
          </a:p>
        </p:txBody>
      </p:sp>
      <p:sp>
        <p:nvSpPr>
          <p:cNvPr id="5" name="文本框 4">
            <a:extLst>
              <a:ext uri="{FF2B5EF4-FFF2-40B4-BE49-F238E27FC236}">
                <a16:creationId xmlns:a16="http://schemas.microsoft.com/office/drawing/2014/main" id="{4FE3CAA9-3F30-7821-C5EC-8ACD892223EE}"/>
              </a:ext>
            </a:extLst>
          </p:cNvPr>
          <p:cNvSpPr txBox="1"/>
          <p:nvPr/>
        </p:nvSpPr>
        <p:spPr>
          <a:xfrm>
            <a:off x="5496448" y="2873885"/>
            <a:ext cx="3547068" cy="1509324"/>
          </a:xfrm>
          <a:prstGeom prst="rect">
            <a:avLst/>
          </a:prstGeom>
          <a:solidFill>
            <a:schemeClr val="accent4">
              <a:lumMod val="20000"/>
              <a:lumOff val="80000"/>
            </a:schemeClr>
          </a:solidFill>
        </p:spPr>
        <p:txBody>
          <a:bodyPr wrap="square">
            <a:spAutoFit/>
          </a:bodyPr>
          <a:lstStyle/>
          <a:p>
            <a:pPr>
              <a:lnSpc>
                <a:spcPct val="130000"/>
              </a:lnSpc>
            </a:pPr>
            <a:r>
              <a:rPr lang="zh-CN" altLang="en-US" sz="1200" b="1" dirty="0">
                <a:latin typeface="Microsoft YaHei" panose="020B0503020204020204" pitchFamily="34" charset="-122"/>
                <a:ea typeface="Microsoft YaHei" panose="020B0503020204020204" pitchFamily="34" charset="-122"/>
              </a:rPr>
              <a:t>AARRR</a:t>
            </a:r>
            <a:r>
              <a:rPr lang="zh-CN" altLang="en-US" sz="1200" dirty="0">
                <a:latin typeface="Microsoft YaHei" panose="020B0503020204020204" pitchFamily="34" charset="-122"/>
                <a:ea typeface="Microsoft YaHei" panose="020B0503020204020204" pitchFamily="34" charset="-122"/>
              </a:rPr>
              <a:t>分别代表：Acquisition</a:t>
            </a:r>
            <a:r>
              <a:rPr lang="en-US" altLang="zh-CN" sz="1200" dirty="0">
                <a:latin typeface="Microsoft YaHei" panose="020B0503020204020204" pitchFamily="34" charset="-122"/>
                <a:ea typeface="Microsoft YaHei" panose="020B0503020204020204" pitchFamily="34" charset="-122"/>
              </a:rPr>
              <a:t>/</a:t>
            </a:r>
            <a:r>
              <a:rPr lang="zh-CN" altLang="en-US" sz="1200" dirty="0">
                <a:latin typeface="Microsoft YaHei" panose="020B0503020204020204" pitchFamily="34" charset="-122"/>
                <a:ea typeface="Microsoft YaHei" panose="020B0503020204020204" pitchFamily="34" charset="-122"/>
              </a:rPr>
              <a:t>获取、Activation</a:t>
            </a:r>
            <a:r>
              <a:rPr lang="en-US" altLang="zh-CN" sz="1200" dirty="0">
                <a:latin typeface="Microsoft YaHei" panose="020B0503020204020204" pitchFamily="34" charset="-122"/>
                <a:ea typeface="Microsoft YaHei" panose="020B0503020204020204" pitchFamily="34" charset="-122"/>
              </a:rPr>
              <a:t>/</a:t>
            </a:r>
            <a:r>
              <a:rPr lang="zh-CN" altLang="en-US" sz="1200" dirty="0">
                <a:latin typeface="Microsoft YaHei" panose="020B0503020204020204" pitchFamily="34" charset="-122"/>
                <a:ea typeface="Microsoft YaHei" panose="020B0503020204020204" pitchFamily="34" charset="-122"/>
              </a:rPr>
              <a:t>激活、Retention</a:t>
            </a:r>
            <a:r>
              <a:rPr lang="en-US" altLang="zh-CN" sz="1200" dirty="0">
                <a:latin typeface="Microsoft YaHei" panose="020B0503020204020204" pitchFamily="34" charset="-122"/>
                <a:ea typeface="Microsoft YaHei" panose="020B0503020204020204" pitchFamily="34" charset="-122"/>
              </a:rPr>
              <a:t>/</a:t>
            </a:r>
            <a:r>
              <a:rPr lang="zh-CN" altLang="en-US" sz="1200" dirty="0">
                <a:latin typeface="Microsoft YaHei" panose="020B0503020204020204" pitchFamily="34" charset="-122"/>
                <a:ea typeface="Microsoft YaHei" panose="020B0503020204020204" pitchFamily="34" charset="-122"/>
              </a:rPr>
              <a:t>存留、Revenue</a:t>
            </a:r>
            <a:r>
              <a:rPr lang="en-US" altLang="zh-CN" sz="1200" dirty="0">
                <a:latin typeface="Microsoft YaHei" panose="020B0503020204020204" pitchFamily="34" charset="-122"/>
                <a:ea typeface="Microsoft YaHei" panose="020B0503020204020204" pitchFamily="34" charset="-122"/>
              </a:rPr>
              <a:t>/</a:t>
            </a:r>
            <a:r>
              <a:rPr lang="zh-CN" altLang="en-US" sz="1200" dirty="0">
                <a:latin typeface="Microsoft YaHei" panose="020B0503020204020204" pitchFamily="34" charset="-122"/>
                <a:ea typeface="Microsoft YaHei" panose="020B0503020204020204" pitchFamily="34" charset="-122"/>
              </a:rPr>
              <a:t>收益、Referral</a:t>
            </a:r>
            <a:r>
              <a:rPr lang="en-US" altLang="zh-CN" sz="1200" dirty="0">
                <a:latin typeface="Microsoft YaHei" panose="020B0503020204020204" pitchFamily="34" charset="-122"/>
                <a:ea typeface="Microsoft YaHei" panose="020B0503020204020204" pitchFamily="34" charset="-122"/>
              </a:rPr>
              <a:t>/</a:t>
            </a:r>
            <a:r>
              <a:rPr lang="zh-CN" altLang="en-US" sz="1200" dirty="0">
                <a:latin typeface="Microsoft YaHei" panose="020B0503020204020204" pitchFamily="34" charset="-122"/>
                <a:ea typeface="Microsoft YaHei" panose="020B0503020204020204" pitchFamily="34" charset="-122"/>
              </a:rPr>
              <a:t>推荐。</a:t>
            </a:r>
            <a:endParaRPr lang="en-US" altLang="zh-CN" sz="1200" dirty="0">
              <a:latin typeface="Microsoft YaHei" panose="020B0503020204020204" pitchFamily="34" charset="-122"/>
              <a:ea typeface="Microsoft YaHei" panose="020B0503020204020204" pitchFamily="34" charset="-122"/>
            </a:endParaRPr>
          </a:p>
          <a:p>
            <a:pPr>
              <a:lnSpc>
                <a:spcPct val="130000"/>
              </a:lnSpc>
            </a:pPr>
            <a:r>
              <a:rPr lang="zh-CN" altLang="en-US" sz="1200" b="1" dirty="0">
                <a:latin typeface="Microsoft YaHei" panose="020B0503020204020204" pitchFamily="34" charset="-122"/>
                <a:ea typeface="Microsoft YaHei" panose="020B0503020204020204" pitchFamily="34" charset="-122"/>
              </a:rPr>
              <a:t>AARRR模型</a:t>
            </a:r>
            <a:r>
              <a:rPr lang="zh-CN" altLang="en-US" sz="1200" dirty="0">
                <a:latin typeface="Microsoft YaHei" panose="020B0503020204020204" pitchFamily="34" charset="-122"/>
                <a:ea typeface="Microsoft YaHei" panose="020B0503020204020204" pitchFamily="34" charset="-122"/>
              </a:rPr>
              <a:t>把控产品整体的成本</a:t>
            </a:r>
            <a:r>
              <a:rPr lang="en-US" altLang="zh-CN" sz="1200" dirty="0">
                <a:latin typeface="Microsoft YaHei" panose="020B0503020204020204" pitchFamily="34" charset="-122"/>
                <a:ea typeface="Microsoft YaHei" panose="020B0503020204020204" pitchFamily="34" charset="-122"/>
              </a:rPr>
              <a:t>/</a:t>
            </a:r>
            <a:r>
              <a:rPr lang="zh-CN" altLang="en-US" sz="1200" dirty="0">
                <a:latin typeface="Microsoft YaHei" panose="020B0503020204020204" pitchFamily="34" charset="-122"/>
                <a:ea typeface="Microsoft YaHei" panose="020B0503020204020204" pitchFamily="34" charset="-122"/>
              </a:rPr>
              <a:t>收入关系，用户生命周期价值</a:t>
            </a:r>
            <a:r>
              <a:rPr lang="en-US" altLang="zh-CN" sz="1200" dirty="0">
                <a:latin typeface="Microsoft YaHei" panose="020B0503020204020204" pitchFamily="34" charset="-122"/>
                <a:ea typeface="Microsoft YaHei" panose="020B0503020204020204" pitchFamily="34" charset="-122"/>
              </a:rPr>
              <a:t>(</a:t>
            </a:r>
            <a:r>
              <a:rPr lang="en" altLang="zh-CN" sz="1200" dirty="0">
                <a:latin typeface="Microsoft YaHei" panose="020B0503020204020204" pitchFamily="34" charset="-122"/>
                <a:ea typeface="Microsoft YaHei" panose="020B0503020204020204" pitchFamily="34" charset="-122"/>
              </a:rPr>
              <a:t>LTV)</a:t>
            </a:r>
            <a:r>
              <a:rPr lang="zh-CN" altLang="en-US" sz="1200" dirty="0">
                <a:latin typeface="Microsoft YaHei" panose="020B0503020204020204" pitchFamily="34" charset="-122"/>
                <a:ea typeface="Microsoft YaHei" panose="020B0503020204020204" pitchFamily="34" charset="-122"/>
              </a:rPr>
              <a:t>远大于用户获取成本</a:t>
            </a:r>
            <a:r>
              <a:rPr lang="en-US" altLang="zh-CN" sz="1200" dirty="0">
                <a:latin typeface="Microsoft YaHei" panose="020B0503020204020204" pitchFamily="34" charset="-122"/>
                <a:ea typeface="Microsoft YaHei" panose="020B0503020204020204" pitchFamily="34" charset="-122"/>
              </a:rPr>
              <a:t>(</a:t>
            </a:r>
            <a:r>
              <a:rPr lang="en" altLang="zh-CN" sz="1200" dirty="0">
                <a:latin typeface="Microsoft YaHei" panose="020B0503020204020204" pitchFamily="34" charset="-122"/>
                <a:ea typeface="Microsoft YaHei" panose="020B0503020204020204" pitchFamily="34" charset="-122"/>
              </a:rPr>
              <a:t>CAC)</a:t>
            </a:r>
            <a:r>
              <a:rPr lang="zh-CN" altLang="en-US" sz="1200" dirty="0">
                <a:latin typeface="Microsoft YaHei" panose="020B0503020204020204" pitchFamily="34" charset="-122"/>
                <a:ea typeface="Microsoft YaHei" panose="020B0503020204020204" pitchFamily="34" charset="-122"/>
              </a:rPr>
              <a:t>与用户经营成本（</a:t>
            </a:r>
            <a:r>
              <a:rPr lang="en" altLang="zh-CN" sz="1200" dirty="0">
                <a:latin typeface="Microsoft YaHei" panose="020B0503020204020204" pitchFamily="34" charset="-122"/>
                <a:ea typeface="Microsoft YaHei" panose="020B0503020204020204" pitchFamily="34" charset="-122"/>
              </a:rPr>
              <a:t>COC</a:t>
            </a:r>
            <a:r>
              <a:rPr lang="zh-CN" altLang="en" sz="1200" dirty="0">
                <a:latin typeface="Microsoft YaHei" panose="020B0503020204020204" pitchFamily="34" charset="-122"/>
                <a:ea typeface="Microsoft YaHei" panose="020B0503020204020204" pitchFamily="34" charset="-122"/>
              </a:rPr>
              <a:t>）</a:t>
            </a:r>
            <a:r>
              <a:rPr lang="zh-CN" altLang="en-US" sz="1200" dirty="0">
                <a:latin typeface="Microsoft YaHei" panose="020B0503020204020204" pitchFamily="34" charset="-122"/>
                <a:ea typeface="Microsoft YaHei" panose="020B0503020204020204" pitchFamily="34" charset="-122"/>
              </a:rPr>
              <a:t>之和就意味着产品的成功</a:t>
            </a:r>
          </a:p>
        </p:txBody>
      </p:sp>
    </p:spTree>
    <p:extLst>
      <p:ext uri="{BB962C8B-B14F-4D97-AF65-F5344CB8AC3E}">
        <p14:creationId xmlns:p14="http://schemas.microsoft.com/office/powerpoint/2010/main" val="36882922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3E1FEB-4981-E769-7DE6-0433EED18F4B}"/>
              </a:ext>
            </a:extLst>
          </p:cNvPr>
          <p:cNvSpPr>
            <a:spLocks noGrp="1"/>
          </p:cNvSpPr>
          <p:nvPr>
            <p:ph type="title"/>
          </p:nvPr>
        </p:nvSpPr>
        <p:spPr/>
        <p:txBody>
          <a:bodyPr/>
          <a:lstStyle/>
          <a:p>
            <a:r>
              <a:rPr kumimoji="1" lang="en-US" altLang="zh-CN" sz="2800" dirty="0"/>
              <a:t>A/B</a:t>
            </a:r>
            <a:r>
              <a:rPr kumimoji="1" lang="zh-CN" altLang="en-US" sz="2800" dirty="0"/>
              <a:t>测试优秀实践</a:t>
            </a:r>
            <a:r>
              <a:rPr kumimoji="1" lang="en-US" altLang="zh-CN" sz="2000" b="0" dirty="0"/>
              <a:t>-</a:t>
            </a:r>
            <a:r>
              <a:rPr kumimoji="1" lang="zh-CN" altLang="en-US" sz="2000" b="0" dirty="0"/>
              <a:t>续</a:t>
            </a:r>
          </a:p>
        </p:txBody>
      </p:sp>
      <p:sp>
        <p:nvSpPr>
          <p:cNvPr id="3" name="文本占位符 2">
            <a:extLst>
              <a:ext uri="{FF2B5EF4-FFF2-40B4-BE49-F238E27FC236}">
                <a16:creationId xmlns:a16="http://schemas.microsoft.com/office/drawing/2014/main" id="{1251C621-FD89-4394-C27D-239232B8B640}"/>
              </a:ext>
            </a:extLst>
          </p:cNvPr>
          <p:cNvSpPr>
            <a:spLocks noGrp="1"/>
          </p:cNvSpPr>
          <p:nvPr>
            <p:ph type="body" sz="quarter" idx="10"/>
          </p:nvPr>
        </p:nvSpPr>
        <p:spPr>
          <a:xfrm>
            <a:off x="599291" y="1347647"/>
            <a:ext cx="8161119" cy="3371002"/>
          </a:xfrm>
        </p:spPr>
        <p:txBody>
          <a:bodyPr>
            <a:normAutofit fontScale="62500" lnSpcReduction="20000"/>
          </a:bodyPr>
          <a:lstStyle/>
          <a:p>
            <a:r>
              <a:rPr lang="zh-CN" altLang="en-US" b="1" dirty="0"/>
              <a:t>提升平台易用性：</a:t>
            </a:r>
            <a:r>
              <a:rPr lang="zh-CN" altLang="en-US" dirty="0"/>
              <a:t>支持完备的</a:t>
            </a:r>
            <a:r>
              <a:rPr lang="en" altLang="zh-CN" dirty="0"/>
              <a:t>ABTest</a:t>
            </a:r>
            <a:r>
              <a:rPr lang="zh-CN" altLang="en-US" dirty="0"/>
              <a:t>元数据管理、应用级的角色和权限、实验的商家</a:t>
            </a:r>
            <a:r>
              <a:rPr lang="en" altLang="zh-CN" dirty="0"/>
              <a:t>id</a:t>
            </a:r>
            <a:r>
              <a:rPr lang="zh-CN" altLang="en-US" dirty="0"/>
              <a:t>或者用户分流标识的白名单</a:t>
            </a:r>
            <a:endParaRPr lang="en-US" altLang="zh-CN" dirty="0"/>
          </a:p>
          <a:p>
            <a:r>
              <a:rPr lang="zh-CN" altLang="en-US" dirty="0"/>
              <a:t>系统优化：多级缓存、</a:t>
            </a:r>
            <a:r>
              <a:rPr lang="zh-CN" altLang="en-US" b="1" dirty="0"/>
              <a:t>优化</a:t>
            </a:r>
            <a:r>
              <a:rPr lang="en" altLang="zh-CN" b="1" dirty="0"/>
              <a:t>SDK</a:t>
            </a:r>
            <a:r>
              <a:rPr lang="zh-CN" altLang="en-US" b="1" dirty="0"/>
              <a:t>性能、实现</a:t>
            </a:r>
            <a:r>
              <a:rPr lang="en-US" altLang="zh-CN" b="1" dirty="0"/>
              <a:t>SDK</a:t>
            </a:r>
            <a:r>
              <a:rPr lang="zh-CN" altLang="en-US" b="1" dirty="0"/>
              <a:t>配置自动化和透明化、优化一致性哈希算法</a:t>
            </a:r>
            <a:endParaRPr lang="en-US" altLang="zh-CN" b="1" dirty="0"/>
          </a:p>
          <a:p>
            <a:r>
              <a:rPr lang="zh-CN" altLang="en-US" dirty="0"/>
              <a:t>支持分别针对</a:t>
            </a:r>
            <a:r>
              <a:rPr lang="en" altLang="zh-CN" dirty="0"/>
              <a:t>Java</a:t>
            </a:r>
            <a:r>
              <a:rPr lang="zh-CN" altLang="en-US" dirty="0"/>
              <a:t>和</a:t>
            </a:r>
            <a:r>
              <a:rPr lang="en" altLang="zh-CN" dirty="0"/>
              <a:t>Node</a:t>
            </a:r>
            <a:r>
              <a:rPr lang="zh-CN" altLang="en-US" dirty="0"/>
              <a:t>端的</a:t>
            </a:r>
            <a:r>
              <a:rPr lang="zh-CN" altLang="en-US" b="1" dirty="0"/>
              <a:t>示例代码</a:t>
            </a:r>
            <a:r>
              <a:rPr lang="zh-CN" altLang="en-US" dirty="0"/>
              <a:t>，包括引入代码库、初始化、获取实验配置以及前端埋点等。</a:t>
            </a:r>
          </a:p>
          <a:p>
            <a:r>
              <a:rPr lang="zh-CN" altLang="en-US" dirty="0"/>
              <a:t>支持测试</a:t>
            </a:r>
            <a:r>
              <a:rPr lang="zh-CN" altLang="en" dirty="0"/>
              <a:t>、</a:t>
            </a:r>
            <a:r>
              <a:rPr lang="zh-CN" altLang="en-US" dirty="0"/>
              <a:t>预发、生产等不同的</a:t>
            </a:r>
            <a:r>
              <a:rPr lang="zh-CN" altLang="en-US" b="1" dirty="0"/>
              <a:t>应用环境</a:t>
            </a:r>
            <a:r>
              <a:rPr lang="zh-CN" altLang="en-US" dirty="0"/>
              <a:t>。</a:t>
            </a:r>
          </a:p>
          <a:p>
            <a:r>
              <a:rPr lang="zh-CN" altLang="en-US" dirty="0"/>
              <a:t>支持输入分流用户标识获取实验配置，以测试和还原</a:t>
            </a:r>
            <a:r>
              <a:rPr lang="en" altLang="zh-CN" dirty="0"/>
              <a:t>A/B</a:t>
            </a:r>
            <a:r>
              <a:rPr lang="zh-CN" altLang="en-US" dirty="0"/>
              <a:t>分流结果。</a:t>
            </a:r>
          </a:p>
          <a:p>
            <a:r>
              <a:rPr lang="zh-CN" altLang="en-US" dirty="0"/>
              <a:t>支持实时日志明细查询，查询条件包括日志类型、实验以及以及分流用户标识等。</a:t>
            </a:r>
          </a:p>
        </p:txBody>
      </p:sp>
      <p:sp>
        <p:nvSpPr>
          <p:cNvPr id="4" name="矩形 3">
            <a:extLst>
              <a:ext uri="{FF2B5EF4-FFF2-40B4-BE49-F238E27FC236}">
                <a16:creationId xmlns:a16="http://schemas.microsoft.com/office/drawing/2014/main" id="{1AD77613-62C5-7004-71A9-650616913114}"/>
              </a:ext>
            </a:extLst>
          </p:cNvPr>
          <p:cNvSpPr/>
          <p:nvPr/>
        </p:nvSpPr>
        <p:spPr>
          <a:xfrm>
            <a:off x="664234" y="926116"/>
            <a:ext cx="4192173" cy="300082"/>
          </a:xfrm>
          <a:prstGeom prst="rect">
            <a:avLst/>
          </a:prstGeom>
        </p:spPr>
        <p:txBody>
          <a:bodyPr wrap="none">
            <a:spAutoFit/>
          </a:bodyPr>
          <a:lstStyle/>
          <a:p>
            <a:r>
              <a:rPr lang="zh-CN" altLang="en" sz="1350" b="1" dirty="0">
                <a:solidFill>
                  <a:schemeClr val="accent1">
                    <a:lumMod val="60000"/>
                    <a:lumOff val="40000"/>
                  </a:schemeClr>
                </a:solidFill>
                <a:latin typeface="Source Sans Pro" panose="020B0503030403020204" pitchFamily="34" charset="0"/>
              </a:rPr>
              <a:t>需要</a:t>
            </a:r>
            <a:r>
              <a:rPr lang="zh-CN" altLang="en-US" sz="1350" b="1" dirty="0">
                <a:solidFill>
                  <a:schemeClr val="accent1">
                    <a:lumMod val="60000"/>
                    <a:lumOff val="40000"/>
                  </a:schemeClr>
                </a:solidFill>
                <a:latin typeface="Source Sans Pro" panose="020B0503030403020204" pitchFamily="34" charset="0"/>
              </a:rPr>
              <a:t>关注</a:t>
            </a:r>
            <a:r>
              <a:rPr lang="en" altLang="zh-CN" sz="1350" b="1" dirty="0" err="1">
                <a:solidFill>
                  <a:schemeClr val="accent1">
                    <a:lumMod val="60000"/>
                    <a:lumOff val="40000"/>
                  </a:schemeClr>
                </a:solidFill>
                <a:latin typeface="Source Sans Pro" panose="020B0503030403020204" pitchFamily="34" charset="0"/>
              </a:rPr>
              <a:t>ABTest</a:t>
            </a:r>
            <a:r>
              <a:rPr lang="zh-CN" altLang="en-US" sz="1350" b="1" dirty="0">
                <a:solidFill>
                  <a:schemeClr val="accent1">
                    <a:lumMod val="60000"/>
                    <a:lumOff val="40000"/>
                  </a:schemeClr>
                </a:solidFill>
                <a:latin typeface="Source Sans Pro" panose="020B0503030403020204" pitchFamily="34" charset="0"/>
              </a:rPr>
              <a:t>接入成本与易用性</a:t>
            </a:r>
            <a:r>
              <a:rPr lang="zh-CN" altLang="en-US" sz="1350" dirty="0">
                <a:solidFill>
                  <a:schemeClr val="accent1">
                    <a:lumMod val="60000"/>
                    <a:lumOff val="40000"/>
                  </a:schemeClr>
                </a:solidFill>
                <a:latin typeface="Source Sans Pro" panose="020B0503030403020204" pitchFamily="34" charset="0"/>
              </a:rPr>
              <a:t>、</a:t>
            </a:r>
            <a:r>
              <a:rPr lang="en" altLang="zh-CN" sz="1350" b="1" dirty="0" err="1">
                <a:solidFill>
                  <a:schemeClr val="accent1">
                    <a:lumMod val="60000"/>
                    <a:lumOff val="40000"/>
                  </a:schemeClr>
                </a:solidFill>
                <a:latin typeface="Source Sans Pro" panose="020B0503030403020204" pitchFamily="34" charset="0"/>
              </a:rPr>
              <a:t>ABTest</a:t>
            </a:r>
            <a:r>
              <a:rPr lang="zh-CN" altLang="en-US" sz="1350" b="1" dirty="0">
                <a:solidFill>
                  <a:schemeClr val="accent1">
                    <a:lumMod val="60000"/>
                    <a:lumOff val="40000"/>
                  </a:schemeClr>
                </a:solidFill>
                <a:latin typeface="Source Sans Pro" panose="020B0503030403020204" pitchFamily="34" charset="0"/>
              </a:rPr>
              <a:t>数据价值</a:t>
            </a:r>
            <a:endParaRPr lang="zh-CN" altLang="en-US" sz="1350" dirty="0">
              <a:solidFill>
                <a:schemeClr val="accent1">
                  <a:lumMod val="60000"/>
                  <a:lumOff val="40000"/>
                </a:schemeClr>
              </a:solidFill>
            </a:endParaRPr>
          </a:p>
        </p:txBody>
      </p:sp>
    </p:spTree>
    <p:extLst>
      <p:ext uri="{BB962C8B-B14F-4D97-AF65-F5344CB8AC3E}">
        <p14:creationId xmlns:p14="http://schemas.microsoft.com/office/powerpoint/2010/main" val="185437930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 name="文本框 57">
            <a:extLst>
              <a:ext uri="{FF2B5EF4-FFF2-40B4-BE49-F238E27FC236}">
                <a16:creationId xmlns:a16="http://schemas.microsoft.com/office/drawing/2014/main" id="{1DA2054A-47C8-7D42-0EDA-F762C57898A5}"/>
              </a:ext>
            </a:extLst>
          </p:cNvPr>
          <p:cNvSpPr txBox="1"/>
          <p:nvPr/>
        </p:nvSpPr>
        <p:spPr>
          <a:xfrm>
            <a:off x="1491291" y="277050"/>
            <a:ext cx="3554627" cy="480131"/>
          </a:xfrm>
          <a:prstGeom prst="rect">
            <a:avLst/>
          </a:prstGeom>
          <a:noFill/>
        </p:spPr>
        <p:txBody>
          <a:bodyPr wrap="none" rtlCol="0">
            <a:spAutoFit/>
          </a:bodyPr>
          <a:lstStyle/>
          <a:p>
            <a:pPr defTabSz="685800">
              <a:lnSpc>
                <a:spcPct val="90000"/>
              </a:lnSpc>
              <a:spcBef>
                <a:spcPct val="0"/>
              </a:spcBef>
              <a:buClr>
                <a:schemeClr val="accent4"/>
              </a:buClr>
            </a:pPr>
            <a:r>
              <a:rPr kumimoji="1" lang="en-US" altLang="zh-CN" sz="2800" b="1" dirty="0">
                <a:solidFill>
                  <a:srgbClr val="0070C0"/>
                </a:solidFill>
                <a:latin typeface="Microsoft YaHei" panose="020B0503020204020204" pitchFamily="34" charset="-122"/>
                <a:ea typeface="Microsoft YaHei" panose="020B0503020204020204" pitchFamily="34" charset="-122"/>
              </a:rPr>
              <a:t>A/B</a:t>
            </a:r>
            <a:r>
              <a:rPr kumimoji="1" lang="zh-CN" altLang="en-US" sz="2800" b="1" dirty="0">
                <a:solidFill>
                  <a:srgbClr val="0070C0"/>
                </a:solidFill>
                <a:latin typeface="Microsoft YaHei" panose="020B0503020204020204" pitchFamily="34" charset="-122"/>
                <a:ea typeface="Microsoft YaHei" panose="020B0503020204020204" pitchFamily="34" charset="-122"/>
              </a:rPr>
              <a:t>测试</a:t>
            </a:r>
            <a:r>
              <a:rPr kumimoji="1" lang="en-US" altLang="zh-CN" sz="2800" b="1" dirty="0">
                <a:solidFill>
                  <a:srgbClr val="0070C0"/>
                </a:solidFill>
                <a:latin typeface="Microsoft YaHei" panose="020B0503020204020204" pitchFamily="34" charset="-122"/>
                <a:ea typeface="Microsoft YaHei" panose="020B0503020204020204" pitchFamily="34" charset="-122"/>
              </a:rPr>
              <a:t>Dashboard</a:t>
            </a:r>
            <a:endParaRPr kumimoji="1" lang="zh-CN" altLang="en-US" sz="2800" b="1" dirty="0">
              <a:solidFill>
                <a:srgbClr val="0070C0"/>
              </a:solidFill>
              <a:latin typeface="Microsoft YaHei" panose="020B0503020204020204" pitchFamily="34" charset="-122"/>
              <a:ea typeface="Microsoft YaHei" panose="020B0503020204020204" pitchFamily="34" charset="-122"/>
            </a:endParaRPr>
          </a:p>
        </p:txBody>
      </p:sp>
      <p:sp>
        <p:nvSpPr>
          <p:cNvPr id="3" name="Rounded Rectangle 5">
            <a:extLst>
              <a:ext uri="{FF2B5EF4-FFF2-40B4-BE49-F238E27FC236}">
                <a16:creationId xmlns:a16="http://schemas.microsoft.com/office/drawing/2014/main" id="{110F8C63-B789-5714-DBC2-6CA5EAFEBF9A}"/>
              </a:ext>
            </a:extLst>
          </p:cNvPr>
          <p:cNvSpPr/>
          <p:nvPr/>
        </p:nvSpPr>
        <p:spPr>
          <a:xfrm>
            <a:off x="1056613" y="1131360"/>
            <a:ext cx="3279474" cy="644086"/>
          </a:xfrm>
          <a:prstGeom prst="roundRect">
            <a:avLst>
              <a:gd name="adj" fmla="val 0"/>
            </a:avLst>
          </a:prstGeom>
          <a:solidFill>
            <a:srgbClr val="393E4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23"/>
            <a:endParaRPr lang="en-US" sz="3600" dirty="0">
              <a:solidFill>
                <a:srgbClr val="FFFFFF"/>
              </a:solidFill>
              <a:latin typeface="Calibri"/>
            </a:endParaRPr>
          </a:p>
        </p:txBody>
      </p:sp>
      <p:grpSp>
        <p:nvGrpSpPr>
          <p:cNvPr id="4" name="Group 7">
            <a:extLst>
              <a:ext uri="{FF2B5EF4-FFF2-40B4-BE49-F238E27FC236}">
                <a16:creationId xmlns:a16="http://schemas.microsoft.com/office/drawing/2014/main" id="{B865D438-625B-8991-78FB-1102E0A56FFC}"/>
              </a:ext>
            </a:extLst>
          </p:cNvPr>
          <p:cNvGrpSpPr/>
          <p:nvPr/>
        </p:nvGrpSpPr>
        <p:grpSpPr>
          <a:xfrm>
            <a:off x="1179896" y="1272238"/>
            <a:ext cx="714899" cy="347629"/>
            <a:chOff x="1631729" y="2254898"/>
            <a:chExt cx="953198" cy="463505"/>
          </a:xfrm>
        </p:grpSpPr>
        <p:sp>
          <p:nvSpPr>
            <p:cNvPr id="5" name="Content Placeholder 2">
              <a:extLst>
                <a:ext uri="{FF2B5EF4-FFF2-40B4-BE49-F238E27FC236}">
                  <a16:creationId xmlns:a16="http://schemas.microsoft.com/office/drawing/2014/main" id="{5695B4E5-9AFE-B43F-5AFD-48A429A6152C}"/>
                </a:ext>
              </a:extLst>
            </p:cNvPr>
            <p:cNvSpPr txBox="1">
              <a:spLocks/>
            </p:cNvSpPr>
            <p:nvPr/>
          </p:nvSpPr>
          <p:spPr>
            <a:xfrm>
              <a:off x="1749241" y="2254898"/>
              <a:ext cx="718174" cy="276998"/>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chemeClr val="bg1"/>
                  </a:solidFill>
                  <a:latin typeface="Century Gothic" panose="020B0502020202020204" pitchFamily="34" charset="0"/>
                </a:rPr>
                <a:t>120.9</a:t>
              </a:r>
            </a:p>
          </p:txBody>
        </p:sp>
        <p:sp>
          <p:nvSpPr>
            <p:cNvPr id="6" name="Content Placeholder 2">
              <a:extLst>
                <a:ext uri="{FF2B5EF4-FFF2-40B4-BE49-F238E27FC236}">
                  <a16:creationId xmlns:a16="http://schemas.microsoft.com/office/drawing/2014/main" id="{0C4A374F-B812-B64F-81C1-D6010BE8F842}"/>
                </a:ext>
              </a:extLst>
            </p:cNvPr>
            <p:cNvSpPr txBox="1">
              <a:spLocks/>
            </p:cNvSpPr>
            <p:nvPr/>
          </p:nvSpPr>
          <p:spPr>
            <a:xfrm>
              <a:off x="1631729" y="2554598"/>
              <a:ext cx="953198" cy="163805"/>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No Feature Y</a:t>
              </a:r>
            </a:p>
          </p:txBody>
        </p:sp>
      </p:grpSp>
      <p:grpSp>
        <p:nvGrpSpPr>
          <p:cNvPr id="7" name="Group 10">
            <a:extLst>
              <a:ext uri="{FF2B5EF4-FFF2-40B4-BE49-F238E27FC236}">
                <a16:creationId xmlns:a16="http://schemas.microsoft.com/office/drawing/2014/main" id="{DB3D4BDF-0A6A-35D8-0444-BB146EBFB1A3}"/>
              </a:ext>
            </a:extLst>
          </p:cNvPr>
          <p:cNvGrpSpPr/>
          <p:nvPr/>
        </p:nvGrpSpPr>
        <p:grpSpPr>
          <a:xfrm>
            <a:off x="2215116" y="1272238"/>
            <a:ext cx="962469" cy="347629"/>
            <a:chOff x="1631729" y="2254898"/>
            <a:chExt cx="1283292" cy="463505"/>
          </a:xfrm>
        </p:grpSpPr>
        <p:sp>
          <p:nvSpPr>
            <p:cNvPr id="8" name="Content Placeholder 2">
              <a:extLst>
                <a:ext uri="{FF2B5EF4-FFF2-40B4-BE49-F238E27FC236}">
                  <a16:creationId xmlns:a16="http://schemas.microsoft.com/office/drawing/2014/main" id="{5AC55C7C-01BE-9C5E-99FF-B61DB5913C9A}"/>
                </a:ext>
              </a:extLst>
            </p:cNvPr>
            <p:cNvSpPr txBox="1">
              <a:spLocks/>
            </p:cNvSpPr>
            <p:nvPr/>
          </p:nvSpPr>
          <p:spPr>
            <a:xfrm>
              <a:off x="1914288" y="2254898"/>
              <a:ext cx="718175" cy="276998"/>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rgbClr val="2DC5FF"/>
                  </a:solidFill>
                  <a:latin typeface="Century Gothic" panose="020B0502020202020204" pitchFamily="34" charset="0"/>
                </a:rPr>
                <a:t>27%</a:t>
              </a:r>
            </a:p>
          </p:txBody>
        </p:sp>
        <p:sp>
          <p:nvSpPr>
            <p:cNvPr id="9" name="Content Placeholder 2">
              <a:extLst>
                <a:ext uri="{FF2B5EF4-FFF2-40B4-BE49-F238E27FC236}">
                  <a16:creationId xmlns:a16="http://schemas.microsoft.com/office/drawing/2014/main" id="{B2468FA6-DB67-AF47-F661-E3DADCC6B159}"/>
                </a:ext>
              </a:extLst>
            </p:cNvPr>
            <p:cNvSpPr txBox="1">
              <a:spLocks/>
            </p:cNvSpPr>
            <p:nvPr/>
          </p:nvSpPr>
          <p:spPr>
            <a:xfrm>
              <a:off x="1631729" y="2554598"/>
              <a:ext cx="1283292" cy="163805"/>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Satisfaction Improvement</a:t>
              </a:r>
            </a:p>
          </p:txBody>
        </p:sp>
      </p:grpSp>
      <p:grpSp>
        <p:nvGrpSpPr>
          <p:cNvPr id="10" name="Group 13">
            <a:extLst>
              <a:ext uri="{FF2B5EF4-FFF2-40B4-BE49-F238E27FC236}">
                <a16:creationId xmlns:a16="http://schemas.microsoft.com/office/drawing/2014/main" id="{EC339BE7-C933-4239-9D14-AFD706B2A2DA}"/>
              </a:ext>
            </a:extLst>
          </p:cNvPr>
          <p:cNvGrpSpPr/>
          <p:nvPr/>
        </p:nvGrpSpPr>
        <p:grpSpPr>
          <a:xfrm>
            <a:off x="3456748" y="1272883"/>
            <a:ext cx="837000" cy="348758"/>
            <a:chOff x="1631729" y="2255750"/>
            <a:chExt cx="1283292" cy="462149"/>
          </a:xfrm>
        </p:grpSpPr>
        <p:sp>
          <p:nvSpPr>
            <p:cNvPr id="11" name="Content Placeholder 2">
              <a:extLst>
                <a:ext uri="{FF2B5EF4-FFF2-40B4-BE49-F238E27FC236}">
                  <a16:creationId xmlns:a16="http://schemas.microsoft.com/office/drawing/2014/main" id="{2897660C-91F2-60BB-1D87-8C48898404E3}"/>
                </a:ext>
              </a:extLst>
            </p:cNvPr>
            <p:cNvSpPr txBox="1">
              <a:spLocks/>
            </p:cNvSpPr>
            <p:nvPr/>
          </p:nvSpPr>
          <p:spPr>
            <a:xfrm>
              <a:off x="1914288" y="2255750"/>
              <a:ext cx="718174" cy="275294"/>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chemeClr val="bg1"/>
                  </a:solidFill>
                  <a:latin typeface="Century Gothic" panose="020B0502020202020204" pitchFamily="34" charset="0"/>
                </a:rPr>
                <a:t>153.8</a:t>
              </a:r>
            </a:p>
          </p:txBody>
        </p:sp>
        <p:sp>
          <p:nvSpPr>
            <p:cNvPr id="12" name="Content Placeholder 2">
              <a:extLst>
                <a:ext uri="{FF2B5EF4-FFF2-40B4-BE49-F238E27FC236}">
                  <a16:creationId xmlns:a16="http://schemas.microsoft.com/office/drawing/2014/main" id="{F7BCE22E-80AA-B329-6C57-AF38ACF34CDF}"/>
                </a:ext>
              </a:extLst>
            </p:cNvPr>
            <p:cNvSpPr txBox="1">
              <a:spLocks/>
            </p:cNvSpPr>
            <p:nvPr/>
          </p:nvSpPr>
          <p:spPr>
            <a:xfrm>
              <a:off x="1631729" y="2555102"/>
              <a:ext cx="1283292" cy="162797"/>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Feature Y</a:t>
              </a:r>
            </a:p>
          </p:txBody>
        </p:sp>
      </p:grpSp>
      <p:cxnSp>
        <p:nvCxnSpPr>
          <p:cNvPr id="13" name="Straight Connector 17">
            <a:extLst>
              <a:ext uri="{FF2B5EF4-FFF2-40B4-BE49-F238E27FC236}">
                <a16:creationId xmlns:a16="http://schemas.microsoft.com/office/drawing/2014/main" id="{6561E46A-645F-9245-F1A1-8725B4D821BD}"/>
              </a:ext>
            </a:extLst>
          </p:cNvPr>
          <p:cNvCxnSpPr/>
          <p:nvPr/>
        </p:nvCxnSpPr>
        <p:spPr>
          <a:xfrm>
            <a:off x="2039983" y="1131360"/>
            <a:ext cx="0" cy="644086"/>
          </a:xfrm>
          <a:prstGeom prst="line">
            <a:avLst/>
          </a:prstGeom>
          <a:noFill/>
          <a:ln w="25400" cap="flat">
            <a:solidFill>
              <a:srgbClr val="2D323C"/>
            </a:solidFill>
            <a:prstDash val="solid"/>
            <a:miter lim="400000"/>
          </a:ln>
          <a:effectLst/>
          <a:sp3d/>
        </p:spPr>
        <p:style>
          <a:lnRef idx="0">
            <a:scrgbClr r="0" g="0" b="0"/>
          </a:lnRef>
          <a:fillRef idx="0">
            <a:scrgbClr r="0" g="0" b="0"/>
          </a:fillRef>
          <a:effectRef idx="0">
            <a:scrgbClr r="0" g="0" b="0"/>
          </a:effectRef>
          <a:fontRef idx="none"/>
        </p:style>
      </p:cxnSp>
      <p:cxnSp>
        <p:nvCxnSpPr>
          <p:cNvPr id="14" name="Straight Connector 19">
            <a:extLst>
              <a:ext uri="{FF2B5EF4-FFF2-40B4-BE49-F238E27FC236}">
                <a16:creationId xmlns:a16="http://schemas.microsoft.com/office/drawing/2014/main" id="{3C14A58A-1B19-D481-9664-0C1C6259D696}"/>
              </a:ext>
            </a:extLst>
          </p:cNvPr>
          <p:cNvCxnSpPr/>
          <p:nvPr/>
        </p:nvCxnSpPr>
        <p:spPr>
          <a:xfrm>
            <a:off x="3394402" y="1131360"/>
            <a:ext cx="0" cy="644086"/>
          </a:xfrm>
          <a:prstGeom prst="line">
            <a:avLst/>
          </a:prstGeom>
          <a:noFill/>
          <a:ln w="25400" cap="flat">
            <a:solidFill>
              <a:srgbClr val="2D323C"/>
            </a:solidFill>
            <a:prstDash val="solid"/>
            <a:miter lim="400000"/>
          </a:ln>
          <a:effectLst/>
          <a:sp3d/>
        </p:spPr>
        <p:style>
          <a:lnRef idx="0">
            <a:scrgbClr r="0" g="0" b="0"/>
          </a:lnRef>
          <a:fillRef idx="0">
            <a:scrgbClr r="0" g="0" b="0"/>
          </a:fillRef>
          <a:effectRef idx="0">
            <a:scrgbClr r="0" g="0" b="0"/>
          </a:effectRef>
          <a:fontRef idx="none"/>
        </p:style>
      </p:cxnSp>
      <p:sp>
        <p:nvSpPr>
          <p:cNvPr id="15" name="Content Placeholder 2">
            <a:extLst>
              <a:ext uri="{FF2B5EF4-FFF2-40B4-BE49-F238E27FC236}">
                <a16:creationId xmlns:a16="http://schemas.microsoft.com/office/drawing/2014/main" id="{7AF90113-FE46-F999-7C3E-EDB008B7DCF0}"/>
              </a:ext>
            </a:extLst>
          </p:cNvPr>
          <p:cNvSpPr txBox="1">
            <a:spLocks/>
          </p:cNvSpPr>
          <p:nvPr/>
        </p:nvSpPr>
        <p:spPr>
          <a:xfrm>
            <a:off x="1103107" y="816528"/>
            <a:ext cx="2537934" cy="284501"/>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Bef>
                <a:spcPts val="0"/>
              </a:spcBef>
              <a:buNone/>
            </a:pPr>
            <a:r>
              <a:rPr lang="en-US" spc="15" dirty="0" err="1">
                <a:solidFill>
                  <a:srgbClr val="00B0F0"/>
                </a:solidFill>
                <a:latin typeface="Century Gothic" panose="020B0502020202020204" pitchFamily="34" charset="0"/>
              </a:rPr>
              <a:t>加权满意度成绩</a:t>
            </a:r>
            <a:endParaRPr lang="en-US" spc="15" dirty="0">
              <a:solidFill>
                <a:srgbClr val="00B0F0"/>
              </a:solidFill>
              <a:latin typeface="Century Gothic" panose="020B0502020202020204" pitchFamily="34" charset="0"/>
            </a:endParaRPr>
          </a:p>
        </p:txBody>
      </p:sp>
      <p:sp>
        <p:nvSpPr>
          <p:cNvPr id="16" name="Rounded Rectangle 21">
            <a:extLst>
              <a:ext uri="{FF2B5EF4-FFF2-40B4-BE49-F238E27FC236}">
                <a16:creationId xmlns:a16="http://schemas.microsoft.com/office/drawing/2014/main" id="{5DFB6280-7C8A-A3F7-3CB2-41B77532C140}"/>
              </a:ext>
            </a:extLst>
          </p:cNvPr>
          <p:cNvSpPr/>
          <p:nvPr/>
        </p:nvSpPr>
        <p:spPr>
          <a:xfrm>
            <a:off x="1059202" y="2129952"/>
            <a:ext cx="3279474" cy="644086"/>
          </a:xfrm>
          <a:prstGeom prst="roundRect">
            <a:avLst>
              <a:gd name="adj" fmla="val 0"/>
            </a:avLst>
          </a:prstGeom>
          <a:solidFill>
            <a:srgbClr val="393E4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23"/>
            <a:endParaRPr lang="en-US" sz="3600" dirty="0">
              <a:solidFill>
                <a:srgbClr val="FFFFFF"/>
              </a:solidFill>
              <a:latin typeface="Calibri"/>
            </a:endParaRPr>
          </a:p>
        </p:txBody>
      </p:sp>
      <p:grpSp>
        <p:nvGrpSpPr>
          <p:cNvPr id="17" name="Group 22">
            <a:extLst>
              <a:ext uri="{FF2B5EF4-FFF2-40B4-BE49-F238E27FC236}">
                <a16:creationId xmlns:a16="http://schemas.microsoft.com/office/drawing/2014/main" id="{27336567-ED76-86DC-6F0B-7FDDDE309466}"/>
              </a:ext>
            </a:extLst>
          </p:cNvPr>
          <p:cNvGrpSpPr/>
          <p:nvPr/>
        </p:nvGrpSpPr>
        <p:grpSpPr>
          <a:xfrm>
            <a:off x="1182485" y="2270830"/>
            <a:ext cx="714899" cy="347629"/>
            <a:chOff x="1631729" y="2254898"/>
            <a:chExt cx="953198" cy="463505"/>
          </a:xfrm>
        </p:grpSpPr>
        <p:sp>
          <p:nvSpPr>
            <p:cNvPr id="18" name="Content Placeholder 2">
              <a:extLst>
                <a:ext uri="{FF2B5EF4-FFF2-40B4-BE49-F238E27FC236}">
                  <a16:creationId xmlns:a16="http://schemas.microsoft.com/office/drawing/2014/main" id="{BBF1AD95-F661-68F1-9F48-B043DD03121C}"/>
                </a:ext>
              </a:extLst>
            </p:cNvPr>
            <p:cNvSpPr txBox="1">
              <a:spLocks/>
            </p:cNvSpPr>
            <p:nvPr/>
          </p:nvSpPr>
          <p:spPr>
            <a:xfrm>
              <a:off x="1749241" y="2254898"/>
              <a:ext cx="718174" cy="276998"/>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chemeClr val="bg1"/>
                  </a:solidFill>
                  <a:latin typeface="Century Gothic" panose="020B0502020202020204" pitchFamily="34" charset="0"/>
                </a:rPr>
                <a:t>78%</a:t>
              </a:r>
            </a:p>
          </p:txBody>
        </p:sp>
        <p:sp>
          <p:nvSpPr>
            <p:cNvPr id="19" name="Content Placeholder 2">
              <a:extLst>
                <a:ext uri="{FF2B5EF4-FFF2-40B4-BE49-F238E27FC236}">
                  <a16:creationId xmlns:a16="http://schemas.microsoft.com/office/drawing/2014/main" id="{793EBAD4-0836-D99F-49CE-7CBCFF081E1F}"/>
                </a:ext>
              </a:extLst>
            </p:cNvPr>
            <p:cNvSpPr txBox="1">
              <a:spLocks/>
            </p:cNvSpPr>
            <p:nvPr/>
          </p:nvSpPr>
          <p:spPr>
            <a:xfrm>
              <a:off x="1631729" y="2554598"/>
              <a:ext cx="953198" cy="163805"/>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No Feature Y</a:t>
              </a:r>
            </a:p>
          </p:txBody>
        </p:sp>
      </p:grpSp>
      <p:grpSp>
        <p:nvGrpSpPr>
          <p:cNvPr id="20" name="Group 25">
            <a:extLst>
              <a:ext uri="{FF2B5EF4-FFF2-40B4-BE49-F238E27FC236}">
                <a16:creationId xmlns:a16="http://schemas.microsoft.com/office/drawing/2014/main" id="{BD6B1237-81FD-1FAB-374B-7F7762D61629}"/>
              </a:ext>
            </a:extLst>
          </p:cNvPr>
          <p:cNvGrpSpPr/>
          <p:nvPr/>
        </p:nvGrpSpPr>
        <p:grpSpPr>
          <a:xfrm>
            <a:off x="2217705" y="2270830"/>
            <a:ext cx="962469" cy="347629"/>
            <a:chOff x="1631729" y="2254898"/>
            <a:chExt cx="1283292" cy="463505"/>
          </a:xfrm>
        </p:grpSpPr>
        <p:sp>
          <p:nvSpPr>
            <p:cNvPr id="21" name="Content Placeholder 2">
              <a:extLst>
                <a:ext uri="{FF2B5EF4-FFF2-40B4-BE49-F238E27FC236}">
                  <a16:creationId xmlns:a16="http://schemas.microsoft.com/office/drawing/2014/main" id="{17F7D410-A031-50D1-3571-C0CA8E3D07EA}"/>
                </a:ext>
              </a:extLst>
            </p:cNvPr>
            <p:cNvSpPr txBox="1">
              <a:spLocks/>
            </p:cNvSpPr>
            <p:nvPr/>
          </p:nvSpPr>
          <p:spPr>
            <a:xfrm>
              <a:off x="1914288" y="2254898"/>
              <a:ext cx="718175" cy="276998"/>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rgbClr val="2DC5FF"/>
                  </a:solidFill>
                  <a:latin typeface="Century Gothic" panose="020B0502020202020204" pitchFamily="34" charset="0"/>
                </a:rPr>
                <a:t>6.60%</a:t>
              </a:r>
            </a:p>
          </p:txBody>
        </p:sp>
        <p:sp>
          <p:nvSpPr>
            <p:cNvPr id="22" name="Content Placeholder 2">
              <a:extLst>
                <a:ext uri="{FF2B5EF4-FFF2-40B4-BE49-F238E27FC236}">
                  <a16:creationId xmlns:a16="http://schemas.microsoft.com/office/drawing/2014/main" id="{6672717D-89C0-D3B0-5C29-A91F69DBE86B}"/>
                </a:ext>
              </a:extLst>
            </p:cNvPr>
            <p:cNvSpPr txBox="1">
              <a:spLocks/>
            </p:cNvSpPr>
            <p:nvPr/>
          </p:nvSpPr>
          <p:spPr>
            <a:xfrm>
              <a:off x="1631729" y="2554598"/>
              <a:ext cx="1283292" cy="163805"/>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Off vs On</a:t>
              </a:r>
            </a:p>
          </p:txBody>
        </p:sp>
      </p:grpSp>
      <p:grpSp>
        <p:nvGrpSpPr>
          <p:cNvPr id="23" name="Group 28">
            <a:extLst>
              <a:ext uri="{FF2B5EF4-FFF2-40B4-BE49-F238E27FC236}">
                <a16:creationId xmlns:a16="http://schemas.microsoft.com/office/drawing/2014/main" id="{779192C1-2D5C-61A8-5509-FF44466C204C}"/>
              </a:ext>
            </a:extLst>
          </p:cNvPr>
          <p:cNvGrpSpPr/>
          <p:nvPr/>
        </p:nvGrpSpPr>
        <p:grpSpPr>
          <a:xfrm>
            <a:off x="3459337" y="2271475"/>
            <a:ext cx="837000" cy="348758"/>
            <a:chOff x="1631729" y="2255750"/>
            <a:chExt cx="1283292" cy="462149"/>
          </a:xfrm>
        </p:grpSpPr>
        <p:sp>
          <p:nvSpPr>
            <p:cNvPr id="24" name="Content Placeholder 2">
              <a:extLst>
                <a:ext uri="{FF2B5EF4-FFF2-40B4-BE49-F238E27FC236}">
                  <a16:creationId xmlns:a16="http://schemas.microsoft.com/office/drawing/2014/main" id="{07F25CCA-D3CE-2247-DCC8-90774BBE2F65}"/>
                </a:ext>
              </a:extLst>
            </p:cNvPr>
            <p:cNvSpPr txBox="1">
              <a:spLocks/>
            </p:cNvSpPr>
            <p:nvPr/>
          </p:nvSpPr>
          <p:spPr>
            <a:xfrm>
              <a:off x="1914288" y="2255750"/>
              <a:ext cx="718174" cy="275294"/>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chemeClr val="bg1"/>
                  </a:solidFill>
                  <a:latin typeface="Century Gothic" panose="020B0502020202020204" pitchFamily="34" charset="0"/>
                </a:rPr>
                <a:t>85%</a:t>
              </a:r>
            </a:p>
          </p:txBody>
        </p:sp>
        <p:sp>
          <p:nvSpPr>
            <p:cNvPr id="25" name="Content Placeholder 2">
              <a:extLst>
                <a:ext uri="{FF2B5EF4-FFF2-40B4-BE49-F238E27FC236}">
                  <a16:creationId xmlns:a16="http://schemas.microsoft.com/office/drawing/2014/main" id="{673F7736-8236-F0A7-A176-6C2357A1C1C4}"/>
                </a:ext>
              </a:extLst>
            </p:cNvPr>
            <p:cNvSpPr txBox="1">
              <a:spLocks/>
            </p:cNvSpPr>
            <p:nvPr/>
          </p:nvSpPr>
          <p:spPr>
            <a:xfrm>
              <a:off x="1631729" y="2555102"/>
              <a:ext cx="1283292" cy="162797"/>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Feature Y</a:t>
              </a:r>
            </a:p>
          </p:txBody>
        </p:sp>
      </p:grpSp>
      <p:cxnSp>
        <p:nvCxnSpPr>
          <p:cNvPr id="26" name="Straight Connector 31">
            <a:extLst>
              <a:ext uri="{FF2B5EF4-FFF2-40B4-BE49-F238E27FC236}">
                <a16:creationId xmlns:a16="http://schemas.microsoft.com/office/drawing/2014/main" id="{C15070E4-1362-2705-3E8E-4A3382FD0FEE}"/>
              </a:ext>
            </a:extLst>
          </p:cNvPr>
          <p:cNvCxnSpPr/>
          <p:nvPr/>
        </p:nvCxnSpPr>
        <p:spPr>
          <a:xfrm>
            <a:off x="2042572" y="2129952"/>
            <a:ext cx="0" cy="644086"/>
          </a:xfrm>
          <a:prstGeom prst="line">
            <a:avLst/>
          </a:prstGeom>
          <a:noFill/>
          <a:ln w="25400" cap="flat">
            <a:solidFill>
              <a:srgbClr val="2D323C"/>
            </a:solidFill>
            <a:prstDash val="solid"/>
            <a:miter lim="400000"/>
          </a:ln>
          <a:effectLst/>
          <a:sp3d/>
        </p:spPr>
        <p:style>
          <a:lnRef idx="0">
            <a:scrgbClr r="0" g="0" b="0"/>
          </a:lnRef>
          <a:fillRef idx="0">
            <a:scrgbClr r="0" g="0" b="0"/>
          </a:fillRef>
          <a:effectRef idx="0">
            <a:scrgbClr r="0" g="0" b="0"/>
          </a:effectRef>
          <a:fontRef idx="none"/>
        </p:style>
      </p:cxnSp>
      <p:cxnSp>
        <p:nvCxnSpPr>
          <p:cNvPr id="27" name="Straight Connector 32">
            <a:extLst>
              <a:ext uri="{FF2B5EF4-FFF2-40B4-BE49-F238E27FC236}">
                <a16:creationId xmlns:a16="http://schemas.microsoft.com/office/drawing/2014/main" id="{B7919A22-9E48-5584-FA2B-3ACD6BBE65D3}"/>
              </a:ext>
            </a:extLst>
          </p:cNvPr>
          <p:cNvCxnSpPr/>
          <p:nvPr/>
        </p:nvCxnSpPr>
        <p:spPr>
          <a:xfrm>
            <a:off x="3396991" y="2129952"/>
            <a:ext cx="0" cy="644086"/>
          </a:xfrm>
          <a:prstGeom prst="line">
            <a:avLst/>
          </a:prstGeom>
          <a:noFill/>
          <a:ln w="25400" cap="flat">
            <a:solidFill>
              <a:srgbClr val="2D323C"/>
            </a:solidFill>
            <a:prstDash val="solid"/>
            <a:miter lim="400000"/>
          </a:ln>
          <a:effectLst/>
          <a:sp3d/>
        </p:spPr>
        <p:style>
          <a:lnRef idx="0">
            <a:scrgbClr r="0" g="0" b="0"/>
          </a:lnRef>
          <a:fillRef idx="0">
            <a:scrgbClr r="0" g="0" b="0"/>
          </a:fillRef>
          <a:effectRef idx="0">
            <a:scrgbClr r="0" g="0" b="0"/>
          </a:effectRef>
          <a:fontRef idx="none"/>
        </p:style>
      </p:cxnSp>
      <p:sp>
        <p:nvSpPr>
          <p:cNvPr id="28" name="Content Placeholder 2">
            <a:extLst>
              <a:ext uri="{FF2B5EF4-FFF2-40B4-BE49-F238E27FC236}">
                <a16:creationId xmlns:a16="http://schemas.microsoft.com/office/drawing/2014/main" id="{521EF165-35C9-8752-2619-226BD9C580F1}"/>
              </a:ext>
            </a:extLst>
          </p:cNvPr>
          <p:cNvSpPr txBox="1">
            <a:spLocks/>
          </p:cNvSpPr>
          <p:nvPr/>
        </p:nvSpPr>
        <p:spPr>
          <a:xfrm>
            <a:off x="1053249" y="1899429"/>
            <a:ext cx="1859967" cy="184666"/>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pPr>
            <a:r>
              <a:rPr lang="zh-CN" altLang="en-US" sz="1200" spc="15" dirty="0">
                <a:solidFill>
                  <a:srgbClr val="00B0F0"/>
                </a:solidFill>
                <a:latin typeface="Century Gothic" panose="020B0502020202020204" pitchFamily="34" charset="0"/>
              </a:rPr>
              <a:t>（</a:t>
            </a:r>
            <a:r>
              <a:rPr lang="en-US" sz="1200" spc="15" dirty="0" err="1">
                <a:solidFill>
                  <a:srgbClr val="00B0F0"/>
                </a:solidFill>
                <a:latin typeface="Century Gothic" panose="020B0502020202020204" pitchFamily="34" charset="0"/>
              </a:rPr>
              <a:t>正面</a:t>
            </a:r>
            <a:r>
              <a:rPr lang="zh-CN" altLang="en-US" sz="1200" spc="15" dirty="0">
                <a:solidFill>
                  <a:srgbClr val="00B0F0"/>
                </a:solidFill>
                <a:latin typeface="Century Gothic" panose="020B0502020202020204" pitchFamily="34" charset="0"/>
              </a:rPr>
              <a:t>）</a:t>
            </a:r>
            <a:r>
              <a:rPr lang="en-US" sz="1200" spc="15" dirty="0" err="1">
                <a:solidFill>
                  <a:srgbClr val="00B0F0"/>
                </a:solidFill>
                <a:latin typeface="Century Gothic" panose="020B0502020202020204" pitchFamily="34" charset="0"/>
              </a:rPr>
              <a:t>满意比例</a:t>
            </a:r>
            <a:endParaRPr lang="en-US" sz="1200" spc="15" dirty="0">
              <a:solidFill>
                <a:srgbClr val="00B0F0"/>
              </a:solidFill>
              <a:latin typeface="Century Gothic" panose="020B0502020202020204" pitchFamily="34" charset="0"/>
            </a:endParaRPr>
          </a:p>
        </p:txBody>
      </p:sp>
      <p:sp>
        <p:nvSpPr>
          <p:cNvPr id="29" name="Rounded Rectangle 34">
            <a:extLst>
              <a:ext uri="{FF2B5EF4-FFF2-40B4-BE49-F238E27FC236}">
                <a16:creationId xmlns:a16="http://schemas.microsoft.com/office/drawing/2014/main" id="{C64DB808-5E84-DF36-8A94-386ED408F8FD}"/>
              </a:ext>
            </a:extLst>
          </p:cNvPr>
          <p:cNvSpPr/>
          <p:nvPr/>
        </p:nvSpPr>
        <p:spPr>
          <a:xfrm>
            <a:off x="1053249" y="2893634"/>
            <a:ext cx="3279471" cy="1691086"/>
          </a:xfrm>
          <a:prstGeom prst="roundRect">
            <a:avLst>
              <a:gd name="adj" fmla="val 0"/>
            </a:avLst>
          </a:prstGeom>
          <a:solidFill>
            <a:srgbClr val="393E4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23"/>
            <a:endParaRPr lang="en-US" sz="3600" dirty="0">
              <a:solidFill>
                <a:srgbClr val="FFFFFF"/>
              </a:solidFill>
              <a:latin typeface="Calibri"/>
            </a:endParaRPr>
          </a:p>
        </p:txBody>
      </p:sp>
      <p:graphicFrame>
        <p:nvGraphicFramePr>
          <p:cNvPr id="30" name="Chart 35">
            <a:extLst>
              <a:ext uri="{FF2B5EF4-FFF2-40B4-BE49-F238E27FC236}">
                <a16:creationId xmlns:a16="http://schemas.microsoft.com/office/drawing/2014/main" id="{3F960F7C-B2B3-C6B1-2831-2C309A9443A4}"/>
              </a:ext>
            </a:extLst>
          </p:cNvPr>
          <p:cNvGraphicFramePr/>
          <p:nvPr/>
        </p:nvGraphicFramePr>
        <p:xfrm>
          <a:off x="1179896" y="3007360"/>
          <a:ext cx="2996470" cy="1468712"/>
        </p:xfrm>
        <a:graphic>
          <a:graphicData uri="http://schemas.openxmlformats.org/drawingml/2006/chart">
            <c:chart xmlns:c="http://schemas.openxmlformats.org/drawingml/2006/chart" xmlns:r="http://schemas.openxmlformats.org/officeDocument/2006/relationships" r:id="rId2"/>
          </a:graphicData>
        </a:graphic>
      </p:graphicFrame>
      <p:sp>
        <p:nvSpPr>
          <p:cNvPr id="31" name="Rounded Rectangle 36">
            <a:extLst>
              <a:ext uri="{FF2B5EF4-FFF2-40B4-BE49-F238E27FC236}">
                <a16:creationId xmlns:a16="http://schemas.microsoft.com/office/drawing/2014/main" id="{C6643AAB-3704-C010-2332-4E258E732CAF}"/>
              </a:ext>
            </a:extLst>
          </p:cNvPr>
          <p:cNvSpPr/>
          <p:nvPr/>
        </p:nvSpPr>
        <p:spPr>
          <a:xfrm>
            <a:off x="4575364" y="1131360"/>
            <a:ext cx="3279474" cy="644086"/>
          </a:xfrm>
          <a:prstGeom prst="roundRect">
            <a:avLst>
              <a:gd name="adj" fmla="val 0"/>
            </a:avLst>
          </a:prstGeom>
          <a:solidFill>
            <a:srgbClr val="393E4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23"/>
            <a:endParaRPr lang="en-US" sz="3600" dirty="0">
              <a:solidFill>
                <a:srgbClr val="FFFFFF"/>
              </a:solidFill>
              <a:latin typeface="Calibri"/>
            </a:endParaRPr>
          </a:p>
        </p:txBody>
      </p:sp>
      <p:grpSp>
        <p:nvGrpSpPr>
          <p:cNvPr id="32" name="Group 37">
            <a:extLst>
              <a:ext uri="{FF2B5EF4-FFF2-40B4-BE49-F238E27FC236}">
                <a16:creationId xmlns:a16="http://schemas.microsoft.com/office/drawing/2014/main" id="{587DC4A9-F5B3-FD3C-E5D7-C5AB88AC2A2D}"/>
              </a:ext>
            </a:extLst>
          </p:cNvPr>
          <p:cNvGrpSpPr/>
          <p:nvPr/>
        </p:nvGrpSpPr>
        <p:grpSpPr>
          <a:xfrm>
            <a:off x="4698647" y="1272238"/>
            <a:ext cx="714899" cy="347629"/>
            <a:chOff x="1631729" y="2254898"/>
            <a:chExt cx="953198" cy="463505"/>
          </a:xfrm>
        </p:grpSpPr>
        <p:sp>
          <p:nvSpPr>
            <p:cNvPr id="33" name="Content Placeholder 2">
              <a:extLst>
                <a:ext uri="{FF2B5EF4-FFF2-40B4-BE49-F238E27FC236}">
                  <a16:creationId xmlns:a16="http://schemas.microsoft.com/office/drawing/2014/main" id="{7DB68267-3D0F-757E-B7D9-58B8607879B0}"/>
                </a:ext>
              </a:extLst>
            </p:cNvPr>
            <p:cNvSpPr txBox="1">
              <a:spLocks/>
            </p:cNvSpPr>
            <p:nvPr/>
          </p:nvSpPr>
          <p:spPr>
            <a:xfrm>
              <a:off x="1749241" y="2254898"/>
              <a:ext cx="718174" cy="276998"/>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chemeClr val="bg1"/>
                  </a:solidFill>
                  <a:latin typeface="Century Gothic" panose="020B0502020202020204" pitchFamily="34" charset="0"/>
                </a:rPr>
                <a:t>147.3</a:t>
              </a:r>
            </a:p>
          </p:txBody>
        </p:sp>
        <p:sp>
          <p:nvSpPr>
            <p:cNvPr id="34" name="Content Placeholder 2">
              <a:extLst>
                <a:ext uri="{FF2B5EF4-FFF2-40B4-BE49-F238E27FC236}">
                  <a16:creationId xmlns:a16="http://schemas.microsoft.com/office/drawing/2014/main" id="{E00AB3EB-380D-3388-1687-8BA35EC94A58}"/>
                </a:ext>
              </a:extLst>
            </p:cNvPr>
            <p:cNvSpPr txBox="1">
              <a:spLocks/>
            </p:cNvSpPr>
            <p:nvPr/>
          </p:nvSpPr>
          <p:spPr>
            <a:xfrm>
              <a:off x="1631729" y="2554598"/>
              <a:ext cx="953198" cy="163805"/>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Feature X Off</a:t>
              </a:r>
            </a:p>
          </p:txBody>
        </p:sp>
      </p:grpSp>
      <p:grpSp>
        <p:nvGrpSpPr>
          <p:cNvPr id="35" name="Group 40">
            <a:extLst>
              <a:ext uri="{FF2B5EF4-FFF2-40B4-BE49-F238E27FC236}">
                <a16:creationId xmlns:a16="http://schemas.microsoft.com/office/drawing/2014/main" id="{25D8F080-F044-E11A-5A6F-1E2F88512617}"/>
              </a:ext>
            </a:extLst>
          </p:cNvPr>
          <p:cNvGrpSpPr/>
          <p:nvPr/>
        </p:nvGrpSpPr>
        <p:grpSpPr>
          <a:xfrm>
            <a:off x="5733867" y="1272238"/>
            <a:ext cx="962469" cy="347629"/>
            <a:chOff x="1631729" y="2254898"/>
            <a:chExt cx="1283292" cy="463505"/>
          </a:xfrm>
        </p:grpSpPr>
        <p:sp>
          <p:nvSpPr>
            <p:cNvPr id="36" name="Content Placeholder 2">
              <a:extLst>
                <a:ext uri="{FF2B5EF4-FFF2-40B4-BE49-F238E27FC236}">
                  <a16:creationId xmlns:a16="http://schemas.microsoft.com/office/drawing/2014/main" id="{64238CDC-35FD-8E06-EC1F-189B43CAF60F}"/>
                </a:ext>
              </a:extLst>
            </p:cNvPr>
            <p:cNvSpPr txBox="1">
              <a:spLocks/>
            </p:cNvSpPr>
            <p:nvPr/>
          </p:nvSpPr>
          <p:spPr>
            <a:xfrm>
              <a:off x="1914288" y="2254898"/>
              <a:ext cx="718175" cy="276998"/>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rgbClr val="2DC5FF"/>
                  </a:solidFill>
                  <a:latin typeface="Century Gothic" panose="020B0502020202020204" pitchFamily="34" charset="0"/>
                </a:rPr>
                <a:t>5.5%</a:t>
              </a:r>
            </a:p>
          </p:txBody>
        </p:sp>
        <p:sp>
          <p:nvSpPr>
            <p:cNvPr id="37" name="Content Placeholder 2">
              <a:extLst>
                <a:ext uri="{FF2B5EF4-FFF2-40B4-BE49-F238E27FC236}">
                  <a16:creationId xmlns:a16="http://schemas.microsoft.com/office/drawing/2014/main" id="{11E5329E-D0F3-F90A-AA22-74FC3A489E45}"/>
                </a:ext>
              </a:extLst>
            </p:cNvPr>
            <p:cNvSpPr txBox="1">
              <a:spLocks/>
            </p:cNvSpPr>
            <p:nvPr/>
          </p:nvSpPr>
          <p:spPr>
            <a:xfrm>
              <a:off x="1631729" y="2554598"/>
              <a:ext cx="1283292" cy="163805"/>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Satisfaction Improvement</a:t>
              </a:r>
            </a:p>
          </p:txBody>
        </p:sp>
      </p:grpSp>
      <p:grpSp>
        <p:nvGrpSpPr>
          <p:cNvPr id="38" name="Group 44">
            <a:extLst>
              <a:ext uri="{FF2B5EF4-FFF2-40B4-BE49-F238E27FC236}">
                <a16:creationId xmlns:a16="http://schemas.microsoft.com/office/drawing/2014/main" id="{11AB36CC-3E47-2599-DF62-C5DE7C188795}"/>
              </a:ext>
            </a:extLst>
          </p:cNvPr>
          <p:cNvGrpSpPr/>
          <p:nvPr/>
        </p:nvGrpSpPr>
        <p:grpSpPr>
          <a:xfrm>
            <a:off x="6975499" y="1272883"/>
            <a:ext cx="837000" cy="348758"/>
            <a:chOff x="1631729" y="2255750"/>
            <a:chExt cx="1283292" cy="462149"/>
          </a:xfrm>
        </p:grpSpPr>
        <p:sp>
          <p:nvSpPr>
            <p:cNvPr id="39" name="Content Placeholder 2">
              <a:extLst>
                <a:ext uri="{FF2B5EF4-FFF2-40B4-BE49-F238E27FC236}">
                  <a16:creationId xmlns:a16="http://schemas.microsoft.com/office/drawing/2014/main" id="{48CF377A-8E81-BFA2-DA92-0B35DDF3710E}"/>
                </a:ext>
              </a:extLst>
            </p:cNvPr>
            <p:cNvSpPr txBox="1">
              <a:spLocks/>
            </p:cNvSpPr>
            <p:nvPr/>
          </p:nvSpPr>
          <p:spPr>
            <a:xfrm>
              <a:off x="1914288" y="2255750"/>
              <a:ext cx="718174" cy="275294"/>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chemeClr val="bg1"/>
                  </a:solidFill>
                  <a:latin typeface="Century Gothic" panose="020B0502020202020204" pitchFamily="34" charset="0"/>
                </a:rPr>
                <a:t>154.4</a:t>
              </a:r>
            </a:p>
          </p:txBody>
        </p:sp>
        <p:sp>
          <p:nvSpPr>
            <p:cNvPr id="40" name="Content Placeholder 2">
              <a:extLst>
                <a:ext uri="{FF2B5EF4-FFF2-40B4-BE49-F238E27FC236}">
                  <a16:creationId xmlns:a16="http://schemas.microsoft.com/office/drawing/2014/main" id="{CC8BF5CE-FE80-D2F5-1D05-FBAE716CCCFA}"/>
                </a:ext>
              </a:extLst>
            </p:cNvPr>
            <p:cNvSpPr txBox="1">
              <a:spLocks/>
            </p:cNvSpPr>
            <p:nvPr/>
          </p:nvSpPr>
          <p:spPr>
            <a:xfrm>
              <a:off x="1631729" y="2555102"/>
              <a:ext cx="1283292" cy="162797"/>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Feature X On</a:t>
              </a:r>
            </a:p>
          </p:txBody>
        </p:sp>
      </p:grpSp>
      <p:cxnSp>
        <p:nvCxnSpPr>
          <p:cNvPr id="41" name="Straight Connector 47">
            <a:extLst>
              <a:ext uri="{FF2B5EF4-FFF2-40B4-BE49-F238E27FC236}">
                <a16:creationId xmlns:a16="http://schemas.microsoft.com/office/drawing/2014/main" id="{C294EF41-8076-AAC1-6FCD-FE6BD5B2D0A7}"/>
              </a:ext>
            </a:extLst>
          </p:cNvPr>
          <p:cNvCxnSpPr/>
          <p:nvPr/>
        </p:nvCxnSpPr>
        <p:spPr>
          <a:xfrm>
            <a:off x="5558734" y="1131360"/>
            <a:ext cx="0" cy="644086"/>
          </a:xfrm>
          <a:prstGeom prst="line">
            <a:avLst/>
          </a:prstGeom>
          <a:noFill/>
          <a:ln w="25400" cap="flat">
            <a:solidFill>
              <a:srgbClr val="2D323C"/>
            </a:solidFill>
            <a:prstDash val="solid"/>
            <a:miter lim="400000"/>
          </a:ln>
          <a:effectLst/>
          <a:sp3d/>
        </p:spPr>
        <p:style>
          <a:lnRef idx="0">
            <a:scrgbClr r="0" g="0" b="0"/>
          </a:lnRef>
          <a:fillRef idx="0">
            <a:scrgbClr r="0" g="0" b="0"/>
          </a:fillRef>
          <a:effectRef idx="0">
            <a:scrgbClr r="0" g="0" b="0"/>
          </a:effectRef>
          <a:fontRef idx="none"/>
        </p:style>
      </p:cxnSp>
      <p:cxnSp>
        <p:nvCxnSpPr>
          <p:cNvPr id="42" name="Straight Connector 48">
            <a:extLst>
              <a:ext uri="{FF2B5EF4-FFF2-40B4-BE49-F238E27FC236}">
                <a16:creationId xmlns:a16="http://schemas.microsoft.com/office/drawing/2014/main" id="{CE3F2638-0BE1-33F0-0F21-EC7DB94C89A4}"/>
              </a:ext>
            </a:extLst>
          </p:cNvPr>
          <p:cNvCxnSpPr/>
          <p:nvPr/>
        </p:nvCxnSpPr>
        <p:spPr>
          <a:xfrm>
            <a:off x="6913153" y="1131360"/>
            <a:ext cx="0" cy="644086"/>
          </a:xfrm>
          <a:prstGeom prst="line">
            <a:avLst/>
          </a:prstGeom>
          <a:noFill/>
          <a:ln w="25400" cap="flat">
            <a:solidFill>
              <a:srgbClr val="2D323C"/>
            </a:solidFill>
            <a:prstDash val="solid"/>
            <a:miter lim="400000"/>
          </a:ln>
          <a:effectLst/>
          <a:sp3d/>
        </p:spPr>
        <p:style>
          <a:lnRef idx="0">
            <a:scrgbClr r="0" g="0" b="0"/>
          </a:lnRef>
          <a:fillRef idx="0">
            <a:scrgbClr r="0" g="0" b="0"/>
          </a:fillRef>
          <a:effectRef idx="0">
            <a:scrgbClr r="0" g="0" b="0"/>
          </a:effectRef>
          <a:fontRef idx="none"/>
        </p:style>
      </p:cxnSp>
      <p:sp>
        <p:nvSpPr>
          <p:cNvPr id="43" name="Rounded Rectangle 50">
            <a:extLst>
              <a:ext uri="{FF2B5EF4-FFF2-40B4-BE49-F238E27FC236}">
                <a16:creationId xmlns:a16="http://schemas.microsoft.com/office/drawing/2014/main" id="{B821DBE0-222E-BAA4-8037-9F9212B2F5D6}"/>
              </a:ext>
            </a:extLst>
          </p:cNvPr>
          <p:cNvSpPr/>
          <p:nvPr/>
        </p:nvSpPr>
        <p:spPr>
          <a:xfrm>
            <a:off x="4577953" y="2129952"/>
            <a:ext cx="3279474" cy="644086"/>
          </a:xfrm>
          <a:prstGeom prst="roundRect">
            <a:avLst>
              <a:gd name="adj" fmla="val 0"/>
            </a:avLst>
          </a:prstGeom>
          <a:solidFill>
            <a:srgbClr val="393E4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23"/>
            <a:endParaRPr lang="en-US" sz="3600" dirty="0">
              <a:solidFill>
                <a:srgbClr val="FFFFFF"/>
              </a:solidFill>
              <a:latin typeface="Calibri"/>
            </a:endParaRPr>
          </a:p>
        </p:txBody>
      </p:sp>
      <p:grpSp>
        <p:nvGrpSpPr>
          <p:cNvPr id="44" name="Group 51">
            <a:extLst>
              <a:ext uri="{FF2B5EF4-FFF2-40B4-BE49-F238E27FC236}">
                <a16:creationId xmlns:a16="http://schemas.microsoft.com/office/drawing/2014/main" id="{B9BDA9B3-C494-9E04-1B46-2CD02581C03E}"/>
              </a:ext>
            </a:extLst>
          </p:cNvPr>
          <p:cNvGrpSpPr/>
          <p:nvPr/>
        </p:nvGrpSpPr>
        <p:grpSpPr>
          <a:xfrm>
            <a:off x="4701236" y="2270830"/>
            <a:ext cx="714899" cy="347629"/>
            <a:chOff x="1631729" y="2254898"/>
            <a:chExt cx="953198" cy="463505"/>
          </a:xfrm>
        </p:grpSpPr>
        <p:sp>
          <p:nvSpPr>
            <p:cNvPr id="45" name="Content Placeholder 2">
              <a:extLst>
                <a:ext uri="{FF2B5EF4-FFF2-40B4-BE49-F238E27FC236}">
                  <a16:creationId xmlns:a16="http://schemas.microsoft.com/office/drawing/2014/main" id="{2503E469-68D4-A92B-05BB-BBE22B06C7A2}"/>
                </a:ext>
              </a:extLst>
            </p:cNvPr>
            <p:cNvSpPr txBox="1">
              <a:spLocks/>
            </p:cNvSpPr>
            <p:nvPr/>
          </p:nvSpPr>
          <p:spPr>
            <a:xfrm>
              <a:off x="1749241" y="2254898"/>
              <a:ext cx="718174" cy="276998"/>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chemeClr val="bg1"/>
                  </a:solidFill>
                  <a:latin typeface="Century Gothic" panose="020B0502020202020204" pitchFamily="34" charset="0"/>
                </a:rPr>
                <a:t>85%</a:t>
              </a:r>
            </a:p>
          </p:txBody>
        </p:sp>
        <p:sp>
          <p:nvSpPr>
            <p:cNvPr id="46" name="Content Placeholder 2">
              <a:extLst>
                <a:ext uri="{FF2B5EF4-FFF2-40B4-BE49-F238E27FC236}">
                  <a16:creationId xmlns:a16="http://schemas.microsoft.com/office/drawing/2014/main" id="{9A9B96CB-3463-0075-EAB9-E558592239FD}"/>
                </a:ext>
              </a:extLst>
            </p:cNvPr>
            <p:cNvSpPr txBox="1">
              <a:spLocks/>
            </p:cNvSpPr>
            <p:nvPr/>
          </p:nvSpPr>
          <p:spPr>
            <a:xfrm>
              <a:off x="1631729" y="2554598"/>
              <a:ext cx="953198" cy="163805"/>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Feature X Off</a:t>
              </a:r>
            </a:p>
          </p:txBody>
        </p:sp>
      </p:grpSp>
      <p:grpSp>
        <p:nvGrpSpPr>
          <p:cNvPr id="47" name="Group 54">
            <a:extLst>
              <a:ext uri="{FF2B5EF4-FFF2-40B4-BE49-F238E27FC236}">
                <a16:creationId xmlns:a16="http://schemas.microsoft.com/office/drawing/2014/main" id="{2F9011B3-E62B-C7C2-6C52-3710F5D9DC42}"/>
              </a:ext>
            </a:extLst>
          </p:cNvPr>
          <p:cNvGrpSpPr/>
          <p:nvPr/>
        </p:nvGrpSpPr>
        <p:grpSpPr>
          <a:xfrm>
            <a:off x="5736456" y="2270830"/>
            <a:ext cx="962469" cy="347629"/>
            <a:chOff x="1631729" y="2254898"/>
            <a:chExt cx="1283292" cy="463505"/>
          </a:xfrm>
        </p:grpSpPr>
        <p:sp>
          <p:nvSpPr>
            <p:cNvPr id="48" name="Content Placeholder 2">
              <a:extLst>
                <a:ext uri="{FF2B5EF4-FFF2-40B4-BE49-F238E27FC236}">
                  <a16:creationId xmlns:a16="http://schemas.microsoft.com/office/drawing/2014/main" id="{163C930C-CF8B-D0C1-E737-841DB7DED106}"/>
                </a:ext>
              </a:extLst>
            </p:cNvPr>
            <p:cNvSpPr txBox="1">
              <a:spLocks/>
            </p:cNvSpPr>
            <p:nvPr/>
          </p:nvSpPr>
          <p:spPr>
            <a:xfrm>
              <a:off x="1914288" y="2254898"/>
              <a:ext cx="718175" cy="276998"/>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rgbClr val="2DC5FF"/>
                  </a:solidFill>
                  <a:latin typeface="Century Gothic" panose="020B0502020202020204" pitchFamily="34" charset="0"/>
                </a:rPr>
                <a:t>2.3%</a:t>
              </a:r>
            </a:p>
          </p:txBody>
        </p:sp>
        <p:sp>
          <p:nvSpPr>
            <p:cNvPr id="49" name="Content Placeholder 2">
              <a:extLst>
                <a:ext uri="{FF2B5EF4-FFF2-40B4-BE49-F238E27FC236}">
                  <a16:creationId xmlns:a16="http://schemas.microsoft.com/office/drawing/2014/main" id="{D33C2071-DDF8-9B0F-2DF1-7868ED91E408}"/>
                </a:ext>
              </a:extLst>
            </p:cNvPr>
            <p:cNvSpPr txBox="1">
              <a:spLocks/>
            </p:cNvSpPr>
            <p:nvPr/>
          </p:nvSpPr>
          <p:spPr>
            <a:xfrm>
              <a:off x="1631729" y="2554598"/>
              <a:ext cx="1283292" cy="163805"/>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Off vs On</a:t>
              </a:r>
            </a:p>
          </p:txBody>
        </p:sp>
      </p:grpSp>
      <p:grpSp>
        <p:nvGrpSpPr>
          <p:cNvPr id="50" name="Group 57">
            <a:extLst>
              <a:ext uri="{FF2B5EF4-FFF2-40B4-BE49-F238E27FC236}">
                <a16:creationId xmlns:a16="http://schemas.microsoft.com/office/drawing/2014/main" id="{92B0443F-D2E7-B30A-1501-84819AAAC5A4}"/>
              </a:ext>
            </a:extLst>
          </p:cNvPr>
          <p:cNvGrpSpPr/>
          <p:nvPr/>
        </p:nvGrpSpPr>
        <p:grpSpPr>
          <a:xfrm>
            <a:off x="6978088" y="2271476"/>
            <a:ext cx="837000" cy="348759"/>
            <a:chOff x="1631729" y="2255749"/>
            <a:chExt cx="1283292" cy="462150"/>
          </a:xfrm>
        </p:grpSpPr>
        <p:sp>
          <p:nvSpPr>
            <p:cNvPr id="51" name="Content Placeholder 2">
              <a:extLst>
                <a:ext uri="{FF2B5EF4-FFF2-40B4-BE49-F238E27FC236}">
                  <a16:creationId xmlns:a16="http://schemas.microsoft.com/office/drawing/2014/main" id="{3B7F9742-AD30-7BDA-D9EF-0A013BE4360F}"/>
                </a:ext>
              </a:extLst>
            </p:cNvPr>
            <p:cNvSpPr txBox="1">
              <a:spLocks/>
            </p:cNvSpPr>
            <p:nvPr/>
          </p:nvSpPr>
          <p:spPr>
            <a:xfrm>
              <a:off x="1914288" y="2255749"/>
              <a:ext cx="718174" cy="275294"/>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350" dirty="0">
                  <a:solidFill>
                    <a:schemeClr val="bg1"/>
                  </a:solidFill>
                  <a:latin typeface="Century Gothic" panose="020B0502020202020204" pitchFamily="34" charset="0"/>
                </a:rPr>
                <a:t>87%</a:t>
              </a:r>
            </a:p>
          </p:txBody>
        </p:sp>
        <p:sp>
          <p:nvSpPr>
            <p:cNvPr id="52" name="Content Placeholder 2">
              <a:extLst>
                <a:ext uri="{FF2B5EF4-FFF2-40B4-BE49-F238E27FC236}">
                  <a16:creationId xmlns:a16="http://schemas.microsoft.com/office/drawing/2014/main" id="{7659C994-D451-6301-6EFC-07DEDC2D32D9}"/>
                </a:ext>
              </a:extLst>
            </p:cNvPr>
            <p:cNvSpPr txBox="1">
              <a:spLocks/>
            </p:cNvSpPr>
            <p:nvPr/>
          </p:nvSpPr>
          <p:spPr>
            <a:xfrm>
              <a:off x="1631729" y="2555102"/>
              <a:ext cx="1283292" cy="162797"/>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600" i="1" dirty="0">
                  <a:solidFill>
                    <a:schemeClr val="bg1">
                      <a:lumMod val="65000"/>
                    </a:schemeClr>
                  </a:solidFill>
                  <a:latin typeface="Century Gothic" panose="020B0502020202020204" pitchFamily="34" charset="0"/>
                </a:rPr>
                <a:t>Feature X On</a:t>
              </a:r>
            </a:p>
          </p:txBody>
        </p:sp>
      </p:grpSp>
      <p:cxnSp>
        <p:nvCxnSpPr>
          <p:cNvPr id="53" name="Straight Connector 60">
            <a:extLst>
              <a:ext uri="{FF2B5EF4-FFF2-40B4-BE49-F238E27FC236}">
                <a16:creationId xmlns:a16="http://schemas.microsoft.com/office/drawing/2014/main" id="{6145A674-17DC-0ACE-8068-3C1995C77C2D}"/>
              </a:ext>
            </a:extLst>
          </p:cNvPr>
          <p:cNvCxnSpPr/>
          <p:nvPr/>
        </p:nvCxnSpPr>
        <p:spPr>
          <a:xfrm>
            <a:off x="5561323" y="2129952"/>
            <a:ext cx="0" cy="644086"/>
          </a:xfrm>
          <a:prstGeom prst="line">
            <a:avLst/>
          </a:prstGeom>
          <a:noFill/>
          <a:ln w="25400" cap="flat">
            <a:solidFill>
              <a:srgbClr val="2D323C"/>
            </a:solidFill>
            <a:prstDash val="solid"/>
            <a:miter lim="400000"/>
          </a:ln>
          <a:effectLst/>
          <a:sp3d/>
        </p:spPr>
        <p:style>
          <a:lnRef idx="0">
            <a:scrgbClr r="0" g="0" b="0"/>
          </a:lnRef>
          <a:fillRef idx="0">
            <a:scrgbClr r="0" g="0" b="0"/>
          </a:fillRef>
          <a:effectRef idx="0">
            <a:scrgbClr r="0" g="0" b="0"/>
          </a:effectRef>
          <a:fontRef idx="none"/>
        </p:style>
      </p:cxnSp>
      <p:cxnSp>
        <p:nvCxnSpPr>
          <p:cNvPr id="54" name="Straight Connector 61">
            <a:extLst>
              <a:ext uri="{FF2B5EF4-FFF2-40B4-BE49-F238E27FC236}">
                <a16:creationId xmlns:a16="http://schemas.microsoft.com/office/drawing/2014/main" id="{2D058ED7-5564-C73D-5B44-7B07DE630F6B}"/>
              </a:ext>
            </a:extLst>
          </p:cNvPr>
          <p:cNvCxnSpPr/>
          <p:nvPr/>
        </p:nvCxnSpPr>
        <p:spPr>
          <a:xfrm>
            <a:off x="6915742" y="2129952"/>
            <a:ext cx="0" cy="644086"/>
          </a:xfrm>
          <a:prstGeom prst="line">
            <a:avLst/>
          </a:prstGeom>
          <a:noFill/>
          <a:ln w="25400" cap="flat">
            <a:solidFill>
              <a:srgbClr val="2D323C"/>
            </a:solidFill>
            <a:prstDash val="solid"/>
            <a:miter lim="400000"/>
          </a:ln>
          <a:effectLst/>
          <a:sp3d/>
        </p:spPr>
        <p:style>
          <a:lnRef idx="0">
            <a:scrgbClr r="0" g="0" b="0"/>
          </a:lnRef>
          <a:fillRef idx="0">
            <a:scrgbClr r="0" g="0" b="0"/>
          </a:fillRef>
          <a:effectRef idx="0">
            <a:scrgbClr r="0" g="0" b="0"/>
          </a:effectRef>
          <a:fontRef idx="none"/>
        </p:style>
      </p:cxnSp>
      <p:sp>
        <p:nvSpPr>
          <p:cNvPr id="55" name="Rounded Rectangle 63">
            <a:extLst>
              <a:ext uri="{FF2B5EF4-FFF2-40B4-BE49-F238E27FC236}">
                <a16:creationId xmlns:a16="http://schemas.microsoft.com/office/drawing/2014/main" id="{FAFBD45F-FC47-F00F-0B15-7DC004A3A77E}"/>
              </a:ext>
            </a:extLst>
          </p:cNvPr>
          <p:cNvSpPr/>
          <p:nvPr/>
        </p:nvSpPr>
        <p:spPr>
          <a:xfrm>
            <a:off x="4572000" y="2893634"/>
            <a:ext cx="3279471" cy="1691086"/>
          </a:xfrm>
          <a:prstGeom prst="roundRect">
            <a:avLst>
              <a:gd name="adj" fmla="val 0"/>
            </a:avLst>
          </a:prstGeom>
          <a:solidFill>
            <a:srgbClr val="393E4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1828823"/>
            <a:endParaRPr lang="en-US" sz="3600" dirty="0">
              <a:solidFill>
                <a:srgbClr val="FFFFFF"/>
              </a:solidFill>
              <a:latin typeface="Calibri"/>
            </a:endParaRPr>
          </a:p>
        </p:txBody>
      </p:sp>
      <p:graphicFrame>
        <p:nvGraphicFramePr>
          <p:cNvPr id="56" name="Chart 64">
            <a:extLst>
              <a:ext uri="{FF2B5EF4-FFF2-40B4-BE49-F238E27FC236}">
                <a16:creationId xmlns:a16="http://schemas.microsoft.com/office/drawing/2014/main" id="{7EECFF78-F0E3-00A6-9B85-FF08182C5644}"/>
              </a:ext>
            </a:extLst>
          </p:cNvPr>
          <p:cNvGraphicFramePr/>
          <p:nvPr/>
        </p:nvGraphicFramePr>
        <p:xfrm>
          <a:off x="4698647" y="3007360"/>
          <a:ext cx="2996470" cy="1468712"/>
        </p:xfrm>
        <a:graphic>
          <a:graphicData uri="http://schemas.openxmlformats.org/drawingml/2006/chart">
            <c:chart xmlns:c="http://schemas.openxmlformats.org/drawingml/2006/chart" xmlns:r="http://schemas.openxmlformats.org/officeDocument/2006/relationships" r:id="rId3"/>
          </a:graphicData>
        </a:graphic>
      </p:graphicFrame>
      <p:sp>
        <p:nvSpPr>
          <p:cNvPr id="57" name="Content Placeholder 2">
            <a:extLst>
              <a:ext uri="{FF2B5EF4-FFF2-40B4-BE49-F238E27FC236}">
                <a16:creationId xmlns:a16="http://schemas.microsoft.com/office/drawing/2014/main" id="{17A6D104-EC79-E503-80D0-87B08D58E0BF}"/>
              </a:ext>
            </a:extLst>
          </p:cNvPr>
          <p:cNvSpPr txBox="1">
            <a:spLocks/>
          </p:cNvSpPr>
          <p:nvPr/>
        </p:nvSpPr>
        <p:spPr>
          <a:xfrm>
            <a:off x="5945786" y="1939233"/>
            <a:ext cx="1859967" cy="184666"/>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pPr>
            <a:r>
              <a:rPr lang="zh-CN" altLang="en-US" sz="1200" spc="15" dirty="0">
                <a:solidFill>
                  <a:srgbClr val="00B0F0"/>
                </a:solidFill>
                <a:latin typeface="Century Gothic" panose="020B0502020202020204" pitchFamily="34" charset="0"/>
              </a:rPr>
              <a:t>（</a:t>
            </a:r>
            <a:r>
              <a:rPr lang="en-US" sz="1200" spc="15" dirty="0" err="1">
                <a:solidFill>
                  <a:srgbClr val="00B0F0"/>
                </a:solidFill>
                <a:latin typeface="Century Gothic" panose="020B0502020202020204" pitchFamily="34" charset="0"/>
              </a:rPr>
              <a:t>正面</a:t>
            </a:r>
            <a:r>
              <a:rPr lang="zh-CN" altLang="en-US" sz="1200" spc="15" dirty="0">
                <a:solidFill>
                  <a:srgbClr val="00B0F0"/>
                </a:solidFill>
                <a:latin typeface="Century Gothic" panose="020B0502020202020204" pitchFamily="34" charset="0"/>
              </a:rPr>
              <a:t>）</a:t>
            </a:r>
            <a:r>
              <a:rPr lang="en-US" sz="1200" spc="15" dirty="0" err="1">
                <a:solidFill>
                  <a:srgbClr val="00B0F0"/>
                </a:solidFill>
                <a:latin typeface="Century Gothic" panose="020B0502020202020204" pitchFamily="34" charset="0"/>
              </a:rPr>
              <a:t>满意比例</a:t>
            </a:r>
            <a:endParaRPr lang="en-US" sz="1200" spc="15" dirty="0">
              <a:solidFill>
                <a:srgbClr val="00B0F0"/>
              </a:solidFill>
              <a:latin typeface="Century Gothic" panose="020B0502020202020204" pitchFamily="34" charset="0"/>
            </a:endParaRPr>
          </a:p>
        </p:txBody>
      </p:sp>
    </p:spTree>
    <p:extLst>
      <p:ext uri="{BB962C8B-B14F-4D97-AF65-F5344CB8AC3E}">
        <p14:creationId xmlns:p14="http://schemas.microsoft.com/office/powerpoint/2010/main" val="3542407260"/>
      </p:ext>
    </p:extLst>
  </p:cSld>
  <p:clrMapOvr>
    <a:masterClrMapping/>
  </p:clrMapOvr>
  <p:transition spd="slow">
    <p:wipe dir="r"/>
  </p:transition>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3EBB4F2-A1AC-28CA-C044-292911F09A5B}"/>
              </a:ext>
            </a:extLst>
          </p:cNvPr>
          <p:cNvSpPr txBox="1"/>
          <p:nvPr/>
        </p:nvSpPr>
        <p:spPr>
          <a:xfrm>
            <a:off x="1491291" y="277050"/>
            <a:ext cx="2305439" cy="480131"/>
          </a:xfrm>
          <a:prstGeom prst="rect">
            <a:avLst/>
          </a:prstGeom>
          <a:noFill/>
        </p:spPr>
        <p:txBody>
          <a:bodyPr wrap="none" rtlCol="0">
            <a:spAutoFit/>
          </a:bodyPr>
          <a:lstStyle/>
          <a:p>
            <a:pPr defTabSz="685800">
              <a:lnSpc>
                <a:spcPct val="90000"/>
              </a:lnSpc>
              <a:spcBef>
                <a:spcPct val="0"/>
              </a:spcBef>
              <a:buClr>
                <a:schemeClr val="accent4"/>
              </a:buClr>
            </a:pPr>
            <a:r>
              <a:rPr kumimoji="1" lang="en-US" altLang="zh-CN" sz="2800" b="1" dirty="0">
                <a:solidFill>
                  <a:srgbClr val="0070C0"/>
                </a:solidFill>
                <a:latin typeface="Microsoft YaHei" panose="020B0503020204020204" pitchFamily="34" charset="-122"/>
                <a:ea typeface="Microsoft YaHei" panose="020B0503020204020204" pitchFamily="34" charset="-122"/>
              </a:rPr>
              <a:t>A/B</a:t>
            </a:r>
            <a:r>
              <a:rPr kumimoji="1" lang="zh-CN" altLang="en-US" sz="2800" b="1" dirty="0">
                <a:solidFill>
                  <a:srgbClr val="0070C0"/>
                </a:solidFill>
                <a:latin typeface="Microsoft YaHei" panose="020B0503020204020204" pitchFamily="34" charset="-122"/>
                <a:ea typeface="Microsoft YaHei" panose="020B0503020204020204" pitchFamily="34" charset="-122"/>
              </a:rPr>
              <a:t>测试分析</a:t>
            </a:r>
          </a:p>
        </p:txBody>
      </p:sp>
      <p:sp>
        <p:nvSpPr>
          <p:cNvPr id="3" name="Rounded Rectangle">
            <a:extLst>
              <a:ext uri="{FF2B5EF4-FFF2-40B4-BE49-F238E27FC236}">
                <a16:creationId xmlns:a16="http://schemas.microsoft.com/office/drawing/2014/main" id="{982142C2-D869-0443-57E6-D0A18329C926}"/>
              </a:ext>
            </a:extLst>
          </p:cNvPr>
          <p:cNvSpPr/>
          <p:nvPr/>
        </p:nvSpPr>
        <p:spPr>
          <a:xfrm>
            <a:off x="329191" y="757181"/>
            <a:ext cx="1877545" cy="771525"/>
          </a:xfrm>
          <a:prstGeom prst="roundRect">
            <a:avLst>
              <a:gd name="adj" fmla="val 12205"/>
            </a:avLst>
          </a:prstGeom>
          <a:ln w="25400">
            <a:solidFill>
              <a:srgbClr val="2DC5FF"/>
            </a:solidFill>
            <a:miter lim="400000"/>
          </a:ln>
          <a:effectLst/>
        </p:spPr>
        <p:txBody>
          <a:bodyPr lIns="0" tIns="0" rIns="0" bIns="0" anchor="ctr"/>
          <a:lstStyle/>
          <a:p>
            <a:pPr>
              <a:defRPr sz="3200" b="0">
                <a:solidFill>
                  <a:srgbClr val="FFFFFF"/>
                </a:solidFill>
                <a:latin typeface="+mn-lt"/>
                <a:ea typeface="+mn-ea"/>
                <a:cs typeface="+mn-cs"/>
                <a:sym typeface="Helvetica Neue Medium"/>
              </a:defRPr>
            </a:pPr>
            <a:endParaRPr lang="en-US" sz="675" dirty="0">
              <a:solidFill>
                <a:srgbClr val="00B0F0"/>
              </a:solidFill>
              <a:latin typeface="Century Gothic" panose="020B0502020202020204" pitchFamily="34" charset="0"/>
              <a:ea typeface="Helvetica Neue Medium"/>
              <a:cs typeface="Helvetica Neue Medium"/>
              <a:sym typeface="Helvetica Neue Medium"/>
            </a:endParaRPr>
          </a:p>
        </p:txBody>
      </p:sp>
      <p:graphicFrame>
        <p:nvGraphicFramePr>
          <p:cNvPr id="4" name="Chart 115">
            <a:extLst>
              <a:ext uri="{FF2B5EF4-FFF2-40B4-BE49-F238E27FC236}">
                <a16:creationId xmlns:a16="http://schemas.microsoft.com/office/drawing/2014/main" id="{EE2329F3-FFF9-5F4E-A380-5CFA3C6704DB}"/>
              </a:ext>
            </a:extLst>
          </p:cNvPr>
          <p:cNvGraphicFramePr/>
          <p:nvPr>
            <p:extLst>
              <p:ext uri="{D42A27DB-BD31-4B8C-83A1-F6EECF244321}">
                <p14:modId xmlns:p14="http://schemas.microsoft.com/office/powerpoint/2010/main" val="4050750292"/>
              </p:ext>
            </p:extLst>
          </p:nvPr>
        </p:nvGraphicFramePr>
        <p:xfrm>
          <a:off x="226928" y="981555"/>
          <a:ext cx="2120402" cy="692162"/>
        </p:xfrm>
        <a:graphic>
          <a:graphicData uri="http://schemas.openxmlformats.org/drawingml/2006/chart">
            <c:chart xmlns:c="http://schemas.openxmlformats.org/drawingml/2006/chart" xmlns:r="http://schemas.openxmlformats.org/officeDocument/2006/relationships" r:id="rId2"/>
          </a:graphicData>
        </a:graphic>
      </p:graphicFrame>
      <p:sp>
        <p:nvSpPr>
          <p:cNvPr id="5" name="Content Placeholder 2">
            <a:extLst>
              <a:ext uri="{FF2B5EF4-FFF2-40B4-BE49-F238E27FC236}">
                <a16:creationId xmlns:a16="http://schemas.microsoft.com/office/drawing/2014/main" id="{708BEE49-192E-D26D-7CDE-BDE4A664BACB}"/>
              </a:ext>
            </a:extLst>
          </p:cNvPr>
          <p:cNvSpPr txBox="1">
            <a:spLocks/>
          </p:cNvSpPr>
          <p:nvPr/>
        </p:nvSpPr>
        <p:spPr>
          <a:xfrm>
            <a:off x="466350" y="888654"/>
            <a:ext cx="1058461" cy="230832"/>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945"/>
              </a:lnSpc>
              <a:spcBef>
                <a:spcPts val="0"/>
              </a:spcBef>
              <a:buNone/>
            </a:pPr>
            <a:r>
              <a:rPr lang="en-US" sz="1000" dirty="0">
                <a:solidFill>
                  <a:srgbClr val="00B0F0"/>
                </a:solidFill>
                <a:latin typeface="Century Gothic" panose="020B0502020202020204" pitchFamily="34" charset="0"/>
              </a:rPr>
              <a:t>Average session </a:t>
            </a:r>
          </a:p>
          <a:p>
            <a:pPr marL="0" indent="0">
              <a:lnSpc>
                <a:spcPts val="945"/>
              </a:lnSpc>
              <a:spcBef>
                <a:spcPts val="0"/>
              </a:spcBef>
              <a:buNone/>
            </a:pPr>
            <a:r>
              <a:rPr lang="en-US" sz="1000" dirty="0">
                <a:solidFill>
                  <a:srgbClr val="00B0F0"/>
                </a:solidFill>
                <a:latin typeface="Century Gothic" panose="020B0502020202020204" pitchFamily="34" charset="0"/>
              </a:rPr>
              <a:t>length</a:t>
            </a:r>
          </a:p>
        </p:txBody>
      </p:sp>
      <p:sp>
        <p:nvSpPr>
          <p:cNvPr id="6" name="Content Placeholder 2">
            <a:extLst>
              <a:ext uri="{FF2B5EF4-FFF2-40B4-BE49-F238E27FC236}">
                <a16:creationId xmlns:a16="http://schemas.microsoft.com/office/drawing/2014/main" id="{01247160-5410-17D9-AEAE-A8C96B66ADCE}"/>
              </a:ext>
            </a:extLst>
          </p:cNvPr>
          <p:cNvSpPr txBox="1">
            <a:spLocks/>
          </p:cNvSpPr>
          <p:nvPr/>
        </p:nvSpPr>
        <p:spPr>
          <a:xfrm>
            <a:off x="1477412" y="914262"/>
            <a:ext cx="295946" cy="184666"/>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pPr>
            <a:r>
              <a:rPr lang="en-US" sz="1200" dirty="0">
                <a:solidFill>
                  <a:srgbClr val="00B0F0"/>
                </a:solidFill>
                <a:latin typeface="Century Gothic" panose="020B0502020202020204" pitchFamily="34" charset="0"/>
              </a:rPr>
              <a:t>1%</a:t>
            </a:r>
          </a:p>
        </p:txBody>
      </p:sp>
      <p:sp>
        <p:nvSpPr>
          <p:cNvPr id="7" name="Rounded Rectangle">
            <a:extLst>
              <a:ext uri="{FF2B5EF4-FFF2-40B4-BE49-F238E27FC236}">
                <a16:creationId xmlns:a16="http://schemas.microsoft.com/office/drawing/2014/main" id="{51CFCD93-5F3D-4739-C2C0-6F5D1227B9E3}"/>
              </a:ext>
            </a:extLst>
          </p:cNvPr>
          <p:cNvSpPr/>
          <p:nvPr/>
        </p:nvSpPr>
        <p:spPr>
          <a:xfrm>
            <a:off x="329191" y="1772344"/>
            <a:ext cx="1877545" cy="771525"/>
          </a:xfrm>
          <a:prstGeom prst="roundRect">
            <a:avLst>
              <a:gd name="adj" fmla="val 12205"/>
            </a:avLst>
          </a:prstGeom>
          <a:ln w="25400">
            <a:solidFill>
              <a:srgbClr val="2DC5FF"/>
            </a:solidFill>
            <a:miter lim="400000"/>
          </a:ln>
          <a:effectLst/>
        </p:spPr>
        <p:txBody>
          <a:bodyPr lIns="0" tIns="0" rIns="0" bIns="0" anchor="ctr"/>
          <a:lstStyle/>
          <a:p>
            <a:pPr>
              <a:defRPr sz="3200" b="0">
                <a:solidFill>
                  <a:srgbClr val="FFFFFF"/>
                </a:solidFill>
                <a:latin typeface="+mn-lt"/>
                <a:ea typeface="+mn-ea"/>
                <a:cs typeface="+mn-cs"/>
                <a:sym typeface="Helvetica Neue Medium"/>
              </a:defRPr>
            </a:pPr>
            <a:endParaRPr lang="en-US" sz="675" dirty="0">
              <a:solidFill>
                <a:srgbClr val="00B0F0"/>
              </a:solidFill>
              <a:latin typeface="Century Gothic" panose="020B0502020202020204" pitchFamily="34" charset="0"/>
              <a:ea typeface="Helvetica Neue Medium"/>
              <a:cs typeface="Helvetica Neue Medium"/>
              <a:sym typeface="Helvetica Neue Medium"/>
            </a:endParaRPr>
          </a:p>
        </p:txBody>
      </p:sp>
      <p:graphicFrame>
        <p:nvGraphicFramePr>
          <p:cNvPr id="8" name="Chart 121">
            <a:extLst>
              <a:ext uri="{FF2B5EF4-FFF2-40B4-BE49-F238E27FC236}">
                <a16:creationId xmlns:a16="http://schemas.microsoft.com/office/drawing/2014/main" id="{1949214D-1B9A-CC00-53AE-DFCEA19D2A08}"/>
              </a:ext>
            </a:extLst>
          </p:cNvPr>
          <p:cNvGraphicFramePr/>
          <p:nvPr>
            <p:extLst>
              <p:ext uri="{D42A27DB-BD31-4B8C-83A1-F6EECF244321}">
                <p14:modId xmlns:p14="http://schemas.microsoft.com/office/powerpoint/2010/main" val="837675802"/>
              </p:ext>
            </p:extLst>
          </p:nvPr>
        </p:nvGraphicFramePr>
        <p:xfrm>
          <a:off x="226928" y="1996717"/>
          <a:ext cx="2120402" cy="692162"/>
        </p:xfrm>
        <a:graphic>
          <a:graphicData uri="http://schemas.openxmlformats.org/drawingml/2006/chart">
            <c:chart xmlns:c="http://schemas.openxmlformats.org/drawingml/2006/chart" xmlns:r="http://schemas.openxmlformats.org/officeDocument/2006/relationships" r:id="rId3"/>
          </a:graphicData>
        </a:graphic>
      </p:graphicFrame>
      <p:sp>
        <p:nvSpPr>
          <p:cNvPr id="9" name="Content Placeholder 2">
            <a:extLst>
              <a:ext uri="{FF2B5EF4-FFF2-40B4-BE49-F238E27FC236}">
                <a16:creationId xmlns:a16="http://schemas.microsoft.com/office/drawing/2014/main" id="{FCF42EFA-D310-AC35-46D8-AC6C955949D6}"/>
              </a:ext>
            </a:extLst>
          </p:cNvPr>
          <p:cNvSpPr txBox="1">
            <a:spLocks/>
          </p:cNvSpPr>
          <p:nvPr/>
        </p:nvSpPr>
        <p:spPr>
          <a:xfrm>
            <a:off x="466352" y="1903816"/>
            <a:ext cx="945083" cy="346249"/>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945"/>
              </a:lnSpc>
              <a:spcBef>
                <a:spcPts val="0"/>
              </a:spcBef>
              <a:buNone/>
            </a:pPr>
            <a:r>
              <a:rPr lang="en-US" sz="1000" dirty="0">
                <a:solidFill>
                  <a:srgbClr val="00B0F0"/>
                </a:solidFill>
                <a:latin typeface="Century Gothic" panose="020B0502020202020204" pitchFamily="34" charset="0"/>
              </a:rPr>
              <a:t>Views Content occurrences</a:t>
            </a:r>
            <a:r>
              <a:rPr lang="zh-CN" altLang="en-US" sz="1000" dirty="0">
                <a:solidFill>
                  <a:srgbClr val="00B0F0"/>
                </a:solidFill>
                <a:latin typeface="Century Gothic" panose="020B0502020202020204" pitchFamily="34" charset="0"/>
              </a:rPr>
              <a:t> </a:t>
            </a:r>
            <a:r>
              <a:rPr lang="en-US" sz="1000" dirty="0">
                <a:solidFill>
                  <a:srgbClr val="00B0F0"/>
                </a:solidFill>
                <a:latin typeface="Century Gothic" panose="020B0502020202020204" pitchFamily="34" charset="0"/>
              </a:rPr>
              <a:t>/session</a:t>
            </a:r>
          </a:p>
        </p:txBody>
      </p:sp>
      <p:sp>
        <p:nvSpPr>
          <p:cNvPr id="10" name="Content Placeholder 2">
            <a:extLst>
              <a:ext uri="{FF2B5EF4-FFF2-40B4-BE49-F238E27FC236}">
                <a16:creationId xmlns:a16="http://schemas.microsoft.com/office/drawing/2014/main" id="{C959B4D6-4759-F0A0-051E-A3BE23F4603F}"/>
              </a:ext>
            </a:extLst>
          </p:cNvPr>
          <p:cNvSpPr txBox="1">
            <a:spLocks/>
          </p:cNvSpPr>
          <p:nvPr/>
        </p:nvSpPr>
        <p:spPr>
          <a:xfrm>
            <a:off x="1411435" y="1929425"/>
            <a:ext cx="375409" cy="184666"/>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pPr>
            <a:r>
              <a:rPr lang="en-US" sz="1200" dirty="0">
                <a:solidFill>
                  <a:srgbClr val="00B0F0"/>
                </a:solidFill>
                <a:latin typeface="Century Gothic" panose="020B0502020202020204" pitchFamily="34" charset="0"/>
              </a:rPr>
              <a:t>28%</a:t>
            </a:r>
          </a:p>
        </p:txBody>
      </p:sp>
      <p:sp>
        <p:nvSpPr>
          <p:cNvPr id="11" name="Rounded Rectangle">
            <a:extLst>
              <a:ext uri="{FF2B5EF4-FFF2-40B4-BE49-F238E27FC236}">
                <a16:creationId xmlns:a16="http://schemas.microsoft.com/office/drawing/2014/main" id="{548D17E5-D3FA-EDCF-C909-15CC370A903B}"/>
              </a:ext>
            </a:extLst>
          </p:cNvPr>
          <p:cNvSpPr/>
          <p:nvPr/>
        </p:nvSpPr>
        <p:spPr>
          <a:xfrm>
            <a:off x="329191" y="2786154"/>
            <a:ext cx="1877545" cy="771525"/>
          </a:xfrm>
          <a:prstGeom prst="roundRect">
            <a:avLst>
              <a:gd name="adj" fmla="val 12205"/>
            </a:avLst>
          </a:prstGeom>
          <a:ln w="25400">
            <a:solidFill>
              <a:srgbClr val="2DC5FF"/>
            </a:solidFill>
            <a:miter lim="400000"/>
          </a:ln>
          <a:effectLst/>
        </p:spPr>
        <p:txBody>
          <a:bodyPr lIns="0" tIns="0" rIns="0" bIns="0" anchor="ctr"/>
          <a:lstStyle/>
          <a:p>
            <a:pPr>
              <a:defRPr sz="3200" b="0">
                <a:solidFill>
                  <a:srgbClr val="FFFFFF"/>
                </a:solidFill>
                <a:latin typeface="+mn-lt"/>
                <a:ea typeface="+mn-ea"/>
                <a:cs typeface="+mn-cs"/>
                <a:sym typeface="Helvetica Neue Medium"/>
              </a:defRPr>
            </a:pPr>
            <a:endParaRPr lang="en-US" sz="675" dirty="0">
              <a:solidFill>
                <a:srgbClr val="00B0F0"/>
              </a:solidFill>
              <a:latin typeface="Century Gothic" panose="020B0502020202020204" pitchFamily="34" charset="0"/>
              <a:ea typeface="Helvetica Neue Medium"/>
              <a:cs typeface="Helvetica Neue Medium"/>
              <a:sym typeface="Helvetica Neue Medium"/>
            </a:endParaRPr>
          </a:p>
        </p:txBody>
      </p:sp>
      <p:graphicFrame>
        <p:nvGraphicFramePr>
          <p:cNvPr id="12" name="Chart 125">
            <a:extLst>
              <a:ext uri="{FF2B5EF4-FFF2-40B4-BE49-F238E27FC236}">
                <a16:creationId xmlns:a16="http://schemas.microsoft.com/office/drawing/2014/main" id="{C3C8FD5E-ADFE-E6EF-6045-2A1F29232BCC}"/>
              </a:ext>
            </a:extLst>
          </p:cNvPr>
          <p:cNvGraphicFramePr/>
          <p:nvPr>
            <p:extLst>
              <p:ext uri="{D42A27DB-BD31-4B8C-83A1-F6EECF244321}">
                <p14:modId xmlns:p14="http://schemas.microsoft.com/office/powerpoint/2010/main" val="272744269"/>
              </p:ext>
            </p:extLst>
          </p:nvPr>
        </p:nvGraphicFramePr>
        <p:xfrm>
          <a:off x="226928" y="3010527"/>
          <a:ext cx="2120402" cy="692162"/>
        </p:xfrm>
        <a:graphic>
          <a:graphicData uri="http://schemas.openxmlformats.org/drawingml/2006/chart">
            <c:chart xmlns:c="http://schemas.openxmlformats.org/drawingml/2006/chart" xmlns:r="http://schemas.openxmlformats.org/officeDocument/2006/relationships" r:id="rId4"/>
          </a:graphicData>
        </a:graphic>
      </p:graphicFrame>
      <p:sp>
        <p:nvSpPr>
          <p:cNvPr id="13" name="Content Placeholder 2">
            <a:extLst>
              <a:ext uri="{FF2B5EF4-FFF2-40B4-BE49-F238E27FC236}">
                <a16:creationId xmlns:a16="http://schemas.microsoft.com/office/drawing/2014/main" id="{3E8447F7-1527-A661-0B2B-B9D6EAA92B90}"/>
              </a:ext>
            </a:extLst>
          </p:cNvPr>
          <p:cNvSpPr txBox="1">
            <a:spLocks/>
          </p:cNvSpPr>
          <p:nvPr/>
        </p:nvSpPr>
        <p:spPr>
          <a:xfrm>
            <a:off x="466352" y="2917626"/>
            <a:ext cx="846129" cy="230832"/>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945"/>
              </a:lnSpc>
              <a:spcBef>
                <a:spcPts val="0"/>
              </a:spcBef>
              <a:buNone/>
            </a:pPr>
            <a:r>
              <a:rPr lang="en-US" sz="1000" dirty="0">
                <a:solidFill>
                  <a:srgbClr val="00B0F0"/>
                </a:solidFill>
                <a:latin typeface="Century Gothic" panose="020B0502020202020204" pitchFamily="34" charset="0"/>
              </a:rPr>
              <a:t>Sessions per daily user</a:t>
            </a:r>
          </a:p>
        </p:txBody>
      </p:sp>
      <p:sp>
        <p:nvSpPr>
          <p:cNvPr id="14" name="Content Placeholder 2">
            <a:extLst>
              <a:ext uri="{FF2B5EF4-FFF2-40B4-BE49-F238E27FC236}">
                <a16:creationId xmlns:a16="http://schemas.microsoft.com/office/drawing/2014/main" id="{1F1D8039-E376-8DF6-9E29-23A90A1A03A5}"/>
              </a:ext>
            </a:extLst>
          </p:cNvPr>
          <p:cNvSpPr txBox="1">
            <a:spLocks/>
          </p:cNvSpPr>
          <p:nvPr/>
        </p:nvSpPr>
        <p:spPr>
          <a:xfrm>
            <a:off x="1477412" y="2943235"/>
            <a:ext cx="295946" cy="184666"/>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pPr>
            <a:r>
              <a:rPr lang="en-US" sz="1200" dirty="0">
                <a:solidFill>
                  <a:srgbClr val="00B0F0"/>
                </a:solidFill>
                <a:latin typeface="Century Gothic" panose="020B0502020202020204" pitchFamily="34" charset="0"/>
              </a:rPr>
              <a:t>7%</a:t>
            </a:r>
          </a:p>
        </p:txBody>
      </p:sp>
      <p:sp>
        <p:nvSpPr>
          <p:cNvPr id="15" name="Rounded Rectangle">
            <a:extLst>
              <a:ext uri="{FF2B5EF4-FFF2-40B4-BE49-F238E27FC236}">
                <a16:creationId xmlns:a16="http://schemas.microsoft.com/office/drawing/2014/main" id="{2224E41B-1151-882D-43D5-96B286BCEFB6}"/>
              </a:ext>
            </a:extLst>
          </p:cNvPr>
          <p:cNvSpPr/>
          <p:nvPr/>
        </p:nvSpPr>
        <p:spPr>
          <a:xfrm>
            <a:off x="329191" y="3795590"/>
            <a:ext cx="1877545" cy="771525"/>
          </a:xfrm>
          <a:prstGeom prst="roundRect">
            <a:avLst>
              <a:gd name="adj" fmla="val 12205"/>
            </a:avLst>
          </a:prstGeom>
          <a:ln w="25400">
            <a:solidFill>
              <a:srgbClr val="2DC5FF"/>
            </a:solidFill>
            <a:miter lim="400000"/>
          </a:ln>
          <a:effectLst/>
        </p:spPr>
        <p:txBody>
          <a:bodyPr lIns="0" tIns="0" rIns="0" bIns="0" anchor="ctr"/>
          <a:lstStyle/>
          <a:p>
            <a:pPr>
              <a:defRPr sz="3200" b="0">
                <a:solidFill>
                  <a:srgbClr val="FFFFFF"/>
                </a:solidFill>
                <a:latin typeface="+mn-lt"/>
                <a:ea typeface="+mn-ea"/>
                <a:cs typeface="+mn-cs"/>
                <a:sym typeface="Helvetica Neue Medium"/>
              </a:defRPr>
            </a:pPr>
            <a:endParaRPr lang="en-US" sz="675" dirty="0">
              <a:solidFill>
                <a:srgbClr val="00B0F0"/>
              </a:solidFill>
              <a:latin typeface="Century Gothic" panose="020B0502020202020204" pitchFamily="34" charset="0"/>
              <a:ea typeface="Helvetica Neue Medium"/>
              <a:cs typeface="Helvetica Neue Medium"/>
              <a:sym typeface="Helvetica Neue Medium"/>
            </a:endParaRPr>
          </a:p>
        </p:txBody>
      </p:sp>
      <p:graphicFrame>
        <p:nvGraphicFramePr>
          <p:cNvPr id="16" name="Chart 129">
            <a:extLst>
              <a:ext uri="{FF2B5EF4-FFF2-40B4-BE49-F238E27FC236}">
                <a16:creationId xmlns:a16="http://schemas.microsoft.com/office/drawing/2014/main" id="{74B9CBA8-F4CB-4957-C7E1-183B656BB447}"/>
              </a:ext>
            </a:extLst>
          </p:cNvPr>
          <p:cNvGraphicFramePr/>
          <p:nvPr>
            <p:extLst>
              <p:ext uri="{D42A27DB-BD31-4B8C-83A1-F6EECF244321}">
                <p14:modId xmlns:p14="http://schemas.microsoft.com/office/powerpoint/2010/main" val="3736578268"/>
              </p:ext>
            </p:extLst>
          </p:nvPr>
        </p:nvGraphicFramePr>
        <p:xfrm>
          <a:off x="226928" y="4019964"/>
          <a:ext cx="1760501" cy="692162"/>
        </p:xfrm>
        <a:graphic>
          <a:graphicData uri="http://schemas.openxmlformats.org/drawingml/2006/chart">
            <c:chart xmlns:c="http://schemas.openxmlformats.org/drawingml/2006/chart" xmlns:r="http://schemas.openxmlformats.org/officeDocument/2006/relationships" r:id="rId5"/>
          </a:graphicData>
        </a:graphic>
      </p:graphicFrame>
      <p:sp>
        <p:nvSpPr>
          <p:cNvPr id="17" name="Content Placeholder 2">
            <a:extLst>
              <a:ext uri="{FF2B5EF4-FFF2-40B4-BE49-F238E27FC236}">
                <a16:creationId xmlns:a16="http://schemas.microsoft.com/office/drawing/2014/main" id="{10B32F3A-430F-FBA2-6B76-085F4C372317}"/>
              </a:ext>
            </a:extLst>
          </p:cNvPr>
          <p:cNvSpPr txBox="1">
            <a:spLocks/>
          </p:cNvSpPr>
          <p:nvPr/>
        </p:nvSpPr>
        <p:spPr>
          <a:xfrm>
            <a:off x="466351" y="3927063"/>
            <a:ext cx="945083" cy="230832"/>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945"/>
              </a:lnSpc>
              <a:spcBef>
                <a:spcPts val="0"/>
              </a:spcBef>
              <a:buNone/>
            </a:pPr>
            <a:r>
              <a:rPr lang="en-US" sz="1000" dirty="0">
                <a:solidFill>
                  <a:srgbClr val="00B0F0"/>
                </a:solidFill>
                <a:latin typeface="Century Gothic" panose="020B0502020202020204" pitchFamily="34" charset="0"/>
              </a:rPr>
              <a:t>Lifetime value per daily user</a:t>
            </a:r>
          </a:p>
        </p:txBody>
      </p:sp>
      <p:sp>
        <p:nvSpPr>
          <p:cNvPr id="18" name="Content Placeholder 2">
            <a:extLst>
              <a:ext uri="{FF2B5EF4-FFF2-40B4-BE49-F238E27FC236}">
                <a16:creationId xmlns:a16="http://schemas.microsoft.com/office/drawing/2014/main" id="{E071F29D-D4C7-BBD1-C230-AEB3488090EE}"/>
              </a:ext>
            </a:extLst>
          </p:cNvPr>
          <p:cNvSpPr txBox="1">
            <a:spLocks/>
          </p:cNvSpPr>
          <p:nvPr/>
        </p:nvSpPr>
        <p:spPr>
          <a:xfrm>
            <a:off x="1332231" y="3952671"/>
            <a:ext cx="470806" cy="184666"/>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pPr>
            <a:r>
              <a:rPr lang="en-US" sz="1200" dirty="0">
                <a:solidFill>
                  <a:srgbClr val="00B0F0"/>
                </a:solidFill>
                <a:latin typeface="Century Gothic" panose="020B0502020202020204" pitchFamily="34" charset="0"/>
              </a:rPr>
              <a:t>60%</a:t>
            </a:r>
          </a:p>
        </p:txBody>
      </p:sp>
      <p:sp>
        <p:nvSpPr>
          <p:cNvPr id="19" name="Rounded Rectangle">
            <a:extLst>
              <a:ext uri="{FF2B5EF4-FFF2-40B4-BE49-F238E27FC236}">
                <a16:creationId xmlns:a16="http://schemas.microsoft.com/office/drawing/2014/main" id="{C7E68019-70F3-34F6-5E43-DA8D041FF508}"/>
              </a:ext>
            </a:extLst>
          </p:cNvPr>
          <p:cNvSpPr/>
          <p:nvPr/>
        </p:nvSpPr>
        <p:spPr>
          <a:xfrm>
            <a:off x="6927690" y="757181"/>
            <a:ext cx="1907261" cy="771525"/>
          </a:xfrm>
          <a:prstGeom prst="roundRect">
            <a:avLst>
              <a:gd name="adj" fmla="val 12205"/>
            </a:avLst>
          </a:prstGeom>
          <a:ln w="25400">
            <a:solidFill>
              <a:schemeClr val="bg1">
                <a:lumMod val="65000"/>
              </a:schemeClr>
            </a:solidFill>
            <a:miter lim="400000"/>
          </a:ln>
          <a:effectLst/>
        </p:spPr>
        <p:txBody>
          <a:bodyPr lIns="0" tIns="0" rIns="0" bIns="0" anchor="ctr"/>
          <a:lstStyle/>
          <a:p>
            <a:pPr>
              <a:defRPr sz="3200" b="0">
                <a:solidFill>
                  <a:srgbClr val="FFFFFF"/>
                </a:solidFill>
                <a:latin typeface="+mn-lt"/>
                <a:ea typeface="+mn-ea"/>
                <a:cs typeface="+mn-cs"/>
                <a:sym typeface="Helvetica Neue Medium"/>
              </a:defRPr>
            </a:pPr>
            <a:endParaRPr lang="en-US" sz="675" dirty="0">
              <a:solidFill>
                <a:srgbClr val="00B0F0"/>
              </a:solidFill>
              <a:latin typeface="Century Gothic" panose="020B0502020202020204" pitchFamily="34" charset="0"/>
              <a:ea typeface="Helvetica Neue Medium"/>
              <a:cs typeface="Helvetica Neue Medium"/>
              <a:sym typeface="Helvetica Neue Medium"/>
            </a:endParaRPr>
          </a:p>
        </p:txBody>
      </p:sp>
      <p:graphicFrame>
        <p:nvGraphicFramePr>
          <p:cNvPr id="20" name="Chart 133">
            <a:extLst>
              <a:ext uri="{FF2B5EF4-FFF2-40B4-BE49-F238E27FC236}">
                <a16:creationId xmlns:a16="http://schemas.microsoft.com/office/drawing/2014/main" id="{CCD01ACE-B9F3-DCAE-2AEC-D031B9D69F91}"/>
              </a:ext>
            </a:extLst>
          </p:cNvPr>
          <p:cNvGraphicFramePr/>
          <p:nvPr>
            <p:extLst>
              <p:ext uri="{D42A27DB-BD31-4B8C-83A1-F6EECF244321}">
                <p14:modId xmlns:p14="http://schemas.microsoft.com/office/powerpoint/2010/main" val="2383822799"/>
              </p:ext>
            </p:extLst>
          </p:nvPr>
        </p:nvGraphicFramePr>
        <p:xfrm>
          <a:off x="6780363" y="981555"/>
          <a:ext cx="2153962" cy="692162"/>
        </p:xfrm>
        <a:graphic>
          <a:graphicData uri="http://schemas.openxmlformats.org/drawingml/2006/chart">
            <c:chart xmlns:c="http://schemas.openxmlformats.org/drawingml/2006/chart" xmlns:r="http://schemas.openxmlformats.org/officeDocument/2006/relationships" r:id="rId6"/>
          </a:graphicData>
        </a:graphic>
      </p:graphicFrame>
      <p:sp>
        <p:nvSpPr>
          <p:cNvPr id="21" name="Content Placeholder 2">
            <a:extLst>
              <a:ext uri="{FF2B5EF4-FFF2-40B4-BE49-F238E27FC236}">
                <a16:creationId xmlns:a16="http://schemas.microsoft.com/office/drawing/2014/main" id="{E6E43EEF-0D72-CE6C-A160-C5E297294510}"/>
              </a:ext>
            </a:extLst>
          </p:cNvPr>
          <p:cNvSpPr txBox="1">
            <a:spLocks/>
          </p:cNvSpPr>
          <p:nvPr/>
        </p:nvSpPr>
        <p:spPr>
          <a:xfrm>
            <a:off x="7236070" y="888654"/>
            <a:ext cx="969934" cy="346249"/>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945"/>
              </a:lnSpc>
              <a:spcBef>
                <a:spcPts val="0"/>
              </a:spcBef>
              <a:buNone/>
            </a:pPr>
            <a:r>
              <a:rPr lang="en-US" sz="1000" dirty="0">
                <a:solidFill>
                  <a:srgbClr val="00B0F0"/>
                </a:solidFill>
                <a:latin typeface="Century Gothic" panose="020B0502020202020204" pitchFamily="34" charset="0"/>
              </a:rPr>
              <a:t>Subscribing occurrence per day</a:t>
            </a:r>
          </a:p>
        </p:txBody>
      </p:sp>
      <p:sp>
        <p:nvSpPr>
          <p:cNvPr id="22" name="Content Placeholder 2">
            <a:extLst>
              <a:ext uri="{FF2B5EF4-FFF2-40B4-BE49-F238E27FC236}">
                <a16:creationId xmlns:a16="http://schemas.microsoft.com/office/drawing/2014/main" id="{2C05202D-0DDC-AD54-9433-5AB968955BF1}"/>
              </a:ext>
            </a:extLst>
          </p:cNvPr>
          <p:cNvSpPr txBox="1">
            <a:spLocks/>
          </p:cNvSpPr>
          <p:nvPr/>
        </p:nvSpPr>
        <p:spPr>
          <a:xfrm>
            <a:off x="8271971" y="914262"/>
            <a:ext cx="398049" cy="184666"/>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pPr>
            <a:r>
              <a:rPr lang="en-US" sz="1200" dirty="0">
                <a:solidFill>
                  <a:srgbClr val="00B0F0"/>
                </a:solidFill>
                <a:latin typeface="Century Gothic" panose="020B0502020202020204" pitchFamily="34" charset="0"/>
              </a:rPr>
              <a:t>24%</a:t>
            </a:r>
          </a:p>
        </p:txBody>
      </p:sp>
      <p:sp>
        <p:nvSpPr>
          <p:cNvPr id="23" name="Rounded Rectangle">
            <a:extLst>
              <a:ext uri="{FF2B5EF4-FFF2-40B4-BE49-F238E27FC236}">
                <a16:creationId xmlns:a16="http://schemas.microsoft.com/office/drawing/2014/main" id="{0CAC24BE-DEE2-FA9F-5230-C84708C6719D}"/>
              </a:ext>
            </a:extLst>
          </p:cNvPr>
          <p:cNvSpPr/>
          <p:nvPr/>
        </p:nvSpPr>
        <p:spPr>
          <a:xfrm>
            <a:off x="6927690" y="1772344"/>
            <a:ext cx="1907261" cy="771525"/>
          </a:xfrm>
          <a:prstGeom prst="roundRect">
            <a:avLst>
              <a:gd name="adj" fmla="val 12205"/>
            </a:avLst>
          </a:prstGeom>
          <a:ln w="25400">
            <a:solidFill>
              <a:schemeClr val="bg1">
                <a:lumMod val="65000"/>
              </a:schemeClr>
            </a:solidFill>
            <a:miter lim="400000"/>
          </a:ln>
          <a:effectLst/>
        </p:spPr>
        <p:txBody>
          <a:bodyPr lIns="0" tIns="0" rIns="0" bIns="0" anchor="ctr"/>
          <a:lstStyle/>
          <a:p>
            <a:pPr>
              <a:defRPr sz="3200" b="0">
                <a:solidFill>
                  <a:srgbClr val="FFFFFF"/>
                </a:solidFill>
                <a:latin typeface="+mn-lt"/>
                <a:ea typeface="+mn-ea"/>
                <a:cs typeface="+mn-cs"/>
                <a:sym typeface="Helvetica Neue Medium"/>
              </a:defRPr>
            </a:pPr>
            <a:endParaRPr lang="en-US" sz="675" dirty="0">
              <a:solidFill>
                <a:srgbClr val="00B0F0"/>
              </a:solidFill>
              <a:latin typeface="Century Gothic" panose="020B0502020202020204" pitchFamily="34" charset="0"/>
              <a:ea typeface="Helvetica Neue Medium"/>
              <a:cs typeface="Helvetica Neue Medium"/>
              <a:sym typeface="Helvetica Neue Medium"/>
            </a:endParaRPr>
          </a:p>
        </p:txBody>
      </p:sp>
      <p:graphicFrame>
        <p:nvGraphicFramePr>
          <p:cNvPr id="24" name="Chart 137">
            <a:extLst>
              <a:ext uri="{FF2B5EF4-FFF2-40B4-BE49-F238E27FC236}">
                <a16:creationId xmlns:a16="http://schemas.microsoft.com/office/drawing/2014/main" id="{C7A66519-090C-F911-2601-C9F8D4021BB5}"/>
              </a:ext>
            </a:extLst>
          </p:cNvPr>
          <p:cNvGraphicFramePr/>
          <p:nvPr>
            <p:extLst>
              <p:ext uri="{D42A27DB-BD31-4B8C-83A1-F6EECF244321}">
                <p14:modId xmlns:p14="http://schemas.microsoft.com/office/powerpoint/2010/main" val="1602063353"/>
              </p:ext>
            </p:extLst>
          </p:nvPr>
        </p:nvGraphicFramePr>
        <p:xfrm>
          <a:off x="6780363" y="1996717"/>
          <a:ext cx="2153962" cy="692162"/>
        </p:xfrm>
        <a:graphic>
          <a:graphicData uri="http://schemas.openxmlformats.org/drawingml/2006/chart">
            <c:chart xmlns:c="http://schemas.openxmlformats.org/drawingml/2006/chart" xmlns:r="http://schemas.openxmlformats.org/officeDocument/2006/relationships" r:id="rId7"/>
          </a:graphicData>
        </a:graphic>
      </p:graphicFrame>
      <p:sp>
        <p:nvSpPr>
          <p:cNvPr id="25" name="Content Placeholder 2">
            <a:extLst>
              <a:ext uri="{FF2B5EF4-FFF2-40B4-BE49-F238E27FC236}">
                <a16:creationId xmlns:a16="http://schemas.microsoft.com/office/drawing/2014/main" id="{55C8F937-25DC-5811-B850-8E7446387189}"/>
              </a:ext>
            </a:extLst>
          </p:cNvPr>
          <p:cNvSpPr txBox="1">
            <a:spLocks/>
          </p:cNvSpPr>
          <p:nvPr/>
        </p:nvSpPr>
        <p:spPr>
          <a:xfrm>
            <a:off x="7205077" y="1903816"/>
            <a:ext cx="1139606" cy="346249"/>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945"/>
              </a:lnSpc>
              <a:spcBef>
                <a:spcPts val="0"/>
              </a:spcBef>
              <a:buNone/>
            </a:pPr>
            <a:r>
              <a:rPr lang="en-US" sz="1000" dirty="0">
                <a:solidFill>
                  <a:srgbClr val="00B0F0"/>
                </a:solidFill>
                <a:latin typeface="Century Gothic" panose="020B0502020202020204" pitchFamily="34" charset="0"/>
              </a:rPr>
              <a:t>Time in subscribing</a:t>
            </a:r>
            <a:br>
              <a:rPr lang="en-US" sz="1000" dirty="0">
                <a:solidFill>
                  <a:srgbClr val="00B0F0"/>
                </a:solidFill>
                <a:latin typeface="Century Gothic" panose="020B0502020202020204" pitchFamily="34" charset="0"/>
              </a:rPr>
            </a:br>
            <a:r>
              <a:rPr lang="en-US" sz="1000" dirty="0">
                <a:solidFill>
                  <a:srgbClr val="00B0F0"/>
                </a:solidFill>
                <a:latin typeface="Century Gothic" panose="020B0502020202020204" pitchFamily="34" charset="0"/>
              </a:rPr>
              <a:t>per daily user</a:t>
            </a:r>
          </a:p>
        </p:txBody>
      </p:sp>
      <p:sp>
        <p:nvSpPr>
          <p:cNvPr id="26" name="Content Placeholder 2">
            <a:extLst>
              <a:ext uri="{FF2B5EF4-FFF2-40B4-BE49-F238E27FC236}">
                <a16:creationId xmlns:a16="http://schemas.microsoft.com/office/drawing/2014/main" id="{D6DF2B38-A4AA-26B0-C412-DFE8E2EF1365}"/>
              </a:ext>
            </a:extLst>
          </p:cNvPr>
          <p:cNvSpPr txBox="1">
            <a:spLocks/>
          </p:cNvSpPr>
          <p:nvPr/>
        </p:nvSpPr>
        <p:spPr>
          <a:xfrm>
            <a:off x="8288669" y="1929425"/>
            <a:ext cx="381351" cy="184666"/>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pPr>
            <a:r>
              <a:rPr lang="en-US" sz="1200" dirty="0">
                <a:solidFill>
                  <a:srgbClr val="00B0F0"/>
                </a:solidFill>
                <a:latin typeface="Century Gothic" panose="020B0502020202020204" pitchFamily="34" charset="0"/>
              </a:rPr>
              <a:t>24%</a:t>
            </a:r>
          </a:p>
        </p:txBody>
      </p:sp>
      <p:sp>
        <p:nvSpPr>
          <p:cNvPr id="27" name="Rounded Rectangle">
            <a:extLst>
              <a:ext uri="{FF2B5EF4-FFF2-40B4-BE49-F238E27FC236}">
                <a16:creationId xmlns:a16="http://schemas.microsoft.com/office/drawing/2014/main" id="{F727DCA5-C5B8-1111-4326-DBAFB1E9CA9A}"/>
              </a:ext>
            </a:extLst>
          </p:cNvPr>
          <p:cNvSpPr/>
          <p:nvPr/>
        </p:nvSpPr>
        <p:spPr>
          <a:xfrm>
            <a:off x="6927690" y="2786154"/>
            <a:ext cx="1907261" cy="771525"/>
          </a:xfrm>
          <a:prstGeom prst="roundRect">
            <a:avLst>
              <a:gd name="adj" fmla="val 12205"/>
            </a:avLst>
          </a:prstGeom>
          <a:ln w="25400">
            <a:solidFill>
              <a:schemeClr val="bg1">
                <a:lumMod val="65000"/>
              </a:schemeClr>
            </a:solidFill>
            <a:miter lim="400000"/>
          </a:ln>
          <a:effectLst/>
        </p:spPr>
        <p:txBody>
          <a:bodyPr lIns="0" tIns="0" rIns="0" bIns="0" anchor="ctr"/>
          <a:lstStyle/>
          <a:p>
            <a:pPr>
              <a:defRPr sz="3200" b="0">
                <a:solidFill>
                  <a:srgbClr val="FFFFFF"/>
                </a:solidFill>
                <a:latin typeface="+mn-lt"/>
                <a:ea typeface="+mn-ea"/>
                <a:cs typeface="+mn-cs"/>
                <a:sym typeface="Helvetica Neue Medium"/>
              </a:defRPr>
            </a:pPr>
            <a:endParaRPr lang="en-US" sz="675" dirty="0">
              <a:solidFill>
                <a:srgbClr val="00B0F0"/>
              </a:solidFill>
              <a:latin typeface="Century Gothic" panose="020B0502020202020204" pitchFamily="34" charset="0"/>
              <a:ea typeface="Helvetica Neue Medium"/>
              <a:cs typeface="Helvetica Neue Medium"/>
              <a:sym typeface="Helvetica Neue Medium"/>
            </a:endParaRPr>
          </a:p>
        </p:txBody>
      </p:sp>
      <p:graphicFrame>
        <p:nvGraphicFramePr>
          <p:cNvPr id="28" name="Chart 141">
            <a:extLst>
              <a:ext uri="{FF2B5EF4-FFF2-40B4-BE49-F238E27FC236}">
                <a16:creationId xmlns:a16="http://schemas.microsoft.com/office/drawing/2014/main" id="{6023768E-BF60-8C09-B5D2-D3897115BE65}"/>
              </a:ext>
            </a:extLst>
          </p:cNvPr>
          <p:cNvGraphicFramePr/>
          <p:nvPr>
            <p:extLst>
              <p:ext uri="{D42A27DB-BD31-4B8C-83A1-F6EECF244321}">
                <p14:modId xmlns:p14="http://schemas.microsoft.com/office/powerpoint/2010/main" val="2236686455"/>
              </p:ext>
            </p:extLst>
          </p:nvPr>
        </p:nvGraphicFramePr>
        <p:xfrm>
          <a:off x="6780363" y="3010527"/>
          <a:ext cx="2153962" cy="692162"/>
        </p:xfrm>
        <a:graphic>
          <a:graphicData uri="http://schemas.openxmlformats.org/drawingml/2006/chart">
            <c:chart xmlns:c="http://schemas.openxmlformats.org/drawingml/2006/chart" xmlns:r="http://schemas.openxmlformats.org/officeDocument/2006/relationships" r:id="rId8"/>
          </a:graphicData>
        </a:graphic>
      </p:graphicFrame>
      <p:sp>
        <p:nvSpPr>
          <p:cNvPr id="29" name="Content Placeholder 2">
            <a:extLst>
              <a:ext uri="{FF2B5EF4-FFF2-40B4-BE49-F238E27FC236}">
                <a16:creationId xmlns:a16="http://schemas.microsoft.com/office/drawing/2014/main" id="{99695A6D-4F91-9066-311A-08D27983425D}"/>
              </a:ext>
            </a:extLst>
          </p:cNvPr>
          <p:cNvSpPr txBox="1">
            <a:spLocks/>
          </p:cNvSpPr>
          <p:nvPr/>
        </p:nvSpPr>
        <p:spPr>
          <a:xfrm>
            <a:off x="7236070" y="2917626"/>
            <a:ext cx="969934" cy="346249"/>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945"/>
              </a:lnSpc>
              <a:spcBef>
                <a:spcPts val="0"/>
              </a:spcBef>
              <a:buNone/>
            </a:pPr>
            <a:r>
              <a:rPr lang="en-US" sz="1000" dirty="0">
                <a:solidFill>
                  <a:srgbClr val="00B0F0"/>
                </a:solidFill>
                <a:latin typeface="Century Gothic" panose="020B0502020202020204" pitchFamily="34" charset="0"/>
              </a:rPr>
              <a:t>Sign In occurrences per daily user</a:t>
            </a:r>
          </a:p>
        </p:txBody>
      </p:sp>
      <p:sp>
        <p:nvSpPr>
          <p:cNvPr id="30" name="Content Placeholder 2">
            <a:extLst>
              <a:ext uri="{FF2B5EF4-FFF2-40B4-BE49-F238E27FC236}">
                <a16:creationId xmlns:a16="http://schemas.microsoft.com/office/drawing/2014/main" id="{B5A72318-3148-2416-3FBE-6E5457A3210B}"/>
              </a:ext>
            </a:extLst>
          </p:cNvPr>
          <p:cNvSpPr txBox="1">
            <a:spLocks/>
          </p:cNvSpPr>
          <p:nvPr/>
        </p:nvSpPr>
        <p:spPr>
          <a:xfrm>
            <a:off x="8270113" y="2943235"/>
            <a:ext cx="399907" cy="184666"/>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pPr>
            <a:r>
              <a:rPr lang="en-US" sz="1200" dirty="0">
                <a:solidFill>
                  <a:srgbClr val="00B0F0"/>
                </a:solidFill>
                <a:latin typeface="Century Gothic" panose="020B0502020202020204" pitchFamily="34" charset="0"/>
              </a:rPr>
              <a:t>32%</a:t>
            </a:r>
          </a:p>
        </p:txBody>
      </p:sp>
      <p:sp>
        <p:nvSpPr>
          <p:cNvPr id="31" name="Rounded Rectangle">
            <a:extLst>
              <a:ext uri="{FF2B5EF4-FFF2-40B4-BE49-F238E27FC236}">
                <a16:creationId xmlns:a16="http://schemas.microsoft.com/office/drawing/2014/main" id="{6C10C3AD-BC40-7A44-8894-FB35D011FB11}"/>
              </a:ext>
            </a:extLst>
          </p:cNvPr>
          <p:cNvSpPr/>
          <p:nvPr/>
        </p:nvSpPr>
        <p:spPr>
          <a:xfrm>
            <a:off x="6927690" y="3795590"/>
            <a:ext cx="1907261" cy="771525"/>
          </a:xfrm>
          <a:prstGeom prst="roundRect">
            <a:avLst>
              <a:gd name="adj" fmla="val 12205"/>
            </a:avLst>
          </a:prstGeom>
          <a:ln w="25400">
            <a:solidFill>
              <a:schemeClr val="bg1">
                <a:lumMod val="65000"/>
              </a:schemeClr>
            </a:solidFill>
            <a:miter lim="400000"/>
          </a:ln>
          <a:effectLst/>
        </p:spPr>
        <p:txBody>
          <a:bodyPr lIns="0" tIns="0" rIns="0" bIns="0" anchor="ctr"/>
          <a:lstStyle/>
          <a:p>
            <a:pPr>
              <a:defRPr sz="3200" b="0">
                <a:solidFill>
                  <a:srgbClr val="FFFFFF"/>
                </a:solidFill>
                <a:latin typeface="+mn-lt"/>
                <a:ea typeface="+mn-ea"/>
                <a:cs typeface="+mn-cs"/>
                <a:sym typeface="Helvetica Neue Medium"/>
              </a:defRPr>
            </a:pPr>
            <a:endParaRPr lang="en-US" sz="675" dirty="0">
              <a:solidFill>
                <a:srgbClr val="00B0F0"/>
              </a:solidFill>
              <a:latin typeface="Century Gothic" panose="020B0502020202020204" pitchFamily="34" charset="0"/>
              <a:ea typeface="Helvetica Neue Medium"/>
              <a:cs typeface="Helvetica Neue Medium"/>
              <a:sym typeface="Helvetica Neue Medium"/>
            </a:endParaRPr>
          </a:p>
        </p:txBody>
      </p:sp>
      <p:graphicFrame>
        <p:nvGraphicFramePr>
          <p:cNvPr id="32" name="Chart 145">
            <a:extLst>
              <a:ext uri="{FF2B5EF4-FFF2-40B4-BE49-F238E27FC236}">
                <a16:creationId xmlns:a16="http://schemas.microsoft.com/office/drawing/2014/main" id="{F2565A19-1C8A-EDB2-9051-5D5328DABB99}"/>
              </a:ext>
            </a:extLst>
          </p:cNvPr>
          <p:cNvGraphicFramePr/>
          <p:nvPr>
            <p:extLst>
              <p:ext uri="{D42A27DB-BD31-4B8C-83A1-F6EECF244321}">
                <p14:modId xmlns:p14="http://schemas.microsoft.com/office/powerpoint/2010/main" val="2278831041"/>
              </p:ext>
            </p:extLst>
          </p:nvPr>
        </p:nvGraphicFramePr>
        <p:xfrm>
          <a:off x="7173823" y="4019964"/>
          <a:ext cx="1760501" cy="692162"/>
        </p:xfrm>
        <a:graphic>
          <a:graphicData uri="http://schemas.openxmlformats.org/drawingml/2006/chart">
            <c:chart xmlns:c="http://schemas.openxmlformats.org/drawingml/2006/chart" xmlns:r="http://schemas.openxmlformats.org/officeDocument/2006/relationships" r:id="rId9"/>
          </a:graphicData>
        </a:graphic>
      </p:graphicFrame>
      <p:sp>
        <p:nvSpPr>
          <p:cNvPr id="33" name="Content Placeholder 2">
            <a:extLst>
              <a:ext uri="{FF2B5EF4-FFF2-40B4-BE49-F238E27FC236}">
                <a16:creationId xmlns:a16="http://schemas.microsoft.com/office/drawing/2014/main" id="{FF896987-36E2-F0DA-9AD1-B1605B73D720}"/>
              </a:ext>
            </a:extLst>
          </p:cNvPr>
          <p:cNvSpPr txBox="1">
            <a:spLocks/>
          </p:cNvSpPr>
          <p:nvPr/>
        </p:nvSpPr>
        <p:spPr>
          <a:xfrm>
            <a:off x="7205415" y="3927063"/>
            <a:ext cx="1137749" cy="346249"/>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945"/>
              </a:lnSpc>
              <a:spcBef>
                <a:spcPts val="0"/>
              </a:spcBef>
              <a:buNone/>
            </a:pPr>
            <a:r>
              <a:rPr lang="en-US" sz="1000" dirty="0">
                <a:solidFill>
                  <a:srgbClr val="00B0F0"/>
                </a:solidFill>
                <a:latin typeface="Century Gothic" panose="020B0502020202020204" pitchFamily="34" charset="0"/>
              </a:rPr>
              <a:t>Subscribed occurrences per daily user</a:t>
            </a:r>
          </a:p>
        </p:txBody>
      </p:sp>
      <p:sp>
        <p:nvSpPr>
          <p:cNvPr id="34" name="Content Placeholder 2">
            <a:extLst>
              <a:ext uri="{FF2B5EF4-FFF2-40B4-BE49-F238E27FC236}">
                <a16:creationId xmlns:a16="http://schemas.microsoft.com/office/drawing/2014/main" id="{322E88E5-4FB9-A0F7-AC73-1E1FA31F61F0}"/>
              </a:ext>
            </a:extLst>
          </p:cNvPr>
          <p:cNvSpPr txBox="1">
            <a:spLocks/>
          </p:cNvSpPr>
          <p:nvPr/>
        </p:nvSpPr>
        <p:spPr>
          <a:xfrm>
            <a:off x="8191763" y="3952671"/>
            <a:ext cx="478257" cy="184666"/>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spcBef>
                <a:spcPts val="0"/>
              </a:spcBef>
              <a:buNone/>
            </a:pPr>
            <a:r>
              <a:rPr lang="en-US" sz="1200" dirty="0">
                <a:solidFill>
                  <a:srgbClr val="00B0F0"/>
                </a:solidFill>
                <a:latin typeface="Century Gothic" panose="020B0502020202020204" pitchFamily="34" charset="0"/>
              </a:rPr>
              <a:t>9%</a:t>
            </a:r>
          </a:p>
        </p:txBody>
      </p:sp>
      <p:graphicFrame>
        <p:nvGraphicFramePr>
          <p:cNvPr id="35" name="Chart 148">
            <a:extLst>
              <a:ext uri="{FF2B5EF4-FFF2-40B4-BE49-F238E27FC236}">
                <a16:creationId xmlns:a16="http://schemas.microsoft.com/office/drawing/2014/main" id="{4C92BC98-4F00-D7B4-4980-E13E8F1F305F}"/>
              </a:ext>
            </a:extLst>
          </p:cNvPr>
          <p:cNvGraphicFramePr/>
          <p:nvPr>
            <p:extLst>
              <p:ext uri="{D42A27DB-BD31-4B8C-83A1-F6EECF244321}">
                <p14:modId xmlns:p14="http://schemas.microsoft.com/office/powerpoint/2010/main" val="1246106580"/>
              </p:ext>
            </p:extLst>
          </p:nvPr>
        </p:nvGraphicFramePr>
        <p:xfrm>
          <a:off x="2347330" y="757181"/>
          <a:ext cx="4314192" cy="3608864"/>
        </p:xfrm>
        <a:graphic>
          <a:graphicData uri="http://schemas.openxmlformats.org/drawingml/2006/chart">
            <c:chart xmlns:c="http://schemas.openxmlformats.org/drawingml/2006/chart" xmlns:r="http://schemas.openxmlformats.org/officeDocument/2006/relationships" r:id="rId10"/>
          </a:graphicData>
        </a:graphic>
      </p:graphicFrame>
      <p:sp>
        <p:nvSpPr>
          <p:cNvPr id="36" name="Content Placeholder 2">
            <a:extLst>
              <a:ext uri="{FF2B5EF4-FFF2-40B4-BE49-F238E27FC236}">
                <a16:creationId xmlns:a16="http://schemas.microsoft.com/office/drawing/2014/main" id="{0E2CAB42-EC76-180C-D333-0A46E13F991A}"/>
              </a:ext>
            </a:extLst>
          </p:cNvPr>
          <p:cNvSpPr txBox="1">
            <a:spLocks/>
          </p:cNvSpPr>
          <p:nvPr/>
        </p:nvSpPr>
        <p:spPr>
          <a:xfrm>
            <a:off x="3934622" y="3719960"/>
            <a:ext cx="2190131" cy="151260"/>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1600" dirty="0">
                <a:solidFill>
                  <a:srgbClr val="00B0F0"/>
                </a:solidFill>
                <a:latin typeface="Century Gothic" panose="020B0502020202020204" pitchFamily="34" charset="0"/>
              </a:rPr>
              <a:t>Daily Active Users</a:t>
            </a:r>
          </a:p>
        </p:txBody>
      </p:sp>
    </p:spTree>
    <p:extLst>
      <p:ext uri="{BB962C8B-B14F-4D97-AF65-F5344CB8AC3E}">
        <p14:creationId xmlns:p14="http://schemas.microsoft.com/office/powerpoint/2010/main" val="188795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with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1000"/>
                                        <p:tgtEl>
                                          <p:spTgt spid="36"/>
                                        </p:tgtEl>
                                        <p:attrNameLst>
                                          <p:attrName>ppt_y</p:attrName>
                                        </p:attrNameLst>
                                      </p:cBhvr>
                                      <p:tavLst>
                                        <p:tav tm="0">
                                          <p:val>
                                            <p:strVal val="#ppt_y-#ppt_h*1.125000"/>
                                          </p:val>
                                        </p:tav>
                                        <p:tav tm="100000">
                                          <p:val>
                                            <p:strVal val="#ppt_y"/>
                                          </p:val>
                                        </p:tav>
                                      </p:tavLst>
                                    </p:anim>
                                    <p:animEffect transition="in" filter="wipe(down)">
                                      <p:cBhvr>
                                        <p:cTn id="8" dur="1000"/>
                                        <p:tgtEl>
                                          <p:spTgt spid="36"/>
                                        </p:tgtEl>
                                      </p:cBhvr>
                                    </p:animEffect>
                                  </p:childTnLst>
                                </p:cTn>
                              </p:par>
                              <p:par>
                                <p:cTn id="9" presetID="22" presetClass="entr" presetSubtype="4" fill="hold" grpId="0" nodeType="withEffect">
                                  <p:stCondLst>
                                    <p:cond delay="0"/>
                                  </p:stCondLst>
                                  <p:childTnLst>
                                    <p:set>
                                      <p:cBhvr>
                                        <p:cTn id="10" dur="1" fill="hold">
                                          <p:stCondLst>
                                            <p:cond delay="0"/>
                                          </p:stCondLst>
                                        </p:cTn>
                                        <p:tgtEl>
                                          <p:spTgt spid="35">
                                            <p:graphicEl>
                                              <a:chart seriesIdx="-3" categoryIdx="-3" bldStep="gridLegend"/>
                                            </p:graphicEl>
                                          </p:spTgt>
                                        </p:tgtEl>
                                        <p:attrNameLst>
                                          <p:attrName>style.visibility</p:attrName>
                                        </p:attrNameLst>
                                      </p:cBhvr>
                                      <p:to>
                                        <p:strVal val="visible"/>
                                      </p:to>
                                    </p:set>
                                    <p:animEffect transition="in" filter="wipe(down)">
                                      <p:cBhvr>
                                        <p:cTn id="11" dur="1000"/>
                                        <p:tgtEl>
                                          <p:spTgt spid="35">
                                            <p:graphicEl>
                                              <a:chart seriesIdx="-3" categoryIdx="-3" bldStep="gridLegend"/>
                                            </p:graphicEl>
                                          </p:spTgt>
                                        </p:tgtEl>
                                      </p:cBhvr>
                                    </p:animEffect>
                                  </p:childTnLst>
                                </p:cTn>
                              </p:par>
                              <p:par>
                                <p:cTn id="12" presetID="22" presetClass="entr" presetSubtype="8" fill="hold" grpId="0" nodeType="withEffect">
                                  <p:stCondLst>
                                    <p:cond delay="500"/>
                                  </p:stCondLst>
                                  <p:childTnLst>
                                    <p:set>
                                      <p:cBhvr>
                                        <p:cTn id="13" dur="1" fill="hold">
                                          <p:stCondLst>
                                            <p:cond delay="0"/>
                                          </p:stCondLst>
                                        </p:cTn>
                                        <p:tgtEl>
                                          <p:spTgt spid="35">
                                            <p:graphicEl>
                                              <a:chart seriesIdx="0" categoryIdx="-4" bldStep="series"/>
                                            </p:graphicEl>
                                          </p:spTgt>
                                        </p:tgtEl>
                                        <p:attrNameLst>
                                          <p:attrName>style.visibility</p:attrName>
                                        </p:attrNameLst>
                                      </p:cBhvr>
                                      <p:to>
                                        <p:strVal val="visible"/>
                                      </p:to>
                                    </p:set>
                                    <p:animEffect transition="in" filter="wipe(left)">
                                      <p:cBhvr>
                                        <p:cTn id="14" dur="1500"/>
                                        <p:tgtEl>
                                          <p:spTgt spid="35">
                                            <p:graphicEl>
                                              <a:chart seriesIdx="0" categoryIdx="-4" bldStep="series"/>
                                            </p:graphicEl>
                                          </p:spTgt>
                                        </p:tgtEl>
                                      </p:cBhvr>
                                    </p:animEffect>
                                  </p:childTnLst>
                                </p:cTn>
                              </p:par>
                              <p:par>
                                <p:cTn id="15" presetID="22" presetClass="entr" presetSubtype="8" fill="hold" grpId="0" nodeType="withEffect">
                                  <p:stCondLst>
                                    <p:cond delay="1000"/>
                                  </p:stCondLst>
                                  <p:childTnLst>
                                    <p:set>
                                      <p:cBhvr>
                                        <p:cTn id="16" dur="1" fill="hold">
                                          <p:stCondLst>
                                            <p:cond delay="0"/>
                                          </p:stCondLst>
                                        </p:cTn>
                                        <p:tgtEl>
                                          <p:spTgt spid="35">
                                            <p:graphicEl>
                                              <a:chart seriesIdx="1" categoryIdx="-4" bldStep="series"/>
                                            </p:graphicEl>
                                          </p:spTgt>
                                        </p:tgtEl>
                                        <p:attrNameLst>
                                          <p:attrName>style.visibility</p:attrName>
                                        </p:attrNameLst>
                                      </p:cBhvr>
                                      <p:to>
                                        <p:strVal val="visible"/>
                                      </p:to>
                                    </p:set>
                                    <p:animEffect transition="in" filter="wipe(left)">
                                      <p:cBhvr>
                                        <p:cTn id="17" dur="1500"/>
                                        <p:tgtEl>
                                          <p:spTgt spid="35">
                                            <p:graphicEl>
                                              <a:chart seriesIdx="1" categoryIdx="-4" bldStep="series"/>
                                            </p:graphicEl>
                                          </p:spTgt>
                                        </p:tgtEl>
                                      </p:cBhvr>
                                    </p:animEffect>
                                  </p:childTnLst>
                                </p:cTn>
                              </p:par>
                            </p:childTnLst>
                          </p:cTn>
                        </p:par>
                        <p:par>
                          <p:cTn id="18" fill="hold">
                            <p:stCondLst>
                              <p:cond delay="2500"/>
                            </p:stCondLst>
                            <p:childTnLst>
                              <p:par>
                                <p:cTn id="19" presetID="10" presetClass="entr" presetSubtype="0" fill="hold" grpId="0" nodeType="after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1000"/>
                                        <p:tgtEl>
                                          <p:spTgt spid="15"/>
                                        </p:tgtEl>
                                      </p:cBhvr>
                                    </p:animEffect>
                                  </p:childTnLst>
                                </p:cTn>
                              </p:par>
                              <p:par>
                                <p:cTn id="31" presetID="0" presetClass="path" presetSubtype="0" decel="50000" fill="hold" grpId="1" nodeType="withEffect">
                                  <p:stCondLst>
                                    <p:cond delay="0"/>
                                  </p:stCondLst>
                                  <p:childTnLst>
                                    <p:animMotion origin="layout" path="M -0.00017 0.09414 L -0.00017 -0.0037 " pathEditMode="relative" rAng="0" ptsTypes="AA">
                                      <p:cBhvr>
                                        <p:cTn id="32" dur="1500" fill="hold"/>
                                        <p:tgtEl>
                                          <p:spTgt spid="7"/>
                                        </p:tgtEl>
                                        <p:attrNameLst>
                                          <p:attrName>ppt_x</p:attrName>
                                          <p:attrName>ppt_y</p:attrName>
                                        </p:attrNameLst>
                                      </p:cBhvr>
                                      <p:rCtr x="0" y="-4907"/>
                                    </p:animMotion>
                                  </p:childTnLst>
                                </p:cTn>
                              </p:par>
                              <p:par>
                                <p:cTn id="33" presetID="0" presetClass="path" presetSubtype="0" decel="50000" fill="hold" grpId="1" nodeType="withEffect">
                                  <p:stCondLst>
                                    <p:cond delay="0"/>
                                  </p:stCondLst>
                                  <p:childTnLst>
                                    <p:animMotion origin="layout" path="M -0.00017 -0.10278 L -1.66667E-6 3.33333E-6 " pathEditMode="relative" rAng="0" ptsTypes="AA">
                                      <p:cBhvr>
                                        <p:cTn id="34" dur="1500" fill="hold"/>
                                        <p:tgtEl>
                                          <p:spTgt spid="11"/>
                                        </p:tgtEl>
                                        <p:attrNameLst>
                                          <p:attrName>ppt_x</p:attrName>
                                          <p:attrName>ppt_y</p:attrName>
                                        </p:attrNameLst>
                                      </p:cBhvr>
                                      <p:rCtr x="0" y="5123"/>
                                    </p:animMotion>
                                  </p:childTnLst>
                                </p:cTn>
                              </p:par>
                              <p:par>
                                <p:cTn id="35" presetID="0" presetClass="path" presetSubtype="0" decel="50000" fill="hold" grpId="1" nodeType="withEffect">
                                  <p:stCondLst>
                                    <p:cond delay="0"/>
                                  </p:stCondLst>
                                  <p:childTnLst>
                                    <p:animMotion origin="layout" path="M -0.00017 0.29167 L -1.66667E-6 -2.22222E-6 " pathEditMode="relative" rAng="0" ptsTypes="AA">
                                      <p:cBhvr>
                                        <p:cTn id="36" dur="1500" fill="hold"/>
                                        <p:tgtEl>
                                          <p:spTgt spid="3"/>
                                        </p:tgtEl>
                                        <p:attrNameLst>
                                          <p:attrName>ppt_x</p:attrName>
                                          <p:attrName>ppt_y</p:attrName>
                                        </p:attrNameLst>
                                      </p:cBhvr>
                                      <p:rCtr x="0" y="-14599"/>
                                    </p:animMotion>
                                  </p:childTnLst>
                                </p:cTn>
                              </p:par>
                              <p:par>
                                <p:cTn id="37" presetID="0" presetClass="path" presetSubtype="0" decel="50000" fill="hold" grpId="1" nodeType="withEffect">
                                  <p:stCondLst>
                                    <p:cond delay="0"/>
                                  </p:stCondLst>
                                  <p:childTnLst>
                                    <p:animMotion origin="layout" path="M -0.00156 -0.29907 L -1.66667E-6 -2.96296E-6 " pathEditMode="relative" rAng="0" ptsTypes="AA">
                                      <p:cBhvr>
                                        <p:cTn id="38" dur="1500" fill="hold"/>
                                        <p:tgtEl>
                                          <p:spTgt spid="15"/>
                                        </p:tgtEl>
                                        <p:attrNameLst>
                                          <p:attrName>ppt_x</p:attrName>
                                          <p:attrName>ppt_y</p:attrName>
                                        </p:attrNameLst>
                                      </p:cBhvr>
                                      <p:rCtr x="69" y="14938"/>
                                    </p:animMotion>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10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1000"/>
                                        <p:tgtEl>
                                          <p:spTgt spid="2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10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fade">
                                      <p:cBhvr>
                                        <p:cTn id="50" dur="1000"/>
                                        <p:tgtEl>
                                          <p:spTgt spid="31"/>
                                        </p:tgtEl>
                                      </p:cBhvr>
                                    </p:animEffect>
                                  </p:childTnLst>
                                </p:cTn>
                              </p:par>
                              <p:par>
                                <p:cTn id="51" presetID="0" presetClass="path" presetSubtype="0" decel="50000" fill="hold" grpId="1" nodeType="withEffect">
                                  <p:stCondLst>
                                    <p:cond delay="0"/>
                                  </p:stCondLst>
                                  <p:childTnLst>
                                    <p:animMotion origin="layout" path="M -0.00157 0.09414 L -0.00174 -0.0037 " pathEditMode="relative" rAng="0" ptsTypes="AA">
                                      <p:cBhvr>
                                        <p:cTn id="52" dur="1500" fill="hold"/>
                                        <p:tgtEl>
                                          <p:spTgt spid="23"/>
                                        </p:tgtEl>
                                        <p:attrNameLst>
                                          <p:attrName>ppt_x</p:attrName>
                                          <p:attrName>ppt_y</p:attrName>
                                        </p:attrNameLst>
                                      </p:cBhvr>
                                      <p:rCtr x="-17" y="-4907"/>
                                    </p:animMotion>
                                  </p:childTnLst>
                                </p:cTn>
                              </p:par>
                              <p:par>
                                <p:cTn id="53" presetID="0" presetClass="path" presetSubtype="0" decel="50000" fill="hold" grpId="1" nodeType="withEffect">
                                  <p:stCondLst>
                                    <p:cond delay="0"/>
                                  </p:stCondLst>
                                  <p:childTnLst>
                                    <p:animMotion origin="layout" path="M -0.00174 -0.10278 L -0.00174 -0.0034 " pathEditMode="relative" rAng="0" ptsTypes="AA">
                                      <p:cBhvr>
                                        <p:cTn id="54" dur="1500" fill="hold"/>
                                        <p:tgtEl>
                                          <p:spTgt spid="27"/>
                                        </p:tgtEl>
                                        <p:attrNameLst>
                                          <p:attrName>ppt_x</p:attrName>
                                          <p:attrName>ppt_y</p:attrName>
                                        </p:attrNameLst>
                                      </p:cBhvr>
                                      <p:rCtr x="0" y="4969"/>
                                    </p:animMotion>
                                  </p:childTnLst>
                                </p:cTn>
                              </p:par>
                              <p:par>
                                <p:cTn id="55" presetID="0" presetClass="path" presetSubtype="0" decel="50000" fill="hold" grpId="1" nodeType="withEffect">
                                  <p:stCondLst>
                                    <p:cond delay="0"/>
                                  </p:stCondLst>
                                  <p:childTnLst>
                                    <p:animMotion origin="layout" path="M -0.00157 0.29722 L -0.00157 -0.00339 " pathEditMode="relative" rAng="0" ptsTypes="AA">
                                      <p:cBhvr>
                                        <p:cTn id="56" dur="1500" fill="hold"/>
                                        <p:tgtEl>
                                          <p:spTgt spid="19"/>
                                        </p:tgtEl>
                                        <p:attrNameLst>
                                          <p:attrName>ppt_x</p:attrName>
                                          <p:attrName>ppt_y</p:attrName>
                                        </p:attrNameLst>
                                      </p:cBhvr>
                                      <p:rCtr x="0" y="-15031"/>
                                    </p:animMotion>
                                  </p:childTnLst>
                                </p:cTn>
                              </p:par>
                              <p:par>
                                <p:cTn id="57" presetID="0" presetClass="path" presetSubtype="0" decel="50000" fill="hold" grpId="1" nodeType="withEffect">
                                  <p:stCondLst>
                                    <p:cond delay="0"/>
                                  </p:stCondLst>
                                  <p:childTnLst>
                                    <p:animMotion origin="layout" path="M -0.00174 -0.2929 L 4.44444E-6 -2.96296E-6 " pathEditMode="relative" rAng="0" ptsTypes="AA">
                                      <p:cBhvr>
                                        <p:cTn id="58" dur="1500" fill="hold"/>
                                        <p:tgtEl>
                                          <p:spTgt spid="31"/>
                                        </p:tgtEl>
                                        <p:attrNameLst>
                                          <p:attrName>ppt_x</p:attrName>
                                          <p:attrName>ppt_y</p:attrName>
                                        </p:attrNameLst>
                                      </p:cBhvr>
                                      <p:rCtr x="87" y="14630"/>
                                    </p:animMotion>
                                  </p:childTnLst>
                                </p:cTn>
                              </p:par>
                              <p:par>
                                <p:cTn id="59" presetID="12" presetClass="entr" presetSubtype="1" fill="hold" grpId="0" nodeType="withEffect">
                                  <p:stCondLst>
                                    <p:cond delay="1000"/>
                                  </p:stCondLst>
                                  <p:childTnLst>
                                    <p:set>
                                      <p:cBhvr>
                                        <p:cTn id="60" dur="1" fill="hold">
                                          <p:stCondLst>
                                            <p:cond delay="0"/>
                                          </p:stCondLst>
                                        </p:cTn>
                                        <p:tgtEl>
                                          <p:spTgt spid="5"/>
                                        </p:tgtEl>
                                        <p:attrNameLst>
                                          <p:attrName>style.visibility</p:attrName>
                                        </p:attrNameLst>
                                      </p:cBhvr>
                                      <p:to>
                                        <p:strVal val="visible"/>
                                      </p:to>
                                    </p:set>
                                    <p:anim calcmode="lin" valueType="num">
                                      <p:cBhvr additive="base">
                                        <p:cTn id="61" dur="500"/>
                                        <p:tgtEl>
                                          <p:spTgt spid="5"/>
                                        </p:tgtEl>
                                        <p:attrNameLst>
                                          <p:attrName>ppt_y</p:attrName>
                                        </p:attrNameLst>
                                      </p:cBhvr>
                                      <p:tavLst>
                                        <p:tav tm="0">
                                          <p:val>
                                            <p:strVal val="#ppt_y-#ppt_h*1.125000"/>
                                          </p:val>
                                        </p:tav>
                                        <p:tav tm="100000">
                                          <p:val>
                                            <p:strVal val="#ppt_y"/>
                                          </p:val>
                                        </p:tav>
                                      </p:tavLst>
                                    </p:anim>
                                    <p:animEffect transition="in" filter="wipe(down)">
                                      <p:cBhvr>
                                        <p:cTn id="62" dur="500"/>
                                        <p:tgtEl>
                                          <p:spTgt spid="5"/>
                                        </p:tgtEl>
                                      </p:cBhvr>
                                    </p:animEffect>
                                  </p:childTnLst>
                                </p:cTn>
                              </p:par>
                              <p:par>
                                <p:cTn id="63" presetID="12" presetClass="entr" presetSubtype="1" fill="hold" grpId="0" nodeType="withEffect">
                                  <p:stCondLst>
                                    <p:cond delay="1000"/>
                                  </p:stCondLst>
                                  <p:childTnLst>
                                    <p:set>
                                      <p:cBhvr>
                                        <p:cTn id="64" dur="1" fill="hold">
                                          <p:stCondLst>
                                            <p:cond delay="0"/>
                                          </p:stCondLst>
                                        </p:cTn>
                                        <p:tgtEl>
                                          <p:spTgt spid="9"/>
                                        </p:tgtEl>
                                        <p:attrNameLst>
                                          <p:attrName>style.visibility</p:attrName>
                                        </p:attrNameLst>
                                      </p:cBhvr>
                                      <p:to>
                                        <p:strVal val="visible"/>
                                      </p:to>
                                    </p:set>
                                    <p:anim calcmode="lin" valueType="num">
                                      <p:cBhvr additive="base">
                                        <p:cTn id="65" dur="500"/>
                                        <p:tgtEl>
                                          <p:spTgt spid="9"/>
                                        </p:tgtEl>
                                        <p:attrNameLst>
                                          <p:attrName>ppt_y</p:attrName>
                                        </p:attrNameLst>
                                      </p:cBhvr>
                                      <p:tavLst>
                                        <p:tav tm="0">
                                          <p:val>
                                            <p:strVal val="#ppt_y-#ppt_h*1.125000"/>
                                          </p:val>
                                        </p:tav>
                                        <p:tav tm="100000">
                                          <p:val>
                                            <p:strVal val="#ppt_y"/>
                                          </p:val>
                                        </p:tav>
                                      </p:tavLst>
                                    </p:anim>
                                    <p:animEffect transition="in" filter="wipe(down)">
                                      <p:cBhvr>
                                        <p:cTn id="66" dur="500"/>
                                        <p:tgtEl>
                                          <p:spTgt spid="9"/>
                                        </p:tgtEl>
                                      </p:cBhvr>
                                    </p:animEffect>
                                  </p:childTnLst>
                                </p:cTn>
                              </p:par>
                              <p:par>
                                <p:cTn id="67" presetID="12" presetClass="entr" presetSubtype="1" fill="hold" grpId="0" nodeType="withEffect">
                                  <p:stCondLst>
                                    <p:cond delay="1000"/>
                                  </p:stCondLst>
                                  <p:childTnLst>
                                    <p:set>
                                      <p:cBhvr>
                                        <p:cTn id="68" dur="1" fill="hold">
                                          <p:stCondLst>
                                            <p:cond delay="0"/>
                                          </p:stCondLst>
                                        </p:cTn>
                                        <p:tgtEl>
                                          <p:spTgt spid="13"/>
                                        </p:tgtEl>
                                        <p:attrNameLst>
                                          <p:attrName>style.visibility</p:attrName>
                                        </p:attrNameLst>
                                      </p:cBhvr>
                                      <p:to>
                                        <p:strVal val="visible"/>
                                      </p:to>
                                    </p:set>
                                    <p:anim calcmode="lin" valueType="num">
                                      <p:cBhvr additive="base">
                                        <p:cTn id="69" dur="500"/>
                                        <p:tgtEl>
                                          <p:spTgt spid="13"/>
                                        </p:tgtEl>
                                        <p:attrNameLst>
                                          <p:attrName>ppt_y</p:attrName>
                                        </p:attrNameLst>
                                      </p:cBhvr>
                                      <p:tavLst>
                                        <p:tav tm="0">
                                          <p:val>
                                            <p:strVal val="#ppt_y-#ppt_h*1.125000"/>
                                          </p:val>
                                        </p:tav>
                                        <p:tav tm="100000">
                                          <p:val>
                                            <p:strVal val="#ppt_y"/>
                                          </p:val>
                                        </p:tav>
                                      </p:tavLst>
                                    </p:anim>
                                    <p:animEffect transition="in" filter="wipe(down)">
                                      <p:cBhvr>
                                        <p:cTn id="70" dur="500"/>
                                        <p:tgtEl>
                                          <p:spTgt spid="13"/>
                                        </p:tgtEl>
                                      </p:cBhvr>
                                    </p:animEffect>
                                  </p:childTnLst>
                                </p:cTn>
                              </p:par>
                              <p:par>
                                <p:cTn id="71" presetID="12" presetClass="entr" presetSubtype="1" fill="hold" grpId="0" nodeType="withEffect">
                                  <p:stCondLst>
                                    <p:cond delay="1000"/>
                                  </p:stCondLst>
                                  <p:childTnLst>
                                    <p:set>
                                      <p:cBhvr>
                                        <p:cTn id="72" dur="1" fill="hold">
                                          <p:stCondLst>
                                            <p:cond delay="0"/>
                                          </p:stCondLst>
                                        </p:cTn>
                                        <p:tgtEl>
                                          <p:spTgt spid="17"/>
                                        </p:tgtEl>
                                        <p:attrNameLst>
                                          <p:attrName>style.visibility</p:attrName>
                                        </p:attrNameLst>
                                      </p:cBhvr>
                                      <p:to>
                                        <p:strVal val="visible"/>
                                      </p:to>
                                    </p:set>
                                    <p:anim calcmode="lin" valueType="num">
                                      <p:cBhvr additive="base">
                                        <p:cTn id="73" dur="500"/>
                                        <p:tgtEl>
                                          <p:spTgt spid="17"/>
                                        </p:tgtEl>
                                        <p:attrNameLst>
                                          <p:attrName>ppt_y</p:attrName>
                                        </p:attrNameLst>
                                      </p:cBhvr>
                                      <p:tavLst>
                                        <p:tav tm="0">
                                          <p:val>
                                            <p:strVal val="#ppt_y-#ppt_h*1.125000"/>
                                          </p:val>
                                        </p:tav>
                                        <p:tav tm="100000">
                                          <p:val>
                                            <p:strVal val="#ppt_y"/>
                                          </p:val>
                                        </p:tav>
                                      </p:tavLst>
                                    </p:anim>
                                    <p:animEffect transition="in" filter="wipe(down)">
                                      <p:cBhvr>
                                        <p:cTn id="74" dur="500"/>
                                        <p:tgtEl>
                                          <p:spTgt spid="17"/>
                                        </p:tgtEl>
                                      </p:cBhvr>
                                    </p:animEffect>
                                  </p:childTnLst>
                                </p:cTn>
                              </p:par>
                              <p:par>
                                <p:cTn id="75" presetID="12" presetClass="entr" presetSubtype="1" fill="hold" grpId="0" nodeType="withEffect">
                                  <p:stCondLst>
                                    <p:cond delay="1000"/>
                                  </p:stCondLst>
                                  <p:childTnLst>
                                    <p:set>
                                      <p:cBhvr>
                                        <p:cTn id="76" dur="1" fill="hold">
                                          <p:stCondLst>
                                            <p:cond delay="0"/>
                                          </p:stCondLst>
                                        </p:cTn>
                                        <p:tgtEl>
                                          <p:spTgt spid="21"/>
                                        </p:tgtEl>
                                        <p:attrNameLst>
                                          <p:attrName>style.visibility</p:attrName>
                                        </p:attrNameLst>
                                      </p:cBhvr>
                                      <p:to>
                                        <p:strVal val="visible"/>
                                      </p:to>
                                    </p:set>
                                    <p:anim calcmode="lin" valueType="num">
                                      <p:cBhvr additive="base">
                                        <p:cTn id="77" dur="500"/>
                                        <p:tgtEl>
                                          <p:spTgt spid="21"/>
                                        </p:tgtEl>
                                        <p:attrNameLst>
                                          <p:attrName>ppt_y</p:attrName>
                                        </p:attrNameLst>
                                      </p:cBhvr>
                                      <p:tavLst>
                                        <p:tav tm="0">
                                          <p:val>
                                            <p:strVal val="#ppt_y-#ppt_h*1.125000"/>
                                          </p:val>
                                        </p:tav>
                                        <p:tav tm="100000">
                                          <p:val>
                                            <p:strVal val="#ppt_y"/>
                                          </p:val>
                                        </p:tav>
                                      </p:tavLst>
                                    </p:anim>
                                    <p:animEffect transition="in" filter="wipe(down)">
                                      <p:cBhvr>
                                        <p:cTn id="78" dur="500"/>
                                        <p:tgtEl>
                                          <p:spTgt spid="21"/>
                                        </p:tgtEl>
                                      </p:cBhvr>
                                    </p:animEffect>
                                  </p:childTnLst>
                                </p:cTn>
                              </p:par>
                              <p:par>
                                <p:cTn id="79" presetID="12" presetClass="entr" presetSubtype="1" fill="hold" grpId="0" nodeType="withEffect">
                                  <p:stCondLst>
                                    <p:cond delay="1000"/>
                                  </p:stCondLst>
                                  <p:childTnLst>
                                    <p:set>
                                      <p:cBhvr>
                                        <p:cTn id="80" dur="1" fill="hold">
                                          <p:stCondLst>
                                            <p:cond delay="0"/>
                                          </p:stCondLst>
                                        </p:cTn>
                                        <p:tgtEl>
                                          <p:spTgt spid="25"/>
                                        </p:tgtEl>
                                        <p:attrNameLst>
                                          <p:attrName>style.visibility</p:attrName>
                                        </p:attrNameLst>
                                      </p:cBhvr>
                                      <p:to>
                                        <p:strVal val="visible"/>
                                      </p:to>
                                    </p:set>
                                    <p:anim calcmode="lin" valueType="num">
                                      <p:cBhvr additive="base">
                                        <p:cTn id="81" dur="500"/>
                                        <p:tgtEl>
                                          <p:spTgt spid="25"/>
                                        </p:tgtEl>
                                        <p:attrNameLst>
                                          <p:attrName>ppt_y</p:attrName>
                                        </p:attrNameLst>
                                      </p:cBhvr>
                                      <p:tavLst>
                                        <p:tav tm="0">
                                          <p:val>
                                            <p:strVal val="#ppt_y-#ppt_h*1.125000"/>
                                          </p:val>
                                        </p:tav>
                                        <p:tav tm="100000">
                                          <p:val>
                                            <p:strVal val="#ppt_y"/>
                                          </p:val>
                                        </p:tav>
                                      </p:tavLst>
                                    </p:anim>
                                    <p:animEffect transition="in" filter="wipe(down)">
                                      <p:cBhvr>
                                        <p:cTn id="82" dur="500"/>
                                        <p:tgtEl>
                                          <p:spTgt spid="25"/>
                                        </p:tgtEl>
                                      </p:cBhvr>
                                    </p:animEffect>
                                  </p:childTnLst>
                                </p:cTn>
                              </p:par>
                              <p:par>
                                <p:cTn id="83" presetID="12" presetClass="entr" presetSubtype="1" fill="hold" grpId="0" nodeType="withEffect">
                                  <p:stCondLst>
                                    <p:cond delay="1000"/>
                                  </p:stCondLst>
                                  <p:childTnLst>
                                    <p:set>
                                      <p:cBhvr>
                                        <p:cTn id="84" dur="1" fill="hold">
                                          <p:stCondLst>
                                            <p:cond delay="0"/>
                                          </p:stCondLst>
                                        </p:cTn>
                                        <p:tgtEl>
                                          <p:spTgt spid="29"/>
                                        </p:tgtEl>
                                        <p:attrNameLst>
                                          <p:attrName>style.visibility</p:attrName>
                                        </p:attrNameLst>
                                      </p:cBhvr>
                                      <p:to>
                                        <p:strVal val="visible"/>
                                      </p:to>
                                    </p:set>
                                    <p:anim calcmode="lin" valueType="num">
                                      <p:cBhvr additive="base">
                                        <p:cTn id="85" dur="500"/>
                                        <p:tgtEl>
                                          <p:spTgt spid="29"/>
                                        </p:tgtEl>
                                        <p:attrNameLst>
                                          <p:attrName>ppt_y</p:attrName>
                                        </p:attrNameLst>
                                      </p:cBhvr>
                                      <p:tavLst>
                                        <p:tav tm="0">
                                          <p:val>
                                            <p:strVal val="#ppt_y-#ppt_h*1.125000"/>
                                          </p:val>
                                        </p:tav>
                                        <p:tav tm="100000">
                                          <p:val>
                                            <p:strVal val="#ppt_y"/>
                                          </p:val>
                                        </p:tav>
                                      </p:tavLst>
                                    </p:anim>
                                    <p:animEffect transition="in" filter="wipe(down)">
                                      <p:cBhvr>
                                        <p:cTn id="86" dur="500"/>
                                        <p:tgtEl>
                                          <p:spTgt spid="29"/>
                                        </p:tgtEl>
                                      </p:cBhvr>
                                    </p:animEffect>
                                  </p:childTnLst>
                                </p:cTn>
                              </p:par>
                              <p:par>
                                <p:cTn id="87" presetID="12" presetClass="entr" presetSubtype="1" fill="hold" grpId="0" nodeType="withEffect">
                                  <p:stCondLst>
                                    <p:cond delay="1000"/>
                                  </p:stCondLst>
                                  <p:childTnLst>
                                    <p:set>
                                      <p:cBhvr>
                                        <p:cTn id="88" dur="1" fill="hold">
                                          <p:stCondLst>
                                            <p:cond delay="0"/>
                                          </p:stCondLst>
                                        </p:cTn>
                                        <p:tgtEl>
                                          <p:spTgt spid="33"/>
                                        </p:tgtEl>
                                        <p:attrNameLst>
                                          <p:attrName>style.visibility</p:attrName>
                                        </p:attrNameLst>
                                      </p:cBhvr>
                                      <p:to>
                                        <p:strVal val="visible"/>
                                      </p:to>
                                    </p:set>
                                    <p:anim calcmode="lin" valueType="num">
                                      <p:cBhvr additive="base">
                                        <p:cTn id="89" dur="500"/>
                                        <p:tgtEl>
                                          <p:spTgt spid="33"/>
                                        </p:tgtEl>
                                        <p:attrNameLst>
                                          <p:attrName>ppt_y</p:attrName>
                                        </p:attrNameLst>
                                      </p:cBhvr>
                                      <p:tavLst>
                                        <p:tav tm="0">
                                          <p:val>
                                            <p:strVal val="#ppt_y-#ppt_h*1.125000"/>
                                          </p:val>
                                        </p:tav>
                                        <p:tav tm="100000">
                                          <p:val>
                                            <p:strVal val="#ppt_y"/>
                                          </p:val>
                                        </p:tav>
                                      </p:tavLst>
                                    </p:anim>
                                    <p:animEffect transition="in" filter="wipe(down)">
                                      <p:cBhvr>
                                        <p:cTn id="90" dur="500"/>
                                        <p:tgtEl>
                                          <p:spTgt spid="33"/>
                                        </p:tgtEl>
                                      </p:cBhvr>
                                    </p:animEffect>
                                  </p:childTnLst>
                                </p:cTn>
                              </p:par>
                              <p:par>
                                <p:cTn id="91" presetID="23" presetClass="entr" presetSubtype="16" fill="hold" grpId="0" nodeType="withEffect">
                                  <p:stCondLst>
                                    <p:cond delay="1000"/>
                                  </p:stCondLst>
                                  <p:childTnLst>
                                    <p:set>
                                      <p:cBhvr>
                                        <p:cTn id="92" dur="1" fill="hold">
                                          <p:stCondLst>
                                            <p:cond delay="0"/>
                                          </p:stCondLst>
                                        </p:cTn>
                                        <p:tgtEl>
                                          <p:spTgt spid="6"/>
                                        </p:tgtEl>
                                        <p:attrNameLst>
                                          <p:attrName>style.visibility</p:attrName>
                                        </p:attrNameLst>
                                      </p:cBhvr>
                                      <p:to>
                                        <p:strVal val="visible"/>
                                      </p:to>
                                    </p:set>
                                    <p:anim calcmode="lin" valueType="num">
                                      <p:cBhvr>
                                        <p:cTn id="93" dur="500" fill="hold"/>
                                        <p:tgtEl>
                                          <p:spTgt spid="6"/>
                                        </p:tgtEl>
                                        <p:attrNameLst>
                                          <p:attrName>ppt_w</p:attrName>
                                        </p:attrNameLst>
                                      </p:cBhvr>
                                      <p:tavLst>
                                        <p:tav tm="0">
                                          <p:val>
                                            <p:fltVal val="0"/>
                                          </p:val>
                                        </p:tav>
                                        <p:tav tm="100000">
                                          <p:val>
                                            <p:strVal val="#ppt_w"/>
                                          </p:val>
                                        </p:tav>
                                      </p:tavLst>
                                    </p:anim>
                                    <p:anim calcmode="lin" valueType="num">
                                      <p:cBhvr>
                                        <p:cTn id="94" dur="500" fill="hold"/>
                                        <p:tgtEl>
                                          <p:spTgt spid="6"/>
                                        </p:tgtEl>
                                        <p:attrNameLst>
                                          <p:attrName>ppt_h</p:attrName>
                                        </p:attrNameLst>
                                      </p:cBhvr>
                                      <p:tavLst>
                                        <p:tav tm="0">
                                          <p:val>
                                            <p:fltVal val="0"/>
                                          </p:val>
                                        </p:tav>
                                        <p:tav tm="100000">
                                          <p:val>
                                            <p:strVal val="#ppt_h"/>
                                          </p:val>
                                        </p:tav>
                                      </p:tavLst>
                                    </p:anim>
                                  </p:childTnLst>
                                </p:cTn>
                              </p:par>
                              <p:par>
                                <p:cTn id="95" presetID="23" presetClass="entr" presetSubtype="16" fill="hold" grpId="0" nodeType="withEffect">
                                  <p:stCondLst>
                                    <p:cond delay="1000"/>
                                  </p:stCondLst>
                                  <p:childTnLst>
                                    <p:set>
                                      <p:cBhvr>
                                        <p:cTn id="96" dur="1" fill="hold">
                                          <p:stCondLst>
                                            <p:cond delay="0"/>
                                          </p:stCondLst>
                                        </p:cTn>
                                        <p:tgtEl>
                                          <p:spTgt spid="10"/>
                                        </p:tgtEl>
                                        <p:attrNameLst>
                                          <p:attrName>style.visibility</p:attrName>
                                        </p:attrNameLst>
                                      </p:cBhvr>
                                      <p:to>
                                        <p:strVal val="visible"/>
                                      </p:to>
                                    </p:set>
                                    <p:anim calcmode="lin" valueType="num">
                                      <p:cBhvr>
                                        <p:cTn id="97" dur="500" fill="hold"/>
                                        <p:tgtEl>
                                          <p:spTgt spid="10"/>
                                        </p:tgtEl>
                                        <p:attrNameLst>
                                          <p:attrName>ppt_w</p:attrName>
                                        </p:attrNameLst>
                                      </p:cBhvr>
                                      <p:tavLst>
                                        <p:tav tm="0">
                                          <p:val>
                                            <p:fltVal val="0"/>
                                          </p:val>
                                        </p:tav>
                                        <p:tav tm="100000">
                                          <p:val>
                                            <p:strVal val="#ppt_w"/>
                                          </p:val>
                                        </p:tav>
                                      </p:tavLst>
                                    </p:anim>
                                    <p:anim calcmode="lin" valueType="num">
                                      <p:cBhvr>
                                        <p:cTn id="98" dur="500" fill="hold"/>
                                        <p:tgtEl>
                                          <p:spTgt spid="10"/>
                                        </p:tgtEl>
                                        <p:attrNameLst>
                                          <p:attrName>ppt_h</p:attrName>
                                        </p:attrNameLst>
                                      </p:cBhvr>
                                      <p:tavLst>
                                        <p:tav tm="0">
                                          <p:val>
                                            <p:fltVal val="0"/>
                                          </p:val>
                                        </p:tav>
                                        <p:tav tm="100000">
                                          <p:val>
                                            <p:strVal val="#ppt_h"/>
                                          </p:val>
                                        </p:tav>
                                      </p:tavLst>
                                    </p:anim>
                                  </p:childTnLst>
                                </p:cTn>
                              </p:par>
                              <p:par>
                                <p:cTn id="99" presetID="23" presetClass="entr" presetSubtype="16" fill="hold" grpId="0" nodeType="withEffect">
                                  <p:stCondLst>
                                    <p:cond delay="1000"/>
                                  </p:stCondLst>
                                  <p:childTnLst>
                                    <p:set>
                                      <p:cBhvr>
                                        <p:cTn id="100" dur="1" fill="hold">
                                          <p:stCondLst>
                                            <p:cond delay="0"/>
                                          </p:stCondLst>
                                        </p:cTn>
                                        <p:tgtEl>
                                          <p:spTgt spid="14"/>
                                        </p:tgtEl>
                                        <p:attrNameLst>
                                          <p:attrName>style.visibility</p:attrName>
                                        </p:attrNameLst>
                                      </p:cBhvr>
                                      <p:to>
                                        <p:strVal val="visible"/>
                                      </p:to>
                                    </p:set>
                                    <p:anim calcmode="lin" valueType="num">
                                      <p:cBhvr>
                                        <p:cTn id="101" dur="500" fill="hold"/>
                                        <p:tgtEl>
                                          <p:spTgt spid="14"/>
                                        </p:tgtEl>
                                        <p:attrNameLst>
                                          <p:attrName>ppt_w</p:attrName>
                                        </p:attrNameLst>
                                      </p:cBhvr>
                                      <p:tavLst>
                                        <p:tav tm="0">
                                          <p:val>
                                            <p:fltVal val="0"/>
                                          </p:val>
                                        </p:tav>
                                        <p:tav tm="100000">
                                          <p:val>
                                            <p:strVal val="#ppt_w"/>
                                          </p:val>
                                        </p:tav>
                                      </p:tavLst>
                                    </p:anim>
                                    <p:anim calcmode="lin" valueType="num">
                                      <p:cBhvr>
                                        <p:cTn id="102" dur="500" fill="hold"/>
                                        <p:tgtEl>
                                          <p:spTgt spid="14"/>
                                        </p:tgtEl>
                                        <p:attrNameLst>
                                          <p:attrName>ppt_h</p:attrName>
                                        </p:attrNameLst>
                                      </p:cBhvr>
                                      <p:tavLst>
                                        <p:tav tm="0">
                                          <p:val>
                                            <p:fltVal val="0"/>
                                          </p:val>
                                        </p:tav>
                                        <p:tav tm="100000">
                                          <p:val>
                                            <p:strVal val="#ppt_h"/>
                                          </p:val>
                                        </p:tav>
                                      </p:tavLst>
                                    </p:anim>
                                  </p:childTnLst>
                                </p:cTn>
                              </p:par>
                              <p:par>
                                <p:cTn id="103" presetID="23" presetClass="entr" presetSubtype="16" fill="hold" grpId="0" nodeType="withEffect">
                                  <p:stCondLst>
                                    <p:cond delay="1000"/>
                                  </p:stCondLst>
                                  <p:childTnLst>
                                    <p:set>
                                      <p:cBhvr>
                                        <p:cTn id="104" dur="1" fill="hold">
                                          <p:stCondLst>
                                            <p:cond delay="0"/>
                                          </p:stCondLst>
                                        </p:cTn>
                                        <p:tgtEl>
                                          <p:spTgt spid="18"/>
                                        </p:tgtEl>
                                        <p:attrNameLst>
                                          <p:attrName>style.visibility</p:attrName>
                                        </p:attrNameLst>
                                      </p:cBhvr>
                                      <p:to>
                                        <p:strVal val="visible"/>
                                      </p:to>
                                    </p:set>
                                    <p:anim calcmode="lin" valueType="num">
                                      <p:cBhvr>
                                        <p:cTn id="105" dur="500" fill="hold"/>
                                        <p:tgtEl>
                                          <p:spTgt spid="18"/>
                                        </p:tgtEl>
                                        <p:attrNameLst>
                                          <p:attrName>ppt_w</p:attrName>
                                        </p:attrNameLst>
                                      </p:cBhvr>
                                      <p:tavLst>
                                        <p:tav tm="0">
                                          <p:val>
                                            <p:fltVal val="0"/>
                                          </p:val>
                                        </p:tav>
                                        <p:tav tm="100000">
                                          <p:val>
                                            <p:strVal val="#ppt_w"/>
                                          </p:val>
                                        </p:tav>
                                      </p:tavLst>
                                    </p:anim>
                                    <p:anim calcmode="lin" valueType="num">
                                      <p:cBhvr>
                                        <p:cTn id="106" dur="500" fill="hold"/>
                                        <p:tgtEl>
                                          <p:spTgt spid="18"/>
                                        </p:tgtEl>
                                        <p:attrNameLst>
                                          <p:attrName>ppt_h</p:attrName>
                                        </p:attrNameLst>
                                      </p:cBhvr>
                                      <p:tavLst>
                                        <p:tav tm="0">
                                          <p:val>
                                            <p:fltVal val="0"/>
                                          </p:val>
                                        </p:tav>
                                        <p:tav tm="100000">
                                          <p:val>
                                            <p:strVal val="#ppt_h"/>
                                          </p:val>
                                        </p:tav>
                                      </p:tavLst>
                                    </p:anim>
                                  </p:childTnLst>
                                </p:cTn>
                              </p:par>
                              <p:par>
                                <p:cTn id="107" presetID="23" presetClass="entr" presetSubtype="16" fill="hold" grpId="0" nodeType="withEffect">
                                  <p:stCondLst>
                                    <p:cond delay="1000"/>
                                  </p:stCondLst>
                                  <p:childTnLst>
                                    <p:set>
                                      <p:cBhvr>
                                        <p:cTn id="108" dur="1" fill="hold">
                                          <p:stCondLst>
                                            <p:cond delay="0"/>
                                          </p:stCondLst>
                                        </p:cTn>
                                        <p:tgtEl>
                                          <p:spTgt spid="22"/>
                                        </p:tgtEl>
                                        <p:attrNameLst>
                                          <p:attrName>style.visibility</p:attrName>
                                        </p:attrNameLst>
                                      </p:cBhvr>
                                      <p:to>
                                        <p:strVal val="visible"/>
                                      </p:to>
                                    </p:set>
                                    <p:anim calcmode="lin" valueType="num">
                                      <p:cBhvr>
                                        <p:cTn id="109" dur="500" fill="hold"/>
                                        <p:tgtEl>
                                          <p:spTgt spid="22"/>
                                        </p:tgtEl>
                                        <p:attrNameLst>
                                          <p:attrName>ppt_w</p:attrName>
                                        </p:attrNameLst>
                                      </p:cBhvr>
                                      <p:tavLst>
                                        <p:tav tm="0">
                                          <p:val>
                                            <p:fltVal val="0"/>
                                          </p:val>
                                        </p:tav>
                                        <p:tav tm="100000">
                                          <p:val>
                                            <p:strVal val="#ppt_w"/>
                                          </p:val>
                                        </p:tav>
                                      </p:tavLst>
                                    </p:anim>
                                    <p:anim calcmode="lin" valueType="num">
                                      <p:cBhvr>
                                        <p:cTn id="110" dur="500" fill="hold"/>
                                        <p:tgtEl>
                                          <p:spTgt spid="22"/>
                                        </p:tgtEl>
                                        <p:attrNameLst>
                                          <p:attrName>ppt_h</p:attrName>
                                        </p:attrNameLst>
                                      </p:cBhvr>
                                      <p:tavLst>
                                        <p:tav tm="0">
                                          <p:val>
                                            <p:fltVal val="0"/>
                                          </p:val>
                                        </p:tav>
                                        <p:tav tm="100000">
                                          <p:val>
                                            <p:strVal val="#ppt_h"/>
                                          </p:val>
                                        </p:tav>
                                      </p:tavLst>
                                    </p:anim>
                                  </p:childTnLst>
                                </p:cTn>
                              </p:par>
                              <p:par>
                                <p:cTn id="111" presetID="23" presetClass="entr" presetSubtype="16" fill="hold" grpId="0" nodeType="withEffect">
                                  <p:stCondLst>
                                    <p:cond delay="1000"/>
                                  </p:stCondLst>
                                  <p:childTnLst>
                                    <p:set>
                                      <p:cBhvr>
                                        <p:cTn id="112" dur="1" fill="hold">
                                          <p:stCondLst>
                                            <p:cond delay="0"/>
                                          </p:stCondLst>
                                        </p:cTn>
                                        <p:tgtEl>
                                          <p:spTgt spid="26"/>
                                        </p:tgtEl>
                                        <p:attrNameLst>
                                          <p:attrName>style.visibility</p:attrName>
                                        </p:attrNameLst>
                                      </p:cBhvr>
                                      <p:to>
                                        <p:strVal val="visible"/>
                                      </p:to>
                                    </p:set>
                                    <p:anim calcmode="lin" valueType="num">
                                      <p:cBhvr>
                                        <p:cTn id="113" dur="500" fill="hold"/>
                                        <p:tgtEl>
                                          <p:spTgt spid="26"/>
                                        </p:tgtEl>
                                        <p:attrNameLst>
                                          <p:attrName>ppt_w</p:attrName>
                                        </p:attrNameLst>
                                      </p:cBhvr>
                                      <p:tavLst>
                                        <p:tav tm="0">
                                          <p:val>
                                            <p:fltVal val="0"/>
                                          </p:val>
                                        </p:tav>
                                        <p:tav tm="100000">
                                          <p:val>
                                            <p:strVal val="#ppt_w"/>
                                          </p:val>
                                        </p:tav>
                                      </p:tavLst>
                                    </p:anim>
                                    <p:anim calcmode="lin" valueType="num">
                                      <p:cBhvr>
                                        <p:cTn id="114" dur="500" fill="hold"/>
                                        <p:tgtEl>
                                          <p:spTgt spid="26"/>
                                        </p:tgtEl>
                                        <p:attrNameLst>
                                          <p:attrName>ppt_h</p:attrName>
                                        </p:attrNameLst>
                                      </p:cBhvr>
                                      <p:tavLst>
                                        <p:tav tm="0">
                                          <p:val>
                                            <p:fltVal val="0"/>
                                          </p:val>
                                        </p:tav>
                                        <p:tav tm="100000">
                                          <p:val>
                                            <p:strVal val="#ppt_h"/>
                                          </p:val>
                                        </p:tav>
                                      </p:tavLst>
                                    </p:anim>
                                  </p:childTnLst>
                                </p:cTn>
                              </p:par>
                              <p:par>
                                <p:cTn id="115" presetID="23" presetClass="entr" presetSubtype="16" fill="hold" grpId="0" nodeType="withEffect">
                                  <p:stCondLst>
                                    <p:cond delay="1000"/>
                                  </p:stCondLst>
                                  <p:childTnLst>
                                    <p:set>
                                      <p:cBhvr>
                                        <p:cTn id="116" dur="1" fill="hold">
                                          <p:stCondLst>
                                            <p:cond delay="0"/>
                                          </p:stCondLst>
                                        </p:cTn>
                                        <p:tgtEl>
                                          <p:spTgt spid="30"/>
                                        </p:tgtEl>
                                        <p:attrNameLst>
                                          <p:attrName>style.visibility</p:attrName>
                                        </p:attrNameLst>
                                      </p:cBhvr>
                                      <p:to>
                                        <p:strVal val="visible"/>
                                      </p:to>
                                    </p:set>
                                    <p:anim calcmode="lin" valueType="num">
                                      <p:cBhvr>
                                        <p:cTn id="117" dur="500" fill="hold"/>
                                        <p:tgtEl>
                                          <p:spTgt spid="30"/>
                                        </p:tgtEl>
                                        <p:attrNameLst>
                                          <p:attrName>ppt_w</p:attrName>
                                        </p:attrNameLst>
                                      </p:cBhvr>
                                      <p:tavLst>
                                        <p:tav tm="0">
                                          <p:val>
                                            <p:fltVal val="0"/>
                                          </p:val>
                                        </p:tav>
                                        <p:tav tm="100000">
                                          <p:val>
                                            <p:strVal val="#ppt_w"/>
                                          </p:val>
                                        </p:tav>
                                      </p:tavLst>
                                    </p:anim>
                                    <p:anim calcmode="lin" valueType="num">
                                      <p:cBhvr>
                                        <p:cTn id="118" dur="500" fill="hold"/>
                                        <p:tgtEl>
                                          <p:spTgt spid="30"/>
                                        </p:tgtEl>
                                        <p:attrNameLst>
                                          <p:attrName>ppt_h</p:attrName>
                                        </p:attrNameLst>
                                      </p:cBhvr>
                                      <p:tavLst>
                                        <p:tav tm="0">
                                          <p:val>
                                            <p:fltVal val="0"/>
                                          </p:val>
                                        </p:tav>
                                        <p:tav tm="100000">
                                          <p:val>
                                            <p:strVal val="#ppt_h"/>
                                          </p:val>
                                        </p:tav>
                                      </p:tavLst>
                                    </p:anim>
                                  </p:childTnLst>
                                </p:cTn>
                              </p:par>
                              <p:par>
                                <p:cTn id="119" presetID="23" presetClass="entr" presetSubtype="16" fill="hold" grpId="0" nodeType="withEffect">
                                  <p:stCondLst>
                                    <p:cond delay="1000"/>
                                  </p:stCondLst>
                                  <p:childTnLst>
                                    <p:set>
                                      <p:cBhvr>
                                        <p:cTn id="120" dur="1" fill="hold">
                                          <p:stCondLst>
                                            <p:cond delay="0"/>
                                          </p:stCondLst>
                                        </p:cTn>
                                        <p:tgtEl>
                                          <p:spTgt spid="34"/>
                                        </p:tgtEl>
                                        <p:attrNameLst>
                                          <p:attrName>style.visibility</p:attrName>
                                        </p:attrNameLst>
                                      </p:cBhvr>
                                      <p:to>
                                        <p:strVal val="visible"/>
                                      </p:to>
                                    </p:set>
                                    <p:anim calcmode="lin" valueType="num">
                                      <p:cBhvr>
                                        <p:cTn id="121" dur="500" fill="hold"/>
                                        <p:tgtEl>
                                          <p:spTgt spid="34"/>
                                        </p:tgtEl>
                                        <p:attrNameLst>
                                          <p:attrName>ppt_w</p:attrName>
                                        </p:attrNameLst>
                                      </p:cBhvr>
                                      <p:tavLst>
                                        <p:tav tm="0">
                                          <p:val>
                                            <p:fltVal val="0"/>
                                          </p:val>
                                        </p:tav>
                                        <p:tav tm="100000">
                                          <p:val>
                                            <p:strVal val="#ppt_w"/>
                                          </p:val>
                                        </p:tav>
                                      </p:tavLst>
                                    </p:anim>
                                    <p:anim calcmode="lin" valueType="num">
                                      <p:cBhvr>
                                        <p:cTn id="122" dur="500" fill="hold"/>
                                        <p:tgtEl>
                                          <p:spTgt spid="34"/>
                                        </p:tgtEl>
                                        <p:attrNameLst>
                                          <p:attrName>ppt_h</p:attrName>
                                        </p:attrNameLst>
                                      </p:cBhvr>
                                      <p:tavLst>
                                        <p:tav tm="0">
                                          <p:val>
                                            <p:fltVal val="0"/>
                                          </p:val>
                                        </p:tav>
                                        <p:tav tm="100000">
                                          <p:val>
                                            <p:strVal val="#ppt_h"/>
                                          </p:val>
                                        </p:tav>
                                      </p:tavLst>
                                    </p:anim>
                                  </p:childTnLst>
                                </p:cTn>
                              </p:par>
                            </p:childTnLst>
                          </p:cTn>
                        </p:par>
                        <p:par>
                          <p:cTn id="123" fill="hold">
                            <p:stCondLst>
                              <p:cond delay="4000"/>
                            </p:stCondLst>
                            <p:childTnLst>
                              <p:par>
                                <p:cTn id="124" presetID="22" presetClass="entr" presetSubtype="8" fill="hold" grpId="0" nodeType="afterEffect">
                                  <p:stCondLst>
                                    <p:cond delay="0"/>
                                  </p:stCondLst>
                                  <p:childTnLst>
                                    <p:set>
                                      <p:cBhvr>
                                        <p:cTn id="125" dur="1" fill="hold">
                                          <p:stCondLst>
                                            <p:cond delay="0"/>
                                          </p:stCondLst>
                                        </p:cTn>
                                        <p:tgtEl>
                                          <p:spTgt spid="4"/>
                                        </p:tgtEl>
                                        <p:attrNameLst>
                                          <p:attrName>style.visibility</p:attrName>
                                        </p:attrNameLst>
                                      </p:cBhvr>
                                      <p:to>
                                        <p:strVal val="visible"/>
                                      </p:to>
                                    </p:set>
                                    <p:animEffect transition="in" filter="wipe(left)">
                                      <p:cBhvr>
                                        <p:cTn id="126" dur="1000"/>
                                        <p:tgtEl>
                                          <p:spTgt spid="4"/>
                                        </p:tgtEl>
                                      </p:cBhvr>
                                    </p:animEffect>
                                  </p:childTnLst>
                                </p:cTn>
                              </p:par>
                              <p:par>
                                <p:cTn id="127" presetID="22" presetClass="entr" presetSubtype="8" fill="hold" grpId="0" nodeType="withEffect">
                                  <p:stCondLst>
                                    <p:cond delay="0"/>
                                  </p:stCondLst>
                                  <p:childTnLst>
                                    <p:set>
                                      <p:cBhvr>
                                        <p:cTn id="128" dur="1" fill="hold">
                                          <p:stCondLst>
                                            <p:cond delay="0"/>
                                          </p:stCondLst>
                                        </p:cTn>
                                        <p:tgtEl>
                                          <p:spTgt spid="8"/>
                                        </p:tgtEl>
                                        <p:attrNameLst>
                                          <p:attrName>style.visibility</p:attrName>
                                        </p:attrNameLst>
                                      </p:cBhvr>
                                      <p:to>
                                        <p:strVal val="visible"/>
                                      </p:to>
                                    </p:set>
                                    <p:animEffect transition="in" filter="wipe(left)">
                                      <p:cBhvr>
                                        <p:cTn id="129" dur="1000"/>
                                        <p:tgtEl>
                                          <p:spTgt spid="8"/>
                                        </p:tgtEl>
                                      </p:cBhvr>
                                    </p:animEffect>
                                  </p:childTnLst>
                                </p:cTn>
                              </p:par>
                              <p:par>
                                <p:cTn id="130" presetID="22" presetClass="entr" presetSubtype="8" fill="hold" grpId="0" nodeType="withEffect">
                                  <p:stCondLst>
                                    <p:cond delay="0"/>
                                  </p:stCondLst>
                                  <p:childTnLst>
                                    <p:set>
                                      <p:cBhvr>
                                        <p:cTn id="131" dur="1" fill="hold">
                                          <p:stCondLst>
                                            <p:cond delay="0"/>
                                          </p:stCondLst>
                                        </p:cTn>
                                        <p:tgtEl>
                                          <p:spTgt spid="12"/>
                                        </p:tgtEl>
                                        <p:attrNameLst>
                                          <p:attrName>style.visibility</p:attrName>
                                        </p:attrNameLst>
                                      </p:cBhvr>
                                      <p:to>
                                        <p:strVal val="visible"/>
                                      </p:to>
                                    </p:set>
                                    <p:animEffect transition="in" filter="wipe(left)">
                                      <p:cBhvr>
                                        <p:cTn id="132" dur="1000"/>
                                        <p:tgtEl>
                                          <p:spTgt spid="12"/>
                                        </p:tgtEl>
                                      </p:cBhvr>
                                    </p:animEffect>
                                  </p:childTnLst>
                                </p:cTn>
                              </p:par>
                              <p:par>
                                <p:cTn id="133" presetID="22" presetClass="entr" presetSubtype="8" fill="hold" grpId="0" nodeType="withEffect">
                                  <p:stCondLst>
                                    <p:cond delay="0"/>
                                  </p:stCondLst>
                                  <p:childTnLst>
                                    <p:set>
                                      <p:cBhvr>
                                        <p:cTn id="134" dur="1" fill="hold">
                                          <p:stCondLst>
                                            <p:cond delay="0"/>
                                          </p:stCondLst>
                                        </p:cTn>
                                        <p:tgtEl>
                                          <p:spTgt spid="16"/>
                                        </p:tgtEl>
                                        <p:attrNameLst>
                                          <p:attrName>style.visibility</p:attrName>
                                        </p:attrNameLst>
                                      </p:cBhvr>
                                      <p:to>
                                        <p:strVal val="visible"/>
                                      </p:to>
                                    </p:set>
                                    <p:animEffect transition="in" filter="wipe(left)">
                                      <p:cBhvr>
                                        <p:cTn id="135" dur="1000"/>
                                        <p:tgtEl>
                                          <p:spTgt spid="16"/>
                                        </p:tgtEl>
                                      </p:cBhvr>
                                    </p:animEffect>
                                  </p:childTnLst>
                                </p:cTn>
                              </p:par>
                              <p:par>
                                <p:cTn id="136" presetID="22" presetClass="entr" presetSubtype="8" fill="hold" grpId="0" nodeType="withEffect">
                                  <p:stCondLst>
                                    <p:cond delay="0"/>
                                  </p:stCondLst>
                                  <p:childTnLst>
                                    <p:set>
                                      <p:cBhvr>
                                        <p:cTn id="137" dur="1" fill="hold">
                                          <p:stCondLst>
                                            <p:cond delay="0"/>
                                          </p:stCondLst>
                                        </p:cTn>
                                        <p:tgtEl>
                                          <p:spTgt spid="20"/>
                                        </p:tgtEl>
                                        <p:attrNameLst>
                                          <p:attrName>style.visibility</p:attrName>
                                        </p:attrNameLst>
                                      </p:cBhvr>
                                      <p:to>
                                        <p:strVal val="visible"/>
                                      </p:to>
                                    </p:set>
                                    <p:animEffect transition="in" filter="wipe(left)">
                                      <p:cBhvr>
                                        <p:cTn id="138" dur="1000"/>
                                        <p:tgtEl>
                                          <p:spTgt spid="20"/>
                                        </p:tgtEl>
                                      </p:cBhvr>
                                    </p:animEffect>
                                  </p:childTnLst>
                                </p:cTn>
                              </p:par>
                              <p:par>
                                <p:cTn id="139" presetID="22" presetClass="entr" presetSubtype="8" fill="hold" grpId="0" nodeType="withEffect">
                                  <p:stCondLst>
                                    <p:cond delay="0"/>
                                  </p:stCondLst>
                                  <p:childTnLst>
                                    <p:set>
                                      <p:cBhvr>
                                        <p:cTn id="140" dur="1" fill="hold">
                                          <p:stCondLst>
                                            <p:cond delay="0"/>
                                          </p:stCondLst>
                                        </p:cTn>
                                        <p:tgtEl>
                                          <p:spTgt spid="24"/>
                                        </p:tgtEl>
                                        <p:attrNameLst>
                                          <p:attrName>style.visibility</p:attrName>
                                        </p:attrNameLst>
                                      </p:cBhvr>
                                      <p:to>
                                        <p:strVal val="visible"/>
                                      </p:to>
                                    </p:set>
                                    <p:animEffect transition="in" filter="wipe(left)">
                                      <p:cBhvr>
                                        <p:cTn id="141" dur="1000"/>
                                        <p:tgtEl>
                                          <p:spTgt spid="24"/>
                                        </p:tgtEl>
                                      </p:cBhvr>
                                    </p:animEffect>
                                  </p:childTnLst>
                                </p:cTn>
                              </p:par>
                              <p:par>
                                <p:cTn id="142" presetID="22" presetClass="entr" presetSubtype="8" fill="hold" grpId="0" nodeType="withEffect">
                                  <p:stCondLst>
                                    <p:cond delay="0"/>
                                  </p:stCondLst>
                                  <p:childTnLst>
                                    <p:set>
                                      <p:cBhvr>
                                        <p:cTn id="143" dur="1" fill="hold">
                                          <p:stCondLst>
                                            <p:cond delay="0"/>
                                          </p:stCondLst>
                                        </p:cTn>
                                        <p:tgtEl>
                                          <p:spTgt spid="28"/>
                                        </p:tgtEl>
                                        <p:attrNameLst>
                                          <p:attrName>style.visibility</p:attrName>
                                        </p:attrNameLst>
                                      </p:cBhvr>
                                      <p:to>
                                        <p:strVal val="visible"/>
                                      </p:to>
                                    </p:set>
                                    <p:animEffect transition="in" filter="wipe(left)">
                                      <p:cBhvr>
                                        <p:cTn id="144" dur="1000"/>
                                        <p:tgtEl>
                                          <p:spTgt spid="28"/>
                                        </p:tgtEl>
                                      </p:cBhvr>
                                    </p:animEffect>
                                  </p:childTnLst>
                                </p:cTn>
                              </p:par>
                              <p:par>
                                <p:cTn id="145" presetID="22" presetClass="entr" presetSubtype="8" fill="hold" grpId="0" nodeType="withEffect">
                                  <p:stCondLst>
                                    <p:cond delay="0"/>
                                  </p:stCondLst>
                                  <p:childTnLst>
                                    <p:set>
                                      <p:cBhvr>
                                        <p:cTn id="146" dur="1" fill="hold">
                                          <p:stCondLst>
                                            <p:cond delay="0"/>
                                          </p:stCondLst>
                                        </p:cTn>
                                        <p:tgtEl>
                                          <p:spTgt spid="32"/>
                                        </p:tgtEl>
                                        <p:attrNameLst>
                                          <p:attrName>style.visibility</p:attrName>
                                        </p:attrNameLst>
                                      </p:cBhvr>
                                      <p:to>
                                        <p:strVal val="visible"/>
                                      </p:to>
                                    </p:set>
                                    <p:animEffect transition="in" filter="wipe(left)">
                                      <p:cBhvr>
                                        <p:cTn id="147"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Graphic spid="4" grpId="0">
        <p:bldAsOne/>
      </p:bldGraphic>
      <p:bldP spid="5" grpId="0"/>
      <p:bldP spid="6" grpId="0"/>
      <p:bldP spid="7" grpId="0" animBg="1"/>
      <p:bldP spid="7" grpId="1" animBg="1"/>
      <p:bldGraphic spid="8" grpId="0">
        <p:bldAsOne/>
      </p:bldGraphic>
      <p:bldP spid="9" grpId="0"/>
      <p:bldP spid="10" grpId="0"/>
      <p:bldP spid="11" grpId="0" animBg="1"/>
      <p:bldP spid="11" grpId="1" animBg="1"/>
      <p:bldGraphic spid="12" grpId="0">
        <p:bldAsOne/>
      </p:bldGraphic>
      <p:bldP spid="13" grpId="0"/>
      <p:bldP spid="14" grpId="0"/>
      <p:bldP spid="15" grpId="0" animBg="1"/>
      <p:bldP spid="15" grpId="1" animBg="1"/>
      <p:bldGraphic spid="16" grpId="0">
        <p:bldAsOne/>
      </p:bldGraphic>
      <p:bldP spid="17" grpId="0"/>
      <p:bldP spid="18" grpId="0"/>
      <p:bldP spid="19" grpId="0" animBg="1"/>
      <p:bldP spid="19" grpId="1" animBg="1"/>
      <p:bldGraphic spid="20" grpId="0">
        <p:bldAsOne/>
      </p:bldGraphic>
      <p:bldP spid="21" grpId="0"/>
      <p:bldP spid="22" grpId="0"/>
      <p:bldP spid="23" grpId="0" animBg="1"/>
      <p:bldP spid="23" grpId="1" animBg="1"/>
      <p:bldGraphic spid="24" grpId="0">
        <p:bldAsOne/>
      </p:bldGraphic>
      <p:bldP spid="25" grpId="0"/>
      <p:bldP spid="26" grpId="0"/>
      <p:bldP spid="27" grpId="0" animBg="1"/>
      <p:bldP spid="27" grpId="1" animBg="1"/>
      <p:bldGraphic spid="28" grpId="0">
        <p:bldAsOne/>
      </p:bldGraphic>
      <p:bldP spid="29" grpId="0"/>
      <p:bldP spid="30" grpId="0"/>
      <p:bldP spid="31" grpId="0" animBg="1"/>
      <p:bldP spid="31" grpId="1" animBg="1"/>
      <p:bldGraphic spid="32" grpId="0">
        <p:bldAsOne/>
      </p:bldGraphic>
      <p:bldP spid="33" grpId="0"/>
      <p:bldP spid="34" grpId="0"/>
      <p:bldGraphic spid="35" grpId="0" uiExpand="1">
        <p:bldSub>
          <a:bldChart bld="series"/>
        </p:bldSub>
      </p:bldGraphic>
      <p:bldP spid="36" grpId="0"/>
    </p:bld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9028EE-5050-FD92-8A35-1E11FA099BFE}"/>
              </a:ext>
            </a:extLst>
          </p:cNvPr>
          <p:cNvSpPr txBox="1">
            <a:spLocks/>
          </p:cNvSpPr>
          <p:nvPr/>
        </p:nvSpPr>
        <p:spPr>
          <a:xfrm>
            <a:off x="1634461" y="298045"/>
            <a:ext cx="4714581" cy="523875"/>
          </a:xfrm>
          <a:prstGeom prst="rect">
            <a:avLst/>
          </a:prstGeom>
        </p:spPr>
        <p:txBody>
          <a:bodyPr/>
          <a:lstStyle>
            <a:lvl1pPr algn="l" defTabSz="685800" rtl="0" eaLnBrk="1" latinLnBrk="0" hangingPunct="1">
              <a:lnSpc>
                <a:spcPct val="90000"/>
              </a:lnSpc>
              <a:spcBef>
                <a:spcPct val="0"/>
              </a:spcBef>
              <a:buNone/>
              <a:defRPr sz="2800" b="1" kern="1200">
                <a:solidFill>
                  <a:schemeClr val="accent1">
                    <a:lumMod val="75000"/>
                  </a:schemeClr>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r>
              <a:rPr kumimoji="1" lang="zh-CN" altLang="en-US"/>
              <a:t>多因素的</a:t>
            </a:r>
            <a:r>
              <a:rPr kumimoji="1" lang="en-US" altLang="zh-CN"/>
              <a:t>A/B</a:t>
            </a:r>
            <a:r>
              <a:rPr kumimoji="1" lang="zh-CN" altLang="en-US"/>
              <a:t>实验</a:t>
            </a:r>
            <a:endParaRPr kumimoji="1" lang="zh-CN" altLang="en-US" dirty="0"/>
          </a:p>
        </p:txBody>
      </p:sp>
      <p:sp>
        <p:nvSpPr>
          <p:cNvPr id="3" name="Rounded Rectangle">
            <a:extLst>
              <a:ext uri="{FF2B5EF4-FFF2-40B4-BE49-F238E27FC236}">
                <a16:creationId xmlns:a16="http://schemas.microsoft.com/office/drawing/2014/main" id="{AD5351A9-14A3-F045-DE59-C23757B03886}"/>
              </a:ext>
            </a:extLst>
          </p:cNvPr>
          <p:cNvSpPr/>
          <p:nvPr/>
        </p:nvSpPr>
        <p:spPr>
          <a:xfrm>
            <a:off x="5242116" y="1569270"/>
            <a:ext cx="1177891" cy="401097"/>
          </a:xfrm>
          <a:prstGeom prst="roundRect">
            <a:avLst/>
          </a:prstGeom>
          <a:solidFill>
            <a:schemeClr val="bg1">
              <a:alpha val="13000"/>
            </a:schemeClr>
          </a:solidFill>
          <a:ln w="31750">
            <a:noFill/>
            <a:miter lim="400000"/>
          </a:ln>
          <a:effectLst>
            <a:outerShdw sx="1000" sy="1000" algn="tl" rotWithShape="0">
              <a:prstClr val="black"/>
            </a:outerShdw>
          </a:effectLst>
        </p:spPr>
        <p:txBody>
          <a:bodyPr lIns="0" tIns="0" rIns="0" bIns="0" anchor="ctr"/>
          <a:lstStyle/>
          <a:p>
            <a:pPr algn="ctr" defTabSz="619125" hangingPunct="0">
              <a:defRPr sz="3200" b="0">
                <a:solidFill>
                  <a:srgbClr val="FFFFFF"/>
                </a:solidFill>
                <a:latin typeface="+mn-lt"/>
                <a:ea typeface="+mn-ea"/>
                <a:cs typeface="+mn-cs"/>
                <a:sym typeface="Helvetica Neue Medium"/>
              </a:defRPr>
            </a:pPr>
            <a:r>
              <a:rPr lang="en-US" sz="1200" kern="0" dirty="0">
                <a:solidFill>
                  <a:srgbClr val="2DC5FF"/>
                </a:solidFill>
                <a:latin typeface="Century Gothic" panose="020B0502020202020204" pitchFamily="34" charset="0"/>
                <a:ea typeface="Helvetica Neue Medium"/>
                <a:cs typeface="Helvetica Neue Medium"/>
                <a:sym typeface="Helvetica Neue Medium"/>
              </a:rPr>
              <a:t>+1.5</a:t>
            </a:r>
            <a:endParaRPr sz="1200" kern="0" dirty="0">
              <a:solidFill>
                <a:srgbClr val="2DC5FF"/>
              </a:solidFill>
              <a:latin typeface="Century Gothic" panose="020B0502020202020204" pitchFamily="34" charset="0"/>
              <a:ea typeface="Helvetica Neue Medium"/>
              <a:cs typeface="Helvetica Neue Medium"/>
              <a:sym typeface="Helvetica Neue Medium"/>
            </a:endParaRPr>
          </a:p>
        </p:txBody>
      </p:sp>
      <p:sp>
        <p:nvSpPr>
          <p:cNvPr id="4" name="Rounded Rectangle 81">
            <a:extLst>
              <a:ext uri="{FF2B5EF4-FFF2-40B4-BE49-F238E27FC236}">
                <a16:creationId xmlns:a16="http://schemas.microsoft.com/office/drawing/2014/main" id="{02F5E15F-BACC-A2A2-911B-EB5257835497}"/>
              </a:ext>
            </a:extLst>
          </p:cNvPr>
          <p:cNvSpPr/>
          <p:nvPr/>
        </p:nvSpPr>
        <p:spPr>
          <a:xfrm flipH="1">
            <a:off x="676417" y="2334187"/>
            <a:ext cx="384279" cy="1322243"/>
          </a:xfrm>
          <a:prstGeom prst="roundRect">
            <a:avLst/>
          </a:prstGeom>
          <a:gradFill flip="none" rotWithShape="1">
            <a:gsLst>
              <a:gs pos="82000">
                <a:srgbClr val="5F72F8"/>
              </a:gs>
              <a:gs pos="47000">
                <a:srgbClr val="469CFC"/>
              </a:gs>
              <a:gs pos="17000">
                <a:srgbClr val="2DC5FF"/>
              </a:gs>
            </a:gsLst>
            <a:lin ang="10800000" scaled="1"/>
            <a:tileRect/>
          </a:gradFill>
          <a:ln>
            <a:noFill/>
          </a:ln>
        </p:spPr>
        <p:txBody>
          <a:bodyPr vert="horz" wrap="square" lIns="68580" tIns="34290" rIns="68580" bIns="34290" numCol="1" anchor="ctr" anchorCtr="0" compatLnSpc="1">
            <a:prstTxWarp prst="textNoShape">
              <a:avLst/>
            </a:prstTxWarp>
          </a:bodyPr>
          <a:lstStyle/>
          <a:p>
            <a:r>
              <a:rPr lang="en-US" sz="1600" b="1" dirty="0" err="1">
                <a:solidFill>
                  <a:schemeClr val="bg1"/>
                </a:solidFill>
                <a:latin typeface="SimSun" panose="02010600030101010101" pitchFamily="2" charset="-122"/>
                <a:ea typeface="SimSun" panose="02010600030101010101" pitchFamily="2" charset="-122"/>
              </a:rPr>
              <a:t>登录页面</a:t>
            </a:r>
            <a:endParaRPr lang="en-US" sz="1600" b="1" dirty="0">
              <a:solidFill>
                <a:schemeClr val="bg1"/>
              </a:solidFill>
              <a:latin typeface="SimSun" panose="02010600030101010101" pitchFamily="2" charset="-122"/>
              <a:ea typeface="SimSun" panose="02010600030101010101" pitchFamily="2" charset="-122"/>
            </a:endParaRPr>
          </a:p>
        </p:txBody>
      </p:sp>
      <p:grpSp>
        <p:nvGrpSpPr>
          <p:cNvPr id="5" name="Group 1">
            <a:extLst>
              <a:ext uri="{FF2B5EF4-FFF2-40B4-BE49-F238E27FC236}">
                <a16:creationId xmlns:a16="http://schemas.microsoft.com/office/drawing/2014/main" id="{45EDA747-063C-0D5B-94A9-1E47620B07E0}"/>
              </a:ext>
            </a:extLst>
          </p:cNvPr>
          <p:cNvGrpSpPr/>
          <p:nvPr/>
        </p:nvGrpSpPr>
        <p:grpSpPr>
          <a:xfrm>
            <a:off x="1928467" y="1569270"/>
            <a:ext cx="2426302" cy="2764285"/>
            <a:chOff x="2857716" y="1676154"/>
            <a:chExt cx="2898414" cy="3685713"/>
          </a:xfrm>
        </p:grpSpPr>
        <p:sp>
          <p:nvSpPr>
            <p:cNvPr id="6" name="Rectangle">
              <a:extLst>
                <a:ext uri="{FF2B5EF4-FFF2-40B4-BE49-F238E27FC236}">
                  <a16:creationId xmlns:a16="http://schemas.microsoft.com/office/drawing/2014/main" id="{38453570-05F4-D3C3-6DC0-924F4CD6356E}"/>
                </a:ext>
              </a:extLst>
            </p:cNvPr>
            <p:cNvSpPr/>
            <p:nvPr/>
          </p:nvSpPr>
          <p:spPr>
            <a:xfrm>
              <a:off x="2857716" y="1676154"/>
              <a:ext cx="2898414" cy="534796"/>
            </a:xfrm>
            <a:prstGeom prst="roundRect">
              <a:avLst/>
            </a:prstGeom>
            <a:solidFill>
              <a:srgbClr val="EFEFEF"/>
            </a:solidFill>
            <a:ln w="12700">
              <a:miter lim="400000"/>
            </a:ln>
            <a:effectLst>
              <a:outerShdw blurRad="406400" dist="63500" dir="2700000" sx="102000" sy="102000" algn="tl" rotWithShape="0">
                <a:prstClr val="black">
                  <a:alpha val="25000"/>
                </a:prstClr>
              </a:outerShdw>
            </a:effectLst>
          </p:spPr>
          <p:txBody>
            <a:bodyPr lIns="0" tIns="0" rIns="0" bIns="0" anchor="ctr"/>
            <a:lstStyle/>
            <a:p>
              <a:pPr algn="ctr" defTabSz="619125" hangingPunct="0">
                <a:defRPr sz="3200" b="0">
                  <a:solidFill>
                    <a:srgbClr val="FFFFFF"/>
                  </a:solidFill>
                  <a:latin typeface="+mn-lt"/>
                  <a:ea typeface="+mn-ea"/>
                  <a:cs typeface="+mn-cs"/>
                  <a:sym typeface="Helvetica Neue Medium"/>
                </a:defRPr>
              </a:pPr>
              <a:r>
                <a:rPr lang="en-US" sz="1200" kern="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Button Color Test</a:t>
              </a:r>
              <a:endParaRPr sz="1200" kern="0" dirty="0">
                <a:solidFill>
                  <a:schemeClr val="tx1">
                    <a:lumMod val="85000"/>
                    <a:lumOff val="15000"/>
                  </a:schemeClr>
                </a:solidFill>
                <a:latin typeface="Century Gothic" panose="020B0502020202020204" pitchFamily="34" charset="0"/>
                <a:ea typeface="Helvetica Neue Medium"/>
                <a:cs typeface="Helvetica Neue Medium"/>
                <a:sym typeface="Helvetica Neue Medium"/>
              </a:endParaRPr>
            </a:p>
          </p:txBody>
        </p:sp>
        <p:sp>
          <p:nvSpPr>
            <p:cNvPr id="7" name="Rectangle">
              <a:extLst>
                <a:ext uri="{FF2B5EF4-FFF2-40B4-BE49-F238E27FC236}">
                  <a16:creationId xmlns:a16="http://schemas.microsoft.com/office/drawing/2014/main" id="{EBE212AC-12F8-8BC1-94BC-317BCA58DE34}"/>
                </a:ext>
              </a:extLst>
            </p:cNvPr>
            <p:cNvSpPr/>
            <p:nvPr/>
          </p:nvSpPr>
          <p:spPr>
            <a:xfrm>
              <a:off x="2857716" y="2715735"/>
              <a:ext cx="2898414" cy="534796"/>
            </a:xfrm>
            <a:prstGeom prst="roundRect">
              <a:avLst/>
            </a:prstGeom>
            <a:solidFill>
              <a:srgbClr val="EFEFEF"/>
            </a:solidFill>
            <a:ln w="12700">
              <a:miter lim="400000"/>
            </a:ln>
            <a:effectLst>
              <a:outerShdw blurRad="406400" dist="63500" dir="2700000" sx="102000" sy="102000" algn="tl" rotWithShape="0">
                <a:prstClr val="black">
                  <a:alpha val="25000"/>
                </a:prstClr>
              </a:outerShdw>
            </a:effectLst>
          </p:spPr>
          <p:txBody>
            <a:bodyPr lIns="0" tIns="0" rIns="0" bIns="0" anchor="ctr"/>
            <a:lstStyle/>
            <a:p>
              <a:pPr algn="ctr" defTabSz="619125" hangingPunct="0">
                <a:defRPr sz="3200" b="0">
                  <a:solidFill>
                    <a:srgbClr val="FFFFFF"/>
                  </a:solidFill>
                  <a:latin typeface="+mn-lt"/>
                  <a:ea typeface="+mn-ea"/>
                  <a:cs typeface="+mn-cs"/>
                  <a:sym typeface="Helvetica Neue Medium"/>
                </a:defRPr>
              </a:pPr>
              <a:r>
                <a:rPr lang="en-US" sz="1200" kern="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New Headline Test</a:t>
              </a:r>
              <a:endParaRPr sz="1200" kern="0" dirty="0">
                <a:solidFill>
                  <a:schemeClr val="tx1">
                    <a:lumMod val="85000"/>
                    <a:lumOff val="15000"/>
                  </a:schemeClr>
                </a:solidFill>
                <a:latin typeface="Century Gothic" panose="020B0502020202020204" pitchFamily="34" charset="0"/>
                <a:ea typeface="Helvetica Neue Medium"/>
                <a:cs typeface="Helvetica Neue Medium"/>
                <a:sym typeface="Helvetica Neue Medium"/>
              </a:endParaRPr>
            </a:p>
          </p:txBody>
        </p:sp>
        <p:sp>
          <p:nvSpPr>
            <p:cNvPr id="8" name="Rectangle">
              <a:extLst>
                <a:ext uri="{FF2B5EF4-FFF2-40B4-BE49-F238E27FC236}">
                  <a16:creationId xmlns:a16="http://schemas.microsoft.com/office/drawing/2014/main" id="{5AEA49E3-FDD4-DA96-99FD-92DEF917D07F}"/>
                </a:ext>
              </a:extLst>
            </p:cNvPr>
            <p:cNvSpPr/>
            <p:nvPr/>
          </p:nvSpPr>
          <p:spPr>
            <a:xfrm>
              <a:off x="2857716" y="3758449"/>
              <a:ext cx="2898414" cy="534796"/>
            </a:xfrm>
            <a:prstGeom prst="roundRect">
              <a:avLst/>
            </a:prstGeom>
            <a:solidFill>
              <a:srgbClr val="EFEFEF"/>
            </a:solidFill>
            <a:ln w="12700">
              <a:miter lim="400000"/>
            </a:ln>
            <a:effectLst>
              <a:outerShdw blurRad="406400" dist="63500" dir="2700000" sx="102000" sy="102000" algn="tl" rotWithShape="0">
                <a:prstClr val="black">
                  <a:alpha val="25000"/>
                </a:prstClr>
              </a:outerShdw>
            </a:effectLst>
          </p:spPr>
          <p:txBody>
            <a:bodyPr lIns="0" tIns="0" rIns="0" bIns="0" anchor="ctr"/>
            <a:lstStyle/>
            <a:p>
              <a:pPr algn="ctr" defTabSz="619125" hangingPunct="0">
                <a:defRPr sz="3200" b="0">
                  <a:solidFill>
                    <a:srgbClr val="FFFFFF"/>
                  </a:solidFill>
                  <a:latin typeface="+mn-lt"/>
                  <a:ea typeface="+mn-ea"/>
                  <a:cs typeface="+mn-cs"/>
                  <a:sym typeface="Helvetica Neue Medium"/>
                </a:defRPr>
              </a:pPr>
              <a:r>
                <a:rPr lang="en-US" sz="1200" kern="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Totally New Landing Page</a:t>
              </a:r>
              <a:endParaRPr sz="1200" kern="0" dirty="0">
                <a:solidFill>
                  <a:schemeClr val="tx1">
                    <a:lumMod val="85000"/>
                    <a:lumOff val="15000"/>
                  </a:schemeClr>
                </a:solidFill>
                <a:latin typeface="Century Gothic" panose="020B0502020202020204" pitchFamily="34" charset="0"/>
                <a:ea typeface="Helvetica Neue Medium"/>
                <a:cs typeface="Helvetica Neue Medium"/>
                <a:sym typeface="Helvetica Neue Medium"/>
              </a:endParaRPr>
            </a:p>
          </p:txBody>
        </p:sp>
        <p:sp>
          <p:nvSpPr>
            <p:cNvPr id="9" name="Rectangle">
              <a:extLst>
                <a:ext uri="{FF2B5EF4-FFF2-40B4-BE49-F238E27FC236}">
                  <a16:creationId xmlns:a16="http://schemas.microsoft.com/office/drawing/2014/main" id="{306BFB2C-3C31-1A61-BC60-41B974BCDD08}"/>
                </a:ext>
              </a:extLst>
            </p:cNvPr>
            <p:cNvSpPr/>
            <p:nvPr/>
          </p:nvSpPr>
          <p:spPr>
            <a:xfrm>
              <a:off x="2857716" y="4827071"/>
              <a:ext cx="2898414" cy="534796"/>
            </a:xfrm>
            <a:prstGeom prst="roundRect">
              <a:avLst/>
            </a:prstGeom>
            <a:solidFill>
              <a:srgbClr val="EFEFEF"/>
            </a:solidFill>
            <a:ln w="12700">
              <a:miter lim="400000"/>
            </a:ln>
            <a:effectLst>
              <a:outerShdw blurRad="406400" dist="63500" dir="2700000" sx="102000" sy="102000" algn="tl" rotWithShape="0">
                <a:prstClr val="black">
                  <a:alpha val="25000"/>
                </a:prstClr>
              </a:outerShdw>
            </a:effectLst>
          </p:spPr>
          <p:txBody>
            <a:bodyPr lIns="0" tIns="0" rIns="0" bIns="0" anchor="ctr"/>
            <a:lstStyle/>
            <a:p>
              <a:pPr algn="ctr" defTabSz="619125" hangingPunct="0">
                <a:defRPr sz="3200" b="0">
                  <a:solidFill>
                    <a:srgbClr val="FFFFFF"/>
                  </a:solidFill>
                  <a:latin typeface="+mn-lt"/>
                  <a:ea typeface="+mn-ea"/>
                  <a:cs typeface="+mn-cs"/>
                  <a:sym typeface="Helvetica Neue Medium"/>
                </a:defRPr>
              </a:pPr>
              <a:r>
                <a:rPr lang="en-US" sz="1200" kern="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Another All-new Landing Page</a:t>
              </a:r>
              <a:endParaRPr sz="1200" kern="0" dirty="0">
                <a:solidFill>
                  <a:schemeClr val="tx1">
                    <a:lumMod val="85000"/>
                    <a:lumOff val="15000"/>
                  </a:schemeClr>
                </a:solidFill>
                <a:latin typeface="Century Gothic" panose="020B0502020202020204" pitchFamily="34" charset="0"/>
                <a:ea typeface="Helvetica Neue Medium"/>
                <a:cs typeface="Helvetica Neue Medium"/>
                <a:sym typeface="Helvetica Neue Medium"/>
              </a:endParaRPr>
            </a:p>
          </p:txBody>
        </p:sp>
      </p:grpSp>
      <p:sp>
        <p:nvSpPr>
          <p:cNvPr id="10" name="Rounded Rectangle">
            <a:extLst>
              <a:ext uri="{FF2B5EF4-FFF2-40B4-BE49-F238E27FC236}">
                <a16:creationId xmlns:a16="http://schemas.microsoft.com/office/drawing/2014/main" id="{A988D974-C6AC-AF03-FED4-F8428EF22A63}"/>
              </a:ext>
            </a:extLst>
          </p:cNvPr>
          <p:cNvSpPr/>
          <p:nvPr/>
        </p:nvSpPr>
        <p:spPr>
          <a:xfrm>
            <a:off x="5238749" y="2348956"/>
            <a:ext cx="1177891" cy="401097"/>
          </a:xfrm>
          <a:prstGeom prst="roundRect">
            <a:avLst/>
          </a:prstGeom>
          <a:solidFill>
            <a:schemeClr val="bg1">
              <a:alpha val="13000"/>
            </a:schemeClr>
          </a:solidFill>
          <a:ln w="31750">
            <a:noFill/>
            <a:miter lim="400000"/>
          </a:ln>
          <a:effectLst>
            <a:outerShdw sx="1000" sy="1000" algn="tl" rotWithShape="0">
              <a:prstClr val="black"/>
            </a:outerShdw>
          </a:effectLst>
        </p:spPr>
        <p:txBody>
          <a:bodyPr lIns="0" tIns="0" rIns="0" bIns="0" anchor="ctr"/>
          <a:lstStyle/>
          <a:p>
            <a:pPr algn="ctr" defTabSz="619125" hangingPunct="0">
              <a:defRPr sz="3200" b="0">
                <a:solidFill>
                  <a:srgbClr val="FFFFFF"/>
                </a:solidFill>
                <a:latin typeface="+mn-lt"/>
                <a:ea typeface="+mn-ea"/>
                <a:cs typeface="+mn-cs"/>
                <a:sym typeface="Helvetica Neue Medium"/>
              </a:defRPr>
            </a:pPr>
            <a:r>
              <a:rPr lang="en-US" sz="1200" kern="0" dirty="0">
                <a:solidFill>
                  <a:srgbClr val="2DC5FF"/>
                </a:solidFill>
                <a:latin typeface="Century Gothic" panose="020B0502020202020204" pitchFamily="34" charset="0"/>
                <a:ea typeface="Helvetica Neue Medium"/>
                <a:cs typeface="Helvetica Neue Medium"/>
                <a:sym typeface="Helvetica Neue Medium"/>
              </a:rPr>
              <a:t>+0.8</a:t>
            </a:r>
            <a:endParaRPr sz="1200" kern="0" dirty="0">
              <a:solidFill>
                <a:srgbClr val="2DC5FF"/>
              </a:solidFill>
              <a:latin typeface="Century Gothic" panose="020B0502020202020204" pitchFamily="34" charset="0"/>
              <a:ea typeface="Helvetica Neue Medium"/>
              <a:cs typeface="Helvetica Neue Medium"/>
              <a:sym typeface="Helvetica Neue Medium"/>
            </a:endParaRPr>
          </a:p>
        </p:txBody>
      </p:sp>
      <p:sp>
        <p:nvSpPr>
          <p:cNvPr id="11" name="Rounded Rectangle">
            <a:extLst>
              <a:ext uri="{FF2B5EF4-FFF2-40B4-BE49-F238E27FC236}">
                <a16:creationId xmlns:a16="http://schemas.microsoft.com/office/drawing/2014/main" id="{97F9643C-978D-C159-F53A-8DB70488FE5E}"/>
              </a:ext>
            </a:extLst>
          </p:cNvPr>
          <p:cNvSpPr/>
          <p:nvPr/>
        </p:nvSpPr>
        <p:spPr>
          <a:xfrm>
            <a:off x="5238749" y="3130991"/>
            <a:ext cx="1177891" cy="401097"/>
          </a:xfrm>
          <a:prstGeom prst="roundRect">
            <a:avLst/>
          </a:prstGeom>
          <a:solidFill>
            <a:schemeClr val="bg1">
              <a:alpha val="13000"/>
            </a:schemeClr>
          </a:solidFill>
          <a:ln w="31750">
            <a:noFill/>
            <a:miter lim="400000"/>
          </a:ln>
          <a:effectLst>
            <a:outerShdw sx="1000" sy="1000" algn="tl" rotWithShape="0">
              <a:prstClr val="black"/>
            </a:outerShdw>
          </a:effectLst>
        </p:spPr>
        <p:txBody>
          <a:bodyPr lIns="0" tIns="0" rIns="0" bIns="0" anchor="ctr"/>
          <a:lstStyle/>
          <a:p>
            <a:pPr algn="ctr" defTabSz="619125" hangingPunct="0">
              <a:defRPr sz="3200" b="0">
                <a:solidFill>
                  <a:srgbClr val="FFFFFF"/>
                </a:solidFill>
                <a:latin typeface="+mn-lt"/>
                <a:ea typeface="+mn-ea"/>
                <a:cs typeface="+mn-cs"/>
                <a:sym typeface="Helvetica Neue Medium"/>
              </a:defRPr>
            </a:pPr>
            <a:r>
              <a:rPr lang="en-US" sz="1200" kern="0" dirty="0">
                <a:solidFill>
                  <a:srgbClr val="2DC5FF"/>
                </a:solidFill>
                <a:latin typeface="Century Gothic" panose="020B0502020202020204" pitchFamily="34" charset="0"/>
                <a:ea typeface="Helvetica Neue Medium"/>
                <a:cs typeface="Helvetica Neue Medium"/>
                <a:sym typeface="Helvetica Neue Medium"/>
              </a:rPr>
              <a:t>-4.0%</a:t>
            </a:r>
            <a:endParaRPr sz="1200" kern="0" dirty="0">
              <a:solidFill>
                <a:srgbClr val="2DC5FF"/>
              </a:solidFill>
              <a:latin typeface="Century Gothic" panose="020B0502020202020204" pitchFamily="34" charset="0"/>
              <a:ea typeface="Helvetica Neue Medium"/>
              <a:cs typeface="Helvetica Neue Medium"/>
              <a:sym typeface="Helvetica Neue Medium"/>
            </a:endParaRPr>
          </a:p>
        </p:txBody>
      </p:sp>
      <p:sp>
        <p:nvSpPr>
          <p:cNvPr id="12" name="Rounded Rectangle">
            <a:extLst>
              <a:ext uri="{FF2B5EF4-FFF2-40B4-BE49-F238E27FC236}">
                <a16:creationId xmlns:a16="http://schemas.microsoft.com/office/drawing/2014/main" id="{2CA3FC04-C117-67CD-847F-3909FF132DE4}"/>
              </a:ext>
            </a:extLst>
          </p:cNvPr>
          <p:cNvSpPr/>
          <p:nvPr/>
        </p:nvSpPr>
        <p:spPr>
          <a:xfrm>
            <a:off x="5238749" y="3931821"/>
            <a:ext cx="1177891" cy="401097"/>
          </a:xfrm>
          <a:prstGeom prst="roundRect">
            <a:avLst/>
          </a:prstGeom>
          <a:solidFill>
            <a:schemeClr val="bg1">
              <a:alpha val="13000"/>
            </a:schemeClr>
          </a:solidFill>
          <a:ln w="31750">
            <a:noFill/>
            <a:miter lim="400000"/>
          </a:ln>
          <a:effectLst>
            <a:outerShdw sx="1000" sy="1000" algn="tl" rotWithShape="0">
              <a:prstClr val="black"/>
            </a:outerShdw>
          </a:effectLst>
        </p:spPr>
        <p:txBody>
          <a:bodyPr lIns="0" tIns="0" rIns="0" bIns="0" anchor="ctr"/>
          <a:lstStyle/>
          <a:p>
            <a:pPr algn="ctr" defTabSz="619125" hangingPunct="0">
              <a:defRPr sz="3200" b="0">
                <a:solidFill>
                  <a:srgbClr val="FFFFFF"/>
                </a:solidFill>
                <a:latin typeface="+mn-lt"/>
                <a:ea typeface="+mn-ea"/>
                <a:cs typeface="+mn-cs"/>
                <a:sym typeface="Helvetica Neue Medium"/>
              </a:defRPr>
            </a:pPr>
            <a:r>
              <a:rPr lang="en-US" sz="1200" kern="0" dirty="0">
                <a:solidFill>
                  <a:srgbClr val="2DC5FF"/>
                </a:solidFill>
                <a:latin typeface="Century Gothic" panose="020B0502020202020204" pitchFamily="34" charset="0"/>
                <a:ea typeface="Helvetica Neue Medium"/>
                <a:cs typeface="Helvetica Neue Medium"/>
                <a:sym typeface="Helvetica Neue Medium"/>
              </a:rPr>
              <a:t>+6.0%</a:t>
            </a:r>
            <a:endParaRPr sz="1200" kern="0" dirty="0">
              <a:solidFill>
                <a:srgbClr val="2DC5FF"/>
              </a:solidFill>
              <a:latin typeface="Century Gothic" panose="020B0502020202020204" pitchFamily="34" charset="0"/>
              <a:ea typeface="Helvetica Neue Medium"/>
              <a:cs typeface="Helvetica Neue Medium"/>
              <a:sym typeface="Helvetica Neue Medium"/>
            </a:endParaRPr>
          </a:p>
        </p:txBody>
      </p:sp>
      <p:cxnSp>
        <p:nvCxnSpPr>
          <p:cNvPr id="13" name="Elbow Connector 99">
            <a:extLst>
              <a:ext uri="{FF2B5EF4-FFF2-40B4-BE49-F238E27FC236}">
                <a16:creationId xmlns:a16="http://schemas.microsoft.com/office/drawing/2014/main" id="{D4448F64-C09C-2807-9A4B-4884FA4A6AE4}"/>
              </a:ext>
            </a:extLst>
          </p:cNvPr>
          <p:cNvCxnSpPr>
            <a:cxnSpLocks/>
          </p:cNvCxnSpPr>
          <p:nvPr/>
        </p:nvCxnSpPr>
        <p:spPr>
          <a:xfrm flipV="1">
            <a:off x="1044688" y="1769818"/>
            <a:ext cx="883779" cy="1170257"/>
          </a:xfrm>
          <a:prstGeom prst="bentConnector3">
            <a:avLst>
              <a:gd name="adj1" fmla="val 50000"/>
            </a:avLst>
          </a:prstGeom>
          <a:noFill/>
          <a:ln w="12700" cap="rnd">
            <a:solidFill>
              <a:srgbClr val="5F72F8"/>
            </a:solidFill>
            <a:prstDash val="solid"/>
            <a:round/>
            <a:tailEnd type="oval" w="lg" len="lg"/>
          </a:ln>
          <a:effectLst/>
          <a:sp3d/>
        </p:spPr>
        <p:style>
          <a:lnRef idx="0">
            <a:scrgbClr r="0" g="0" b="0"/>
          </a:lnRef>
          <a:fillRef idx="0">
            <a:scrgbClr r="0" g="0" b="0"/>
          </a:fillRef>
          <a:effectRef idx="0">
            <a:scrgbClr r="0" g="0" b="0"/>
          </a:effectRef>
          <a:fontRef idx="none"/>
        </p:style>
      </p:cxnSp>
      <p:cxnSp>
        <p:nvCxnSpPr>
          <p:cNvPr id="14" name="Elbow Connector 100">
            <a:extLst>
              <a:ext uri="{FF2B5EF4-FFF2-40B4-BE49-F238E27FC236}">
                <a16:creationId xmlns:a16="http://schemas.microsoft.com/office/drawing/2014/main" id="{9F9304BD-D6C4-089A-737E-292F21E9F18E}"/>
              </a:ext>
            </a:extLst>
          </p:cNvPr>
          <p:cNvCxnSpPr>
            <a:cxnSpLocks/>
          </p:cNvCxnSpPr>
          <p:nvPr/>
        </p:nvCxnSpPr>
        <p:spPr>
          <a:xfrm flipV="1">
            <a:off x="1044688" y="2549505"/>
            <a:ext cx="883779" cy="390571"/>
          </a:xfrm>
          <a:prstGeom prst="bentConnector3">
            <a:avLst>
              <a:gd name="adj1" fmla="val 50000"/>
            </a:avLst>
          </a:prstGeom>
          <a:noFill/>
          <a:ln w="12700" cap="rnd">
            <a:solidFill>
              <a:srgbClr val="5F72F8"/>
            </a:solidFill>
            <a:prstDash val="solid"/>
            <a:round/>
            <a:tailEnd type="oval" w="lg" len="lg"/>
          </a:ln>
          <a:effectLst/>
          <a:sp3d/>
        </p:spPr>
        <p:style>
          <a:lnRef idx="0">
            <a:scrgbClr r="0" g="0" b="0"/>
          </a:lnRef>
          <a:fillRef idx="0">
            <a:scrgbClr r="0" g="0" b="0"/>
          </a:fillRef>
          <a:effectRef idx="0">
            <a:scrgbClr r="0" g="0" b="0"/>
          </a:effectRef>
          <a:fontRef idx="none"/>
        </p:style>
      </p:cxnSp>
      <p:cxnSp>
        <p:nvCxnSpPr>
          <p:cNvPr id="15" name="Elbow Connector 101">
            <a:extLst>
              <a:ext uri="{FF2B5EF4-FFF2-40B4-BE49-F238E27FC236}">
                <a16:creationId xmlns:a16="http://schemas.microsoft.com/office/drawing/2014/main" id="{B3329B85-8105-8A4C-E01D-FBD405CB130D}"/>
              </a:ext>
            </a:extLst>
          </p:cNvPr>
          <p:cNvCxnSpPr>
            <a:cxnSpLocks/>
          </p:cNvCxnSpPr>
          <p:nvPr/>
        </p:nvCxnSpPr>
        <p:spPr>
          <a:xfrm>
            <a:off x="1044688" y="2940075"/>
            <a:ext cx="883779" cy="391465"/>
          </a:xfrm>
          <a:prstGeom prst="bentConnector3">
            <a:avLst>
              <a:gd name="adj1" fmla="val 50000"/>
            </a:avLst>
          </a:prstGeom>
          <a:noFill/>
          <a:ln w="12700" cap="rnd">
            <a:solidFill>
              <a:srgbClr val="5F72F8"/>
            </a:solidFill>
            <a:prstDash val="solid"/>
            <a:round/>
            <a:tailEnd type="oval" w="lg" len="lg"/>
          </a:ln>
          <a:effectLst/>
          <a:sp3d/>
        </p:spPr>
        <p:style>
          <a:lnRef idx="0">
            <a:scrgbClr r="0" g="0" b="0"/>
          </a:lnRef>
          <a:fillRef idx="0">
            <a:scrgbClr r="0" g="0" b="0"/>
          </a:fillRef>
          <a:effectRef idx="0">
            <a:scrgbClr r="0" g="0" b="0"/>
          </a:effectRef>
          <a:fontRef idx="none"/>
        </p:style>
      </p:cxnSp>
      <p:cxnSp>
        <p:nvCxnSpPr>
          <p:cNvPr id="16" name="Elbow Connector 104">
            <a:extLst>
              <a:ext uri="{FF2B5EF4-FFF2-40B4-BE49-F238E27FC236}">
                <a16:creationId xmlns:a16="http://schemas.microsoft.com/office/drawing/2014/main" id="{0A892977-9DAF-A958-6BD3-767339A60036}"/>
              </a:ext>
            </a:extLst>
          </p:cNvPr>
          <p:cNvCxnSpPr>
            <a:cxnSpLocks/>
          </p:cNvCxnSpPr>
          <p:nvPr/>
        </p:nvCxnSpPr>
        <p:spPr>
          <a:xfrm>
            <a:off x="1044688" y="2940076"/>
            <a:ext cx="883779" cy="1192931"/>
          </a:xfrm>
          <a:prstGeom prst="bentConnector3">
            <a:avLst>
              <a:gd name="adj1" fmla="val 50000"/>
            </a:avLst>
          </a:prstGeom>
          <a:noFill/>
          <a:ln w="12700" cap="rnd">
            <a:solidFill>
              <a:srgbClr val="5F72F8"/>
            </a:solidFill>
            <a:prstDash val="solid"/>
            <a:round/>
            <a:tailEnd type="oval" w="lg" len="lg"/>
          </a:ln>
          <a:effectLst/>
          <a:sp3d/>
        </p:spPr>
        <p:style>
          <a:lnRef idx="0">
            <a:scrgbClr r="0" g="0" b="0"/>
          </a:lnRef>
          <a:fillRef idx="0">
            <a:scrgbClr r="0" g="0" b="0"/>
          </a:fillRef>
          <a:effectRef idx="0">
            <a:scrgbClr r="0" g="0" b="0"/>
          </a:effectRef>
          <a:fontRef idx="none"/>
        </p:style>
      </p:cxnSp>
      <p:cxnSp>
        <p:nvCxnSpPr>
          <p:cNvPr id="17" name="Elbow Connector 107">
            <a:extLst>
              <a:ext uri="{FF2B5EF4-FFF2-40B4-BE49-F238E27FC236}">
                <a16:creationId xmlns:a16="http://schemas.microsoft.com/office/drawing/2014/main" id="{FCA58B1B-F920-4994-7BCB-1D9C963BE47F}"/>
              </a:ext>
            </a:extLst>
          </p:cNvPr>
          <p:cNvCxnSpPr>
            <a:cxnSpLocks/>
          </p:cNvCxnSpPr>
          <p:nvPr/>
        </p:nvCxnSpPr>
        <p:spPr>
          <a:xfrm>
            <a:off x="4319509" y="1769819"/>
            <a:ext cx="922607" cy="0"/>
          </a:xfrm>
          <a:prstGeom prst="bentConnector3">
            <a:avLst>
              <a:gd name="adj1" fmla="val 50000"/>
            </a:avLst>
          </a:prstGeom>
          <a:noFill/>
          <a:ln w="12700" cap="rnd">
            <a:solidFill>
              <a:srgbClr val="60656D"/>
            </a:solidFill>
            <a:prstDash val="solid"/>
            <a:round/>
            <a:tailEnd type="oval" w="lg" len="lg"/>
          </a:ln>
          <a:effectLst/>
          <a:sp3d/>
        </p:spPr>
        <p:style>
          <a:lnRef idx="0">
            <a:scrgbClr r="0" g="0" b="0"/>
          </a:lnRef>
          <a:fillRef idx="0">
            <a:scrgbClr r="0" g="0" b="0"/>
          </a:fillRef>
          <a:effectRef idx="0">
            <a:scrgbClr r="0" g="0" b="0"/>
          </a:effectRef>
          <a:fontRef idx="none"/>
        </p:style>
      </p:cxnSp>
      <p:cxnSp>
        <p:nvCxnSpPr>
          <p:cNvPr id="18" name="Elbow Connector 110">
            <a:extLst>
              <a:ext uri="{FF2B5EF4-FFF2-40B4-BE49-F238E27FC236}">
                <a16:creationId xmlns:a16="http://schemas.microsoft.com/office/drawing/2014/main" id="{E7791AD8-E685-FB1C-F454-979C36FFCA2A}"/>
              </a:ext>
            </a:extLst>
          </p:cNvPr>
          <p:cNvCxnSpPr>
            <a:cxnSpLocks/>
          </p:cNvCxnSpPr>
          <p:nvPr/>
        </p:nvCxnSpPr>
        <p:spPr>
          <a:xfrm>
            <a:off x="4319509" y="2549504"/>
            <a:ext cx="919240" cy="0"/>
          </a:xfrm>
          <a:prstGeom prst="bentConnector3">
            <a:avLst>
              <a:gd name="adj1" fmla="val 50000"/>
            </a:avLst>
          </a:prstGeom>
          <a:noFill/>
          <a:ln w="12700" cap="rnd">
            <a:solidFill>
              <a:srgbClr val="60656D"/>
            </a:solidFill>
            <a:prstDash val="solid"/>
            <a:round/>
            <a:tailEnd type="oval" w="lg" len="lg"/>
          </a:ln>
          <a:effectLst/>
          <a:sp3d/>
        </p:spPr>
        <p:style>
          <a:lnRef idx="0">
            <a:scrgbClr r="0" g="0" b="0"/>
          </a:lnRef>
          <a:fillRef idx="0">
            <a:scrgbClr r="0" g="0" b="0"/>
          </a:fillRef>
          <a:effectRef idx="0">
            <a:scrgbClr r="0" g="0" b="0"/>
          </a:effectRef>
          <a:fontRef idx="none"/>
        </p:style>
      </p:cxnSp>
      <p:cxnSp>
        <p:nvCxnSpPr>
          <p:cNvPr id="19" name="Elbow Connector 113">
            <a:extLst>
              <a:ext uri="{FF2B5EF4-FFF2-40B4-BE49-F238E27FC236}">
                <a16:creationId xmlns:a16="http://schemas.microsoft.com/office/drawing/2014/main" id="{5F8BB0E7-90AC-DF1E-C987-B58177A63509}"/>
              </a:ext>
            </a:extLst>
          </p:cNvPr>
          <p:cNvCxnSpPr>
            <a:cxnSpLocks/>
          </p:cNvCxnSpPr>
          <p:nvPr/>
        </p:nvCxnSpPr>
        <p:spPr>
          <a:xfrm>
            <a:off x="4319509" y="3331540"/>
            <a:ext cx="919240" cy="0"/>
          </a:xfrm>
          <a:prstGeom prst="bentConnector3">
            <a:avLst>
              <a:gd name="adj1" fmla="val 50000"/>
            </a:avLst>
          </a:prstGeom>
          <a:noFill/>
          <a:ln w="12700" cap="rnd">
            <a:solidFill>
              <a:srgbClr val="60656D"/>
            </a:solidFill>
            <a:prstDash val="solid"/>
            <a:round/>
            <a:tailEnd type="oval" w="lg" len="lg"/>
          </a:ln>
          <a:effectLst/>
          <a:sp3d/>
        </p:spPr>
        <p:style>
          <a:lnRef idx="0">
            <a:scrgbClr r="0" g="0" b="0"/>
          </a:lnRef>
          <a:fillRef idx="0">
            <a:scrgbClr r="0" g="0" b="0"/>
          </a:fillRef>
          <a:effectRef idx="0">
            <a:scrgbClr r="0" g="0" b="0"/>
          </a:effectRef>
          <a:fontRef idx="none"/>
        </p:style>
      </p:cxnSp>
      <p:cxnSp>
        <p:nvCxnSpPr>
          <p:cNvPr id="20" name="Elbow Connector 116">
            <a:extLst>
              <a:ext uri="{FF2B5EF4-FFF2-40B4-BE49-F238E27FC236}">
                <a16:creationId xmlns:a16="http://schemas.microsoft.com/office/drawing/2014/main" id="{B5D3D875-9544-9CE0-129E-D2A3E8D1CBE1}"/>
              </a:ext>
            </a:extLst>
          </p:cNvPr>
          <p:cNvCxnSpPr>
            <a:cxnSpLocks/>
          </p:cNvCxnSpPr>
          <p:nvPr/>
        </p:nvCxnSpPr>
        <p:spPr>
          <a:xfrm flipV="1">
            <a:off x="4319509" y="4132370"/>
            <a:ext cx="919240" cy="637"/>
          </a:xfrm>
          <a:prstGeom prst="bentConnector3">
            <a:avLst>
              <a:gd name="adj1" fmla="val 50000"/>
            </a:avLst>
          </a:prstGeom>
          <a:noFill/>
          <a:ln w="12700" cap="rnd">
            <a:solidFill>
              <a:srgbClr val="60656D"/>
            </a:solidFill>
            <a:prstDash val="solid"/>
            <a:round/>
            <a:tailEnd type="oval" w="lg" len="lg"/>
          </a:ln>
          <a:effectLst/>
          <a:sp3d/>
        </p:spPr>
        <p:style>
          <a:lnRef idx="0">
            <a:scrgbClr r="0" g="0" b="0"/>
          </a:lnRef>
          <a:fillRef idx="0">
            <a:scrgbClr r="0" g="0" b="0"/>
          </a:fillRef>
          <a:effectRef idx="0">
            <a:scrgbClr r="0" g="0" b="0"/>
          </a:effectRef>
          <a:fontRef idx="none"/>
        </p:style>
      </p:cxnSp>
      <p:sp>
        <p:nvSpPr>
          <p:cNvPr id="21" name="Content Placeholder 2">
            <a:extLst>
              <a:ext uri="{FF2B5EF4-FFF2-40B4-BE49-F238E27FC236}">
                <a16:creationId xmlns:a16="http://schemas.microsoft.com/office/drawing/2014/main" id="{A1405D66-02DE-6A4C-6443-2BAC2EA536F0}"/>
              </a:ext>
            </a:extLst>
          </p:cNvPr>
          <p:cNvSpPr txBox="1">
            <a:spLocks/>
          </p:cNvSpPr>
          <p:nvPr/>
        </p:nvSpPr>
        <p:spPr>
          <a:xfrm>
            <a:off x="5290113" y="964090"/>
            <a:ext cx="1081896" cy="282129"/>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1200" dirty="0">
                <a:solidFill>
                  <a:schemeClr val="tx1">
                    <a:lumMod val="85000"/>
                    <a:lumOff val="15000"/>
                  </a:schemeClr>
                </a:solidFill>
                <a:latin typeface="Century Gothic" panose="020B0502020202020204" pitchFamily="34" charset="0"/>
              </a:rPr>
              <a:t>A/B Testing    Improvements</a:t>
            </a:r>
          </a:p>
        </p:txBody>
      </p:sp>
      <p:grpSp>
        <p:nvGrpSpPr>
          <p:cNvPr id="22" name="Group 3">
            <a:extLst>
              <a:ext uri="{FF2B5EF4-FFF2-40B4-BE49-F238E27FC236}">
                <a16:creationId xmlns:a16="http://schemas.microsoft.com/office/drawing/2014/main" id="{43F7A17D-7024-25CC-9E80-35324491B83D}"/>
              </a:ext>
            </a:extLst>
          </p:cNvPr>
          <p:cNvGrpSpPr/>
          <p:nvPr/>
        </p:nvGrpSpPr>
        <p:grpSpPr>
          <a:xfrm>
            <a:off x="6988548" y="1471674"/>
            <a:ext cx="596290" cy="596290"/>
            <a:chOff x="10410655" y="2368966"/>
            <a:chExt cx="569337" cy="569337"/>
          </a:xfrm>
        </p:grpSpPr>
        <p:sp>
          <p:nvSpPr>
            <p:cNvPr id="23" name="Block Arc 80">
              <a:extLst>
                <a:ext uri="{FF2B5EF4-FFF2-40B4-BE49-F238E27FC236}">
                  <a16:creationId xmlns:a16="http://schemas.microsoft.com/office/drawing/2014/main" id="{ECC81A6C-621F-6672-EDE3-E1F0A9AA0FDE}"/>
                </a:ext>
              </a:extLst>
            </p:cNvPr>
            <p:cNvSpPr/>
            <p:nvPr/>
          </p:nvSpPr>
          <p:spPr>
            <a:xfrm rot="8930972">
              <a:off x="10410655" y="2368966"/>
              <a:ext cx="569337" cy="569337"/>
            </a:xfrm>
            <a:prstGeom prst="blockArc">
              <a:avLst>
                <a:gd name="adj1" fmla="val 14543974"/>
                <a:gd name="adj2" fmla="val 9787073"/>
                <a:gd name="adj3" fmla="val 12182"/>
              </a:avLst>
            </a:prstGeom>
            <a:solidFill>
              <a:srgbClr val="4A4F58"/>
            </a:solidFill>
            <a:ln>
              <a:noFill/>
            </a:ln>
            <a:effectLst>
              <a:outerShdw blurRad="330200" sx="58000" sy="58000" algn="ctr" rotWithShape="0">
                <a:schemeClr val="bg1">
                  <a:alpha val="17000"/>
                </a:schemeClr>
              </a:outerShdw>
            </a:effectLst>
          </p:spPr>
          <p:txBody>
            <a:bodyPr vert="horz" wrap="square" lIns="68580" tIns="34290" rIns="68580" bIns="34290" numCol="1" anchor="t" anchorCtr="0" compatLnSpc="1">
              <a:prstTxWarp prst="textNoShape">
                <a:avLst/>
              </a:prstTxWarp>
            </a:bodyPr>
            <a:lstStyle/>
            <a:p>
              <a:endParaRPr lang="en-US" sz="900">
                <a:solidFill>
                  <a:schemeClr val="tx1">
                    <a:lumMod val="85000"/>
                    <a:lumOff val="15000"/>
                  </a:schemeClr>
                </a:solidFill>
              </a:endParaRPr>
            </a:p>
          </p:txBody>
        </p:sp>
        <p:sp>
          <p:nvSpPr>
            <p:cNvPr id="24" name="Block Arc 87">
              <a:extLst>
                <a:ext uri="{FF2B5EF4-FFF2-40B4-BE49-F238E27FC236}">
                  <a16:creationId xmlns:a16="http://schemas.microsoft.com/office/drawing/2014/main" id="{3DE4E324-BF85-E71F-329C-804CCE9AEB73}"/>
                </a:ext>
              </a:extLst>
            </p:cNvPr>
            <p:cNvSpPr/>
            <p:nvPr/>
          </p:nvSpPr>
          <p:spPr>
            <a:xfrm rot="4501507" flipV="1">
              <a:off x="10410655" y="2368966"/>
              <a:ext cx="569337" cy="569337"/>
            </a:xfrm>
            <a:prstGeom prst="blockArc">
              <a:avLst>
                <a:gd name="adj1" fmla="val 19667859"/>
                <a:gd name="adj2" fmla="val 9787073"/>
                <a:gd name="adj3" fmla="val 12182"/>
              </a:avLst>
            </a:prstGeom>
            <a:gradFill flip="none" rotWithShape="1">
              <a:gsLst>
                <a:gs pos="0">
                  <a:srgbClr val="2DC5FF"/>
                </a:gs>
                <a:gs pos="87000">
                  <a:srgbClr val="5F72F8"/>
                </a:gs>
              </a:gsLst>
              <a:lin ang="16200000" scaled="1"/>
              <a:tileRect/>
            </a:gradFill>
            <a:ln>
              <a:noFill/>
            </a:ln>
          </p:spPr>
          <p:txBody>
            <a:bodyPr vert="horz" wrap="square" lIns="68580" tIns="34290" rIns="68580" bIns="34290" numCol="1" anchor="t" anchorCtr="0" compatLnSpc="1">
              <a:prstTxWarp prst="textNoShape">
                <a:avLst/>
              </a:prstTxWarp>
            </a:bodyPr>
            <a:lstStyle/>
            <a:p>
              <a:endParaRPr lang="en-US" sz="900">
                <a:solidFill>
                  <a:schemeClr val="tx1">
                    <a:lumMod val="85000"/>
                    <a:lumOff val="15000"/>
                  </a:schemeClr>
                </a:solidFill>
              </a:endParaRPr>
            </a:p>
          </p:txBody>
        </p:sp>
      </p:grpSp>
      <p:grpSp>
        <p:nvGrpSpPr>
          <p:cNvPr id="25" name="Group 91">
            <a:extLst>
              <a:ext uri="{FF2B5EF4-FFF2-40B4-BE49-F238E27FC236}">
                <a16:creationId xmlns:a16="http://schemas.microsoft.com/office/drawing/2014/main" id="{FCE64F36-68C1-8C90-1A73-837DD7D5CD2D}"/>
              </a:ext>
            </a:extLst>
          </p:cNvPr>
          <p:cNvGrpSpPr/>
          <p:nvPr/>
        </p:nvGrpSpPr>
        <p:grpSpPr>
          <a:xfrm>
            <a:off x="6988548" y="2247565"/>
            <a:ext cx="596290" cy="596290"/>
            <a:chOff x="10410655" y="2368966"/>
            <a:chExt cx="569337" cy="569337"/>
          </a:xfrm>
        </p:grpSpPr>
        <p:sp>
          <p:nvSpPr>
            <p:cNvPr id="26" name="Block Arc 92">
              <a:extLst>
                <a:ext uri="{FF2B5EF4-FFF2-40B4-BE49-F238E27FC236}">
                  <a16:creationId xmlns:a16="http://schemas.microsoft.com/office/drawing/2014/main" id="{C751EB89-6360-6A70-5D36-D01A59F3A359}"/>
                </a:ext>
              </a:extLst>
            </p:cNvPr>
            <p:cNvSpPr/>
            <p:nvPr/>
          </p:nvSpPr>
          <p:spPr>
            <a:xfrm rot="8930972">
              <a:off x="10410655" y="2368966"/>
              <a:ext cx="569337" cy="569337"/>
            </a:xfrm>
            <a:prstGeom prst="blockArc">
              <a:avLst>
                <a:gd name="adj1" fmla="val 14543974"/>
                <a:gd name="adj2" fmla="val 9787073"/>
                <a:gd name="adj3" fmla="val 12182"/>
              </a:avLst>
            </a:prstGeom>
            <a:solidFill>
              <a:srgbClr val="4A4F58"/>
            </a:solidFill>
            <a:ln>
              <a:noFill/>
            </a:ln>
            <a:effectLst>
              <a:outerShdw blurRad="330200" sx="58000" sy="58000" algn="ctr" rotWithShape="0">
                <a:schemeClr val="bg1">
                  <a:alpha val="17000"/>
                </a:schemeClr>
              </a:outerShdw>
            </a:effectLst>
          </p:spPr>
          <p:txBody>
            <a:bodyPr vert="horz" wrap="square" lIns="68580" tIns="34290" rIns="68580" bIns="34290" numCol="1" anchor="t" anchorCtr="0" compatLnSpc="1">
              <a:prstTxWarp prst="textNoShape">
                <a:avLst/>
              </a:prstTxWarp>
            </a:bodyPr>
            <a:lstStyle/>
            <a:p>
              <a:endParaRPr lang="en-US" sz="900" dirty="0">
                <a:solidFill>
                  <a:schemeClr val="tx1">
                    <a:lumMod val="85000"/>
                    <a:lumOff val="15000"/>
                  </a:schemeClr>
                </a:solidFill>
              </a:endParaRPr>
            </a:p>
          </p:txBody>
        </p:sp>
        <p:sp>
          <p:nvSpPr>
            <p:cNvPr id="27" name="Block Arc 93">
              <a:extLst>
                <a:ext uri="{FF2B5EF4-FFF2-40B4-BE49-F238E27FC236}">
                  <a16:creationId xmlns:a16="http://schemas.microsoft.com/office/drawing/2014/main" id="{DDE15D16-C3FD-038A-5F06-389515541E5A}"/>
                </a:ext>
              </a:extLst>
            </p:cNvPr>
            <p:cNvSpPr/>
            <p:nvPr/>
          </p:nvSpPr>
          <p:spPr>
            <a:xfrm rot="4501507" flipV="1">
              <a:off x="10410655" y="2368966"/>
              <a:ext cx="569337" cy="569337"/>
            </a:xfrm>
            <a:prstGeom prst="blockArc">
              <a:avLst>
                <a:gd name="adj1" fmla="val 14629117"/>
                <a:gd name="adj2" fmla="val 9787073"/>
                <a:gd name="adj3" fmla="val 12182"/>
              </a:avLst>
            </a:prstGeom>
            <a:gradFill flip="none" rotWithShape="1">
              <a:gsLst>
                <a:gs pos="0">
                  <a:srgbClr val="2DC5FF"/>
                </a:gs>
                <a:gs pos="87000">
                  <a:srgbClr val="5F72F8"/>
                </a:gs>
              </a:gsLst>
              <a:lin ang="16200000" scaled="1"/>
              <a:tileRect/>
            </a:gradFill>
            <a:ln>
              <a:noFill/>
            </a:ln>
          </p:spPr>
          <p:txBody>
            <a:bodyPr vert="horz" wrap="square" lIns="68580" tIns="34290" rIns="68580" bIns="34290" numCol="1" anchor="t" anchorCtr="0" compatLnSpc="1">
              <a:prstTxWarp prst="textNoShape">
                <a:avLst/>
              </a:prstTxWarp>
            </a:bodyPr>
            <a:lstStyle/>
            <a:p>
              <a:endParaRPr lang="en-US" sz="900">
                <a:solidFill>
                  <a:schemeClr val="tx1">
                    <a:lumMod val="85000"/>
                    <a:lumOff val="15000"/>
                  </a:schemeClr>
                </a:solidFill>
              </a:endParaRPr>
            </a:p>
          </p:txBody>
        </p:sp>
      </p:grpSp>
      <p:grpSp>
        <p:nvGrpSpPr>
          <p:cNvPr id="28" name="Group 94">
            <a:extLst>
              <a:ext uri="{FF2B5EF4-FFF2-40B4-BE49-F238E27FC236}">
                <a16:creationId xmlns:a16="http://schemas.microsoft.com/office/drawing/2014/main" id="{4E3CBA95-E405-767C-89EF-A1E90310E05F}"/>
              </a:ext>
            </a:extLst>
          </p:cNvPr>
          <p:cNvGrpSpPr/>
          <p:nvPr/>
        </p:nvGrpSpPr>
        <p:grpSpPr>
          <a:xfrm>
            <a:off x="6988548" y="3030425"/>
            <a:ext cx="596290" cy="596290"/>
            <a:chOff x="10410655" y="2368966"/>
            <a:chExt cx="569337" cy="569337"/>
          </a:xfrm>
        </p:grpSpPr>
        <p:sp>
          <p:nvSpPr>
            <p:cNvPr id="29" name="Block Arc 95">
              <a:extLst>
                <a:ext uri="{FF2B5EF4-FFF2-40B4-BE49-F238E27FC236}">
                  <a16:creationId xmlns:a16="http://schemas.microsoft.com/office/drawing/2014/main" id="{CF75F72F-0E17-FF56-325D-3A0E8A022ABB}"/>
                </a:ext>
              </a:extLst>
            </p:cNvPr>
            <p:cNvSpPr/>
            <p:nvPr/>
          </p:nvSpPr>
          <p:spPr>
            <a:xfrm rot="8930972">
              <a:off x="10410655" y="2368966"/>
              <a:ext cx="569337" cy="569337"/>
            </a:xfrm>
            <a:prstGeom prst="blockArc">
              <a:avLst>
                <a:gd name="adj1" fmla="val 10067621"/>
                <a:gd name="adj2" fmla="val 9787073"/>
                <a:gd name="adj3" fmla="val 12182"/>
              </a:avLst>
            </a:prstGeom>
            <a:solidFill>
              <a:srgbClr val="4A4F58"/>
            </a:solidFill>
            <a:ln>
              <a:noFill/>
            </a:ln>
            <a:effectLst>
              <a:outerShdw blurRad="330200" sx="58000" sy="58000" algn="ctr" rotWithShape="0">
                <a:schemeClr val="bg1">
                  <a:alpha val="17000"/>
                </a:schemeClr>
              </a:outerShdw>
            </a:effectLst>
          </p:spPr>
          <p:txBody>
            <a:bodyPr vert="horz" wrap="square" lIns="68580" tIns="34290" rIns="68580" bIns="34290" numCol="1" anchor="t" anchorCtr="0" compatLnSpc="1">
              <a:prstTxWarp prst="textNoShape">
                <a:avLst/>
              </a:prstTxWarp>
            </a:bodyPr>
            <a:lstStyle/>
            <a:p>
              <a:endParaRPr lang="en-US" sz="900">
                <a:solidFill>
                  <a:schemeClr val="tx1">
                    <a:lumMod val="85000"/>
                    <a:lumOff val="15000"/>
                  </a:schemeClr>
                </a:solidFill>
              </a:endParaRPr>
            </a:p>
          </p:txBody>
        </p:sp>
        <p:sp>
          <p:nvSpPr>
            <p:cNvPr id="30" name="Block Arc 96">
              <a:extLst>
                <a:ext uri="{FF2B5EF4-FFF2-40B4-BE49-F238E27FC236}">
                  <a16:creationId xmlns:a16="http://schemas.microsoft.com/office/drawing/2014/main" id="{273EAB97-8DBE-F525-DA3E-6E996B0D422A}"/>
                </a:ext>
              </a:extLst>
            </p:cNvPr>
            <p:cNvSpPr/>
            <p:nvPr/>
          </p:nvSpPr>
          <p:spPr>
            <a:xfrm rot="4501507" flipV="1">
              <a:off x="10410655" y="2368966"/>
              <a:ext cx="569337" cy="569337"/>
            </a:xfrm>
            <a:prstGeom prst="blockArc">
              <a:avLst>
                <a:gd name="adj1" fmla="val 1884862"/>
                <a:gd name="adj2" fmla="val 9787073"/>
                <a:gd name="adj3" fmla="val 12182"/>
              </a:avLst>
            </a:prstGeom>
            <a:gradFill flip="none" rotWithShape="1">
              <a:gsLst>
                <a:gs pos="0">
                  <a:srgbClr val="2DC5FF"/>
                </a:gs>
                <a:gs pos="87000">
                  <a:srgbClr val="5F72F8"/>
                </a:gs>
              </a:gsLst>
              <a:lin ang="16200000" scaled="1"/>
              <a:tileRect/>
            </a:gradFill>
            <a:ln>
              <a:noFill/>
            </a:ln>
          </p:spPr>
          <p:txBody>
            <a:bodyPr vert="horz" wrap="square" lIns="68580" tIns="34290" rIns="68580" bIns="34290" numCol="1" anchor="t" anchorCtr="0" compatLnSpc="1">
              <a:prstTxWarp prst="textNoShape">
                <a:avLst/>
              </a:prstTxWarp>
            </a:bodyPr>
            <a:lstStyle/>
            <a:p>
              <a:endParaRPr lang="en-US" sz="900">
                <a:solidFill>
                  <a:schemeClr val="tx1">
                    <a:lumMod val="85000"/>
                    <a:lumOff val="15000"/>
                  </a:schemeClr>
                </a:solidFill>
              </a:endParaRPr>
            </a:p>
          </p:txBody>
        </p:sp>
      </p:grpSp>
      <p:grpSp>
        <p:nvGrpSpPr>
          <p:cNvPr id="31" name="Group 97">
            <a:extLst>
              <a:ext uri="{FF2B5EF4-FFF2-40B4-BE49-F238E27FC236}">
                <a16:creationId xmlns:a16="http://schemas.microsoft.com/office/drawing/2014/main" id="{57A97A5D-B7EA-3688-4775-4E73AE277C8C}"/>
              </a:ext>
            </a:extLst>
          </p:cNvPr>
          <p:cNvGrpSpPr/>
          <p:nvPr/>
        </p:nvGrpSpPr>
        <p:grpSpPr>
          <a:xfrm>
            <a:off x="6988548" y="3835767"/>
            <a:ext cx="596290" cy="596290"/>
            <a:chOff x="10410655" y="2368966"/>
            <a:chExt cx="569337" cy="569337"/>
          </a:xfrm>
        </p:grpSpPr>
        <p:sp>
          <p:nvSpPr>
            <p:cNvPr id="32" name="Block Arc 98">
              <a:extLst>
                <a:ext uri="{FF2B5EF4-FFF2-40B4-BE49-F238E27FC236}">
                  <a16:creationId xmlns:a16="http://schemas.microsoft.com/office/drawing/2014/main" id="{F4B2BA60-D703-0B76-3601-4B9D2EBEE545}"/>
                </a:ext>
              </a:extLst>
            </p:cNvPr>
            <p:cNvSpPr/>
            <p:nvPr/>
          </p:nvSpPr>
          <p:spPr>
            <a:xfrm rot="8930972">
              <a:off x="10410655" y="2368966"/>
              <a:ext cx="569337" cy="569337"/>
            </a:xfrm>
            <a:prstGeom prst="blockArc">
              <a:avLst>
                <a:gd name="adj1" fmla="val 10067621"/>
                <a:gd name="adj2" fmla="val 9787073"/>
                <a:gd name="adj3" fmla="val 12182"/>
              </a:avLst>
            </a:prstGeom>
            <a:solidFill>
              <a:srgbClr val="4A4F58"/>
            </a:solidFill>
            <a:ln>
              <a:noFill/>
            </a:ln>
            <a:effectLst>
              <a:outerShdw blurRad="330200" sx="58000" sy="58000" algn="ctr" rotWithShape="0">
                <a:schemeClr val="bg1">
                  <a:alpha val="17000"/>
                </a:schemeClr>
              </a:outerShdw>
            </a:effectLst>
          </p:spPr>
          <p:txBody>
            <a:bodyPr vert="horz" wrap="square" lIns="68580" tIns="34290" rIns="68580" bIns="34290" numCol="1" anchor="t" anchorCtr="0" compatLnSpc="1">
              <a:prstTxWarp prst="textNoShape">
                <a:avLst/>
              </a:prstTxWarp>
            </a:bodyPr>
            <a:lstStyle/>
            <a:p>
              <a:endParaRPr lang="en-US" sz="900">
                <a:solidFill>
                  <a:schemeClr val="tx1">
                    <a:lumMod val="85000"/>
                    <a:lumOff val="15000"/>
                  </a:schemeClr>
                </a:solidFill>
              </a:endParaRPr>
            </a:p>
          </p:txBody>
        </p:sp>
        <p:sp>
          <p:nvSpPr>
            <p:cNvPr id="33" name="Block Arc 102">
              <a:extLst>
                <a:ext uri="{FF2B5EF4-FFF2-40B4-BE49-F238E27FC236}">
                  <a16:creationId xmlns:a16="http://schemas.microsoft.com/office/drawing/2014/main" id="{A390F0C4-824E-CAA8-66B2-F154497651A7}"/>
                </a:ext>
              </a:extLst>
            </p:cNvPr>
            <p:cNvSpPr/>
            <p:nvPr/>
          </p:nvSpPr>
          <p:spPr>
            <a:xfrm rot="4501507" flipV="1">
              <a:off x="10410655" y="2368966"/>
              <a:ext cx="569337" cy="569337"/>
            </a:xfrm>
            <a:prstGeom prst="blockArc">
              <a:avLst>
                <a:gd name="adj1" fmla="val 6814748"/>
                <a:gd name="adj2" fmla="val 9787073"/>
                <a:gd name="adj3" fmla="val 12182"/>
              </a:avLst>
            </a:prstGeom>
            <a:gradFill flip="none" rotWithShape="1">
              <a:gsLst>
                <a:gs pos="0">
                  <a:srgbClr val="2DC5FF"/>
                </a:gs>
                <a:gs pos="87000">
                  <a:srgbClr val="5F72F8"/>
                </a:gs>
              </a:gsLst>
              <a:lin ang="16200000" scaled="1"/>
              <a:tileRect/>
            </a:gradFill>
            <a:ln>
              <a:noFill/>
            </a:ln>
          </p:spPr>
          <p:txBody>
            <a:bodyPr vert="horz" wrap="square" lIns="68580" tIns="34290" rIns="68580" bIns="34290" numCol="1" anchor="t" anchorCtr="0" compatLnSpc="1">
              <a:prstTxWarp prst="textNoShape">
                <a:avLst/>
              </a:prstTxWarp>
            </a:bodyPr>
            <a:lstStyle/>
            <a:p>
              <a:endParaRPr lang="en-US" sz="900" dirty="0">
                <a:solidFill>
                  <a:schemeClr val="tx1">
                    <a:lumMod val="85000"/>
                    <a:lumOff val="15000"/>
                  </a:schemeClr>
                </a:solidFill>
              </a:endParaRPr>
            </a:p>
          </p:txBody>
        </p:sp>
      </p:grpSp>
      <p:sp>
        <p:nvSpPr>
          <p:cNvPr id="34" name="Content Placeholder 2">
            <a:extLst>
              <a:ext uri="{FF2B5EF4-FFF2-40B4-BE49-F238E27FC236}">
                <a16:creationId xmlns:a16="http://schemas.microsoft.com/office/drawing/2014/main" id="{75EFB5D6-FE55-F688-2523-E116EF0DA4C0}"/>
              </a:ext>
            </a:extLst>
          </p:cNvPr>
          <p:cNvSpPr txBox="1">
            <a:spLocks/>
          </p:cNvSpPr>
          <p:nvPr/>
        </p:nvSpPr>
        <p:spPr>
          <a:xfrm>
            <a:off x="6754846" y="963826"/>
            <a:ext cx="1081896" cy="423193"/>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1200" dirty="0">
                <a:solidFill>
                  <a:schemeClr val="tx1">
                    <a:lumMod val="85000"/>
                    <a:lumOff val="15000"/>
                  </a:schemeClr>
                </a:solidFill>
                <a:latin typeface="Century Gothic" panose="020B0502020202020204" pitchFamily="34" charset="0"/>
              </a:rPr>
              <a:t>To Statistically Significant Confidence</a:t>
            </a:r>
          </a:p>
        </p:txBody>
      </p:sp>
      <p:sp>
        <p:nvSpPr>
          <p:cNvPr id="35" name="Content Placeholder 2">
            <a:extLst>
              <a:ext uri="{FF2B5EF4-FFF2-40B4-BE49-F238E27FC236}">
                <a16:creationId xmlns:a16="http://schemas.microsoft.com/office/drawing/2014/main" id="{B004A7E1-B06F-721F-D45A-EC2234E72A8B}"/>
              </a:ext>
            </a:extLst>
          </p:cNvPr>
          <p:cNvSpPr txBox="1">
            <a:spLocks/>
          </p:cNvSpPr>
          <p:nvPr/>
        </p:nvSpPr>
        <p:spPr>
          <a:xfrm>
            <a:off x="7089879" y="1686752"/>
            <a:ext cx="385743" cy="184666"/>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200" dirty="0">
                <a:solidFill>
                  <a:schemeClr val="tx1">
                    <a:lumMod val="85000"/>
                    <a:lumOff val="15000"/>
                  </a:schemeClr>
                </a:solidFill>
                <a:latin typeface="Century Gothic" panose="020B0502020202020204" pitchFamily="34" charset="0"/>
              </a:rPr>
              <a:t>6</a:t>
            </a:r>
          </a:p>
        </p:txBody>
      </p:sp>
      <p:sp>
        <p:nvSpPr>
          <p:cNvPr id="36" name="Content Placeholder 2">
            <a:extLst>
              <a:ext uri="{FF2B5EF4-FFF2-40B4-BE49-F238E27FC236}">
                <a16:creationId xmlns:a16="http://schemas.microsoft.com/office/drawing/2014/main" id="{5476D84C-6A39-581B-03C7-79FAA714CF0C}"/>
              </a:ext>
            </a:extLst>
          </p:cNvPr>
          <p:cNvSpPr txBox="1">
            <a:spLocks/>
          </p:cNvSpPr>
          <p:nvPr/>
        </p:nvSpPr>
        <p:spPr>
          <a:xfrm>
            <a:off x="7089879" y="2459452"/>
            <a:ext cx="385743" cy="184666"/>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200" dirty="0">
                <a:solidFill>
                  <a:schemeClr val="tx1">
                    <a:lumMod val="85000"/>
                    <a:lumOff val="15000"/>
                  </a:schemeClr>
                </a:solidFill>
                <a:latin typeface="Century Gothic" panose="020B0502020202020204" pitchFamily="34" charset="0"/>
              </a:rPr>
              <a:t>8</a:t>
            </a:r>
          </a:p>
        </p:txBody>
      </p:sp>
      <p:sp>
        <p:nvSpPr>
          <p:cNvPr id="37" name="Content Placeholder 2">
            <a:extLst>
              <a:ext uri="{FF2B5EF4-FFF2-40B4-BE49-F238E27FC236}">
                <a16:creationId xmlns:a16="http://schemas.microsoft.com/office/drawing/2014/main" id="{63A0EF10-B712-63B1-1AC9-438581C655BA}"/>
              </a:ext>
            </a:extLst>
          </p:cNvPr>
          <p:cNvSpPr txBox="1">
            <a:spLocks/>
          </p:cNvSpPr>
          <p:nvPr/>
        </p:nvSpPr>
        <p:spPr>
          <a:xfrm>
            <a:off x="7089879" y="3240838"/>
            <a:ext cx="385743" cy="184666"/>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200" dirty="0">
                <a:solidFill>
                  <a:schemeClr val="tx1">
                    <a:lumMod val="85000"/>
                    <a:lumOff val="15000"/>
                  </a:schemeClr>
                </a:solidFill>
                <a:latin typeface="Century Gothic" panose="020B0502020202020204" pitchFamily="34" charset="0"/>
              </a:rPr>
              <a:t>4.5</a:t>
            </a:r>
          </a:p>
        </p:txBody>
      </p:sp>
      <p:sp>
        <p:nvSpPr>
          <p:cNvPr id="38" name="Content Placeholder 2">
            <a:extLst>
              <a:ext uri="{FF2B5EF4-FFF2-40B4-BE49-F238E27FC236}">
                <a16:creationId xmlns:a16="http://schemas.microsoft.com/office/drawing/2014/main" id="{A24D7806-B294-35A8-834D-C4B4F94B9342}"/>
              </a:ext>
            </a:extLst>
          </p:cNvPr>
          <p:cNvSpPr txBox="1">
            <a:spLocks/>
          </p:cNvSpPr>
          <p:nvPr/>
        </p:nvSpPr>
        <p:spPr>
          <a:xfrm>
            <a:off x="7089879" y="4057078"/>
            <a:ext cx="385743" cy="184666"/>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200" dirty="0">
                <a:solidFill>
                  <a:schemeClr val="tx1">
                    <a:lumMod val="85000"/>
                    <a:lumOff val="15000"/>
                  </a:schemeClr>
                </a:solidFill>
                <a:latin typeface="Century Gothic" panose="020B0502020202020204" pitchFamily="34" charset="0"/>
              </a:rPr>
              <a:t>2</a:t>
            </a:r>
          </a:p>
        </p:txBody>
      </p:sp>
    </p:spTree>
    <p:extLst>
      <p:ext uri="{BB962C8B-B14F-4D97-AF65-F5344CB8AC3E}">
        <p14:creationId xmlns:p14="http://schemas.microsoft.com/office/powerpoint/2010/main" val="2715397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1000"/>
                                        <p:tgtEl>
                                          <p:spTgt spid="4"/>
                                        </p:tgtEl>
                                      </p:cBhvr>
                                    </p:animEffect>
                                  </p:childTnLst>
                                </p:cTn>
                              </p:par>
                              <p:par>
                                <p:cTn id="8" presetID="23" presetClass="entr" presetSubtype="16" fill="hold" nodeType="withEffect">
                                  <p:stCondLst>
                                    <p:cond delay="500"/>
                                  </p:stCondLst>
                                  <p:childTnLst>
                                    <p:set>
                                      <p:cBhvr>
                                        <p:cTn id="9" dur="1" fill="hold">
                                          <p:stCondLst>
                                            <p:cond delay="0"/>
                                          </p:stCondLst>
                                        </p:cTn>
                                        <p:tgtEl>
                                          <p:spTgt spid="13"/>
                                        </p:tgtEl>
                                        <p:attrNameLst>
                                          <p:attrName>style.visibility</p:attrName>
                                        </p:attrNameLst>
                                      </p:cBhvr>
                                      <p:to>
                                        <p:strVal val="visible"/>
                                      </p:to>
                                    </p:set>
                                    <p:anim calcmode="lin" valueType="num">
                                      <p:cBhvr>
                                        <p:cTn id="10" dur="1000" fill="hold"/>
                                        <p:tgtEl>
                                          <p:spTgt spid="13"/>
                                        </p:tgtEl>
                                        <p:attrNameLst>
                                          <p:attrName>ppt_w</p:attrName>
                                        </p:attrNameLst>
                                      </p:cBhvr>
                                      <p:tavLst>
                                        <p:tav tm="0">
                                          <p:val>
                                            <p:fltVal val="0"/>
                                          </p:val>
                                        </p:tav>
                                        <p:tav tm="100000">
                                          <p:val>
                                            <p:strVal val="#ppt_w"/>
                                          </p:val>
                                        </p:tav>
                                      </p:tavLst>
                                    </p:anim>
                                    <p:anim calcmode="lin" valueType="num">
                                      <p:cBhvr>
                                        <p:cTn id="11" dur="1000" fill="hold"/>
                                        <p:tgtEl>
                                          <p:spTgt spid="13"/>
                                        </p:tgtEl>
                                        <p:attrNameLst>
                                          <p:attrName>ppt_h</p:attrName>
                                        </p:attrNameLst>
                                      </p:cBhvr>
                                      <p:tavLst>
                                        <p:tav tm="0">
                                          <p:val>
                                            <p:fltVal val="0"/>
                                          </p:val>
                                        </p:tav>
                                        <p:tav tm="100000">
                                          <p:val>
                                            <p:strVal val="#ppt_h"/>
                                          </p:val>
                                        </p:tav>
                                      </p:tavLst>
                                    </p:anim>
                                  </p:childTnLst>
                                </p:cTn>
                              </p:par>
                              <p:par>
                                <p:cTn id="12" presetID="23" presetClass="entr" presetSubtype="16" fill="hold" nodeType="withEffect">
                                  <p:stCondLst>
                                    <p:cond delay="500"/>
                                  </p:stCondLst>
                                  <p:childTnLst>
                                    <p:set>
                                      <p:cBhvr>
                                        <p:cTn id="13" dur="1" fill="hold">
                                          <p:stCondLst>
                                            <p:cond delay="0"/>
                                          </p:stCondLst>
                                        </p:cTn>
                                        <p:tgtEl>
                                          <p:spTgt spid="14"/>
                                        </p:tgtEl>
                                        <p:attrNameLst>
                                          <p:attrName>style.visibility</p:attrName>
                                        </p:attrNameLst>
                                      </p:cBhvr>
                                      <p:to>
                                        <p:strVal val="visible"/>
                                      </p:to>
                                    </p:set>
                                    <p:anim calcmode="lin" valueType="num">
                                      <p:cBhvr>
                                        <p:cTn id="14" dur="1000" fill="hold"/>
                                        <p:tgtEl>
                                          <p:spTgt spid="14"/>
                                        </p:tgtEl>
                                        <p:attrNameLst>
                                          <p:attrName>ppt_w</p:attrName>
                                        </p:attrNameLst>
                                      </p:cBhvr>
                                      <p:tavLst>
                                        <p:tav tm="0">
                                          <p:val>
                                            <p:fltVal val="0"/>
                                          </p:val>
                                        </p:tav>
                                        <p:tav tm="100000">
                                          <p:val>
                                            <p:strVal val="#ppt_w"/>
                                          </p:val>
                                        </p:tav>
                                      </p:tavLst>
                                    </p:anim>
                                    <p:anim calcmode="lin" valueType="num">
                                      <p:cBhvr>
                                        <p:cTn id="15" dur="1000" fill="hold"/>
                                        <p:tgtEl>
                                          <p:spTgt spid="14"/>
                                        </p:tgtEl>
                                        <p:attrNameLst>
                                          <p:attrName>ppt_h</p:attrName>
                                        </p:attrNameLst>
                                      </p:cBhvr>
                                      <p:tavLst>
                                        <p:tav tm="0">
                                          <p:val>
                                            <p:fltVal val="0"/>
                                          </p:val>
                                        </p:tav>
                                        <p:tav tm="100000">
                                          <p:val>
                                            <p:strVal val="#ppt_h"/>
                                          </p:val>
                                        </p:tav>
                                      </p:tavLst>
                                    </p:anim>
                                  </p:childTnLst>
                                </p:cTn>
                              </p:par>
                              <p:par>
                                <p:cTn id="16" presetID="23" presetClass="entr" presetSubtype="16" fill="hold" nodeType="withEffect">
                                  <p:stCondLst>
                                    <p:cond delay="500"/>
                                  </p:stCondLst>
                                  <p:childTnLst>
                                    <p:set>
                                      <p:cBhvr>
                                        <p:cTn id="17" dur="1" fill="hold">
                                          <p:stCondLst>
                                            <p:cond delay="0"/>
                                          </p:stCondLst>
                                        </p:cTn>
                                        <p:tgtEl>
                                          <p:spTgt spid="15"/>
                                        </p:tgtEl>
                                        <p:attrNameLst>
                                          <p:attrName>style.visibility</p:attrName>
                                        </p:attrNameLst>
                                      </p:cBhvr>
                                      <p:to>
                                        <p:strVal val="visible"/>
                                      </p:to>
                                    </p:set>
                                    <p:anim calcmode="lin" valueType="num">
                                      <p:cBhvr>
                                        <p:cTn id="18" dur="1000" fill="hold"/>
                                        <p:tgtEl>
                                          <p:spTgt spid="15"/>
                                        </p:tgtEl>
                                        <p:attrNameLst>
                                          <p:attrName>ppt_w</p:attrName>
                                        </p:attrNameLst>
                                      </p:cBhvr>
                                      <p:tavLst>
                                        <p:tav tm="0">
                                          <p:val>
                                            <p:fltVal val="0"/>
                                          </p:val>
                                        </p:tav>
                                        <p:tav tm="100000">
                                          <p:val>
                                            <p:strVal val="#ppt_w"/>
                                          </p:val>
                                        </p:tav>
                                      </p:tavLst>
                                    </p:anim>
                                    <p:anim calcmode="lin" valueType="num">
                                      <p:cBhvr>
                                        <p:cTn id="19" dur="1000" fill="hold"/>
                                        <p:tgtEl>
                                          <p:spTgt spid="15"/>
                                        </p:tgtEl>
                                        <p:attrNameLst>
                                          <p:attrName>ppt_h</p:attrName>
                                        </p:attrNameLst>
                                      </p:cBhvr>
                                      <p:tavLst>
                                        <p:tav tm="0">
                                          <p:val>
                                            <p:fltVal val="0"/>
                                          </p:val>
                                        </p:tav>
                                        <p:tav tm="100000">
                                          <p:val>
                                            <p:strVal val="#ppt_h"/>
                                          </p:val>
                                        </p:tav>
                                      </p:tavLst>
                                    </p:anim>
                                  </p:childTnLst>
                                </p:cTn>
                              </p:par>
                              <p:par>
                                <p:cTn id="20" presetID="23" presetClass="entr" presetSubtype="16" fill="hold" nodeType="withEffect">
                                  <p:stCondLst>
                                    <p:cond delay="500"/>
                                  </p:stCondLst>
                                  <p:childTnLst>
                                    <p:set>
                                      <p:cBhvr>
                                        <p:cTn id="21" dur="1" fill="hold">
                                          <p:stCondLst>
                                            <p:cond delay="0"/>
                                          </p:stCondLst>
                                        </p:cTn>
                                        <p:tgtEl>
                                          <p:spTgt spid="16"/>
                                        </p:tgtEl>
                                        <p:attrNameLst>
                                          <p:attrName>style.visibility</p:attrName>
                                        </p:attrNameLst>
                                      </p:cBhvr>
                                      <p:to>
                                        <p:strVal val="visible"/>
                                      </p:to>
                                    </p:set>
                                    <p:anim calcmode="lin" valueType="num">
                                      <p:cBhvr>
                                        <p:cTn id="22" dur="1000" fill="hold"/>
                                        <p:tgtEl>
                                          <p:spTgt spid="16"/>
                                        </p:tgtEl>
                                        <p:attrNameLst>
                                          <p:attrName>ppt_w</p:attrName>
                                        </p:attrNameLst>
                                      </p:cBhvr>
                                      <p:tavLst>
                                        <p:tav tm="0">
                                          <p:val>
                                            <p:fltVal val="0"/>
                                          </p:val>
                                        </p:tav>
                                        <p:tav tm="100000">
                                          <p:val>
                                            <p:strVal val="#ppt_w"/>
                                          </p:val>
                                        </p:tav>
                                      </p:tavLst>
                                    </p:anim>
                                    <p:anim calcmode="lin" valueType="num">
                                      <p:cBhvr>
                                        <p:cTn id="23" dur="1000" fill="hold"/>
                                        <p:tgtEl>
                                          <p:spTgt spid="16"/>
                                        </p:tgtEl>
                                        <p:attrNameLst>
                                          <p:attrName>ppt_h</p:attrName>
                                        </p:attrNameLst>
                                      </p:cBhvr>
                                      <p:tavLst>
                                        <p:tav tm="0">
                                          <p:val>
                                            <p:fltVal val="0"/>
                                          </p:val>
                                        </p:tav>
                                        <p:tav tm="100000">
                                          <p:val>
                                            <p:strVal val="#ppt_h"/>
                                          </p:val>
                                        </p:tav>
                                      </p:tavLst>
                                    </p:anim>
                                  </p:childTnLst>
                                </p:cTn>
                              </p:par>
                              <p:par>
                                <p:cTn id="24" presetID="22" presetClass="entr" presetSubtype="8" fill="hold" nodeType="withEffect">
                                  <p:stCondLst>
                                    <p:cond delay="1000"/>
                                  </p:stCondLst>
                                  <p:childTnLst>
                                    <p:set>
                                      <p:cBhvr>
                                        <p:cTn id="25" dur="1" fill="hold">
                                          <p:stCondLst>
                                            <p:cond delay="0"/>
                                          </p:stCondLst>
                                        </p:cTn>
                                        <p:tgtEl>
                                          <p:spTgt spid="5"/>
                                        </p:tgtEl>
                                        <p:attrNameLst>
                                          <p:attrName>style.visibility</p:attrName>
                                        </p:attrNameLst>
                                      </p:cBhvr>
                                      <p:to>
                                        <p:strVal val="visible"/>
                                      </p:to>
                                    </p:set>
                                    <p:animEffect transition="in" filter="wipe(left)">
                                      <p:cBhvr>
                                        <p:cTn id="26" dur="1500"/>
                                        <p:tgtEl>
                                          <p:spTgt spid="5"/>
                                        </p:tgtEl>
                                      </p:cBhvr>
                                    </p:animEffect>
                                  </p:childTnLst>
                                </p:cTn>
                              </p:par>
                            </p:childTnLst>
                          </p:cTn>
                        </p:par>
                        <p:par>
                          <p:cTn id="27" fill="hold">
                            <p:stCondLst>
                              <p:cond delay="2500"/>
                            </p:stCondLst>
                            <p:childTnLst>
                              <p:par>
                                <p:cTn id="28" presetID="12" presetClass="entr" presetSubtype="8" fill="hold" nodeType="after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additive="base">
                                        <p:cTn id="30" dur="1000"/>
                                        <p:tgtEl>
                                          <p:spTgt spid="17"/>
                                        </p:tgtEl>
                                        <p:attrNameLst>
                                          <p:attrName>ppt_x</p:attrName>
                                        </p:attrNameLst>
                                      </p:cBhvr>
                                      <p:tavLst>
                                        <p:tav tm="0">
                                          <p:val>
                                            <p:strVal val="#ppt_x-#ppt_w*1.125000"/>
                                          </p:val>
                                        </p:tav>
                                        <p:tav tm="100000">
                                          <p:val>
                                            <p:strVal val="#ppt_x"/>
                                          </p:val>
                                        </p:tav>
                                      </p:tavLst>
                                    </p:anim>
                                    <p:animEffect transition="in" filter="wipe(right)">
                                      <p:cBhvr>
                                        <p:cTn id="31" dur="1000"/>
                                        <p:tgtEl>
                                          <p:spTgt spid="17"/>
                                        </p:tgtEl>
                                      </p:cBhvr>
                                    </p:animEffect>
                                  </p:childTnLst>
                                </p:cTn>
                              </p:par>
                              <p:par>
                                <p:cTn id="32" presetID="23" presetClass="entr" presetSubtype="16" fill="hold" grpId="0" nodeType="with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p:cTn id="34" dur="1000" fill="hold"/>
                                        <p:tgtEl>
                                          <p:spTgt spid="3"/>
                                        </p:tgtEl>
                                        <p:attrNameLst>
                                          <p:attrName>ppt_w</p:attrName>
                                        </p:attrNameLst>
                                      </p:cBhvr>
                                      <p:tavLst>
                                        <p:tav tm="0">
                                          <p:val>
                                            <p:fltVal val="0"/>
                                          </p:val>
                                        </p:tav>
                                        <p:tav tm="100000">
                                          <p:val>
                                            <p:strVal val="#ppt_w"/>
                                          </p:val>
                                        </p:tav>
                                      </p:tavLst>
                                    </p:anim>
                                    <p:anim calcmode="lin" valueType="num">
                                      <p:cBhvr>
                                        <p:cTn id="35" dur="1000" fill="hold"/>
                                        <p:tgtEl>
                                          <p:spTgt spid="3"/>
                                        </p:tgtEl>
                                        <p:attrNameLst>
                                          <p:attrName>ppt_h</p:attrName>
                                        </p:attrNameLst>
                                      </p:cBhvr>
                                      <p:tavLst>
                                        <p:tav tm="0">
                                          <p:val>
                                            <p:fltVal val="0"/>
                                          </p:val>
                                        </p:tav>
                                        <p:tav tm="100000">
                                          <p:val>
                                            <p:strVal val="#ppt_h"/>
                                          </p:val>
                                        </p:tav>
                                      </p:tavLst>
                                    </p:anim>
                                  </p:childTnLst>
                                </p:cTn>
                              </p:par>
                              <p:par>
                                <p:cTn id="36" presetID="21" presetClass="entr" presetSubtype="1" fill="hold"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wheel(1)">
                                      <p:cBhvr>
                                        <p:cTn id="38" dur="1000"/>
                                        <p:tgtEl>
                                          <p:spTgt spid="22"/>
                                        </p:tgtEl>
                                      </p:cBhvr>
                                    </p:animEffect>
                                  </p:childTnLst>
                                </p:cTn>
                              </p:par>
                              <p:par>
                                <p:cTn id="39" presetID="23" presetClass="entr" presetSubtype="16" fill="hold" grpId="0" nodeType="withEffect">
                                  <p:stCondLst>
                                    <p:cond delay="500"/>
                                  </p:stCondLst>
                                  <p:childTnLst>
                                    <p:set>
                                      <p:cBhvr>
                                        <p:cTn id="40" dur="1" fill="hold">
                                          <p:stCondLst>
                                            <p:cond delay="0"/>
                                          </p:stCondLst>
                                        </p:cTn>
                                        <p:tgtEl>
                                          <p:spTgt spid="35"/>
                                        </p:tgtEl>
                                        <p:attrNameLst>
                                          <p:attrName>style.visibility</p:attrName>
                                        </p:attrNameLst>
                                      </p:cBhvr>
                                      <p:to>
                                        <p:strVal val="visible"/>
                                      </p:to>
                                    </p:set>
                                    <p:anim calcmode="lin" valueType="num">
                                      <p:cBhvr>
                                        <p:cTn id="41" dur="500" fill="hold"/>
                                        <p:tgtEl>
                                          <p:spTgt spid="35"/>
                                        </p:tgtEl>
                                        <p:attrNameLst>
                                          <p:attrName>ppt_w</p:attrName>
                                        </p:attrNameLst>
                                      </p:cBhvr>
                                      <p:tavLst>
                                        <p:tav tm="0">
                                          <p:val>
                                            <p:fltVal val="0"/>
                                          </p:val>
                                        </p:tav>
                                        <p:tav tm="100000">
                                          <p:val>
                                            <p:strVal val="#ppt_w"/>
                                          </p:val>
                                        </p:tav>
                                      </p:tavLst>
                                    </p:anim>
                                    <p:anim calcmode="lin" valueType="num">
                                      <p:cBhvr>
                                        <p:cTn id="42" dur="500" fill="hold"/>
                                        <p:tgtEl>
                                          <p:spTgt spid="35"/>
                                        </p:tgtEl>
                                        <p:attrNameLst>
                                          <p:attrName>ppt_h</p:attrName>
                                        </p:attrNameLst>
                                      </p:cBhvr>
                                      <p:tavLst>
                                        <p:tav tm="0">
                                          <p:val>
                                            <p:fltVal val="0"/>
                                          </p:val>
                                        </p:tav>
                                        <p:tav tm="100000">
                                          <p:val>
                                            <p:strVal val="#ppt_h"/>
                                          </p:val>
                                        </p:tav>
                                      </p:tavLst>
                                    </p:anim>
                                  </p:childTnLst>
                                </p:cTn>
                              </p:par>
                              <p:par>
                                <p:cTn id="43"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1000"/>
                                        <p:tgtEl>
                                          <p:spTgt spid="21"/>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1000"/>
                                        <p:tgtEl>
                                          <p:spTgt spid="34"/>
                                        </p:tgtEl>
                                      </p:cBhvr>
                                    </p:animEffect>
                                  </p:childTnLst>
                                </p:cTn>
                              </p:par>
                              <p:par>
                                <p:cTn id="49" presetID="12" presetClass="entr" presetSubtype="8" fill="hold" nodeType="withEffect">
                                  <p:stCondLst>
                                    <p:cond delay="500"/>
                                  </p:stCondLst>
                                  <p:childTnLst>
                                    <p:set>
                                      <p:cBhvr>
                                        <p:cTn id="50" dur="1" fill="hold">
                                          <p:stCondLst>
                                            <p:cond delay="0"/>
                                          </p:stCondLst>
                                        </p:cTn>
                                        <p:tgtEl>
                                          <p:spTgt spid="18"/>
                                        </p:tgtEl>
                                        <p:attrNameLst>
                                          <p:attrName>style.visibility</p:attrName>
                                        </p:attrNameLst>
                                      </p:cBhvr>
                                      <p:to>
                                        <p:strVal val="visible"/>
                                      </p:to>
                                    </p:set>
                                    <p:anim calcmode="lin" valueType="num">
                                      <p:cBhvr additive="base">
                                        <p:cTn id="51" dur="1000"/>
                                        <p:tgtEl>
                                          <p:spTgt spid="18"/>
                                        </p:tgtEl>
                                        <p:attrNameLst>
                                          <p:attrName>ppt_x</p:attrName>
                                        </p:attrNameLst>
                                      </p:cBhvr>
                                      <p:tavLst>
                                        <p:tav tm="0">
                                          <p:val>
                                            <p:strVal val="#ppt_x-#ppt_w*1.125000"/>
                                          </p:val>
                                        </p:tav>
                                        <p:tav tm="100000">
                                          <p:val>
                                            <p:strVal val="#ppt_x"/>
                                          </p:val>
                                        </p:tav>
                                      </p:tavLst>
                                    </p:anim>
                                    <p:animEffect transition="in" filter="wipe(right)">
                                      <p:cBhvr>
                                        <p:cTn id="52" dur="1000"/>
                                        <p:tgtEl>
                                          <p:spTgt spid="18"/>
                                        </p:tgtEl>
                                      </p:cBhvr>
                                    </p:animEffect>
                                  </p:childTnLst>
                                </p:cTn>
                              </p:par>
                              <p:par>
                                <p:cTn id="53" presetID="23" presetClass="entr" presetSubtype="16" fill="hold" grpId="0" nodeType="withEffect">
                                  <p:stCondLst>
                                    <p:cond delay="500"/>
                                  </p:stCondLst>
                                  <p:childTnLst>
                                    <p:set>
                                      <p:cBhvr>
                                        <p:cTn id="54" dur="1" fill="hold">
                                          <p:stCondLst>
                                            <p:cond delay="0"/>
                                          </p:stCondLst>
                                        </p:cTn>
                                        <p:tgtEl>
                                          <p:spTgt spid="10"/>
                                        </p:tgtEl>
                                        <p:attrNameLst>
                                          <p:attrName>style.visibility</p:attrName>
                                        </p:attrNameLst>
                                      </p:cBhvr>
                                      <p:to>
                                        <p:strVal val="visible"/>
                                      </p:to>
                                    </p:set>
                                    <p:anim calcmode="lin" valueType="num">
                                      <p:cBhvr>
                                        <p:cTn id="55" dur="1000" fill="hold"/>
                                        <p:tgtEl>
                                          <p:spTgt spid="10"/>
                                        </p:tgtEl>
                                        <p:attrNameLst>
                                          <p:attrName>ppt_w</p:attrName>
                                        </p:attrNameLst>
                                      </p:cBhvr>
                                      <p:tavLst>
                                        <p:tav tm="0">
                                          <p:val>
                                            <p:fltVal val="0"/>
                                          </p:val>
                                        </p:tav>
                                        <p:tav tm="100000">
                                          <p:val>
                                            <p:strVal val="#ppt_w"/>
                                          </p:val>
                                        </p:tav>
                                      </p:tavLst>
                                    </p:anim>
                                    <p:anim calcmode="lin" valueType="num">
                                      <p:cBhvr>
                                        <p:cTn id="56" dur="1000" fill="hold"/>
                                        <p:tgtEl>
                                          <p:spTgt spid="10"/>
                                        </p:tgtEl>
                                        <p:attrNameLst>
                                          <p:attrName>ppt_h</p:attrName>
                                        </p:attrNameLst>
                                      </p:cBhvr>
                                      <p:tavLst>
                                        <p:tav tm="0">
                                          <p:val>
                                            <p:fltVal val="0"/>
                                          </p:val>
                                        </p:tav>
                                        <p:tav tm="100000">
                                          <p:val>
                                            <p:strVal val="#ppt_h"/>
                                          </p:val>
                                        </p:tav>
                                      </p:tavLst>
                                    </p:anim>
                                  </p:childTnLst>
                                </p:cTn>
                              </p:par>
                              <p:par>
                                <p:cTn id="57" presetID="21" presetClass="entr" presetSubtype="1" fill="hold" nodeType="withEffect">
                                  <p:stCondLst>
                                    <p:cond delay="500"/>
                                  </p:stCondLst>
                                  <p:childTnLst>
                                    <p:set>
                                      <p:cBhvr>
                                        <p:cTn id="58" dur="1" fill="hold">
                                          <p:stCondLst>
                                            <p:cond delay="0"/>
                                          </p:stCondLst>
                                        </p:cTn>
                                        <p:tgtEl>
                                          <p:spTgt spid="25"/>
                                        </p:tgtEl>
                                        <p:attrNameLst>
                                          <p:attrName>style.visibility</p:attrName>
                                        </p:attrNameLst>
                                      </p:cBhvr>
                                      <p:to>
                                        <p:strVal val="visible"/>
                                      </p:to>
                                    </p:set>
                                    <p:animEffect transition="in" filter="wheel(1)">
                                      <p:cBhvr>
                                        <p:cTn id="59" dur="1000"/>
                                        <p:tgtEl>
                                          <p:spTgt spid="25"/>
                                        </p:tgtEl>
                                      </p:cBhvr>
                                    </p:animEffect>
                                  </p:childTnLst>
                                </p:cTn>
                              </p:par>
                              <p:par>
                                <p:cTn id="60" presetID="23" presetClass="entr" presetSubtype="16" fill="hold" grpId="0" nodeType="withEffect">
                                  <p:stCondLst>
                                    <p:cond delay="1000"/>
                                  </p:stCondLst>
                                  <p:childTnLst>
                                    <p:set>
                                      <p:cBhvr>
                                        <p:cTn id="61" dur="1" fill="hold">
                                          <p:stCondLst>
                                            <p:cond delay="0"/>
                                          </p:stCondLst>
                                        </p:cTn>
                                        <p:tgtEl>
                                          <p:spTgt spid="36"/>
                                        </p:tgtEl>
                                        <p:attrNameLst>
                                          <p:attrName>style.visibility</p:attrName>
                                        </p:attrNameLst>
                                      </p:cBhvr>
                                      <p:to>
                                        <p:strVal val="visible"/>
                                      </p:to>
                                    </p:set>
                                    <p:anim calcmode="lin" valueType="num">
                                      <p:cBhvr>
                                        <p:cTn id="62" dur="500" fill="hold"/>
                                        <p:tgtEl>
                                          <p:spTgt spid="36"/>
                                        </p:tgtEl>
                                        <p:attrNameLst>
                                          <p:attrName>ppt_w</p:attrName>
                                        </p:attrNameLst>
                                      </p:cBhvr>
                                      <p:tavLst>
                                        <p:tav tm="0">
                                          <p:val>
                                            <p:fltVal val="0"/>
                                          </p:val>
                                        </p:tav>
                                        <p:tav tm="100000">
                                          <p:val>
                                            <p:strVal val="#ppt_w"/>
                                          </p:val>
                                        </p:tav>
                                      </p:tavLst>
                                    </p:anim>
                                    <p:anim calcmode="lin" valueType="num">
                                      <p:cBhvr>
                                        <p:cTn id="63" dur="500" fill="hold"/>
                                        <p:tgtEl>
                                          <p:spTgt spid="36"/>
                                        </p:tgtEl>
                                        <p:attrNameLst>
                                          <p:attrName>ppt_h</p:attrName>
                                        </p:attrNameLst>
                                      </p:cBhvr>
                                      <p:tavLst>
                                        <p:tav tm="0">
                                          <p:val>
                                            <p:fltVal val="0"/>
                                          </p:val>
                                        </p:tav>
                                        <p:tav tm="100000">
                                          <p:val>
                                            <p:strVal val="#ppt_h"/>
                                          </p:val>
                                        </p:tav>
                                      </p:tavLst>
                                    </p:anim>
                                  </p:childTnLst>
                                </p:cTn>
                              </p:par>
                              <p:par>
                                <p:cTn id="64" presetID="12" presetClass="entr" presetSubtype="8" fill="hold" nodeType="withEffect">
                                  <p:stCondLst>
                                    <p:cond delay="1000"/>
                                  </p:stCondLst>
                                  <p:childTnLst>
                                    <p:set>
                                      <p:cBhvr>
                                        <p:cTn id="65" dur="1" fill="hold">
                                          <p:stCondLst>
                                            <p:cond delay="0"/>
                                          </p:stCondLst>
                                        </p:cTn>
                                        <p:tgtEl>
                                          <p:spTgt spid="19"/>
                                        </p:tgtEl>
                                        <p:attrNameLst>
                                          <p:attrName>style.visibility</p:attrName>
                                        </p:attrNameLst>
                                      </p:cBhvr>
                                      <p:to>
                                        <p:strVal val="visible"/>
                                      </p:to>
                                    </p:set>
                                    <p:anim calcmode="lin" valueType="num">
                                      <p:cBhvr additive="base">
                                        <p:cTn id="66" dur="1000"/>
                                        <p:tgtEl>
                                          <p:spTgt spid="19"/>
                                        </p:tgtEl>
                                        <p:attrNameLst>
                                          <p:attrName>ppt_x</p:attrName>
                                        </p:attrNameLst>
                                      </p:cBhvr>
                                      <p:tavLst>
                                        <p:tav tm="0">
                                          <p:val>
                                            <p:strVal val="#ppt_x-#ppt_w*1.125000"/>
                                          </p:val>
                                        </p:tav>
                                        <p:tav tm="100000">
                                          <p:val>
                                            <p:strVal val="#ppt_x"/>
                                          </p:val>
                                        </p:tav>
                                      </p:tavLst>
                                    </p:anim>
                                    <p:animEffect transition="in" filter="wipe(right)">
                                      <p:cBhvr>
                                        <p:cTn id="67" dur="1000"/>
                                        <p:tgtEl>
                                          <p:spTgt spid="19"/>
                                        </p:tgtEl>
                                      </p:cBhvr>
                                    </p:animEffect>
                                  </p:childTnLst>
                                </p:cTn>
                              </p:par>
                              <p:par>
                                <p:cTn id="68" presetID="23" presetClass="entr" presetSubtype="16" fill="hold" grpId="0" nodeType="withEffect">
                                  <p:stCondLst>
                                    <p:cond delay="1000"/>
                                  </p:stCondLst>
                                  <p:childTnLst>
                                    <p:set>
                                      <p:cBhvr>
                                        <p:cTn id="69" dur="1" fill="hold">
                                          <p:stCondLst>
                                            <p:cond delay="0"/>
                                          </p:stCondLst>
                                        </p:cTn>
                                        <p:tgtEl>
                                          <p:spTgt spid="11"/>
                                        </p:tgtEl>
                                        <p:attrNameLst>
                                          <p:attrName>style.visibility</p:attrName>
                                        </p:attrNameLst>
                                      </p:cBhvr>
                                      <p:to>
                                        <p:strVal val="visible"/>
                                      </p:to>
                                    </p:set>
                                    <p:anim calcmode="lin" valueType="num">
                                      <p:cBhvr>
                                        <p:cTn id="70" dur="1000" fill="hold"/>
                                        <p:tgtEl>
                                          <p:spTgt spid="11"/>
                                        </p:tgtEl>
                                        <p:attrNameLst>
                                          <p:attrName>ppt_w</p:attrName>
                                        </p:attrNameLst>
                                      </p:cBhvr>
                                      <p:tavLst>
                                        <p:tav tm="0">
                                          <p:val>
                                            <p:fltVal val="0"/>
                                          </p:val>
                                        </p:tav>
                                        <p:tav tm="100000">
                                          <p:val>
                                            <p:strVal val="#ppt_w"/>
                                          </p:val>
                                        </p:tav>
                                      </p:tavLst>
                                    </p:anim>
                                    <p:anim calcmode="lin" valueType="num">
                                      <p:cBhvr>
                                        <p:cTn id="71" dur="1000" fill="hold"/>
                                        <p:tgtEl>
                                          <p:spTgt spid="11"/>
                                        </p:tgtEl>
                                        <p:attrNameLst>
                                          <p:attrName>ppt_h</p:attrName>
                                        </p:attrNameLst>
                                      </p:cBhvr>
                                      <p:tavLst>
                                        <p:tav tm="0">
                                          <p:val>
                                            <p:fltVal val="0"/>
                                          </p:val>
                                        </p:tav>
                                        <p:tav tm="100000">
                                          <p:val>
                                            <p:strVal val="#ppt_h"/>
                                          </p:val>
                                        </p:tav>
                                      </p:tavLst>
                                    </p:anim>
                                  </p:childTnLst>
                                </p:cTn>
                              </p:par>
                              <p:par>
                                <p:cTn id="72" presetID="21" presetClass="entr" presetSubtype="1" fill="hold" nodeType="withEffect">
                                  <p:stCondLst>
                                    <p:cond delay="1000"/>
                                  </p:stCondLst>
                                  <p:childTnLst>
                                    <p:set>
                                      <p:cBhvr>
                                        <p:cTn id="73" dur="1" fill="hold">
                                          <p:stCondLst>
                                            <p:cond delay="0"/>
                                          </p:stCondLst>
                                        </p:cTn>
                                        <p:tgtEl>
                                          <p:spTgt spid="28"/>
                                        </p:tgtEl>
                                        <p:attrNameLst>
                                          <p:attrName>style.visibility</p:attrName>
                                        </p:attrNameLst>
                                      </p:cBhvr>
                                      <p:to>
                                        <p:strVal val="visible"/>
                                      </p:to>
                                    </p:set>
                                    <p:animEffect transition="in" filter="wheel(1)">
                                      <p:cBhvr>
                                        <p:cTn id="74" dur="1000"/>
                                        <p:tgtEl>
                                          <p:spTgt spid="28"/>
                                        </p:tgtEl>
                                      </p:cBhvr>
                                    </p:animEffect>
                                  </p:childTnLst>
                                </p:cTn>
                              </p:par>
                              <p:par>
                                <p:cTn id="75" presetID="23" presetClass="entr" presetSubtype="16" fill="hold" grpId="0" nodeType="withEffect">
                                  <p:stCondLst>
                                    <p:cond delay="1500"/>
                                  </p:stCondLst>
                                  <p:childTnLst>
                                    <p:set>
                                      <p:cBhvr>
                                        <p:cTn id="76" dur="1" fill="hold">
                                          <p:stCondLst>
                                            <p:cond delay="0"/>
                                          </p:stCondLst>
                                        </p:cTn>
                                        <p:tgtEl>
                                          <p:spTgt spid="37"/>
                                        </p:tgtEl>
                                        <p:attrNameLst>
                                          <p:attrName>style.visibility</p:attrName>
                                        </p:attrNameLst>
                                      </p:cBhvr>
                                      <p:to>
                                        <p:strVal val="visible"/>
                                      </p:to>
                                    </p:set>
                                    <p:anim calcmode="lin" valueType="num">
                                      <p:cBhvr>
                                        <p:cTn id="77" dur="500" fill="hold"/>
                                        <p:tgtEl>
                                          <p:spTgt spid="37"/>
                                        </p:tgtEl>
                                        <p:attrNameLst>
                                          <p:attrName>ppt_w</p:attrName>
                                        </p:attrNameLst>
                                      </p:cBhvr>
                                      <p:tavLst>
                                        <p:tav tm="0">
                                          <p:val>
                                            <p:fltVal val="0"/>
                                          </p:val>
                                        </p:tav>
                                        <p:tav tm="100000">
                                          <p:val>
                                            <p:strVal val="#ppt_w"/>
                                          </p:val>
                                        </p:tav>
                                      </p:tavLst>
                                    </p:anim>
                                    <p:anim calcmode="lin" valueType="num">
                                      <p:cBhvr>
                                        <p:cTn id="78" dur="500" fill="hold"/>
                                        <p:tgtEl>
                                          <p:spTgt spid="37"/>
                                        </p:tgtEl>
                                        <p:attrNameLst>
                                          <p:attrName>ppt_h</p:attrName>
                                        </p:attrNameLst>
                                      </p:cBhvr>
                                      <p:tavLst>
                                        <p:tav tm="0">
                                          <p:val>
                                            <p:fltVal val="0"/>
                                          </p:val>
                                        </p:tav>
                                        <p:tav tm="100000">
                                          <p:val>
                                            <p:strVal val="#ppt_h"/>
                                          </p:val>
                                        </p:tav>
                                      </p:tavLst>
                                    </p:anim>
                                  </p:childTnLst>
                                </p:cTn>
                              </p:par>
                              <p:par>
                                <p:cTn id="79" presetID="12" presetClass="entr" presetSubtype="8" fill="hold" nodeType="withEffect">
                                  <p:stCondLst>
                                    <p:cond delay="1500"/>
                                  </p:stCondLst>
                                  <p:childTnLst>
                                    <p:set>
                                      <p:cBhvr>
                                        <p:cTn id="80" dur="1" fill="hold">
                                          <p:stCondLst>
                                            <p:cond delay="0"/>
                                          </p:stCondLst>
                                        </p:cTn>
                                        <p:tgtEl>
                                          <p:spTgt spid="20"/>
                                        </p:tgtEl>
                                        <p:attrNameLst>
                                          <p:attrName>style.visibility</p:attrName>
                                        </p:attrNameLst>
                                      </p:cBhvr>
                                      <p:to>
                                        <p:strVal val="visible"/>
                                      </p:to>
                                    </p:set>
                                    <p:anim calcmode="lin" valueType="num">
                                      <p:cBhvr additive="base">
                                        <p:cTn id="81" dur="1000"/>
                                        <p:tgtEl>
                                          <p:spTgt spid="20"/>
                                        </p:tgtEl>
                                        <p:attrNameLst>
                                          <p:attrName>ppt_x</p:attrName>
                                        </p:attrNameLst>
                                      </p:cBhvr>
                                      <p:tavLst>
                                        <p:tav tm="0">
                                          <p:val>
                                            <p:strVal val="#ppt_x-#ppt_w*1.125000"/>
                                          </p:val>
                                        </p:tav>
                                        <p:tav tm="100000">
                                          <p:val>
                                            <p:strVal val="#ppt_x"/>
                                          </p:val>
                                        </p:tav>
                                      </p:tavLst>
                                    </p:anim>
                                    <p:animEffect transition="in" filter="wipe(right)">
                                      <p:cBhvr>
                                        <p:cTn id="82" dur="1000"/>
                                        <p:tgtEl>
                                          <p:spTgt spid="20"/>
                                        </p:tgtEl>
                                      </p:cBhvr>
                                    </p:animEffect>
                                  </p:childTnLst>
                                </p:cTn>
                              </p:par>
                              <p:par>
                                <p:cTn id="83" presetID="23" presetClass="entr" presetSubtype="16" fill="hold" grpId="0" nodeType="withEffect">
                                  <p:stCondLst>
                                    <p:cond delay="1500"/>
                                  </p:stCondLst>
                                  <p:childTnLst>
                                    <p:set>
                                      <p:cBhvr>
                                        <p:cTn id="84" dur="1" fill="hold">
                                          <p:stCondLst>
                                            <p:cond delay="0"/>
                                          </p:stCondLst>
                                        </p:cTn>
                                        <p:tgtEl>
                                          <p:spTgt spid="12"/>
                                        </p:tgtEl>
                                        <p:attrNameLst>
                                          <p:attrName>style.visibility</p:attrName>
                                        </p:attrNameLst>
                                      </p:cBhvr>
                                      <p:to>
                                        <p:strVal val="visible"/>
                                      </p:to>
                                    </p:set>
                                    <p:anim calcmode="lin" valueType="num">
                                      <p:cBhvr>
                                        <p:cTn id="85" dur="1000" fill="hold"/>
                                        <p:tgtEl>
                                          <p:spTgt spid="12"/>
                                        </p:tgtEl>
                                        <p:attrNameLst>
                                          <p:attrName>ppt_w</p:attrName>
                                        </p:attrNameLst>
                                      </p:cBhvr>
                                      <p:tavLst>
                                        <p:tav tm="0">
                                          <p:val>
                                            <p:fltVal val="0"/>
                                          </p:val>
                                        </p:tav>
                                        <p:tav tm="100000">
                                          <p:val>
                                            <p:strVal val="#ppt_w"/>
                                          </p:val>
                                        </p:tav>
                                      </p:tavLst>
                                    </p:anim>
                                    <p:anim calcmode="lin" valueType="num">
                                      <p:cBhvr>
                                        <p:cTn id="86" dur="1000" fill="hold"/>
                                        <p:tgtEl>
                                          <p:spTgt spid="12"/>
                                        </p:tgtEl>
                                        <p:attrNameLst>
                                          <p:attrName>ppt_h</p:attrName>
                                        </p:attrNameLst>
                                      </p:cBhvr>
                                      <p:tavLst>
                                        <p:tav tm="0">
                                          <p:val>
                                            <p:fltVal val="0"/>
                                          </p:val>
                                        </p:tav>
                                        <p:tav tm="100000">
                                          <p:val>
                                            <p:strVal val="#ppt_h"/>
                                          </p:val>
                                        </p:tav>
                                      </p:tavLst>
                                    </p:anim>
                                  </p:childTnLst>
                                </p:cTn>
                              </p:par>
                              <p:par>
                                <p:cTn id="87" presetID="21" presetClass="entr" presetSubtype="1" fill="hold" nodeType="withEffect">
                                  <p:stCondLst>
                                    <p:cond delay="1500"/>
                                  </p:stCondLst>
                                  <p:childTnLst>
                                    <p:set>
                                      <p:cBhvr>
                                        <p:cTn id="88" dur="1" fill="hold">
                                          <p:stCondLst>
                                            <p:cond delay="0"/>
                                          </p:stCondLst>
                                        </p:cTn>
                                        <p:tgtEl>
                                          <p:spTgt spid="31"/>
                                        </p:tgtEl>
                                        <p:attrNameLst>
                                          <p:attrName>style.visibility</p:attrName>
                                        </p:attrNameLst>
                                      </p:cBhvr>
                                      <p:to>
                                        <p:strVal val="visible"/>
                                      </p:to>
                                    </p:set>
                                    <p:animEffect transition="in" filter="wheel(1)">
                                      <p:cBhvr>
                                        <p:cTn id="89" dur="1000"/>
                                        <p:tgtEl>
                                          <p:spTgt spid="31"/>
                                        </p:tgtEl>
                                      </p:cBhvr>
                                    </p:animEffect>
                                  </p:childTnLst>
                                </p:cTn>
                              </p:par>
                              <p:par>
                                <p:cTn id="90" presetID="23" presetClass="entr" presetSubtype="16" fill="hold" grpId="0" nodeType="withEffect">
                                  <p:stCondLst>
                                    <p:cond delay="2000"/>
                                  </p:stCondLst>
                                  <p:childTnLst>
                                    <p:set>
                                      <p:cBhvr>
                                        <p:cTn id="91" dur="1" fill="hold">
                                          <p:stCondLst>
                                            <p:cond delay="0"/>
                                          </p:stCondLst>
                                        </p:cTn>
                                        <p:tgtEl>
                                          <p:spTgt spid="38"/>
                                        </p:tgtEl>
                                        <p:attrNameLst>
                                          <p:attrName>style.visibility</p:attrName>
                                        </p:attrNameLst>
                                      </p:cBhvr>
                                      <p:to>
                                        <p:strVal val="visible"/>
                                      </p:to>
                                    </p:set>
                                    <p:anim calcmode="lin" valueType="num">
                                      <p:cBhvr>
                                        <p:cTn id="92" dur="500" fill="hold"/>
                                        <p:tgtEl>
                                          <p:spTgt spid="38"/>
                                        </p:tgtEl>
                                        <p:attrNameLst>
                                          <p:attrName>ppt_w</p:attrName>
                                        </p:attrNameLst>
                                      </p:cBhvr>
                                      <p:tavLst>
                                        <p:tav tm="0">
                                          <p:val>
                                            <p:fltVal val="0"/>
                                          </p:val>
                                        </p:tav>
                                        <p:tav tm="100000">
                                          <p:val>
                                            <p:strVal val="#ppt_w"/>
                                          </p:val>
                                        </p:tav>
                                      </p:tavLst>
                                    </p:anim>
                                    <p:anim calcmode="lin" valueType="num">
                                      <p:cBhvr>
                                        <p:cTn id="93" dur="500" fill="hold"/>
                                        <p:tgtEl>
                                          <p:spTgt spid="3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0" grpId="0" animBg="1"/>
      <p:bldP spid="11" grpId="0" animBg="1"/>
      <p:bldP spid="12" grpId="0" animBg="1"/>
      <p:bldP spid="21" grpId="0"/>
      <p:bldP spid="34" grpId="0"/>
      <p:bldP spid="35" grpId="0"/>
      <p:bldP spid="36" grpId="0"/>
      <p:bldP spid="37" grpId="0"/>
      <p:bldP spid="38" grpId="0"/>
    </p:bld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B5F371-FCFA-776B-646A-45A3C2125614}"/>
              </a:ext>
            </a:extLst>
          </p:cNvPr>
          <p:cNvSpPr txBox="1">
            <a:spLocks/>
          </p:cNvSpPr>
          <p:nvPr/>
        </p:nvSpPr>
        <p:spPr>
          <a:xfrm>
            <a:off x="1591328" y="306671"/>
            <a:ext cx="4464415" cy="523875"/>
          </a:xfrm>
          <a:prstGeom prst="rect">
            <a:avLst/>
          </a:prstGeom>
        </p:spPr>
        <p:txBody>
          <a:bodyPr/>
          <a:lstStyle>
            <a:lvl1pPr algn="l" defTabSz="685800" rtl="0" eaLnBrk="1" latinLnBrk="0" hangingPunct="1">
              <a:lnSpc>
                <a:spcPct val="90000"/>
              </a:lnSpc>
              <a:spcBef>
                <a:spcPct val="0"/>
              </a:spcBef>
              <a:buNone/>
              <a:defRPr sz="2800" b="1" kern="1200">
                <a:solidFill>
                  <a:schemeClr val="accent1">
                    <a:lumMod val="75000"/>
                  </a:schemeClr>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r>
              <a:rPr kumimoji="1" lang="en-US" altLang="zh-CN"/>
              <a:t>A/B</a:t>
            </a:r>
            <a:r>
              <a:rPr kumimoji="1" lang="zh-CN" altLang="en-US"/>
              <a:t>测试结果分析</a:t>
            </a:r>
            <a:endParaRPr kumimoji="1" lang="zh-CN" altLang="en-US" dirty="0"/>
          </a:p>
        </p:txBody>
      </p:sp>
      <p:graphicFrame>
        <p:nvGraphicFramePr>
          <p:cNvPr id="3" name="Chart 41">
            <a:extLst>
              <a:ext uri="{FF2B5EF4-FFF2-40B4-BE49-F238E27FC236}">
                <a16:creationId xmlns:a16="http://schemas.microsoft.com/office/drawing/2014/main" id="{60DD9BA6-CA9C-6B06-A83B-9A44FA78021D}"/>
              </a:ext>
            </a:extLst>
          </p:cNvPr>
          <p:cNvGraphicFramePr/>
          <p:nvPr>
            <p:extLst>
              <p:ext uri="{D42A27DB-BD31-4B8C-83A1-F6EECF244321}">
                <p14:modId xmlns:p14="http://schemas.microsoft.com/office/powerpoint/2010/main" val="1352955609"/>
              </p:ext>
            </p:extLst>
          </p:nvPr>
        </p:nvGraphicFramePr>
        <p:xfrm>
          <a:off x="883787" y="727029"/>
          <a:ext cx="7492462" cy="3618246"/>
        </p:xfrm>
        <a:graphic>
          <a:graphicData uri="http://schemas.openxmlformats.org/drawingml/2006/chart">
            <c:chart xmlns:c="http://schemas.openxmlformats.org/drawingml/2006/chart" xmlns:r="http://schemas.openxmlformats.org/officeDocument/2006/relationships" r:id="rId2"/>
          </a:graphicData>
        </a:graphic>
      </p:graphicFrame>
      <p:grpSp>
        <p:nvGrpSpPr>
          <p:cNvPr id="4" name="Group 1">
            <a:extLst>
              <a:ext uri="{FF2B5EF4-FFF2-40B4-BE49-F238E27FC236}">
                <a16:creationId xmlns:a16="http://schemas.microsoft.com/office/drawing/2014/main" id="{DE27D16C-A1CF-926C-98ED-6DF24016E9BA}"/>
              </a:ext>
            </a:extLst>
          </p:cNvPr>
          <p:cNvGrpSpPr/>
          <p:nvPr/>
        </p:nvGrpSpPr>
        <p:grpSpPr>
          <a:xfrm>
            <a:off x="1274451" y="4248718"/>
            <a:ext cx="7101797" cy="293660"/>
            <a:chOff x="2318270" y="5877757"/>
            <a:chExt cx="8317542" cy="376924"/>
          </a:xfrm>
        </p:grpSpPr>
        <p:sp>
          <p:nvSpPr>
            <p:cNvPr id="5" name="Content Placeholder 2">
              <a:extLst>
                <a:ext uri="{FF2B5EF4-FFF2-40B4-BE49-F238E27FC236}">
                  <a16:creationId xmlns:a16="http://schemas.microsoft.com/office/drawing/2014/main" id="{6208CB88-8468-C149-02DD-3CE8491C781C}"/>
                </a:ext>
              </a:extLst>
            </p:cNvPr>
            <p:cNvSpPr txBox="1">
              <a:spLocks/>
            </p:cNvSpPr>
            <p:nvPr/>
          </p:nvSpPr>
          <p:spPr>
            <a:xfrm>
              <a:off x="2318270" y="5893777"/>
              <a:ext cx="903111" cy="349698"/>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900" dirty="0">
                  <a:solidFill>
                    <a:schemeClr val="tx1">
                      <a:lumMod val="85000"/>
                      <a:lumOff val="15000"/>
                    </a:schemeClr>
                  </a:solidFill>
                  <a:latin typeface="Century Gothic" panose="020B0502020202020204" pitchFamily="34" charset="0"/>
                </a:rPr>
                <a:t>Landing Page 01</a:t>
              </a:r>
            </a:p>
          </p:txBody>
        </p:sp>
        <p:sp>
          <p:nvSpPr>
            <p:cNvPr id="6" name="Content Placeholder 2">
              <a:extLst>
                <a:ext uri="{FF2B5EF4-FFF2-40B4-BE49-F238E27FC236}">
                  <a16:creationId xmlns:a16="http://schemas.microsoft.com/office/drawing/2014/main" id="{502D1F95-6AB1-F559-F801-70EDB349DF6E}"/>
                </a:ext>
              </a:extLst>
            </p:cNvPr>
            <p:cNvSpPr txBox="1">
              <a:spLocks/>
            </p:cNvSpPr>
            <p:nvPr/>
          </p:nvSpPr>
          <p:spPr>
            <a:xfrm>
              <a:off x="3309959" y="5882773"/>
              <a:ext cx="903111" cy="349698"/>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900" dirty="0">
                  <a:solidFill>
                    <a:schemeClr val="tx1">
                      <a:lumMod val="85000"/>
                      <a:lumOff val="15000"/>
                    </a:schemeClr>
                  </a:solidFill>
                  <a:latin typeface="Century Gothic" panose="020B0502020202020204" pitchFamily="34" charset="0"/>
                </a:rPr>
                <a:t>Landing Page 02</a:t>
              </a:r>
            </a:p>
          </p:txBody>
        </p:sp>
        <p:sp>
          <p:nvSpPr>
            <p:cNvPr id="7" name="Content Placeholder 2">
              <a:extLst>
                <a:ext uri="{FF2B5EF4-FFF2-40B4-BE49-F238E27FC236}">
                  <a16:creationId xmlns:a16="http://schemas.microsoft.com/office/drawing/2014/main" id="{0C59CB45-5783-7DB7-6393-F8690FDA96B3}"/>
                </a:ext>
              </a:extLst>
            </p:cNvPr>
            <p:cNvSpPr txBox="1">
              <a:spLocks/>
            </p:cNvSpPr>
            <p:nvPr/>
          </p:nvSpPr>
          <p:spPr>
            <a:xfrm>
              <a:off x="4387839" y="5899967"/>
              <a:ext cx="903111" cy="354714"/>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900" dirty="0">
                  <a:solidFill>
                    <a:schemeClr val="tx1">
                      <a:lumMod val="85000"/>
                      <a:lumOff val="15000"/>
                    </a:schemeClr>
                  </a:solidFill>
                  <a:latin typeface="Century Gothic" panose="020B0502020202020204" pitchFamily="34" charset="0"/>
                </a:rPr>
                <a:t>Show Product Video</a:t>
              </a:r>
            </a:p>
          </p:txBody>
        </p:sp>
        <p:sp>
          <p:nvSpPr>
            <p:cNvPr id="8" name="Content Placeholder 2">
              <a:extLst>
                <a:ext uri="{FF2B5EF4-FFF2-40B4-BE49-F238E27FC236}">
                  <a16:creationId xmlns:a16="http://schemas.microsoft.com/office/drawing/2014/main" id="{9CAF1353-C71C-9FA5-916D-E0D650E18597}"/>
                </a:ext>
              </a:extLst>
            </p:cNvPr>
            <p:cNvSpPr txBox="1">
              <a:spLocks/>
            </p:cNvSpPr>
            <p:nvPr/>
          </p:nvSpPr>
          <p:spPr>
            <a:xfrm>
              <a:off x="5401894" y="5882774"/>
              <a:ext cx="903111" cy="349697"/>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900" dirty="0">
                  <a:solidFill>
                    <a:schemeClr val="tx1">
                      <a:lumMod val="85000"/>
                      <a:lumOff val="15000"/>
                    </a:schemeClr>
                  </a:solidFill>
                  <a:latin typeface="Century Gothic" panose="020B0502020202020204" pitchFamily="34" charset="0"/>
                </a:rPr>
                <a:t>No Product Video</a:t>
              </a:r>
            </a:p>
          </p:txBody>
        </p:sp>
        <p:sp>
          <p:nvSpPr>
            <p:cNvPr id="9" name="Content Placeholder 2">
              <a:extLst>
                <a:ext uri="{FF2B5EF4-FFF2-40B4-BE49-F238E27FC236}">
                  <a16:creationId xmlns:a16="http://schemas.microsoft.com/office/drawing/2014/main" id="{62ADFB96-094D-1E58-2C8C-02E424EC6D9D}"/>
                </a:ext>
              </a:extLst>
            </p:cNvPr>
            <p:cNvSpPr txBox="1">
              <a:spLocks/>
            </p:cNvSpPr>
            <p:nvPr/>
          </p:nvSpPr>
          <p:spPr>
            <a:xfrm>
              <a:off x="6413517" y="5877757"/>
              <a:ext cx="903111" cy="354714"/>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900" dirty="0">
                  <a:solidFill>
                    <a:schemeClr val="tx1">
                      <a:lumMod val="85000"/>
                      <a:lumOff val="15000"/>
                    </a:schemeClr>
                  </a:solidFill>
                  <a:latin typeface="Century Gothic" panose="020B0502020202020204" pitchFamily="34" charset="0"/>
                </a:rPr>
                <a:t>Remove Navigation</a:t>
              </a:r>
            </a:p>
          </p:txBody>
        </p:sp>
        <p:sp>
          <p:nvSpPr>
            <p:cNvPr id="10" name="Content Placeholder 2">
              <a:extLst>
                <a:ext uri="{FF2B5EF4-FFF2-40B4-BE49-F238E27FC236}">
                  <a16:creationId xmlns:a16="http://schemas.microsoft.com/office/drawing/2014/main" id="{84236862-D675-3C21-6762-21CFA93CF082}"/>
                </a:ext>
              </a:extLst>
            </p:cNvPr>
            <p:cNvSpPr txBox="1">
              <a:spLocks/>
            </p:cNvSpPr>
            <p:nvPr/>
          </p:nvSpPr>
          <p:spPr>
            <a:xfrm>
              <a:off x="7557654" y="5893772"/>
              <a:ext cx="903111" cy="354714"/>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900" dirty="0">
                  <a:solidFill>
                    <a:schemeClr val="tx1">
                      <a:lumMod val="85000"/>
                      <a:lumOff val="15000"/>
                    </a:schemeClr>
                  </a:solidFill>
                  <a:latin typeface="Century Gothic" panose="020B0502020202020204" pitchFamily="34" charset="0"/>
                </a:rPr>
                <a:t>Add </a:t>
              </a:r>
            </a:p>
            <a:p>
              <a:pPr marL="0" indent="0" algn="ctr">
                <a:lnSpc>
                  <a:spcPts val="1110"/>
                </a:lnSpc>
                <a:spcBef>
                  <a:spcPts val="0"/>
                </a:spcBef>
                <a:buNone/>
              </a:pPr>
              <a:r>
                <a:rPr lang="en-US" sz="900" dirty="0">
                  <a:solidFill>
                    <a:schemeClr val="tx1">
                      <a:lumMod val="85000"/>
                      <a:lumOff val="15000"/>
                    </a:schemeClr>
                  </a:solidFill>
                  <a:latin typeface="Century Gothic" panose="020B0502020202020204" pitchFamily="34" charset="0"/>
                </a:rPr>
                <a:t>Navigation</a:t>
              </a:r>
            </a:p>
          </p:txBody>
        </p:sp>
        <p:sp>
          <p:nvSpPr>
            <p:cNvPr id="11" name="Content Placeholder 2">
              <a:extLst>
                <a:ext uri="{FF2B5EF4-FFF2-40B4-BE49-F238E27FC236}">
                  <a16:creationId xmlns:a16="http://schemas.microsoft.com/office/drawing/2014/main" id="{A8920036-158A-E7A2-45EA-A38F4EE4DC92}"/>
                </a:ext>
              </a:extLst>
            </p:cNvPr>
            <p:cNvSpPr txBox="1">
              <a:spLocks/>
            </p:cNvSpPr>
            <p:nvPr/>
          </p:nvSpPr>
          <p:spPr>
            <a:xfrm>
              <a:off x="8636923" y="5893777"/>
              <a:ext cx="903111" cy="349697"/>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900" dirty="0">
                  <a:solidFill>
                    <a:schemeClr val="tx1">
                      <a:lumMod val="85000"/>
                      <a:lumOff val="15000"/>
                    </a:schemeClr>
                  </a:solidFill>
                  <a:latin typeface="Century Gothic" panose="020B0502020202020204" pitchFamily="34" charset="0"/>
                </a:rPr>
                <a:t>Longer Form Page</a:t>
              </a:r>
            </a:p>
          </p:txBody>
        </p:sp>
        <p:sp>
          <p:nvSpPr>
            <p:cNvPr id="12" name="Content Placeholder 2">
              <a:extLst>
                <a:ext uri="{FF2B5EF4-FFF2-40B4-BE49-F238E27FC236}">
                  <a16:creationId xmlns:a16="http://schemas.microsoft.com/office/drawing/2014/main" id="{3CB277FC-F0E9-E851-06EF-CEF673CCAE28}"/>
                </a:ext>
              </a:extLst>
            </p:cNvPr>
            <p:cNvSpPr txBox="1">
              <a:spLocks/>
            </p:cNvSpPr>
            <p:nvPr/>
          </p:nvSpPr>
          <p:spPr>
            <a:xfrm>
              <a:off x="9732701" y="5893777"/>
              <a:ext cx="903111" cy="349697"/>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900" dirty="0">
                  <a:solidFill>
                    <a:schemeClr val="tx1">
                      <a:lumMod val="85000"/>
                      <a:lumOff val="15000"/>
                    </a:schemeClr>
                  </a:solidFill>
                  <a:latin typeface="Century Gothic" panose="020B0502020202020204" pitchFamily="34" charset="0"/>
                </a:rPr>
                <a:t>Shorter Form Page</a:t>
              </a:r>
            </a:p>
          </p:txBody>
        </p:sp>
      </p:grpSp>
      <p:sp>
        <p:nvSpPr>
          <p:cNvPr id="13" name="Content Placeholder 2">
            <a:extLst>
              <a:ext uri="{FF2B5EF4-FFF2-40B4-BE49-F238E27FC236}">
                <a16:creationId xmlns:a16="http://schemas.microsoft.com/office/drawing/2014/main" id="{CC4D0CE3-CFCF-6A5F-E6BC-2F91389518D3}"/>
              </a:ext>
            </a:extLst>
          </p:cNvPr>
          <p:cNvSpPr txBox="1">
            <a:spLocks/>
          </p:cNvSpPr>
          <p:nvPr/>
        </p:nvSpPr>
        <p:spPr>
          <a:xfrm rot="16200000">
            <a:off x="-392442" y="2556272"/>
            <a:ext cx="2342262" cy="169277"/>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100" dirty="0">
                <a:solidFill>
                  <a:schemeClr val="tx1">
                    <a:lumMod val="85000"/>
                    <a:lumOff val="15000"/>
                  </a:schemeClr>
                </a:solidFill>
                <a:latin typeface="Century Gothic" panose="020B0502020202020204" pitchFamily="34" charset="0"/>
              </a:rPr>
              <a:t>Sum</a:t>
            </a:r>
            <a:r>
              <a:rPr lang="zh-CN" altLang="en-US" sz="1100" dirty="0">
                <a:solidFill>
                  <a:schemeClr val="tx1">
                    <a:lumMod val="85000"/>
                    <a:lumOff val="15000"/>
                  </a:schemeClr>
                </a:solidFill>
                <a:latin typeface="Century Gothic" panose="020B0502020202020204" pitchFamily="34" charset="0"/>
              </a:rPr>
              <a:t> </a:t>
            </a:r>
            <a:r>
              <a:rPr lang="en-US" altLang="zh-CN" sz="1100" dirty="0">
                <a:solidFill>
                  <a:schemeClr val="tx1">
                    <a:lumMod val="85000"/>
                    <a:lumOff val="15000"/>
                  </a:schemeClr>
                </a:solidFill>
                <a:latin typeface="Century Gothic" panose="020B0502020202020204" pitchFamily="34" charset="0"/>
              </a:rPr>
              <a:t>of</a:t>
            </a:r>
            <a:r>
              <a:rPr lang="zh-CN" altLang="en-US" sz="1100" dirty="0">
                <a:solidFill>
                  <a:schemeClr val="tx1">
                    <a:lumMod val="85000"/>
                    <a:lumOff val="15000"/>
                  </a:schemeClr>
                </a:solidFill>
                <a:latin typeface="Century Gothic" panose="020B0502020202020204" pitchFamily="34" charset="0"/>
              </a:rPr>
              <a:t> </a:t>
            </a:r>
            <a:r>
              <a:rPr lang="en-US" altLang="zh-CN" sz="1100" dirty="0">
                <a:solidFill>
                  <a:schemeClr val="tx1">
                    <a:lumMod val="85000"/>
                    <a:lumOff val="15000"/>
                  </a:schemeClr>
                </a:solidFill>
                <a:latin typeface="Century Gothic" panose="020B0502020202020204" pitchFamily="34" charset="0"/>
              </a:rPr>
              <a:t>newsletter</a:t>
            </a:r>
            <a:r>
              <a:rPr lang="zh-CN" altLang="en-US" sz="1100" dirty="0">
                <a:solidFill>
                  <a:schemeClr val="tx1">
                    <a:lumMod val="85000"/>
                    <a:lumOff val="15000"/>
                  </a:schemeClr>
                </a:solidFill>
                <a:latin typeface="Century Gothic" panose="020B0502020202020204" pitchFamily="34" charset="0"/>
              </a:rPr>
              <a:t> </a:t>
            </a:r>
            <a:r>
              <a:rPr lang="en-US" altLang="zh-CN" sz="1100" dirty="0">
                <a:solidFill>
                  <a:schemeClr val="tx1">
                    <a:lumMod val="85000"/>
                    <a:lumOff val="15000"/>
                  </a:schemeClr>
                </a:solidFill>
                <a:latin typeface="Century Gothic" panose="020B0502020202020204" pitchFamily="34" charset="0"/>
              </a:rPr>
              <a:t>Sign</a:t>
            </a:r>
            <a:r>
              <a:rPr lang="zh-CN" altLang="en-US" sz="1100" dirty="0">
                <a:solidFill>
                  <a:schemeClr val="tx1">
                    <a:lumMod val="85000"/>
                    <a:lumOff val="15000"/>
                  </a:schemeClr>
                </a:solidFill>
                <a:latin typeface="Century Gothic" panose="020B0502020202020204" pitchFamily="34" charset="0"/>
              </a:rPr>
              <a:t> </a:t>
            </a:r>
            <a:r>
              <a:rPr lang="en-US" altLang="zh-CN" sz="1100" dirty="0">
                <a:solidFill>
                  <a:schemeClr val="tx1">
                    <a:lumMod val="85000"/>
                    <a:lumOff val="15000"/>
                  </a:schemeClr>
                </a:solidFill>
                <a:latin typeface="Century Gothic" panose="020B0502020202020204" pitchFamily="34" charset="0"/>
              </a:rPr>
              <a:t>up</a:t>
            </a:r>
            <a:endParaRPr lang="en-US" sz="1100" dirty="0">
              <a:solidFill>
                <a:schemeClr val="tx1">
                  <a:lumMod val="85000"/>
                  <a:lumOff val="15000"/>
                </a:schemeClr>
              </a:solidFill>
              <a:latin typeface="Century Gothic" panose="020B0502020202020204" pitchFamily="34" charset="0"/>
            </a:endParaRPr>
          </a:p>
        </p:txBody>
      </p:sp>
      <p:sp>
        <p:nvSpPr>
          <p:cNvPr id="14" name="Content Placeholder 2">
            <a:extLst>
              <a:ext uri="{FF2B5EF4-FFF2-40B4-BE49-F238E27FC236}">
                <a16:creationId xmlns:a16="http://schemas.microsoft.com/office/drawing/2014/main" id="{F7E37755-ED59-8D8F-7F85-AB13FFCF974C}"/>
              </a:ext>
            </a:extLst>
          </p:cNvPr>
          <p:cNvSpPr txBox="1">
            <a:spLocks/>
          </p:cNvSpPr>
          <p:nvPr/>
        </p:nvSpPr>
        <p:spPr>
          <a:xfrm rot="5400000">
            <a:off x="7561566" y="2439269"/>
            <a:ext cx="1530356" cy="129388"/>
          </a:xfrm>
          <a:prstGeom prst="rect">
            <a:avLst/>
          </a:prstGeom>
          <a:noFill/>
        </p:spPr>
        <p:txBody>
          <a:bodyPr vert="horz" wrap="square" lIns="0" tIns="0" rIns="0" bIns="0" rtlCol="0" anchor="ctr"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1110"/>
              </a:lnSpc>
              <a:spcBef>
                <a:spcPts val="0"/>
              </a:spcBef>
              <a:buNone/>
            </a:pPr>
            <a:r>
              <a:rPr lang="en-US" sz="750" dirty="0">
                <a:solidFill>
                  <a:srgbClr val="2DC5FF"/>
                </a:solidFill>
                <a:latin typeface="Century Gothic" panose="020B0502020202020204" pitchFamily="34" charset="0"/>
              </a:rPr>
              <a:t>SUM OF AMOUNT</a:t>
            </a:r>
          </a:p>
        </p:txBody>
      </p:sp>
    </p:spTree>
    <p:extLst>
      <p:ext uri="{BB962C8B-B14F-4D97-AF65-F5344CB8AC3E}">
        <p14:creationId xmlns:p14="http://schemas.microsoft.com/office/powerpoint/2010/main" val="3884099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graphicEl>
                                              <a:chart seriesIdx="-3" categoryIdx="-3" bldStep="gridLegend"/>
                                            </p:graphicEl>
                                          </p:spTgt>
                                        </p:tgtEl>
                                        <p:attrNameLst>
                                          <p:attrName>style.visibility</p:attrName>
                                        </p:attrNameLst>
                                      </p:cBhvr>
                                      <p:to>
                                        <p:strVal val="visible"/>
                                      </p:to>
                                    </p:set>
                                    <p:animEffect transition="in" filter="wipe(left)">
                                      <p:cBhvr>
                                        <p:cTn id="7" dur="500"/>
                                        <p:tgtEl>
                                          <p:spTgt spid="3">
                                            <p:graphicEl>
                                              <a:chart seriesIdx="-3" categoryIdx="-3" bldStep="gridLegend"/>
                                            </p:graphicEl>
                                          </p:spTgt>
                                        </p:tgtEl>
                                      </p:cBhvr>
                                    </p:animEffect>
                                  </p:childTnLst>
                                </p:cTn>
                              </p:par>
                              <p:par>
                                <p:cTn id="8" presetID="12" presetClass="entr" presetSubtype="2" fill="hold" grpId="0" nodeType="withEffect">
                                  <p:stCondLst>
                                    <p:cond delay="500"/>
                                  </p:stCondLst>
                                  <p:childTnLst>
                                    <p:set>
                                      <p:cBhvr>
                                        <p:cTn id="9" dur="1" fill="hold">
                                          <p:stCondLst>
                                            <p:cond delay="0"/>
                                          </p:stCondLst>
                                        </p:cTn>
                                        <p:tgtEl>
                                          <p:spTgt spid="13"/>
                                        </p:tgtEl>
                                        <p:attrNameLst>
                                          <p:attrName>style.visibility</p:attrName>
                                        </p:attrNameLst>
                                      </p:cBhvr>
                                      <p:to>
                                        <p:strVal val="visible"/>
                                      </p:to>
                                    </p:set>
                                    <p:anim calcmode="lin" valueType="num">
                                      <p:cBhvr additive="base">
                                        <p:cTn id="10" dur="1000"/>
                                        <p:tgtEl>
                                          <p:spTgt spid="13"/>
                                        </p:tgtEl>
                                        <p:attrNameLst>
                                          <p:attrName>ppt_x</p:attrName>
                                        </p:attrNameLst>
                                      </p:cBhvr>
                                      <p:tavLst>
                                        <p:tav tm="0">
                                          <p:val>
                                            <p:strVal val="#ppt_x+#ppt_w*1.125000"/>
                                          </p:val>
                                        </p:tav>
                                        <p:tav tm="100000">
                                          <p:val>
                                            <p:strVal val="#ppt_x"/>
                                          </p:val>
                                        </p:tav>
                                      </p:tavLst>
                                    </p:anim>
                                    <p:animEffect transition="in" filter="wipe(left)">
                                      <p:cBhvr>
                                        <p:cTn id="11" dur="1000"/>
                                        <p:tgtEl>
                                          <p:spTgt spid="13"/>
                                        </p:tgtEl>
                                      </p:cBhvr>
                                    </p:animEffect>
                                  </p:childTnLst>
                                </p:cTn>
                              </p:par>
                              <p:par>
                                <p:cTn id="12" presetID="12" presetClass="entr" presetSubtype="8" fill="hold" grpId="0" nodeType="withEffect">
                                  <p:stCondLst>
                                    <p:cond delay="500"/>
                                  </p:stCondLst>
                                  <p:childTnLst>
                                    <p:set>
                                      <p:cBhvr>
                                        <p:cTn id="13" dur="1" fill="hold">
                                          <p:stCondLst>
                                            <p:cond delay="0"/>
                                          </p:stCondLst>
                                        </p:cTn>
                                        <p:tgtEl>
                                          <p:spTgt spid="14"/>
                                        </p:tgtEl>
                                        <p:attrNameLst>
                                          <p:attrName>style.visibility</p:attrName>
                                        </p:attrNameLst>
                                      </p:cBhvr>
                                      <p:to>
                                        <p:strVal val="visible"/>
                                      </p:to>
                                    </p:set>
                                    <p:anim calcmode="lin" valueType="num">
                                      <p:cBhvr additive="base">
                                        <p:cTn id="14" dur="1000"/>
                                        <p:tgtEl>
                                          <p:spTgt spid="14"/>
                                        </p:tgtEl>
                                        <p:attrNameLst>
                                          <p:attrName>ppt_x</p:attrName>
                                        </p:attrNameLst>
                                      </p:cBhvr>
                                      <p:tavLst>
                                        <p:tav tm="0">
                                          <p:val>
                                            <p:strVal val="#ppt_x-#ppt_w*1.125000"/>
                                          </p:val>
                                        </p:tav>
                                        <p:tav tm="100000">
                                          <p:val>
                                            <p:strVal val="#ppt_x"/>
                                          </p:val>
                                        </p:tav>
                                      </p:tavLst>
                                    </p:anim>
                                    <p:animEffect transition="in" filter="wipe(right)">
                                      <p:cBhvr>
                                        <p:cTn id="15" dur="1000"/>
                                        <p:tgtEl>
                                          <p:spTgt spid="14"/>
                                        </p:tgtEl>
                                      </p:cBhvr>
                                    </p:animEffect>
                                  </p:childTnLst>
                                </p:cTn>
                              </p:par>
                              <p:par>
                                <p:cTn id="16" presetID="12" presetClass="entr" presetSubtype="1" fill="hold" nodeType="withEffect">
                                  <p:stCondLst>
                                    <p:cond delay="500"/>
                                  </p:stCondLst>
                                  <p:childTnLst>
                                    <p:set>
                                      <p:cBhvr>
                                        <p:cTn id="17" dur="1" fill="hold">
                                          <p:stCondLst>
                                            <p:cond delay="0"/>
                                          </p:stCondLst>
                                        </p:cTn>
                                        <p:tgtEl>
                                          <p:spTgt spid="4"/>
                                        </p:tgtEl>
                                        <p:attrNameLst>
                                          <p:attrName>style.visibility</p:attrName>
                                        </p:attrNameLst>
                                      </p:cBhvr>
                                      <p:to>
                                        <p:strVal val="visible"/>
                                      </p:to>
                                    </p:set>
                                    <p:anim calcmode="lin" valueType="num">
                                      <p:cBhvr additive="base">
                                        <p:cTn id="18" dur="1000"/>
                                        <p:tgtEl>
                                          <p:spTgt spid="4"/>
                                        </p:tgtEl>
                                        <p:attrNameLst>
                                          <p:attrName>ppt_y</p:attrName>
                                        </p:attrNameLst>
                                      </p:cBhvr>
                                      <p:tavLst>
                                        <p:tav tm="0">
                                          <p:val>
                                            <p:strVal val="#ppt_y-#ppt_h*1.125000"/>
                                          </p:val>
                                        </p:tav>
                                        <p:tav tm="100000">
                                          <p:val>
                                            <p:strVal val="#ppt_y"/>
                                          </p:val>
                                        </p:tav>
                                      </p:tavLst>
                                    </p:anim>
                                    <p:animEffect transition="in" filter="wipe(down)">
                                      <p:cBhvr>
                                        <p:cTn id="19" dur="1000"/>
                                        <p:tgtEl>
                                          <p:spTgt spid="4"/>
                                        </p:tgtEl>
                                      </p:cBhvr>
                                    </p:animEffect>
                                  </p:childTnLst>
                                </p:cTn>
                              </p:par>
                              <p:par>
                                <p:cTn id="20" presetID="22" presetClass="entr" presetSubtype="4" fill="hold" grpId="0" nodeType="withEffect">
                                  <p:stCondLst>
                                    <p:cond delay="1500"/>
                                  </p:stCondLst>
                                  <p:childTnLst>
                                    <p:set>
                                      <p:cBhvr>
                                        <p:cTn id="21" dur="1" fill="hold">
                                          <p:stCondLst>
                                            <p:cond delay="0"/>
                                          </p:stCondLst>
                                        </p:cTn>
                                        <p:tgtEl>
                                          <p:spTgt spid="3">
                                            <p:graphicEl>
                                              <a:chart seriesIdx="-4" categoryIdx="0" bldStep="category"/>
                                            </p:graphicEl>
                                          </p:spTgt>
                                        </p:tgtEl>
                                        <p:attrNameLst>
                                          <p:attrName>style.visibility</p:attrName>
                                        </p:attrNameLst>
                                      </p:cBhvr>
                                      <p:to>
                                        <p:strVal val="visible"/>
                                      </p:to>
                                    </p:set>
                                    <p:animEffect transition="in" filter="wipe(down)">
                                      <p:cBhvr>
                                        <p:cTn id="22" dur="1000"/>
                                        <p:tgtEl>
                                          <p:spTgt spid="3">
                                            <p:graphicEl>
                                              <a:chart seriesIdx="-4" categoryIdx="0" bldStep="category"/>
                                            </p:graphicEl>
                                          </p:spTgt>
                                        </p:tgtEl>
                                      </p:cBhvr>
                                    </p:animEffect>
                                  </p:childTnLst>
                                </p:cTn>
                              </p:par>
                              <p:par>
                                <p:cTn id="23" presetID="22" presetClass="entr" presetSubtype="4" fill="hold" grpId="0" nodeType="withEffect">
                                  <p:stCondLst>
                                    <p:cond delay="2000"/>
                                  </p:stCondLst>
                                  <p:childTnLst>
                                    <p:set>
                                      <p:cBhvr>
                                        <p:cTn id="24" dur="1" fill="hold">
                                          <p:stCondLst>
                                            <p:cond delay="0"/>
                                          </p:stCondLst>
                                        </p:cTn>
                                        <p:tgtEl>
                                          <p:spTgt spid="3">
                                            <p:graphicEl>
                                              <a:chart seriesIdx="-4" categoryIdx="1" bldStep="category"/>
                                            </p:graphicEl>
                                          </p:spTgt>
                                        </p:tgtEl>
                                        <p:attrNameLst>
                                          <p:attrName>style.visibility</p:attrName>
                                        </p:attrNameLst>
                                      </p:cBhvr>
                                      <p:to>
                                        <p:strVal val="visible"/>
                                      </p:to>
                                    </p:set>
                                    <p:animEffect transition="in" filter="wipe(down)">
                                      <p:cBhvr>
                                        <p:cTn id="25" dur="1000"/>
                                        <p:tgtEl>
                                          <p:spTgt spid="3">
                                            <p:graphicEl>
                                              <a:chart seriesIdx="-4" categoryIdx="1" bldStep="category"/>
                                            </p:graphicEl>
                                          </p:spTgt>
                                        </p:tgtEl>
                                      </p:cBhvr>
                                    </p:animEffect>
                                  </p:childTnLst>
                                </p:cTn>
                              </p:par>
                              <p:par>
                                <p:cTn id="26" presetID="22" presetClass="entr" presetSubtype="4" fill="hold" grpId="0" nodeType="withEffect">
                                  <p:stCondLst>
                                    <p:cond delay="2500"/>
                                  </p:stCondLst>
                                  <p:childTnLst>
                                    <p:set>
                                      <p:cBhvr>
                                        <p:cTn id="27" dur="1" fill="hold">
                                          <p:stCondLst>
                                            <p:cond delay="0"/>
                                          </p:stCondLst>
                                        </p:cTn>
                                        <p:tgtEl>
                                          <p:spTgt spid="3">
                                            <p:graphicEl>
                                              <a:chart seriesIdx="-4" categoryIdx="2" bldStep="category"/>
                                            </p:graphicEl>
                                          </p:spTgt>
                                        </p:tgtEl>
                                        <p:attrNameLst>
                                          <p:attrName>style.visibility</p:attrName>
                                        </p:attrNameLst>
                                      </p:cBhvr>
                                      <p:to>
                                        <p:strVal val="visible"/>
                                      </p:to>
                                    </p:set>
                                    <p:animEffect transition="in" filter="wipe(down)">
                                      <p:cBhvr>
                                        <p:cTn id="28" dur="1000"/>
                                        <p:tgtEl>
                                          <p:spTgt spid="3">
                                            <p:graphicEl>
                                              <a:chart seriesIdx="-4" categoryIdx="2" bldStep="category"/>
                                            </p:graphicEl>
                                          </p:spTgt>
                                        </p:tgtEl>
                                      </p:cBhvr>
                                    </p:animEffect>
                                  </p:childTnLst>
                                </p:cTn>
                              </p:par>
                              <p:par>
                                <p:cTn id="29" presetID="22" presetClass="entr" presetSubtype="4" fill="hold" grpId="0" nodeType="withEffect">
                                  <p:stCondLst>
                                    <p:cond delay="3000"/>
                                  </p:stCondLst>
                                  <p:childTnLst>
                                    <p:set>
                                      <p:cBhvr>
                                        <p:cTn id="30" dur="1" fill="hold">
                                          <p:stCondLst>
                                            <p:cond delay="0"/>
                                          </p:stCondLst>
                                        </p:cTn>
                                        <p:tgtEl>
                                          <p:spTgt spid="3">
                                            <p:graphicEl>
                                              <a:chart seriesIdx="-4" categoryIdx="3" bldStep="category"/>
                                            </p:graphicEl>
                                          </p:spTgt>
                                        </p:tgtEl>
                                        <p:attrNameLst>
                                          <p:attrName>style.visibility</p:attrName>
                                        </p:attrNameLst>
                                      </p:cBhvr>
                                      <p:to>
                                        <p:strVal val="visible"/>
                                      </p:to>
                                    </p:set>
                                    <p:animEffect transition="in" filter="wipe(down)">
                                      <p:cBhvr>
                                        <p:cTn id="31" dur="1000"/>
                                        <p:tgtEl>
                                          <p:spTgt spid="3">
                                            <p:graphicEl>
                                              <a:chart seriesIdx="-4" categoryIdx="3" bldStep="category"/>
                                            </p:graphicEl>
                                          </p:spTgt>
                                        </p:tgtEl>
                                      </p:cBhvr>
                                    </p:animEffect>
                                  </p:childTnLst>
                                </p:cTn>
                              </p:par>
                              <p:par>
                                <p:cTn id="32" presetID="22" presetClass="entr" presetSubtype="4" fill="hold" grpId="0" nodeType="withEffect">
                                  <p:stCondLst>
                                    <p:cond delay="3500"/>
                                  </p:stCondLst>
                                  <p:childTnLst>
                                    <p:set>
                                      <p:cBhvr>
                                        <p:cTn id="33" dur="1" fill="hold">
                                          <p:stCondLst>
                                            <p:cond delay="0"/>
                                          </p:stCondLst>
                                        </p:cTn>
                                        <p:tgtEl>
                                          <p:spTgt spid="3">
                                            <p:graphicEl>
                                              <a:chart seriesIdx="-4" categoryIdx="4" bldStep="category"/>
                                            </p:graphicEl>
                                          </p:spTgt>
                                        </p:tgtEl>
                                        <p:attrNameLst>
                                          <p:attrName>style.visibility</p:attrName>
                                        </p:attrNameLst>
                                      </p:cBhvr>
                                      <p:to>
                                        <p:strVal val="visible"/>
                                      </p:to>
                                    </p:set>
                                    <p:animEffect transition="in" filter="wipe(down)">
                                      <p:cBhvr>
                                        <p:cTn id="34" dur="1000"/>
                                        <p:tgtEl>
                                          <p:spTgt spid="3">
                                            <p:graphicEl>
                                              <a:chart seriesIdx="-4" categoryIdx="4" bldStep="category"/>
                                            </p:graphicEl>
                                          </p:spTgt>
                                        </p:tgtEl>
                                      </p:cBhvr>
                                    </p:animEffect>
                                  </p:childTnLst>
                                </p:cTn>
                              </p:par>
                              <p:par>
                                <p:cTn id="35" presetID="22" presetClass="entr" presetSubtype="4" fill="hold" grpId="0" nodeType="withEffect">
                                  <p:stCondLst>
                                    <p:cond delay="4000"/>
                                  </p:stCondLst>
                                  <p:childTnLst>
                                    <p:set>
                                      <p:cBhvr>
                                        <p:cTn id="36" dur="1" fill="hold">
                                          <p:stCondLst>
                                            <p:cond delay="0"/>
                                          </p:stCondLst>
                                        </p:cTn>
                                        <p:tgtEl>
                                          <p:spTgt spid="3">
                                            <p:graphicEl>
                                              <a:chart seriesIdx="-4" categoryIdx="5" bldStep="category"/>
                                            </p:graphicEl>
                                          </p:spTgt>
                                        </p:tgtEl>
                                        <p:attrNameLst>
                                          <p:attrName>style.visibility</p:attrName>
                                        </p:attrNameLst>
                                      </p:cBhvr>
                                      <p:to>
                                        <p:strVal val="visible"/>
                                      </p:to>
                                    </p:set>
                                    <p:animEffect transition="in" filter="wipe(down)">
                                      <p:cBhvr>
                                        <p:cTn id="37" dur="1000"/>
                                        <p:tgtEl>
                                          <p:spTgt spid="3">
                                            <p:graphicEl>
                                              <a:chart seriesIdx="-4" categoryIdx="5" bldStep="category"/>
                                            </p:graphicEl>
                                          </p:spTgt>
                                        </p:tgtEl>
                                      </p:cBhvr>
                                    </p:animEffect>
                                  </p:childTnLst>
                                </p:cTn>
                              </p:par>
                              <p:par>
                                <p:cTn id="38" presetID="22" presetClass="entr" presetSubtype="4" fill="hold" grpId="0" nodeType="withEffect">
                                  <p:stCondLst>
                                    <p:cond delay="4500"/>
                                  </p:stCondLst>
                                  <p:childTnLst>
                                    <p:set>
                                      <p:cBhvr>
                                        <p:cTn id="39" dur="1" fill="hold">
                                          <p:stCondLst>
                                            <p:cond delay="0"/>
                                          </p:stCondLst>
                                        </p:cTn>
                                        <p:tgtEl>
                                          <p:spTgt spid="3">
                                            <p:graphicEl>
                                              <a:chart seriesIdx="-4" categoryIdx="6" bldStep="category"/>
                                            </p:graphicEl>
                                          </p:spTgt>
                                        </p:tgtEl>
                                        <p:attrNameLst>
                                          <p:attrName>style.visibility</p:attrName>
                                        </p:attrNameLst>
                                      </p:cBhvr>
                                      <p:to>
                                        <p:strVal val="visible"/>
                                      </p:to>
                                    </p:set>
                                    <p:animEffect transition="in" filter="wipe(down)">
                                      <p:cBhvr>
                                        <p:cTn id="40" dur="1000"/>
                                        <p:tgtEl>
                                          <p:spTgt spid="3">
                                            <p:graphicEl>
                                              <a:chart seriesIdx="-4" categoryIdx="6" bldStep="category"/>
                                            </p:graphicEl>
                                          </p:spTgt>
                                        </p:tgtEl>
                                      </p:cBhvr>
                                    </p:animEffect>
                                  </p:childTnLst>
                                </p:cTn>
                              </p:par>
                              <p:par>
                                <p:cTn id="41" presetID="22" presetClass="entr" presetSubtype="4" fill="hold" grpId="0" nodeType="withEffect">
                                  <p:stCondLst>
                                    <p:cond delay="5000"/>
                                  </p:stCondLst>
                                  <p:childTnLst>
                                    <p:set>
                                      <p:cBhvr>
                                        <p:cTn id="42" dur="1" fill="hold">
                                          <p:stCondLst>
                                            <p:cond delay="0"/>
                                          </p:stCondLst>
                                        </p:cTn>
                                        <p:tgtEl>
                                          <p:spTgt spid="3">
                                            <p:graphicEl>
                                              <a:chart seriesIdx="-4" categoryIdx="7" bldStep="category"/>
                                            </p:graphicEl>
                                          </p:spTgt>
                                        </p:tgtEl>
                                        <p:attrNameLst>
                                          <p:attrName>style.visibility</p:attrName>
                                        </p:attrNameLst>
                                      </p:cBhvr>
                                      <p:to>
                                        <p:strVal val="visible"/>
                                      </p:to>
                                    </p:set>
                                    <p:animEffect transition="in" filter="wipe(down)">
                                      <p:cBhvr>
                                        <p:cTn id="43" dur="1000"/>
                                        <p:tgtEl>
                                          <p:spTgt spid="3">
                                            <p:graphicEl>
                                              <a:chart seriesIdx="-4" categoryIdx="7"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uiExpand="1">
        <p:bldSub>
          <a:bldChart bld="category"/>
        </p:bldSub>
      </p:bldGraphic>
      <p:bldP spid="13" grpId="0"/>
      <p:bldP spid="14" grpId="0"/>
    </p:bld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B5F371-FCFA-776B-646A-45A3C2125614}"/>
              </a:ext>
            </a:extLst>
          </p:cNvPr>
          <p:cNvSpPr txBox="1">
            <a:spLocks/>
          </p:cNvSpPr>
          <p:nvPr/>
        </p:nvSpPr>
        <p:spPr>
          <a:xfrm>
            <a:off x="1591328" y="306671"/>
            <a:ext cx="5344310" cy="523875"/>
          </a:xfrm>
          <a:prstGeom prst="rect">
            <a:avLst/>
          </a:prstGeom>
        </p:spPr>
        <p:txBody>
          <a:bodyPr/>
          <a:lstStyle>
            <a:lvl1pPr algn="l" defTabSz="685800" rtl="0" eaLnBrk="1" latinLnBrk="0" hangingPunct="1">
              <a:lnSpc>
                <a:spcPct val="90000"/>
              </a:lnSpc>
              <a:spcBef>
                <a:spcPct val="0"/>
              </a:spcBef>
              <a:buNone/>
              <a:defRPr sz="2800" b="1" kern="1200">
                <a:solidFill>
                  <a:schemeClr val="accent1">
                    <a:lumMod val="75000"/>
                  </a:schemeClr>
                </a:solidFill>
                <a:latin typeface="Microsoft YaHei" panose="020B0503020204020204" pitchFamily="34" charset="-122"/>
                <a:ea typeface="Microsoft YaHei" panose="020B0503020204020204" pitchFamily="34" charset="-122"/>
                <a:cs typeface="Microsoft YaHei" panose="020B0503020204020204" pitchFamily="34" charset="-122"/>
              </a:defRPr>
            </a:lvl1pPr>
          </a:lstStyle>
          <a:p>
            <a:r>
              <a:rPr kumimoji="1" lang="zh-CN" altLang="en-US" dirty="0"/>
              <a:t>逐层递进的</a:t>
            </a:r>
            <a:r>
              <a:rPr kumimoji="1" lang="en-US" altLang="zh-CN" dirty="0"/>
              <a:t>A/B</a:t>
            </a:r>
            <a:r>
              <a:rPr kumimoji="1" lang="zh-CN" altLang="en-US" dirty="0"/>
              <a:t>实验：决策树</a:t>
            </a:r>
          </a:p>
        </p:txBody>
      </p:sp>
      <p:grpSp>
        <p:nvGrpSpPr>
          <p:cNvPr id="15" name="Group 170">
            <a:extLst>
              <a:ext uri="{FF2B5EF4-FFF2-40B4-BE49-F238E27FC236}">
                <a16:creationId xmlns:a16="http://schemas.microsoft.com/office/drawing/2014/main" id="{27C06D31-6842-CF0D-0224-1B3BD32C0A93}"/>
              </a:ext>
            </a:extLst>
          </p:cNvPr>
          <p:cNvGrpSpPr/>
          <p:nvPr/>
        </p:nvGrpSpPr>
        <p:grpSpPr>
          <a:xfrm>
            <a:off x="138023" y="724619"/>
            <a:ext cx="9005977" cy="4138089"/>
            <a:chOff x="483655" y="1497155"/>
            <a:chExt cx="11214100" cy="4872134"/>
          </a:xfrm>
          <a:solidFill>
            <a:schemeClr val="accent4">
              <a:lumMod val="20000"/>
              <a:lumOff val="80000"/>
            </a:schemeClr>
          </a:solidFill>
        </p:grpSpPr>
        <p:sp>
          <p:nvSpPr>
            <p:cNvPr id="16" name="Rounded Rectangle">
              <a:extLst>
                <a:ext uri="{FF2B5EF4-FFF2-40B4-BE49-F238E27FC236}">
                  <a16:creationId xmlns:a16="http://schemas.microsoft.com/office/drawing/2014/main" id="{D0F69FA6-FB68-7945-9F71-943B823E71A8}"/>
                </a:ext>
              </a:extLst>
            </p:cNvPr>
            <p:cNvSpPr/>
            <p:nvPr/>
          </p:nvSpPr>
          <p:spPr>
            <a:xfrm>
              <a:off x="5340038" y="1497155"/>
              <a:ext cx="1511922" cy="335983"/>
            </a:xfrm>
            <a:prstGeom prst="roundRect">
              <a:avLst>
                <a:gd name="adj" fmla="val 12205"/>
              </a:avLst>
            </a:prstGeom>
            <a:solidFill>
              <a:schemeClr val="accent5">
                <a:lumMod val="20000"/>
                <a:lumOff val="80000"/>
              </a:schemeClr>
            </a:solidFill>
            <a:ln w="25400">
              <a:noFill/>
              <a:miter lim="400000"/>
            </a:ln>
            <a:effectLst>
              <a:outerShdw blurRad="190500" dist="50800" dir="2700000" sx="102000" sy="102000" algn="tl" rotWithShape="0">
                <a:prstClr val="black">
                  <a:alpha val="30000"/>
                </a:prstClr>
              </a:outerShdw>
            </a:effectLst>
          </p:spPr>
          <p:txBody>
            <a:bodyPr lIns="0" tIns="0" rIns="0" bIns="0" anchor="ctr"/>
            <a:lstStyle/>
            <a:p>
              <a:pPr>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158 {n=38, 100%}</a:t>
              </a:r>
              <a:endParaRPr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endParaRPr>
            </a:p>
          </p:txBody>
        </p:sp>
        <p:sp>
          <p:nvSpPr>
            <p:cNvPr id="17" name="Rounded Rectangle">
              <a:extLst>
                <a:ext uri="{FF2B5EF4-FFF2-40B4-BE49-F238E27FC236}">
                  <a16:creationId xmlns:a16="http://schemas.microsoft.com/office/drawing/2014/main" id="{56A029B9-C159-C08D-3D6B-2332791474A1}"/>
                </a:ext>
              </a:extLst>
            </p:cNvPr>
            <p:cNvSpPr/>
            <p:nvPr/>
          </p:nvSpPr>
          <p:spPr>
            <a:xfrm>
              <a:off x="2009632" y="2093845"/>
              <a:ext cx="1250743" cy="335983"/>
            </a:xfrm>
            <a:prstGeom prst="roundRect">
              <a:avLst>
                <a:gd name="adj" fmla="val 12205"/>
              </a:avLst>
            </a:prstGeom>
            <a:solidFill>
              <a:schemeClr val="accent6">
                <a:lumMod val="20000"/>
                <a:lumOff val="80000"/>
              </a:schemeClr>
            </a:solidFill>
            <a:ln w="25400">
              <a:solidFill>
                <a:srgbClr val="2DC5FF"/>
              </a:solidFill>
              <a:miter lim="400000"/>
            </a:ln>
            <a:effectLst>
              <a:outerShdw blurRad="190500" dist="50800" dir="2700000" sx="102000" sy="102000" algn="tl" rotWithShape="0">
                <a:prstClr val="black"/>
              </a:outerShdw>
            </a:effectLst>
          </p:spPr>
          <p:txBody>
            <a:bodyPr lIns="0" tIns="0" rIns="0" bIns="0" anchor="ctr"/>
            <a:lstStyle/>
            <a:p>
              <a:pPr>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117 {n=7, 18%}</a:t>
              </a:r>
            </a:p>
          </p:txBody>
        </p:sp>
        <p:sp>
          <p:nvSpPr>
            <p:cNvPr id="18" name="Content Placeholder 2">
              <a:extLst>
                <a:ext uri="{FF2B5EF4-FFF2-40B4-BE49-F238E27FC236}">
                  <a16:creationId xmlns:a16="http://schemas.microsoft.com/office/drawing/2014/main" id="{9E9FCA65-9FB2-9AC5-4DB2-AF647A53C8CF}"/>
                </a:ext>
              </a:extLst>
            </p:cNvPr>
            <p:cNvSpPr txBox="1">
              <a:spLocks/>
            </p:cNvSpPr>
            <p:nvPr/>
          </p:nvSpPr>
          <p:spPr>
            <a:xfrm>
              <a:off x="5340038" y="1900632"/>
              <a:ext cx="1359035" cy="213063"/>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000" i="1" dirty="0">
                  <a:solidFill>
                    <a:schemeClr val="tx1">
                      <a:lumMod val="85000"/>
                      <a:lumOff val="15000"/>
                    </a:schemeClr>
                  </a:solidFill>
                  <a:latin typeface="Century Gothic" panose="020B0502020202020204" pitchFamily="34" charset="0"/>
                </a:rPr>
                <a:t>Pageviews &lt; 8460</a:t>
              </a:r>
            </a:p>
          </p:txBody>
        </p:sp>
        <p:sp>
          <p:nvSpPr>
            <p:cNvPr id="19" name="Rounded Rectangle">
              <a:extLst>
                <a:ext uri="{FF2B5EF4-FFF2-40B4-BE49-F238E27FC236}">
                  <a16:creationId xmlns:a16="http://schemas.microsoft.com/office/drawing/2014/main" id="{B4AE0B85-96E5-6D15-91BA-66B5AD47C087}"/>
                </a:ext>
              </a:extLst>
            </p:cNvPr>
            <p:cNvSpPr/>
            <p:nvPr/>
          </p:nvSpPr>
          <p:spPr>
            <a:xfrm>
              <a:off x="7346184" y="2093845"/>
              <a:ext cx="1250743" cy="335983"/>
            </a:xfrm>
            <a:prstGeom prst="roundRect">
              <a:avLst>
                <a:gd name="adj" fmla="val 12205"/>
              </a:avLst>
            </a:prstGeom>
            <a:solidFill>
              <a:schemeClr val="accent6">
                <a:lumMod val="20000"/>
                <a:lumOff val="80000"/>
              </a:schemeClr>
            </a:solidFill>
            <a:ln w="25400">
              <a:solidFill>
                <a:srgbClr val="2DC5FF"/>
              </a:solidFill>
              <a:miter lim="400000"/>
            </a:ln>
            <a:effectLst>
              <a:outerShdw blurRad="190500" dist="50800" dir="2700000" sx="102000" sy="102000" algn="tl" rotWithShape="0">
                <a:prstClr val="black"/>
              </a:outerShdw>
            </a:effectLst>
          </p:spPr>
          <p:txBody>
            <a:bodyPr lIns="0" tIns="0" rIns="0" bIns="0" anchor="ctr"/>
            <a:lstStyle/>
            <a:p>
              <a:pPr>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167 {n=31, 82%}</a:t>
              </a:r>
            </a:p>
          </p:txBody>
        </p:sp>
        <p:sp>
          <p:nvSpPr>
            <p:cNvPr id="20" name="Rounded Rectangle">
              <a:extLst>
                <a:ext uri="{FF2B5EF4-FFF2-40B4-BE49-F238E27FC236}">
                  <a16:creationId xmlns:a16="http://schemas.microsoft.com/office/drawing/2014/main" id="{CBDF926D-569F-C6A7-F996-698B9C1BB56B}"/>
                </a:ext>
              </a:extLst>
            </p:cNvPr>
            <p:cNvSpPr/>
            <p:nvPr/>
          </p:nvSpPr>
          <p:spPr>
            <a:xfrm>
              <a:off x="1313144" y="2764692"/>
              <a:ext cx="1250743" cy="335983"/>
            </a:xfrm>
            <a:prstGeom prst="roundRect">
              <a:avLst>
                <a:gd name="adj" fmla="val 12205"/>
              </a:avLst>
            </a:prstGeom>
            <a:solidFill>
              <a:schemeClr val="accent3">
                <a:lumMod val="20000"/>
                <a:lumOff val="80000"/>
              </a:schemeClr>
            </a:solidFill>
            <a:ln w="25400">
              <a:solidFill>
                <a:schemeClr val="bg1">
                  <a:lumMod val="65000"/>
                </a:schemeClr>
              </a:solidFill>
              <a:miter lim="400000"/>
            </a:ln>
            <a:effectLst>
              <a:outerShdw blurRad="190500" dist="50800" dir="2700000" sx="102000" sy="102000" algn="tl" rotWithShape="0">
                <a:prstClr val="black"/>
              </a:outerShdw>
            </a:effectLst>
          </p:spPr>
          <p:txBody>
            <a:bodyPr lIns="0" tIns="0" rIns="0" bIns="0" anchor="ctr"/>
            <a:lstStyle/>
            <a:p>
              <a:pPr>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17 {n=4, 11%}</a:t>
              </a:r>
            </a:p>
          </p:txBody>
        </p:sp>
        <p:sp>
          <p:nvSpPr>
            <p:cNvPr id="21" name="Rounded Rectangle">
              <a:extLst>
                <a:ext uri="{FF2B5EF4-FFF2-40B4-BE49-F238E27FC236}">
                  <a16:creationId xmlns:a16="http://schemas.microsoft.com/office/drawing/2014/main" id="{A2E572C1-95C4-E7F3-370C-47E33EEC7570}"/>
                </a:ext>
              </a:extLst>
            </p:cNvPr>
            <p:cNvSpPr/>
            <p:nvPr/>
          </p:nvSpPr>
          <p:spPr>
            <a:xfrm>
              <a:off x="9452837" y="2764692"/>
              <a:ext cx="1250743" cy="335983"/>
            </a:xfrm>
            <a:prstGeom prst="roundRect">
              <a:avLst>
                <a:gd name="adj" fmla="val 12205"/>
              </a:avLst>
            </a:prstGeom>
            <a:solidFill>
              <a:schemeClr val="accent3">
                <a:lumMod val="20000"/>
                <a:lumOff val="80000"/>
              </a:schemeClr>
            </a:solidFill>
            <a:ln w="25400">
              <a:solidFill>
                <a:schemeClr val="bg1">
                  <a:lumMod val="65000"/>
                </a:schemeClr>
              </a:solidFill>
              <a:miter lim="400000"/>
            </a:ln>
            <a:effectLst>
              <a:outerShdw blurRad="190500" dist="50800" dir="2700000" sx="102000" sy="102000" algn="tl" rotWithShape="0">
                <a:prstClr val="black"/>
              </a:outerShdw>
            </a:effectLst>
          </p:spPr>
          <p:txBody>
            <a:bodyPr lIns="0" tIns="0" rIns="0" bIns="0" anchor="ctr"/>
            <a:lstStyle/>
            <a:p>
              <a:pPr>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184 {n=16 42%}</a:t>
              </a:r>
            </a:p>
          </p:txBody>
        </p:sp>
        <p:sp>
          <p:nvSpPr>
            <p:cNvPr id="22" name="Rounded Rectangle">
              <a:extLst>
                <a:ext uri="{FF2B5EF4-FFF2-40B4-BE49-F238E27FC236}">
                  <a16:creationId xmlns:a16="http://schemas.microsoft.com/office/drawing/2014/main" id="{EC515F16-E637-AAB9-943D-4B1E7F10EAB1}"/>
                </a:ext>
              </a:extLst>
            </p:cNvPr>
            <p:cNvSpPr/>
            <p:nvPr/>
          </p:nvSpPr>
          <p:spPr>
            <a:xfrm>
              <a:off x="5280984" y="2764692"/>
              <a:ext cx="1250743" cy="335983"/>
            </a:xfrm>
            <a:prstGeom prst="roundRect">
              <a:avLst>
                <a:gd name="adj" fmla="val 12205"/>
              </a:avLst>
            </a:prstGeom>
            <a:solidFill>
              <a:schemeClr val="accent3">
                <a:lumMod val="20000"/>
                <a:lumOff val="80000"/>
              </a:schemeClr>
            </a:solidFill>
            <a:ln w="25400">
              <a:solidFill>
                <a:schemeClr val="bg1">
                  <a:lumMod val="65000"/>
                </a:schemeClr>
              </a:solidFill>
              <a:miter lim="400000"/>
            </a:ln>
            <a:effectLst>
              <a:outerShdw blurRad="190500" dist="50800" dir="2700000" sx="102000" sy="102000" algn="tl" rotWithShape="0">
                <a:prstClr val="black"/>
              </a:outerShdw>
            </a:effectLst>
          </p:spPr>
          <p:txBody>
            <a:bodyPr lIns="0" tIns="0" rIns="0" bIns="0" anchor="ctr"/>
            <a:lstStyle/>
            <a:p>
              <a:pPr>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149 {n=</a:t>
              </a:r>
              <a:r>
                <a:rPr lang="en-US" altLang="zh-CN"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a:t>
              </a: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5, 39%}</a:t>
              </a:r>
            </a:p>
          </p:txBody>
        </p:sp>
        <p:sp>
          <p:nvSpPr>
            <p:cNvPr id="23" name="Rectangle: Rounded Corners 3">
              <a:extLst>
                <a:ext uri="{FF2B5EF4-FFF2-40B4-BE49-F238E27FC236}">
                  <a16:creationId xmlns:a16="http://schemas.microsoft.com/office/drawing/2014/main" id="{8F6ED350-1B89-1F2D-234C-E73DE752BB9A}"/>
                </a:ext>
              </a:extLst>
            </p:cNvPr>
            <p:cNvSpPr/>
            <p:nvPr/>
          </p:nvSpPr>
          <p:spPr>
            <a:xfrm>
              <a:off x="4184326" y="3618630"/>
              <a:ext cx="1319021" cy="335982"/>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134 {n=7 18%}</a:t>
              </a:r>
            </a:p>
          </p:txBody>
        </p:sp>
        <p:sp>
          <p:nvSpPr>
            <p:cNvPr id="24" name="Rectangle: Rounded Corners 3">
              <a:extLst>
                <a:ext uri="{FF2B5EF4-FFF2-40B4-BE49-F238E27FC236}">
                  <a16:creationId xmlns:a16="http://schemas.microsoft.com/office/drawing/2014/main" id="{957774A6-CC85-F983-4FCD-0F9D3FF10CA4}"/>
                </a:ext>
              </a:extLst>
            </p:cNvPr>
            <p:cNvSpPr/>
            <p:nvPr/>
          </p:nvSpPr>
          <p:spPr>
            <a:xfrm>
              <a:off x="6156984" y="3618630"/>
              <a:ext cx="1439828" cy="335982"/>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162 {n=8, 21%}</a:t>
              </a:r>
            </a:p>
          </p:txBody>
        </p:sp>
        <p:sp>
          <p:nvSpPr>
            <p:cNvPr id="25" name="Rectangle: Rounded Corners 3">
              <a:extLst>
                <a:ext uri="{FF2B5EF4-FFF2-40B4-BE49-F238E27FC236}">
                  <a16:creationId xmlns:a16="http://schemas.microsoft.com/office/drawing/2014/main" id="{DE963715-037F-4466-27DD-03F926972AF3}"/>
                </a:ext>
              </a:extLst>
            </p:cNvPr>
            <p:cNvSpPr/>
            <p:nvPr/>
          </p:nvSpPr>
          <p:spPr>
            <a:xfrm>
              <a:off x="8446752" y="3618630"/>
              <a:ext cx="1481282" cy="335982"/>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176 {n=16, 34%}</a:t>
              </a:r>
            </a:p>
          </p:txBody>
        </p:sp>
        <p:sp>
          <p:nvSpPr>
            <p:cNvPr id="26" name="Rectangle: Rounded Corners 3">
              <a:extLst>
                <a:ext uri="{FF2B5EF4-FFF2-40B4-BE49-F238E27FC236}">
                  <a16:creationId xmlns:a16="http://schemas.microsoft.com/office/drawing/2014/main" id="{33465B24-FCCF-4946-EFB6-B04727E59D4D}"/>
                </a:ext>
              </a:extLst>
            </p:cNvPr>
            <p:cNvSpPr/>
            <p:nvPr/>
          </p:nvSpPr>
          <p:spPr>
            <a:xfrm>
              <a:off x="3603480" y="4639431"/>
              <a:ext cx="1342607" cy="335983"/>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130 {n=5 13%}</a:t>
              </a:r>
            </a:p>
          </p:txBody>
        </p:sp>
        <p:sp>
          <p:nvSpPr>
            <p:cNvPr id="27" name="Rectangle: Rounded Corners 3">
              <a:extLst>
                <a:ext uri="{FF2B5EF4-FFF2-40B4-BE49-F238E27FC236}">
                  <a16:creationId xmlns:a16="http://schemas.microsoft.com/office/drawing/2014/main" id="{82311855-069F-8B8E-E0D1-DE751219CF35}"/>
                </a:ext>
              </a:extLst>
            </p:cNvPr>
            <p:cNvSpPr/>
            <p:nvPr/>
          </p:nvSpPr>
          <p:spPr>
            <a:xfrm>
              <a:off x="5878800" y="4639431"/>
              <a:ext cx="1374189" cy="335982"/>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171 {n=5 13%}</a:t>
              </a:r>
            </a:p>
          </p:txBody>
        </p:sp>
        <p:sp>
          <p:nvSpPr>
            <p:cNvPr id="28" name="Rectangle: Rounded Corners 3">
              <a:extLst>
                <a:ext uri="{FF2B5EF4-FFF2-40B4-BE49-F238E27FC236}">
                  <a16:creationId xmlns:a16="http://schemas.microsoft.com/office/drawing/2014/main" id="{967F04CF-F71D-1D06-01C2-AE5BDC634C95}"/>
                </a:ext>
              </a:extLst>
            </p:cNvPr>
            <p:cNvSpPr/>
            <p:nvPr/>
          </p:nvSpPr>
          <p:spPr>
            <a:xfrm>
              <a:off x="8354025" y="4639431"/>
              <a:ext cx="1481282" cy="335982"/>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171 {n=11 29%}</a:t>
              </a:r>
            </a:p>
          </p:txBody>
        </p:sp>
        <p:grpSp>
          <p:nvGrpSpPr>
            <p:cNvPr id="29" name="Group 1">
              <a:extLst>
                <a:ext uri="{FF2B5EF4-FFF2-40B4-BE49-F238E27FC236}">
                  <a16:creationId xmlns:a16="http://schemas.microsoft.com/office/drawing/2014/main" id="{4D8A4BD1-90AB-9065-B251-A3A02CA59664}"/>
                </a:ext>
              </a:extLst>
            </p:cNvPr>
            <p:cNvGrpSpPr/>
            <p:nvPr/>
          </p:nvGrpSpPr>
          <p:grpSpPr>
            <a:xfrm>
              <a:off x="483655" y="5742499"/>
              <a:ext cx="11214100" cy="626790"/>
              <a:chOff x="-156028" y="5894305"/>
              <a:chExt cx="12048053" cy="557295"/>
            </a:xfrm>
            <a:grpFill/>
          </p:grpSpPr>
          <p:sp>
            <p:nvSpPr>
              <p:cNvPr id="65" name="Rectangle: Rounded Corners 3">
                <a:extLst>
                  <a:ext uri="{FF2B5EF4-FFF2-40B4-BE49-F238E27FC236}">
                    <a16:creationId xmlns:a16="http://schemas.microsoft.com/office/drawing/2014/main" id="{C418C50E-99AF-E270-D24C-DB10FE798001}"/>
                  </a:ext>
                </a:extLst>
              </p:cNvPr>
              <p:cNvSpPr/>
              <p:nvPr/>
            </p:nvSpPr>
            <p:spPr>
              <a:xfrm>
                <a:off x="780747" y="5905608"/>
                <a:ext cx="806753" cy="545992"/>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132</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n=2, 5%</a:t>
                </a:r>
              </a:p>
            </p:txBody>
          </p:sp>
          <p:sp>
            <p:nvSpPr>
              <p:cNvPr id="66" name="Rectangle: Rounded Corners 3">
                <a:extLst>
                  <a:ext uri="{FF2B5EF4-FFF2-40B4-BE49-F238E27FC236}">
                    <a16:creationId xmlns:a16="http://schemas.microsoft.com/office/drawing/2014/main" id="{E0724571-5DBC-6FF3-DEB7-DFCFA26147BB}"/>
                  </a:ext>
                </a:extLst>
              </p:cNvPr>
              <p:cNvSpPr/>
              <p:nvPr/>
            </p:nvSpPr>
            <p:spPr>
              <a:xfrm>
                <a:off x="1717522" y="5905608"/>
                <a:ext cx="806753" cy="545992"/>
              </a:xfrm>
              <a:prstGeom prst="roundRect">
                <a:avLst>
                  <a:gd name="adj" fmla="val 12036"/>
                </a:avLst>
              </a:pr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103</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a:t>
                </a:r>
                <a:r>
                  <a:rPr lang="en-US" altLang="zh-CN"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3</a:t>
                </a: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 8%</a:t>
                </a:r>
              </a:p>
            </p:txBody>
          </p:sp>
          <p:sp>
            <p:nvSpPr>
              <p:cNvPr id="67" name="Rectangle: Rounded Corners 3">
                <a:extLst>
                  <a:ext uri="{FF2B5EF4-FFF2-40B4-BE49-F238E27FC236}">
                    <a16:creationId xmlns:a16="http://schemas.microsoft.com/office/drawing/2014/main" id="{BB7FDF2C-D221-59F5-91D9-93C28823BE75}"/>
                  </a:ext>
                </a:extLst>
              </p:cNvPr>
              <p:cNvSpPr/>
              <p:nvPr/>
            </p:nvSpPr>
            <p:spPr>
              <a:xfrm>
                <a:off x="2654297" y="5905608"/>
                <a:ext cx="806753" cy="545992"/>
              </a:xfrm>
              <a:prstGeom prst="roundRect">
                <a:avLst>
                  <a:gd name="adj" fmla="val 12036"/>
                </a:avLst>
              </a:pr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124</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n=3, 8%</a:t>
                </a:r>
              </a:p>
            </p:txBody>
          </p:sp>
          <p:sp>
            <p:nvSpPr>
              <p:cNvPr id="68" name="Rectangle: Rounded Corners 3">
                <a:extLst>
                  <a:ext uri="{FF2B5EF4-FFF2-40B4-BE49-F238E27FC236}">
                    <a16:creationId xmlns:a16="http://schemas.microsoft.com/office/drawing/2014/main" id="{98ABAF2E-E722-D893-72CA-0479CA8FA9B4}"/>
                  </a:ext>
                </a:extLst>
              </p:cNvPr>
              <p:cNvSpPr/>
              <p:nvPr/>
            </p:nvSpPr>
            <p:spPr>
              <a:xfrm>
                <a:off x="3591072" y="5905608"/>
                <a:ext cx="806753" cy="545992"/>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139</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n=2, 5%</a:t>
                </a:r>
              </a:p>
            </p:txBody>
          </p:sp>
          <p:sp>
            <p:nvSpPr>
              <p:cNvPr id="69" name="Rectangle: Rounded Corners 3">
                <a:extLst>
                  <a:ext uri="{FF2B5EF4-FFF2-40B4-BE49-F238E27FC236}">
                    <a16:creationId xmlns:a16="http://schemas.microsoft.com/office/drawing/2014/main" id="{06A74FB6-A5FD-E0ED-C7DD-75F2B94927D7}"/>
                  </a:ext>
                </a:extLst>
              </p:cNvPr>
              <p:cNvSpPr/>
              <p:nvPr/>
            </p:nvSpPr>
            <p:spPr>
              <a:xfrm>
                <a:off x="4527847" y="5894305"/>
                <a:ext cx="806753" cy="545992"/>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142</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n=2, 5%</a:t>
                </a:r>
              </a:p>
            </p:txBody>
          </p:sp>
          <p:sp>
            <p:nvSpPr>
              <p:cNvPr id="70" name="Rectangle: Rounded Corners 3">
                <a:extLst>
                  <a:ext uri="{FF2B5EF4-FFF2-40B4-BE49-F238E27FC236}">
                    <a16:creationId xmlns:a16="http://schemas.microsoft.com/office/drawing/2014/main" id="{EE8437D9-74AD-6C28-2D75-B7D2CB72192F}"/>
                  </a:ext>
                </a:extLst>
              </p:cNvPr>
              <p:cNvSpPr/>
              <p:nvPr/>
            </p:nvSpPr>
            <p:spPr>
              <a:xfrm>
                <a:off x="5464622" y="5894305"/>
                <a:ext cx="806753" cy="545992"/>
              </a:xfrm>
              <a:prstGeom prst="roundRect">
                <a:avLst>
                  <a:gd name="adj" fmla="val 12036"/>
                </a:avLst>
              </a:prstGeom>
              <a:solidFill>
                <a:schemeClr val="accent2">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164</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n=4, 11%</a:t>
                </a:r>
              </a:p>
            </p:txBody>
          </p:sp>
          <p:sp>
            <p:nvSpPr>
              <p:cNvPr id="71" name="Rectangle: Rounded Corners 3">
                <a:extLst>
                  <a:ext uri="{FF2B5EF4-FFF2-40B4-BE49-F238E27FC236}">
                    <a16:creationId xmlns:a16="http://schemas.microsoft.com/office/drawing/2014/main" id="{486E8674-56E3-229C-A9E1-B4F4555C41FC}"/>
                  </a:ext>
                </a:extLst>
              </p:cNvPr>
              <p:cNvSpPr/>
              <p:nvPr/>
            </p:nvSpPr>
            <p:spPr>
              <a:xfrm>
                <a:off x="6401397" y="5894305"/>
                <a:ext cx="806753" cy="545992"/>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196</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n=1, 3%</a:t>
                </a:r>
              </a:p>
            </p:txBody>
          </p:sp>
          <p:sp>
            <p:nvSpPr>
              <p:cNvPr id="72" name="Rectangle: Rounded Corners 3">
                <a:extLst>
                  <a:ext uri="{FF2B5EF4-FFF2-40B4-BE49-F238E27FC236}">
                    <a16:creationId xmlns:a16="http://schemas.microsoft.com/office/drawing/2014/main" id="{6F4C46EC-B7A3-2397-41EB-D56C5664E06B}"/>
                  </a:ext>
                </a:extLst>
              </p:cNvPr>
              <p:cNvSpPr/>
              <p:nvPr/>
            </p:nvSpPr>
            <p:spPr>
              <a:xfrm>
                <a:off x="7338172" y="5894305"/>
                <a:ext cx="806753" cy="545992"/>
              </a:xfrm>
              <a:prstGeom prst="roundRect">
                <a:avLst>
                  <a:gd name="adj" fmla="val 12036"/>
                </a:avLst>
              </a:pr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147</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n=2, 8%</a:t>
                </a:r>
              </a:p>
            </p:txBody>
          </p:sp>
          <p:sp>
            <p:nvSpPr>
              <p:cNvPr id="73" name="Rectangle: Rounded Corners 3">
                <a:extLst>
                  <a:ext uri="{FF2B5EF4-FFF2-40B4-BE49-F238E27FC236}">
                    <a16:creationId xmlns:a16="http://schemas.microsoft.com/office/drawing/2014/main" id="{72A3FF67-DC44-5C81-E66D-B328D276B8CA}"/>
                  </a:ext>
                </a:extLst>
              </p:cNvPr>
              <p:cNvSpPr/>
              <p:nvPr/>
            </p:nvSpPr>
            <p:spPr>
              <a:xfrm>
                <a:off x="8274947" y="5894305"/>
                <a:ext cx="806753" cy="545992"/>
              </a:xfrm>
              <a:prstGeom prst="roundRect">
                <a:avLst>
                  <a:gd name="adj" fmla="val 12036"/>
                </a:avLst>
              </a:pr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154</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n=3, 8%</a:t>
                </a:r>
              </a:p>
            </p:txBody>
          </p:sp>
          <p:sp>
            <p:nvSpPr>
              <p:cNvPr id="74" name="Rectangle: Rounded Corners 3">
                <a:extLst>
                  <a:ext uri="{FF2B5EF4-FFF2-40B4-BE49-F238E27FC236}">
                    <a16:creationId xmlns:a16="http://schemas.microsoft.com/office/drawing/2014/main" id="{FA0C52C2-A98F-F411-B5EE-CBCE827FB325}"/>
                  </a:ext>
                </a:extLst>
              </p:cNvPr>
              <p:cNvSpPr/>
              <p:nvPr/>
            </p:nvSpPr>
            <p:spPr>
              <a:xfrm>
                <a:off x="9211722" y="5894305"/>
                <a:ext cx="806753" cy="545992"/>
              </a:xfrm>
              <a:prstGeom prst="roundRect">
                <a:avLst>
                  <a:gd name="adj" fmla="val 12036"/>
                </a:avLst>
              </a:prstGeom>
              <a:solidFill>
                <a:srgbClr val="FFFF0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178</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n=8, 21%</a:t>
                </a:r>
              </a:p>
            </p:txBody>
          </p:sp>
          <p:sp>
            <p:nvSpPr>
              <p:cNvPr id="75" name="Rectangle: Rounded Corners 3">
                <a:extLst>
                  <a:ext uri="{FF2B5EF4-FFF2-40B4-BE49-F238E27FC236}">
                    <a16:creationId xmlns:a16="http://schemas.microsoft.com/office/drawing/2014/main" id="{8402BCAA-64EF-0BD6-456F-60042944485D}"/>
                  </a:ext>
                </a:extLst>
              </p:cNvPr>
              <p:cNvSpPr/>
              <p:nvPr/>
            </p:nvSpPr>
            <p:spPr>
              <a:xfrm>
                <a:off x="10148497" y="5894305"/>
                <a:ext cx="806753" cy="545992"/>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198</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n=2, 5%</a:t>
                </a:r>
              </a:p>
            </p:txBody>
          </p:sp>
          <p:sp>
            <p:nvSpPr>
              <p:cNvPr id="76" name="Rectangle: Rounded Corners 3">
                <a:extLst>
                  <a:ext uri="{FF2B5EF4-FFF2-40B4-BE49-F238E27FC236}">
                    <a16:creationId xmlns:a16="http://schemas.microsoft.com/office/drawing/2014/main" id="{21F7DD6C-82C8-ECA4-CCFB-0ADDA18F8799}"/>
                  </a:ext>
                </a:extLst>
              </p:cNvPr>
              <p:cNvSpPr/>
              <p:nvPr/>
            </p:nvSpPr>
            <p:spPr>
              <a:xfrm>
                <a:off x="11085272" y="5894305"/>
                <a:ext cx="806753" cy="545992"/>
              </a:xfrm>
              <a:prstGeom prst="roundRect">
                <a:avLst>
                  <a:gd name="adj" fmla="val 12036"/>
                </a:avLst>
              </a:prstGeom>
              <a:solidFill>
                <a:schemeClr val="accent1">
                  <a:lumMod val="20000"/>
                  <a:lumOff val="8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222</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n=3, 8%</a:t>
                </a:r>
              </a:p>
            </p:txBody>
          </p:sp>
          <p:sp>
            <p:nvSpPr>
              <p:cNvPr id="77" name="Rectangle: Rounded Corners 3">
                <a:extLst>
                  <a:ext uri="{FF2B5EF4-FFF2-40B4-BE49-F238E27FC236}">
                    <a16:creationId xmlns:a16="http://schemas.microsoft.com/office/drawing/2014/main" id="{A03EE49E-D721-67ED-36AD-1A76A51C1244}"/>
                  </a:ext>
                </a:extLst>
              </p:cNvPr>
              <p:cNvSpPr/>
              <p:nvPr/>
            </p:nvSpPr>
            <p:spPr>
              <a:xfrm>
                <a:off x="-156028" y="5905608"/>
                <a:ext cx="806753" cy="545992"/>
              </a:xfrm>
              <a:prstGeom prst="roundRect">
                <a:avLst>
                  <a:gd name="adj" fmla="val 12036"/>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121</a:t>
                </a:r>
              </a:p>
              <a:p>
                <a:pPr>
                  <a:lnSpc>
                    <a:spcPts val="1020"/>
                  </a:lnSpc>
                  <a:defRPr sz="3200" b="0">
                    <a:solidFill>
                      <a:srgbClr val="FFFFFF"/>
                    </a:solidFill>
                    <a:latin typeface="+mn-lt"/>
                    <a:ea typeface="+mn-ea"/>
                    <a:cs typeface="+mn-cs"/>
                    <a:sym typeface="Helvetica Neue Medium"/>
                  </a:defRPr>
                </a:pPr>
                <a:r>
                  <a:rPr lang="en-US" sz="1000" i="1" dirty="0">
                    <a:solidFill>
                      <a:schemeClr val="tx1">
                        <a:lumMod val="85000"/>
                        <a:lumOff val="15000"/>
                      </a:schemeClr>
                    </a:solidFill>
                    <a:latin typeface="Century Gothic" panose="020B0502020202020204" pitchFamily="34" charset="0"/>
                    <a:ea typeface="Helvetica Neue Medium"/>
                    <a:cs typeface="Helvetica Neue Medium"/>
                    <a:sym typeface="Helvetica Neue Medium"/>
                  </a:rPr>
                  <a:t>n=2, 5%</a:t>
                </a:r>
              </a:p>
            </p:txBody>
          </p:sp>
        </p:grpSp>
        <p:cxnSp>
          <p:nvCxnSpPr>
            <p:cNvPr id="30" name="Elbow Connector 33">
              <a:extLst>
                <a:ext uri="{FF2B5EF4-FFF2-40B4-BE49-F238E27FC236}">
                  <a16:creationId xmlns:a16="http://schemas.microsoft.com/office/drawing/2014/main" id="{577D8658-0507-3CA8-6C0C-BFF7127CF37C}"/>
                </a:ext>
              </a:extLst>
            </p:cNvPr>
            <p:cNvCxnSpPr>
              <a:cxnSpLocks/>
              <a:stCxn id="16" idx="3"/>
              <a:endCxn id="19" idx="0"/>
            </p:cNvCxnSpPr>
            <p:nvPr/>
          </p:nvCxnSpPr>
          <p:spPr>
            <a:xfrm>
              <a:off x="6851960" y="1665146"/>
              <a:ext cx="1119596" cy="428699"/>
            </a:xfrm>
            <a:prstGeom prst="bentConnector2">
              <a:avLst/>
            </a:prstGeom>
            <a:grpFill/>
            <a:ln w="12700" cap="rnd">
              <a:solidFill>
                <a:srgbClr val="2DC5FF"/>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31" name="Elbow Connector 36">
              <a:extLst>
                <a:ext uri="{FF2B5EF4-FFF2-40B4-BE49-F238E27FC236}">
                  <a16:creationId xmlns:a16="http://schemas.microsoft.com/office/drawing/2014/main" id="{4BBFF2BB-0B47-D2F4-482D-5A960DBAED99}"/>
                </a:ext>
              </a:extLst>
            </p:cNvPr>
            <p:cNvCxnSpPr>
              <a:cxnSpLocks/>
              <a:stCxn id="16" idx="1"/>
              <a:endCxn id="17" idx="0"/>
            </p:cNvCxnSpPr>
            <p:nvPr/>
          </p:nvCxnSpPr>
          <p:spPr>
            <a:xfrm rot="10800000" flipV="1">
              <a:off x="2635004" y="1665146"/>
              <a:ext cx="2705034" cy="428699"/>
            </a:xfrm>
            <a:prstGeom prst="bentConnector2">
              <a:avLst/>
            </a:prstGeom>
            <a:grpFill/>
            <a:ln w="12700" cap="rnd">
              <a:solidFill>
                <a:srgbClr val="2DC5FF"/>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32" name="Elbow Connector 39">
              <a:extLst>
                <a:ext uri="{FF2B5EF4-FFF2-40B4-BE49-F238E27FC236}">
                  <a16:creationId xmlns:a16="http://schemas.microsoft.com/office/drawing/2014/main" id="{4309DDA6-9FC5-6D89-9978-0684E1DB0F3D}"/>
                </a:ext>
              </a:extLst>
            </p:cNvPr>
            <p:cNvCxnSpPr>
              <a:cxnSpLocks/>
              <a:stCxn id="17" idx="1"/>
              <a:endCxn id="20" idx="1"/>
            </p:cNvCxnSpPr>
            <p:nvPr/>
          </p:nvCxnSpPr>
          <p:spPr>
            <a:xfrm rot="10800000" flipV="1">
              <a:off x="1313144" y="2261836"/>
              <a:ext cx="696488" cy="670846"/>
            </a:xfrm>
            <a:prstGeom prst="bentConnector3">
              <a:avLst>
                <a:gd name="adj1" fmla="val 130632"/>
              </a:avLst>
            </a:prstGeom>
            <a:grpFill/>
            <a:ln w="12700" cap="rnd">
              <a:solidFill>
                <a:schemeClr val="bg1">
                  <a:lumMod val="65000"/>
                </a:schemeClr>
              </a:solidFill>
              <a:prstDash val="solid"/>
              <a:round/>
              <a:tailEnd type="triangle" w="lg" len="med"/>
            </a:ln>
            <a:effectLst/>
            <a:sp3d/>
          </p:spPr>
          <p:style>
            <a:lnRef idx="0">
              <a:scrgbClr r="0" g="0" b="0"/>
            </a:lnRef>
            <a:fillRef idx="0">
              <a:scrgbClr r="0" g="0" b="0"/>
            </a:fillRef>
            <a:effectRef idx="0">
              <a:scrgbClr r="0" g="0" b="0"/>
            </a:effectRef>
            <a:fontRef idx="none"/>
          </p:style>
        </p:cxnSp>
        <p:sp>
          <p:nvSpPr>
            <p:cNvPr id="33" name="Content Placeholder 2">
              <a:extLst>
                <a:ext uri="{FF2B5EF4-FFF2-40B4-BE49-F238E27FC236}">
                  <a16:creationId xmlns:a16="http://schemas.microsoft.com/office/drawing/2014/main" id="{5AB84088-2269-BD88-AD0C-B840CE3CD1A6}"/>
                </a:ext>
              </a:extLst>
            </p:cNvPr>
            <p:cNvSpPr txBox="1">
              <a:spLocks/>
            </p:cNvSpPr>
            <p:nvPr/>
          </p:nvSpPr>
          <p:spPr>
            <a:xfrm>
              <a:off x="1792847" y="2490167"/>
              <a:ext cx="1684313" cy="213064"/>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000" i="1" dirty="0">
                  <a:solidFill>
                    <a:schemeClr val="tx1">
                      <a:lumMod val="85000"/>
                      <a:lumOff val="15000"/>
                    </a:schemeClr>
                  </a:solidFill>
                  <a:latin typeface="Century Gothic" panose="020B0502020202020204" pitchFamily="34" charset="0"/>
                </a:rPr>
                <a:t>Pageviews &lt; 7720</a:t>
              </a:r>
            </a:p>
          </p:txBody>
        </p:sp>
        <p:sp>
          <p:nvSpPr>
            <p:cNvPr id="34" name="Content Placeholder 2">
              <a:extLst>
                <a:ext uri="{FF2B5EF4-FFF2-40B4-BE49-F238E27FC236}">
                  <a16:creationId xmlns:a16="http://schemas.microsoft.com/office/drawing/2014/main" id="{4FF0E892-CA4A-5C9E-789C-01301C70134C}"/>
                </a:ext>
              </a:extLst>
            </p:cNvPr>
            <p:cNvSpPr txBox="1">
              <a:spLocks/>
            </p:cNvSpPr>
            <p:nvPr/>
          </p:nvSpPr>
          <p:spPr>
            <a:xfrm>
              <a:off x="7411758" y="2511377"/>
              <a:ext cx="1216738" cy="213064"/>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000" i="1" dirty="0">
                  <a:solidFill>
                    <a:schemeClr val="tx1">
                      <a:lumMod val="85000"/>
                      <a:lumOff val="15000"/>
                    </a:schemeClr>
                  </a:solidFill>
                  <a:latin typeface="Century Gothic" panose="020B0502020202020204" pitchFamily="34" charset="0"/>
                </a:rPr>
                <a:t>Clicks &gt;= 775</a:t>
              </a:r>
            </a:p>
          </p:txBody>
        </p:sp>
        <p:sp>
          <p:nvSpPr>
            <p:cNvPr id="35" name="Content Placeholder 2">
              <a:extLst>
                <a:ext uri="{FF2B5EF4-FFF2-40B4-BE49-F238E27FC236}">
                  <a16:creationId xmlns:a16="http://schemas.microsoft.com/office/drawing/2014/main" id="{7884DCED-E4B6-4B10-EBD7-6B94F8E75C15}"/>
                </a:ext>
              </a:extLst>
            </p:cNvPr>
            <p:cNvSpPr txBox="1">
              <a:spLocks/>
            </p:cNvSpPr>
            <p:nvPr/>
          </p:nvSpPr>
          <p:spPr>
            <a:xfrm>
              <a:off x="1138886" y="3167683"/>
              <a:ext cx="1407999" cy="213063"/>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000" i="1" dirty="0">
                  <a:solidFill>
                    <a:schemeClr val="tx1">
                      <a:lumMod val="85000"/>
                      <a:lumOff val="15000"/>
                    </a:schemeClr>
                  </a:solidFill>
                  <a:latin typeface="Century Gothic" panose="020B0502020202020204" pitchFamily="34" charset="0"/>
                </a:rPr>
                <a:t>Experiment &gt;= 0.5</a:t>
              </a:r>
            </a:p>
          </p:txBody>
        </p:sp>
        <p:sp>
          <p:nvSpPr>
            <p:cNvPr id="36" name="Content Placeholder 2">
              <a:extLst>
                <a:ext uri="{FF2B5EF4-FFF2-40B4-BE49-F238E27FC236}">
                  <a16:creationId xmlns:a16="http://schemas.microsoft.com/office/drawing/2014/main" id="{FC6D739F-78D9-32F3-6E04-F43C6C62891E}"/>
                </a:ext>
              </a:extLst>
            </p:cNvPr>
            <p:cNvSpPr txBox="1">
              <a:spLocks/>
            </p:cNvSpPr>
            <p:nvPr/>
          </p:nvSpPr>
          <p:spPr>
            <a:xfrm>
              <a:off x="5204949" y="3223946"/>
              <a:ext cx="1435873" cy="213063"/>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000" b="1" i="1" dirty="0">
                  <a:solidFill>
                    <a:schemeClr val="tx1">
                      <a:lumMod val="85000"/>
                      <a:lumOff val="15000"/>
                    </a:schemeClr>
                  </a:solidFill>
                  <a:latin typeface="Century Gothic" panose="020B0502020202020204" pitchFamily="34" charset="0"/>
                </a:rPr>
                <a:t>Pageviews &lt; 9907</a:t>
              </a:r>
            </a:p>
          </p:txBody>
        </p:sp>
        <p:sp>
          <p:nvSpPr>
            <p:cNvPr id="37" name="Content Placeholder 2">
              <a:extLst>
                <a:ext uri="{FF2B5EF4-FFF2-40B4-BE49-F238E27FC236}">
                  <a16:creationId xmlns:a16="http://schemas.microsoft.com/office/drawing/2014/main" id="{27C78E7F-124A-8BAC-003C-4FE088797E13}"/>
                </a:ext>
              </a:extLst>
            </p:cNvPr>
            <p:cNvSpPr txBox="1">
              <a:spLocks/>
            </p:cNvSpPr>
            <p:nvPr/>
          </p:nvSpPr>
          <p:spPr>
            <a:xfrm>
              <a:off x="3620482" y="5027760"/>
              <a:ext cx="1325604" cy="191757"/>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900" i="1" dirty="0">
                  <a:solidFill>
                    <a:schemeClr val="tx1">
                      <a:lumMod val="85000"/>
                      <a:lumOff val="15000"/>
                    </a:schemeClr>
                  </a:solidFill>
                  <a:latin typeface="Century Gothic" panose="020B0502020202020204" pitchFamily="34" charset="0"/>
                </a:rPr>
                <a:t>Pageviews &lt; 9765</a:t>
              </a:r>
            </a:p>
          </p:txBody>
        </p:sp>
        <p:sp>
          <p:nvSpPr>
            <p:cNvPr id="38" name="Content Placeholder 2">
              <a:extLst>
                <a:ext uri="{FF2B5EF4-FFF2-40B4-BE49-F238E27FC236}">
                  <a16:creationId xmlns:a16="http://schemas.microsoft.com/office/drawing/2014/main" id="{52D7F327-8016-F7B4-5F44-8E93949B4B38}"/>
                </a:ext>
              </a:extLst>
            </p:cNvPr>
            <p:cNvSpPr txBox="1">
              <a:spLocks/>
            </p:cNvSpPr>
            <p:nvPr/>
          </p:nvSpPr>
          <p:spPr>
            <a:xfrm>
              <a:off x="5818021" y="5027760"/>
              <a:ext cx="1249839" cy="163067"/>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900" i="1" dirty="0">
                  <a:solidFill>
                    <a:schemeClr val="tx1">
                      <a:lumMod val="85000"/>
                      <a:lumOff val="15000"/>
                    </a:schemeClr>
                  </a:solidFill>
                  <a:latin typeface="Century Gothic" panose="020B0502020202020204" pitchFamily="34" charset="0"/>
                </a:rPr>
                <a:t>DOW = Mon, Wed</a:t>
              </a:r>
            </a:p>
          </p:txBody>
        </p:sp>
        <p:sp>
          <p:nvSpPr>
            <p:cNvPr id="39" name="Content Placeholder 2">
              <a:extLst>
                <a:ext uri="{FF2B5EF4-FFF2-40B4-BE49-F238E27FC236}">
                  <a16:creationId xmlns:a16="http://schemas.microsoft.com/office/drawing/2014/main" id="{1D796ABD-1049-A118-9576-039A99226AB5}"/>
                </a:ext>
              </a:extLst>
            </p:cNvPr>
            <p:cNvSpPr txBox="1">
              <a:spLocks/>
            </p:cNvSpPr>
            <p:nvPr/>
          </p:nvSpPr>
          <p:spPr>
            <a:xfrm>
              <a:off x="8363521" y="5029714"/>
              <a:ext cx="1189060" cy="213063"/>
            </a:xfrm>
            <a:prstGeom prst="rect">
              <a:avLst/>
            </a:prstGeom>
            <a:grp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000" i="1" dirty="0">
                  <a:solidFill>
                    <a:schemeClr val="tx1">
                      <a:lumMod val="85000"/>
                      <a:lumOff val="15000"/>
                    </a:schemeClr>
                  </a:solidFill>
                  <a:latin typeface="Century Gothic" panose="020B0502020202020204" pitchFamily="34" charset="0"/>
                </a:rPr>
                <a:t>Clicks &gt;= 730</a:t>
              </a:r>
            </a:p>
          </p:txBody>
        </p:sp>
        <p:cxnSp>
          <p:nvCxnSpPr>
            <p:cNvPr id="40" name="Elbow Connector 59">
              <a:extLst>
                <a:ext uri="{FF2B5EF4-FFF2-40B4-BE49-F238E27FC236}">
                  <a16:creationId xmlns:a16="http://schemas.microsoft.com/office/drawing/2014/main" id="{23A7DB62-8091-23F4-210D-F72E07B19BDB}"/>
                </a:ext>
              </a:extLst>
            </p:cNvPr>
            <p:cNvCxnSpPr>
              <a:cxnSpLocks/>
              <a:stCxn id="19" idx="1"/>
              <a:endCxn id="22" idx="0"/>
            </p:cNvCxnSpPr>
            <p:nvPr/>
          </p:nvCxnSpPr>
          <p:spPr>
            <a:xfrm rot="10800000" flipV="1">
              <a:off x="5906356" y="2261836"/>
              <a:ext cx="1439828" cy="502855"/>
            </a:xfrm>
            <a:prstGeom prst="bentConnector2">
              <a:avLst/>
            </a:prstGeom>
            <a:grpFill/>
            <a:ln w="12700" cap="rnd">
              <a:solidFill>
                <a:schemeClr val="bg1">
                  <a:lumMod val="65000"/>
                </a:schemeClr>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41" name="Elbow Connector 62">
              <a:extLst>
                <a:ext uri="{FF2B5EF4-FFF2-40B4-BE49-F238E27FC236}">
                  <a16:creationId xmlns:a16="http://schemas.microsoft.com/office/drawing/2014/main" id="{EFE0025F-9226-FB87-6333-E55EB598ACFB}"/>
                </a:ext>
              </a:extLst>
            </p:cNvPr>
            <p:cNvCxnSpPr>
              <a:cxnSpLocks/>
              <a:stCxn id="19" idx="3"/>
              <a:endCxn id="21" idx="0"/>
            </p:cNvCxnSpPr>
            <p:nvPr/>
          </p:nvCxnSpPr>
          <p:spPr>
            <a:xfrm>
              <a:off x="8596927" y="2261837"/>
              <a:ext cx="1481282" cy="502855"/>
            </a:xfrm>
            <a:prstGeom prst="bentConnector2">
              <a:avLst/>
            </a:prstGeom>
            <a:grpFill/>
            <a:ln w="12700" cap="rnd">
              <a:solidFill>
                <a:schemeClr val="bg1">
                  <a:lumMod val="65000"/>
                </a:schemeClr>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42" name="Elbow Connector 65">
              <a:extLst>
                <a:ext uri="{FF2B5EF4-FFF2-40B4-BE49-F238E27FC236}">
                  <a16:creationId xmlns:a16="http://schemas.microsoft.com/office/drawing/2014/main" id="{F2E42EE5-4F9C-EB07-D262-412FEA63EEF2}"/>
                </a:ext>
              </a:extLst>
            </p:cNvPr>
            <p:cNvCxnSpPr>
              <a:cxnSpLocks/>
              <a:stCxn id="22" idx="1"/>
              <a:endCxn id="23" idx="0"/>
            </p:cNvCxnSpPr>
            <p:nvPr/>
          </p:nvCxnSpPr>
          <p:spPr>
            <a:xfrm rot="10800000" flipV="1">
              <a:off x="4843837" y="2932681"/>
              <a:ext cx="437147" cy="685947"/>
            </a:xfrm>
            <a:prstGeom prst="bentConnector2">
              <a:avLst/>
            </a:prstGeom>
            <a:grpFill/>
            <a:ln w="12700" cap="rnd">
              <a:solidFill>
                <a:schemeClr val="bg1">
                  <a:lumMod val="65000"/>
                </a:schemeClr>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43" name="Elbow Connector 68">
              <a:extLst>
                <a:ext uri="{FF2B5EF4-FFF2-40B4-BE49-F238E27FC236}">
                  <a16:creationId xmlns:a16="http://schemas.microsoft.com/office/drawing/2014/main" id="{58E89582-99C4-27A5-E4AA-F502243122E0}"/>
                </a:ext>
              </a:extLst>
            </p:cNvPr>
            <p:cNvCxnSpPr>
              <a:cxnSpLocks/>
              <a:stCxn id="21" idx="1"/>
              <a:endCxn id="25" idx="0"/>
            </p:cNvCxnSpPr>
            <p:nvPr/>
          </p:nvCxnSpPr>
          <p:spPr>
            <a:xfrm rot="10800000" flipV="1">
              <a:off x="9187394" y="2932681"/>
              <a:ext cx="265443" cy="685947"/>
            </a:xfrm>
            <a:prstGeom prst="bentConnector2">
              <a:avLst/>
            </a:prstGeom>
            <a:grpFill/>
            <a:ln w="12700" cap="rnd">
              <a:solidFill>
                <a:schemeClr val="bg1">
                  <a:lumMod val="65000"/>
                </a:schemeClr>
              </a:solidFill>
              <a:prstDash val="solid"/>
              <a:round/>
              <a:tailEnd type="triangle" w="lg" len="med"/>
            </a:ln>
            <a:effectLst/>
            <a:sp3d/>
          </p:spPr>
          <p:style>
            <a:lnRef idx="0">
              <a:scrgbClr r="0" g="0" b="0"/>
            </a:lnRef>
            <a:fillRef idx="0">
              <a:scrgbClr r="0" g="0" b="0"/>
            </a:fillRef>
            <a:effectRef idx="0">
              <a:scrgbClr r="0" g="0" b="0"/>
            </a:effectRef>
            <a:fontRef idx="none"/>
          </p:style>
        </p:cxnSp>
        <p:sp>
          <p:nvSpPr>
            <p:cNvPr id="44" name="Content Placeholder 2">
              <a:extLst>
                <a:ext uri="{FF2B5EF4-FFF2-40B4-BE49-F238E27FC236}">
                  <a16:creationId xmlns:a16="http://schemas.microsoft.com/office/drawing/2014/main" id="{0D4F2C55-F828-3FAE-3AB8-73448FEBF159}"/>
                </a:ext>
              </a:extLst>
            </p:cNvPr>
            <p:cNvSpPr txBox="1">
              <a:spLocks/>
            </p:cNvSpPr>
            <p:nvPr/>
          </p:nvSpPr>
          <p:spPr>
            <a:xfrm>
              <a:off x="9431705" y="3230306"/>
              <a:ext cx="1394118" cy="181186"/>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pPr>
              <a:r>
                <a:rPr lang="en-US" sz="1000" i="1" dirty="0">
                  <a:solidFill>
                    <a:schemeClr val="tx1">
                      <a:lumMod val="85000"/>
                      <a:lumOff val="15000"/>
                    </a:schemeClr>
                  </a:solidFill>
                  <a:latin typeface="Century Gothic" panose="020B0502020202020204" pitchFamily="34" charset="0"/>
                </a:rPr>
                <a:t>Pageviews &lt; 9418</a:t>
              </a:r>
            </a:p>
          </p:txBody>
        </p:sp>
        <p:cxnSp>
          <p:nvCxnSpPr>
            <p:cNvPr id="45" name="Elbow Connector 73">
              <a:extLst>
                <a:ext uri="{FF2B5EF4-FFF2-40B4-BE49-F238E27FC236}">
                  <a16:creationId xmlns:a16="http://schemas.microsoft.com/office/drawing/2014/main" id="{014B09D0-913D-0D8E-E76B-0096D4F922DB}"/>
                </a:ext>
              </a:extLst>
            </p:cNvPr>
            <p:cNvCxnSpPr>
              <a:cxnSpLocks/>
              <a:stCxn id="22" idx="3"/>
              <a:endCxn id="24" idx="0"/>
            </p:cNvCxnSpPr>
            <p:nvPr/>
          </p:nvCxnSpPr>
          <p:spPr>
            <a:xfrm>
              <a:off x="6531726" y="2932683"/>
              <a:ext cx="345173" cy="685947"/>
            </a:xfrm>
            <a:prstGeom prst="bentConnector2">
              <a:avLst/>
            </a:prstGeom>
            <a:grpFill/>
            <a:ln w="12700" cap="rnd">
              <a:solidFill>
                <a:schemeClr val="bg1">
                  <a:lumMod val="65000"/>
                </a:schemeClr>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46" name="Elbow Connector 76">
              <a:extLst>
                <a:ext uri="{FF2B5EF4-FFF2-40B4-BE49-F238E27FC236}">
                  <a16:creationId xmlns:a16="http://schemas.microsoft.com/office/drawing/2014/main" id="{D4A2B36C-634E-DC0A-85A0-A9B09CFB162E}"/>
                </a:ext>
              </a:extLst>
            </p:cNvPr>
            <p:cNvCxnSpPr>
              <a:cxnSpLocks/>
              <a:stCxn id="23" idx="2"/>
              <a:endCxn id="26" idx="0"/>
            </p:cNvCxnSpPr>
            <p:nvPr/>
          </p:nvCxnSpPr>
          <p:spPr>
            <a:xfrm rot="5400000">
              <a:off x="4216902" y="4012495"/>
              <a:ext cx="684819" cy="569053"/>
            </a:xfrm>
            <a:prstGeom prst="bentConnector3">
              <a:avLst>
                <a:gd name="adj1" fmla="val 50000"/>
              </a:avLst>
            </a:prstGeom>
            <a:grpFill/>
            <a:ln w="12700" cap="rnd">
              <a:solidFill>
                <a:schemeClr val="bg1">
                  <a:lumMod val="65000"/>
                </a:schemeClr>
              </a:solidFill>
              <a:prstDash val="sysDash"/>
              <a:round/>
              <a:tailEnd type="triangle" w="lg" len="med"/>
            </a:ln>
            <a:effectLst/>
            <a:sp3d/>
          </p:spPr>
          <p:style>
            <a:lnRef idx="0">
              <a:scrgbClr r="0" g="0" b="0"/>
            </a:lnRef>
            <a:fillRef idx="0">
              <a:scrgbClr r="0" g="0" b="0"/>
            </a:fillRef>
            <a:effectRef idx="0">
              <a:scrgbClr r="0" g="0" b="0"/>
            </a:effectRef>
            <a:fontRef idx="none"/>
          </p:style>
        </p:cxnSp>
        <p:cxnSp>
          <p:nvCxnSpPr>
            <p:cNvPr id="47" name="Elbow Connector 79">
              <a:extLst>
                <a:ext uri="{FF2B5EF4-FFF2-40B4-BE49-F238E27FC236}">
                  <a16:creationId xmlns:a16="http://schemas.microsoft.com/office/drawing/2014/main" id="{DEA212D2-C3C6-4618-5D1F-3CB8CE58AC56}"/>
                </a:ext>
              </a:extLst>
            </p:cNvPr>
            <p:cNvCxnSpPr>
              <a:cxnSpLocks/>
              <a:stCxn id="24" idx="2"/>
              <a:endCxn id="27" idx="0"/>
            </p:cNvCxnSpPr>
            <p:nvPr/>
          </p:nvCxnSpPr>
          <p:spPr>
            <a:xfrm rot="5400000">
              <a:off x="6378989" y="4141520"/>
              <a:ext cx="684819" cy="311003"/>
            </a:xfrm>
            <a:prstGeom prst="bentConnector3">
              <a:avLst>
                <a:gd name="adj1" fmla="val 50000"/>
              </a:avLst>
            </a:prstGeom>
            <a:grpFill/>
            <a:ln w="12700" cap="rnd">
              <a:solidFill>
                <a:schemeClr val="bg1">
                  <a:lumMod val="65000"/>
                </a:schemeClr>
              </a:solidFill>
              <a:prstDash val="sysDash"/>
              <a:round/>
              <a:tailEnd type="triangle" w="lg" len="med"/>
            </a:ln>
            <a:effectLst/>
            <a:sp3d/>
          </p:spPr>
          <p:style>
            <a:lnRef idx="0">
              <a:scrgbClr r="0" g="0" b="0"/>
            </a:lnRef>
            <a:fillRef idx="0">
              <a:scrgbClr r="0" g="0" b="0"/>
            </a:fillRef>
            <a:effectRef idx="0">
              <a:scrgbClr r="0" g="0" b="0"/>
            </a:effectRef>
            <a:fontRef idx="none"/>
          </p:style>
        </p:cxnSp>
        <p:cxnSp>
          <p:nvCxnSpPr>
            <p:cNvPr id="48" name="Elbow Connector 84">
              <a:extLst>
                <a:ext uri="{FF2B5EF4-FFF2-40B4-BE49-F238E27FC236}">
                  <a16:creationId xmlns:a16="http://schemas.microsoft.com/office/drawing/2014/main" id="{D717DCC3-CA80-9CA5-1B07-73F45C632E56}"/>
                </a:ext>
              </a:extLst>
            </p:cNvPr>
            <p:cNvCxnSpPr>
              <a:cxnSpLocks/>
              <a:stCxn id="25" idx="2"/>
              <a:endCxn id="28" idx="0"/>
            </p:cNvCxnSpPr>
            <p:nvPr/>
          </p:nvCxnSpPr>
          <p:spPr>
            <a:xfrm rot="5400000">
              <a:off x="8798621" y="4250659"/>
              <a:ext cx="684819" cy="92728"/>
            </a:xfrm>
            <a:prstGeom prst="bentConnector3">
              <a:avLst>
                <a:gd name="adj1" fmla="val 50000"/>
              </a:avLst>
            </a:prstGeom>
            <a:grpFill/>
            <a:ln w="12700" cap="rnd">
              <a:solidFill>
                <a:schemeClr val="bg1">
                  <a:lumMod val="65000"/>
                </a:schemeClr>
              </a:solidFill>
              <a:prstDash val="sysDash"/>
              <a:round/>
              <a:tailEnd type="triangle" w="lg" len="med"/>
            </a:ln>
            <a:effectLst/>
            <a:sp3d/>
          </p:spPr>
          <p:style>
            <a:lnRef idx="0">
              <a:scrgbClr r="0" g="0" b="0"/>
            </a:lnRef>
            <a:fillRef idx="0">
              <a:scrgbClr r="0" g="0" b="0"/>
            </a:fillRef>
            <a:effectRef idx="0">
              <a:scrgbClr r="0" g="0" b="0"/>
            </a:effectRef>
            <a:fontRef idx="none"/>
          </p:style>
        </p:cxnSp>
        <p:sp>
          <p:nvSpPr>
            <p:cNvPr id="49" name="Content Placeholder 2">
              <a:extLst>
                <a:ext uri="{FF2B5EF4-FFF2-40B4-BE49-F238E27FC236}">
                  <a16:creationId xmlns:a16="http://schemas.microsoft.com/office/drawing/2014/main" id="{F532A6DE-B8AC-82E0-E06E-F6D1858AE524}"/>
                </a:ext>
              </a:extLst>
            </p:cNvPr>
            <p:cNvSpPr txBox="1">
              <a:spLocks/>
            </p:cNvSpPr>
            <p:nvPr/>
          </p:nvSpPr>
          <p:spPr>
            <a:xfrm>
              <a:off x="6192802" y="4019241"/>
              <a:ext cx="1384617" cy="279025"/>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None/>
              </a:pPr>
              <a:r>
                <a:rPr lang="en-US" sz="1000" i="1" dirty="0">
                  <a:solidFill>
                    <a:schemeClr val="tx1">
                      <a:lumMod val="85000"/>
                      <a:lumOff val="15000"/>
                    </a:schemeClr>
                  </a:solidFill>
                  <a:latin typeface="Century Gothic" panose="020B0502020202020204" pitchFamily="34" charset="0"/>
                </a:rPr>
                <a:t>Experiment &gt;= 0.5</a:t>
              </a:r>
            </a:p>
          </p:txBody>
        </p:sp>
        <p:sp>
          <p:nvSpPr>
            <p:cNvPr id="50" name="Content Placeholder 2">
              <a:extLst>
                <a:ext uri="{FF2B5EF4-FFF2-40B4-BE49-F238E27FC236}">
                  <a16:creationId xmlns:a16="http://schemas.microsoft.com/office/drawing/2014/main" id="{029A09DC-9998-E870-E5D6-2475788460C2}"/>
                </a:ext>
              </a:extLst>
            </p:cNvPr>
            <p:cNvSpPr txBox="1">
              <a:spLocks/>
            </p:cNvSpPr>
            <p:nvPr/>
          </p:nvSpPr>
          <p:spPr>
            <a:xfrm>
              <a:off x="8694292" y="4019241"/>
              <a:ext cx="1216738" cy="458174"/>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None/>
              </a:pPr>
              <a:r>
                <a:rPr lang="en-US" sz="900" i="1" dirty="0">
                  <a:solidFill>
                    <a:schemeClr val="tx1">
                      <a:lumMod val="85000"/>
                      <a:lumOff val="15000"/>
                    </a:schemeClr>
                  </a:solidFill>
                  <a:latin typeface="Century Gothic" panose="020B0502020202020204" pitchFamily="34" charset="0"/>
                </a:rPr>
                <a:t>DOW = Sun, Tue, Fri, Sat</a:t>
              </a:r>
            </a:p>
          </p:txBody>
        </p:sp>
        <p:sp>
          <p:nvSpPr>
            <p:cNvPr id="51" name="Content Placeholder 2">
              <a:extLst>
                <a:ext uri="{FF2B5EF4-FFF2-40B4-BE49-F238E27FC236}">
                  <a16:creationId xmlns:a16="http://schemas.microsoft.com/office/drawing/2014/main" id="{125A3B60-A68C-C92A-82B7-331F5C4E9F7E}"/>
                </a:ext>
              </a:extLst>
            </p:cNvPr>
            <p:cNvSpPr txBox="1">
              <a:spLocks/>
            </p:cNvSpPr>
            <p:nvPr/>
          </p:nvSpPr>
          <p:spPr>
            <a:xfrm>
              <a:off x="4200517" y="4019241"/>
              <a:ext cx="1393711" cy="237279"/>
            </a:xfrm>
            <a:prstGeom prst="rect">
              <a:avLst/>
            </a:prstGeom>
            <a:noFill/>
          </p:spPr>
          <p:txBody>
            <a:bodyPr vert="horz" wrap="square" lIns="0" tIns="0" rIns="0" bIns="0" rtlCol="0" anchor="t" anchorCtr="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bg1">
                      <a:lumMod val="7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bg1">
                      <a:lumMod val="7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None/>
              </a:pPr>
              <a:r>
                <a:rPr lang="en-US" sz="1000" i="1" dirty="0">
                  <a:solidFill>
                    <a:schemeClr val="tx1">
                      <a:lumMod val="85000"/>
                      <a:lumOff val="15000"/>
                    </a:schemeClr>
                  </a:solidFill>
                  <a:latin typeface="Century Gothic" panose="020B0502020202020204" pitchFamily="34" charset="0"/>
                </a:rPr>
                <a:t>Experiment &gt;= 0.5</a:t>
              </a:r>
            </a:p>
          </p:txBody>
        </p:sp>
        <p:cxnSp>
          <p:nvCxnSpPr>
            <p:cNvPr id="52" name="Elbow Connector 102">
              <a:extLst>
                <a:ext uri="{FF2B5EF4-FFF2-40B4-BE49-F238E27FC236}">
                  <a16:creationId xmlns:a16="http://schemas.microsoft.com/office/drawing/2014/main" id="{606F90D3-4D67-E4DA-B325-38B347BB1772}"/>
                </a:ext>
              </a:extLst>
            </p:cNvPr>
            <p:cNvCxnSpPr>
              <a:cxnSpLocks/>
              <a:stCxn id="35" idx="1"/>
              <a:endCxn id="77" idx="0"/>
            </p:cNvCxnSpPr>
            <p:nvPr/>
          </p:nvCxnSpPr>
          <p:spPr>
            <a:xfrm rot="10800000" flipV="1">
              <a:off x="859110" y="3274213"/>
              <a:ext cx="279775" cy="2480997"/>
            </a:xfrm>
            <a:prstGeom prst="bentConnector2">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53" name="Elbow Connector 105">
              <a:extLst>
                <a:ext uri="{FF2B5EF4-FFF2-40B4-BE49-F238E27FC236}">
                  <a16:creationId xmlns:a16="http://schemas.microsoft.com/office/drawing/2014/main" id="{0F391995-EBA0-4672-5051-121F5D8ECCD7}"/>
                </a:ext>
              </a:extLst>
            </p:cNvPr>
            <p:cNvCxnSpPr>
              <a:cxnSpLocks/>
              <a:stCxn id="35" idx="3"/>
            </p:cNvCxnSpPr>
            <p:nvPr/>
          </p:nvCxnSpPr>
          <p:spPr>
            <a:xfrm flipH="1">
              <a:off x="1745329" y="3274215"/>
              <a:ext cx="801556" cy="2480994"/>
            </a:xfrm>
            <a:prstGeom prst="bentConnector4">
              <a:avLst>
                <a:gd name="adj1" fmla="val -35512"/>
                <a:gd name="adj2" fmla="val 52147"/>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54" name="Elbow Connector 112">
              <a:extLst>
                <a:ext uri="{FF2B5EF4-FFF2-40B4-BE49-F238E27FC236}">
                  <a16:creationId xmlns:a16="http://schemas.microsoft.com/office/drawing/2014/main" id="{04C0E389-578A-8F5A-B465-859F57B8D123}"/>
                </a:ext>
              </a:extLst>
            </p:cNvPr>
            <p:cNvCxnSpPr>
              <a:cxnSpLocks/>
              <a:stCxn id="17" idx="3"/>
              <a:endCxn id="66" idx="0"/>
            </p:cNvCxnSpPr>
            <p:nvPr/>
          </p:nvCxnSpPr>
          <p:spPr>
            <a:xfrm flipH="1">
              <a:off x="2602976" y="2261837"/>
              <a:ext cx="657399" cy="3493375"/>
            </a:xfrm>
            <a:prstGeom prst="bentConnector4">
              <a:avLst>
                <a:gd name="adj1" fmla="val -43299"/>
                <a:gd name="adj2" fmla="val 68685"/>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55" name="Elbow Connector 119">
              <a:extLst>
                <a:ext uri="{FF2B5EF4-FFF2-40B4-BE49-F238E27FC236}">
                  <a16:creationId xmlns:a16="http://schemas.microsoft.com/office/drawing/2014/main" id="{8D800753-8793-BA85-6670-3EB3BDD93B9A}"/>
                </a:ext>
              </a:extLst>
            </p:cNvPr>
            <p:cNvCxnSpPr>
              <a:cxnSpLocks/>
              <a:stCxn id="26" idx="1"/>
              <a:endCxn id="67" idx="0"/>
            </p:cNvCxnSpPr>
            <p:nvPr/>
          </p:nvCxnSpPr>
          <p:spPr>
            <a:xfrm rot="10800000" flipV="1">
              <a:off x="3474907" y="4807423"/>
              <a:ext cx="128573" cy="947787"/>
            </a:xfrm>
            <a:prstGeom prst="bentConnector2">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56" name="Elbow Connector 122">
              <a:extLst>
                <a:ext uri="{FF2B5EF4-FFF2-40B4-BE49-F238E27FC236}">
                  <a16:creationId xmlns:a16="http://schemas.microsoft.com/office/drawing/2014/main" id="{CB1F80CD-C215-47C7-5D21-3F491988DEB7}"/>
                </a:ext>
              </a:extLst>
            </p:cNvPr>
            <p:cNvCxnSpPr>
              <a:cxnSpLocks/>
              <a:stCxn id="26" idx="3"/>
            </p:cNvCxnSpPr>
            <p:nvPr/>
          </p:nvCxnSpPr>
          <p:spPr>
            <a:xfrm flipH="1">
              <a:off x="4331882" y="4807423"/>
              <a:ext cx="614206" cy="947786"/>
            </a:xfrm>
            <a:prstGeom prst="bentConnector4">
              <a:avLst>
                <a:gd name="adj1" fmla="val -25358"/>
                <a:gd name="adj2" fmla="val 58862"/>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57" name="Elbow Connector 125">
              <a:extLst>
                <a:ext uri="{FF2B5EF4-FFF2-40B4-BE49-F238E27FC236}">
                  <a16:creationId xmlns:a16="http://schemas.microsoft.com/office/drawing/2014/main" id="{1B7C3F66-2A95-CC4D-CE97-01DE08DD317B}"/>
                </a:ext>
              </a:extLst>
            </p:cNvPr>
            <p:cNvCxnSpPr>
              <a:cxnSpLocks/>
              <a:stCxn id="51" idx="3"/>
              <a:endCxn id="69" idx="0"/>
            </p:cNvCxnSpPr>
            <p:nvPr/>
          </p:nvCxnSpPr>
          <p:spPr>
            <a:xfrm flipH="1">
              <a:off x="5218773" y="4137881"/>
              <a:ext cx="375455" cy="1604618"/>
            </a:xfrm>
            <a:prstGeom prst="bentConnector4">
              <a:avLst>
                <a:gd name="adj1" fmla="val -41483"/>
                <a:gd name="adj2" fmla="val 53697"/>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58" name="Elbow Connector 129">
              <a:extLst>
                <a:ext uri="{FF2B5EF4-FFF2-40B4-BE49-F238E27FC236}">
                  <a16:creationId xmlns:a16="http://schemas.microsoft.com/office/drawing/2014/main" id="{A3E35D27-0ED2-4E41-53A6-D6FBCA6DCFA8}"/>
                </a:ext>
              </a:extLst>
            </p:cNvPr>
            <p:cNvCxnSpPr>
              <a:cxnSpLocks/>
              <a:stCxn id="38" idx="1"/>
              <a:endCxn id="70" idx="0"/>
            </p:cNvCxnSpPr>
            <p:nvPr/>
          </p:nvCxnSpPr>
          <p:spPr>
            <a:xfrm rot="10800000" flipH="1" flipV="1">
              <a:off x="5818020" y="5109293"/>
              <a:ext cx="272684" cy="633205"/>
            </a:xfrm>
            <a:prstGeom prst="bentConnector4">
              <a:avLst>
                <a:gd name="adj1" fmla="val -104388"/>
                <a:gd name="adj2" fmla="val 56438"/>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59" name="Elbow Connector 133">
              <a:extLst>
                <a:ext uri="{FF2B5EF4-FFF2-40B4-BE49-F238E27FC236}">
                  <a16:creationId xmlns:a16="http://schemas.microsoft.com/office/drawing/2014/main" id="{0B9725A0-F582-4061-AA4E-8C81DEAF4E66}"/>
                </a:ext>
              </a:extLst>
            </p:cNvPr>
            <p:cNvCxnSpPr>
              <a:cxnSpLocks/>
              <a:stCxn id="38" idx="3"/>
              <a:endCxn id="71" idx="0"/>
            </p:cNvCxnSpPr>
            <p:nvPr/>
          </p:nvCxnSpPr>
          <p:spPr>
            <a:xfrm flipH="1">
              <a:off x="6962637" y="5109294"/>
              <a:ext cx="105223" cy="633205"/>
            </a:xfrm>
            <a:prstGeom prst="bentConnector4">
              <a:avLst>
                <a:gd name="adj1" fmla="val -270520"/>
                <a:gd name="adj2" fmla="val 56438"/>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60" name="Elbow Connector 137">
              <a:extLst>
                <a:ext uri="{FF2B5EF4-FFF2-40B4-BE49-F238E27FC236}">
                  <a16:creationId xmlns:a16="http://schemas.microsoft.com/office/drawing/2014/main" id="{E54DD475-1F9A-E95F-E1C9-CADD7557DB35}"/>
                </a:ext>
              </a:extLst>
            </p:cNvPr>
            <p:cNvCxnSpPr>
              <a:cxnSpLocks/>
              <a:stCxn id="24" idx="3"/>
              <a:endCxn id="72" idx="0"/>
            </p:cNvCxnSpPr>
            <p:nvPr/>
          </p:nvCxnSpPr>
          <p:spPr>
            <a:xfrm>
              <a:off x="7596812" y="3786621"/>
              <a:ext cx="237758" cy="1955878"/>
            </a:xfrm>
            <a:prstGeom prst="bentConnector2">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61" name="Elbow Connector 140">
              <a:extLst>
                <a:ext uri="{FF2B5EF4-FFF2-40B4-BE49-F238E27FC236}">
                  <a16:creationId xmlns:a16="http://schemas.microsoft.com/office/drawing/2014/main" id="{D035D04B-FAD5-6218-CEBF-E1E66B069EF5}"/>
                </a:ext>
              </a:extLst>
            </p:cNvPr>
            <p:cNvCxnSpPr>
              <a:cxnSpLocks/>
              <a:stCxn id="39" idx="1"/>
              <a:endCxn id="73" idx="0"/>
            </p:cNvCxnSpPr>
            <p:nvPr/>
          </p:nvCxnSpPr>
          <p:spPr>
            <a:xfrm rot="10800000" flipH="1" flipV="1">
              <a:off x="8363520" y="5136244"/>
              <a:ext cx="342981" cy="606253"/>
            </a:xfrm>
            <a:prstGeom prst="bentConnector4">
              <a:avLst>
                <a:gd name="adj1" fmla="val -92280"/>
                <a:gd name="adj2" fmla="val 58786"/>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62" name="Elbow Connector 148">
              <a:extLst>
                <a:ext uri="{FF2B5EF4-FFF2-40B4-BE49-F238E27FC236}">
                  <a16:creationId xmlns:a16="http://schemas.microsoft.com/office/drawing/2014/main" id="{C5592E14-38CD-3B50-A3E1-36749CE557F3}"/>
                </a:ext>
              </a:extLst>
            </p:cNvPr>
            <p:cNvCxnSpPr>
              <a:cxnSpLocks/>
              <a:stCxn id="39" idx="3"/>
              <a:endCxn id="74" idx="0"/>
            </p:cNvCxnSpPr>
            <p:nvPr/>
          </p:nvCxnSpPr>
          <p:spPr>
            <a:xfrm>
              <a:off x="9552581" y="5136245"/>
              <a:ext cx="25855" cy="606253"/>
            </a:xfrm>
            <a:prstGeom prst="bentConnector2">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63" name="Elbow Connector 155">
              <a:extLst>
                <a:ext uri="{FF2B5EF4-FFF2-40B4-BE49-F238E27FC236}">
                  <a16:creationId xmlns:a16="http://schemas.microsoft.com/office/drawing/2014/main" id="{0601A068-1BAB-F960-5963-509C62F57324}"/>
                </a:ext>
              </a:extLst>
            </p:cNvPr>
            <p:cNvCxnSpPr>
              <a:cxnSpLocks/>
              <a:stCxn id="25" idx="3"/>
              <a:endCxn id="75" idx="0"/>
            </p:cNvCxnSpPr>
            <p:nvPr/>
          </p:nvCxnSpPr>
          <p:spPr>
            <a:xfrm>
              <a:off x="9928035" y="3786621"/>
              <a:ext cx="522334" cy="1955878"/>
            </a:xfrm>
            <a:prstGeom prst="bentConnector2">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cxnSp>
          <p:nvCxnSpPr>
            <p:cNvPr id="64" name="Elbow Connector 158">
              <a:extLst>
                <a:ext uri="{FF2B5EF4-FFF2-40B4-BE49-F238E27FC236}">
                  <a16:creationId xmlns:a16="http://schemas.microsoft.com/office/drawing/2014/main" id="{487B292E-DCF8-939A-83AC-43F4639D9342}"/>
                </a:ext>
              </a:extLst>
            </p:cNvPr>
            <p:cNvCxnSpPr>
              <a:cxnSpLocks/>
              <a:stCxn id="21" idx="3"/>
              <a:endCxn id="76" idx="0"/>
            </p:cNvCxnSpPr>
            <p:nvPr/>
          </p:nvCxnSpPr>
          <p:spPr>
            <a:xfrm>
              <a:off x="10703580" y="2932684"/>
              <a:ext cx="618720" cy="2809815"/>
            </a:xfrm>
            <a:prstGeom prst="bentConnector2">
              <a:avLst/>
            </a:prstGeom>
            <a:grpFill/>
            <a:ln w="12700" cap="rnd">
              <a:solidFill>
                <a:srgbClr val="495163"/>
              </a:solidFill>
              <a:prstDash val="solid"/>
              <a:round/>
              <a:tailEnd type="triangle" w="lg" len="med"/>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216312924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 name="文本框 57">
            <a:extLst>
              <a:ext uri="{FF2B5EF4-FFF2-40B4-BE49-F238E27FC236}">
                <a16:creationId xmlns:a16="http://schemas.microsoft.com/office/drawing/2014/main" id="{1DA2054A-47C8-7D42-0EDA-F762C57898A5}"/>
              </a:ext>
            </a:extLst>
          </p:cNvPr>
          <p:cNvSpPr txBox="1"/>
          <p:nvPr/>
        </p:nvSpPr>
        <p:spPr>
          <a:xfrm>
            <a:off x="1491291" y="277050"/>
            <a:ext cx="4086247" cy="480131"/>
          </a:xfrm>
          <a:prstGeom prst="rect">
            <a:avLst/>
          </a:prstGeom>
          <a:noFill/>
        </p:spPr>
        <p:txBody>
          <a:bodyPr wrap="none" rtlCol="0">
            <a:spAutoFit/>
          </a:bodyPr>
          <a:lstStyle/>
          <a:p>
            <a:pPr defTabSz="685800">
              <a:lnSpc>
                <a:spcPct val="90000"/>
              </a:lnSpc>
              <a:spcBef>
                <a:spcPct val="0"/>
              </a:spcBef>
              <a:buClr>
                <a:schemeClr val="accent4"/>
              </a:buClr>
            </a:pPr>
            <a:r>
              <a:rPr kumimoji="1" lang="en-US" altLang="zh-CN" sz="2800" b="1" dirty="0">
                <a:solidFill>
                  <a:srgbClr val="0070C0"/>
                </a:solidFill>
                <a:latin typeface="Microsoft YaHei" panose="020B0503020204020204" pitchFamily="34" charset="-122"/>
                <a:ea typeface="Microsoft YaHei" panose="020B0503020204020204" pitchFamily="34" charset="-122"/>
              </a:rPr>
              <a:t>A/B</a:t>
            </a:r>
            <a:r>
              <a:rPr kumimoji="1" lang="zh-CN" altLang="en-US" sz="2800" b="1" dirty="0">
                <a:solidFill>
                  <a:srgbClr val="0070C0"/>
                </a:solidFill>
                <a:latin typeface="Microsoft YaHei" panose="020B0503020204020204" pitchFamily="34" charset="-122"/>
                <a:ea typeface="Microsoft YaHei" panose="020B0503020204020204" pitchFamily="34" charset="-122"/>
              </a:rPr>
              <a:t>测试</a:t>
            </a:r>
            <a:r>
              <a:rPr kumimoji="1" lang="en-US" altLang="zh-CN" sz="2800" b="1" dirty="0" err="1">
                <a:solidFill>
                  <a:srgbClr val="0070C0"/>
                </a:solidFill>
                <a:latin typeface="Microsoft YaHei" panose="020B0503020204020204" pitchFamily="34" charset="-122"/>
                <a:ea typeface="Microsoft YaHei" panose="020B0503020204020204" pitchFamily="34" charset="-122"/>
              </a:rPr>
              <a:t>Testin</a:t>
            </a:r>
            <a:r>
              <a:rPr kumimoji="1" lang="zh-CN" altLang="en-US" sz="2800" b="1" dirty="0">
                <a:solidFill>
                  <a:srgbClr val="0070C0"/>
                </a:solidFill>
                <a:latin typeface="Microsoft YaHei" panose="020B0503020204020204" pitchFamily="34" charset="-122"/>
                <a:ea typeface="Microsoft YaHei" panose="020B0503020204020204" pitchFamily="34" charset="-122"/>
              </a:rPr>
              <a:t>技术架构</a:t>
            </a:r>
          </a:p>
        </p:txBody>
      </p:sp>
      <p:pic>
        <p:nvPicPr>
          <p:cNvPr id="2" name="图片 1">
            <a:extLst>
              <a:ext uri="{FF2B5EF4-FFF2-40B4-BE49-F238E27FC236}">
                <a16:creationId xmlns:a16="http://schemas.microsoft.com/office/drawing/2014/main" id="{8FC40968-FA13-98BD-CCB0-CBEB4B6E03E0}"/>
              </a:ext>
            </a:extLst>
          </p:cNvPr>
          <p:cNvPicPr>
            <a:picLocks noChangeAspect="1"/>
          </p:cNvPicPr>
          <p:nvPr/>
        </p:nvPicPr>
        <p:blipFill>
          <a:blip r:embed="rId2"/>
          <a:stretch>
            <a:fillRect/>
          </a:stretch>
        </p:blipFill>
        <p:spPr>
          <a:xfrm>
            <a:off x="1320303" y="757181"/>
            <a:ext cx="6089788" cy="4294191"/>
          </a:xfrm>
          <a:prstGeom prst="rect">
            <a:avLst/>
          </a:prstGeom>
        </p:spPr>
      </p:pic>
    </p:spTree>
    <p:extLst>
      <p:ext uri="{BB962C8B-B14F-4D97-AF65-F5344CB8AC3E}">
        <p14:creationId xmlns:p14="http://schemas.microsoft.com/office/powerpoint/2010/main" val="2438032431"/>
      </p:ext>
    </p:extLst>
  </p:cSld>
  <p:clrMapOvr>
    <a:masterClrMapping/>
  </p:clrMapOvr>
  <p:transition spd="slow">
    <p:wipe dir="r"/>
  </p:transition>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B180683-B5CA-8ACB-8540-A7612E19AD0F}"/>
              </a:ext>
            </a:extLst>
          </p:cNvPr>
          <p:cNvSpPr txBox="1"/>
          <p:nvPr/>
        </p:nvSpPr>
        <p:spPr>
          <a:xfrm>
            <a:off x="1491291" y="277050"/>
            <a:ext cx="3023585" cy="480131"/>
          </a:xfrm>
          <a:prstGeom prst="rect">
            <a:avLst/>
          </a:prstGeom>
          <a:noFill/>
        </p:spPr>
        <p:txBody>
          <a:bodyPr wrap="none" rtlCol="0">
            <a:spAutoFit/>
          </a:bodyPr>
          <a:lstStyle/>
          <a:p>
            <a:pPr defTabSz="685800">
              <a:lnSpc>
                <a:spcPct val="90000"/>
              </a:lnSpc>
              <a:spcBef>
                <a:spcPct val="0"/>
              </a:spcBef>
              <a:buClr>
                <a:schemeClr val="accent4"/>
              </a:buClr>
            </a:pPr>
            <a:r>
              <a:rPr kumimoji="1" lang="en-US" altLang="zh-CN" sz="2800" b="1" dirty="0">
                <a:solidFill>
                  <a:srgbClr val="0070C0"/>
                </a:solidFill>
                <a:latin typeface="Microsoft YaHei" panose="020B0503020204020204" pitchFamily="34" charset="-122"/>
                <a:ea typeface="Microsoft YaHei" panose="020B0503020204020204" pitchFamily="34" charset="-122"/>
              </a:rPr>
              <a:t>A/B</a:t>
            </a:r>
            <a:r>
              <a:rPr kumimoji="1" lang="zh-CN" altLang="en-US" sz="2800" b="1" dirty="0">
                <a:solidFill>
                  <a:srgbClr val="0070C0"/>
                </a:solidFill>
                <a:latin typeface="Microsoft YaHei" panose="020B0503020204020204" pitchFamily="34" charset="-122"/>
                <a:ea typeface="Microsoft YaHei" panose="020B0503020204020204" pitchFamily="34" charset="-122"/>
              </a:rPr>
              <a:t>测试平台设计</a:t>
            </a:r>
          </a:p>
        </p:txBody>
      </p:sp>
      <p:pic>
        <p:nvPicPr>
          <p:cNvPr id="5" name="Picture 2" descr="交互流程">
            <a:extLst>
              <a:ext uri="{FF2B5EF4-FFF2-40B4-BE49-F238E27FC236}">
                <a16:creationId xmlns:a16="http://schemas.microsoft.com/office/drawing/2014/main" id="{892F2E81-75B5-2DEA-2C0A-1DE341033E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280" y="817577"/>
            <a:ext cx="7935470" cy="3852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559582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98592FFC-BF81-BFE2-AB64-4A951DCB55F9}"/>
              </a:ext>
            </a:extLst>
          </p:cNvPr>
          <p:cNvSpPr txBox="1"/>
          <p:nvPr/>
        </p:nvSpPr>
        <p:spPr>
          <a:xfrm>
            <a:off x="1491291" y="277050"/>
            <a:ext cx="4100803" cy="480131"/>
          </a:xfrm>
          <a:prstGeom prst="rect">
            <a:avLst/>
          </a:prstGeom>
          <a:noFill/>
        </p:spPr>
        <p:txBody>
          <a:bodyPr wrap="none" rtlCol="0">
            <a:spAutoFit/>
          </a:bodyPr>
          <a:lstStyle/>
          <a:p>
            <a:pPr defTabSz="685800">
              <a:lnSpc>
                <a:spcPct val="90000"/>
              </a:lnSpc>
              <a:spcBef>
                <a:spcPct val="0"/>
              </a:spcBef>
              <a:buClr>
                <a:schemeClr val="accent4"/>
              </a:buClr>
            </a:pPr>
            <a:r>
              <a:rPr kumimoji="1" lang="en-US" altLang="zh-CN" sz="2800" b="1" dirty="0">
                <a:solidFill>
                  <a:srgbClr val="0070C0"/>
                </a:solidFill>
                <a:latin typeface="Microsoft YaHei" panose="020B0503020204020204" pitchFamily="34" charset="-122"/>
                <a:ea typeface="Microsoft YaHei" panose="020B0503020204020204" pitchFamily="34" charset="-122"/>
              </a:rPr>
              <a:t>A/B</a:t>
            </a:r>
            <a:r>
              <a:rPr kumimoji="1" lang="zh-CN" altLang="en-US" sz="2800" b="1" dirty="0">
                <a:solidFill>
                  <a:srgbClr val="0070C0"/>
                </a:solidFill>
                <a:latin typeface="Microsoft YaHei" panose="020B0503020204020204" pitchFamily="34" charset="-122"/>
                <a:ea typeface="Microsoft YaHei" panose="020B0503020204020204" pitchFamily="34" charset="-122"/>
              </a:rPr>
              <a:t>测试后端的多级缓存</a:t>
            </a:r>
          </a:p>
        </p:txBody>
      </p:sp>
      <p:sp>
        <p:nvSpPr>
          <p:cNvPr id="3" name="矩形 2">
            <a:extLst>
              <a:ext uri="{FF2B5EF4-FFF2-40B4-BE49-F238E27FC236}">
                <a16:creationId xmlns:a16="http://schemas.microsoft.com/office/drawing/2014/main" id="{56C9CA0D-DDBE-B8C9-AC9D-573DCBAC8981}"/>
              </a:ext>
            </a:extLst>
          </p:cNvPr>
          <p:cNvSpPr/>
          <p:nvPr/>
        </p:nvSpPr>
        <p:spPr>
          <a:xfrm>
            <a:off x="3535243" y="1382886"/>
            <a:ext cx="1209675" cy="52387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500" dirty="0">
                <a:solidFill>
                  <a:schemeClr val="accent1">
                    <a:lumMod val="50000"/>
                  </a:schemeClr>
                </a:solidFill>
              </a:rPr>
              <a:t>Worker</a:t>
            </a:r>
          </a:p>
          <a:p>
            <a:pPr algn="ctr"/>
            <a:r>
              <a:rPr kumimoji="1" lang="en-US" altLang="zh-CN" sz="1500" dirty="0" err="1">
                <a:solidFill>
                  <a:schemeClr val="accent1">
                    <a:lumMod val="50000"/>
                  </a:schemeClr>
                </a:solidFill>
              </a:rPr>
              <a:t>Lru</a:t>
            </a:r>
            <a:r>
              <a:rPr kumimoji="1" lang="zh-CN" altLang="en-US" sz="1500" dirty="0">
                <a:solidFill>
                  <a:schemeClr val="accent1">
                    <a:lumMod val="50000"/>
                  </a:schemeClr>
                </a:solidFill>
              </a:rPr>
              <a:t> </a:t>
            </a:r>
            <a:r>
              <a:rPr kumimoji="1" lang="en-US" altLang="zh-CN" sz="1500" dirty="0">
                <a:solidFill>
                  <a:schemeClr val="accent1">
                    <a:lumMod val="50000"/>
                  </a:schemeClr>
                </a:solidFill>
              </a:rPr>
              <a:t>cache</a:t>
            </a:r>
            <a:endParaRPr kumimoji="1" lang="zh-CN" altLang="en-US" sz="1500" dirty="0">
              <a:solidFill>
                <a:schemeClr val="accent1">
                  <a:lumMod val="50000"/>
                </a:schemeClr>
              </a:solidFill>
            </a:endParaRPr>
          </a:p>
        </p:txBody>
      </p:sp>
      <p:sp>
        <p:nvSpPr>
          <p:cNvPr id="4" name="矩形 3">
            <a:extLst>
              <a:ext uri="{FF2B5EF4-FFF2-40B4-BE49-F238E27FC236}">
                <a16:creationId xmlns:a16="http://schemas.microsoft.com/office/drawing/2014/main" id="{98987A1C-4230-D194-D8ED-3E7757996927}"/>
              </a:ext>
            </a:extLst>
          </p:cNvPr>
          <p:cNvSpPr/>
          <p:nvPr/>
        </p:nvSpPr>
        <p:spPr>
          <a:xfrm>
            <a:off x="2664088" y="2380724"/>
            <a:ext cx="3115611" cy="411863"/>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500" dirty="0" err="1">
                <a:solidFill>
                  <a:schemeClr val="accent1">
                    <a:lumMod val="50000"/>
                  </a:schemeClr>
                </a:solidFill>
              </a:rPr>
              <a:t>Lru_shared_dict</a:t>
            </a:r>
            <a:endParaRPr kumimoji="1" lang="zh-CN" altLang="en-US" sz="1500" dirty="0">
              <a:solidFill>
                <a:schemeClr val="accent1">
                  <a:lumMod val="50000"/>
                </a:schemeClr>
              </a:solidFill>
            </a:endParaRPr>
          </a:p>
        </p:txBody>
      </p:sp>
      <p:sp>
        <p:nvSpPr>
          <p:cNvPr id="5" name="矩形 4">
            <a:extLst>
              <a:ext uri="{FF2B5EF4-FFF2-40B4-BE49-F238E27FC236}">
                <a16:creationId xmlns:a16="http://schemas.microsoft.com/office/drawing/2014/main" id="{8E17646F-6E68-3D63-E2BA-D52CAC1BB200}"/>
              </a:ext>
            </a:extLst>
          </p:cNvPr>
          <p:cNvSpPr/>
          <p:nvPr/>
        </p:nvSpPr>
        <p:spPr>
          <a:xfrm>
            <a:off x="3751892" y="3325029"/>
            <a:ext cx="1118336" cy="41186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500" dirty="0">
                <a:solidFill>
                  <a:schemeClr val="accent1">
                    <a:lumMod val="50000"/>
                  </a:schemeClr>
                </a:solidFill>
              </a:rPr>
              <a:t>Callback</a:t>
            </a:r>
          </a:p>
        </p:txBody>
      </p:sp>
      <p:sp>
        <p:nvSpPr>
          <p:cNvPr id="6" name="圆柱体 5">
            <a:extLst>
              <a:ext uri="{FF2B5EF4-FFF2-40B4-BE49-F238E27FC236}">
                <a16:creationId xmlns:a16="http://schemas.microsoft.com/office/drawing/2014/main" id="{E83C05D3-B0E8-EBF8-6CE2-6E4E15F1747C}"/>
              </a:ext>
            </a:extLst>
          </p:cNvPr>
          <p:cNvSpPr/>
          <p:nvPr/>
        </p:nvSpPr>
        <p:spPr>
          <a:xfrm>
            <a:off x="3959701" y="4386610"/>
            <a:ext cx="714375" cy="504825"/>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b="1" dirty="0"/>
              <a:t>Redis</a:t>
            </a:r>
            <a:endParaRPr kumimoji="1" lang="zh-CN" altLang="en-US" b="1" dirty="0"/>
          </a:p>
        </p:txBody>
      </p:sp>
      <p:sp>
        <p:nvSpPr>
          <p:cNvPr id="7" name="文本框 6">
            <a:extLst>
              <a:ext uri="{FF2B5EF4-FFF2-40B4-BE49-F238E27FC236}">
                <a16:creationId xmlns:a16="http://schemas.microsoft.com/office/drawing/2014/main" id="{07053DEB-190E-C6BC-16C0-AF028FE4715E}"/>
              </a:ext>
            </a:extLst>
          </p:cNvPr>
          <p:cNvSpPr txBox="1"/>
          <p:nvPr/>
        </p:nvSpPr>
        <p:spPr>
          <a:xfrm>
            <a:off x="1214312" y="4100347"/>
            <a:ext cx="441146"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L3</a:t>
            </a:r>
            <a:endParaRPr kumimoji="1" lang="zh-CN" altLang="en-US" dirty="0">
              <a:latin typeface="Arial" panose="020B0604020202020204" pitchFamily="34" charset="0"/>
              <a:cs typeface="Arial" panose="020B0604020202020204" pitchFamily="34" charset="0"/>
            </a:endParaRPr>
          </a:p>
        </p:txBody>
      </p:sp>
      <p:sp>
        <p:nvSpPr>
          <p:cNvPr id="8" name="文本框 7">
            <a:extLst>
              <a:ext uri="{FF2B5EF4-FFF2-40B4-BE49-F238E27FC236}">
                <a16:creationId xmlns:a16="http://schemas.microsoft.com/office/drawing/2014/main" id="{060B5008-01C3-A80E-66BD-DE6C99D01EA8}"/>
              </a:ext>
            </a:extLst>
          </p:cNvPr>
          <p:cNvSpPr txBox="1"/>
          <p:nvPr/>
        </p:nvSpPr>
        <p:spPr>
          <a:xfrm>
            <a:off x="1208912" y="2488431"/>
            <a:ext cx="441146"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L2</a:t>
            </a:r>
            <a:endParaRPr kumimoji="1" lang="zh-CN" altLang="en-US"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D4C782B9-A596-4B07-508F-0BD9E8C06A29}"/>
              </a:ext>
            </a:extLst>
          </p:cNvPr>
          <p:cNvSpPr txBox="1"/>
          <p:nvPr/>
        </p:nvSpPr>
        <p:spPr>
          <a:xfrm>
            <a:off x="1214312" y="1471698"/>
            <a:ext cx="441146" cy="369332"/>
          </a:xfrm>
          <a:prstGeom prst="rect">
            <a:avLst/>
          </a:prstGeom>
          <a:noFill/>
        </p:spPr>
        <p:txBody>
          <a:bodyPr wrap="none" rtlCol="0">
            <a:spAutoFit/>
          </a:bodyPr>
          <a:lstStyle/>
          <a:p>
            <a:r>
              <a:rPr kumimoji="1" lang="en-US" altLang="zh-CN" dirty="0">
                <a:latin typeface="Arial" panose="020B0604020202020204" pitchFamily="34" charset="0"/>
                <a:cs typeface="Arial" panose="020B0604020202020204" pitchFamily="34" charset="0"/>
              </a:rPr>
              <a:t>L1</a:t>
            </a:r>
            <a:endParaRPr kumimoji="1" lang="zh-CN" altLang="en-US" dirty="0">
              <a:latin typeface="Arial" panose="020B0604020202020204" pitchFamily="34" charset="0"/>
              <a:cs typeface="Arial" panose="020B0604020202020204" pitchFamily="34" charset="0"/>
            </a:endParaRPr>
          </a:p>
        </p:txBody>
      </p:sp>
      <p:sp>
        <p:nvSpPr>
          <p:cNvPr id="10" name="文本框 9">
            <a:extLst>
              <a:ext uri="{FF2B5EF4-FFF2-40B4-BE49-F238E27FC236}">
                <a16:creationId xmlns:a16="http://schemas.microsoft.com/office/drawing/2014/main" id="{904E33C5-DFAF-3108-3CB7-2A708AB3ABFF}"/>
              </a:ext>
            </a:extLst>
          </p:cNvPr>
          <p:cNvSpPr txBox="1"/>
          <p:nvPr/>
        </p:nvSpPr>
        <p:spPr>
          <a:xfrm>
            <a:off x="1604695" y="925237"/>
            <a:ext cx="774571" cy="369332"/>
          </a:xfrm>
          <a:prstGeom prst="rect">
            <a:avLst/>
          </a:prstGeom>
          <a:noFill/>
        </p:spPr>
        <p:txBody>
          <a:bodyPr wrap="none" rtlCol="0">
            <a:spAutoFit/>
          </a:bodyPr>
          <a:lstStyle/>
          <a:p>
            <a:r>
              <a:rPr kumimoji="1" lang="en-US" altLang="zh-CN" dirty="0">
                <a:solidFill>
                  <a:schemeClr val="accent1">
                    <a:lumMod val="50000"/>
                  </a:schemeClr>
                </a:solidFill>
                <a:latin typeface="Arial" panose="020B0604020202020204" pitchFamily="34" charset="0"/>
                <a:cs typeface="Arial" panose="020B0604020202020204" pitchFamily="34" charset="0"/>
              </a:rPr>
              <a:t>Nginx</a:t>
            </a:r>
            <a:endParaRPr kumimoji="1" lang="zh-CN" altLang="en-US" dirty="0">
              <a:solidFill>
                <a:schemeClr val="accent1">
                  <a:lumMod val="50000"/>
                </a:schemeClr>
              </a:solidFill>
              <a:latin typeface="Arial" panose="020B0604020202020204" pitchFamily="34" charset="0"/>
              <a:cs typeface="Arial" panose="020B0604020202020204" pitchFamily="34" charset="0"/>
            </a:endParaRPr>
          </a:p>
        </p:txBody>
      </p:sp>
      <p:sp>
        <p:nvSpPr>
          <p:cNvPr id="11" name="矩形 10">
            <a:extLst>
              <a:ext uri="{FF2B5EF4-FFF2-40B4-BE49-F238E27FC236}">
                <a16:creationId xmlns:a16="http://schemas.microsoft.com/office/drawing/2014/main" id="{D45BFA02-A58E-C148-1B1D-0529C09A3AEE}"/>
              </a:ext>
            </a:extLst>
          </p:cNvPr>
          <p:cNvSpPr/>
          <p:nvPr/>
        </p:nvSpPr>
        <p:spPr>
          <a:xfrm>
            <a:off x="2035183" y="1382886"/>
            <a:ext cx="1209675" cy="52387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500" dirty="0">
                <a:solidFill>
                  <a:schemeClr val="accent1">
                    <a:lumMod val="50000"/>
                  </a:schemeClr>
                </a:solidFill>
              </a:rPr>
              <a:t>Worker</a:t>
            </a:r>
          </a:p>
          <a:p>
            <a:pPr algn="ctr"/>
            <a:r>
              <a:rPr kumimoji="1" lang="en-US" altLang="zh-CN" sz="1500" dirty="0" err="1">
                <a:solidFill>
                  <a:schemeClr val="accent1">
                    <a:lumMod val="50000"/>
                  </a:schemeClr>
                </a:solidFill>
              </a:rPr>
              <a:t>Lru</a:t>
            </a:r>
            <a:r>
              <a:rPr kumimoji="1" lang="zh-CN" altLang="en-US" sz="1500" dirty="0">
                <a:solidFill>
                  <a:schemeClr val="accent1">
                    <a:lumMod val="50000"/>
                  </a:schemeClr>
                </a:solidFill>
              </a:rPr>
              <a:t> </a:t>
            </a:r>
            <a:r>
              <a:rPr kumimoji="1" lang="en-US" altLang="zh-CN" sz="1500" dirty="0">
                <a:solidFill>
                  <a:schemeClr val="accent1">
                    <a:lumMod val="50000"/>
                  </a:schemeClr>
                </a:solidFill>
              </a:rPr>
              <a:t>cache</a:t>
            </a:r>
            <a:endParaRPr kumimoji="1" lang="zh-CN" altLang="en-US" sz="1500" dirty="0">
              <a:solidFill>
                <a:schemeClr val="accent1">
                  <a:lumMod val="50000"/>
                </a:schemeClr>
              </a:solidFill>
            </a:endParaRPr>
          </a:p>
        </p:txBody>
      </p:sp>
      <p:sp>
        <p:nvSpPr>
          <p:cNvPr id="12" name="矩形 11">
            <a:extLst>
              <a:ext uri="{FF2B5EF4-FFF2-40B4-BE49-F238E27FC236}">
                <a16:creationId xmlns:a16="http://schemas.microsoft.com/office/drawing/2014/main" id="{452C186E-4C6D-16A9-C560-719F619FE2BB}"/>
              </a:ext>
            </a:extLst>
          </p:cNvPr>
          <p:cNvSpPr/>
          <p:nvPr/>
        </p:nvSpPr>
        <p:spPr>
          <a:xfrm>
            <a:off x="5024077" y="1382886"/>
            <a:ext cx="1209675" cy="523875"/>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500" dirty="0">
                <a:solidFill>
                  <a:schemeClr val="accent1">
                    <a:lumMod val="50000"/>
                  </a:schemeClr>
                </a:solidFill>
              </a:rPr>
              <a:t>Worker</a:t>
            </a:r>
          </a:p>
          <a:p>
            <a:pPr algn="ctr"/>
            <a:r>
              <a:rPr kumimoji="1" lang="en-US" altLang="zh-CN" sz="1500" dirty="0" err="1">
                <a:solidFill>
                  <a:schemeClr val="accent1">
                    <a:lumMod val="50000"/>
                  </a:schemeClr>
                </a:solidFill>
              </a:rPr>
              <a:t>Lru</a:t>
            </a:r>
            <a:r>
              <a:rPr kumimoji="1" lang="zh-CN" altLang="en-US" sz="1500" dirty="0">
                <a:solidFill>
                  <a:schemeClr val="accent1">
                    <a:lumMod val="50000"/>
                  </a:schemeClr>
                </a:solidFill>
              </a:rPr>
              <a:t> </a:t>
            </a:r>
            <a:r>
              <a:rPr kumimoji="1" lang="en-US" altLang="zh-CN" sz="1500" dirty="0">
                <a:solidFill>
                  <a:schemeClr val="accent1">
                    <a:lumMod val="50000"/>
                  </a:schemeClr>
                </a:solidFill>
              </a:rPr>
              <a:t>cache</a:t>
            </a:r>
            <a:endParaRPr kumimoji="1" lang="zh-CN" altLang="en-US" sz="1500" dirty="0">
              <a:solidFill>
                <a:schemeClr val="accent1">
                  <a:lumMod val="50000"/>
                </a:schemeClr>
              </a:solidFill>
            </a:endParaRPr>
          </a:p>
        </p:txBody>
      </p:sp>
      <p:sp>
        <p:nvSpPr>
          <p:cNvPr id="13" name="下箭头 12">
            <a:extLst>
              <a:ext uri="{FF2B5EF4-FFF2-40B4-BE49-F238E27FC236}">
                <a16:creationId xmlns:a16="http://schemas.microsoft.com/office/drawing/2014/main" id="{2FA35C72-2637-02CB-8A59-5A7CEB35C0A2}"/>
              </a:ext>
            </a:extLst>
          </p:cNvPr>
          <p:cNvSpPr/>
          <p:nvPr/>
        </p:nvSpPr>
        <p:spPr>
          <a:xfrm>
            <a:off x="2855524" y="1906761"/>
            <a:ext cx="152400" cy="473963"/>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4" name="下箭头 13">
            <a:extLst>
              <a:ext uri="{FF2B5EF4-FFF2-40B4-BE49-F238E27FC236}">
                <a16:creationId xmlns:a16="http://schemas.microsoft.com/office/drawing/2014/main" id="{5928BFEC-3FB7-FBEB-2F0B-F3E68BCC8559}"/>
              </a:ext>
            </a:extLst>
          </p:cNvPr>
          <p:cNvSpPr/>
          <p:nvPr/>
        </p:nvSpPr>
        <p:spPr>
          <a:xfrm>
            <a:off x="4145694" y="1906761"/>
            <a:ext cx="152400" cy="473963"/>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5" name="下箭头 14">
            <a:extLst>
              <a:ext uri="{FF2B5EF4-FFF2-40B4-BE49-F238E27FC236}">
                <a16:creationId xmlns:a16="http://schemas.microsoft.com/office/drawing/2014/main" id="{26951E02-B120-B0E2-E5CC-340D4836F457}"/>
              </a:ext>
            </a:extLst>
          </p:cNvPr>
          <p:cNvSpPr/>
          <p:nvPr/>
        </p:nvSpPr>
        <p:spPr>
          <a:xfrm>
            <a:off x="5398699" y="1906761"/>
            <a:ext cx="152400" cy="473963"/>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6" name="下箭头 15">
            <a:extLst>
              <a:ext uri="{FF2B5EF4-FFF2-40B4-BE49-F238E27FC236}">
                <a16:creationId xmlns:a16="http://schemas.microsoft.com/office/drawing/2014/main" id="{9D513E5C-45CE-D02B-F25F-BD7D21EE162E}"/>
              </a:ext>
            </a:extLst>
          </p:cNvPr>
          <p:cNvSpPr/>
          <p:nvPr/>
        </p:nvSpPr>
        <p:spPr>
          <a:xfrm>
            <a:off x="4269987" y="2824968"/>
            <a:ext cx="152400" cy="473963"/>
          </a:xfrm>
          <a:prstGeom prst="downArrow">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17" name="文本框 16">
            <a:extLst>
              <a:ext uri="{FF2B5EF4-FFF2-40B4-BE49-F238E27FC236}">
                <a16:creationId xmlns:a16="http://schemas.microsoft.com/office/drawing/2014/main" id="{7EC8B88A-1335-3EF8-13E0-C3E1D344A044}"/>
              </a:ext>
            </a:extLst>
          </p:cNvPr>
          <p:cNvSpPr txBox="1"/>
          <p:nvPr/>
        </p:nvSpPr>
        <p:spPr>
          <a:xfrm>
            <a:off x="4395807" y="2908767"/>
            <a:ext cx="708848" cy="323165"/>
          </a:xfrm>
          <a:prstGeom prst="rect">
            <a:avLst/>
          </a:prstGeom>
          <a:noFill/>
        </p:spPr>
        <p:txBody>
          <a:bodyPr wrap="none" rtlCol="0">
            <a:spAutoFit/>
          </a:bodyPr>
          <a:lstStyle/>
          <a:p>
            <a:r>
              <a:rPr kumimoji="1" lang="en-US" altLang="zh-CN" sz="1500" dirty="0">
                <a:latin typeface="Arial" panose="020B0604020202020204" pitchFamily="34" charset="0"/>
                <a:cs typeface="Arial" panose="020B0604020202020204" pitchFamily="34" charset="0"/>
              </a:rPr>
              <a:t>mutex</a:t>
            </a:r>
            <a:endParaRPr kumimoji="1" lang="zh-CN" altLang="en-US" sz="1500" dirty="0">
              <a:latin typeface="Arial" panose="020B0604020202020204" pitchFamily="34" charset="0"/>
              <a:cs typeface="Arial" panose="020B0604020202020204" pitchFamily="34" charset="0"/>
            </a:endParaRPr>
          </a:p>
        </p:txBody>
      </p:sp>
      <p:cxnSp>
        <p:nvCxnSpPr>
          <p:cNvPr id="18" name="直线箭头连接符 17">
            <a:extLst>
              <a:ext uri="{FF2B5EF4-FFF2-40B4-BE49-F238E27FC236}">
                <a16:creationId xmlns:a16="http://schemas.microsoft.com/office/drawing/2014/main" id="{4078117B-E07E-C91F-9D4E-DD018F53218E}"/>
              </a:ext>
            </a:extLst>
          </p:cNvPr>
          <p:cNvCxnSpPr>
            <a:cxnSpLocks/>
            <a:stCxn id="5" idx="2"/>
            <a:endCxn id="6" idx="1"/>
          </p:cNvCxnSpPr>
          <p:nvPr/>
        </p:nvCxnSpPr>
        <p:spPr>
          <a:xfrm>
            <a:off x="4311061" y="3736892"/>
            <a:ext cx="5828" cy="649718"/>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EDD171B3-B122-E519-836B-713D71BF48FF}"/>
              </a:ext>
            </a:extLst>
          </p:cNvPr>
          <p:cNvSpPr txBox="1"/>
          <p:nvPr/>
        </p:nvSpPr>
        <p:spPr>
          <a:xfrm>
            <a:off x="4367817" y="3969626"/>
            <a:ext cx="909223" cy="323165"/>
          </a:xfrm>
          <a:prstGeom prst="rect">
            <a:avLst/>
          </a:prstGeom>
          <a:noFill/>
        </p:spPr>
        <p:txBody>
          <a:bodyPr wrap="none" rtlCol="0">
            <a:spAutoFit/>
          </a:bodyPr>
          <a:lstStyle/>
          <a:p>
            <a:r>
              <a:rPr kumimoji="1" lang="en-US" altLang="zh-CN" sz="1500" dirty="0">
                <a:latin typeface="Arial" panose="020B0604020202020204" pitchFamily="34" charset="0"/>
                <a:cs typeface="Arial" panose="020B0604020202020204" pitchFamily="34" charset="0"/>
              </a:rPr>
              <a:t>I/O fetch</a:t>
            </a:r>
          </a:p>
        </p:txBody>
      </p:sp>
      <p:sp>
        <p:nvSpPr>
          <p:cNvPr id="20" name="矩形 19">
            <a:extLst>
              <a:ext uri="{FF2B5EF4-FFF2-40B4-BE49-F238E27FC236}">
                <a16:creationId xmlns:a16="http://schemas.microsoft.com/office/drawing/2014/main" id="{09C5B68B-619B-09FB-7145-52B7CFC9C577}"/>
              </a:ext>
            </a:extLst>
          </p:cNvPr>
          <p:cNvSpPr/>
          <p:nvPr/>
        </p:nvSpPr>
        <p:spPr>
          <a:xfrm>
            <a:off x="1702999" y="1271486"/>
            <a:ext cx="4762500" cy="2620094"/>
          </a:xfrm>
          <a:prstGeom prst="rect">
            <a:avLst/>
          </a:prstGeom>
          <a:noFill/>
          <a:ln w="38100">
            <a:solidFill>
              <a:schemeClr val="accent3">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p>
        </p:txBody>
      </p:sp>
      <p:sp>
        <p:nvSpPr>
          <p:cNvPr id="21" name="矩形 20">
            <a:extLst>
              <a:ext uri="{FF2B5EF4-FFF2-40B4-BE49-F238E27FC236}">
                <a16:creationId xmlns:a16="http://schemas.microsoft.com/office/drawing/2014/main" id="{4C9BF4BF-F038-8D73-EC38-12D165E9B33D}"/>
              </a:ext>
            </a:extLst>
          </p:cNvPr>
          <p:cNvSpPr/>
          <p:nvPr/>
        </p:nvSpPr>
        <p:spPr>
          <a:xfrm>
            <a:off x="2685691" y="3398738"/>
            <a:ext cx="1132041" cy="300082"/>
          </a:xfrm>
          <a:prstGeom prst="rect">
            <a:avLst/>
          </a:prstGeom>
        </p:spPr>
        <p:txBody>
          <a:bodyPr wrap="none">
            <a:spAutoFit/>
          </a:bodyPr>
          <a:lstStyle/>
          <a:p>
            <a:r>
              <a:rPr lang="en-US" altLang="zh-CN" sz="1350" dirty="0" err="1"/>
              <a:t>lua</a:t>
            </a:r>
            <a:r>
              <a:rPr lang="en-US" altLang="zh-CN" sz="1350" dirty="0"/>
              <a:t>-</a:t>
            </a:r>
            <a:r>
              <a:rPr lang="en-US" altLang="zh-CN" sz="1350" dirty="0" err="1"/>
              <a:t>resty</a:t>
            </a:r>
            <a:r>
              <a:rPr lang="en-US" altLang="zh-CN" sz="1350" dirty="0"/>
              <a:t>-lock</a:t>
            </a:r>
            <a:endParaRPr lang="zh-CN" altLang="en-US" sz="1350" dirty="0"/>
          </a:p>
        </p:txBody>
      </p:sp>
      <p:sp>
        <p:nvSpPr>
          <p:cNvPr id="22" name="矩形 21">
            <a:extLst>
              <a:ext uri="{FF2B5EF4-FFF2-40B4-BE49-F238E27FC236}">
                <a16:creationId xmlns:a16="http://schemas.microsoft.com/office/drawing/2014/main" id="{AD8CAFC5-24DF-1695-6A4F-EC75E03DAD99}"/>
              </a:ext>
            </a:extLst>
          </p:cNvPr>
          <p:cNvSpPr/>
          <p:nvPr/>
        </p:nvSpPr>
        <p:spPr>
          <a:xfrm>
            <a:off x="6568098" y="1545323"/>
            <a:ext cx="1319592" cy="300082"/>
          </a:xfrm>
          <a:prstGeom prst="rect">
            <a:avLst/>
          </a:prstGeom>
        </p:spPr>
        <p:txBody>
          <a:bodyPr wrap="none">
            <a:spAutoFit/>
          </a:bodyPr>
          <a:lstStyle/>
          <a:p>
            <a:r>
              <a:rPr lang="zh-CN" altLang="zh-CN" sz="1350" dirty="0">
                <a:solidFill>
                  <a:schemeClr val="accent3">
                    <a:lumMod val="75000"/>
                  </a:schemeClr>
                </a:solidFill>
                <a:latin typeface="Arial" panose="020B0604020202020204" pitchFamily="34" charset="0"/>
                <a:cs typeface="Arial" panose="020B0604020202020204" pitchFamily="34" charset="0"/>
              </a:rPr>
              <a:t>命中率在</a:t>
            </a:r>
            <a:r>
              <a:rPr lang="en-US" altLang="zh-CN" sz="1350" dirty="0">
                <a:solidFill>
                  <a:schemeClr val="accent3">
                    <a:lumMod val="75000"/>
                  </a:schemeClr>
                </a:solidFill>
                <a:latin typeface="Arial" panose="020B0604020202020204" pitchFamily="34" charset="0"/>
                <a:cs typeface="Arial" panose="020B0604020202020204" pitchFamily="34" charset="0"/>
              </a:rPr>
              <a:t> 99% </a:t>
            </a:r>
            <a:endParaRPr lang="zh-CN" altLang="en-US" sz="1350" dirty="0">
              <a:solidFill>
                <a:schemeClr val="accent3">
                  <a:lumMod val="75000"/>
                </a:schemeClr>
              </a:solidFill>
              <a:latin typeface="Arial" panose="020B0604020202020204" pitchFamily="34" charset="0"/>
              <a:cs typeface="Arial" panose="020B0604020202020204" pitchFamily="34" charset="0"/>
            </a:endParaRPr>
          </a:p>
        </p:txBody>
      </p:sp>
      <p:sp>
        <p:nvSpPr>
          <p:cNvPr id="23" name="矩形 22">
            <a:extLst>
              <a:ext uri="{FF2B5EF4-FFF2-40B4-BE49-F238E27FC236}">
                <a16:creationId xmlns:a16="http://schemas.microsoft.com/office/drawing/2014/main" id="{30202742-5165-409F-3207-A39D83E93EEA}"/>
              </a:ext>
            </a:extLst>
          </p:cNvPr>
          <p:cNvSpPr/>
          <p:nvPr/>
        </p:nvSpPr>
        <p:spPr>
          <a:xfrm>
            <a:off x="6591060" y="2391524"/>
            <a:ext cx="1367682" cy="300082"/>
          </a:xfrm>
          <a:prstGeom prst="rect">
            <a:avLst/>
          </a:prstGeom>
        </p:spPr>
        <p:txBody>
          <a:bodyPr wrap="none">
            <a:spAutoFit/>
          </a:bodyPr>
          <a:lstStyle/>
          <a:p>
            <a:r>
              <a:rPr lang="zh-CN" altLang="zh-CN" sz="1350" dirty="0">
                <a:solidFill>
                  <a:schemeClr val="accent3">
                    <a:lumMod val="75000"/>
                  </a:schemeClr>
                </a:solidFill>
                <a:latin typeface="Arial" panose="020B0604020202020204" pitchFamily="34" charset="0"/>
                <a:cs typeface="Arial" panose="020B0604020202020204" pitchFamily="34" charset="0"/>
              </a:rPr>
              <a:t>命中率在</a:t>
            </a:r>
            <a:r>
              <a:rPr lang="en-US" altLang="zh-CN" sz="1350" dirty="0">
                <a:solidFill>
                  <a:schemeClr val="accent3">
                    <a:lumMod val="75000"/>
                  </a:schemeClr>
                </a:solidFill>
                <a:latin typeface="Arial" panose="020B0604020202020204" pitchFamily="34" charset="0"/>
                <a:cs typeface="Arial" panose="020B0604020202020204" pitchFamily="34" charset="0"/>
              </a:rPr>
              <a:t> 0.5 %</a:t>
            </a:r>
            <a:endParaRPr lang="zh-CN" altLang="en-US" sz="1350" dirty="0">
              <a:solidFill>
                <a:schemeClr val="accent3">
                  <a:lumMod val="75000"/>
                </a:schemeClr>
              </a:solidFill>
              <a:latin typeface="Arial" panose="020B0604020202020204" pitchFamily="34" charset="0"/>
              <a:cs typeface="Arial" panose="020B0604020202020204" pitchFamily="34" charset="0"/>
            </a:endParaRPr>
          </a:p>
        </p:txBody>
      </p:sp>
      <p:sp>
        <p:nvSpPr>
          <p:cNvPr id="24" name="矩形 23">
            <a:extLst>
              <a:ext uri="{FF2B5EF4-FFF2-40B4-BE49-F238E27FC236}">
                <a16:creationId xmlns:a16="http://schemas.microsoft.com/office/drawing/2014/main" id="{B53B1C48-97AC-65BC-9A31-4879B22E1A73}"/>
              </a:ext>
            </a:extLst>
          </p:cNvPr>
          <p:cNvSpPr/>
          <p:nvPr/>
        </p:nvSpPr>
        <p:spPr>
          <a:xfrm>
            <a:off x="6591060" y="3454250"/>
            <a:ext cx="1463862" cy="300082"/>
          </a:xfrm>
          <a:prstGeom prst="rect">
            <a:avLst/>
          </a:prstGeom>
        </p:spPr>
        <p:txBody>
          <a:bodyPr wrap="none">
            <a:spAutoFit/>
          </a:bodyPr>
          <a:lstStyle/>
          <a:p>
            <a:r>
              <a:rPr lang="zh-CN" altLang="zh-CN" sz="1350" dirty="0">
                <a:solidFill>
                  <a:schemeClr val="accent3">
                    <a:lumMod val="75000"/>
                  </a:schemeClr>
                </a:solidFill>
                <a:latin typeface="Arial" panose="020B0604020202020204" pitchFamily="34" charset="0"/>
                <a:cs typeface="Arial" panose="020B0604020202020204" pitchFamily="34" charset="0"/>
              </a:rPr>
              <a:t>请求只有</a:t>
            </a:r>
            <a:r>
              <a:rPr lang="en-US" altLang="zh-CN" sz="1350" dirty="0">
                <a:solidFill>
                  <a:schemeClr val="accent3">
                    <a:lumMod val="75000"/>
                  </a:schemeClr>
                </a:solidFill>
                <a:latin typeface="Arial" panose="020B0604020202020204" pitchFamily="34" charset="0"/>
                <a:cs typeface="Arial" panose="020B0604020202020204" pitchFamily="34" charset="0"/>
              </a:rPr>
              <a:t> 0.03 %</a:t>
            </a:r>
            <a:endParaRPr lang="zh-CN" altLang="en-US" sz="1350" dirty="0">
              <a:solidFill>
                <a:schemeClr val="accent3">
                  <a:lumMod val="75000"/>
                </a:schemeClr>
              </a:solidFill>
              <a:latin typeface="Arial" panose="020B0604020202020204" pitchFamily="34" charset="0"/>
              <a:cs typeface="Arial" panose="020B0604020202020204" pitchFamily="34" charset="0"/>
            </a:endParaRPr>
          </a:p>
        </p:txBody>
      </p:sp>
      <p:sp>
        <p:nvSpPr>
          <p:cNvPr id="25" name="矩形 24">
            <a:extLst>
              <a:ext uri="{FF2B5EF4-FFF2-40B4-BE49-F238E27FC236}">
                <a16:creationId xmlns:a16="http://schemas.microsoft.com/office/drawing/2014/main" id="{7A605384-76E8-74E8-521B-5EFD793D2FC4}"/>
              </a:ext>
            </a:extLst>
          </p:cNvPr>
          <p:cNvSpPr/>
          <p:nvPr/>
        </p:nvSpPr>
        <p:spPr>
          <a:xfrm>
            <a:off x="6478049" y="757181"/>
            <a:ext cx="1598515" cy="300082"/>
          </a:xfrm>
          <a:prstGeom prst="rect">
            <a:avLst/>
          </a:prstGeom>
        </p:spPr>
        <p:txBody>
          <a:bodyPr wrap="none">
            <a:spAutoFit/>
          </a:bodyPr>
          <a:lstStyle/>
          <a:p>
            <a:r>
              <a:rPr lang="zh-CN" altLang="zh-CN" sz="1350" dirty="0">
                <a:solidFill>
                  <a:schemeClr val="accent3">
                    <a:lumMod val="75000"/>
                  </a:schemeClr>
                </a:solidFill>
                <a:latin typeface="Arial" panose="020B0604020202020204" pitchFamily="34" charset="0"/>
                <a:cs typeface="Arial" panose="020B0604020202020204" pitchFamily="34" charset="0"/>
              </a:rPr>
              <a:t>缓存</a:t>
            </a:r>
            <a:r>
              <a:rPr lang="en-US" altLang="zh-CN" sz="1350" dirty="0">
                <a:solidFill>
                  <a:schemeClr val="accent3">
                    <a:lumMod val="75000"/>
                  </a:schemeClr>
                </a:solidFill>
                <a:latin typeface="Arial" panose="020B0604020202020204" pitchFamily="34" charset="0"/>
                <a:cs typeface="Arial" panose="020B0604020202020204" pitchFamily="34" charset="0"/>
              </a:rPr>
              <a:t> 30s </a:t>
            </a:r>
            <a:r>
              <a:rPr lang="zh-CN" altLang="zh-CN" sz="1350" dirty="0">
                <a:solidFill>
                  <a:schemeClr val="accent3">
                    <a:lumMod val="75000"/>
                  </a:schemeClr>
                </a:solidFill>
                <a:latin typeface="Arial" panose="020B0604020202020204" pitchFamily="34" charset="0"/>
                <a:cs typeface="Arial" panose="020B0604020202020204" pitchFamily="34" charset="0"/>
              </a:rPr>
              <a:t>的情况下</a:t>
            </a:r>
            <a:endParaRPr lang="zh-CN" altLang="en-US" sz="1350" dirty="0">
              <a:solidFill>
                <a:schemeClr val="accent3">
                  <a:lumMod val="7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328874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531746" y="316616"/>
            <a:ext cx="8161119" cy="523875"/>
          </a:xfrm>
        </p:spPr>
        <p:txBody>
          <a:bodyPr/>
          <a:lstStyle/>
          <a:p>
            <a:r>
              <a:rPr kumimoji="1" lang="zh-CN" altLang="en-US" sz="2400" dirty="0">
                <a:latin typeface="微软雅黑" panose="020B0503020204020204" pitchFamily="34" charset="-122"/>
                <a:ea typeface="微软雅黑" panose="020B0503020204020204" pitchFamily="34" charset="-122"/>
              </a:rPr>
              <a:t>本节小结</a:t>
            </a:r>
          </a:p>
        </p:txBody>
      </p:sp>
      <p:sp>
        <p:nvSpPr>
          <p:cNvPr id="167" name="概念，学习要点的概念介绍，以及在工作中什么场景会用到"/>
          <p:cNvSpPr txBox="1"/>
          <p:nvPr/>
        </p:nvSpPr>
        <p:spPr>
          <a:xfrm>
            <a:off x="531746" y="840491"/>
            <a:ext cx="8161119" cy="3812454"/>
          </a:xfrm>
          <a:prstGeom prst="rect">
            <a:avLst/>
          </a:prstGeom>
          <a:ln w="12700">
            <a:miter lim="400000"/>
          </a:ln>
        </p:spPr>
        <p:txBody>
          <a:bodyPr wrap="square" lIns="50800" tIns="50800" rIns="50800" bIns="50800" anchor="ctr">
            <a:spAutoFit/>
          </a:bodyPr>
          <a:lstStyle/>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兼容性测试覆盖软件于硬件、软件与软件、数据之间的兼容性，而且数据兼容更为重要，因为数据更具价值</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全链路压测可看作是性能测试的的右移，全面地提升系统的稳定性。</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混沌工程可看作是</a:t>
            </a:r>
            <a:r>
              <a:rPr lang="zh-CN" altLang="en-US" sz="2000" b="1" u="sng" dirty="0">
                <a:ea typeface="楷体"/>
              </a:rPr>
              <a:t>故障注入测试</a:t>
            </a:r>
            <a:r>
              <a:rPr lang="zh-CN" altLang="en-US" sz="2000" dirty="0">
                <a:ea typeface="楷体"/>
              </a:rPr>
              <a:t>的右移，并提升为工程层次，遵守五项原则，践行优秀实践，熟练使用开源工具</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en-US" altLang="zh-CN" sz="2000" dirty="0">
                <a:ea typeface="楷体"/>
              </a:rPr>
              <a:t>A/B</a:t>
            </a:r>
            <a:r>
              <a:rPr lang="zh-CN" altLang="en-US" sz="2000" dirty="0">
                <a:ea typeface="楷体"/>
              </a:rPr>
              <a:t>测试是为了提高用户体验采用的科学方法，让数据说话</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en-US" altLang="zh-CN" sz="2000" dirty="0">
                <a:ea typeface="楷体"/>
              </a:rPr>
              <a:t>A/B</a:t>
            </a:r>
            <a:r>
              <a:rPr lang="zh-CN" altLang="en-US" sz="2000" dirty="0">
                <a:ea typeface="楷体"/>
              </a:rPr>
              <a:t>测试包括实验设计、流量分发控制算法等关键内容</a:t>
            </a:r>
            <a:endParaRPr lang="en-US" altLang="zh-CN" sz="2000" dirty="0">
              <a:ea typeface="楷体"/>
            </a:endParaRPr>
          </a:p>
          <a:p>
            <a:pPr marL="355596" indent="-355596">
              <a:lnSpc>
                <a:spcPct val="140000"/>
              </a:lnSpc>
              <a:spcBef>
                <a:spcPct val="20000"/>
              </a:spcBef>
              <a:buClr>
                <a:srgbClr val="0070C0"/>
              </a:buClr>
              <a:buSzPct val="80000"/>
              <a:buFont typeface="Wingdings" pitchFamily="2" charset="2"/>
              <a:buChar char="p"/>
              <a:defRPr/>
            </a:pPr>
            <a:r>
              <a:rPr lang="zh-CN" altLang="en-US" sz="2000" dirty="0">
                <a:ea typeface="楷体"/>
              </a:rPr>
              <a:t>建立一个灵活支持</a:t>
            </a:r>
            <a:r>
              <a:rPr lang="en-US" altLang="zh-CN" sz="2000" dirty="0">
                <a:ea typeface="楷体"/>
              </a:rPr>
              <a:t>A/B</a:t>
            </a:r>
            <a:r>
              <a:rPr lang="zh-CN" altLang="en-US" sz="2000" dirty="0">
                <a:ea typeface="楷体"/>
              </a:rPr>
              <a:t>测试的平台</a:t>
            </a:r>
            <a:endParaRPr lang="en-US" altLang="zh-CN" sz="2000" dirty="0">
              <a:ea typeface="楷体"/>
            </a:endParaRPr>
          </a:p>
        </p:txBody>
      </p:sp>
    </p:spTree>
  </p:cSld>
  <p:clrMapOvr>
    <a:masterClrMapping/>
  </p:clrMapOvr>
  <p:transition spd="slow">
    <p:wipe dir="r"/>
  </p:transition>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102D24D-0014-9B2D-222C-36AE2A946DBC}"/>
              </a:ext>
            </a:extLst>
          </p:cNvPr>
          <p:cNvSpPr txBox="1"/>
          <p:nvPr/>
        </p:nvSpPr>
        <p:spPr>
          <a:xfrm>
            <a:off x="1491291" y="277050"/>
            <a:ext cx="4464684" cy="461665"/>
          </a:xfrm>
          <a:prstGeom prst="rect">
            <a:avLst/>
          </a:prstGeom>
          <a:noFill/>
        </p:spPr>
        <p:txBody>
          <a:bodyPr wrap="none" rtlCol="0">
            <a:spAutoFit/>
          </a:bodyPr>
          <a:lstStyle/>
          <a:p>
            <a:r>
              <a:rPr kumimoji="1" lang="zh-CN" altLang="en-US" sz="2400" b="1" dirty="0">
                <a:solidFill>
                  <a:srgbClr val="435CC8"/>
                </a:solidFill>
                <a:latin typeface="Microsoft YaHei" panose="020B0503020204020204" pitchFamily="34" charset="-122"/>
                <a:ea typeface="Microsoft YaHei" panose="020B0503020204020204" pitchFamily="34" charset="-122"/>
              </a:rPr>
              <a:t>去搭建一个简单的</a:t>
            </a:r>
            <a:r>
              <a:rPr kumimoji="1" lang="en-US" altLang="zh-CN" sz="2400" b="1" dirty="0">
                <a:solidFill>
                  <a:srgbClr val="435CC8"/>
                </a:solidFill>
                <a:latin typeface="Microsoft YaHei" panose="020B0503020204020204" pitchFamily="34" charset="-122"/>
                <a:ea typeface="Microsoft YaHei" panose="020B0503020204020204" pitchFamily="34" charset="-122"/>
              </a:rPr>
              <a:t>A/B</a:t>
            </a:r>
            <a:r>
              <a:rPr kumimoji="1" lang="zh-CN" altLang="en-US" sz="2400" b="1" dirty="0">
                <a:solidFill>
                  <a:srgbClr val="435CC8"/>
                </a:solidFill>
                <a:latin typeface="Microsoft YaHei" panose="020B0503020204020204" pitchFamily="34" charset="-122"/>
                <a:ea typeface="Microsoft YaHei" panose="020B0503020204020204" pitchFamily="34" charset="-122"/>
              </a:rPr>
              <a:t>测试平台</a:t>
            </a:r>
          </a:p>
        </p:txBody>
      </p:sp>
      <p:sp>
        <p:nvSpPr>
          <p:cNvPr id="4" name="文本框 3">
            <a:extLst>
              <a:ext uri="{FF2B5EF4-FFF2-40B4-BE49-F238E27FC236}">
                <a16:creationId xmlns:a16="http://schemas.microsoft.com/office/drawing/2014/main" id="{4E6A9300-F792-78E6-25E6-553514513A62}"/>
              </a:ext>
            </a:extLst>
          </p:cNvPr>
          <p:cNvSpPr txBox="1"/>
          <p:nvPr/>
        </p:nvSpPr>
        <p:spPr>
          <a:xfrm>
            <a:off x="1354348" y="4727950"/>
            <a:ext cx="6228271" cy="276999"/>
          </a:xfrm>
          <a:prstGeom prst="rect">
            <a:avLst/>
          </a:prstGeom>
          <a:noFill/>
        </p:spPr>
        <p:txBody>
          <a:bodyPr wrap="square">
            <a:spAutoFit/>
          </a:bodyPr>
          <a:lstStyle/>
          <a:p>
            <a:r>
              <a:rPr lang="zh-CN" altLang="en-US" sz="1200" dirty="0"/>
              <a:t>https://www.convert.com/blog/a-b-testing/best-free-and-open-source-a-b-testing-software/</a:t>
            </a:r>
          </a:p>
        </p:txBody>
      </p:sp>
      <p:sp>
        <p:nvSpPr>
          <p:cNvPr id="8" name="文本框 7">
            <a:extLst>
              <a:ext uri="{FF2B5EF4-FFF2-40B4-BE49-F238E27FC236}">
                <a16:creationId xmlns:a16="http://schemas.microsoft.com/office/drawing/2014/main" id="{6EED6D5D-CADA-36CC-32D7-EDEAFE33718F}"/>
              </a:ext>
            </a:extLst>
          </p:cNvPr>
          <p:cNvSpPr txBox="1"/>
          <p:nvPr/>
        </p:nvSpPr>
        <p:spPr>
          <a:xfrm>
            <a:off x="1354348" y="4450951"/>
            <a:ext cx="4606504" cy="276999"/>
          </a:xfrm>
          <a:prstGeom prst="rect">
            <a:avLst/>
          </a:prstGeom>
          <a:noFill/>
        </p:spPr>
        <p:txBody>
          <a:bodyPr wrap="square">
            <a:spAutoFit/>
          </a:bodyPr>
          <a:lstStyle/>
          <a:p>
            <a:r>
              <a:rPr lang="zh-CN" altLang="en-US" sz="1200" dirty="0"/>
              <a:t>https://posthog.com/blog/best-open-source-ab-testing-tools</a:t>
            </a:r>
          </a:p>
        </p:txBody>
      </p:sp>
      <p:pic>
        <p:nvPicPr>
          <p:cNvPr id="10" name="图片 9">
            <a:extLst>
              <a:ext uri="{FF2B5EF4-FFF2-40B4-BE49-F238E27FC236}">
                <a16:creationId xmlns:a16="http://schemas.microsoft.com/office/drawing/2014/main" id="{7EE37078-AB77-F30A-C1F9-09FC487EC2EA}"/>
              </a:ext>
            </a:extLst>
          </p:cNvPr>
          <p:cNvPicPr>
            <a:picLocks noChangeAspect="1"/>
          </p:cNvPicPr>
          <p:nvPr/>
        </p:nvPicPr>
        <p:blipFill>
          <a:blip r:embed="rId3"/>
          <a:stretch>
            <a:fillRect/>
          </a:stretch>
        </p:blipFill>
        <p:spPr>
          <a:xfrm>
            <a:off x="1491291" y="919563"/>
            <a:ext cx="5138864" cy="3350539"/>
          </a:xfrm>
          <a:prstGeom prst="rect">
            <a:avLst/>
          </a:prstGeom>
        </p:spPr>
      </p:pic>
    </p:spTree>
  </p:cSld>
  <p:clrMapOvr>
    <a:masterClrMapping/>
  </p:clrMapOvr>
  <p:transition spd="slow">
    <p:wipe dir="r"/>
  </p:transition>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文本框 10"/>
          <p:cNvSpPr txBox="1"/>
          <p:nvPr>
            <p:custDataLst>
              <p:tags r:id="rId1"/>
            </p:custDataLst>
          </p:nvPr>
        </p:nvSpPr>
        <p:spPr>
          <a:xfrm>
            <a:off x="461645" y="258445"/>
            <a:ext cx="7989570" cy="664845"/>
          </a:xfrm>
          <a:prstGeom prst="rect">
            <a:avLst/>
          </a:prstGeom>
        </p:spPr>
        <p:txBody>
          <a:bodyPr vert="horz" lIns="91440" tIns="45720" rIns="91440" bIns="45720" rtlCol="0" anchor="ctr">
            <a:noAutofit/>
          </a:bodyPr>
          <a:lstStyle>
            <a:defPPr>
              <a:defRPr lang="zh-CN"/>
            </a:defPPr>
            <a:lvl1pPr indent="0" defTabSz="685800">
              <a:lnSpc>
                <a:spcPct val="90000"/>
              </a:lnSpc>
              <a:spcBef>
                <a:spcPct val="0"/>
              </a:spcBef>
              <a:buClr>
                <a:schemeClr val="accent4"/>
              </a:buClr>
              <a:buFontTx/>
              <a:buNone/>
              <a:defRPr kumimoji="1" sz="2800" b="1" i="0">
                <a:solidFill>
                  <a:srgbClr val="202B88"/>
                </a:solidFill>
                <a:latin typeface="微软雅黑" panose="020B0503020204020204" pitchFamily="34" charset="-122"/>
                <a:ea typeface="微软雅黑" panose="020B0503020204020204" pitchFamily="34" charset="-122"/>
                <a:cs typeface="思源黑体" panose="020F050202020403020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dirty="0"/>
              <a:t>学习资源推荐</a:t>
            </a:r>
          </a:p>
        </p:txBody>
      </p:sp>
      <p:sp>
        <p:nvSpPr>
          <p:cNvPr id="180" name="在这里推荐延伸学习资料…"/>
          <p:cNvSpPr txBox="1"/>
          <p:nvPr/>
        </p:nvSpPr>
        <p:spPr>
          <a:xfrm>
            <a:off x="243313" y="923290"/>
            <a:ext cx="8207902" cy="3294556"/>
          </a:xfrm>
          <a:prstGeom prst="rect">
            <a:avLst/>
          </a:prstGeom>
          <a:ln w="12700">
            <a:miter lim="400000"/>
          </a:ln>
        </p:spPr>
        <p:txBody>
          <a:bodyPr wrap="square" lIns="50800" tIns="50800" rIns="50800" bIns="50800" anchor="ctr">
            <a:spAutoFit/>
          </a:bodyPr>
          <a:lstStyle/>
          <a:p>
            <a:pPr algn="l">
              <a:lnSpc>
                <a:spcPct val="120000"/>
              </a:lnSpc>
              <a:defRPr>
                <a:solidFill>
                  <a:srgbClr val="53585F"/>
                </a:solidFill>
                <a:latin typeface="Tahoma" panose="020B0604030504040204"/>
                <a:ea typeface="Tahoma" panose="020B0604030504040204"/>
                <a:cs typeface="Tahoma" panose="020B0604030504040204"/>
                <a:sym typeface="Tahoma" panose="020B0604030504040204"/>
              </a:defRPr>
            </a:pPr>
            <a:endParaRPr dirty="0"/>
          </a:p>
          <a:p>
            <a:pPr marL="936625" lvl="1" indent="-301625">
              <a:lnSpc>
                <a:spcPct val="150000"/>
              </a:lnSpc>
              <a:buClr>
                <a:srgbClr val="3798DA"/>
              </a:buClr>
              <a:buSzPct val="100000"/>
              <a:buFontTx/>
              <a:buChar char="•"/>
              <a:defRPr>
                <a:solidFill>
                  <a:srgbClr val="53585F"/>
                </a:solidFill>
                <a:latin typeface="Tahoma" panose="020B0604030504040204"/>
                <a:ea typeface="Tahoma" panose="020B0604030504040204"/>
                <a:cs typeface="Tahoma" panose="020B0604030504040204"/>
                <a:sym typeface="Tahoma" panose="020B0604030504040204"/>
              </a:defRPr>
            </a:pPr>
            <a:r>
              <a:rPr lang="en-US" altLang="zh-CN" dirty="0">
                <a:solidFill>
                  <a:srgbClr val="53585F"/>
                </a:solidFill>
                <a:latin typeface="微软雅黑" panose="020B0503020204020204" pitchFamily="34" charset="-122"/>
                <a:ea typeface="微软雅黑" panose="020B0503020204020204" pitchFamily="34" charset="-122"/>
              </a:rPr>
              <a:t>《</a:t>
            </a:r>
            <a:r>
              <a:rPr lang="zh-CN" altLang="en-US" dirty="0">
                <a:solidFill>
                  <a:srgbClr val="53585F"/>
                </a:solidFill>
                <a:latin typeface="微软雅黑" panose="020B0503020204020204" pitchFamily="34" charset="-122"/>
                <a:ea typeface="微软雅黑" panose="020B0503020204020204" pitchFamily="34" charset="-122"/>
              </a:rPr>
              <a:t>软件性能测试、分析与调优实践之路</a:t>
            </a:r>
            <a:r>
              <a:rPr lang="en-US" altLang="zh-CN" dirty="0">
                <a:solidFill>
                  <a:srgbClr val="53585F"/>
                </a:solidFill>
                <a:latin typeface="微软雅黑" panose="020B0503020204020204" pitchFamily="34" charset="-122"/>
                <a:ea typeface="微软雅黑" panose="020B0503020204020204" pitchFamily="34" charset="-122"/>
              </a:rPr>
              <a:t>》</a:t>
            </a:r>
            <a:r>
              <a:rPr lang="zh-CN" altLang="en-US" dirty="0">
                <a:solidFill>
                  <a:srgbClr val="53585F"/>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清华大学出版社，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2020.7</a:t>
            </a:r>
            <a:endParaRPr dirty="0">
              <a:latin typeface="微软雅黑" panose="020B0503020204020204" pitchFamily="34" charset="-122"/>
              <a:ea typeface="微软雅黑" panose="020B0503020204020204" pitchFamily="34" charset="-122"/>
              <a:cs typeface="微软雅黑" panose="020B0503020204020204" pitchFamily="34" charset="-122"/>
            </a:endParaRPr>
          </a:p>
          <a:p>
            <a:pPr marL="936625" lvl="1" indent="-301625" algn="l">
              <a:lnSpc>
                <a:spcPct val="150000"/>
              </a:lnSpc>
              <a:buClr>
                <a:srgbClr val="3798DA"/>
              </a:buClr>
              <a:buSzPct val="100000"/>
              <a:buChar char="•"/>
              <a:defRPr>
                <a:solidFill>
                  <a:srgbClr val="53585F"/>
                </a:solidFill>
                <a:latin typeface="Tahoma" panose="020B0604030504040204"/>
                <a:ea typeface="Tahoma" panose="020B0604030504040204"/>
                <a:cs typeface="Tahoma" panose="020B0604030504040204"/>
                <a:sym typeface="Tahoma" panose="020B0604030504040204"/>
              </a:defRPr>
            </a:pP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全栈性能测试修炼宝典 </a:t>
            </a:r>
            <a:r>
              <a:rPr lang="en" altLang="zh-CN" dirty="0">
                <a:latin typeface="微软雅黑" panose="020B0503020204020204" pitchFamily="34" charset="-122"/>
                <a:ea typeface="微软雅黑" panose="020B0503020204020204" pitchFamily="34" charset="-122"/>
                <a:cs typeface="微软雅黑" panose="020B0503020204020204" pitchFamily="34" charset="-122"/>
              </a:rPr>
              <a:t>JMeter</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实战（第</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版） </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，人民邮电出版社，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2021.5</a:t>
            </a:r>
          </a:p>
          <a:p>
            <a:pPr marL="936625" lvl="1" indent="-301625">
              <a:lnSpc>
                <a:spcPct val="150000"/>
              </a:lnSpc>
              <a:buClr>
                <a:srgbClr val="3798DA"/>
              </a:buClr>
              <a:buSzPct val="100000"/>
              <a:buChar char="•"/>
              <a:defRPr>
                <a:solidFill>
                  <a:srgbClr val="53585F"/>
                </a:solidFill>
                <a:latin typeface="Tahoma" panose="020B0604030504040204"/>
                <a:ea typeface="Tahoma" panose="020B0604030504040204"/>
                <a:cs typeface="Tahoma" panose="020B0604030504040204"/>
                <a:sym typeface="Tahoma" panose="020B0604030504040204"/>
              </a:defRPr>
            </a:pPr>
            <a:r>
              <a:rPr lang="en-US" altLang="zh-CN" dirty="0">
                <a:solidFill>
                  <a:srgbClr val="53585F"/>
                </a:solidFill>
                <a:latin typeface="微软雅黑" panose="020B0503020204020204" pitchFamily="34" charset="-122"/>
                <a:ea typeface="微软雅黑" panose="020B0503020204020204" pitchFamily="34" charset="-122"/>
              </a:rPr>
              <a:t>《</a:t>
            </a:r>
            <a:r>
              <a:rPr lang="en" altLang="zh-CN" dirty="0">
                <a:solidFill>
                  <a:srgbClr val="53585F"/>
                </a:solidFill>
                <a:latin typeface="微软雅黑" panose="020B0503020204020204" pitchFamily="34" charset="-122"/>
                <a:ea typeface="微软雅黑" panose="020B0503020204020204" pitchFamily="34" charset="-122"/>
              </a:rPr>
              <a:t> Web</a:t>
            </a:r>
            <a:r>
              <a:rPr lang="zh-CN" altLang="en-US" dirty="0">
                <a:solidFill>
                  <a:srgbClr val="53585F"/>
                </a:solidFill>
                <a:latin typeface="微软雅黑" panose="020B0503020204020204" pitchFamily="34" charset="-122"/>
                <a:ea typeface="微软雅黑" panose="020B0503020204020204" pitchFamily="34" charset="-122"/>
              </a:rPr>
              <a:t>安全攻防：渗透测试实战指南</a:t>
            </a:r>
            <a:r>
              <a:rPr lang="en-US" altLang="zh-CN" dirty="0">
                <a:solidFill>
                  <a:srgbClr val="53585F"/>
                </a:solidFill>
                <a:latin typeface="微软雅黑" panose="020B0503020204020204" pitchFamily="34" charset="-122"/>
                <a:ea typeface="微软雅黑" panose="020B0503020204020204" pitchFamily="34" charset="-122"/>
              </a:rPr>
              <a:t>》</a:t>
            </a:r>
            <a:r>
              <a:rPr lang="zh-CN" altLang="en-US" dirty="0">
                <a:solidFill>
                  <a:srgbClr val="53585F"/>
                </a:solidFill>
                <a:latin typeface="微软雅黑" panose="020B0503020204020204" pitchFamily="34" charset="-122"/>
                <a:ea typeface="微软雅黑" panose="020B0503020204020204" pitchFamily="34" charset="-122"/>
              </a:rPr>
              <a:t>，电子工业出版社，</a:t>
            </a:r>
            <a:r>
              <a:rPr lang="en-US" altLang="zh-CN" dirty="0">
                <a:solidFill>
                  <a:srgbClr val="53585F"/>
                </a:solidFill>
                <a:latin typeface="微软雅黑" panose="020B0503020204020204" pitchFamily="34" charset="-122"/>
                <a:ea typeface="微软雅黑" panose="020B0503020204020204" pitchFamily="34" charset="-122"/>
              </a:rPr>
              <a:t>2018.7</a:t>
            </a:r>
          </a:p>
          <a:p>
            <a:pPr marL="936625" lvl="1" indent="-301625">
              <a:lnSpc>
                <a:spcPct val="150000"/>
              </a:lnSpc>
              <a:buClr>
                <a:srgbClr val="3798DA"/>
              </a:buClr>
              <a:buSzPct val="100000"/>
              <a:buChar char="•"/>
              <a:defRPr>
                <a:solidFill>
                  <a:srgbClr val="53585F"/>
                </a:solidFill>
                <a:latin typeface="Tahoma" panose="020B0604030504040204"/>
                <a:ea typeface="Tahoma" panose="020B0604030504040204"/>
                <a:cs typeface="Tahoma" panose="020B0604030504040204"/>
                <a:sym typeface="Tahoma" panose="020B0604030504040204"/>
              </a:defRPr>
            </a:pPr>
            <a:r>
              <a:rPr lang="en-US" altLang="zh-CN" dirty="0">
                <a:solidFill>
                  <a:srgbClr val="53585F"/>
                </a:solidFill>
                <a:latin typeface="微软雅黑" panose="020B0503020204020204" pitchFamily="34" charset="-122"/>
                <a:ea typeface="微软雅黑" panose="020B0503020204020204" pitchFamily="34" charset="-122"/>
              </a:rPr>
              <a:t>《</a:t>
            </a:r>
            <a:r>
              <a:rPr lang="zh-CN" altLang="en-US" dirty="0">
                <a:solidFill>
                  <a:srgbClr val="53585F"/>
                </a:solidFill>
                <a:latin typeface="微软雅黑" panose="020B0503020204020204" pitchFamily="34" charset="-122"/>
                <a:ea typeface="微软雅黑" panose="020B0503020204020204" pitchFamily="34" charset="-122"/>
              </a:rPr>
              <a:t> 超大流量分布式系统架构解决方案</a:t>
            </a:r>
            <a:r>
              <a:rPr lang="en-US" altLang="zh-CN" dirty="0">
                <a:solidFill>
                  <a:srgbClr val="53585F"/>
                </a:solidFill>
                <a:latin typeface="微软雅黑" panose="020B0503020204020204" pitchFamily="34" charset="-122"/>
                <a:ea typeface="微软雅黑" panose="020B0503020204020204" pitchFamily="34" charset="-122"/>
              </a:rPr>
              <a:t>》</a:t>
            </a:r>
            <a:r>
              <a:rPr lang="zh-CN" altLang="en-US" dirty="0">
                <a:solidFill>
                  <a:srgbClr val="53585F"/>
                </a:solidFill>
                <a:latin typeface="微软雅黑" panose="020B0503020204020204" pitchFamily="34" charset="-122"/>
                <a:ea typeface="微软雅黑" panose="020B0503020204020204" pitchFamily="34" charset="-122"/>
              </a:rPr>
              <a:t> ，电子工业出版社，</a:t>
            </a:r>
            <a:r>
              <a:rPr lang="en-US" altLang="zh-CN" dirty="0">
                <a:solidFill>
                  <a:srgbClr val="53585F"/>
                </a:solidFill>
                <a:latin typeface="微软雅黑" panose="020B0503020204020204" pitchFamily="34" charset="-122"/>
                <a:ea typeface="微软雅黑" panose="020B0503020204020204" pitchFamily="34" charset="-122"/>
              </a:rPr>
              <a:t>2020.3</a:t>
            </a:r>
          </a:p>
          <a:p>
            <a:pPr marL="936625" lvl="1" indent="-301625">
              <a:lnSpc>
                <a:spcPct val="150000"/>
              </a:lnSpc>
              <a:buClr>
                <a:srgbClr val="3798DA"/>
              </a:buClr>
              <a:buSzPct val="100000"/>
              <a:buChar char="•"/>
              <a:defRPr>
                <a:solidFill>
                  <a:srgbClr val="53585F"/>
                </a:solidFill>
                <a:latin typeface="Tahoma" panose="020B0604030504040204"/>
                <a:ea typeface="Tahoma" panose="020B0604030504040204"/>
                <a:cs typeface="Tahoma" panose="020B0604030504040204"/>
                <a:sym typeface="Tahoma" panose="020B0604030504040204"/>
              </a:defRPr>
            </a:pPr>
            <a:r>
              <a:rPr lang="en-US" altLang="zh-CN" dirty="0">
                <a:solidFill>
                  <a:srgbClr val="53585F"/>
                </a:solidFill>
                <a:latin typeface="微软雅黑" panose="020B0503020204020204" pitchFamily="34" charset="-122"/>
                <a:ea typeface="微软雅黑" panose="020B0503020204020204" pitchFamily="34" charset="-122"/>
              </a:rPr>
              <a:t>《</a:t>
            </a:r>
            <a:r>
              <a:rPr lang="zh-CN" altLang="en-US" dirty="0">
                <a:solidFill>
                  <a:srgbClr val="53585F"/>
                </a:solidFill>
                <a:latin typeface="微软雅黑" panose="020B0503020204020204" pitchFamily="34" charset="-122"/>
                <a:ea typeface="微软雅黑" panose="020B0503020204020204" pitchFamily="34" charset="-122"/>
              </a:rPr>
              <a:t>混沌工程：复杂系统韧性实现之道</a:t>
            </a:r>
            <a:r>
              <a:rPr lang="en-US" altLang="zh-CN" dirty="0">
                <a:solidFill>
                  <a:srgbClr val="53585F"/>
                </a:solidFill>
                <a:latin typeface="微软雅黑" panose="020B0503020204020204" pitchFamily="34" charset="-122"/>
                <a:ea typeface="微软雅黑" panose="020B0503020204020204" pitchFamily="34" charset="-122"/>
              </a:rPr>
              <a:t>》</a:t>
            </a:r>
            <a:r>
              <a:rPr lang="zh-CN" altLang="en-US" dirty="0">
                <a:solidFill>
                  <a:srgbClr val="53585F"/>
                </a:solidFill>
                <a:latin typeface="微软雅黑" panose="020B0503020204020204" pitchFamily="34" charset="-122"/>
                <a:ea typeface="微软雅黑" panose="020B0503020204020204" pitchFamily="34" charset="-122"/>
              </a:rPr>
              <a:t>，机械工业出版社，</a:t>
            </a:r>
            <a:r>
              <a:rPr lang="en-US" altLang="zh-CN" dirty="0">
                <a:solidFill>
                  <a:srgbClr val="53585F"/>
                </a:solidFill>
                <a:latin typeface="微软雅黑" panose="020B0503020204020204" pitchFamily="34" charset="-122"/>
                <a:ea typeface="微软雅黑" panose="020B0503020204020204" pitchFamily="34" charset="-122"/>
              </a:rPr>
              <a:t>2021.6</a:t>
            </a:r>
          </a:p>
          <a:p>
            <a:pPr marL="936625" lvl="1" indent="-301625">
              <a:lnSpc>
                <a:spcPct val="150000"/>
              </a:lnSpc>
              <a:buClr>
                <a:srgbClr val="3798DA"/>
              </a:buClr>
              <a:buSzPct val="100000"/>
              <a:buChar char="•"/>
              <a:defRPr>
                <a:solidFill>
                  <a:srgbClr val="53585F"/>
                </a:solidFill>
                <a:latin typeface="Tahoma" panose="020B0604030504040204"/>
                <a:ea typeface="Tahoma" panose="020B0604030504040204"/>
                <a:cs typeface="Tahoma" panose="020B0604030504040204"/>
                <a:sym typeface="Tahoma" panose="020B0604030504040204"/>
              </a:defRPr>
            </a:pPr>
            <a:r>
              <a:rPr lang="en-US" altLang="zh-CN" dirty="0">
                <a:solidFill>
                  <a:srgbClr val="53585F"/>
                </a:solidFill>
                <a:latin typeface="微软雅黑" panose="020B0503020204020204" pitchFamily="34" charset="-122"/>
                <a:ea typeface="微软雅黑" panose="020B0503020204020204" pitchFamily="34" charset="-122"/>
              </a:rPr>
              <a:t>《 </a:t>
            </a:r>
            <a:r>
              <a:rPr lang="en" dirty="0">
                <a:solidFill>
                  <a:srgbClr val="53585F"/>
                </a:solidFill>
                <a:latin typeface="微软雅黑" panose="020B0503020204020204" pitchFamily="34" charset="-122"/>
                <a:ea typeface="微软雅黑" panose="020B0503020204020204" pitchFamily="34" charset="-122"/>
              </a:rPr>
              <a:t>A/B</a:t>
            </a:r>
            <a:r>
              <a:rPr lang="zh-CN" altLang="en-US" dirty="0">
                <a:solidFill>
                  <a:srgbClr val="53585F"/>
                </a:solidFill>
                <a:latin typeface="微软雅黑" panose="020B0503020204020204" pitchFamily="34" charset="-122"/>
                <a:ea typeface="微软雅黑" panose="020B0503020204020204" pitchFamily="34" charset="-122"/>
              </a:rPr>
              <a:t>测试：创新始于试验</a:t>
            </a:r>
            <a:r>
              <a:rPr lang="en-US" altLang="zh-CN" dirty="0">
                <a:solidFill>
                  <a:srgbClr val="53585F"/>
                </a:solidFill>
                <a:latin typeface="微软雅黑" panose="020B0503020204020204" pitchFamily="34" charset="-122"/>
                <a:ea typeface="微软雅黑" panose="020B0503020204020204" pitchFamily="34" charset="-122"/>
              </a:rPr>
              <a:t>》</a:t>
            </a:r>
            <a:r>
              <a:rPr lang="zh-CN" altLang="en-US" dirty="0">
                <a:solidFill>
                  <a:srgbClr val="53585F"/>
                </a:solidFill>
                <a:latin typeface="微软雅黑" panose="020B0503020204020204" pitchFamily="34" charset="-122"/>
                <a:ea typeface="微软雅黑" panose="020B0503020204020204" pitchFamily="34" charset="-122"/>
              </a:rPr>
              <a:t>，机械工业出版社，</a:t>
            </a:r>
            <a:r>
              <a:rPr lang="en-US" altLang="zh-CN" dirty="0">
                <a:solidFill>
                  <a:srgbClr val="53585F"/>
                </a:solidFill>
                <a:latin typeface="微软雅黑" panose="020B0503020204020204" pitchFamily="34" charset="-122"/>
                <a:ea typeface="微软雅黑" panose="020B0503020204020204" pitchFamily="34" charset="-122"/>
              </a:rPr>
              <a:t>2019.4</a:t>
            </a:r>
            <a:endParaRPr dirty="0">
              <a:solidFill>
                <a:srgbClr val="53585F"/>
              </a:solidFill>
              <a:latin typeface="微软雅黑" panose="020B0503020204020204" pitchFamily="34" charset="-122"/>
              <a:ea typeface="微软雅黑" panose="020B0503020204020204" pitchFamily="34" charset="-122"/>
            </a:endParaRPr>
          </a:p>
        </p:txBody>
      </p:sp>
    </p:spTree>
  </p:cSld>
  <p:clrMapOvr>
    <a:masterClrMapping/>
  </p:clrMapOvr>
  <p:transition spd="slow">
    <p:wipe dir="r"/>
  </p:transition>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标题 5"/>
          <p:cNvSpPr>
            <a:spLocks noGrp="1"/>
          </p:cNvSpPr>
          <p:nvPr>
            <p:ph type="title"/>
          </p:nvPr>
        </p:nvSpPr>
        <p:spPr>
          <a:xfrm>
            <a:off x="714682" y="604302"/>
            <a:ext cx="3658214" cy="994172"/>
          </a:xfrm>
        </p:spPr>
        <p:txBody>
          <a:bodyPr/>
          <a:lstStyle/>
          <a:p>
            <a:pPr>
              <a:lnSpc>
                <a:spcPct val="110000"/>
              </a:lnSpc>
            </a:pPr>
            <a:r>
              <a:rPr lang="zh-CN" b="1" dirty="0">
                <a:solidFill>
                  <a:srgbClr val="435CC8"/>
                </a:solidFill>
                <a:latin typeface="微软雅黑" panose="020B0503020204020204" pitchFamily="34" charset="-122"/>
                <a:ea typeface="微软雅黑" panose="020B0503020204020204" pitchFamily="34" charset="-122"/>
              </a:rPr>
              <a:t>感</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谢</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聆</a:t>
            </a:r>
            <a:r>
              <a:rPr lang="en-US" altLang="zh-CN" b="1" dirty="0">
                <a:solidFill>
                  <a:srgbClr val="435CC8"/>
                </a:solidFill>
                <a:latin typeface="微软雅黑" panose="020B0503020204020204" pitchFamily="34" charset="-122"/>
                <a:ea typeface="微软雅黑" panose="020B0503020204020204" pitchFamily="34" charset="-122"/>
              </a:rPr>
              <a:t> </a:t>
            </a:r>
            <a:r>
              <a:rPr lang="zh-CN" b="1" dirty="0">
                <a:solidFill>
                  <a:srgbClr val="435CC8"/>
                </a:solidFill>
                <a:latin typeface="微软雅黑" panose="020B0503020204020204" pitchFamily="34" charset="-122"/>
                <a:ea typeface="微软雅黑" panose="020B0503020204020204" pitchFamily="34" charset="-122"/>
              </a:rPr>
              <a:t>听</a:t>
            </a:r>
            <a:endParaRPr lang="zh-CN" altLang="en-US" b="1" dirty="0">
              <a:solidFill>
                <a:srgbClr val="435CC8"/>
              </a:solidFill>
              <a:latin typeface="微软雅黑" panose="020B0503020204020204" pitchFamily="34" charset="-122"/>
              <a:ea typeface="微软雅黑" panose="020B0503020204020204" pitchFamily="34" charset="-122"/>
            </a:endParaRPr>
          </a:p>
        </p:txBody>
      </p:sp>
      <p:sp>
        <p:nvSpPr>
          <p:cNvPr id="7" name="文本占位符 6"/>
          <p:cNvSpPr>
            <a:spLocks noGrp="1"/>
          </p:cNvSpPr>
          <p:nvPr>
            <p:ph type="body" sz="quarter" idx="14"/>
          </p:nvPr>
        </p:nvSpPr>
        <p:spPr>
          <a:xfrm>
            <a:off x="1457939" y="1512210"/>
            <a:ext cx="2171700" cy="326643"/>
          </a:xfrm>
        </p:spPr>
        <p:txBody>
          <a:bodyPr>
            <a:noAutofit/>
          </a:bodyPr>
          <a:lstStyle/>
          <a:p>
            <a:r>
              <a:rPr lang="zh-CN" altLang="en-US" sz="1600" dirty="0">
                <a:solidFill>
                  <a:srgbClr val="435CC8"/>
                </a:solidFill>
                <a:latin typeface="Microsoft YaHei" panose="020B0503020204020204" pitchFamily="34" charset="-122"/>
                <a:ea typeface="Microsoft YaHei" panose="020B0503020204020204" pitchFamily="34" charset="-122"/>
              </a:rPr>
              <a:t>冯东栋 </a:t>
            </a:r>
            <a:r>
              <a:rPr lang="en-US" altLang="zh-CN" sz="1600" dirty="0">
                <a:solidFill>
                  <a:srgbClr val="435CC8"/>
                </a:solidFill>
                <a:latin typeface="Microsoft YaHei" panose="020B0503020204020204" pitchFamily="34" charset="-122"/>
                <a:ea typeface="Microsoft YaHei" panose="020B0503020204020204" pitchFamily="34" charset="-122"/>
              </a:rPr>
              <a:t>/</a:t>
            </a:r>
            <a:r>
              <a:rPr lang="zh-CN" altLang="en-US" sz="1600" dirty="0">
                <a:solidFill>
                  <a:srgbClr val="435CC8"/>
                </a:solidFill>
                <a:latin typeface="Microsoft YaHei" panose="020B0503020204020204" pitchFamily="34" charset="-122"/>
                <a:ea typeface="Microsoft YaHei" panose="020B0503020204020204" pitchFamily="34" charset="-122"/>
              </a:rPr>
              <a:t> 河南大学</a:t>
            </a:r>
          </a:p>
        </p:txBody>
      </p:sp>
    </p:spTree>
  </p:cSld>
  <p:clrMapOvr>
    <a:masterClrMapping/>
  </p:clrMapOvr>
  <p:transition spd="slow">
    <p:wipe dir="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A5NDI2ZWFiMmI1OWE2N2QwMWFkNmFlNWQxNGI5MDg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14583_1*a*1"/>
  <p:tag name="KSO_WM_TEMPLATE_CATEGORY" val="diagram"/>
  <p:tag name="KSO_WM_TEMPLATE_INDEX" val="20214583"/>
  <p:tag name="KSO_WM_UNIT_LAYERLEVEL" val="1"/>
  <p:tag name="KSO_WM_TAG_VERSION" val="1.0"/>
  <p:tag name="KSO_WM_BEAUTIFY_FLAG" val="#wm#"/>
  <p:tag name="KSO_WM_UNIT_ISCONTENTSTITLE" val="0"/>
  <p:tag name="KSO_WM_UNIT_ISNUMDGMTITLE" val="0"/>
  <p:tag name="KSO_WM_UNIT_NOCLEAR" val="0"/>
  <p:tag name="KSO_WM_UNIT_TYPE" val="a"/>
  <p:tag name="KSO_WM_UNIT_INDEX" val="1"/>
  <p:tag name="KSO_WM_UNIT_PRESET_TEXT" val="单击此处添加标题"/>
  <p:tag name="KSO_WM_DIAGRAM_GROUP_CODE" val="m1-1"/>
  <p:tag name="KSO_WM_UNIT_VALUE" val="14"/>
  <p:tag name="KSO_WM_UNIT_TEXT_FILL_FORE_SCHEMECOLOR_INDEX_BRIGHTNESS" val="0.25"/>
  <p:tag name="KSO_WM_UNIT_TEXT_FILL_FORE_SCHEMECOLOR_INDEX" val="13"/>
  <p:tag name="KSO_WM_UNIT_TEXT_FILL_TYPE" val="1"/>
  <p:tag name="KSO_WM_UNIT_USESOURCEFORMAT_APPLY" val="1"/>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21962</TotalTime>
  <Words>11880</Words>
  <Application>Microsoft Office PowerPoint</Application>
  <PresentationFormat>全屏显示(16:9)</PresentationFormat>
  <Paragraphs>1104</Paragraphs>
  <Slides>102</Slides>
  <Notes>44</Notes>
  <HiddenSlides>1</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102</vt:i4>
      </vt:variant>
    </vt:vector>
  </HeadingPairs>
  <TitlesOfParts>
    <vt:vector size="133" baseType="lpstr">
      <vt:lpstr>-apple-system</vt:lpstr>
      <vt:lpstr>cosmicIcon</vt:lpstr>
      <vt:lpstr>Gill Sans</vt:lpstr>
      <vt:lpstr>Helvetica Neue</vt:lpstr>
      <vt:lpstr>PingFangSC-Semibold</vt:lpstr>
      <vt:lpstr>Segoe Semibold</vt:lpstr>
      <vt:lpstr>Yuanti SC</vt:lpstr>
      <vt:lpstr>黑体</vt:lpstr>
      <vt:lpstr>KaiTi</vt:lpstr>
      <vt:lpstr>KaiTi</vt:lpstr>
      <vt:lpstr>思源黑体</vt:lpstr>
      <vt:lpstr>思源黑体 Bold</vt:lpstr>
      <vt:lpstr>思源黑体 CN Normal</vt:lpstr>
      <vt:lpstr>思源黑体 Medium</vt:lpstr>
      <vt:lpstr>宋体</vt:lpstr>
      <vt:lpstr>宋体</vt:lpstr>
      <vt:lpstr>Microsoft Yahei</vt:lpstr>
      <vt:lpstr>Microsoft Yahei</vt:lpstr>
      <vt:lpstr>Microsoft Yahei</vt:lpstr>
      <vt:lpstr>微软雅黑 Light</vt:lpstr>
      <vt:lpstr>arial</vt:lpstr>
      <vt:lpstr>arial</vt:lpstr>
      <vt:lpstr>Arial Narrow</vt:lpstr>
      <vt:lpstr>Calibri</vt:lpstr>
      <vt:lpstr>Century Gothic</vt:lpstr>
      <vt:lpstr>Source Sans Pro</vt:lpstr>
      <vt:lpstr>Tahoma</vt:lpstr>
      <vt:lpstr>Times New Roman</vt:lpstr>
      <vt:lpstr>Verdana</vt:lpstr>
      <vt:lpstr>Wingdings</vt:lpstr>
      <vt:lpstr>Office 主题​​</vt:lpstr>
      <vt:lpstr>软件测试方法和技术</vt:lpstr>
      <vt:lpstr>7.2 安全性测试</vt:lpstr>
      <vt:lpstr>PowerPoint 演示文稿</vt:lpstr>
      <vt:lpstr>PowerPoint 演示文稿</vt:lpstr>
      <vt:lpstr>PowerPoint 演示文稿</vt:lpstr>
      <vt:lpstr>安全性缺陷 － 漏洞</vt:lpstr>
      <vt:lpstr>安全性：漏洞来源</vt:lpstr>
      <vt:lpstr>危险、攻击手段</vt:lpstr>
      <vt:lpstr>攻击带来的安全性问题</vt:lpstr>
      <vt:lpstr>软件系统安全威胁：STRIED</vt:lpstr>
      <vt:lpstr>一些常见的安全漏洞模式</vt:lpstr>
      <vt:lpstr>常见的 C/ C++缓冲区溢出问题</vt:lpstr>
      <vt:lpstr>OWASP Top10 漏洞模式</vt:lpstr>
      <vt:lpstr>PowerPoint 演示文稿</vt:lpstr>
      <vt:lpstr>安全目标</vt:lpstr>
      <vt:lpstr>安全性要求</vt:lpstr>
      <vt:lpstr>软件安全性需求</vt:lpstr>
      <vt:lpstr>示例：系统安全性问题</vt:lpstr>
      <vt:lpstr>系统安全的基本机制</vt:lpstr>
      <vt:lpstr>安全三大保障机制：预防、恢复、支撑</vt:lpstr>
      <vt:lpstr>完整的安全策略示例</vt:lpstr>
      <vt:lpstr>安全性测试的目标</vt:lpstr>
      <vt:lpstr>软件安全性测试的范围</vt:lpstr>
      <vt:lpstr>功能性测试  vs. 安全性测试</vt:lpstr>
      <vt:lpstr>安全性测试的任务</vt:lpstr>
      <vt:lpstr>安全等级</vt:lpstr>
      <vt:lpstr>PowerPoint 演示文稿</vt:lpstr>
      <vt:lpstr>不同安全级别的安全功能测试</vt:lpstr>
      <vt:lpstr>安全性测试方法</vt:lpstr>
      <vt:lpstr>安全性功能测试</vt:lpstr>
      <vt:lpstr>模糊测试方法</vt:lpstr>
      <vt:lpstr>几种不同模糊器的构造</vt:lpstr>
      <vt:lpstr>American fuzzy lop方法</vt:lpstr>
      <vt:lpstr>变异测试</vt:lpstr>
      <vt:lpstr>变异测试的方法与流程</vt:lpstr>
      <vt:lpstr>渗透测试</vt:lpstr>
      <vt:lpstr>渗透测试－概览</vt:lpstr>
      <vt:lpstr>渗透测试的一些具体方法</vt:lpstr>
      <vt:lpstr>渗透测试实施策略</vt:lpstr>
      <vt:lpstr>PowerPoint 演示文稿</vt:lpstr>
      <vt:lpstr>软件安全实施方针</vt:lpstr>
      <vt:lpstr>全生命周期的安全性测试</vt:lpstr>
      <vt:lpstr>体系结构风险分析</vt:lpstr>
      <vt:lpstr>代码评审示例</vt:lpstr>
      <vt:lpstr>基于风险的安全测试</vt:lpstr>
      <vt:lpstr>PowerPoint 演示文稿</vt:lpstr>
      <vt:lpstr>Web/数据库 渗透测试点</vt:lpstr>
      <vt:lpstr>Web安全性 渗透测试</vt:lpstr>
      <vt:lpstr>针对XSS进行测试</vt:lpstr>
      <vt:lpstr>SQL注入式攻击 </vt:lpstr>
      <vt:lpstr>XML注入</vt:lpstr>
      <vt:lpstr>会话劫持</vt:lpstr>
      <vt:lpstr>无效认证和Session管理方式</vt:lpstr>
      <vt:lpstr>未验证跳转</vt:lpstr>
      <vt:lpstr>直接对象引用</vt:lpstr>
      <vt:lpstr>直接对象引用</vt:lpstr>
      <vt:lpstr>功能级权限控制缺失</vt:lpstr>
      <vt:lpstr>7.3 兼容性测试 </vt:lpstr>
      <vt:lpstr>碰到兼容性问题、升级失败</vt:lpstr>
      <vt:lpstr>软件与硬件兼容性问题</vt:lpstr>
      <vt:lpstr>软件系统之间的兼容性 -1</vt:lpstr>
      <vt:lpstr>软件系统之间的兼容性 -2</vt:lpstr>
      <vt:lpstr>最常见的数据兼容性问题？</vt:lpstr>
      <vt:lpstr>相同系统之间的数据兼容</vt:lpstr>
      <vt:lpstr>不同系统之间的数据兼容</vt:lpstr>
      <vt:lpstr>数据兼容性更复杂的案例</vt:lpstr>
      <vt:lpstr>软件环境(组合)兼容性测试</vt:lpstr>
      <vt:lpstr>7.4 可靠性测试 </vt:lpstr>
      <vt:lpstr>7.4.1 可靠性测试方法</vt:lpstr>
      <vt:lpstr>7.4.2 容错性测试</vt:lpstr>
      <vt:lpstr>7.4.3 数据库并发控制测试</vt:lpstr>
      <vt:lpstr>丢失数据</vt:lpstr>
      <vt:lpstr>火车票系统的加锁技术的并发控制</vt:lpstr>
      <vt:lpstr>7.5 易用性测试：A/B测试</vt:lpstr>
      <vt:lpstr>良好的UI元素</vt:lpstr>
      <vt:lpstr>用户体验测试方法</vt:lpstr>
      <vt:lpstr>用户体验测试模型</vt:lpstr>
      <vt:lpstr>A/B测试</vt:lpstr>
      <vt:lpstr>A/B测试特点</vt:lpstr>
      <vt:lpstr>ABTest适应的场景</vt:lpstr>
      <vt:lpstr>ABTest适应的场景</vt:lpstr>
      <vt:lpstr>核心概念</vt:lpstr>
      <vt:lpstr>A/B测试：桶、层、流量</vt:lpstr>
      <vt:lpstr>A/B测试流程</vt:lpstr>
      <vt:lpstr>A/B测试 数据流</vt:lpstr>
      <vt:lpstr>A/B测试SDK</vt:lpstr>
      <vt:lpstr>A/B测试平台功能</vt:lpstr>
      <vt:lpstr>A/B测试评价</vt:lpstr>
      <vt:lpstr>A/B测试优秀实践</vt:lpstr>
      <vt:lpstr>A/B测试优秀实践-续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本节小结</vt:lpstr>
      <vt:lpstr>PowerPoint 演示文稿</vt:lpstr>
      <vt:lpstr>PowerPoint 演示文稿</vt:lpstr>
      <vt:lpstr>感 谢 聆 听</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东栋 冯</cp:lastModifiedBy>
  <cp:revision>361</cp:revision>
  <dcterms:created xsi:type="dcterms:W3CDTF">2020-06-18T01:06:00Z</dcterms:created>
  <dcterms:modified xsi:type="dcterms:W3CDTF">2024-06-11T10:07:22Z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2052-11.1.0.11875</vt:lpwstr>
  </property>
  <property fmtid="{D5CDD505-2E9C-101B-9397-08002B2CF9AE}" pid="3" name="ICV">
    <vt:lpwstr>426427AD8D144D0396529E473195E768</vt:lpwstr>
  </property>
</Properties>
</file>